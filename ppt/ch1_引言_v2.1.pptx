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17"/>
  </p:notesMasterIdLst>
  <p:sldIdLst>
    <p:sldId id="259" r:id="rId2"/>
    <p:sldId id="261" r:id="rId3"/>
    <p:sldId id="265" r:id="rId4"/>
    <p:sldId id="1312" r:id="rId5"/>
    <p:sldId id="258" r:id="rId6"/>
    <p:sldId id="1314" r:id="rId7"/>
    <p:sldId id="1313" r:id="rId8"/>
    <p:sldId id="1257" r:id="rId9"/>
    <p:sldId id="991" r:id="rId10"/>
    <p:sldId id="257" r:id="rId11"/>
    <p:sldId id="1258" r:id="rId12"/>
    <p:sldId id="1259" r:id="rId13"/>
    <p:sldId id="1260" r:id="rId14"/>
    <p:sldId id="1261" r:id="rId15"/>
    <p:sldId id="1267" r:id="rId16"/>
    <p:sldId id="1263" r:id="rId17"/>
    <p:sldId id="1278" r:id="rId18"/>
    <p:sldId id="1264" r:id="rId19"/>
    <p:sldId id="1269" r:id="rId20"/>
    <p:sldId id="1270" r:id="rId21"/>
    <p:sldId id="1271" r:id="rId22"/>
    <p:sldId id="1272" r:id="rId23"/>
    <p:sldId id="1273" r:id="rId24"/>
    <p:sldId id="1274" r:id="rId25"/>
    <p:sldId id="1276" r:id="rId26"/>
    <p:sldId id="1277" r:id="rId27"/>
    <p:sldId id="1275" r:id="rId28"/>
    <p:sldId id="1250" r:id="rId29"/>
    <p:sldId id="1265" r:id="rId30"/>
    <p:sldId id="1279" r:id="rId31"/>
    <p:sldId id="1280" r:id="rId32"/>
    <p:sldId id="1281" r:id="rId33"/>
    <p:sldId id="1282" r:id="rId34"/>
    <p:sldId id="1283" r:id="rId35"/>
    <p:sldId id="1284" r:id="rId36"/>
    <p:sldId id="1285" r:id="rId37"/>
    <p:sldId id="1286" r:id="rId38"/>
    <p:sldId id="1287" r:id="rId39"/>
    <p:sldId id="1288" r:id="rId40"/>
    <p:sldId id="1289" r:id="rId41"/>
    <p:sldId id="1290" r:id="rId42"/>
    <p:sldId id="1291" r:id="rId43"/>
    <p:sldId id="1292" r:id="rId44"/>
    <p:sldId id="1293" r:id="rId45"/>
    <p:sldId id="1294" r:id="rId46"/>
    <p:sldId id="1295" r:id="rId47"/>
    <p:sldId id="1296" r:id="rId48"/>
    <p:sldId id="1297" r:id="rId49"/>
    <p:sldId id="1300" r:id="rId50"/>
    <p:sldId id="1301" r:id="rId51"/>
    <p:sldId id="1266" r:id="rId52"/>
    <p:sldId id="1094" r:id="rId53"/>
    <p:sldId id="353" r:id="rId54"/>
    <p:sldId id="332" r:id="rId55"/>
    <p:sldId id="331" r:id="rId56"/>
    <p:sldId id="349" r:id="rId57"/>
    <p:sldId id="351" r:id="rId58"/>
    <p:sldId id="1302" r:id="rId59"/>
    <p:sldId id="1006" r:id="rId60"/>
    <p:sldId id="1007" r:id="rId61"/>
    <p:sldId id="1307" r:id="rId62"/>
    <p:sldId id="1000" r:id="rId63"/>
    <p:sldId id="999" r:id="rId64"/>
    <p:sldId id="1008" r:id="rId65"/>
    <p:sldId id="1009" r:id="rId66"/>
    <p:sldId id="1256" r:id="rId67"/>
    <p:sldId id="1010" r:id="rId68"/>
    <p:sldId id="1011" r:id="rId69"/>
    <p:sldId id="1012" r:id="rId70"/>
    <p:sldId id="1014" r:id="rId71"/>
    <p:sldId id="1308" r:id="rId72"/>
    <p:sldId id="1309" r:id="rId73"/>
    <p:sldId id="1310" r:id="rId74"/>
    <p:sldId id="1311" r:id="rId75"/>
    <p:sldId id="1303" r:id="rId76"/>
    <p:sldId id="266" r:id="rId77"/>
    <p:sldId id="278" r:id="rId78"/>
    <p:sldId id="277" r:id="rId79"/>
    <p:sldId id="279" r:id="rId80"/>
    <p:sldId id="280" r:id="rId81"/>
    <p:sldId id="281" r:id="rId82"/>
    <p:sldId id="1163" r:id="rId83"/>
    <p:sldId id="282" r:id="rId84"/>
    <p:sldId id="283" r:id="rId85"/>
    <p:sldId id="284" r:id="rId86"/>
    <p:sldId id="285" r:id="rId87"/>
    <p:sldId id="1304" r:id="rId88"/>
    <p:sldId id="1001" r:id="rId89"/>
    <p:sldId id="1055" r:id="rId90"/>
    <p:sldId id="1056" r:id="rId91"/>
    <p:sldId id="1057" r:id="rId92"/>
    <p:sldId id="1058" r:id="rId93"/>
    <p:sldId id="1059" r:id="rId94"/>
    <p:sldId id="1245" r:id="rId95"/>
    <p:sldId id="1305" r:id="rId96"/>
    <p:sldId id="997" r:id="rId97"/>
    <p:sldId id="998" r:id="rId98"/>
    <p:sldId id="995" r:id="rId99"/>
    <p:sldId id="1162" r:id="rId100"/>
    <p:sldId id="1244" r:id="rId101"/>
    <p:sldId id="1045" r:id="rId102"/>
    <p:sldId id="1046" r:id="rId103"/>
    <p:sldId id="1047" r:id="rId104"/>
    <p:sldId id="1306" r:id="rId105"/>
    <p:sldId id="269" r:id="rId106"/>
    <p:sldId id="270" r:id="rId107"/>
    <p:sldId id="984" r:id="rId108"/>
    <p:sldId id="271" r:id="rId109"/>
    <p:sldId id="992" r:id="rId110"/>
    <p:sldId id="272" r:id="rId111"/>
    <p:sldId id="357" r:id="rId112"/>
    <p:sldId id="273" r:id="rId113"/>
    <p:sldId id="958" r:id="rId114"/>
    <p:sldId id="359" r:id="rId115"/>
    <p:sldId id="994" r:id="rId1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259"/>
            <p14:sldId id="261"/>
            <p14:sldId id="265"/>
            <p14:sldId id="1312"/>
            <p14:sldId id="258"/>
            <p14:sldId id="1314"/>
            <p14:sldId id="1313"/>
            <p14:sldId id="1257"/>
            <p14:sldId id="991"/>
            <p14:sldId id="257"/>
            <p14:sldId id="1258"/>
            <p14:sldId id="1259"/>
            <p14:sldId id="1260"/>
            <p14:sldId id="1261"/>
            <p14:sldId id="1267"/>
            <p14:sldId id="1263"/>
            <p14:sldId id="1278"/>
            <p14:sldId id="1264"/>
            <p14:sldId id="1269"/>
            <p14:sldId id="1270"/>
            <p14:sldId id="1271"/>
            <p14:sldId id="1272"/>
            <p14:sldId id="1273"/>
            <p14:sldId id="1274"/>
            <p14:sldId id="1276"/>
            <p14:sldId id="1277"/>
            <p14:sldId id="1275"/>
            <p14:sldId id="1250"/>
            <p14:sldId id="1265"/>
            <p14:sldId id="1279"/>
            <p14:sldId id="1280"/>
            <p14:sldId id="1281"/>
            <p14:sldId id="1282"/>
            <p14:sldId id="1283"/>
            <p14:sldId id="1284"/>
            <p14:sldId id="1285"/>
            <p14:sldId id="1286"/>
            <p14:sldId id="1287"/>
            <p14:sldId id="1288"/>
            <p14:sldId id="1289"/>
            <p14:sldId id="1290"/>
            <p14:sldId id="1291"/>
            <p14:sldId id="1292"/>
            <p14:sldId id="1293"/>
            <p14:sldId id="1294"/>
            <p14:sldId id="1295"/>
            <p14:sldId id="1296"/>
            <p14:sldId id="1297"/>
            <p14:sldId id="1300"/>
            <p14:sldId id="1301"/>
            <p14:sldId id="1266"/>
            <p14:sldId id="1094"/>
            <p14:sldId id="353"/>
            <p14:sldId id="332"/>
            <p14:sldId id="331"/>
            <p14:sldId id="349"/>
            <p14:sldId id="351"/>
            <p14:sldId id="1302"/>
            <p14:sldId id="1006"/>
            <p14:sldId id="1007"/>
            <p14:sldId id="1307"/>
            <p14:sldId id="1000"/>
            <p14:sldId id="999"/>
            <p14:sldId id="1008"/>
            <p14:sldId id="1009"/>
            <p14:sldId id="1256"/>
            <p14:sldId id="1010"/>
            <p14:sldId id="1011"/>
            <p14:sldId id="1012"/>
            <p14:sldId id="1014"/>
            <p14:sldId id="1308"/>
            <p14:sldId id="1309"/>
            <p14:sldId id="1310"/>
            <p14:sldId id="1311"/>
            <p14:sldId id="1303"/>
            <p14:sldId id="266"/>
            <p14:sldId id="278"/>
            <p14:sldId id="277"/>
            <p14:sldId id="279"/>
            <p14:sldId id="280"/>
            <p14:sldId id="281"/>
            <p14:sldId id="1163"/>
            <p14:sldId id="282"/>
            <p14:sldId id="283"/>
            <p14:sldId id="284"/>
            <p14:sldId id="285"/>
            <p14:sldId id="1304"/>
            <p14:sldId id="1001"/>
            <p14:sldId id="1055"/>
            <p14:sldId id="1056"/>
            <p14:sldId id="1057"/>
            <p14:sldId id="1058"/>
            <p14:sldId id="1059"/>
            <p14:sldId id="1245"/>
            <p14:sldId id="1305"/>
            <p14:sldId id="997"/>
            <p14:sldId id="998"/>
            <p14:sldId id="995"/>
            <p14:sldId id="1162"/>
            <p14:sldId id="1244"/>
            <p14:sldId id="1045"/>
            <p14:sldId id="1046"/>
            <p14:sldId id="1047"/>
            <p14:sldId id="1306"/>
            <p14:sldId id="269"/>
            <p14:sldId id="270"/>
            <p14:sldId id="984"/>
            <p14:sldId id="271"/>
            <p14:sldId id="992"/>
            <p14:sldId id="272"/>
            <p14:sldId id="357"/>
            <p14:sldId id="273"/>
            <p14:sldId id="958"/>
            <p14:sldId id="359"/>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008080"/>
    <a:srgbClr val="5B307E"/>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2"/>
    <p:restoredTop sz="86677" autoAdjust="0"/>
  </p:normalViewPr>
  <p:slideViewPr>
    <p:cSldViewPr snapToGrid="0" snapToObjects="1">
      <p:cViewPr varScale="1">
        <p:scale>
          <a:sx n="73" d="100"/>
          <a:sy n="73" d="100"/>
        </p:scale>
        <p:origin x="941" y="67"/>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2025/9/8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zh.wikipedia.org/wiki/%E5%8A%A0%E5%B7%9E%E5%A4%A7%E5%AD%A6%E6%B4%9B%E6%9D%89%E7%9F%B6%E5%88%86%E6%A0%A1" TargetMode="External"/><Relationship Id="rId2" Type="http://schemas.openxmlformats.org/officeDocument/2006/relationships/slide" Target="../slides/slide105.xml"/><Relationship Id="rId1" Type="http://schemas.openxmlformats.org/officeDocument/2006/relationships/notesMaster" Target="../notesMasters/notesMaster1.xml"/><Relationship Id="rId6" Type="http://schemas.openxmlformats.org/officeDocument/2006/relationships/hyperlink" Target="https://zh.wikipedia.org/wiki/%E7%8A%B9%E4%BB%96%E5%A4%A7%E5%AD%A6" TargetMode="External"/><Relationship Id="rId5" Type="http://schemas.openxmlformats.org/officeDocument/2006/relationships/hyperlink" Target="https://zh.wikipedia.org/wiki/%E5%8A%A0%E5%B7%9E%E5%A4%A7%E5%AD%A6" TargetMode="External"/><Relationship Id="rId4" Type="http://schemas.openxmlformats.org/officeDocument/2006/relationships/hyperlink" Target="https://zh.wikipedia.org/w/index.php?title=%E6%96%AF%E5%9D%A6%E7%A6%8F%E7%A0%94%E7%A9%B6%E9%99%A2&amp;action=edit&amp;redlink=1" TargetMode="Externa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747A8EE2-1410-1B4F-8C27-B7DFBA9C14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D6F2014-9124-7E48-AB8C-EDB67164399A}" type="slidenum">
              <a:rPr lang="en-US" altLang="zh-CN" sz="1300"/>
              <a:pPr/>
              <a:t>0</a:t>
            </a:fld>
            <a:endParaRPr lang="en-US" altLang="zh-CN" sz="1300"/>
          </a:p>
        </p:txBody>
      </p:sp>
      <p:sp>
        <p:nvSpPr>
          <p:cNvPr id="6147" name="Rectangle 2">
            <a:extLst>
              <a:ext uri="{FF2B5EF4-FFF2-40B4-BE49-F238E27FC236}">
                <a16:creationId xmlns:a16="http://schemas.microsoft.com/office/drawing/2014/main" id="{6CF5F51E-A902-0741-A14B-B2196CBE0F53}"/>
              </a:ext>
            </a:extLst>
          </p:cNvPr>
          <p:cNvSpPr>
            <a:spLocks noGrp="1" noRot="1" noChangeAspect="1" noChangeArrowheads="1" noTextEdit="1"/>
          </p:cNvSpPr>
          <p:nvPr>
            <p:ph type="sldImg"/>
          </p:nvPr>
        </p:nvSpPr>
        <p:spPr>
          <a:xfrm>
            <a:off x="139700" y="768350"/>
            <a:ext cx="6819900" cy="3836988"/>
          </a:xfrm>
          <a:ln/>
        </p:spPr>
      </p:sp>
      <p:sp>
        <p:nvSpPr>
          <p:cNvPr id="6148" name="Rectangle 3">
            <a:extLst>
              <a:ext uri="{FF2B5EF4-FFF2-40B4-BE49-F238E27FC236}">
                <a16:creationId xmlns:a16="http://schemas.microsoft.com/office/drawing/2014/main" id="{0B65791E-7575-D34E-B945-8027FC49B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582490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87629B57-5BF3-E740-9613-7BE7A31816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8E136CB-BB75-4C4A-A89B-E36DC574468C}" type="slidenum">
              <a:rPr lang="en-US" altLang="zh-CN" sz="1300"/>
              <a:pPr/>
              <a:t>1</a:t>
            </a:fld>
            <a:endParaRPr lang="en-US" altLang="zh-CN" sz="1300"/>
          </a:p>
        </p:txBody>
      </p:sp>
      <p:sp>
        <p:nvSpPr>
          <p:cNvPr id="10243" name="Rectangle 2">
            <a:extLst>
              <a:ext uri="{FF2B5EF4-FFF2-40B4-BE49-F238E27FC236}">
                <a16:creationId xmlns:a16="http://schemas.microsoft.com/office/drawing/2014/main" id="{628CF3A6-ACFB-5445-9971-43D3E0C104AD}"/>
              </a:ext>
            </a:extLst>
          </p:cNvPr>
          <p:cNvSpPr>
            <a:spLocks noGrp="1" noRot="1" noChangeAspect="1" noChangeArrowheads="1" noTextEdit="1"/>
          </p:cNvSpPr>
          <p:nvPr>
            <p:ph type="sldImg"/>
          </p:nvPr>
        </p:nvSpPr>
        <p:spPr>
          <a:xfrm>
            <a:off x="139700" y="768350"/>
            <a:ext cx="6819900" cy="3836988"/>
          </a:xfrm>
          <a:ln/>
        </p:spPr>
      </p:sp>
      <p:sp>
        <p:nvSpPr>
          <p:cNvPr id="10244" name="Rectangle 3">
            <a:extLst>
              <a:ext uri="{FF2B5EF4-FFF2-40B4-BE49-F238E27FC236}">
                <a16:creationId xmlns:a16="http://schemas.microsoft.com/office/drawing/2014/main" id="{AF7CF1C5-BF5A-AD4E-8A4D-791D8C5743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695065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91210520-76EE-EB4D-9603-E1FAD27D69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r" defTabSz="990600" rtl="0" eaLnBrk="1" fontAlgn="auto" latinLnBrk="0" hangingPunct="1">
              <a:lnSpc>
                <a:spcPct val="100000"/>
              </a:lnSpc>
              <a:spcBef>
                <a:spcPts val="0"/>
              </a:spcBef>
              <a:spcAft>
                <a:spcPts val="0"/>
              </a:spcAft>
              <a:buClrTx/>
              <a:buSzTx/>
              <a:buFontTx/>
              <a:buNone/>
              <a:tabLst/>
              <a:defRPr/>
            </a:pPr>
            <a:fld id="{93B10148-1274-2949-8AB2-B079937E94CB}" type="slidenum">
              <a:rPr kumimoji="1" lang="en-US" altLang="zh-CN" sz="13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auto" latinLnBrk="0" hangingPunct="1">
                <a:lnSpc>
                  <a:spcPct val="100000"/>
                </a:lnSpc>
                <a:spcBef>
                  <a:spcPts val="0"/>
                </a:spcBef>
                <a:spcAft>
                  <a:spcPts val="0"/>
                </a:spcAft>
                <a:buClrTx/>
                <a:buSzTx/>
                <a:buFontTx/>
                <a:buNone/>
                <a:tabLst/>
                <a:defRPr/>
              </a:pPr>
              <a:t>2</a:t>
            </a:fld>
            <a:endParaRPr kumimoji="1" lang="en-US" altLang="zh-CN" sz="13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2291" name="Rectangle 2">
            <a:extLst>
              <a:ext uri="{FF2B5EF4-FFF2-40B4-BE49-F238E27FC236}">
                <a16:creationId xmlns:a16="http://schemas.microsoft.com/office/drawing/2014/main" id="{94991A82-D364-4F4A-8FE7-DA9D14998719}"/>
              </a:ext>
            </a:extLst>
          </p:cNvPr>
          <p:cNvSpPr>
            <a:spLocks noGrp="1" noRot="1" noChangeAspect="1" noChangeArrowheads="1" noTextEdit="1"/>
          </p:cNvSpPr>
          <p:nvPr>
            <p:ph type="sldImg"/>
          </p:nvPr>
        </p:nvSpPr>
        <p:spPr>
          <a:xfrm>
            <a:off x="139700" y="768350"/>
            <a:ext cx="6819900" cy="3836988"/>
          </a:xfrm>
          <a:ln/>
        </p:spPr>
      </p:sp>
      <p:sp>
        <p:nvSpPr>
          <p:cNvPr id="12292" name="Rectangle 3">
            <a:extLst>
              <a:ext uri="{FF2B5EF4-FFF2-40B4-BE49-F238E27FC236}">
                <a16:creationId xmlns:a16="http://schemas.microsoft.com/office/drawing/2014/main" id="{4A5C1644-07D2-0043-BCB2-55C339C342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1800" dirty="0">
              <a:ea typeface="宋体" panose="02010600030101010101" pitchFamily="2" charset="-122"/>
            </a:endParaRPr>
          </a:p>
        </p:txBody>
      </p:sp>
    </p:spTree>
    <p:extLst>
      <p:ext uri="{BB962C8B-B14F-4D97-AF65-F5344CB8AC3E}">
        <p14:creationId xmlns:p14="http://schemas.microsoft.com/office/powerpoint/2010/main" val="134786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3B57CDAB-365F-D74B-AF5B-F6F67660B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71BE64A-08F8-3646-BF96-90F1619D4FD4}" type="slidenum">
              <a:rPr lang="en-US" altLang="zh-CN" sz="1300"/>
              <a:pPr/>
              <a:t>4</a:t>
            </a:fld>
            <a:endParaRPr lang="en-US" altLang="zh-CN" sz="1300"/>
          </a:p>
        </p:txBody>
      </p:sp>
      <p:sp>
        <p:nvSpPr>
          <p:cNvPr id="15363" name="Rectangle 2">
            <a:extLst>
              <a:ext uri="{FF2B5EF4-FFF2-40B4-BE49-F238E27FC236}">
                <a16:creationId xmlns:a16="http://schemas.microsoft.com/office/drawing/2014/main" id="{7881DE2A-827D-5045-8673-0C1900ECB982}"/>
              </a:ext>
            </a:extLst>
          </p:cNvPr>
          <p:cNvSpPr>
            <a:spLocks noGrp="1" noRot="1" noChangeAspect="1" noChangeArrowheads="1" noTextEdit="1"/>
          </p:cNvSpPr>
          <p:nvPr>
            <p:ph type="sldImg"/>
          </p:nvPr>
        </p:nvSpPr>
        <p:spPr>
          <a:xfrm>
            <a:off x="139700" y="768350"/>
            <a:ext cx="6819900" cy="3836988"/>
          </a:xfrm>
          <a:ln/>
        </p:spPr>
      </p:sp>
      <p:sp>
        <p:nvSpPr>
          <p:cNvPr id="15364" name="Rectangle 3">
            <a:extLst>
              <a:ext uri="{FF2B5EF4-FFF2-40B4-BE49-F238E27FC236}">
                <a16:creationId xmlns:a16="http://schemas.microsoft.com/office/drawing/2014/main" id="{211D3DEB-6865-C94C-BEA3-2C5FBFB69E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55843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请各位使用此教案的老师，将</a:t>
            </a:r>
            <a:r>
              <a:rPr kumimoji="1" lang="en-US" altLang="zh-CN" dirty="0"/>
              <a:t>XXXX</a:t>
            </a:r>
            <a:r>
              <a:rPr kumimoji="1" lang="zh-CN" altLang="en-US" dirty="0"/>
              <a:t>替换成自己的名字和学校名称等</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请在</a:t>
            </a:r>
            <a:r>
              <a:rPr kumimoji="1" lang="en-US" altLang="zh-CN" dirty="0"/>
              <a:t>PPT</a:t>
            </a:r>
            <a:r>
              <a:rPr kumimoji="1" lang="zh-CN" altLang="en-US" dirty="0"/>
              <a:t>母版中加入自己学校的图标。具体方法：</a:t>
            </a:r>
            <a:endParaRPr kumimoji="1" lang="en-US" altLang="zh-CN" dirty="0"/>
          </a:p>
          <a:p>
            <a:r>
              <a:rPr kumimoji="1" lang="en-US" altLang="zh-CN" dirty="0"/>
              <a:t>1</a:t>
            </a:r>
            <a:r>
              <a:rPr kumimoji="1" lang="zh-CN" altLang="en-US" dirty="0"/>
              <a:t>、打开幻灯片母版：</a:t>
            </a:r>
            <a:r>
              <a:rPr kumimoji="1" lang="en-US" altLang="zh-CN" dirty="0"/>
              <a:t>PPT</a:t>
            </a:r>
            <a:r>
              <a:rPr kumimoji="1" lang="zh-CN" altLang="en-US" dirty="0"/>
              <a:t>菜单</a:t>
            </a:r>
            <a:r>
              <a:rPr kumimoji="1" lang="en-US" altLang="zh-CN" dirty="0"/>
              <a:t>-&gt;</a:t>
            </a:r>
            <a:r>
              <a:rPr kumimoji="1" lang="zh-CN" altLang="en-US" dirty="0"/>
              <a:t>视图</a:t>
            </a:r>
            <a:r>
              <a:rPr kumimoji="1" lang="en-US" altLang="zh-CN" dirty="0"/>
              <a:t>-&gt;</a:t>
            </a:r>
            <a:r>
              <a:rPr kumimoji="1" lang="zh-CN" altLang="en-US" dirty="0"/>
              <a:t>幻灯片母版；</a:t>
            </a:r>
            <a:endParaRPr kumimoji="1" lang="en-US" altLang="zh-CN" dirty="0"/>
          </a:p>
          <a:p>
            <a:r>
              <a:rPr kumimoji="1" lang="en-US" altLang="zh-CN" dirty="0"/>
              <a:t>2</a:t>
            </a:r>
            <a:r>
              <a:rPr kumimoji="1" lang="zh-CN" altLang="en-US" dirty="0"/>
              <a:t>、将母版的</a:t>
            </a:r>
            <a:r>
              <a:rPr kumimoji="1" lang="en-US" altLang="zh-CN" dirty="0"/>
              <a:t>P3</a:t>
            </a:r>
            <a:r>
              <a:rPr kumimoji="1" lang="zh-CN" altLang="en-US" dirty="0"/>
              <a:t>和</a:t>
            </a:r>
            <a:r>
              <a:rPr kumimoji="1" lang="en-US" altLang="zh-CN" dirty="0"/>
              <a:t>P4</a:t>
            </a:r>
            <a:r>
              <a:rPr kumimoji="1" lang="zh-CN" altLang="en-US" dirty="0"/>
              <a:t>右上角的“我的学校”图标，删去并换成自己学校的图标；</a:t>
            </a:r>
            <a:endParaRPr kumimoji="1" lang="en-US" altLang="zh-CN" dirty="0"/>
          </a:p>
          <a:p>
            <a:r>
              <a:rPr kumimoji="1" lang="en-US" altLang="zh-CN" dirty="0"/>
              <a:t>3</a:t>
            </a:r>
            <a:r>
              <a:rPr kumimoji="1" lang="zh-CN" altLang="en-US" dirty="0"/>
              <a:t>、页面最上面菜单中，关闭母版。</a:t>
            </a:r>
            <a:endParaRPr kumimoji="1" lang="en-US" altLang="zh-CN" dirty="0"/>
          </a:p>
          <a:p>
            <a:r>
              <a:rPr kumimoji="1" lang="zh-CN" altLang="en-US" dirty="0"/>
              <a:t>祝贺你：</a:t>
            </a:r>
            <a:r>
              <a:rPr kumimoji="1" lang="en-US" altLang="zh-CN" dirty="0"/>
              <a:t>PPT</a:t>
            </a:r>
            <a:r>
              <a:rPr kumimoji="1" lang="zh-CN" altLang="en-US" dirty="0"/>
              <a:t>每页正文均有自己学校的图标了！</a:t>
            </a:r>
          </a:p>
          <a:p>
            <a:endParaRPr kumimoji="1" lang="en-US" altLang="zh-CN" dirty="0"/>
          </a:p>
          <a:p>
            <a:r>
              <a:rPr kumimoji="1" lang="zh-CN" altLang="en-US" dirty="0"/>
              <a:t>小试牛刀：可以布置作业，让大家以本章所学为基础，给朋友讲讲互联网发展或网络安全方面的故事。</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2069076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3657328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3906897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886648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1259468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可以对着图简单介绍无源光纤网络</a:t>
            </a:r>
            <a:r>
              <a:rPr kumimoji="1" lang="en-US" altLang="zh-CN" dirty="0"/>
              <a:t>PON</a:t>
            </a:r>
            <a:r>
              <a:rPr kumimoji="1" lang="zh-CN" altLang="en-US" dirty="0"/>
              <a:t>，介绍家庭中使用的</a:t>
            </a:r>
            <a:r>
              <a:rPr kumimoji="1" lang="en-US" altLang="zh-CN" dirty="0"/>
              <a:t>FTTH</a:t>
            </a:r>
            <a:r>
              <a:rPr kumimoji="1" lang="zh-CN" altLang="en-US" dirty="0"/>
              <a:t>。</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dirty="0"/>
              <a:t>ONT</a:t>
            </a:r>
            <a:r>
              <a:rPr kumimoji="1" lang="zh-CN" altLang="en-US" dirty="0"/>
              <a:t>（</a:t>
            </a:r>
            <a:r>
              <a:rPr kumimoji="1" lang="en-US" altLang="zh-CN" dirty="0"/>
              <a:t>Optical Network Terminal</a:t>
            </a:r>
            <a:r>
              <a:rPr kumimoji="1" lang="zh-CN" altLang="en-US" dirty="0"/>
              <a:t>）即光网络终端，俗称光猫，是接入网络中为家庭用户提供网络的设备，可以提供高速上网、</a:t>
            </a:r>
            <a:r>
              <a:rPr kumimoji="1" lang="en-US" altLang="zh-CN" dirty="0"/>
              <a:t>IPTV</a:t>
            </a:r>
            <a:r>
              <a:rPr kumimoji="1" lang="zh-CN" altLang="en-US" dirty="0"/>
              <a:t>、语音、</a:t>
            </a:r>
            <a:r>
              <a:rPr kumimoji="1" lang="en-US" altLang="zh-CN" dirty="0"/>
              <a:t>Wi-Fi</a:t>
            </a:r>
            <a:r>
              <a:rPr kumimoji="1" lang="zh-CN" altLang="en-US" dirty="0"/>
              <a:t>等业务。光猫也称为光调制解调器。</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4215085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很传统较为古老的</a:t>
            </a:r>
            <a:r>
              <a:rPr kumimoji="1" lang="en-US" altLang="zh-CN" dirty="0"/>
              <a:t>DSL</a:t>
            </a:r>
            <a:r>
              <a:rPr kumimoji="1" lang="zh-CN" altLang="en-US" dirty="0"/>
              <a:t>，其中典型的有</a:t>
            </a:r>
            <a:r>
              <a:rPr kumimoji="1" lang="en-US" altLang="zh-CN" dirty="0"/>
              <a:t>ADSL(Asymmetric Digital Subscriber Line)</a:t>
            </a:r>
            <a:r>
              <a:rPr kumimoji="1" lang="zh-CN" altLang="en-US" dirty="0"/>
              <a:t>，非对称数字</a:t>
            </a:r>
            <a:r>
              <a:rPr kumimoji="1" lang="zh-CN" altLang="en-US"/>
              <a:t>用户线路，在</a:t>
            </a:r>
            <a:r>
              <a:rPr kumimoji="1" lang="zh-CN" altLang="en-US" dirty="0"/>
              <a:t>电话线上产生三个信息通道：一个高速下行通道，用于用户下载信息；一个中速双工通道；一个普通的老式电话服务通道；且这三个通道可以同时工作。</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2050956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歌华有线等通过有线电视上网，使用此技术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3256617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实际的网络设备，往往会将多个功能合并在一个盒子里。</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676760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2260839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3550560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2298870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3672066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4103015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065385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2836571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32179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0500375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840338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8743556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1044831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3502245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3801155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17012653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1141606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26606819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1089783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18434991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90752">
              <a:defRPr/>
            </a:pPr>
            <a:endParaRPr lang="en-US" altLang="zh-CN" sz="1300"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51</a:t>
            </a:fld>
            <a:endParaRPr lang="zh-CN" altLang="en-US"/>
          </a:p>
        </p:txBody>
      </p:sp>
    </p:spTree>
    <p:extLst>
      <p:ext uri="{BB962C8B-B14F-4D97-AF65-F5344CB8AC3E}">
        <p14:creationId xmlns:p14="http://schemas.microsoft.com/office/powerpoint/2010/main" val="3825031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23667574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不仅仅方头方脑的传统计算机是主机，还有这样奇奇怪怪的主机。</a:t>
            </a:r>
            <a:endParaRPr kumimoji="1" lang="en-US" altLang="zh-CN" dirty="0"/>
          </a:p>
          <a:p>
            <a:r>
              <a:rPr kumimoji="1" lang="zh-CN" altLang="en-US" dirty="0"/>
              <a:t>注：这个烤面包机能够联网并将烤出的面包显示天气情况（多云、晴天）</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54</a:t>
            </a:fld>
            <a:endParaRPr kumimoji="1" lang="zh-CN" altLang="en-US"/>
          </a:p>
        </p:txBody>
      </p:sp>
    </p:spTree>
    <p:extLst>
      <p:ext uri="{BB962C8B-B14F-4D97-AF65-F5344CB8AC3E}">
        <p14:creationId xmlns:p14="http://schemas.microsoft.com/office/powerpoint/2010/main" val="8927088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55</a:t>
            </a:fld>
            <a:endParaRPr kumimoji="1" lang="zh-CN" altLang="en-US"/>
          </a:p>
        </p:txBody>
      </p:sp>
    </p:spTree>
    <p:extLst>
      <p:ext uri="{BB962C8B-B14F-4D97-AF65-F5344CB8AC3E}">
        <p14:creationId xmlns:p14="http://schemas.microsoft.com/office/powerpoint/2010/main" val="5332006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网络核心</a:t>
            </a:r>
            <a:r>
              <a:rPr lang="zh-CN" altLang="en-US" dirty="0"/>
              <a:t>的两大</a:t>
            </a:r>
            <a:r>
              <a:rPr lang="zh-CN" altLang="en-US" dirty="0">
                <a:sym typeface="+mn-ea"/>
              </a:rPr>
              <a:t>功能：路由和转发</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28925343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22288882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抛出问题引导学生理解协议的三要素：语法，语义，同步</a:t>
            </a:r>
          </a:p>
        </p:txBody>
      </p:sp>
    </p:spTree>
    <p:extLst>
      <p:ext uri="{BB962C8B-B14F-4D97-AF65-F5344CB8AC3E}">
        <p14:creationId xmlns:p14="http://schemas.microsoft.com/office/powerpoint/2010/main" val="25821104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通过动画展现两个例子：</a:t>
            </a:r>
            <a:endParaRPr lang="zh-CN" altLang="en-US" dirty="0"/>
          </a:p>
          <a:p>
            <a:r>
              <a:rPr lang="zh-CN" altLang="en-US" dirty="0">
                <a:sym typeface="+mn-ea"/>
              </a:rPr>
              <a:t>面向网络的复杂异构和不断发展，应该怎么办？</a:t>
            </a:r>
            <a:endParaRPr lang="zh-CN" altLang="en-US" dirty="0"/>
          </a:p>
          <a:p>
            <a:endParaRPr lang="zh-CN" altLang="en-US" dirty="0"/>
          </a:p>
          <a:p>
            <a:r>
              <a:rPr lang="zh-CN" altLang="en-US" dirty="0"/>
              <a:t>凸显网络参考模型的必要性，参考模型的主要特点：分层结构、统一标准、模块独立。</a:t>
            </a:r>
          </a:p>
        </p:txBody>
      </p:sp>
    </p:spTree>
    <p:extLst>
      <p:ext uri="{BB962C8B-B14F-4D97-AF65-F5344CB8AC3E}">
        <p14:creationId xmlns:p14="http://schemas.microsoft.com/office/powerpoint/2010/main" val="890235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此处以互联网大厂</a:t>
            </a:r>
            <a:r>
              <a:rPr lang="en" altLang="zh-CN" dirty="0"/>
              <a:t>x</a:t>
            </a:r>
            <a:r>
              <a:rPr lang="zh-CN" altLang="en-US" dirty="0"/>
              <a:t>东和</a:t>
            </a:r>
            <a:r>
              <a:rPr lang="en" altLang="zh-CN" dirty="0"/>
              <a:t>x</a:t>
            </a:r>
            <a:r>
              <a:rPr lang="zh-CN" altLang="en-US" dirty="0"/>
              <a:t>讯的合作为类比，说明参考模型的必要性。</a:t>
            </a:r>
          </a:p>
          <a:p>
            <a:endParaRPr lang="zh-CN" altLang="en-US" dirty="0"/>
          </a:p>
          <a:p>
            <a:r>
              <a:rPr lang="en-US" altLang="zh-CN" dirty="0"/>
              <a:t>1. </a:t>
            </a:r>
            <a:r>
              <a:rPr lang="zh-CN" altLang="en-US" dirty="0"/>
              <a:t>大厂内部有明晰的分层组织架构，总裁</a:t>
            </a:r>
            <a:r>
              <a:rPr lang="en-US" altLang="zh-CN" dirty="0"/>
              <a:t>-</a:t>
            </a:r>
            <a:r>
              <a:rPr lang="zh-CN" altLang="en-US" dirty="0"/>
              <a:t>总监</a:t>
            </a:r>
            <a:r>
              <a:rPr lang="en-US" altLang="zh-CN" dirty="0"/>
              <a:t>-</a:t>
            </a:r>
            <a:r>
              <a:rPr lang="zh-CN" altLang="en-US" dirty="0"/>
              <a:t>经理</a:t>
            </a:r>
            <a:r>
              <a:rPr lang="en-US" altLang="zh-CN" dirty="0"/>
              <a:t>-</a:t>
            </a:r>
            <a:r>
              <a:rPr lang="zh-CN" altLang="en-US" dirty="0"/>
              <a:t>码农，隔层分工明确。（体现分层的概念）</a:t>
            </a:r>
          </a:p>
          <a:p>
            <a:r>
              <a:rPr lang="zh-CN" altLang="en-US" dirty="0"/>
              <a:t>在大厂之间推进合同时，每一个层各有明确分工：</a:t>
            </a:r>
          </a:p>
          <a:p>
            <a:r>
              <a:rPr lang="zh-CN" altLang="en-US" dirty="0"/>
              <a:t>总裁与总裁之间谈“战略合作”；</a:t>
            </a:r>
          </a:p>
          <a:p>
            <a:r>
              <a:rPr lang="zh-CN" altLang="en-US" dirty="0"/>
              <a:t>总监与总监之间谈“合作项目”；</a:t>
            </a:r>
          </a:p>
          <a:p>
            <a:r>
              <a:rPr lang="zh-CN" altLang="en-US" dirty="0"/>
              <a:t>产品经理与产品经理之间谈“产品功能”；</a:t>
            </a:r>
          </a:p>
          <a:p>
            <a:r>
              <a:rPr lang="zh-CN" altLang="en-US" dirty="0"/>
              <a:t>码农与码农之间谈具体“代码接口”。</a:t>
            </a:r>
          </a:p>
          <a:p>
            <a:endParaRPr lang="zh-CN" altLang="en-US" dirty="0"/>
          </a:p>
          <a:p>
            <a:r>
              <a:rPr lang="en-US" altLang="zh-CN" dirty="0"/>
              <a:t>2. </a:t>
            </a:r>
            <a:r>
              <a:rPr lang="zh-CN" altLang="en-US" dirty="0"/>
              <a:t>各层内部彼此独立。（体现模块化的概念）</a:t>
            </a:r>
          </a:p>
          <a:p>
            <a:r>
              <a:rPr lang="zh-CN" altLang="en-US" dirty="0"/>
              <a:t>不管是否有码农离职，或者新码农加入，不影响大厂间的项目合作。</a:t>
            </a:r>
          </a:p>
          <a:p>
            <a:r>
              <a:rPr lang="en" altLang="zh-CN" dirty="0"/>
              <a:t>X</a:t>
            </a:r>
            <a:r>
              <a:rPr lang="zh-CN" altLang="en-US" dirty="0"/>
              <a:t>讯用</a:t>
            </a:r>
            <a:r>
              <a:rPr lang="en" altLang="zh-CN" dirty="0"/>
              <a:t>Python</a:t>
            </a:r>
            <a:r>
              <a:rPr lang="zh-CN" altLang="en" dirty="0"/>
              <a:t>，</a:t>
            </a:r>
            <a:r>
              <a:rPr lang="en" altLang="zh-CN" dirty="0"/>
              <a:t>X</a:t>
            </a:r>
            <a:r>
              <a:rPr lang="zh-CN" altLang="en-US" dirty="0"/>
              <a:t>东可以用</a:t>
            </a:r>
            <a:r>
              <a:rPr lang="en" altLang="zh-CN" dirty="0"/>
              <a:t>GO</a:t>
            </a:r>
            <a:r>
              <a:rPr lang="zh-CN" altLang="en" dirty="0"/>
              <a:t>，</a:t>
            </a:r>
            <a:r>
              <a:rPr lang="zh-CN" altLang="en-US" dirty="0"/>
              <a:t>彼此互不影响。</a:t>
            </a:r>
          </a:p>
          <a:p>
            <a:endParaRPr lang="zh-CN" altLang="en-US" dirty="0"/>
          </a:p>
          <a:p>
            <a:r>
              <a:rPr lang="en-US" altLang="zh-CN" dirty="0"/>
              <a:t>3. </a:t>
            </a:r>
            <a:r>
              <a:rPr lang="zh-CN" altLang="en-US" dirty="0"/>
              <a:t>双方之间的合作、彼此内部之间沟通遵循一定的标准</a:t>
            </a:r>
          </a:p>
          <a:p>
            <a:r>
              <a:rPr lang="zh-CN" altLang="en-US" dirty="0"/>
              <a:t>对等的层之间，通过标准的合同、协议、规范进行沟通。（体现协议的概念）</a:t>
            </a:r>
          </a:p>
          <a:p>
            <a:r>
              <a:rPr lang="zh-CN" altLang="en-US" dirty="0"/>
              <a:t>层与层之间，通过事先约定的日报、周报、月报等形式进行沟通。（体现层与层之间接口的概念）</a:t>
            </a:r>
          </a:p>
        </p:txBody>
      </p:sp>
    </p:spTree>
    <p:extLst>
      <p:ext uri="{BB962C8B-B14F-4D97-AF65-F5344CB8AC3E}">
        <p14:creationId xmlns:p14="http://schemas.microsoft.com/office/powerpoint/2010/main" val="38514445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货物包含多个邮包</a:t>
            </a:r>
            <a:endParaRPr kumimoji="1" lang="en-US" altLang="zh-CN" dirty="0"/>
          </a:p>
          <a:p>
            <a:r>
              <a:rPr kumimoji="1" lang="zh-CN" altLang="en-US" dirty="0"/>
              <a:t>一大包邮包包含很多信件</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63</a:t>
            </a:fld>
            <a:endParaRPr kumimoji="1" lang="zh-CN" altLang="en-US"/>
          </a:p>
        </p:txBody>
      </p:sp>
    </p:spTree>
    <p:extLst>
      <p:ext uri="{BB962C8B-B14F-4D97-AF65-F5344CB8AC3E}">
        <p14:creationId xmlns:p14="http://schemas.microsoft.com/office/powerpoint/2010/main" val="40670059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将网络分层模型与一个网络通信实例相结合。从而让学生更好了解分层模型在真实网络通信实例中的对应关系。</a:t>
            </a:r>
          </a:p>
          <a:p>
            <a:r>
              <a:rPr lang="zh-CN" altLang="en-US" dirty="0"/>
              <a:t>主机</a:t>
            </a:r>
            <a:r>
              <a:rPr lang="en-US" altLang="zh-CN" dirty="0"/>
              <a:t>A</a:t>
            </a:r>
            <a:r>
              <a:rPr lang="zh-CN" altLang="en-US" dirty="0"/>
              <a:t>向主机</a:t>
            </a:r>
            <a:r>
              <a:rPr lang="en-US" altLang="zh-CN" dirty="0"/>
              <a:t>B</a:t>
            </a:r>
            <a:r>
              <a:rPr lang="zh-CN" altLang="en-US" dirty="0"/>
              <a:t>发送消息，发送端逐层加包头，接收端去包头。明确路由器和交换机工作的层次。</a:t>
            </a:r>
          </a:p>
          <a:p>
            <a:r>
              <a:rPr lang="zh-CN" altLang="en-US" dirty="0"/>
              <a:t>数据在发送端从应用层向下通过各层，经过封装操作，从原始的消息，变成段</a:t>
            </a:r>
            <a:r>
              <a:rPr lang="en-US" altLang="zh-CN" dirty="0"/>
              <a:t>segment</a:t>
            </a:r>
            <a:r>
              <a:rPr lang="zh-CN" altLang="en-US" dirty="0"/>
              <a:t>，成为数据包</a:t>
            </a:r>
            <a:r>
              <a:rPr lang="en-US" altLang="zh-CN" dirty="0"/>
              <a:t>packet</a:t>
            </a:r>
            <a:r>
              <a:rPr lang="zh-CN" altLang="en-US" dirty="0"/>
              <a:t>，再成为帧。这些不同的名称对应于各层的协议数据单元（</a:t>
            </a:r>
            <a:r>
              <a:rPr lang="en-US" altLang="zh-CN" dirty="0"/>
              <a:t>PDU</a:t>
            </a:r>
            <a:r>
              <a:rPr lang="zh-CN" altLang="en-US" dirty="0"/>
              <a:t>）名称。</a:t>
            </a:r>
          </a:p>
          <a:p>
            <a:r>
              <a:rPr lang="zh-CN" altLang="en-US" dirty="0"/>
              <a:t>数据在网络中经过各种网络设备，逐跳转发，被送达接收方主机</a:t>
            </a:r>
            <a:r>
              <a:rPr lang="en-US" altLang="zh-CN" dirty="0"/>
              <a:t>B</a:t>
            </a:r>
            <a:r>
              <a:rPr lang="zh-CN" altLang="en-US" dirty="0"/>
              <a:t>。</a:t>
            </a:r>
          </a:p>
          <a:p>
            <a:r>
              <a:rPr lang="zh-CN" altLang="en-US" dirty="0"/>
              <a:t>为简化起见，图中仅列出了两台交换机和一台路由器。</a:t>
            </a:r>
          </a:p>
        </p:txBody>
      </p:sp>
    </p:spTree>
    <p:extLst>
      <p:ext uri="{BB962C8B-B14F-4D97-AF65-F5344CB8AC3E}">
        <p14:creationId xmlns:p14="http://schemas.microsoft.com/office/powerpoint/2010/main" val="4775291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fld id="{88F14E47-C39A-4325-8B61-45A7177BB4F5}" type="slidenum">
              <a:rPr lang="zh-CN" altLang="en-US" smtClean="0">
                <a:solidFill>
                  <a:srgbClr val="000000"/>
                </a:solidFill>
                <a:latin typeface="Arial" panose="020B0604020202020204" pitchFamily="34" charset="0"/>
              </a:rPr>
              <a:pPr/>
              <a:t>72</a:t>
            </a:fld>
            <a:endParaRPr lang="en-US" altLang="zh-CN">
              <a:solidFill>
                <a:srgbClr val="000000"/>
              </a:solidFill>
              <a:latin typeface="Arial" panose="020B0604020202020204" pitchFamily="3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xfrm>
            <a:off x="914400" y="4343400"/>
            <a:ext cx="5029200" cy="4114800"/>
          </a:xfrm>
          <a:noFill/>
        </p:spPr>
        <p:txBody>
          <a:bodyPr/>
          <a:lstStyle/>
          <a:p>
            <a:pPr eaLnBrk="1" hangingPunct="1"/>
            <a:endParaRPr lang="zh-CN" altLang="en-US"/>
          </a:p>
        </p:txBody>
      </p:sp>
    </p:spTree>
    <p:extLst>
      <p:ext uri="{BB962C8B-B14F-4D97-AF65-F5344CB8AC3E}">
        <p14:creationId xmlns:p14="http://schemas.microsoft.com/office/powerpoint/2010/main" val="24471301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fld id="{DF58F7A3-715A-449D-8F10-F2145F3D1F13}" type="slidenum">
              <a:rPr lang="zh-CN" altLang="en-US" smtClean="0">
                <a:solidFill>
                  <a:srgbClr val="000000"/>
                </a:solidFill>
                <a:latin typeface="Arial" panose="020B0604020202020204" pitchFamily="34" charset="0"/>
              </a:rPr>
              <a:pPr/>
              <a:t>73</a:t>
            </a:fld>
            <a:endParaRPr lang="en-US" altLang="zh-CN">
              <a:solidFill>
                <a:srgbClr val="000000"/>
              </a:solidFill>
              <a:latin typeface="Arial" panose="020B0604020202020204" pitchFamily="34"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xfrm>
            <a:off x="914400" y="4343400"/>
            <a:ext cx="5029200" cy="4114800"/>
          </a:xfrm>
          <a:noFill/>
        </p:spPr>
        <p:txBody>
          <a:bodyPr/>
          <a:lstStyle/>
          <a:p>
            <a:pPr eaLnBrk="1" hangingPunct="1"/>
            <a:endParaRPr lang="zh-CN" altLang="en-US"/>
          </a:p>
        </p:txBody>
      </p:sp>
    </p:spTree>
    <p:extLst>
      <p:ext uri="{BB962C8B-B14F-4D97-AF65-F5344CB8AC3E}">
        <p14:creationId xmlns:p14="http://schemas.microsoft.com/office/powerpoint/2010/main" val="13317938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74</a:t>
            </a:fld>
            <a:endParaRPr kumimoji="1" lang="zh-CN" altLang="en-US"/>
          </a:p>
        </p:txBody>
      </p:sp>
    </p:spTree>
    <p:extLst>
      <p:ext uri="{BB962C8B-B14F-4D97-AF65-F5344CB8AC3E}">
        <p14:creationId xmlns:p14="http://schemas.microsoft.com/office/powerpoint/2010/main" val="20028967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OSI</a:t>
            </a:r>
            <a:r>
              <a:rPr lang="zh-CN" altLang="en-US" dirty="0"/>
              <a:t>参考模型，开放系统互连参考模型，也称为</a:t>
            </a:r>
            <a:r>
              <a:rPr lang="en-US" altLang="zh-CN" dirty="0"/>
              <a:t>7</a:t>
            </a:r>
            <a:r>
              <a:rPr lang="zh-CN" altLang="en-US" dirty="0"/>
              <a:t>层模型，由</a:t>
            </a:r>
            <a:r>
              <a:rPr kumimoji="1" lang="en-US" altLang="zh-CN" dirty="0">
                <a:sym typeface="+mn-ea"/>
              </a:rPr>
              <a:t>Day, Zimmermann </a:t>
            </a:r>
            <a:r>
              <a:rPr kumimoji="1" lang="zh-CN" altLang="en-US" dirty="0">
                <a:sym typeface="+mn-ea"/>
              </a:rPr>
              <a:t>在</a:t>
            </a:r>
            <a:r>
              <a:rPr kumimoji="1" lang="en-US" altLang="zh-CN" dirty="0">
                <a:sym typeface="+mn-ea"/>
              </a:rPr>
              <a:t>1983</a:t>
            </a:r>
            <a:r>
              <a:rPr kumimoji="1" lang="zh-CN" altLang="en-US" dirty="0">
                <a:sym typeface="+mn-ea"/>
              </a:rPr>
              <a:t>提出，被</a:t>
            </a:r>
            <a:r>
              <a:rPr kumimoji="1" lang="en-US" altLang="zh-CN" dirty="0">
                <a:sym typeface="+mn-ea"/>
              </a:rPr>
              <a:t>ISO</a:t>
            </a:r>
            <a:r>
              <a:rPr kumimoji="1" lang="zh-CN" altLang="en-US" dirty="0">
                <a:sym typeface="+mn-ea"/>
              </a:rPr>
              <a:t>组织设定为国际标准</a:t>
            </a:r>
          </a:p>
          <a:p>
            <a:r>
              <a:rPr kumimoji="1" lang="en-US" altLang="zh-CN" dirty="0">
                <a:sym typeface="+mn-ea"/>
              </a:rPr>
              <a:t>7</a:t>
            </a:r>
            <a:r>
              <a:rPr kumimoji="1" lang="zh-CN" altLang="en-US" dirty="0">
                <a:sym typeface="+mn-ea"/>
              </a:rPr>
              <a:t>层由底至上分别为：物理层、数据链路层、网络层、传输层、会话层、表示层和应用层。</a:t>
            </a:r>
          </a:p>
          <a:p>
            <a:r>
              <a:rPr kumimoji="1" lang="zh-CN" altLang="en-US" dirty="0">
                <a:sym typeface="+mn-ea"/>
              </a:rPr>
              <a:t>物理层主要定义如何在物理信道上传输二进制的</a:t>
            </a:r>
            <a:r>
              <a:rPr kumimoji="1" lang="en-US" altLang="zh-CN" dirty="0">
                <a:sym typeface="+mn-ea"/>
              </a:rPr>
              <a:t>0</a:t>
            </a:r>
            <a:r>
              <a:rPr kumimoji="1" lang="zh-CN" altLang="en-US" dirty="0">
                <a:sym typeface="+mn-ea"/>
              </a:rPr>
              <a:t>和</a:t>
            </a:r>
            <a:r>
              <a:rPr kumimoji="1" lang="en-US" altLang="zh-CN" dirty="0">
                <a:sym typeface="+mn-ea"/>
              </a:rPr>
              <a:t>1.</a:t>
            </a:r>
          </a:p>
          <a:p>
            <a:r>
              <a:rPr kumimoji="1" lang="zh-CN" altLang="en-US" dirty="0">
                <a:sym typeface="+mn-ea"/>
              </a:rPr>
              <a:t>包括了：</a:t>
            </a:r>
          </a:p>
          <a:p>
            <a:r>
              <a:rPr kumimoji="1" lang="zh-CN" altLang="en-US" dirty="0">
                <a:sym typeface="+mn-ea"/>
              </a:rPr>
              <a:t>机械接口的定义：包括接口的物理尺寸大小，针口的数量、接口的线缆排列等</a:t>
            </a:r>
          </a:p>
          <a:p>
            <a:r>
              <a:rPr kumimoji="1" lang="zh-CN" altLang="en-US" dirty="0">
                <a:sym typeface="+mn-ea"/>
              </a:rPr>
              <a:t>电子信号的定义：包括电压、电流大小，如何以电子信号特征来表示</a:t>
            </a:r>
            <a:r>
              <a:rPr kumimoji="1" lang="en-US" altLang="zh-CN" dirty="0">
                <a:sym typeface="+mn-ea"/>
              </a:rPr>
              <a:t>0</a:t>
            </a:r>
            <a:r>
              <a:rPr kumimoji="1" lang="zh-CN" altLang="en-US" dirty="0">
                <a:sym typeface="+mn-ea"/>
              </a:rPr>
              <a:t>和</a:t>
            </a:r>
            <a:r>
              <a:rPr kumimoji="1" lang="en-US" altLang="zh-CN" dirty="0">
                <a:sym typeface="+mn-ea"/>
              </a:rPr>
              <a:t>1</a:t>
            </a:r>
            <a:r>
              <a:rPr kumimoji="1" lang="zh-CN" altLang="en-US" dirty="0">
                <a:sym typeface="+mn-ea"/>
              </a:rPr>
              <a:t>等</a:t>
            </a:r>
          </a:p>
          <a:p>
            <a:r>
              <a:rPr kumimoji="1" lang="zh-CN" altLang="en-US" dirty="0">
                <a:sym typeface="+mn-ea"/>
              </a:rPr>
              <a:t>时序接口的定义：采样频率、每秒传送多少个不同信号（波特率），每秒传送多少比特（比特率</a:t>
            </a:r>
            <a:r>
              <a:rPr kumimoji="1" lang="en-US" altLang="zh-CN" dirty="0">
                <a:sym typeface="+mn-ea"/>
              </a:rPr>
              <a:t>bps</a:t>
            </a:r>
            <a:r>
              <a:rPr kumimoji="1" lang="zh-CN" altLang="en-US" dirty="0">
                <a:sym typeface="+mn-ea"/>
              </a:rPr>
              <a:t>）等</a:t>
            </a:r>
          </a:p>
          <a:p>
            <a:r>
              <a:rPr kumimoji="1" lang="zh-CN" altLang="en-US" dirty="0">
                <a:sym typeface="+mn-ea"/>
              </a:rPr>
              <a:t>对传输介质的定义：铜导线，包括电话线、各种网络线（五类线、超五类线、六类线等）、光纤；不同频谱的无线通信：微波、红外、可见光、电磁波等等</a:t>
            </a:r>
          </a:p>
          <a:p>
            <a:endParaRPr kumimoji="1" lang="zh-CN" altLang="en-US" dirty="0">
              <a:sym typeface="+mn-ea"/>
            </a:endParaRPr>
          </a:p>
          <a:p>
            <a:endParaRPr kumimoji="1" lang="zh-CN" altLang="en-US" dirty="0">
              <a:sym typeface="+mn-ea"/>
            </a:endParaRPr>
          </a:p>
        </p:txBody>
      </p:sp>
    </p:spTree>
    <p:extLst>
      <p:ext uri="{BB962C8B-B14F-4D97-AF65-F5344CB8AC3E}">
        <p14:creationId xmlns:p14="http://schemas.microsoft.com/office/powerpoint/2010/main" val="30119142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fontAlgn="auto">
              <a:lnSpc>
                <a:spcPct val="120000"/>
              </a:lnSpc>
            </a:pPr>
            <a:r>
              <a:rPr lang="zh-CN" altLang="en-US" dirty="0"/>
              <a:t>数据链路层主要为了实现相邻网络实体间的数据传输，特别是为实现可靠的传输提供可能。</a:t>
            </a:r>
          </a:p>
          <a:p>
            <a:pPr fontAlgn="auto">
              <a:lnSpc>
                <a:spcPct val="120000"/>
              </a:lnSpc>
            </a:pPr>
            <a:r>
              <a:rPr lang="zh-CN" altLang="en-US" dirty="0"/>
              <a:t>数据链路层主要包括以下功能：</a:t>
            </a:r>
          </a:p>
          <a:p>
            <a:pPr fontAlgn="auto">
              <a:lnSpc>
                <a:spcPct val="120000"/>
              </a:lnSpc>
            </a:pPr>
            <a:r>
              <a:rPr lang="zh-CN" altLang="en-US" dirty="0"/>
              <a:t>成帧：将从物理层获取的比特流拆分为离散的帧，可以让学生思考能否在发送时以时间间隙来分离帧。</a:t>
            </a:r>
          </a:p>
          <a:p>
            <a:pPr fontAlgn="auto">
              <a:lnSpc>
                <a:spcPct val="120000"/>
              </a:lnSpc>
            </a:pPr>
            <a:r>
              <a:rPr lang="zh-CN" altLang="en-US" dirty="0"/>
              <a:t>错误检测与纠正：由于网络传输中信号传播存在衰减和延迟，因为通信错误不可避免，通过算法可以实现错误的检测甚至自动纠错，从而为提供可靠数据通信提供可能</a:t>
            </a:r>
          </a:p>
          <a:p>
            <a:pPr fontAlgn="auto">
              <a:lnSpc>
                <a:spcPct val="120000"/>
              </a:lnSpc>
            </a:pPr>
            <a:r>
              <a:rPr lang="zh-CN" altLang="en-US" dirty="0"/>
              <a:t>物理地址或叫</a:t>
            </a:r>
            <a:r>
              <a:rPr lang="en-US" altLang="zh-CN" dirty="0"/>
              <a:t>MAC</a:t>
            </a:r>
            <a:r>
              <a:rPr lang="zh-CN" altLang="en-US" dirty="0"/>
              <a:t>地址：48位，通常以</a:t>
            </a:r>
            <a:r>
              <a:rPr lang="en-US" altLang="zh-CN" dirty="0"/>
              <a:t>12</a:t>
            </a:r>
            <a:r>
              <a:rPr lang="zh-CN" altLang="en-US" dirty="0"/>
              <a:t>个十六进制数字来表示，理论上是全球唯一的网络标识，</a:t>
            </a:r>
            <a:r>
              <a:rPr lang="en-US" altLang="zh-CN" dirty="0"/>
              <a:t>MAC</a:t>
            </a:r>
            <a:r>
              <a:rPr lang="zh-CN" altLang="en-US" dirty="0"/>
              <a:t>地址烧录在网卡上，不便更改</a:t>
            </a:r>
          </a:p>
          <a:p>
            <a:pPr fontAlgn="auto">
              <a:lnSpc>
                <a:spcPct val="120000"/>
              </a:lnSpc>
            </a:pPr>
            <a:r>
              <a:rPr lang="zh-CN" altLang="en-US" dirty="0"/>
              <a:t>流量控制，避免“淹没”（overwhelming）:当快速的发送端遇上慢速的接收端，慢速的接收端来不及出来像洪水一样涌来的数据，导致接收端缓存溢出，因此叫做“淹没”。数据链路层需要根据需要调节发送方的发送速度，这叫做流量控制。</a:t>
            </a:r>
          </a:p>
          <a:p>
            <a:pPr fontAlgn="auto">
              <a:lnSpc>
                <a:spcPct val="120000"/>
              </a:lnSpc>
            </a:pPr>
            <a:r>
              <a:rPr lang="zh-CN" altLang="en-US" dirty="0"/>
              <a:t>共享信道上的访问控制（MAC）：在同一个信道上，多个机器同时传输信号。例如：在同一间教室上课，如果没有课堂纪律，可能有多人同时发言，那就是混乱的菜场，而不是课室。</a:t>
            </a:r>
          </a:p>
        </p:txBody>
      </p:sp>
    </p:spTree>
    <p:extLst>
      <p:ext uri="{BB962C8B-B14F-4D97-AF65-F5344CB8AC3E}">
        <p14:creationId xmlns:p14="http://schemas.microsoft.com/office/powerpoint/2010/main" val="17362484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网络层负责将数据包从源主机送达目的主机。</a:t>
            </a:r>
            <a:endParaRPr lang="en-US" altLang="zh-CN" dirty="0"/>
          </a:p>
          <a:p>
            <a:r>
              <a:rPr lang="zh-CN" altLang="en-US" dirty="0"/>
              <a:t>由于网络的范围大，网络中可能连接了海量设备。寻址除了要求网络地址是唯一可识别之外，还要求网络地址的分层管理和快速可查找。</a:t>
            </a:r>
          </a:p>
          <a:p>
            <a:r>
              <a:rPr lang="zh-CN" altLang="en-US" dirty="0"/>
              <a:t>互联网上最广泛使用的网络层协议是</a:t>
            </a:r>
            <a:r>
              <a:rPr lang="en-US" altLang="zh-CN" dirty="0"/>
              <a:t>IP</a:t>
            </a:r>
            <a:r>
              <a:rPr lang="zh-CN" altLang="en-US" dirty="0"/>
              <a:t>协议。其中</a:t>
            </a:r>
            <a:r>
              <a:rPr lang="en-US" altLang="zh-CN" dirty="0"/>
              <a:t>IPv4</a:t>
            </a:r>
            <a:r>
              <a:rPr lang="zh-CN" altLang="en-US" dirty="0"/>
              <a:t>协议规定用</a:t>
            </a:r>
            <a:r>
              <a:rPr lang="en-US" altLang="zh-CN" dirty="0"/>
              <a:t>32</a:t>
            </a:r>
            <a:r>
              <a:rPr lang="zh-CN" altLang="en-US" dirty="0"/>
              <a:t>位表示</a:t>
            </a:r>
            <a:r>
              <a:rPr lang="en-US" altLang="zh-CN" dirty="0"/>
              <a:t>IP</a:t>
            </a:r>
            <a:r>
              <a:rPr lang="zh-CN" altLang="en-US" dirty="0"/>
              <a:t>地址，目前的互联网正面临</a:t>
            </a:r>
            <a:r>
              <a:rPr lang="en-US" altLang="zh-CN" dirty="0"/>
              <a:t>IPv4</a:t>
            </a:r>
            <a:r>
              <a:rPr lang="zh-CN" altLang="en-US" dirty="0"/>
              <a:t>地址耗尽的问题，因为目前正向下一代互联网发展。</a:t>
            </a:r>
          </a:p>
          <a:p>
            <a:r>
              <a:rPr lang="zh-CN" altLang="en-US" dirty="0"/>
              <a:t>下一代互联网其中一个最重要的特性就是由</a:t>
            </a:r>
            <a:r>
              <a:rPr lang="en-US" altLang="zh-CN" dirty="0"/>
              <a:t>IPv4</a:t>
            </a:r>
            <a:r>
              <a:rPr lang="zh-CN" altLang="en-US" dirty="0"/>
              <a:t>升级到</a:t>
            </a:r>
            <a:r>
              <a:rPr lang="en-US" altLang="zh-CN" dirty="0"/>
              <a:t>IPv6</a:t>
            </a:r>
            <a:r>
              <a:rPr lang="zh-CN" altLang="en-US" dirty="0"/>
              <a:t>，</a:t>
            </a:r>
            <a:r>
              <a:rPr lang="en-US" altLang="zh-CN" dirty="0"/>
              <a:t>IPv6</a:t>
            </a:r>
            <a:r>
              <a:rPr lang="zh-CN" altLang="en-US" dirty="0"/>
              <a:t>协议用</a:t>
            </a:r>
            <a:r>
              <a:rPr lang="en-US" altLang="zh-CN" dirty="0"/>
              <a:t>128</a:t>
            </a:r>
            <a:r>
              <a:rPr lang="zh-CN" altLang="en-US" dirty="0"/>
              <a:t>位表示</a:t>
            </a:r>
            <a:r>
              <a:rPr lang="en-US" altLang="zh-CN" dirty="0"/>
              <a:t>IP</a:t>
            </a:r>
            <a:r>
              <a:rPr lang="zh-CN" altLang="en-US" dirty="0"/>
              <a:t>地址，从而提供了海量的</a:t>
            </a:r>
            <a:r>
              <a:rPr lang="en-US" altLang="zh-CN" dirty="0"/>
              <a:t>IP</a:t>
            </a:r>
            <a:r>
              <a:rPr lang="zh-CN" altLang="en-US" dirty="0"/>
              <a:t>地址空间。</a:t>
            </a:r>
          </a:p>
          <a:p>
            <a:r>
              <a:rPr lang="zh-CN" altLang="en-US" dirty="0"/>
              <a:t>路由是指从源主机寻找一条路径到达目的主机。不管是面向连接还是无连接的通信模式，都需要进行路由。</a:t>
            </a:r>
          </a:p>
          <a:p>
            <a:r>
              <a:rPr lang="zh-CN" altLang="en-US" dirty="0"/>
              <a:t>在超大规模高度动态的网络中，人工寻找路由路径是一件难以完成的工作。因此，在互联网中，我们要利用动态路由算法和协议，实现从源端到目的端转发路径的高效选择。</a:t>
            </a:r>
          </a:p>
          <a:p>
            <a:r>
              <a:rPr lang="zh-CN" altLang="en-US" dirty="0"/>
              <a:t>此外，网络层还负责</a:t>
            </a:r>
            <a:r>
              <a:rPr kumimoji="1" lang="zh-CN" altLang="en-US" dirty="0">
                <a:sym typeface="+mn-ea"/>
              </a:rPr>
              <a:t>服务质量保证的工作，包括：处理网络拥塞、流量整形、保障延迟等。</a:t>
            </a:r>
          </a:p>
          <a:p>
            <a:endParaRPr lang="zh-CN" altLang="en-US" dirty="0"/>
          </a:p>
          <a:p>
            <a:r>
              <a:rPr lang="zh-CN" altLang="en-US" dirty="0"/>
              <a:t>可提出一个疑问：</a:t>
            </a:r>
            <a:r>
              <a:rPr lang="en-US" altLang="zh-CN" dirty="0"/>
              <a:t>MAC</a:t>
            </a:r>
            <a:r>
              <a:rPr lang="zh-CN" altLang="en-US" dirty="0"/>
              <a:t>地址也是全球唯一网络标识，为何网络层还需要另外的</a:t>
            </a:r>
            <a:r>
              <a:rPr lang="en-US" altLang="zh-CN" dirty="0"/>
              <a:t>IP</a:t>
            </a:r>
            <a:r>
              <a:rPr lang="zh-CN" altLang="en-US" dirty="0"/>
              <a:t>地址？</a:t>
            </a:r>
          </a:p>
        </p:txBody>
      </p:sp>
    </p:spTree>
    <p:extLst>
      <p:ext uri="{BB962C8B-B14F-4D97-AF65-F5344CB8AC3E}">
        <p14:creationId xmlns:p14="http://schemas.microsoft.com/office/powerpoint/2010/main" val="24370077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突出传输层与网络层的两大不同</a:t>
            </a:r>
          </a:p>
          <a:p>
            <a:r>
              <a:rPr lang="en-US" altLang="zh-CN" dirty="0"/>
              <a:t>1. </a:t>
            </a:r>
            <a:r>
              <a:rPr lang="zh-CN" altLang="en-US" dirty="0"/>
              <a:t>作用域的不同：网络层是主机到主机，传输层是进程到进程</a:t>
            </a:r>
          </a:p>
          <a:p>
            <a:r>
              <a:rPr lang="en-US" altLang="zh-CN" dirty="0"/>
              <a:t>2. </a:t>
            </a:r>
            <a:r>
              <a:rPr lang="zh-CN" altLang="en-US" dirty="0"/>
              <a:t>面对用户的不同：网络层的传输控制，主要面对网络服务的提供商</a:t>
            </a:r>
            <a:r>
              <a:rPr lang="en-US" altLang="zh-CN" dirty="0"/>
              <a:t>/</a:t>
            </a:r>
            <a:r>
              <a:rPr lang="zh-CN" altLang="en-US" dirty="0"/>
              <a:t>运营商；传输层则给终端用户提供了一定的传输控制能力。</a:t>
            </a:r>
          </a:p>
          <a:p>
            <a:r>
              <a:rPr lang="zh-CN" altLang="en-US" dirty="0"/>
              <a:t>如，可选择可靠的传输模式，或相对不可靠，但更快捷的传输模式。</a:t>
            </a:r>
          </a:p>
        </p:txBody>
      </p:sp>
    </p:spTree>
    <p:extLst>
      <p:ext uri="{BB962C8B-B14F-4D97-AF65-F5344CB8AC3E}">
        <p14:creationId xmlns:p14="http://schemas.microsoft.com/office/powerpoint/2010/main" val="11349191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053302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TCP/IP</a:t>
            </a:r>
            <a:r>
              <a:rPr lang="zh-CN" altLang="en-US" dirty="0"/>
              <a:t>模型由</a:t>
            </a:r>
            <a:r>
              <a:rPr lang="en-US" altLang="zh-CN" dirty="0" err="1"/>
              <a:t>Vint</a:t>
            </a:r>
            <a:r>
              <a:rPr lang="en-US" altLang="zh-CN" dirty="0"/>
              <a:t> Cerf</a:t>
            </a:r>
            <a:r>
              <a:rPr lang="zh-CN" altLang="en-US" dirty="0"/>
              <a:t>和</a:t>
            </a:r>
            <a:r>
              <a:rPr lang="en-US" altLang="zh-CN" dirty="0"/>
              <a:t>Bob Khan</a:t>
            </a:r>
            <a:r>
              <a:rPr lang="zh-CN" altLang="en-US" dirty="0"/>
              <a:t>提出，</a:t>
            </a:r>
            <a:r>
              <a:rPr lang="en-US" altLang="zh-CN" dirty="0"/>
              <a:t>ARPNET</a:t>
            </a:r>
            <a:r>
              <a:rPr lang="zh-CN" altLang="en-US" dirty="0"/>
              <a:t>采用</a:t>
            </a:r>
            <a:r>
              <a:rPr lang="en-US" altLang="zh-CN" dirty="0"/>
              <a:t>TCP</a:t>
            </a:r>
            <a:r>
              <a:rPr lang="zh-CN" altLang="en-US" dirty="0"/>
              <a:t>和</a:t>
            </a:r>
            <a:r>
              <a:rPr lang="en-US" altLang="zh-CN" dirty="0"/>
              <a:t>IP</a:t>
            </a:r>
            <a:r>
              <a:rPr lang="zh-CN" altLang="en-US" dirty="0"/>
              <a:t>作为主要协议。</a:t>
            </a:r>
          </a:p>
          <a:p>
            <a:r>
              <a:rPr lang="zh-CN" altLang="en-US" dirty="0"/>
              <a:t>简要介绍</a:t>
            </a:r>
            <a:r>
              <a:rPr lang="en-US" altLang="zh-CN" dirty="0"/>
              <a:t>TCP/IP</a:t>
            </a:r>
            <a:r>
              <a:rPr lang="zh-CN" altLang="en-US" dirty="0"/>
              <a:t>模型四层模型</a:t>
            </a:r>
          </a:p>
        </p:txBody>
      </p:sp>
    </p:spTree>
    <p:extLst>
      <p:ext uri="{BB962C8B-B14F-4D97-AF65-F5344CB8AC3E}">
        <p14:creationId xmlns:p14="http://schemas.microsoft.com/office/powerpoint/2010/main" val="26839210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一方面明确</a:t>
            </a:r>
            <a:r>
              <a:rPr kumimoji="1" lang="en-US" altLang="zh-CN" dirty="0"/>
              <a:t>TCP/IP</a:t>
            </a:r>
            <a:r>
              <a:rPr kumimoji="1" lang="zh-CN" altLang="en-US" dirty="0"/>
              <a:t>参考模型中，</a:t>
            </a:r>
            <a:r>
              <a:rPr kumimoji="1" lang="en-US" altLang="zh-CN" dirty="0"/>
              <a:t>TCP</a:t>
            </a:r>
            <a:r>
              <a:rPr kumimoji="1" lang="zh-CN" altLang="en-US" dirty="0"/>
              <a:t>和</a:t>
            </a:r>
            <a:r>
              <a:rPr kumimoji="1" lang="en-US" altLang="zh-CN" dirty="0"/>
              <a:t>IP</a:t>
            </a:r>
            <a:r>
              <a:rPr kumimoji="1" lang="zh-CN" altLang="en-US" dirty="0"/>
              <a:t>的重要性，另一方面加深</a:t>
            </a:r>
            <a:r>
              <a:rPr kumimoji="1" lang="en-US" altLang="zh-CN" dirty="0"/>
              <a:t>TCP/IP</a:t>
            </a:r>
            <a:r>
              <a:rPr kumimoji="1" lang="zh-CN" altLang="en-US" dirty="0"/>
              <a:t>参考模型的特色（即正文红色部分）</a:t>
            </a:r>
            <a:endParaRPr lang="zh-CN" altLang="en-US" dirty="0"/>
          </a:p>
        </p:txBody>
      </p:sp>
    </p:spTree>
    <p:extLst>
      <p:ext uri="{BB962C8B-B14F-4D97-AF65-F5344CB8AC3E}">
        <p14:creationId xmlns:p14="http://schemas.microsoft.com/office/powerpoint/2010/main" val="29216380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主要介绍</a:t>
            </a:r>
            <a:r>
              <a:rPr lang="en-US" altLang="zh-CN" dirty="0"/>
              <a:t>OSI</a:t>
            </a:r>
            <a:r>
              <a:rPr lang="zh-CN" altLang="en-US" dirty="0"/>
              <a:t>模型与</a:t>
            </a:r>
            <a:r>
              <a:rPr lang="en-US" altLang="zh-CN" dirty="0"/>
              <a:t>TCP/IP</a:t>
            </a:r>
            <a:r>
              <a:rPr lang="zh-CN" altLang="en-US" dirty="0"/>
              <a:t>模型的不同：</a:t>
            </a:r>
          </a:p>
          <a:p>
            <a:r>
              <a:rPr lang="en-US" altLang="zh-CN" dirty="0"/>
              <a:t>1. </a:t>
            </a:r>
            <a:r>
              <a:rPr lang="zh-CN" altLang="en-US" dirty="0"/>
              <a:t>模型本身的不同</a:t>
            </a:r>
          </a:p>
          <a:p>
            <a:r>
              <a:rPr lang="en-US" altLang="zh-CN" dirty="0"/>
              <a:t>OSI</a:t>
            </a:r>
            <a:r>
              <a:rPr lang="zh-CN" altLang="en-US" dirty="0"/>
              <a:t>模型为</a:t>
            </a:r>
            <a:r>
              <a:rPr lang="en-US" altLang="zh-CN" dirty="0"/>
              <a:t>7</a:t>
            </a:r>
            <a:r>
              <a:rPr lang="zh-CN" altLang="en-US" dirty="0"/>
              <a:t>层，</a:t>
            </a:r>
            <a:r>
              <a:rPr lang="en-US" altLang="zh-CN" dirty="0"/>
              <a:t>TCP/IP</a:t>
            </a:r>
            <a:r>
              <a:rPr lang="zh-CN" altLang="en-US" dirty="0"/>
              <a:t>模型定义了</a:t>
            </a:r>
            <a:r>
              <a:rPr lang="en-US" altLang="zh-CN" dirty="0"/>
              <a:t>4</a:t>
            </a:r>
            <a:r>
              <a:rPr lang="zh-CN" altLang="en-US" dirty="0"/>
              <a:t>层。</a:t>
            </a:r>
          </a:p>
          <a:p>
            <a:r>
              <a:rPr lang="zh-CN" altLang="en-US" dirty="0"/>
              <a:t>TCP/IP模型不包括物理层与数据链路层，其链路层定义主机与传输线路之间的接口，描述链路为无连接的互联网层必须提供的基本功能</a:t>
            </a:r>
          </a:p>
          <a:p>
            <a:r>
              <a:rPr lang="zh-CN" altLang="en-US" dirty="0"/>
              <a:t>OSI模型的网络层、传输层与TCP/IP模型的互联网层、传输层大致对应</a:t>
            </a:r>
          </a:p>
          <a:p>
            <a:r>
              <a:rPr lang="zh-CN" altLang="en-US" dirty="0"/>
              <a:t>TCP/IP模型的应用层包含了OSI模型的表示层与会话层</a:t>
            </a:r>
          </a:p>
          <a:p>
            <a:r>
              <a:rPr lang="en-US" altLang="zh-CN" dirty="0"/>
              <a:t>2. </a:t>
            </a:r>
            <a:r>
              <a:rPr lang="en-US" altLang="zh-CN" dirty="0" err="1"/>
              <a:t>基本设计思想</a:t>
            </a:r>
            <a:r>
              <a:rPr lang="zh-CN" altLang="en-US" dirty="0"/>
              <a:t>的不同</a:t>
            </a:r>
            <a:r>
              <a:rPr lang="en-US" altLang="zh-CN" dirty="0"/>
              <a:t>：OSI</a:t>
            </a:r>
            <a:r>
              <a:rPr lang="zh-CN" altLang="en-US" dirty="0"/>
              <a:t>模型注重</a:t>
            </a:r>
            <a:r>
              <a:rPr lang="en-US" altLang="zh-CN" dirty="0" err="1"/>
              <a:t>通用性与TCP</a:t>
            </a:r>
            <a:r>
              <a:rPr lang="en-US" altLang="zh-CN" dirty="0"/>
              <a:t>/IP</a:t>
            </a:r>
            <a:r>
              <a:rPr lang="zh-CN" altLang="en-US" dirty="0"/>
              <a:t>模型侧重</a:t>
            </a:r>
            <a:r>
              <a:rPr lang="en-US" altLang="zh-CN" dirty="0" err="1"/>
              <a:t>实用性</a:t>
            </a:r>
            <a:endParaRPr lang="en-US" altLang="zh-CN" dirty="0"/>
          </a:p>
          <a:p>
            <a:r>
              <a:rPr lang="en-US" altLang="zh-CN" dirty="0" err="1"/>
              <a:t>OSI模型不局限于特定协议</a:t>
            </a:r>
            <a:r>
              <a:rPr lang="en-US" altLang="zh-CN" dirty="0"/>
              <a:t>，</a:t>
            </a:r>
            <a:r>
              <a:rPr lang="zh-CN" altLang="en-US" dirty="0"/>
              <a:t>主要</a:t>
            </a:r>
            <a:r>
              <a:rPr lang="en-US" altLang="zh-CN" dirty="0" err="1"/>
              <a:t>面向服务、协议、接口等核心概念，更具通用性</a:t>
            </a:r>
            <a:endParaRPr lang="en-US" altLang="zh-CN" dirty="0"/>
          </a:p>
          <a:p>
            <a:r>
              <a:rPr lang="en-US" altLang="zh-CN" dirty="0"/>
              <a:t>TCP/</a:t>
            </a:r>
            <a:r>
              <a:rPr lang="en-US" altLang="zh-CN" dirty="0" err="1"/>
              <a:t>IP模型</a:t>
            </a:r>
            <a:r>
              <a:rPr lang="en-US" altLang="zh-CN" dirty="0"/>
              <a:t>，</a:t>
            </a:r>
            <a:r>
              <a:rPr lang="zh-CN" altLang="en-US" dirty="0"/>
              <a:t>则</a:t>
            </a:r>
            <a:r>
              <a:rPr lang="en-US" altLang="zh-CN" dirty="0" err="1"/>
              <a:t>面向</a:t>
            </a:r>
            <a:r>
              <a:rPr lang="zh-CN" altLang="en-US" dirty="0"/>
              <a:t>特定的</a:t>
            </a:r>
            <a:r>
              <a:rPr lang="en-US" altLang="zh-CN" dirty="0"/>
              <a:t>TCP/</a:t>
            </a:r>
            <a:r>
              <a:rPr lang="en-US" altLang="zh-CN" dirty="0" err="1"/>
              <a:t>IP网络</a:t>
            </a:r>
            <a:r>
              <a:rPr lang="en-US" altLang="zh-CN" dirty="0"/>
              <a:t>，</a:t>
            </a:r>
            <a:r>
              <a:rPr lang="zh-CN" altLang="en-US" dirty="0"/>
              <a:t>因此可以对现实中基于</a:t>
            </a:r>
            <a:r>
              <a:rPr lang="en-US" altLang="zh-CN" dirty="0"/>
              <a:t>TCP/IP</a:t>
            </a:r>
            <a:r>
              <a:rPr lang="zh-CN" altLang="en-US" dirty="0"/>
              <a:t>协议的互联网进行完美的描述</a:t>
            </a:r>
          </a:p>
          <a:p>
            <a:r>
              <a:rPr lang="en-US" altLang="zh-CN" dirty="0"/>
              <a:t>3. </a:t>
            </a:r>
            <a:r>
              <a:rPr lang="zh-CN" altLang="en-US" dirty="0"/>
              <a:t>无连接与面向连接的不同</a:t>
            </a:r>
          </a:p>
          <a:p>
            <a:r>
              <a:rPr lang="zh-CN" altLang="en-US" dirty="0"/>
              <a:t>OSI模型的网络层不限定具体的协议类型，可以支持无连接和面向连接通信</a:t>
            </a:r>
          </a:p>
          <a:p>
            <a:r>
              <a:rPr lang="zh-CN" altLang="en-US" dirty="0"/>
              <a:t>TCP/IP模型的网络层仅支持无连接通信，这是IP协议支持的通信模式</a:t>
            </a:r>
          </a:p>
          <a:p>
            <a:endParaRPr lang="zh-CN" altLang="en-US" dirty="0"/>
          </a:p>
        </p:txBody>
      </p:sp>
    </p:spTree>
    <p:extLst>
      <p:ext uri="{BB962C8B-B14F-4D97-AF65-F5344CB8AC3E}">
        <p14:creationId xmlns:p14="http://schemas.microsoft.com/office/powerpoint/2010/main" val="38623850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OSI</a:t>
            </a:r>
            <a:r>
              <a:rPr lang="zh-CN" altLang="en-US" dirty="0"/>
              <a:t>模型和</a:t>
            </a:r>
            <a:r>
              <a:rPr lang="en-US" altLang="zh-CN" dirty="0"/>
              <a:t>TCP/IP</a:t>
            </a:r>
            <a:r>
              <a:rPr lang="zh-CN" altLang="en-US" dirty="0"/>
              <a:t>模型各自的不足</a:t>
            </a:r>
          </a:p>
        </p:txBody>
      </p:sp>
    </p:spTree>
    <p:extLst>
      <p:ext uri="{BB962C8B-B14F-4D97-AF65-F5344CB8AC3E}">
        <p14:creationId xmlns:p14="http://schemas.microsoft.com/office/powerpoint/2010/main" val="41998073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结合了</a:t>
            </a:r>
            <a:r>
              <a:rPr lang="en-US" altLang="zh-CN" dirty="0"/>
              <a:t>OSI</a:t>
            </a:r>
            <a:r>
              <a:rPr lang="zh-CN" altLang="en-US" dirty="0"/>
              <a:t>模型和</a:t>
            </a:r>
            <a:r>
              <a:rPr lang="en-US" altLang="zh-CN" dirty="0"/>
              <a:t>TCP/IP</a:t>
            </a:r>
            <a:r>
              <a:rPr lang="zh-CN" altLang="en-US" dirty="0"/>
              <a:t>模型的部分特点，将教程内容划分为物理层、数据链路层、网络层、传输层和应用层。</a:t>
            </a:r>
          </a:p>
          <a:p>
            <a:r>
              <a:rPr lang="zh-CN" altLang="en-US" dirty="0"/>
              <a:t>这样的结构有利于保留</a:t>
            </a:r>
            <a:r>
              <a:rPr lang="en-US" altLang="zh-CN" dirty="0"/>
              <a:t>OSI</a:t>
            </a:r>
            <a:r>
              <a:rPr lang="zh-CN" altLang="en-US" dirty="0"/>
              <a:t>和</a:t>
            </a:r>
            <a:r>
              <a:rPr lang="en-US" altLang="zh-CN" dirty="0"/>
              <a:t>TCP/IP</a:t>
            </a:r>
            <a:r>
              <a:rPr lang="zh-CN" altLang="en-US" dirty="0"/>
              <a:t>的各自优点。</a:t>
            </a:r>
          </a:p>
          <a:p>
            <a:r>
              <a:rPr lang="zh-CN" altLang="en-US" dirty="0">
                <a:sym typeface="+mn-ea"/>
              </a:rPr>
              <a:t>对于教学来说，突出网络中重要的核心概念，如：服务、协议接口</a:t>
            </a:r>
          </a:p>
          <a:p>
            <a:r>
              <a:rPr lang="zh-CN" altLang="en-US" dirty="0">
                <a:sym typeface="+mn-ea"/>
              </a:rPr>
              <a:t>严格区分了接口与分层、在体现网络模型完整性和通用性。</a:t>
            </a:r>
          </a:p>
          <a:p>
            <a:r>
              <a:rPr lang="zh-CN" altLang="en-US" dirty="0">
                <a:sym typeface="+mn-ea"/>
              </a:rPr>
              <a:t>同时，通过简化分层，也更易于教与学。</a:t>
            </a:r>
            <a:endParaRPr lang="zh-CN" altLang="en-US" dirty="0"/>
          </a:p>
          <a:p>
            <a:endParaRPr lang="zh-CN" altLang="en-US" dirty="0"/>
          </a:p>
        </p:txBody>
      </p:sp>
    </p:spTree>
    <p:extLst>
      <p:ext uri="{BB962C8B-B14F-4D97-AF65-F5344CB8AC3E}">
        <p14:creationId xmlns:p14="http://schemas.microsoft.com/office/powerpoint/2010/main" val="38545631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将网络分层模型与一个网络通信实例相结合。从而让学生更好了解分层模型在真实网络通信实例中的对应关系。</a:t>
            </a:r>
          </a:p>
          <a:p>
            <a:r>
              <a:rPr lang="zh-CN" altLang="en-US" dirty="0"/>
              <a:t>主机</a:t>
            </a:r>
            <a:r>
              <a:rPr lang="en-US" altLang="zh-CN" dirty="0"/>
              <a:t>A</a:t>
            </a:r>
            <a:r>
              <a:rPr lang="zh-CN" altLang="en-US" dirty="0"/>
              <a:t>向主机</a:t>
            </a:r>
            <a:r>
              <a:rPr lang="en-US" altLang="zh-CN" dirty="0"/>
              <a:t>B</a:t>
            </a:r>
            <a:r>
              <a:rPr lang="zh-CN" altLang="en-US" dirty="0"/>
              <a:t>发送消息，发送端逐层加包头，接收端去包头。明确路由器和交换机工作的层次。</a:t>
            </a:r>
          </a:p>
          <a:p>
            <a:r>
              <a:rPr lang="zh-CN" altLang="en-US" dirty="0"/>
              <a:t>数据在发送端从应用层向下通过各层，经过封装操作，从原始的消息，变成段</a:t>
            </a:r>
            <a:r>
              <a:rPr lang="en-US" altLang="zh-CN" dirty="0"/>
              <a:t>segment</a:t>
            </a:r>
            <a:r>
              <a:rPr lang="zh-CN" altLang="en-US" dirty="0"/>
              <a:t>，成为数据包</a:t>
            </a:r>
            <a:r>
              <a:rPr lang="en-US" altLang="zh-CN" dirty="0"/>
              <a:t>packet</a:t>
            </a:r>
            <a:r>
              <a:rPr lang="zh-CN" altLang="en-US" dirty="0"/>
              <a:t>，再成为帧。这些不同的名称对应于各层的协议数据单元（</a:t>
            </a:r>
            <a:r>
              <a:rPr lang="en-US" altLang="zh-CN" dirty="0"/>
              <a:t>PDU</a:t>
            </a:r>
            <a:r>
              <a:rPr lang="zh-CN" altLang="en-US" dirty="0"/>
              <a:t>）名称。</a:t>
            </a:r>
          </a:p>
          <a:p>
            <a:r>
              <a:rPr lang="zh-CN" altLang="en-US" dirty="0"/>
              <a:t>数据在网络中经过各种网络设备，逐跳转发，被送达接收方主机</a:t>
            </a:r>
            <a:r>
              <a:rPr lang="en-US" altLang="zh-CN" dirty="0"/>
              <a:t>B</a:t>
            </a:r>
            <a:r>
              <a:rPr lang="zh-CN" altLang="en-US" dirty="0"/>
              <a:t>。</a:t>
            </a:r>
          </a:p>
          <a:p>
            <a:r>
              <a:rPr lang="zh-CN" altLang="en-US" dirty="0"/>
              <a:t>为简化起见，图中仅列出了两台交换机和一台路由器。</a:t>
            </a:r>
          </a:p>
        </p:txBody>
      </p:sp>
    </p:spTree>
    <p:extLst>
      <p:ext uri="{BB962C8B-B14F-4D97-AF65-F5344CB8AC3E}">
        <p14:creationId xmlns:p14="http://schemas.microsoft.com/office/powerpoint/2010/main" val="39525967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86</a:t>
            </a:fld>
            <a:endParaRPr kumimoji="1" lang="zh-CN" altLang="en-US"/>
          </a:p>
        </p:txBody>
      </p:sp>
    </p:spTree>
    <p:extLst>
      <p:ext uri="{BB962C8B-B14F-4D97-AF65-F5344CB8AC3E}">
        <p14:creationId xmlns:p14="http://schemas.microsoft.com/office/powerpoint/2010/main" val="42554310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lnSpc>
                <a:spcPct val="120000"/>
              </a:lnSpc>
              <a:spcBef>
                <a:spcPts val="0"/>
              </a:spcBef>
              <a:spcAft>
                <a:spcPts val="0"/>
              </a:spcAft>
              <a:buClrTx/>
              <a:buSzTx/>
            </a:pPr>
            <a:r>
              <a:rPr kumimoji="1" lang="zh-CN" altLang="en-US" dirty="0">
                <a:sym typeface="+mn-ea"/>
              </a:rPr>
              <a:t>比特、字节</a:t>
            </a:r>
            <a:endParaRPr kumimoji="1" lang="zh-CN" altLang="en-US" dirty="0"/>
          </a:p>
          <a:p>
            <a:pPr lvl="0">
              <a:lnSpc>
                <a:spcPct val="120000"/>
              </a:lnSpc>
              <a:spcBef>
                <a:spcPts val="0"/>
              </a:spcBef>
              <a:spcAft>
                <a:spcPts val="0"/>
              </a:spcAft>
              <a:buFont typeface="Arial" panose="020B0604020202020204" pitchFamily="34" charset="0"/>
              <a:buChar char="•"/>
            </a:pPr>
            <a:r>
              <a:rPr lang="zh-CN" altLang="en-US" dirty="0">
                <a:effectLst/>
                <a:cs typeface="微软雅黑" panose="020B0503020204020204" pitchFamily="34" charset="-122"/>
                <a:sym typeface="+mn-ea"/>
              </a:rPr>
              <a:t>比特</a:t>
            </a:r>
            <a:r>
              <a:rPr lang="en-US" altLang="zh-CN" dirty="0">
                <a:effectLst/>
                <a:cs typeface="微软雅黑" panose="020B0503020204020204" pitchFamily="34" charset="-122"/>
                <a:sym typeface="+mn-ea"/>
              </a:rPr>
              <a:t>(bit)</a:t>
            </a:r>
            <a:r>
              <a:rPr lang="zh-CN" altLang="en-US" dirty="0">
                <a:effectLst/>
                <a:cs typeface="微软雅黑" panose="020B0503020204020204" pitchFamily="34" charset="-122"/>
                <a:sym typeface="+mn-ea"/>
              </a:rPr>
              <a:t>是计算机中的数据量的单位，一个比特就是二进制数字中的一个</a:t>
            </a:r>
            <a:r>
              <a:rPr lang="en-US" altLang="zh-CN" dirty="0">
                <a:effectLst/>
                <a:cs typeface="微软雅黑" panose="020B0503020204020204" pitchFamily="34" charset="-122"/>
                <a:sym typeface="+mn-ea"/>
              </a:rPr>
              <a:t>1</a:t>
            </a:r>
            <a:r>
              <a:rPr lang="zh-CN" altLang="en-US" dirty="0">
                <a:effectLst/>
                <a:cs typeface="微软雅黑" panose="020B0503020204020204" pitchFamily="34" charset="-122"/>
                <a:sym typeface="+mn-ea"/>
              </a:rPr>
              <a:t>或</a:t>
            </a:r>
            <a:r>
              <a:rPr lang="en-US" altLang="zh-CN" dirty="0">
                <a:effectLst/>
                <a:cs typeface="微软雅黑" panose="020B0503020204020204" pitchFamily="34" charset="-122"/>
                <a:sym typeface="+mn-ea"/>
              </a:rPr>
              <a:t>0</a:t>
            </a:r>
            <a:r>
              <a:rPr lang="zh-CN" altLang="en-US" dirty="0">
                <a:effectLst/>
                <a:cs typeface="微软雅黑" panose="020B0503020204020204" pitchFamily="34" charset="-122"/>
                <a:sym typeface="+mn-ea"/>
              </a:rPr>
              <a:t>。</a:t>
            </a:r>
            <a:endParaRPr lang="en-US" altLang="zh-CN" dirty="0">
              <a:effectLst/>
              <a:cs typeface="微软雅黑" panose="020B0503020204020204" pitchFamily="34" charset="-122"/>
              <a:sym typeface="+mn-ea"/>
            </a:endParaRPr>
          </a:p>
          <a:p>
            <a:pPr lvl="0">
              <a:lnSpc>
                <a:spcPct val="120000"/>
              </a:lnSpc>
              <a:spcBef>
                <a:spcPts val="0"/>
              </a:spcBef>
              <a:spcAft>
                <a:spcPts val="0"/>
              </a:spcAft>
              <a:buFont typeface="Arial" panose="020B0604020202020204" pitchFamily="34" charset="0"/>
              <a:buChar char="•"/>
            </a:pPr>
            <a:r>
              <a:rPr lang="en-US" altLang="zh-CN" dirty="0" err="1"/>
              <a:t>线速转发</a:t>
            </a:r>
            <a:r>
              <a:rPr lang="zh-CN" altLang="en-US" dirty="0"/>
              <a:t>：</a:t>
            </a:r>
            <a:r>
              <a:rPr lang="en-US" altLang="zh-CN" dirty="0" err="1"/>
              <a:t>一般是指</a:t>
            </a:r>
            <a:r>
              <a:rPr lang="zh-CN" altLang="en-US" dirty="0"/>
              <a:t>是否</a:t>
            </a:r>
            <a:r>
              <a:rPr lang="en-US" altLang="zh-CN" dirty="0" err="1"/>
              <a:t>能够做到网卡接口</a:t>
            </a:r>
            <a:r>
              <a:rPr lang="zh-CN" altLang="en-US" dirty="0"/>
              <a:t>速率</a:t>
            </a:r>
            <a:r>
              <a:rPr lang="en-US" altLang="zh-CN" dirty="0" err="1"/>
              <a:t>的转发不出现丢包</a:t>
            </a:r>
            <a:r>
              <a:rPr lang="en-US" altLang="zh-CN" dirty="0"/>
              <a:t>。</a:t>
            </a:r>
          </a:p>
          <a:p>
            <a:pPr marR="0" lvl="0" indent="0" algn="just" defTabSz="914400" rtl="0" eaLnBrk="1" fontAlgn="base" latinLnBrk="0" hangingPunct="1">
              <a:lnSpc>
                <a:spcPct val="110000"/>
              </a:lnSpc>
              <a:spcBef>
                <a:spcPts val="20"/>
              </a:spcBef>
              <a:spcAft>
                <a:spcPts val="0"/>
              </a:spcAft>
              <a:buClr>
                <a:schemeClr val="bg2"/>
              </a:buClr>
              <a:buSzPct val="75000"/>
              <a:buFont typeface="Wingdings" panose="05000000000000000000" pitchFamily="2" charset="2"/>
              <a:buNone/>
              <a:defRPr/>
            </a:pPr>
            <a:r>
              <a:rPr lang="en-US" altLang="zh-CN" dirty="0" err="1"/>
              <a:t>包转发率标志了交换机转发数据包能力的大小</a:t>
            </a:r>
            <a:r>
              <a:rPr lang="zh-CN" altLang="en-US" dirty="0"/>
              <a:t>，</a:t>
            </a:r>
            <a:r>
              <a:rPr lang="en-US" altLang="zh-CN" dirty="0" err="1"/>
              <a:t>是指交换机每秒可以转发多少个数据包（Mpps</a:t>
            </a:r>
            <a:r>
              <a:rPr lang="en-US" altLang="zh-CN" dirty="0"/>
              <a:t>），</a:t>
            </a:r>
            <a:r>
              <a:rPr lang="en-US" altLang="zh-CN" dirty="0" err="1"/>
              <a:t>即交换机能同时转发的数据包的数量</a:t>
            </a:r>
            <a:r>
              <a:rPr lang="en-US" altLang="zh-CN" dirty="0"/>
              <a:t>。</a:t>
            </a:r>
          </a:p>
          <a:p>
            <a:pPr marL="285750" marR="0" lvl="0" indent="-285750" algn="l" defTabSz="914400" rtl="0" eaLnBrk="1" fontAlgn="auto" latinLnBrk="0" hangingPunct="1">
              <a:lnSpc>
                <a:spcPts val="2900"/>
              </a:lnSpc>
              <a:spcBef>
                <a:spcPts val="0"/>
              </a:spcBef>
              <a:spcAft>
                <a:spcPts val="0"/>
              </a:spcAft>
              <a:buClr>
                <a:srgbClr val="0070C0"/>
              </a:buClr>
              <a:buSzTx/>
              <a:buFontTx/>
              <a:buNone/>
              <a:tabLst/>
              <a:defRPr/>
            </a:pPr>
            <a:r>
              <a:rPr lang="zh-CN" altLang="en-US" dirty="0">
                <a:latin typeface="微软雅黑" panose="020B0503020204020204" pitchFamily="34" charset="-122"/>
                <a:ea typeface="微软雅黑" panose="020B0503020204020204" pitchFamily="34" charset="-122"/>
                <a:sym typeface="+mn-ea"/>
              </a:rPr>
              <a:t>问题答案：</a:t>
            </a:r>
            <a:r>
              <a:rPr lang="zh-CN" altLang="en-US" sz="1200" dirty="0">
                <a:solidFill>
                  <a:prstClr val="black"/>
                </a:solidFill>
                <a:latin typeface="Microsoft YaHei" panose="020B0503020204020204" pitchFamily="34" charset="-122"/>
                <a:ea typeface="Microsoft YaHei" panose="020B0503020204020204" pitchFamily="34" charset="-122"/>
                <a:sym typeface="+mn-ea"/>
              </a:rPr>
              <a:t>在交换机上：大包更容易实现线速，因为大包的</a:t>
            </a:r>
            <a:r>
              <a:rPr lang="en-US" altLang="zh-CN" sz="1200" dirty="0">
                <a:solidFill>
                  <a:prstClr val="black"/>
                </a:solidFill>
                <a:latin typeface="Microsoft YaHei" panose="020B0503020204020204" pitchFamily="34" charset="-122"/>
                <a:ea typeface="Microsoft YaHei" panose="020B0503020204020204" pitchFamily="34" charset="-122"/>
                <a:sym typeface="+mn-ea"/>
              </a:rPr>
              <a:t>PPS</a:t>
            </a:r>
            <a:r>
              <a:rPr lang="zh-CN" altLang="en-US" sz="1200" dirty="0">
                <a:solidFill>
                  <a:prstClr val="black"/>
                </a:solidFill>
                <a:latin typeface="Microsoft YaHei" panose="020B0503020204020204" pitchFamily="34" charset="-122"/>
                <a:ea typeface="Microsoft YaHei" panose="020B0503020204020204" pitchFamily="34" charset="-122"/>
                <a:sym typeface="+mn-ea"/>
              </a:rPr>
              <a:t>更小。</a:t>
            </a:r>
            <a:endParaRPr lang="zh-CN" altLang="en-US" dirty="0">
              <a:solidFill>
                <a:prstClr val="black"/>
              </a:solidFill>
            </a:endParaRPr>
          </a:p>
          <a:p>
            <a:pPr marL="285750" indent="-285750">
              <a:lnSpc>
                <a:spcPts val="2900"/>
              </a:lnSpc>
              <a:buClr>
                <a:srgbClr val="0070C0"/>
              </a:buClr>
            </a:pPr>
            <a:endParaRPr lang="zh-CN" altLang="en-US" dirty="0">
              <a:latin typeface="微软雅黑" panose="020B0503020204020204" pitchFamily="34" charset="-122"/>
              <a:ea typeface="微软雅黑" panose="020B0503020204020204" pitchFamily="34" charset="-122"/>
              <a:sym typeface="+mn-ea"/>
            </a:endParaRPr>
          </a:p>
          <a:p>
            <a:pPr marL="285750" indent="-285750">
              <a:lnSpc>
                <a:spcPts val="2900"/>
              </a:lnSpc>
              <a:buClr>
                <a:srgbClr val="0070C0"/>
              </a:buClr>
            </a:pPr>
            <a:r>
              <a:rPr lang="zh-CN" altLang="en-US" dirty="0">
                <a:latin typeface="微软雅黑" panose="020B0503020204020204" pitchFamily="34" charset="-122"/>
                <a:ea typeface="微软雅黑" panose="020B0503020204020204" pitchFamily="34" charset="-122"/>
                <a:sym typeface="+mn-ea"/>
              </a:rPr>
              <a:t>例如</a:t>
            </a:r>
            <a:r>
              <a:rPr lang="en-US" altLang="zh-CN" dirty="0">
                <a:latin typeface="微软雅黑" panose="020B0503020204020204" pitchFamily="34" charset="-122"/>
                <a:ea typeface="微软雅黑" panose="020B0503020204020204" pitchFamily="34" charset="-122"/>
                <a:sym typeface="+mn-ea"/>
              </a:rPr>
              <a:t>4 </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en-US" altLang="zh-CN" dirty="0">
                <a:latin typeface="微软雅黑" panose="020B0503020204020204" pitchFamily="34" charset="-122"/>
                <a:ea typeface="微软雅黑" panose="020B0503020204020204" pitchFamily="34" charset="-122"/>
                <a:sym typeface="+mn-ea"/>
              </a:rPr>
              <a:t> 10</a:t>
            </a:r>
            <a:r>
              <a:rPr lang="en-US" altLang="zh-CN" baseline="30000" dirty="0">
                <a:latin typeface="微软雅黑" panose="020B0503020204020204" pitchFamily="34" charset="-122"/>
                <a:ea typeface="微软雅黑" panose="020B0503020204020204" pitchFamily="34" charset="-122"/>
                <a:sym typeface="+mn-ea"/>
              </a:rPr>
              <a:t>10  </a:t>
            </a:r>
            <a:r>
              <a:rPr lang="en-US" altLang="zh-CN" dirty="0">
                <a:latin typeface="微软雅黑" panose="020B0503020204020204" pitchFamily="34" charset="-122"/>
                <a:ea typeface="微软雅黑" panose="020B0503020204020204" pitchFamily="34" charset="-122"/>
                <a:sym typeface="+mn-ea"/>
              </a:rPr>
              <a:t>bit/s </a:t>
            </a:r>
            <a:r>
              <a:rPr lang="zh-CN" altLang="zh-CN" dirty="0">
                <a:latin typeface="微软雅黑" panose="020B0503020204020204" pitchFamily="34" charset="-122"/>
                <a:ea typeface="微软雅黑" panose="020B0503020204020204" pitchFamily="34" charset="-122"/>
                <a:sym typeface="+mn-ea"/>
              </a:rPr>
              <a:t>的数据率就记为</a:t>
            </a:r>
            <a:r>
              <a:rPr lang="en-US" altLang="zh-CN" dirty="0">
                <a:latin typeface="微软雅黑" panose="020B0503020204020204" pitchFamily="34" charset="-122"/>
                <a:ea typeface="微软雅黑" panose="020B0503020204020204" pitchFamily="34" charset="-122"/>
                <a:sym typeface="+mn-ea"/>
              </a:rPr>
              <a:t> 40 </a:t>
            </a:r>
            <a:r>
              <a:rPr lang="en-US" altLang="zh-CN" dirty="0" err="1">
                <a:latin typeface="微软雅黑" panose="020B0503020204020204" pitchFamily="34" charset="-122"/>
                <a:ea typeface="微软雅黑" panose="020B0503020204020204" pitchFamily="34" charset="-122"/>
                <a:sym typeface="+mn-ea"/>
              </a:rPr>
              <a:t>Gbit</a:t>
            </a:r>
            <a:r>
              <a:rPr lang="en-US" altLang="zh-CN" dirty="0">
                <a:latin typeface="微软雅黑" panose="020B0503020204020204" pitchFamily="34" charset="-122"/>
                <a:ea typeface="微软雅黑" panose="020B0503020204020204" pitchFamily="34" charset="-122"/>
                <a:sym typeface="+mn-ea"/>
              </a:rPr>
              <a:t>/s</a:t>
            </a:r>
            <a:r>
              <a:rPr lang="zh-CN" altLang="en-US" dirty="0">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endParaRPr>
          </a:p>
          <a:p>
            <a:pPr indent="0">
              <a:lnSpc>
                <a:spcPts val="2900"/>
              </a:lnSpc>
              <a:buClr>
                <a:srgbClr val="0070C0"/>
              </a:buClr>
              <a:buFont typeface="Wingdings" panose="05000000000000000000" pitchFamily="2" charset="2"/>
              <a:buNone/>
            </a:pPr>
            <a:r>
              <a:rPr lang="zh-CN" altLang="en-US" dirty="0">
                <a:solidFill>
                  <a:srgbClr val="0000FF"/>
                </a:solidFill>
                <a:latin typeface="微软雅黑" panose="020B0503020204020204" pitchFamily="34" charset="-122"/>
                <a:ea typeface="微软雅黑" panose="020B0503020204020204" pitchFamily="34" charset="-122"/>
                <a:sym typeface="+mn-ea"/>
              </a:rPr>
              <a:t>速率往往是指额定速率或标称速率，非</a:t>
            </a:r>
            <a:r>
              <a:rPr lang="zh-CN" altLang="zh-CN" dirty="0">
                <a:solidFill>
                  <a:srgbClr val="0000FF"/>
                </a:solidFill>
                <a:latin typeface="微软雅黑" panose="020B0503020204020204" pitchFamily="34" charset="-122"/>
                <a:ea typeface="微软雅黑" panose="020B0503020204020204" pitchFamily="34" charset="-122"/>
                <a:sym typeface="+mn-ea"/>
              </a:rPr>
              <a:t>实际运行速率</a:t>
            </a:r>
            <a:r>
              <a:rPr lang="zh-CN" altLang="en-US" dirty="0">
                <a:solidFill>
                  <a:srgbClr val="0000FF"/>
                </a:solidFill>
                <a:latin typeface="微软雅黑" panose="020B0503020204020204" pitchFamily="34" charset="-122"/>
                <a:ea typeface="微软雅黑" panose="020B0503020204020204" pitchFamily="34" charset="-122"/>
                <a:sym typeface="+mn-ea"/>
              </a:rPr>
              <a:t>。 </a:t>
            </a:r>
          </a:p>
          <a:p>
            <a:pPr marL="0" lvl="1" indent="0">
              <a:lnSpc>
                <a:spcPts val="2900"/>
              </a:lnSpc>
              <a:buClr>
                <a:srgbClr val="0070C0"/>
              </a:buClr>
              <a:buFont typeface="Wingdings" panose="05000000000000000000" pitchFamily="2" charset="2"/>
              <a:buNone/>
            </a:pPr>
            <a:r>
              <a:rPr lang="zh-CN" altLang="en-US" dirty="0">
                <a:effectLst/>
                <a:cs typeface="微软雅黑" panose="020B0503020204020204" pitchFamily="34" charset="-122"/>
                <a:sym typeface="+mn-ea"/>
              </a:rPr>
              <a:t>包转发率</a:t>
            </a:r>
            <a:r>
              <a:rPr lang="en-US" altLang="zh-CN" dirty="0">
                <a:effectLst/>
                <a:cs typeface="微软雅黑" panose="020B0503020204020204" pitchFamily="34" charset="-122"/>
                <a:sym typeface="+mn-ea"/>
              </a:rPr>
              <a:t>pps</a:t>
            </a:r>
            <a:r>
              <a:rPr lang="zh-CN" altLang="en-US" dirty="0">
                <a:effectLst/>
                <a:cs typeface="微软雅黑" panose="020B0503020204020204" pitchFamily="34" charset="-122"/>
                <a:sym typeface="+mn-ea"/>
              </a:rPr>
              <a:t>标志了交换机转发数据包能力的大小</a:t>
            </a:r>
          </a:p>
          <a:p>
            <a:pPr marL="0" lvl="1" indent="0">
              <a:lnSpc>
                <a:spcPts val="2900"/>
              </a:lnSpc>
              <a:buClr>
                <a:srgbClr val="0070C0"/>
              </a:buClr>
              <a:buFont typeface="Wingdings" panose="05000000000000000000" pitchFamily="2" charset="2"/>
              <a:buNone/>
            </a:pPr>
            <a:r>
              <a:rPr lang="zh-CN" altLang="en-US" dirty="0">
                <a:effectLst/>
                <a:cs typeface="微软雅黑" panose="020B0503020204020204" pitchFamily="34" charset="-122"/>
                <a:sym typeface="+mn-ea"/>
              </a:rPr>
              <a:t>包转发率，以能够处理最小包长来衡量，对于以太网最小包为64byte，加上帧开销20byte。</a:t>
            </a:r>
            <a:endParaRPr lang="zh-CN" altLang="en-US" dirty="0"/>
          </a:p>
        </p:txBody>
      </p:sp>
    </p:spTree>
    <p:extLst>
      <p:ext uri="{BB962C8B-B14F-4D97-AF65-F5344CB8AC3E}">
        <p14:creationId xmlns:p14="http://schemas.microsoft.com/office/powerpoint/2010/main" val="39931625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R="0" lvl="0" indent="0" algn="just" defTabSz="914400" rtl="0" eaLnBrk="1" fontAlgn="base" latinLnBrk="0" hangingPunct="1">
              <a:lnSpc>
                <a:spcPct val="110000"/>
              </a:lnSpc>
              <a:spcBef>
                <a:spcPts val="20"/>
              </a:spcBef>
              <a:spcAft>
                <a:spcPts val="0"/>
              </a:spcAft>
              <a:buClr>
                <a:schemeClr val="bg2"/>
              </a:buClr>
              <a:buSzPct val="75000"/>
              <a:buFont typeface="Wingdings" panose="05000000000000000000" pitchFamily="2" charset="2"/>
              <a:buNone/>
              <a:defRPr/>
            </a:pPr>
            <a:endParaRPr lang="en-US" altLang="zh-CN" dirty="0"/>
          </a:p>
        </p:txBody>
      </p:sp>
    </p:spTree>
    <p:extLst>
      <p:ext uri="{BB962C8B-B14F-4D97-AF65-F5344CB8AC3E}">
        <p14:creationId xmlns:p14="http://schemas.microsoft.com/office/powerpoint/2010/main" val="38705553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290830" lvl="1" indent="0">
              <a:lnSpc>
                <a:spcPts val="3300"/>
              </a:lnSpc>
              <a:buClr>
                <a:srgbClr val="7030A0"/>
              </a:buClr>
              <a:buNone/>
            </a:pPr>
            <a:r>
              <a:rPr lang="zh-CN" altLang="en-US" sz="1200" dirty="0">
                <a:solidFill>
                  <a:srgbClr val="0000FF"/>
                </a:solidFill>
                <a:latin typeface="微软雅黑" panose="020B0503020204020204" pitchFamily="34" charset="-122"/>
                <a:ea typeface="微软雅黑" panose="020B0503020204020204" pitchFamily="34" charset="-122"/>
                <a:sym typeface="+mn-ea"/>
              </a:rPr>
              <a:t>发送时延与传播时延</a:t>
            </a:r>
            <a:r>
              <a:rPr lang="zh-CN" altLang="zh-CN" sz="1200" dirty="0">
                <a:solidFill>
                  <a:srgbClr val="0000FF"/>
                </a:solidFill>
                <a:latin typeface="微软雅黑" panose="020B0503020204020204" pitchFamily="34" charset="-122"/>
                <a:ea typeface="微软雅黑" panose="020B0503020204020204" pitchFamily="34" charset="-122"/>
                <a:sym typeface="+mn-ea"/>
              </a:rPr>
              <a:t>有本质上的不同</a:t>
            </a:r>
            <a:r>
              <a:rPr lang="zh-CN" altLang="en-US" sz="1200" dirty="0">
                <a:solidFill>
                  <a:srgbClr val="0000FF"/>
                </a:solidFill>
                <a:latin typeface="微软雅黑" panose="020B0503020204020204" pitchFamily="34" charset="-122"/>
                <a:ea typeface="微软雅黑" panose="020B0503020204020204" pitchFamily="34" charset="-122"/>
                <a:sym typeface="+mn-ea"/>
              </a:rPr>
              <a:t>。</a:t>
            </a:r>
            <a:endParaRPr lang="en-US" altLang="zh-CN" sz="1200" dirty="0">
              <a:solidFill>
                <a:srgbClr val="0000FF"/>
              </a:solidFill>
              <a:latin typeface="微软雅黑" panose="020B0503020204020204" pitchFamily="34" charset="-122"/>
              <a:ea typeface="微软雅黑" panose="020B0503020204020204" pitchFamily="34" charset="-122"/>
            </a:endParaRPr>
          </a:p>
          <a:p>
            <a:pPr marL="290830" lvl="1" indent="0">
              <a:lnSpc>
                <a:spcPts val="3300"/>
              </a:lnSpc>
              <a:buClr>
                <a:srgbClr val="7030A0"/>
              </a:buClr>
              <a:buNone/>
            </a:pPr>
            <a:r>
              <a:rPr lang="zh-CN" altLang="en-US" sz="1200" dirty="0">
                <a:latin typeface="微软雅黑" panose="020B0503020204020204" pitchFamily="34" charset="-122"/>
                <a:ea typeface="微软雅黑" panose="020B0503020204020204" pitchFamily="34" charset="-122"/>
                <a:sym typeface="+mn-ea"/>
              </a:rPr>
              <a:t>信号</a:t>
            </a:r>
            <a:r>
              <a:rPr lang="zh-CN" altLang="en-US" sz="1200" dirty="0">
                <a:solidFill>
                  <a:srgbClr val="0000FF"/>
                </a:solidFill>
                <a:latin typeface="微软雅黑" panose="020B0503020204020204" pitchFamily="34" charset="-122"/>
                <a:ea typeface="微软雅黑" panose="020B0503020204020204" pitchFamily="34" charset="-122"/>
                <a:sym typeface="+mn-ea"/>
              </a:rPr>
              <a:t>发送速率</a:t>
            </a:r>
            <a:r>
              <a:rPr lang="zh-CN" altLang="en-US" sz="1200" dirty="0">
                <a:latin typeface="微软雅黑" panose="020B0503020204020204" pitchFamily="34" charset="-122"/>
                <a:ea typeface="微软雅黑" panose="020B0503020204020204" pitchFamily="34" charset="-122"/>
                <a:sym typeface="+mn-ea"/>
              </a:rPr>
              <a:t>和信号在信道上的</a:t>
            </a:r>
            <a:r>
              <a:rPr lang="zh-CN" altLang="en-US" sz="1200" dirty="0">
                <a:solidFill>
                  <a:srgbClr val="0000FF"/>
                </a:solidFill>
                <a:latin typeface="微软雅黑" panose="020B0503020204020204" pitchFamily="34" charset="-122"/>
                <a:ea typeface="微软雅黑" panose="020B0503020204020204" pitchFamily="34" charset="-122"/>
                <a:sym typeface="+mn-ea"/>
              </a:rPr>
              <a:t>传播速率</a:t>
            </a:r>
            <a:r>
              <a:rPr lang="zh-CN" altLang="en-US" sz="1200" dirty="0">
                <a:latin typeface="微软雅黑" panose="020B0503020204020204" pitchFamily="34" charset="-122"/>
                <a:ea typeface="微软雅黑" panose="020B0503020204020204" pitchFamily="34" charset="-122"/>
                <a:sym typeface="+mn-ea"/>
              </a:rPr>
              <a:t>是</a:t>
            </a:r>
            <a:r>
              <a:rPr lang="zh-CN" altLang="en-US" sz="1200" dirty="0">
                <a:solidFill>
                  <a:srgbClr val="0000FF"/>
                </a:solidFill>
                <a:latin typeface="微软雅黑" panose="020B0503020204020204" pitchFamily="34" charset="-122"/>
                <a:ea typeface="微软雅黑" panose="020B0503020204020204" pitchFamily="34" charset="-122"/>
                <a:sym typeface="+mn-ea"/>
              </a:rPr>
              <a:t>完全不同</a:t>
            </a:r>
            <a:r>
              <a:rPr lang="zh-CN" altLang="en-US" sz="1200" dirty="0">
                <a:latin typeface="微软雅黑" panose="020B0503020204020204" pitchFamily="34" charset="-122"/>
                <a:ea typeface="微软雅黑" panose="020B0503020204020204" pitchFamily="34" charset="-122"/>
                <a:sym typeface="+mn-ea"/>
              </a:rPr>
              <a:t>的概念。</a:t>
            </a:r>
          </a:p>
          <a:p>
            <a:pPr marL="290830" lvl="1" indent="0">
              <a:lnSpc>
                <a:spcPts val="3300"/>
              </a:lnSpc>
              <a:buClr>
                <a:srgbClr val="7030A0"/>
              </a:buClr>
              <a:buNone/>
            </a:pPr>
            <a:r>
              <a:rPr lang="zh-CN" altLang="en-US" sz="1600" b="1"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4067707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R="0" lvl="0" indent="0" algn="just" defTabSz="914400" rtl="0" eaLnBrk="1" fontAlgn="base" latinLnBrk="0" hangingPunct="1">
              <a:lnSpc>
                <a:spcPct val="120000"/>
              </a:lnSpc>
              <a:spcBef>
                <a:spcPts val="20"/>
              </a:spcBef>
              <a:spcAft>
                <a:spcPts val="0"/>
              </a:spcAft>
              <a:buClr>
                <a:schemeClr val="bg2"/>
              </a:buClr>
              <a:buSzPct val="75000"/>
              <a:buFont typeface="Wingdings" panose="05000000000000000000" pitchFamily="2" charset="2"/>
              <a:buNone/>
              <a:defRPr/>
            </a:pPr>
            <a:r>
              <a:rPr lang="zh-CN" altLang="en-US" kern="0" noProof="0" dirty="0">
                <a:ln>
                  <a:noFill/>
                </a:ln>
                <a:effectLst/>
                <a:uLnTx/>
                <a:uFillTx/>
                <a:latin typeface="微软雅黑" panose="020B0503020204020204" pitchFamily="34" charset="-122"/>
                <a:ea typeface="微软雅黑" panose="020B0503020204020204" pitchFamily="34" charset="-122"/>
                <a:sym typeface="+mn-ea"/>
              </a:rPr>
              <a:t> 在Internet中，往返时延还</a:t>
            </a:r>
            <a:r>
              <a:rPr lang="zh-CN" altLang="en-US" kern="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sym typeface="+mn-ea"/>
              </a:rPr>
              <a:t>包括各中间结点的处理时延、排队时延以及转发数据时的发送时延</a:t>
            </a:r>
            <a:r>
              <a:rPr lang="zh-CN" altLang="en-US" kern="0" noProof="0" dirty="0">
                <a:ln>
                  <a:noFill/>
                </a:ln>
                <a:effectLst/>
                <a:uLnTx/>
                <a:uFillTx/>
                <a:latin typeface="微软雅黑" panose="020B0503020204020204" pitchFamily="34" charset="-122"/>
                <a:ea typeface="微软雅黑" panose="020B0503020204020204" pitchFamily="34" charset="-122"/>
                <a:sym typeface="+mn-ea"/>
              </a:rPr>
              <a:t>。</a:t>
            </a:r>
            <a:endParaRPr kumimoji="0" lang="zh-CN" altLang="en-US"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Tree>
    <p:extLst>
      <p:ext uri="{BB962C8B-B14F-4D97-AF65-F5344CB8AC3E}">
        <p14:creationId xmlns:p14="http://schemas.microsoft.com/office/powerpoint/2010/main" val="27721450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主机无法控制已经发出去的这些</a:t>
            </a:r>
            <a:r>
              <a:rPr lang="en-US" altLang="zh-CN" dirty="0"/>
              <a:t>bit</a:t>
            </a:r>
            <a:r>
              <a:rPr lang="zh-CN" altLang="en-US" dirty="0"/>
              <a:t>。</a:t>
            </a:r>
          </a:p>
        </p:txBody>
      </p:sp>
    </p:spTree>
    <p:extLst>
      <p:ext uri="{BB962C8B-B14F-4D97-AF65-F5344CB8AC3E}">
        <p14:creationId xmlns:p14="http://schemas.microsoft.com/office/powerpoint/2010/main" val="7197070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这里对照图说明吞吐量、有效吞吐量、丢包率、信道利用率、网络利用率的含义。</a:t>
            </a:r>
          </a:p>
          <a:p>
            <a:endParaRPr lang="zh-CN" altLang="en-US" dirty="0"/>
          </a:p>
          <a:p>
            <a:r>
              <a:rPr lang="zh-CN" altLang="en-US" dirty="0"/>
              <a:t>这里要明确吞吐量与</a:t>
            </a:r>
            <a:r>
              <a:rPr lang="zh-CN" altLang="en-US" kern="0" noProof="0" dirty="0">
                <a:ln>
                  <a:noFill/>
                </a:ln>
                <a:effectLst/>
                <a:uLnTx/>
                <a:uFillTx/>
                <a:latin typeface="微软雅黑" panose="020B0503020204020204" pitchFamily="34" charset="-122"/>
                <a:ea typeface="微软雅黑" panose="020B0503020204020204" pitchFamily="34" charset="-122"/>
                <a:sym typeface="+mn-ea"/>
              </a:rPr>
              <a:t>有效吞吐量的区别，有效吞吐量(goodput)</a:t>
            </a:r>
            <a:r>
              <a:rPr lang="zh-CN" altLang="en-US" dirty="0"/>
              <a:t>不包括协议开销和数据包重传数据。</a:t>
            </a:r>
          </a:p>
        </p:txBody>
      </p:sp>
    </p:spTree>
    <p:extLst>
      <p:ext uri="{BB962C8B-B14F-4D97-AF65-F5344CB8AC3E}">
        <p14:creationId xmlns:p14="http://schemas.microsoft.com/office/powerpoint/2010/main" val="329652980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94</a:t>
            </a:fld>
            <a:endParaRPr kumimoji="1" lang="zh-CN" altLang="en-US"/>
          </a:p>
        </p:txBody>
      </p:sp>
    </p:spTree>
    <p:extLst>
      <p:ext uri="{BB962C8B-B14F-4D97-AF65-F5344CB8AC3E}">
        <p14:creationId xmlns:p14="http://schemas.microsoft.com/office/powerpoint/2010/main" val="35105876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a typeface="微软雅黑" panose="020B0503020204020204" pitchFamily="34" charset="-122"/>
                <a:sym typeface="+mn-ea"/>
              </a:rPr>
              <a:t>这里，可以简单提及：</a:t>
            </a:r>
            <a:r>
              <a:rPr lang="en-US" altLang="zh-CN" dirty="0"/>
              <a:t>ISO 9000</a:t>
            </a:r>
            <a:r>
              <a:rPr lang="zh-CN" altLang="en-US" dirty="0"/>
              <a:t>质量管理体系、</a:t>
            </a:r>
            <a:r>
              <a:rPr lang="en-US" altLang="zh-CN" dirty="0"/>
              <a:t>CMM/CMMI</a:t>
            </a:r>
            <a:r>
              <a:rPr lang="zh-CN" altLang="en-US" dirty="0"/>
              <a:t>软件能力成熟度模型</a:t>
            </a:r>
          </a:p>
        </p:txBody>
      </p:sp>
    </p:spTree>
    <p:extLst>
      <p:ext uri="{BB962C8B-B14F-4D97-AF65-F5344CB8AC3E}">
        <p14:creationId xmlns:p14="http://schemas.microsoft.com/office/powerpoint/2010/main" val="25549739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注意：</a:t>
            </a:r>
            <a:endParaRPr lang="en-US" altLang="zh-CN" dirty="0"/>
          </a:p>
          <a:p>
            <a:r>
              <a:rPr lang="en-US" altLang="zh-CN" dirty="0"/>
              <a:t>IEEE</a:t>
            </a:r>
            <a:r>
              <a:rPr lang="zh-CN" altLang="en-US" dirty="0"/>
              <a:t>制定标准，而</a:t>
            </a:r>
            <a:r>
              <a:rPr lang="en-US" altLang="zh-CN" dirty="0"/>
              <a:t>WIFI</a:t>
            </a:r>
            <a:r>
              <a:rPr lang="zh-CN" altLang="en-US" dirty="0"/>
              <a:t>联盟则不制定标准，而是进行兼容性认证</a:t>
            </a:r>
          </a:p>
          <a:p>
            <a:r>
              <a:rPr lang="zh-CN" altLang="en-US" dirty="0"/>
              <a:t>（</a:t>
            </a:r>
            <a:r>
              <a:rPr lang="en-US" altLang="zh-CN" dirty="0"/>
              <a:t>1</a:t>
            </a:r>
            <a:r>
              <a:rPr lang="zh-CN" altLang="en-US" dirty="0"/>
              <a:t>）</a:t>
            </a:r>
            <a:r>
              <a:rPr lang="en-US" altLang="zh-CN" dirty="0"/>
              <a:t>IEEE</a:t>
            </a:r>
            <a:r>
              <a:rPr lang="zh-CN" altLang="en-US" dirty="0"/>
              <a:t>的期刊、会议可以简单介绍</a:t>
            </a:r>
          </a:p>
          <a:p>
            <a:r>
              <a:rPr lang="zh-CN" altLang="en-US" dirty="0"/>
              <a:t>（</a:t>
            </a:r>
            <a:r>
              <a:rPr lang="en-US" altLang="zh-CN" dirty="0"/>
              <a:t>2</a:t>
            </a:r>
            <a:r>
              <a:rPr lang="zh-CN" altLang="en-US" dirty="0"/>
              <a:t>）</a:t>
            </a:r>
            <a:r>
              <a:rPr lang="en-US" altLang="zh-CN" dirty="0"/>
              <a:t>IEEE 802.11</a:t>
            </a:r>
            <a:r>
              <a:rPr lang="zh-CN" altLang="en-US" dirty="0"/>
              <a:t>的新标准开始用</a:t>
            </a:r>
            <a:r>
              <a:rPr lang="en-US" altLang="zh-CN" dirty="0" err="1"/>
              <a:t>wifi</a:t>
            </a:r>
            <a:r>
              <a:rPr lang="en-US" altLang="zh-CN" dirty="0"/>
              <a:t> 5</a:t>
            </a:r>
            <a:r>
              <a:rPr lang="zh-CN" altLang="en-US" dirty="0"/>
              <a:t>、</a:t>
            </a:r>
            <a:r>
              <a:rPr lang="en-US" altLang="zh-CN" dirty="0" err="1"/>
              <a:t>wifi</a:t>
            </a:r>
            <a:r>
              <a:rPr lang="en-US" altLang="zh-CN" dirty="0"/>
              <a:t> 6</a:t>
            </a:r>
            <a:r>
              <a:rPr lang="zh-CN" altLang="en-US" dirty="0"/>
              <a:t>命名</a:t>
            </a:r>
          </a:p>
        </p:txBody>
      </p:sp>
    </p:spTree>
    <p:extLst>
      <p:ext uri="{BB962C8B-B14F-4D97-AF65-F5344CB8AC3E}">
        <p14:creationId xmlns:p14="http://schemas.microsoft.com/office/powerpoint/2010/main" val="41106788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ts val="3600"/>
              </a:lnSpc>
              <a:buClr>
                <a:srgbClr val="C00000"/>
              </a:buClr>
              <a:buFont typeface="Wingdings" panose="05000000000000000000" pitchFamily="2" charset="2"/>
              <a:buNone/>
            </a:pPr>
            <a:r>
              <a:rPr lang="zh-CN"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所有互联网标准都以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RFC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sym typeface="+mn-ea"/>
              </a:rPr>
              <a:t>的形式在互联网上发表</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3439364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从</a:t>
            </a:r>
            <a:r>
              <a:rPr lang="en-US" altLang="zh-CN" dirty="0"/>
              <a:t>RFC</a:t>
            </a:r>
            <a:r>
              <a:rPr lang="zh-CN" altLang="en-US" dirty="0"/>
              <a:t>的名字看不出</a:t>
            </a:r>
            <a:r>
              <a:rPr lang="en-US" altLang="zh-CN" dirty="0"/>
              <a:t>RFC</a:t>
            </a:r>
            <a:r>
              <a:rPr lang="zh-CN" altLang="en-US" dirty="0"/>
              <a:t>是标准，但所有的互联网设备都遵循</a:t>
            </a:r>
            <a:r>
              <a:rPr lang="en-US" altLang="zh-CN" dirty="0"/>
              <a:t>RFC</a:t>
            </a:r>
            <a:r>
              <a:rPr lang="zh-CN" altLang="en-US" dirty="0"/>
              <a:t>才能实现互联互通，所以</a:t>
            </a:r>
            <a:r>
              <a:rPr lang="en-US" altLang="zh-CN" dirty="0"/>
              <a:t>RFC</a:t>
            </a:r>
            <a:r>
              <a:rPr lang="zh-CN" altLang="en-US" dirty="0"/>
              <a:t>是不自称为标准的事实标准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相比其他“标准”组织，制定的标准没有人使用或遵循，那将毫无节制。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extLst>
      <p:ext uri="{BB962C8B-B14F-4D97-AF65-F5344CB8AC3E}">
        <p14:creationId xmlns:p14="http://schemas.microsoft.com/office/powerpoint/2010/main" val="20252855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我国是互联网大国，而非互联网强国，</a:t>
            </a:r>
            <a:r>
              <a:rPr lang="zh-CN" altLang="en-US" sz="1200" dirty="0">
                <a:solidFill>
                  <a:prstClr val="black"/>
                </a:solidFill>
                <a:latin typeface="Microsoft YaHei" panose="020B0503020204020204" pitchFamily="34" charset="-122"/>
                <a:ea typeface="Microsoft YaHei" panose="020B0503020204020204" pitchFamily="34" charset="-122"/>
              </a:rPr>
              <a:t>我国参与</a:t>
            </a:r>
            <a:r>
              <a:rPr lang="en-US" altLang="zh-CN" sz="1200" dirty="0">
                <a:solidFill>
                  <a:prstClr val="black"/>
                </a:solidFill>
                <a:latin typeface="Microsoft YaHei" panose="020B0503020204020204" pitchFamily="34" charset="-122"/>
                <a:ea typeface="Microsoft YaHei" panose="020B0503020204020204" pitchFamily="34" charset="-122"/>
              </a:rPr>
              <a:t>RFC</a:t>
            </a:r>
            <a:r>
              <a:rPr lang="zh-CN" altLang="en-US" sz="1200" dirty="0">
                <a:solidFill>
                  <a:prstClr val="black"/>
                </a:solidFill>
                <a:latin typeface="Microsoft YaHei" panose="020B0503020204020204" pitchFamily="34" charset="-122"/>
                <a:ea typeface="Microsoft YaHei" panose="020B0503020204020204" pitchFamily="34" charset="-122"/>
              </a:rPr>
              <a:t>的人数少，主导的</a:t>
            </a:r>
            <a:r>
              <a:rPr lang="en-US" altLang="zh-CN" sz="1200" dirty="0">
                <a:solidFill>
                  <a:prstClr val="black"/>
                </a:solidFill>
                <a:latin typeface="Microsoft YaHei" panose="020B0503020204020204" pitchFamily="34" charset="-122"/>
                <a:ea typeface="Microsoft YaHei" panose="020B0503020204020204" pitchFamily="34" charset="-122"/>
              </a:rPr>
              <a:t>RFC</a:t>
            </a:r>
            <a:r>
              <a:rPr lang="zh-CN" altLang="en-US" sz="1200" dirty="0">
                <a:solidFill>
                  <a:prstClr val="black"/>
                </a:solidFill>
                <a:latin typeface="Microsoft YaHei" panose="020B0503020204020204" pitchFamily="34" charset="-122"/>
                <a:ea typeface="Microsoft YaHei" panose="020B0503020204020204" pitchFamily="34" charset="-122"/>
              </a:rPr>
              <a:t>数量有限，</a:t>
            </a:r>
            <a:r>
              <a:rPr lang="en-US" altLang="zh-CN" sz="1200" dirty="0">
                <a:solidFill>
                  <a:prstClr val="black"/>
                </a:solidFill>
                <a:latin typeface="Microsoft YaHei" panose="020B0503020204020204" pitchFamily="34" charset="-122"/>
                <a:ea typeface="Microsoft YaHei" panose="020B0503020204020204" pitchFamily="34" charset="-122"/>
              </a:rPr>
              <a:t>IESG</a:t>
            </a:r>
            <a:r>
              <a:rPr lang="zh-CN" altLang="en-US" sz="1200" dirty="0">
                <a:solidFill>
                  <a:prstClr val="black"/>
                </a:solidFill>
                <a:latin typeface="Microsoft YaHei" panose="020B0503020204020204" pitchFamily="34" charset="-122"/>
                <a:ea typeface="Microsoft YaHei" panose="020B0503020204020204" pitchFamily="34" charset="-122"/>
              </a:rPr>
              <a:t>我国专家还没能进入</a:t>
            </a:r>
            <a:endParaRPr lang="en-US" altLang="zh-CN" sz="1200" dirty="0">
              <a:solidFill>
                <a:prstClr val="black"/>
              </a:solidFill>
              <a:latin typeface="Microsoft YaHei" panose="020B0503020204020204" pitchFamily="34" charset="-122"/>
              <a:ea typeface="Microsoft YaHei"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99</a:t>
            </a:fld>
            <a:endParaRPr kumimoji="1" lang="zh-CN" altLang="en-US"/>
          </a:p>
        </p:txBody>
      </p:sp>
    </p:spTree>
    <p:extLst>
      <p:ext uri="{BB962C8B-B14F-4D97-AF65-F5344CB8AC3E}">
        <p14:creationId xmlns:p14="http://schemas.microsoft.com/office/powerpoint/2010/main" val="10172153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2013年，清华大学李星教授（CERNET网络中心副主任）当选国际互联网标准组织（IETF）的体系架构委员会IAB的一员，这个互联网最权威的13人专家组织迎来的第一个来自中国大陆的委员。</a:t>
            </a:r>
            <a:endParaRPr lang="en-US" altLang="zh-CN" dirty="0"/>
          </a:p>
          <a:p>
            <a:r>
              <a:rPr lang="en-US" altLang="zh-CN" dirty="0"/>
              <a:t>RG</a:t>
            </a:r>
            <a:r>
              <a:rPr lang="zh-CN" altLang="en-US" dirty="0"/>
              <a:t>：</a:t>
            </a:r>
            <a:r>
              <a:rPr lang="en-US" altLang="zh-CN" dirty="0"/>
              <a:t>Research</a:t>
            </a:r>
            <a:r>
              <a:rPr lang="zh-CN" altLang="en-US" dirty="0"/>
              <a:t> </a:t>
            </a:r>
            <a:r>
              <a:rPr lang="en-US" altLang="zh-CN" dirty="0"/>
              <a:t>group</a:t>
            </a:r>
          </a:p>
          <a:p>
            <a:r>
              <a:rPr lang="en-US" altLang="zh-CN" dirty="0"/>
              <a:t>WG:</a:t>
            </a:r>
            <a:r>
              <a:rPr lang="zh-CN" altLang="en-US" dirty="0"/>
              <a:t> </a:t>
            </a:r>
            <a:r>
              <a:rPr lang="en-US" altLang="zh-CN" dirty="0"/>
              <a:t>Working</a:t>
            </a:r>
            <a:r>
              <a:rPr lang="zh-CN" altLang="en-US" dirty="0"/>
              <a:t> </a:t>
            </a:r>
            <a:r>
              <a:rPr lang="en-US" altLang="zh-CN" dirty="0"/>
              <a:t>Group</a:t>
            </a:r>
          </a:p>
          <a:p>
            <a:r>
              <a:rPr lang="zh-CN" altLang="en-US" dirty="0"/>
              <a:t>互联网研究指导小组</a:t>
            </a:r>
            <a:r>
              <a:rPr lang="en-US" altLang="zh-CN" dirty="0"/>
              <a:t>IRSG:</a:t>
            </a:r>
            <a:r>
              <a:rPr lang="zh-CN" altLang="en-US" dirty="0"/>
              <a:t> </a:t>
            </a:r>
            <a:r>
              <a:rPr lang="en-US" altLang="zh-CN" dirty="0"/>
              <a:t>Internet</a:t>
            </a:r>
            <a:r>
              <a:rPr lang="zh-CN" altLang="en-US" dirty="0"/>
              <a:t> </a:t>
            </a:r>
            <a:r>
              <a:rPr lang="en-US" altLang="zh-CN" dirty="0"/>
              <a:t>Research</a:t>
            </a:r>
            <a:r>
              <a:rPr lang="zh-CN" altLang="en-US" dirty="0"/>
              <a:t> </a:t>
            </a:r>
            <a:r>
              <a:rPr lang="en-US" altLang="zh-CN" dirty="0"/>
              <a:t>Steering</a:t>
            </a:r>
            <a:r>
              <a:rPr lang="zh-CN" altLang="en-US" dirty="0"/>
              <a:t> </a:t>
            </a:r>
            <a:r>
              <a:rPr lang="en-US" altLang="zh-CN" dirty="0"/>
              <a:t>Group</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互联网工程指导小组</a:t>
            </a:r>
            <a:r>
              <a:rPr lang="en-US" altLang="zh-CN" dirty="0"/>
              <a:t>IESG:</a:t>
            </a:r>
            <a:r>
              <a:rPr lang="zh-CN" altLang="en-US" dirty="0"/>
              <a:t>  </a:t>
            </a:r>
            <a:r>
              <a:rPr lang="en-US" altLang="zh-CN" dirty="0"/>
              <a:t>Internet</a:t>
            </a:r>
            <a:r>
              <a:rPr lang="zh-CN" altLang="en-US" dirty="0"/>
              <a:t> </a:t>
            </a:r>
            <a:r>
              <a:rPr lang="en-US" altLang="zh-CN" dirty="0"/>
              <a:t>Engineering</a:t>
            </a:r>
            <a:r>
              <a:rPr lang="zh-CN" altLang="en-US" dirty="0"/>
              <a:t> </a:t>
            </a:r>
            <a:r>
              <a:rPr lang="en-US" altLang="zh-CN" dirty="0"/>
              <a:t>Steering</a:t>
            </a:r>
            <a:r>
              <a:rPr lang="zh-CN" altLang="en-US" dirty="0"/>
              <a:t> </a:t>
            </a:r>
            <a:r>
              <a:rPr lang="en-US" altLang="zh-CN" dirty="0"/>
              <a:t>Group </a:t>
            </a:r>
            <a:r>
              <a:rPr lang="zh-CN" altLang="en-US" dirty="0"/>
              <a:t>（核心权利机构，负责审批</a:t>
            </a:r>
            <a:r>
              <a:rPr lang="en-US" altLang="zh-CN" dirty="0"/>
              <a:t>RFC</a:t>
            </a:r>
            <a:r>
              <a:rPr lang="zh-CN" altLang="en-US" dirty="0"/>
              <a:t>标准）</a:t>
            </a:r>
          </a:p>
        </p:txBody>
      </p:sp>
    </p:spTree>
    <p:extLst>
      <p:ext uri="{BB962C8B-B14F-4D97-AF65-F5344CB8AC3E}">
        <p14:creationId xmlns:p14="http://schemas.microsoft.com/office/powerpoint/2010/main" val="38409537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effectLst/>
                <a:latin typeface="Times New Roman" panose="02020603050405020304" pitchFamily="18" charset="0"/>
                <a:cs typeface="Times New Roman" panose="02020603050405020304" pitchFamily="18" charset="0"/>
                <a:sym typeface="+mn-ea"/>
              </a:rPr>
              <a:t>CCSA中国通信标准化协会</a:t>
            </a:r>
            <a:r>
              <a:rPr lang="zh-CN" altLang="en-US" dirty="0"/>
              <a:t>网站：www.ccsa.org.cn/</a:t>
            </a:r>
          </a:p>
          <a:p>
            <a:r>
              <a:rPr lang="zh-CN" altLang="en-US" dirty="0"/>
              <a:t>技术委员会</a:t>
            </a:r>
            <a:r>
              <a:rPr lang="en-US" altLang="zh-CN" dirty="0"/>
              <a:t>TC(Technical Committee)</a:t>
            </a:r>
            <a:r>
              <a:rPr lang="zh-CN" altLang="en-US" dirty="0"/>
              <a:t> 下设专门方向的工作组，进行标准的立项、讨论、完善、审核。</a:t>
            </a:r>
          </a:p>
        </p:txBody>
      </p:sp>
    </p:spTree>
    <p:extLst>
      <p:ext uri="{BB962C8B-B14F-4D97-AF65-F5344CB8AC3E}">
        <p14:creationId xmlns:p14="http://schemas.microsoft.com/office/powerpoint/2010/main" val="150609417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开源项目示例：</a:t>
            </a:r>
          </a:p>
          <a:p>
            <a:r>
              <a:rPr lang="zh-CN" altLang="en-US"/>
              <a:t>（</a:t>
            </a:r>
            <a:r>
              <a:rPr lang="en-US" altLang="zh-CN"/>
              <a:t>1</a:t>
            </a:r>
            <a:r>
              <a:rPr lang="zh-CN" altLang="en-US"/>
              <a:t>）</a:t>
            </a:r>
            <a:r>
              <a:rPr lang="en-US" altLang="zh-CN"/>
              <a:t>google </a:t>
            </a:r>
            <a:r>
              <a:rPr lang="zh-CN" altLang="en-US">
                <a:sym typeface="+mn-ea"/>
              </a:rPr>
              <a:t>QUIC</a:t>
            </a:r>
            <a:r>
              <a:rPr lang="zh-CN" altLang="en-US"/>
              <a:t>协议：Quick UDP Internet Connections protocol，由 Google 设计提出，目前由 IETF 工作组推动进展，其设计的目标是替代 TCP 成为 HTTP/3 的数据传输层协议（https://github.com/google/proto-quic ）</a:t>
            </a:r>
          </a:p>
          <a:p>
            <a:r>
              <a:rPr lang="zh-CN" altLang="en-US"/>
              <a:t>（</a:t>
            </a:r>
            <a:r>
              <a:rPr lang="en-US" altLang="zh-CN"/>
              <a:t>2</a:t>
            </a:r>
            <a:r>
              <a:rPr lang="zh-CN" altLang="en-US"/>
              <a:t>）WebRTC 是一项在浏览器内部进行实时视频和音频通信的技术，是谷歌于2010年以6820万美元收购VoIP软件开发商 Global IT Solutions 公司而获得一项技术，谷歌于2011年6月3日开源该项目（https://github.com/webrtc/）</a:t>
            </a:r>
          </a:p>
          <a:p>
            <a:endParaRPr lang="en-US" altLang="zh-CN"/>
          </a:p>
        </p:txBody>
      </p:sp>
    </p:spTree>
    <p:extLst>
      <p:ext uri="{BB962C8B-B14F-4D97-AF65-F5344CB8AC3E}">
        <p14:creationId xmlns:p14="http://schemas.microsoft.com/office/powerpoint/2010/main" val="30782981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103</a:t>
            </a:fld>
            <a:endParaRPr kumimoji="1" lang="zh-CN" altLang="en-US"/>
          </a:p>
        </p:txBody>
      </p:sp>
    </p:spTree>
    <p:extLst>
      <p:ext uri="{BB962C8B-B14F-4D97-AF65-F5344CB8AC3E}">
        <p14:creationId xmlns:p14="http://schemas.microsoft.com/office/powerpoint/2010/main" val="41877732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t>1957 </a:t>
            </a:r>
            <a:r>
              <a:rPr lang="zh-CN" altLang="en-US" sz="1400" dirty="0"/>
              <a:t>年，苏联发射第一颗人造地球卫星 </a:t>
            </a:r>
            <a:r>
              <a:rPr lang="en-US" altLang="zh-CN" sz="1400" dirty="0"/>
              <a:t>Sputnik</a:t>
            </a:r>
            <a:r>
              <a:rPr lang="zh-CN" altLang="en-US" sz="1400" dirty="0"/>
              <a:t>。受此事件刺激，</a:t>
            </a:r>
            <a:r>
              <a:rPr lang="en-US" altLang="zh-CN" sz="1400" dirty="0"/>
              <a:t>1958 </a:t>
            </a:r>
            <a:r>
              <a:rPr lang="zh-CN" altLang="en-US" sz="1400" dirty="0"/>
              <a:t>年美国总统 艾森豪威尔发起成立了美国国防部高级研究计划局（</a:t>
            </a:r>
            <a:r>
              <a:rPr lang="en-US" altLang="zh-CN" sz="1400" dirty="0"/>
              <a:t>ARPA</a:t>
            </a:r>
            <a:r>
              <a:rPr lang="zh-CN" altLang="en-US" sz="1400" dirty="0"/>
              <a:t>），以保证美国在技术和科学的领先地位。</a:t>
            </a:r>
            <a:r>
              <a:rPr lang="en-US" altLang="zh-CN" sz="1400" b="0" i="0" dirty="0">
                <a:solidFill>
                  <a:srgbClr val="202122"/>
                </a:solidFill>
                <a:effectLst/>
                <a:latin typeface="Arial" panose="020B0604020202020204" pitchFamily="34" charset="0"/>
              </a:rPr>
              <a:t>1967</a:t>
            </a:r>
            <a:r>
              <a:rPr lang="zh-CN" altLang="en-US" sz="1400" b="0" i="0" dirty="0">
                <a:solidFill>
                  <a:srgbClr val="202122"/>
                </a:solidFill>
                <a:effectLst/>
                <a:latin typeface="Arial" panose="020B0604020202020204" pitchFamily="34" charset="0"/>
              </a:rPr>
              <a:t>年，罗伯茨来到高级研究计划署</a:t>
            </a:r>
            <a:r>
              <a:rPr lang="en-US" altLang="zh-CN" sz="1400" b="0" i="0" dirty="0">
                <a:solidFill>
                  <a:srgbClr val="202122"/>
                </a:solidFill>
                <a:effectLst/>
                <a:latin typeface="Arial" panose="020B0604020202020204" pitchFamily="34" charset="0"/>
              </a:rPr>
              <a:t>ARPA</a:t>
            </a:r>
            <a:r>
              <a:rPr lang="zh-CN" altLang="en-US" sz="1400" b="0" i="0" dirty="0">
                <a:solidFill>
                  <a:srgbClr val="202122"/>
                </a:solidFill>
                <a:effectLst/>
                <a:latin typeface="Arial" panose="020B0604020202020204" pitchFamily="34" charset="0"/>
              </a:rPr>
              <a:t>，着手筹建“分布式网络”。</a:t>
            </a:r>
            <a:r>
              <a:rPr lang="en-US" altLang="zh-CN" sz="1400" b="0" i="0" dirty="0">
                <a:solidFill>
                  <a:srgbClr val="202122"/>
                </a:solidFill>
                <a:effectLst/>
                <a:latin typeface="Arial" panose="020B0604020202020204" pitchFamily="34" charset="0"/>
              </a:rPr>
              <a:t>1968</a:t>
            </a:r>
            <a:r>
              <a:rPr lang="zh-CN" altLang="en-US" sz="1400" b="0" i="0" dirty="0">
                <a:solidFill>
                  <a:srgbClr val="202122"/>
                </a:solidFill>
                <a:effectLst/>
                <a:latin typeface="Arial" panose="020B0604020202020204" pitchFamily="34" charset="0"/>
              </a:rPr>
              <a:t>年，罗伯茨提交研究报告</a:t>
            </a:r>
            <a:r>
              <a:rPr lang="en-US" altLang="zh-CN" sz="1400" b="0" i="0" dirty="0">
                <a:solidFill>
                  <a:srgbClr val="202122"/>
                </a:solidFill>
                <a:effectLst/>
                <a:latin typeface="Arial" panose="020B0604020202020204" pitchFamily="34" charset="0"/>
              </a:rPr>
              <a:t>《</a:t>
            </a:r>
            <a:r>
              <a:rPr lang="zh-CN" altLang="en-US" sz="1400" b="0" i="0" dirty="0">
                <a:solidFill>
                  <a:srgbClr val="202122"/>
                </a:solidFill>
                <a:effectLst/>
                <a:latin typeface="Arial" panose="020B0604020202020204" pitchFamily="34" charset="0"/>
              </a:rPr>
              <a:t>资源共享的计算机网络</a:t>
            </a:r>
            <a:r>
              <a:rPr lang="en-US" altLang="zh-CN" sz="1400" b="0" i="0" dirty="0">
                <a:solidFill>
                  <a:srgbClr val="202122"/>
                </a:solidFill>
                <a:effectLst/>
                <a:latin typeface="Arial" panose="020B0604020202020204" pitchFamily="34" charset="0"/>
              </a:rPr>
              <a:t>》</a:t>
            </a:r>
            <a:r>
              <a:rPr lang="zh-CN" altLang="en-US" sz="1400" b="0" i="0" dirty="0">
                <a:solidFill>
                  <a:srgbClr val="202122"/>
                </a:solidFill>
                <a:effectLst/>
                <a:latin typeface="Arial" panose="020B0604020202020204" pitchFamily="34" charset="0"/>
              </a:rPr>
              <a:t>，其中着力阐发的就是让“阿帕”的电脑达到互相连接，从而使大家分享彼此的研究成果。根据这份报告组建的国防部“高级研究计划网”，就是著名的“阿帕网”，</a:t>
            </a:r>
            <a:r>
              <a:rPr lang="en-US" altLang="zh-CN" sz="1400" b="0" i="0" dirty="0">
                <a:solidFill>
                  <a:srgbClr val="202122"/>
                </a:solidFill>
                <a:effectLst/>
                <a:latin typeface="Arial" panose="020B0604020202020204" pitchFamily="34" charset="0"/>
              </a:rPr>
              <a:t>1969</a:t>
            </a:r>
            <a:r>
              <a:rPr lang="zh-CN" altLang="en-US" sz="1400" b="0" i="0" dirty="0">
                <a:solidFill>
                  <a:srgbClr val="202122"/>
                </a:solidFill>
                <a:effectLst/>
                <a:latin typeface="Arial" panose="020B0604020202020204" pitchFamily="34" charset="0"/>
              </a:rPr>
              <a:t>年底，阿帕网正式投入运行，采用分组交换技术，使用的是自研的一种新的网络协议</a:t>
            </a:r>
            <a:r>
              <a:rPr lang="en-US" altLang="zh-CN" sz="1400" b="0" i="0" dirty="0">
                <a:solidFill>
                  <a:srgbClr val="202122"/>
                </a:solidFill>
                <a:effectLst/>
                <a:latin typeface="Arial" panose="020B0604020202020204" pitchFamily="34" charset="0"/>
              </a:rPr>
              <a:t>NCP</a:t>
            </a:r>
            <a:r>
              <a:rPr lang="zh-CN" altLang="en-US" sz="1400" b="0" i="0" dirty="0">
                <a:solidFill>
                  <a:srgbClr val="202122"/>
                </a:solidFill>
                <a:effectLst/>
                <a:latin typeface="Arial" panose="020B0604020202020204" pitchFamily="34" charset="0"/>
              </a:rPr>
              <a:t>协议。</a:t>
            </a:r>
            <a:endParaRPr lang="en-US" altLang="zh-CN" sz="1400" b="0" i="0" dirty="0">
              <a:solidFill>
                <a:srgbClr val="202122"/>
              </a:solidFill>
              <a:effectLst/>
              <a:latin typeface="Arial" panose="020B0604020202020204" pitchFamily="34" charset="0"/>
            </a:endParaRPr>
          </a:p>
          <a:p>
            <a:endParaRPr lang="zh-CN" altLang="en-US" sz="1400" b="0" i="0" dirty="0">
              <a:solidFill>
                <a:srgbClr val="202122"/>
              </a:solidFill>
              <a:effectLst/>
              <a:latin typeface="Arial" panose="020B0604020202020204" pitchFamily="34" charset="0"/>
            </a:endParaRPr>
          </a:p>
          <a:p>
            <a:r>
              <a:rPr lang="zh-CN" altLang="en-US" sz="1400" dirty="0"/>
              <a:t>建立之初，</a:t>
            </a:r>
            <a:r>
              <a:rPr lang="en-US" altLang="zh-CN" sz="1400" dirty="0"/>
              <a:t>ARPANET</a:t>
            </a:r>
            <a:r>
              <a:rPr lang="zh-CN" altLang="en-US" sz="1400" dirty="0"/>
              <a:t>只有四个节点：</a:t>
            </a:r>
            <a:r>
              <a:rPr lang="en-US" altLang="zh-CN" sz="1400" b="0" i="0" dirty="0">
                <a:solidFill>
                  <a:srgbClr val="202122"/>
                </a:solidFill>
                <a:effectLst/>
                <a:latin typeface="Arial" panose="020B0604020202020204" pitchFamily="34" charset="0"/>
              </a:rPr>
              <a:t>UCLA</a:t>
            </a:r>
            <a:r>
              <a:rPr lang="en-US" altLang="zh-CN" sz="1400" dirty="0">
                <a:solidFill>
                  <a:srgbClr val="202122"/>
                </a:solidFill>
                <a:latin typeface="Arial" panose="020B0604020202020204" pitchFamily="34" charset="0"/>
              </a:rPr>
              <a:t>/</a:t>
            </a:r>
            <a:r>
              <a:rPr lang="en-US" altLang="zh-CN" sz="1400" b="0" i="0" dirty="0">
                <a:solidFill>
                  <a:srgbClr val="202122"/>
                </a:solidFill>
                <a:effectLst/>
                <a:latin typeface="Arial" panose="020B0604020202020204" pitchFamily="34" charset="0"/>
              </a:rPr>
              <a:t>SRI/UCSB/Utah</a:t>
            </a:r>
            <a:r>
              <a:rPr lang="zh-CN" altLang="en-US" sz="1400" b="0" i="0" dirty="0">
                <a:solidFill>
                  <a:srgbClr val="202122"/>
                </a:solidFill>
                <a:effectLst/>
                <a:latin typeface="Arial" panose="020B0604020202020204" pitchFamily="34" charset="0"/>
              </a:rPr>
              <a:t>，第一个节点击在</a:t>
            </a:r>
            <a:r>
              <a:rPr lang="zh-CN" altLang="en-US" sz="1400" b="0" i="0" u="none" strike="noStrike" dirty="0">
                <a:solidFill>
                  <a:srgbClr val="0B0080"/>
                </a:solidFill>
                <a:effectLst/>
                <a:latin typeface="Arial" panose="020B0604020202020204" pitchFamily="34" charset="0"/>
                <a:hlinkClick r:id="rId3" tooltip="加州大学洛杉矶分校"/>
              </a:rPr>
              <a:t>加州大学洛杉矶分校</a:t>
            </a:r>
            <a:r>
              <a:rPr lang="zh-CN" altLang="en-US" sz="1400" b="0" i="0" dirty="0">
                <a:solidFill>
                  <a:srgbClr val="202122"/>
                </a:solidFill>
                <a:effectLst/>
                <a:latin typeface="Arial" panose="020B0604020202020204" pitchFamily="34" charset="0"/>
              </a:rPr>
              <a:t>（</a:t>
            </a:r>
            <a:r>
              <a:rPr lang="en-US" altLang="zh-CN" sz="1400" b="0" i="0" dirty="0">
                <a:solidFill>
                  <a:srgbClr val="202122"/>
                </a:solidFill>
                <a:effectLst/>
                <a:latin typeface="Arial" panose="020B0604020202020204" pitchFamily="34" charset="0"/>
              </a:rPr>
              <a:t>UCLA</a:t>
            </a:r>
            <a:r>
              <a:rPr lang="zh-CN" altLang="en-US" sz="1400" b="0" i="0" dirty="0">
                <a:solidFill>
                  <a:srgbClr val="202122"/>
                </a:solidFill>
                <a:effectLst/>
                <a:latin typeface="Arial" panose="020B0604020202020204" pitchFamily="34" charset="0"/>
              </a:rPr>
              <a:t>），第二个节点击在</a:t>
            </a:r>
            <a:r>
              <a:rPr lang="zh-CN" altLang="en-US" sz="1400" b="0" i="0" u="none" strike="noStrike" dirty="0">
                <a:solidFill>
                  <a:srgbClr val="A55858"/>
                </a:solidFill>
                <a:effectLst/>
                <a:latin typeface="Arial" panose="020B0604020202020204" pitchFamily="34" charset="0"/>
                <a:hlinkClick r:id="rId4" tooltip="斯坦福研究院（页面不存在）"/>
              </a:rPr>
              <a:t>斯坦福研究院</a:t>
            </a:r>
            <a:r>
              <a:rPr lang="zh-CN" altLang="en-US" sz="1400" b="0" i="0" dirty="0">
                <a:solidFill>
                  <a:srgbClr val="202122"/>
                </a:solidFill>
                <a:effectLst/>
                <a:latin typeface="Arial" panose="020B0604020202020204" pitchFamily="34" charset="0"/>
              </a:rPr>
              <a:t>（</a:t>
            </a:r>
            <a:r>
              <a:rPr lang="en-US" altLang="zh-CN" sz="1400" b="0" i="0" dirty="0">
                <a:solidFill>
                  <a:srgbClr val="202122"/>
                </a:solidFill>
                <a:effectLst/>
                <a:latin typeface="Arial" panose="020B0604020202020204" pitchFamily="34" charset="0"/>
              </a:rPr>
              <a:t>SRI</a:t>
            </a:r>
            <a:r>
              <a:rPr lang="zh-CN" altLang="en-US" sz="1400" b="0" i="0" dirty="0">
                <a:solidFill>
                  <a:srgbClr val="202122"/>
                </a:solidFill>
                <a:effectLst/>
                <a:latin typeface="Arial" panose="020B0604020202020204" pitchFamily="34" charset="0"/>
              </a:rPr>
              <a:t>），此外，</a:t>
            </a:r>
            <a:r>
              <a:rPr lang="zh-CN" altLang="en-US" sz="1400" b="0" i="0" u="none" strike="noStrike" dirty="0">
                <a:solidFill>
                  <a:srgbClr val="0B0080"/>
                </a:solidFill>
                <a:effectLst/>
                <a:latin typeface="Arial" panose="020B0604020202020204" pitchFamily="34" charset="0"/>
                <a:hlinkClick r:id="rId5" tooltip="加州大学"/>
              </a:rPr>
              <a:t>加州大学</a:t>
            </a:r>
            <a:r>
              <a:rPr lang="zh-CN" altLang="en-US" sz="1400" b="0" i="0" dirty="0">
                <a:solidFill>
                  <a:srgbClr val="202122"/>
                </a:solidFill>
                <a:effectLst/>
                <a:latin typeface="Arial" panose="020B0604020202020204" pitchFamily="34" charset="0"/>
              </a:rPr>
              <a:t>圣巴巴拉分校（</a:t>
            </a:r>
            <a:r>
              <a:rPr lang="en-US" altLang="zh-CN" sz="1400" b="0" i="0" dirty="0">
                <a:solidFill>
                  <a:srgbClr val="202122"/>
                </a:solidFill>
                <a:effectLst/>
                <a:latin typeface="Arial" panose="020B0604020202020204" pitchFamily="34" charset="0"/>
              </a:rPr>
              <a:t>UCSB</a:t>
            </a:r>
            <a:r>
              <a:rPr lang="zh-CN" altLang="en-US" sz="1400" b="0" i="0" dirty="0">
                <a:solidFill>
                  <a:srgbClr val="202122"/>
                </a:solidFill>
                <a:effectLst/>
                <a:latin typeface="Arial" panose="020B0604020202020204" pitchFamily="34" charset="0"/>
              </a:rPr>
              <a:t>）和</a:t>
            </a:r>
            <a:r>
              <a:rPr lang="zh-CN" altLang="en-US" sz="1400" b="0" i="0" u="none" strike="noStrike" dirty="0">
                <a:solidFill>
                  <a:srgbClr val="0B0080"/>
                </a:solidFill>
                <a:effectLst/>
                <a:latin typeface="Arial" panose="020B0604020202020204" pitchFamily="34" charset="0"/>
                <a:hlinkClick r:id="rId6" tooltip="犹他大学"/>
              </a:rPr>
              <a:t>犹他大学</a:t>
            </a:r>
            <a:r>
              <a:rPr lang="zh-CN" altLang="en-US" sz="1400" b="0" i="0" dirty="0">
                <a:solidFill>
                  <a:srgbClr val="202122"/>
                </a:solidFill>
                <a:effectLst/>
                <a:latin typeface="Arial" panose="020B0604020202020204" pitchFamily="34" charset="0"/>
              </a:rPr>
              <a:t>（</a:t>
            </a:r>
            <a:r>
              <a:rPr lang="en-US" altLang="zh-CN" sz="1400" b="0" i="0" dirty="0">
                <a:solidFill>
                  <a:srgbClr val="202122"/>
                </a:solidFill>
                <a:effectLst/>
                <a:latin typeface="Arial" panose="020B0604020202020204" pitchFamily="34" charset="0"/>
              </a:rPr>
              <a:t>UTAH</a:t>
            </a:r>
            <a:r>
              <a:rPr lang="zh-CN" altLang="en-US" sz="1400" b="0" i="0" dirty="0">
                <a:solidFill>
                  <a:srgbClr val="202122"/>
                </a:solidFill>
                <a:effectLst/>
                <a:latin typeface="Arial" panose="020B0604020202020204" pitchFamily="34" charset="0"/>
              </a:rPr>
              <a:t>）分别被选为三、四节点；</a:t>
            </a:r>
            <a:endParaRPr lang="en-US" altLang="zh-CN" sz="14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之后，</a:t>
            </a:r>
            <a:r>
              <a:rPr lang="en-US" altLang="zh-CN" sz="1400" dirty="0"/>
              <a:t>ARPANET</a:t>
            </a:r>
            <a:r>
              <a:rPr lang="zh-CN" altLang="en-US" sz="1400" dirty="0"/>
              <a:t>发展迅速，</a:t>
            </a:r>
            <a:r>
              <a:rPr lang="en-US" altLang="zh-CN" sz="1400" b="0" i="0" dirty="0">
                <a:solidFill>
                  <a:srgbClr val="0A0A0A"/>
                </a:solidFill>
                <a:effectLst/>
                <a:latin typeface="微软雅黑" panose="020B0503020204020204" pitchFamily="34" charset="-122"/>
                <a:ea typeface="微软雅黑" panose="020B0503020204020204" pitchFamily="34" charset="-122"/>
              </a:rPr>
              <a:t>80</a:t>
            </a:r>
            <a:r>
              <a:rPr lang="zh-CN" altLang="en-US" sz="1400" b="0" i="0" dirty="0">
                <a:solidFill>
                  <a:srgbClr val="0A0A0A"/>
                </a:solidFill>
                <a:effectLst/>
                <a:latin typeface="微软雅黑" panose="020B0503020204020204" pitchFamily="34" charset="-122"/>
                <a:ea typeface="微软雅黑" panose="020B0503020204020204" pitchFamily="34" charset="-122"/>
              </a:rPr>
              <a:t>年代中期，</a:t>
            </a:r>
            <a:r>
              <a:rPr lang="en-US" altLang="zh-CN" sz="1400" dirty="0">
                <a:solidFill>
                  <a:srgbClr val="0A0A0A"/>
                </a:solidFill>
                <a:latin typeface="微软雅黑" panose="020B0503020204020204" pitchFamily="34" charset="-122"/>
                <a:ea typeface="微软雅黑" panose="020B0503020204020204" pitchFamily="34" charset="-122"/>
              </a:rPr>
              <a:t>Internet</a:t>
            </a:r>
            <a:r>
              <a:rPr lang="zh-CN" altLang="en-US" sz="1400" b="0" i="0" dirty="0">
                <a:solidFill>
                  <a:srgbClr val="0A0A0A"/>
                </a:solidFill>
                <a:effectLst/>
                <a:latin typeface="微软雅黑" panose="020B0503020204020204" pitchFamily="34" charset="-122"/>
                <a:ea typeface="微软雅黑" panose="020B0503020204020204" pitchFamily="34" charset="-122"/>
              </a:rPr>
              <a:t>横跨北美、欧洲和澳大利亚，成为全球性网络；</a:t>
            </a:r>
            <a:endParaRPr lang="en-US" altLang="zh-CN" sz="1400" b="0" i="0" dirty="0">
              <a:solidFill>
                <a:srgbClr val="0A0A0A"/>
              </a:solidFill>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b="0" i="0" dirty="0">
                <a:solidFill>
                  <a:srgbClr val="0A0A0A"/>
                </a:solidFill>
                <a:effectLst/>
                <a:latin typeface="微软雅黑" panose="020B0503020204020204" pitchFamily="34" charset="-122"/>
                <a:ea typeface="微软雅黑" panose="020B0503020204020204" pitchFamily="34" charset="-122"/>
              </a:rPr>
              <a:t>ARPANET</a:t>
            </a:r>
            <a:r>
              <a:rPr lang="zh-CN" altLang="en-US" sz="1400" b="0" i="0" dirty="0">
                <a:solidFill>
                  <a:srgbClr val="0A0A0A"/>
                </a:solidFill>
                <a:effectLst/>
                <a:latin typeface="微软雅黑" panose="020B0503020204020204" pitchFamily="34" charset="-122"/>
                <a:ea typeface="微软雅黑" panose="020B0503020204020204" pitchFamily="34" charset="-122"/>
              </a:rPr>
              <a:t>网络技术不断升级换代，</a:t>
            </a:r>
            <a:r>
              <a:rPr lang="en-US" altLang="zh-CN" sz="1400" b="0" i="0" dirty="0">
                <a:solidFill>
                  <a:srgbClr val="0A0A0A"/>
                </a:solidFill>
                <a:effectLst/>
                <a:latin typeface="微软雅黑" panose="020B0503020204020204" pitchFamily="34" charset="-122"/>
                <a:ea typeface="微软雅黑" panose="020B0503020204020204" pitchFamily="34" charset="-122"/>
              </a:rPr>
              <a:t>1983</a:t>
            </a:r>
            <a:r>
              <a:rPr lang="zh-CN" altLang="en-US" sz="1400" b="0" i="0" dirty="0">
                <a:solidFill>
                  <a:srgbClr val="0A0A0A"/>
                </a:solidFill>
                <a:effectLst/>
                <a:latin typeface="微软雅黑" panose="020B0503020204020204" pitchFamily="34" charset="-122"/>
                <a:ea typeface="微软雅黑" panose="020B0503020204020204" pitchFamily="34" charset="-122"/>
              </a:rPr>
              <a:t>年，</a:t>
            </a:r>
            <a:r>
              <a:rPr lang="en-US" altLang="zh-CN" sz="1400" b="0" i="0" dirty="0">
                <a:solidFill>
                  <a:srgbClr val="0A0A0A"/>
                </a:solidFill>
                <a:effectLst/>
                <a:latin typeface="微软雅黑" panose="020B0503020204020204" pitchFamily="34" charset="-122"/>
                <a:ea typeface="微软雅黑" panose="020B0503020204020204" pitchFamily="34" charset="-122"/>
              </a:rPr>
              <a:t>ARPANET</a:t>
            </a:r>
            <a:r>
              <a:rPr lang="zh-CN" altLang="en-US" sz="1400" b="0" i="0" dirty="0">
                <a:solidFill>
                  <a:srgbClr val="0A0A0A"/>
                </a:solidFill>
                <a:effectLst/>
                <a:latin typeface="微软雅黑" panose="020B0503020204020204" pitchFamily="34" charset="-122"/>
                <a:ea typeface="微软雅黑" panose="020B0503020204020204" pitchFamily="34" charset="-122"/>
              </a:rPr>
              <a:t>开始采用</a:t>
            </a:r>
            <a:r>
              <a:rPr lang="en-US" altLang="zh-CN" sz="1400" b="0" i="0" dirty="0">
                <a:solidFill>
                  <a:srgbClr val="202122"/>
                </a:solidFill>
                <a:effectLst/>
                <a:latin typeface="Arial" panose="020B0604020202020204" pitchFamily="34" charset="0"/>
              </a:rPr>
              <a:t>TCP/IP</a:t>
            </a:r>
            <a:r>
              <a:rPr lang="zh-CN" altLang="en-US" sz="1400" b="0" i="0" dirty="0">
                <a:solidFill>
                  <a:srgbClr val="202122"/>
                </a:solidFill>
                <a:effectLst/>
                <a:latin typeface="Arial" panose="020B0604020202020204" pitchFamily="34" charset="0"/>
              </a:rPr>
              <a:t>做为通用协议，也被业界作为互联网诞生的标志事件。</a:t>
            </a:r>
            <a:endParaRPr lang="en-US" altLang="zh-CN" sz="14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b="0" i="0" dirty="0">
                <a:solidFill>
                  <a:srgbClr val="202122"/>
                </a:solidFill>
                <a:effectLst/>
                <a:latin typeface="Arial" panose="020B0604020202020204" pitchFamily="34" charset="0"/>
              </a:rPr>
              <a:t>ARPANET</a:t>
            </a:r>
            <a:r>
              <a:rPr lang="zh-CN" altLang="en-US" sz="1400" b="0" i="0" dirty="0">
                <a:solidFill>
                  <a:srgbClr val="202122"/>
                </a:solidFill>
                <a:effectLst/>
                <a:latin typeface="Arial" panose="020B0604020202020204" pitchFamily="34" charset="0"/>
              </a:rPr>
              <a:t>系统在</a:t>
            </a:r>
            <a:r>
              <a:rPr lang="en-US" altLang="zh-CN" sz="1400" b="0" i="0" dirty="0">
                <a:solidFill>
                  <a:srgbClr val="202122"/>
                </a:solidFill>
                <a:effectLst/>
                <a:latin typeface="Arial" panose="020B0604020202020204" pitchFamily="34" charset="0"/>
              </a:rPr>
              <a:t>1989</a:t>
            </a:r>
            <a:r>
              <a:rPr lang="zh-CN" altLang="en-US" sz="1400" b="0" i="0" dirty="0">
                <a:solidFill>
                  <a:srgbClr val="202122"/>
                </a:solidFill>
                <a:effectLst/>
                <a:latin typeface="Arial" panose="020B0604020202020204" pitchFamily="34" charset="0"/>
              </a:rPr>
              <a:t>年被关闭，</a:t>
            </a:r>
            <a:r>
              <a:rPr lang="en-US" altLang="zh-CN" sz="1400" b="0" i="0" dirty="0">
                <a:solidFill>
                  <a:srgbClr val="202122"/>
                </a:solidFill>
                <a:effectLst/>
                <a:latin typeface="Arial" panose="020B0604020202020204" pitchFamily="34" charset="0"/>
              </a:rPr>
              <a:t>1990</a:t>
            </a:r>
            <a:r>
              <a:rPr lang="zh-CN" altLang="en-US" sz="1400" b="0" i="0" dirty="0">
                <a:solidFill>
                  <a:srgbClr val="202122"/>
                </a:solidFill>
                <a:effectLst/>
                <a:latin typeface="Arial" panose="020B0604020202020204" pitchFamily="34" charset="0"/>
              </a:rPr>
              <a:t>年正式退役，被移交给了</a:t>
            </a:r>
            <a:r>
              <a:rPr lang="en-US" altLang="zh-CN" sz="1400" b="0" i="0" dirty="0">
                <a:solidFill>
                  <a:srgbClr val="202122"/>
                </a:solidFill>
                <a:effectLst/>
                <a:latin typeface="Arial" panose="020B0604020202020204" pitchFamily="34" charset="0"/>
              </a:rPr>
              <a:t>NSFNET</a:t>
            </a:r>
            <a:r>
              <a:rPr lang="zh-CN" altLang="en-US" sz="1400" b="0" i="0" dirty="0">
                <a:solidFill>
                  <a:srgbClr val="202122"/>
                </a:solidFill>
                <a:effectLst/>
                <a:latin typeface="Arial" panose="020B0604020202020204" pitchFamily="34" charset="0"/>
              </a:rPr>
              <a:t>；</a:t>
            </a:r>
            <a:endParaRPr lang="en-US" altLang="zh-CN" sz="1400" b="0" i="0" dirty="0">
              <a:solidFill>
                <a:srgbClr val="202122"/>
              </a:solidFill>
              <a:effectLst/>
              <a:latin typeface="Arial" panose="020B0604020202020204" pitchFamily="34" charset="0"/>
            </a:endParaRPr>
          </a:p>
          <a:p>
            <a:endParaRPr lang="en-US" altLang="zh-CN" sz="1400" dirty="0"/>
          </a:p>
          <a:p>
            <a:endParaRPr lang="en-US" altLang="zh-CN" sz="1400" dirty="0"/>
          </a:p>
          <a:p>
            <a:r>
              <a:rPr lang="en-US" altLang="zh-CN" sz="1400" dirty="0"/>
              <a:t>=================</a:t>
            </a:r>
          </a:p>
          <a:p>
            <a:r>
              <a:rPr lang="en-US" altLang="zh-CN" sz="1400" dirty="0"/>
              <a:t>1961 </a:t>
            </a:r>
            <a:r>
              <a:rPr lang="zh-CN" altLang="en-US" sz="1400" dirty="0"/>
              <a:t>年，美国麻省理工学院的 </a:t>
            </a:r>
            <a:r>
              <a:rPr lang="en-US" altLang="zh-CN" sz="1400" dirty="0"/>
              <a:t>Leonard Kleinrock </a:t>
            </a:r>
            <a:r>
              <a:rPr lang="zh-CN" altLang="en-US" sz="1400" dirty="0"/>
              <a:t>发表了第一篇分组交换的论文</a:t>
            </a:r>
            <a:endParaRPr lang="en-US" altLang="zh-CN" sz="1400" dirty="0"/>
          </a:p>
          <a:p>
            <a:r>
              <a:rPr lang="en-US" altLang="zh-CN" sz="1400" dirty="0"/>
              <a:t>1964 </a:t>
            </a:r>
            <a:r>
              <a:rPr lang="zh-CN" altLang="en-US" sz="1400" dirty="0"/>
              <a:t>年，美国兰德公司的 </a:t>
            </a:r>
            <a:r>
              <a:rPr lang="en-US" altLang="zh-CN" sz="1400" dirty="0"/>
              <a:t>Paul Baran </a:t>
            </a:r>
            <a:r>
              <a:rPr lang="zh-CN" altLang="en-US" sz="1400" dirty="0"/>
              <a:t>提出基 于分组交换技术的信息块交换网络（</a:t>
            </a:r>
            <a:r>
              <a:rPr lang="en-US" altLang="zh-CN" sz="1400" dirty="0"/>
              <a:t>Message Block Switching</a:t>
            </a:r>
            <a:r>
              <a:rPr lang="zh-CN" altLang="en-US" sz="1400" dirty="0"/>
              <a:t>），该网络能在核攻击之后也能提供对核导弹的发射控制，以确保二次打击能力。 </a:t>
            </a:r>
            <a:r>
              <a:rPr lang="en-US" altLang="zh-CN" sz="1400" dirty="0"/>
              <a:t>Paul Baran</a:t>
            </a:r>
            <a:r>
              <a:rPr lang="zh-CN" altLang="en-US" sz="1400" dirty="0"/>
              <a:t>的论文深入分析了中心化，去中心化和 分布式的网络拓扑结构，明确指出：任何中心化的网络都不具有抗毁能力，只有分布式的网络拓扑结构才能够在核打击下生存</a:t>
            </a:r>
            <a:r>
              <a:rPr lang="en-US" altLang="zh-CN" sz="1400" dirty="0"/>
              <a:t>[4]</a:t>
            </a:r>
            <a:r>
              <a:rPr lang="zh-CN" altLang="en-US" sz="1400" dirty="0"/>
              <a:t>。无中心但又能互联互通是传统电话网所无法做到的事情，必须在理念上和技术上有革命性的创新。 </a:t>
            </a:r>
            <a:endParaRPr lang="en-US" altLang="zh-CN" sz="1400" dirty="0"/>
          </a:p>
          <a:p>
            <a:r>
              <a:rPr lang="en-US" altLang="zh-CN" sz="1400" dirty="0"/>
              <a:t>1965 </a:t>
            </a:r>
            <a:r>
              <a:rPr lang="zh-CN" altLang="en-US" sz="1400" dirty="0"/>
              <a:t>年，英格兰国家物理实验室的 </a:t>
            </a:r>
            <a:r>
              <a:rPr lang="en-US" altLang="zh-CN" sz="1400" dirty="0"/>
              <a:t>Donald Davies </a:t>
            </a:r>
            <a:r>
              <a:rPr lang="zh-CN" altLang="en-US" sz="1400" dirty="0"/>
              <a:t>也提出分组交换的概念和术语（</a:t>
            </a:r>
            <a:r>
              <a:rPr lang="en-US" altLang="zh-CN" sz="1400" dirty="0"/>
              <a:t>Packet Switching</a:t>
            </a:r>
            <a:r>
              <a:rPr lang="zh-CN" altLang="en-US" sz="1400" dirty="0"/>
              <a:t>），其目标是振兴英国计算机行业和商业 应用，其后实现了英国 </a:t>
            </a:r>
            <a:r>
              <a:rPr lang="en-US" altLang="zh-CN" sz="1400" dirty="0"/>
              <a:t>NPL </a:t>
            </a:r>
            <a:r>
              <a:rPr lang="zh-CN" altLang="en-US" sz="1400" dirty="0"/>
              <a:t>的试验分组网络</a:t>
            </a:r>
            <a:r>
              <a:rPr lang="en-US" altLang="zh-CN" sz="1400" dirty="0"/>
              <a:t>[5]</a:t>
            </a:r>
            <a:r>
              <a:rPr lang="zh-CN" altLang="en-US" sz="1400" dirty="0"/>
              <a:t>。和很多工程系统不同，互联网并没有设计蓝图，也不是个别天才人物想出来的，而是全世界 千万名计算机和电子工程科学家和工程师在实践中试错，演进而来的。</a:t>
            </a:r>
            <a:endParaRPr lang="en-US" altLang="zh-CN" sz="1400" dirty="0"/>
          </a:p>
          <a:p>
            <a:endParaRPr lang="zh-CN" altLang="en-US"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104</a:t>
            </a:fld>
            <a:endParaRPr kumimoji="1" lang="zh-CN" altLang="en-US"/>
          </a:p>
        </p:txBody>
      </p:sp>
    </p:spTree>
    <p:extLst>
      <p:ext uri="{BB962C8B-B14F-4D97-AF65-F5344CB8AC3E}">
        <p14:creationId xmlns:p14="http://schemas.microsoft.com/office/powerpoint/2010/main" val="19977705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dirty="0"/>
              <a:t>事实上，多国都有建立网络互联的计划，包括美国，英国，法国，苏联等，</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最终美国发起的</a:t>
            </a:r>
            <a:r>
              <a:rPr lang="en-US" altLang="zh-CN" sz="1400" dirty="0"/>
              <a:t>ARPNET</a:t>
            </a:r>
            <a:r>
              <a:rPr lang="zh-CN" altLang="en-US" sz="1400" dirty="0"/>
              <a:t>胜出，成为今天的互联网</a:t>
            </a:r>
            <a:endParaRPr lang="zh-CN" altLang="en-US" sz="14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之所以美国能够成功，与</a:t>
            </a:r>
            <a:r>
              <a:rPr lang="zh-CN" altLang="en-US" sz="1400" dirty="0">
                <a:latin typeface="微软雅黑" panose="020B0503020204020204" pitchFamily="34" charset="-122"/>
                <a:ea typeface="微软雅黑" panose="020B0503020204020204" pitchFamily="34" charset="-122"/>
              </a:rPr>
              <a:t>叛逆思想、军方战略、充足经费、市场经济、精英团队要素密切相关；</a:t>
            </a:r>
            <a:endParaRPr lang="en-US" altLang="zh-CN" sz="1400" dirty="0">
              <a:latin typeface="微软雅黑" panose="020B0503020204020204" pitchFamily="34" charset="-122"/>
              <a:ea typeface="微软雅黑" panose="020B0503020204020204" pitchFamily="34" charset="-122"/>
            </a:endParaRPr>
          </a:p>
          <a:p>
            <a:r>
              <a:rPr lang="zh-CN" altLang="en-US" sz="1400" dirty="0"/>
              <a:t>包括</a:t>
            </a:r>
            <a:r>
              <a:rPr lang="en-US" altLang="zh-CN" sz="1400" dirty="0"/>
              <a:t>www</a:t>
            </a:r>
            <a:r>
              <a:rPr lang="zh-CN" altLang="en-US" sz="1400" dirty="0"/>
              <a:t>和</a:t>
            </a:r>
            <a:r>
              <a:rPr lang="en-US" altLang="zh-CN" sz="1400" dirty="0"/>
              <a:t>Linux</a:t>
            </a:r>
            <a:r>
              <a:rPr lang="zh-CN" altLang="en-US" sz="1400" dirty="0"/>
              <a:t>也都是欧洲发明的，但真正的发展壮大也都在美国，如</a:t>
            </a:r>
            <a:r>
              <a:rPr lang="en-US" altLang="zh-CN" sz="1400" dirty="0"/>
              <a:t>Linux</a:t>
            </a:r>
            <a:r>
              <a:rPr lang="zh-CN" altLang="en-US" sz="1400" dirty="0"/>
              <a:t>基金会在美国，这与左边的</a:t>
            </a:r>
            <a:r>
              <a:rPr lang="en-US" altLang="zh-CN" sz="1400" dirty="0"/>
              <a:t>5</a:t>
            </a:r>
            <a:r>
              <a:rPr lang="zh-CN" altLang="en-US" sz="1400" dirty="0"/>
              <a:t>个条件相关。</a:t>
            </a:r>
            <a:endParaRPr lang="en-US" altLang="zh-CN" sz="14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105</a:t>
            </a:fld>
            <a:endParaRPr kumimoji="1" lang="zh-CN" altLang="en-US"/>
          </a:p>
        </p:txBody>
      </p:sp>
    </p:spTree>
    <p:extLst>
      <p:ext uri="{BB962C8B-B14F-4D97-AF65-F5344CB8AC3E}">
        <p14:creationId xmlns:p14="http://schemas.microsoft.com/office/powerpoint/2010/main" val="23261890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微软雅黑" panose="020B0503020204020204" pitchFamily="34" charset="-122"/>
                <a:ea typeface="微软雅黑" panose="020B0503020204020204" pitchFamily="34" charset="-122"/>
              </a:rPr>
              <a:t>从互联网早期发展的过程中我们得到这些启示</a:t>
            </a:r>
            <a:endParaRPr lang="en-US" altLang="zh-CN" sz="18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106</a:t>
            </a:fld>
            <a:endParaRPr kumimoji="1" lang="zh-CN" altLang="en-US"/>
          </a:p>
        </p:txBody>
      </p:sp>
    </p:spTree>
    <p:extLst>
      <p:ext uri="{BB962C8B-B14F-4D97-AF65-F5344CB8AC3E}">
        <p14:creationId xmlns:p14="http://schemas.microsoft.com/office/powerpoint/2010/main" val="33427570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latin typeface="Microsoft YaHei" panose="020B0503020204020204" pitchFamily="34" charset="-122"/>
                <a:ea typeface="Microsoft YaHei" panose="020B0503020204020204" pitchFamily="34" charset="-122"/>
              </a:rPr>
              <a:t>1993 </a:t>
            </a:r>
            <a:r>
              <a:rPr lang="zh-CN" altLang="en-US" sz="1400" dirty="0">
                <a:latin typeface="Microsoft YaHei" panose="020B0503020204020204" pitchFamily="34" charset="-122"/>
                <a:ea typeface="Microsoft YaHei" panose="020B0503020204020204" pitchFamily="34" charset="-122"/>
              </a:rPr>
              <a:t>年，</a:t>
            </a:r>
            <a:r>
              <a:rPr lang="en-US" altLang="zh-CN" sz="1400" dirty="0">
                <a:latin typeface="Microsoft YaHei" panose="020B0503020204020204" pitchFamily="34" charset="-122"/>
                <a:ea typeface="Microsoft YaHei" panose="020B0503020204020204" pitchFamily="34" charset="-122"/>
              </a:rPr>
              <a:t>Eric Bina </a:t>
            </a:r>
            <a:r>
              <a:rPr lang="zh-CN" altLang="en-US" sz="1400" dirty="0">
                <a:latin typeface="Microsoft YaHei" panose="020B0503020204020204" pitchFamily="34" charset="-122"/>
                <a:ea typeface="Microsoft YaHei" panose="020B0503020204020204" pitchFamily="34" charset="-122"/>
              </a:rPr>
              <a:t>和 </a:t>
            </a:r>
            <a:r>
              <a:rPr lang="en-US" altLang="zh-CN" sz="1400" dirty="0">
                <a:latin typeface="Microsoft YaHei" panose="020B0503020204020204" pitchFamily="34" charset="-122"/>
                <a:ea typeface="Microsoft YaHei" panose="020B0503020204020204" pitchFamily="34" charset="-122"/>
              </a:rPr>
              <a:t>Marc Andreesen </a:t>
            </a:r>
            <a:r>
              <a:rPr lang="zh-CN" altLang="en-US" sz="1400" dirty="0">
                <a:latin typeface="Microsoft YaHei" panose="020B0503020204020204" pitchFamily="34" charset="-122"/>
                <a:ea typeface="Microsoft YaHei" panose="020B0503020204020204" pitchFamily="34" charset="-122"/>
              </a:rPr>
              <a:t>开发出 </a:t>
            </a:r>
            <a:r>
              <a:rPr lang="en-US" altLang="zh-CN" sz="1400" dirty="0">
                <a:latin typeface="Microsoft YaHei" panose="020B0503020204020204" pitchFamily="34" charset="-122"/>
                <a:ea typeface="Microsoft YaHei" panose="020B0503020204020204" pitchFamily="34" charset="-122"/>
              </a:rPr>
              <a:t>Mosaic </a:t>
            </a:r>
            <a:r>
              <a:rPr lang="zh-CN" altLang="en-US" sz="1400" dirty="0">
                <a:latin typeface="Microsoft YaHei" panose="020B0503020204020204" pitchFamily="34" charset="-122"/>
                <a:ea typeface="Microsoft YaHei" panose="020B0503020204020204" pitchFamily="34" charset="-122"/>
              </a:rPr>
              <a:t>浏览器</a:t>
            </a:r>
            <a:endParaRPr lang="en-US" altLang="zh-CN" sz="14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次年，在欧盟委员会和国防高等 研究计划署（</a:t>
            </a:r>
            <a:r>
              <a:rPr lang="en-US" altLang="zh-CN" sz="1400" dirty="0">
                <a:latin typeface="Microsoft YaHei" panose="020B0503020204020204" pitchFamily="34" charset="-122"/>
                <a:ea typeface="Microsoft YaHei" panose="020B0503020204020204" pitchFamily="34" charset="-122"/>
              </a:rPr>
              <a:t>DARPA</a:t>
            </a:r>
            <a:r>
              <a:rPr lang="zh-CN" altLang="en-US" sz="1400" dirty="0">
                <a:latin typeface="Microsoft YaHei" panose="020B0503020204020204" pitchFamily="34" charset="-122"/>
                <a:ea typeface="Microsoft YaHei" panose="020B0503020204020204" pitchFamily="34" charset="-122"/>
              </a:rPr>
              <a:t>）的支持下 </a:t>
            </a:r>
            <a:r>
              <a:rPr lang="en-US" altLang="zh-CN" sz="1400" dirty="0">
                <a:latin typeface="Microsoft YaHei" panose="020B0503020204020204" pitchFamily="34" charset="-122"/>
                <a:ea typeface="Microsoft YaHei" panose="020B0503020204020204" pitchFamily="34" charset="-122"/>
              </a:rPr>
              <a:t>Tim Berners- Lee </a:t>
            </a:r>
            <a:r>
              <a:rPr lang="zh-CN" altLang="en-US" sz="1400" dirty="0">
                <a:latin typeface="Microsoft YaHei" panose="020B0503020204020204" pitchFamily="34" charset="-122"/>
                <a:ea typeface="Microsoft YaHei" panose="020B0503020204020204" pitchFamily="34" charset="-122"/>
              </a:rPr>
              <a:t>在美国麻省理工学院成立了万维网联盟（</a:t>
            </a:r>
            <a:r>
              <a:rPr lang="en-US" altLang="zh-CN" sz="1400" dirty="0">
                <a:latin typeface="Microsoft YaHei" panose="020B0503020204020204" pitchFamily="34" charset="-122"/>
                <a:ea typeface="Microsoft YaHei" panose="020B0503020204020204" pitchFamily="34" charset="-122"/>
              </a:rPr>
              <a:t>W3C</a:t>
            </a:r>
            <a:r>
              <a:rPr lang="zh-CN" altLang="en-US" sz="1400" dirty="0">
                <a:latin typeface="Microsoft YaHei" panose="020B0503020204020204" pitchFamily="34" charset="-122"/>
                <a:ea typeface="Microsoft YaHei" panose="020B0503020204020204" pitchFamily="34" charset="-122"/>
              </a:rPr>
              <a:t>）</a:t>
            </a:r>
            <a:endParaRPr lang="en-US" altLang="zh-CN" sz="1400" dirty="0">
              <a:latin typeface="Microsoft YaHei" panose="020B0503020204020204" pitchFamily="34" charset="-122"/>
              <a:ea typeface="Microsoft YaHei" panose="020B0503020204020204" pitchFamily="34" charset="-122"/>
            </a:endParaRPr>
          </a:p>
          <a:p>
            <a:r>
              <a:rPr lang="en-US" altLang="zh-CN" sz="1400" dirty="0">
                <a:latin typeface="Microsoft YaHei" panose="020B0503020204020204" pitchFamily="34" charset="-122"/>
                <a:ea typeface="Microsoft YaHei" panose="020B0503020204020204" pitchFamily="34" charset="-122"/>
              </a:rPr>
              <a:t>1995 </a:t>
            </a:r>
            <a:r>
              <a:rPr lang="zh-CN" altLang="en-US" sz="1400" dirty="0">
                <a:latin typeface="Microsoft YaHei" panose="020B0503020204020204" pitchFamily="34" charset="-122"/>
                <a:ea typeface="Microsoft YaHei" panose="020B0503020204020204" pitchFamily="34" charset="-122"/>
              </a:rPr>
              <a:t>年，商业界和政府均认识到由私营部门提供互联网服务是一个可行的和有商业前景的发展方向，导致 </a:t>
            </a:r>
            <a:r>
              <a:rPr lang="en-US" altLang="zh-CN" sz="1400" dirty="0">
                <a:latin typeface="Microsoft YaHei" panose="020B0503020204020204" pitchFamily="34" charset="-122"/>
                <a:ea typeface="Microsoft YaHei" panose="020B0503020204020204" pitchFamily="34" charset="-122"/>
              </a:rPr>
              <a:t>NSFNET </a:t>
            </a:r>
            <a:r>
              <a:rPr lang="zh-CN" altLang="en-US" sz="1400" dirty="0">
                <a:latin typeface="Microsoft YaHei" panose="020B0503020204020204" pitchFamily="34" charset="-122"/>
                <a:ea typeface="Microsoft YaHei" panose="020B0503020204020204" pitchFamily="34" charset="-122"/>
              </a:rPr>
              <a:t>退役，由商业网络提供商取代。</a:t>
            </a:r>
            <a:endParaRPr lang="en-US" altLang="zh-CN" sz="1400" dirty="0">
              <a:latin typeface="Microsoft YaHei" panose="020B0503020204020204" pitchFamily="34" charset="-122"/>
              <a:ea typeface="Microsoft YaHei" panose="020B0503020204020204" pitchFamily="34" charset="-122"/>
            </a:endParaRPr>
          </a:p>
          <a:p>
            <a:r>
              <a:rPr lang="en-US" altLang="zh-CN" sz="1400" b="0" i="0" dirty="0">
                <a:solidFill>
                  <a:srgbClr val="121212"/>
                </a:solidFill>
                <a:effectLst/>
                <a:latin typeface="Microsoft YaHei" panose="020B0503020204020204" pitchFamily="34" charset="-122"/>
                <a:ea typeface="Microsoft YaHei" panose="020B0503020204020204" pitchFamily="34" charset="-122"/>
              </a:rPr>
              <a:t>Netscape</a:t>
            </a:r>
            <a:r>
              <a:rPr lang="zh-CN" altLang="en-US" sz="1400" b="0" i="0" dirty="0">
                <a:solidFill>
                  <a:srgbClr val="121212"/>
                </a:solidFill>
                <a:effectLst/>
                <a:latin typeface="Microsoft YaHei" panose="020B0503020204020204" pitchFamily="34" charset="-122"/>
                <a:ea typeface="Microsoft YaHei" panose="020B0503020204020204" pitchFamily="34" charset="-122"/>
              </a:rPr>
              <a:t>在</a:t>
            </a:r>
            <a:r>
              <a:rPr lang="en-US" altLang="zh-CN" sz="1400" b="0" i="0" dirty="0">
                <a:solidFill>
                  <a:srgbClr val="121212"/>
                </a:solidFill>
                <a:effectLst/>
                <a:latin typeface="Microsoft YaHei" panose="020B0503020204020204" pitchFamily="34" charset="-122"/>
                <a:ea typeface="Microsoft YaHei" panose="020B0503020204020204" pitchFamily="34" charset="-122"/>
              </a:rPr>
              <a:t>1994</a:t>
            </a:r>
            <a:r>
              <a:rPr lang="zh-CN" altLang="en-US" sz="1400" b="0" i="0" dirty="0">
                <a:solidFill>
                  <a:srgbClr val="121212"/>
                </a:solidFill>
                <a:effectLst/>
                <a:latin typeface="Microsoft YaHei" panose="020B0503020204020204" pitchFamily="34" charset="-122"/>
                <a:ea typeface="Microsoft YaHei" panose="020B0503020204020204" pitchFamily="34" charset="-122"/>
              </a:rPr>
              <a:t>年成立，第二年就上市了，发行价</a:t>
            </a:r>
            <a:r>
              <a:rPr lang="en-US" altLang="zh-CN" sz="1400" b="0" i="0" dirty="0">
                <a:solidFill>
                  <a:srgbClr val="121212"/>
                </a:solidFill>
                <a:effectLst/>
                <a:latin typeface="Microsoft YaHei" panose="020B0503020204020204" pitchFamily="34" charset="-122"/>
                <a:ea typeface="Microsoft YaHei" panose="020B0503020204020204" pitchFamily="34" charset="-122"/>
              </a:rPr>
              <a:t>28</a:t>
            </a:r>
            <a:r>
              <a:rPr lang="zh-CN" altLang="en-US" sz="1400" b="0" i="0" dirty="0">
                <a:solidFill>
                  <a:srgbClr val="121212"/>
                </a:solidFill>
                <a:effectLst/>
                <a:latin typeface="Microsoft YaHei" panose="020B0503020204020204" pitchFamily="34" charset="-122"/>
                <a:ea typeface="Microsoft YaHei" panose="020B0503020204020204" pitchFamily="34" charset="-122"/>
              </a:rPr>
              <a:t>美元，上市第一天最高就涨到了</a:t>
            </a:r>
            <a:r>
              <a:rPr lang="en-US" altLang="zh-CN" sz="1400" b="0" i="0" dirty="0">
                <a:solidFill>
                  <a:srgbClr val="121212"/>
                </a:solidFill>
                <a:effectLst/>
                <a:latin typeface="Microsoft YaHei" panose="020B0503020204020204" pitchFamily="34" charset="-122"/>
                <a:ea typeface="Microsoft YaHei" panose="020B0503020204020204" pitchFamily="34" charset="-122"/>
              </a:rPr>
              <a:t>75</a:t>
            </a:r>
            <a:r>
              <a:rPr lang="zh-CN" altLang="en-US" sz="1400" b="0" i="0" dirty="0">
                <a:solidFill>
                  <a:srgbClr val="121212"/>
                </a:solidFill>
                <a:effectLst/>
                <a:latin typeface="Microsoft YaHei" panose="020B0503020204020204" pitchFamily="34" charset="-122"/>
                <a:ea typeface="Microsoft YaHei" panose="020B0503020204020204" pitchFamily="34" charset="-122"/>
              </a:rPr>
              <a:t>美元，最后收盘时公司市值</a:t>
            </a:r>
            <a:r>
              <a:rPr lang="en-US" altLang="zh-CN" sz="1400" b="1" i="0" dirty="0">
                <a:solidFill>
                  <a:srgbClr val="121212"/>
                </a:solidFill>
                <a:effectLst/>
                <a:latin typeface="Microsoft YaHei" panose="020B0503020204020204" pitchFamily="34" charset="-122"/>
                <a:ea typeface="Microsoft YaHei" panose="020B0503020204020204" pitchFamily="34" charset="-122"/>
              </a:rPr>
              <a:t>29</a:t>
            </a:r>
            <a:r>
              <a:rPr lang="zh-CN" altLang="en-US" sz="1400" b="1" i="0" dirty="0">
                <a:solidFill>
                  <a:srgbClr val="121212"/>
                </a:solidFill>
                <a:effectLst/>
                <a:latin typeface="Microsoft YaHei" panose="020B0503020204020204" pitchFamily="34" charset="-122"/>
                <a:ea typeface="Microsoft YaHei" panose="020B0503020204020204" pitchFamily="34" charset="-122"/>
              </a:rPr>
              <a:t>亿美元</a:t>
            </a:r>
            <a:r>
              <a:rPr lang="zh-CN" altLang="en-US" sz="1400" b="0" i="0" dirty="0">
                <a:solidFill>
                  <a:srgbClr val="121212"/>
                </a:solidFill>
                <a:effectLst/>
                <a:latin typeface="Microsoft YaHei" panose="020B0503020204020204" pitchFamily="34" charset="-122"/>
                <a:ea typeface="Microsoft YaHei" panose="020B0503020204020204" pitchFamily="34" charset="-122"/>
              </a:rPr>
              <a:t>！美国百年企业通用动力公司花了</a:t>
            </a:r>
            <a:r>
              <a:rPr lang="en-US" altLang="zh-CN" sz="1400" b="0" i="0" dirty="0">
                <a:solidFill>
                  <a:srgbClr val="121212"/>
                </a:solidFill>
                <a:effectLst/>
                <a:latin typeface="Microsoft YaHei" panose="020B0503020204020204" pitchFamily="34" charset="-122"/>
                <a:ea typeface="Microsoft YaHei" panose="020B0503020204020204" pitchFamily="34" charset="-122"/>
              </a:rPr>
              <a:t>43</a:t>
            </a:r>
            <a:r>
              <a:rPr lang="zh-CN" altLang="en-US" sz="1400" b="0" i="0" dirty="0">
                <a:solidFill>
                  <a:srgbClr val="121212"/>
                </a:solidFill>
                <a:effectLst/>
                <a:latin typeface="Microsoft YaHei" panose="020B0503020204020204" pitchFamily="34" charset="-122"/>
                <a:ea typeface="Microsoft YaHei" panose="020B0503020204020204" pitchFamily="34" charset="-122"/>
              </a:rPr>
              <a:t>年才能达到的市值。</a:t>
            </a:r>
            <a:endParaRPr lang="en-US" altLang="zh-CN" sz="1400" b="0" i="0" dirty="0">
              <a:solidFill>
                <a:srgbClr val="121212"/>
              </a:solidFill>
              <a:effectLst/>
              <a:latin typeface="Microsoft YaHei" panose="020B0503020204020204" pitchFamily="34" charset="-122"/>
              <a:ea typeface="Microsoft YaHei" panose="020B0503020204020204" pitchFamily="34" charset="-122"/>
            </a:endParaRPr>
          </a:p>
          <a:p>
            <a:r>
              <a:rPr lang="en-US" altLang="zh-CN" sz="1400" dirty="0">
                <a:solidFill>
                  <a:srgbClr val="C00000"/>
                </a:solidFill>
                <a:latin typeface="微软雅黑" panose="020B0503020204020204" pitchFamily="34" charset="-122"/>
                <a:ea typeface="微软雅黑" panose="020B0503020204020204" pitchFamily="34" charset="-122"/>
              </a:rPr>
              <a:t>Netscape/</a:t>
            </a:r>
            <a:r>
              <a:rPr lang="zh-CN" altLang="en-US" sz="1400" dirty="0">
                <a:solidFill>
                  <a:srgbClr val="C00000"/>
                </a:solidFill>
                <a:latin typeface="微软雅黑" panose="020B0503020204020204" pitchFamily="34" charset="-122"/>
                <a:ea typeface="微软雅黑" panose="020B0503020204020204" pitchFamily="34" charset="-122"/>
              </a:rPr>
              <a:t>微软</a:t>
            </a:r>
            <a:r>
              <a:rPr lang="en-US" altLang="zh-CN" sz="1400" dirty="0">
                <a:solidFill>
                  <a:srgbClr val="C00000"/>
                </a:solidFill>
                <a:latin typeface="微软雅黑" panose="020B0503020204020204" pitchFamily="34" charset="-122"/>
                <a:ea typeface="微软雅黑" panose="020B0503020204020204" pitchFamily="34" charset="-122"/>
              </a:rPr>
              <a:t>IE</a:t>
            </a:r>
            <a:r>
              <a:rPr lang="zh-CN" altLang="en-US" sz="1400" dirty="0">
                <a:solidFill>
                  <a:srgbClr val="C00000"/>
                </a:solidFill>
                <a:latin typeface="微软雅黑" panose="020B0503020204020204" pitchFamily="34" charset="-122"/>
                <a:ea typeface="微软雅黑" panose="020B0503020204020204" pitchFamily="34" charset="-122"/>
              </a:rPr>
              <a:t>世纪之争 </a:t>
            </a:r>
            <a:r>
              <a:rPr lang="en-US" altLang="zh-CN" sz="1400" b="0" i="0" dirty="0">
                <a:solidFill>
                  <a:srgbClr val="121212"/>
                </a:solidFill>
                <a:effectLst/>
                <a:latin typeface="Microsoft YaHei" panose="020B0503020204020204" pitchFamily="34" charset="-122"/>
                <a:ea typeface="Microsoft YaHei" panose="020B0503020204020204" pitchFamily="34" charset="-122"/>
              </a:rPr>
              <a:t>https://</a:t>
            </a:r>
            <a:r>
              <a:rPr lang="en-US" altLang="zh-CN" sz="1400" b="0" i="0" dirty="0" err="1">
                <a:solidFill>
                  <a:srgbClr val="121212"/>
                </a:solidFill>
                <a:effectLst/>
                <a:latin typeface="Microsoft YaHei" panose="020B0503020204020204" pitchFamily="34" charset="-122"/>
                <a:ea typeface="Microsoft YaHei" panose="020B0503020204020204" pitchFamily="34" charset="-122"/>
              </a:rPr>
              <a:t>blog.csdn.net</a:t>
            </a:r>
            <a:r>
              <a:rPr lang="en-US" altLang="zh-CN" sz="1400" b="0" i="0" dirty="0">
                <a:solidFill>
                  <a:srgbClr val="121212"/>
                </a:solidFill>
                <a:effectLst/>
                <a:latin typeface="Microsoft YaHei" panose="020B0503020204020204" pitchFamily="34" charset="-122"/>
                <a:ea typeface="Microsoft YaHei" panose="020B0503020204020204" pitchFamily="34" charset="-122"/>
              </a:rPr>
              <a:t>/sxzxiaofeng168/article/details/100031347</a:t>
            </a:r>
          </a:p>
          <a:p>
            <a:endParaRPr lang="en-US" altLang="zh-CN" sz="1400" b="0" i="0" dirty="0">
              <a:solidFill>
                <a:srgbClr val="121212"/>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latin typeface="Microsoft YaHei" panose="020B0503020204020204" pitchFamily="34" charset="-122"/>
                <a:ea typeface="Microsoft YaHei" panose="020B0503020204020204" pitchFamily="34" charset="-122"/>
              </a:rPr>
              <a:t>2000 </a:t>
            </a:r>
            <a:r>
              <a:rPr lang="zh-CN" altLang="en-US" sz="1400" dirty="0">
                <a:latin typeface="Microsoft YaHei" panose="020B0503020204020204" pitchFamily="34" charset="-122"/>
                <a:ea typeface="Microsoft YaHei" panose="020B0503020204020204" pitchFamily="34" charset="-122"/>
              </a:rPr>
              <a:t>年，互联网泡沫破灭。，进入低调发展阶段，期间仍然诞生了很多知名的互联网公司：</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333333"/>
                </a:solidFill>
                <a:latin typeface="Microsoft YaHei" panose="020B0503020204020204" pitchFamily="34" charset="-122"/>
                <a:ea typeface="Microsoft YaHei" panose="020B0503020204020204" pitchFamily="34" charset="-122"/>
              </a:rPr>
              <a:t>Myspace</a:t>
            </a:r>
            <a:r>
              <a:rPr lang="zh-CN" altLang="en-US" sz="1400" dirty="0">
                <a:solidFill>
                  <a:srgbClr val="333333"/>
                </a:solidFill>
                <a:latin typeface="Microsoft YaHei" panose="020B0503020204020204" pitchFamily="34" charset="-122"/>
                <a:ea typeface="Microsoft YaHei" panose="020B0503020204020204" pitchFamily="34" charset="-122"/>
              </a:rPr>
              <a:t>、</a:t>
            </a:r>
            <a:r>
              <a:rPr lang="en-US" altLang="zh-CN" sz="1400" dirty="0">
                <a:solidFill>
                  <a:srgbClr val="333333"/>
                </a:solidFill>
                <a:latin typeface="Microsoft YaHei" panose="020B0503020204020204" pitchFamily="34" charset="-122"/>
                <a:ea typeface="Microsoft YaHei" panose="020B0503020204020204" pitchFamily="34" charset="-122"/>
              </a:rPr>
              <a:t>Skype</a:t>
            </a:r>
            <a:r>
              <a:rPr lang="zh-CN" altLang="en-US" sz="1400" dirty="0">
                <a:solidFill>
                  <a:srgbClr val="333333"/>
                </a:solidFill>
                <a:latin typeface="Microsoft YaHei" panose="020B0503020204020204" pitchFamily="34" charset="-122"/>
                <a:ea typeface="Microsoft YaHei" panose="020B0503020204020204" pitchFamily="34" charset="-122"/>
              </a:rPr>
              <a:t>、</a:t>
            </a:r>
            <a:r>
              <a:rPr lang="en-US" altLang="zh-CN" sz="1400" dirty="0">
                <a:solidFill>
                  <a:srgbClr val="333333"/>
                </a:solidFill>
                <a:latin typeface="Microsoft YaHei" panose="020B0503020204020204" pitchFamily="34" charset="-122"/>
                <a:ea typeface="Microsoft YaHei" panose="020B0503020204020204" pitchFamily="34" charset="-122"/>
              </a:rPr>
              <a:t>Safari</a:t>
            </a:r>
            <a:r>
              <a:rPr lang="zh-CN" altLang="en-US" sz="1400" dirty="0">
                <a:solidFill>
                  <a:srgbClr val="333333"/>
                </a:solidFill>
                <a:latin typeface="Microsoft YaHei" panose="020B0503020204020204" pitchFamily="34" charset="-122"/>
                <a:ea typeface="Microsoft YaHei" panose="020B0503020204020204" pitchFamily="34" charset="-122"/>
              </a:rPr>
              <a:t>，</a:t>
            </a:r>
            <a:r>
              <a:rPr lang="en-US" altLang="zh-CN" sz="1400" dirty="0">
                <a:solidFill>
                  <a:srgbClr val="333333"/>
                </a:solidFill>
                <a:latin typeface="Microsoft YaHei" panose="020B0503020204020204" pitchFamily="34" charset="-122"/>
                <a:ea typeface="Microsoft YaHei" panose="020B0503020204020204" pitchFamily="34" charset="-122"/>
              </a:rPr>
              <a:t>Facebook</a:t>
            </a:r>
            <a:r>
              <a:rPr lang="zh-CN" altLang="en-US" sz="1400" dirty="0">
                <a:solidFill>
                  <a:srgbClr val="333333"/>
                </a:solidFill>
                <a:latin typeface="Microsoft YaHei" panose="020B0503020204020204" pitchFamily="34" charset="-122"/>
                <a:ea typeface="Microsoft YaHei" panose="020B0503020204020204" pitchFamily="34" charset="-122"/>
              </a:rPr>
              <a:t>，</a:t>
            </a:r>
            <a:r>
              <a:rPr lang="en-US" altLang="zh-CN" sz="1400" dirty="0">
                <a:solidFill>
                  <a:srgbClr val="333333"/>
                </a:solidFill>
                <a:latin typeface="Microsoft YaHei" panose="020B0503020204020204" pitchFamily="34" charset="-122"/>
                <a:ea typeface="Microsoft YaHei" panose="020B0503020204020204" pitchFamily="34" charset="-122"/>
              </a:rPr>
              <a:t>Twitter</a:t>
            </a:r>
            <a:r>
              <a:rPr lang="zh-CN" altLang="en-US" sz="1400" dirty="0">
                <a:solidFill>
                  <a:srgbClr val="333333"/>
                </a:solidFill>
                <a:latin typeface="Microsoft YaHei" panose="020B0503020204020204" pitchFamily="34" charset="-122"/>
                <a:ea typeface="Microsoft YaHei" panose="020B0503020204020204" pitchFamily="34" charset="-122"/>
              </a:rPr>
              <a:t>，</a:t>
            </a:r>
            <a:r>
              <a:rPr lang="en-US" altLang="zh-CN" sz="1400" dirty="0" err="1">
                <a:solidFill>
                  <a:srgbClr val="333333"/>
                </a:solidFill>
                <a:latin typeface="Microsoft YaHei" panose="020B0503020204020204" pitchFamily="34" charset="-122"/>
                <a:ea typeface="Microsoft YaHei" panose="020B0503020204020204" pitchFamily="34" charset="-122"/>
              </a:rPr>
              <a:t>youtube</a:t>
            </a:r>
            <a:r>
              <a:rPr lang="zh-CN" altLang="en-US" sz="1400" dirty="0">
                <a:solidFill>
                  <a:srgbClr val="333333"/>
                </a:solidFill>
                <a:latin typeface="Microsoft YaHei" panose="020B0503020204020204" pitchFamily="34" charset="-122"/>
                <a:ea typeface="Microsoft YaHei" panose="020B0503020204020204" pitchFamily="34" charset="-122"/>
              </a:rPr>
              <a:t>，土豆，</a:t>
            </a:r>
            <a:r>
              <a:rPr lang="en-US" altLang="zh-CN" sz="1400" dirty="0" err="1">
                <a:solidFill>
                  <a:srgbClr val="333333"/>
                </a:solidFill>
                <a:latin typeface="Microsoft YaHei" panose="020B0503020204020204" pitchFamily="34" charset="-122"/>
                <a:ea typeface="Microsoft YaHei" panose="020B0503020204020204" pitchFamily="34" charset="-122"/>
              </a:rPr>
              <a:t>youku</a:t>
            </a:r>
            <a:endParaRPr lang="en-US" altLang="zh-CN" sz="1400" dirty="0">
              <a:latin typeface="Microsoft YaHei" panose="020B0503020204020204" pitchFamily="34" charset="-122"/>
              <a:ea typeface="Microsoft YaHei" panose="020B0503020204020204" pitchFamily="34" charset="-122"/>
            </a:endParaRPr>
          </a:p>
          <a:p>
            <a:r>
              <a:rPr lang="en-US" altLang="zh-CN" sz="1400" dirty="0">
                <a:latin typeface="Microsoft YaHei" panose="020B0503020204020204" pitchFamily="34" charset="-122"/>
                <a:ea typeface="Microsoft YaHei" panose="020B0503020204020204" pitchFamily="34" charset="-122"/>
              </a:rPr>
              <a:t>2007 </a:t>
            </a:r>
            <a:r>
              <a:rPr lang="zh-CN" altLang="en-US" sz="1400" dirty="0">
                <a:latin typeface="Microsoft YaHei" panose="020B0503020204020204" pitchFamily="34" charset="-122"/>
                <a:ea typeface="Microsoft YaHei" panose="020B0503020204020204" pitchFamily="34" charset="-122"/>
              </a:rPr>
              <a:t>年，美国苹果公司推出 </a:t>
            </a:r>
            <a:r>
              <a:rPr lang="en-US" altLang="zh-CN" sz="1400" dirty="0">
                <a:latin typeface="Microsoft YaHei" panose="020B0503020204020204" pitchFamily="34" charset="-122"/>
                <a:ea typeface="Microsoft YaHei" panose="020B0503020204020204" pitchFamily="34" charset="-122"/>
              </a:rPr>
              <a:t>iPhone </a:t>
            </a:r>
            <a:r>
              <a:rPr lang="zh-CN" altLang="en-US" sz="1400" dirty="0">
                <a:latin typeface="Microsoft YaHei" panose="020B0503020204020204" pitchFamily="34" charset="-122"/>
                <a:ea typeface="Microsoft YaHei" panose="020B0503020204020204" pitchFamily="34" charset="-122"/>
              </a:rPr>
              <a:t>手机。 </a:t>
            </a:r>
            <a:r>
              <a:rPr lang="en-US" altLang="zh-CN" sz="1400" dirty="0">
                <a:latin typeface="Microsoft YaHei" panose="020B0503020204020204" pitchFamily="34" charset="-122"/>
                <a:ea typeface="Microsoft YaHei" panose="020B0503020204020204" pitchFamily="34" charset="-122"/>
              </a:rPr>
              <a:t>2008 </a:t>
            </a:r>
            <a:r>
              <a:rPr lang="zh-CN" altLang="en-US" sz="1400" dirty="0">
                <a:latin typeface="Microsoft YaHei" panose="020B0503020204020204" pitchFamily="34" charset="-122"/>
                <a:ea typeface="Microsoft YaHei" panose="020B0503020204020204" pitchFamily="34" charset="-122"/>
              </a:rPr>
              <a:t>年，美国谷歌公司推出安卓手机系统 （</a:t>
            </a:r>
            <a:r>
              <a:rPr lang="en-US" altLang="zh-CN" sz="1400" dirty="0">
                <a:latin typeface="Microsoft YaHei" panose="020B0503020204020204" pitchFamily="34" charset="-122"/>
                <a:ea typeface="Microsoft YaHei" panose="020B0503020204020204" pitchFamily="34" charset="-122"/>
              </a:rPr>
              <a:t>Android</a:t>
            </a:r>
            <a:r>
              <a:rPr lang="zh-CN" altLang="en-US" sz="1400" dirty="0">
                <a:latin typeface="Microsoft YaHei" panose="020B0503020204020204" pitchFamily="34" charset="-122"/>
                <a:ea typeface="Microsoft YaHei" panose="020B0503020204020204" pitchFamily="34" charset="-122"/>
              </a:rPr>
              <a:t>）。 </a:t>
            </a:r>
            <a:endParaRPr lang="en-US" altLang="zh-CN" sz="14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由此，互联网发展正式开始了移动互联阶段</a:t>
            </a:r>
            <a:endParaRPr lang="en-US" altLang="zh-CN" sz="1400" dirty="0">
              <a:latin typeface="Microsoft YaHei" panose="020B0503020204020204" pitchFamily="34" charset="-122"/>
              <a:ea typeface="Microsoft YaHei" panose="020B0503020204020204" pitchFamily="34" charset="-122"/>
            </a:endParaRPr>
          </a:p>
          <a:p>
            <a:endParaRPr lang="en-US" altLang="zh-CN" sz="14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进入移动互联网阶段后，各种应用爆炸性增长，网络不在只是娱乐社交的工具，互联网</a:t>
            </a:r>
            <a:r>
              <a:rPr lang="en-US" altLang="zh-CN" sz="1400" dirty="0">
                <a:latin typeface="Microsoft YaHei" panose="020B0503020204020204" pitchFamily="34" charset="-122"/>
                <a:ea typeface="Microsoft YaHei" panose="020B0503020204020204" pitchFamily="34" charset="-122"/>
              </a:rPr>
              <a:t>+</a:t>
            </a:r>
            <a:r>
              <a:rPr lang="zh-CN" altLang="en-US" sz="1400" dirty="0">
                <a:latin typeface="Microsoft YaHei" panose="020B0503020204020204" pitchFamily="34" charset="-122"/>
                <a:ea typeface="Microsoft YaHei" panose="020B0503020204020204" pitchFamily="34" charset="-122"/>
              </a:rPr>
              <a:t>成了各种颠覆传统经济的催化剂，打车、租房为代表的共享经济，以及各种网购平台、教育，直播带货等新经济形式层出不穷。</a:t>
            </a:r>
            <a:endParaRPr lang="en-US" altLang="zh-CN" sz="14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“互联网</a:t>
            </a:r>
            <a:r>
              <a:rPr lang="en-US" altLang="zh-CN" sz="1400" dirty="0">
                <a:latin typeface="Microsoft YaHei" panose="020B0503020204020204" pitchFamily="34" charset="-122"/>
                <a:ea typeface="Microsoft YaHei" panose="020B0503020204020204" pitchFamily="34" charset="-122"/>
              </a:rPr>
              <a:t>+</a:t>
            </a:r>
            <a:r>
              <a:rPr lang="zh-CN" altLang="en-US" sz="1400" dirty="0">
                <a:latin typeface="Microsoft YaHei" panose="020B0503020204020204" pitchFamily="34" charset="-122"/>
                <a:ea typeface="Microsoft YaHei" panose="020B0503020204020204" pitchFamily="34" charset="-122"/>
              </a:rPr>
              <a:t>”成了创业的方向；以云、</a:t>
            </a:r>
            <a:r>
              <a:rPr lang="en-US" altLang="zh-CN" sz="1400" dirty="0">
                <a:latin typeface="Microsoft YaHei" panose="020B0503020204020204" pitchFamily="34" charset="-122"/>
                <a:ea typeface="Microsoft YaHei" panose="020B0503020204020204" pitchFamily="34" charset="-122"/>
              </a:rPr>
              <a:t>SDN</a:t>
            </a:r>
            <a:r>
              <a:rPr lang="zh-CN" altLang="en-US" sz="1400" dirty="0">
                <a:latin typeface="Microsoft YaHei" panose="020B0503020204020204" pitchFamily="34" charset="-122"/>
                <a:ea typeface="Microsoft YaHei" panose="020B0503020204020204" pitchFamily="34" charset="-122"/>
              </a:rPr>
              <a:t>、高速网络、</a:t>
            </a:r>
            <a:r>
              <a:rPr lang="en-US" altLang="zh-CN" sz="1400" dirty="0">
                <a:latin typeface="Microsoft YaHei" panose="020B0503020204020204" pitchFamily="34" charset="-122"/>
                <a:ea typeface="Microsoft YaHei" panose="020B0503020204020204" pitchFamily="34" charset="-122"/>
              </a:rPr>
              <a:t>AI</a:t>
            </a:r>
            <a:r>
              <a:rPr lang="zh-CN" altLang="en-US" sz="1400" dirty="0">
                <a:latin typeface="Microsoft YaHei" panose="020B0503020204020204" pitchFamily="34" charset="-122"/>
                <a:ea typeface="Microsoft YaHei" panose="020B0503020204020204" pitchFamily="34" charset="-122"/>
              </a:rPr>
              <a:t>、大数据等代表新技术的叠加，更提升了网络在经济生活中的作用。</a:t>
            </a:r>
            <a:endParaRPr lang="en-US" altLang="zh-CN" sz="1400" dirty="0">
              <a:latin typeface="Microsoft YaHei" panose="020B0503020204020204" pitchFamily="34" charset="-122"/>
              <a:ea typeface="Microsoft YaHei" panose="020B0503020204020204" pitchFamily="34" charset="-122"/>
            </a:endParaRPr>
          </a:p>
          <a:p>
            <a:endParaRPr lang="en-US" altLang="zh-CN" sz="1400" dirty="0">
              <a:latin typeface="Microsoft YaHei" panose="020B0503020204020204" pitchFamily="34" charset="-122"/>
              <a:ea typeface="Microsoft YaHei" panose="020B0503020204020204" pitchFamily="34" charset="-122"/>
            </a:endParaRPr>
          </a:p>
          <a:p>
            <a:r>
              <a:rPr lang="en-US" altLang="zh-CN" sz="1400" dirty="0">
                <a:latin typeface="Microsoft YaHei" panose="020B0503020204020204" pitchFamily="34" charset="-122"/>
                <a:ea typeface="Microsoft YaHei" panose="020B0503020204020204" pitchFamily="34" charset="-122"/>
              </a:rPr>
              <a:t>5G</a:t>
            </a:r>
            <a:r>
              <a:rPr lang="zh-CN" altLang="en-US" sz="1400" dirty="0">
                <a:latin typeface="Microsoft YaHei" panose="020B0503020204020204" pitchFamily="34" charset="-122"/>
                <a:ea typeface="Microsoft YaHei" panose="020B0503020204020204" pitchFamily="34" charset="-122"/>
              </a:rPr>
              <a:t>技术把网络技术的作用推到了新的巅峰，也成了中美贸易战中最热的话题，</a:t>
            </a:r>
            <a:r>
              <a:rPr lang="en-US" altLang="zh-CN" sz="1400" dirty="0">
                <a:latin typeface="Microsoft YaHei" panose="020B0503020204020204" pitchFamily="34" charset="-122"/>
                <a:ea typeface="Microsoft YaHei" panose="020B0503020204020204" pitchFamily="34" charset="-122"/>
              </a:rPr>
              <a:t>5G</a:t>
            </a:r>
            <a:r>
              <a:rPr lang="zh-CN" altLang="en-US" sz="1400" dirty="0">
                <a:latin typeface="Microsoft YaHei" panose="020B0503020204020204" pitchFamily="34" charset="-122"/>
                <a:ea typeface="Microsoft YaHei" panose="020B0503020204020204" pitchFamily="34" charset="-122"/>
              </a:rPr>
              <a:t>成了国家间战略竞争的焦点。</a:t>
            </a:r>
            <a:endParaRPr lang="en-US" altLang="zh-CN" sz="1400" dirty="0">
              <a:latin typeface="Microsoft YaHei" panose="020B0503020204020204" pitchFamily="34" charset="-122"/>
              <a:ea typeface="Microsoft YaHei" panose="020B0503020204020204" pitchFamily="34" charset="-122"/>
            </a:endParaRPr>
          </a:p>
          <a:p>
            <a:r>
              <a:rPr lang="en-US" altLang="zh-CN" sz="1400" dirty="0">
                <a:latin typeface="Microsoft YaHei" panose="020B0503020204020204" pitchFamily="34" charset="-122"/>
                <a:ea typeface="Microsoft YaHei" panose="020B0503020204020204" pitchFamily="34" charset="-122"/>
              </a:rPr>
              <a:t>5G </a:t>
            </a:r>
            <a:r>
              <a:rPr lang="zh-CN" altLang="en-US" sz="1400" dirty="0">
                <a:latin typeface="Microsoft YaHei" panose="020B0503020204020204" pitchFamily="34" charset="-122"/>
                <a:ea typeface="Microsoft YaHei" panose="020B0503020204020204" pitchFamily="34" charset="-122"/>
              </a:rPr>
              <a:t>不再仅限于人的通信，未来</a:t>
            </a:r>
            <a:r>
              <a:rPr lang="en-US" altLang="zh-CN" sz="1400" dirty="0">
                <a:latin typeface="Microsoft YaHei" panose="020B0503020204020204" pitchFamily="34" charset="-122"/>
                <a:ea typeface="Microsoft YaHei" panose="020B0503020204020204" pitchFamily="34" charset="-122"/>
              </a:rPr>
              <a:t>5G</a:t>
            </a:r>
            <a:r>
              <a:rPr lang="zh-CN" altLang="en-US" sz="1400" dirty="0">
                <a:latin typeface="Microsoft YaHei" panose="020B0503020204020204" pitchFamily="34" charset="-122"/>
                <a:ea typeface="Microsoft YaHei" panose="020B0503020204020204" pitchFamily="34" charset="-122"/>
              </a:rPr>
              <a:t>将成为人与物，机器与机器之间通信的工具，万物互联的基础设施。</a:t>
            </a:r>
            <a:endParaRPr lang="en-US" altLang="zh-CN" sz="1400" dirty="0">
              <a:latin typeface="Microsoft YaHei" panose="020B0503020204020204" pitchFamily="34" charset="-122"/>
              <a:ea typeface="Microsoft YaHei" panose="020B0503020204020204" pitchFamily="34" charset="-122"/>
            </a:endParaRPr>
          </a:p>
          <a:p>
            <a:r>
              <a:rPr lang="zh-CN" altLang="en-US" sz="1400" dirty="0">
                <a:latin typeface="Microsoft YaHei" panose="020B0503020204020204" pitchFamily="34" charset="-122"/>
                <a:ea typeface="Microsoft YaHei" panose="020B0503020204020204" pitchFamily="34" charset="-122"/>
              </a:rPr>
              <a:t>它的代表性产品：车联网，物联网，</a:t>
            </a:r>
            <a:r>
              <a:rPr lang="en-US" altLang="zh-CN" sz="1400" dirty="0">
                <a:latin typeface="Microsoft YaHei" panose="020B0503020204020204" pitchFamily="34" charset="-122"/>
                <a:ea typeface="Microsoft YaHei" panose="020B0503020204020204" pitchFamily="34" charset="-122"/>
              </a:rPr>
              <a:t>5GtoB</a:t>
            </a:r>
            <a:r>
              <a:rPr lang="zh-CN" altLang="en-US" sz="1400" dirty="0">
                <a:latin typeface="Microsoft YaHei" panose="020B0503020204020204" pitchFamily="34" charset="-122"/>
                <a:ea typeface="Microsoft YaHei" panose="020B0503020204020204" pitchFamily="34" charset="-122"/>
              </a:rPr>
              <a:t>在各种工业中的应用。前面提到了无人码头，远程手术的底层网络。</a:t>
            </a:r>
            <a:endParaRPr lang="en-US" altLang="zh-CN" sz="1400" dirty="0">
              <a:latin typeface="Microsoft YaHei" panose="020B0503020204020204" pitchFamily="34" charset="-122"/>
              <a:ea typeface="Microsoft YaHei" panose="020B0503020204020204" pitchFamily="34" charset="-122"/>
            </a:endParaRPr>
          </a:p>
          <a:p>
            <a:endParaRPr lang="zh-CN" altLang="en-US" sz="1400" dirty="0">
              <a:latin typeface="Microsoft YaHei" panose="020B0503020204020204" pitchFamily="34" charset="-122"/>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107</a:t>
            </a:fld>
            <a:endParaRPr kumimoji="1" lang="zh-CN" altLang="en-US"/>
          </a:p>
        </p:txBody>
      </p:sp>
    </p:spTree>
    <p:extLst>
      <p:ext uri="{BB962C8B-B14F-4D97-AF65-F5344CB8AC3E}">
        <p14:creationId xmlns:p14="http://schemas.microsoft.com/office/powerpoint/2010/main" val="33428775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dirty="0">
                <a:latin typeface="微软雅黑" panose="020B0503020204020204" pitchFamily="34" charset="-122"/>
                <a:ea typeface="微软雅黑" panose="020B0503020204020204" pitchFamily="34" charset="-122"/>
              </a:rPr>
              <a:t>回顾互联网应用业务发展过程，可以看出一些重要规律：</a:t>
            </a:r>
            <a:endParaRPr lang="en-US" altLang="zh-CN" sz="1400" b="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dirty="0">
                <a:latin typeface="微软雅黑" panose="020B0503020204020204" pitchFamily="34" charset="-122"/>
                <a:ea typeface="微软雅黑" panose="020B0503020204020204" pitchFamily="34" charset="-122"/>
              </a:rPr>
              <a:t>商业需求是核心驱动力，技术创新提供重要基础</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dirty="0">
                <a:latin typeface="微软雅黑" panose="020B0503020204020204" pitchFamily="34" charset="-122"/>
                <a:ea typeface="微软雅黑" panose="020B0503020204020204" pitchFamily="34" charset="-122"/>
              </a:rPr>
              <a:t>有线</a:t>
            </a:r>
            <a:r>
              <a:rPr lang="en-US" altLang="zh-CN" sz="1400" b="0" dirty="0">
                <a:latin typeface="微软雅黑" panose="020B0503020204020204" pitchFamily="34" charset="-122"/>
                <a:ea typeface="微软雅黑" panose="020B0503020204020204" pitchFamily="34" charset="-122"/>
              </a:rPr>
              <a:t>=&gt;</a:t>
            </a:r>
            <a:r>
              <a:rPr lang="zh-CN" altLang="en-US" sz="1400" b="0" dirty="0">
                <a:latin typeface="微软雅黑" panose="020B0503020204020204" pitchFamily="34" charset="-122"/>
                <a:ea typeface="微软雅黑" panose="020B0503020204020204" pitchFamily="34" charset="-122"/>
              </a:rPr>
              <a:t>无线</a:t>
            </a:r>
            <a:r>
              <a:rPr lang="en-US" altLang="zh-CN" sz="1400" b="0" dirty="0">
                <a:latin typeface="微软雅黑" panose="020B0503020204020204" pitchFamily="34" charset="-122"/>
                <a:ea typeface="微软雅黑" panose="020B0503020204020204" pitchFamily="34" charset="-122"/>
              </a:rPr>
              <a:t>=&gt;</a:t>
            </a:r>
            <a:r>
              <a:rPr lang="zh-CN" altLang="en-US" sz="1400" b="0" dirty="0">
                <a:latin typeface="微软雅黑" panose="020B0503020204020204" pitchFamily="34" charset="-122"/>
                <a:ea typeface="微软雅黑" panose="020B0503020204020204" pitchFamily="34" charset="-122"/>
              </a:rPr>
              <a:t>广覆盖：台式机，笔记本，手机；人们在线方式和在线时长也相应变化，应用业务类型也响应变化</a:t>
            </a:r>
            <a:endParaRPr lang="en-US" altLang="zh-CN" sz="1400" b="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dirty="0">
                <a:latin typeface="微软雅黑" panose="020B0503020204020204" pitchFamily="34" charset="-122"/>
                <a:ea typeface="微软雅黑" panose="020B0503020204020204" pitchFamily="34" charset="-122"/>
              </a:rPr>
              <a:t>网络应用</a:t>
            </a:r>
            <a:r>
              <a:rPr lang="zh-CN" altLang="en-US" sz="1400" b="0" dirty="0">
                <a:solidFill>
                  <a:srgbClr val="C00000"/>
                </a:solidFill>
                <a:latin typeface="微软雅黑" panose="020B0503020204020204" pitchFamily="34" charset="-122"/>
                <a:ea typeface="微软雅黑" panose="020B0503020204020204" pitchFamily="34" charset="-122"/>
              </a:rPr>
              <a:t>一开始以下载为主，对网络要求是下行带宽要求高</a:t>
            </a:r>
            <a:endParaRPr lang="en-US" altLang="zh-CN" sz="1400" b="0" dirty="0">
              <a:solidFill>
                <a:srgbClr val="C00000"/>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dirty="0">
                <a:solidFill>
                  <a:srgbClr val="C00000"/>
                </a:solidFill>
                <a:latin typeface="微软雅黑" panose="020B0503020204020204" pitchFamily="34" charset="-122"/>
                <a:ea typeface="微软雅黑" panose="020B0503020204020204" pitchFamily="34" charset="-122"/>
              </a:rPr>
              <a:t>随着网络能力的提升，更大带宽的应用出现，直播上行应用也逐渐出现；</a:t>
            </a:r>
            <a:endParaRPr lang="en-US" altLang="zh-CN" sz="1400" b="0" dirty="0">
              <a:latin typeface="微软雅黑" panose="020B0503020204020204" pitchFamily="34" charset="-122"/>
              <a:ea typeface="微软雅黑" panose="020B0503020204020204" pitchFamily="34" charset="-122"/>
            </a:endParaRPr>
          </a:p>
          <a:p>
            <a:r>
              <a:rPr lang="zh-CN" altLang="en-US" sz="1400" b="0" dirty="0">
                <a:latin typeface="微软雅黑" panose="020B0503020204020204" pitchFamily="34" charset="-122"/>
                <a:ea typeface="微软雅黑" panose="020B0503020204020204" pitchFamily="34" charset="-122"/>
              </a:rPr>
              <a:t>除了带宽以外，网络的延迟也成为网络的关键能力，低延时网络的普及使得能出现更多快速响应的应用。</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108</a:t>
            </a:fld>
            <a:endParaRPr kumimoji="1" lang="zh-CN" altLang="en-US"/>
          </a:p>
        </p:txBody>
      </p:sp>
    </p:spTree>
    <p:extLst>
      <p:ext uri="{BB962C8B-B14F-4D97-AF65-F5344CB8AC3E}">
        <p14:creationId xmlns:p14="http://schemas.microsoft.com/office/powerpoint/2010/main" val="298638943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b="0" i="0" dirty="0">
                <a:solidFill>
                  <a:srgbClr val="333333"/>
                </a:solidFill>
                <a:effectLst/>
                <a:latin typeface="Microsoft YaHei" panose="020B0503020204020204" pitchFamily="34" charset="-122"/>
                <a:ea typeface="Microsoft YaHei" panose="020B0503020204020204" pitchFamily="34" charset="-122"/>
              </a:rPr>
              <a:t>“NCFC”</a:t>
            </a:r>
            <a:r>
              <a:rPr lang="zh-CN" altLang="en-US" sz="1400" b="0" i="0" dirty="0">
                <a:solidFill>
                  <a:srgbClr val="333333"/>
                </a:solidFill>
                <a:effectLst/>
                <a:latin typeface="Microsoft YaHei" panose="020B0503020204020204" pitchFamily="34" charset="-122"/>
                <a:ea typeface="Microsoft YaHei" panose="020B0503020204020204" pitchFamily="34" charset="-122"/>
              </a:rPr>
              <a:t>（中国国家计算机与网络设施，</a:t>
            </a:r>
            <a:r>
              <a:rPr lang="en-US" altLang="zh-CN" sz="1400" b="0" i="0" dirty="0">
                <a:solidFill>
                  <a:srgbClr val="333333"/>
                </a:solidFill>
                <a:effectLst/>
                <a:latin typeface="Microsoft YaHei" panose="020B0503020204020204" pitchFamily="34" charset="-122"/>
                <a:ea typeface="Microsoft YaHei" panose="020B0503020204020204" pitchFamily="34" charset="-122"/>
              </a:rPr>
              <a:t>The National Computing and Networking Facility of China</a:t>
            </a:r>
            <a:r>
              <a:rPr lang="zh-CN" altLang="en-US" sz="1400" b="0" i="0" dirty="0">
                <a:solidFill>
                  <a:srgbClr val="333333"/>
                </a:solidFill>
                <a:effectLst/>
                <a:latin typeface="Microsoft YaHei" panose="020B0503020204020204" pitchFamily="34" charset="-122"/>
                <a:ea typeface="Microsoft YaHei" panose="020B0503020204020204" pitchFamily="34" charset="-122"/>
              </a:rPr>
              <a:t>）</a:t>
            </a:r>
            <a:endParaRPr lang="en-US" altLang="zh-CN" sz="1400" b="0" i="0" dirty="0">
              <a:solidFill>
                <a:srgbClr val="333333"/>
              </a:solidFill>
              <a:effectLst/>
              <a:latin typeface="Microsoft YaHei" panose="020B0503020204020204" pitchFamily="34" charset="-122"/>
              <a:ea typeface="Microsoft YaHei" panose="020B0503020204020204" pitchFamily="34" charset="-122"/>
            </a:endParaRPr>
          </a:p>
          <a:p>
            <a:r>
              <a:rPr lang="zh-CN" altLang="en-US" sz="1400" b="0" i="0" dirty="0">
                <a:solidFill>
                  <a:srgbClr val="333333"/>
                </a:solidFill>
                <a:effectLst/>
                <a:latin typeface="Microsoft YaHei" panose="020B0503020204020204" pitchFamily="34" charset="-122"/>
                <a:ea typeface="Microsoft YaHei" panose="020B0503020204020204" pitchFamily="34" charset="-122"/>
              </a:rPr>
              <a:t>起步阶段：</a:t>
            </a:r>
            <a:endParaRPr lang="en-US" altLang="zh-CN" sz="1400" b="0" i="0" dirty="0">
              <a:solidFill>
                <a:srgbClr val="333333"/>
              </a:solidFill>
              <a:effectLst/>
              <a:latin typeface="Microsoft YaHei" panose="020B0503020204020204" pitchFamily="34" charset="-122"/>
              <a:ea typeface="Microsoft YaHei" panose="020B0503020204020204" pitchFamily="34" charset="-122"/>
            </a:endParaRPr>
          </a:p>
          <a:p>
            <a:r>
              <a:rPr lang="en-US" altLang="zh-CN" sz="1400" b="0" i="0" dirty="0">
                <a:solidFill>
                  <a:srgbClr val="000000"/>
                </a:solidFill>
                <a:effectLst/>
                <a:latin typeface="Microsoft YaHei" panose="020B0503020204020204" pitchFamily="34" charset="-122"/>
                <a:ea typeface="Microsoft YaHei" panose="020B0503020204020204" pitchFamily="34" charset="-122"/>
              </a:rPr>
              <a:t>1987</a:t>
            </a:r>
            <a:r>
              <a:rPr lang="zh-CN" altLang="en-US" sz="1400" b="0" i="0" dirty="0">
                <a:solidFill>
                  <a:srgbClr val="000000"/>
                </a:solidFill>
                <a:effectLst/>
                <a:latin typeface="Microsoft YaHei" panose="020B0503020204020204" pitchFamily="34" charset="-122"/>
                <a:ea typeface="Microsoft YaHei" panose="020B0503020204020204" pitchFamily="34" charset="-122"/>
              </a:rPr>
              <a:t>年</a:t>
            </a:r>
            <a:r>
              <a:rPr lang="en-US" altLang="zh-CN" sz="1400" b="0" i="0" dirty="0">
                <a:solidFill>
                  <a:srgbClr val="000000"/>
                </a:solidFill>
                <a:effectLst/>
                <a:latin typeface="Microsoft YaHei" panose="020B0503020204020204" pitchFamily="34" charset="-122"/>
                <a:ea typeface="Microsoft YaHei" panose="020B0503020204020204" pitchFamily="34" charset="-122"/>
              </a:rPr>
              <a:t>9</a:t>
            </a:r>
            <a:r>
              <a:rPr lang="zh-CN" altLang="en-US" sz="1400" b="0" i="0" dirty="0">
                <a:solidFill>
                  <a:srgbClr val="000000"/>
                </a:solidFill>
                <a:effectLst/>
                <a:latin typeface="Microsoft YaHei" panose="020B0503020204020204" pitchFamily="34" charset="-122"/>
                <a:ea typeface="Microsoft YaHei" panose="020B0503020204020204" pitchFamily="34" charset="-122"/>
              </a:rPr>
              <a:t>月，</a:t>
            </a:r>
            <a:r>
              <a:rPr lang="en-US" altLang="zh-CN" sz="1400" b="0" i="0" dirty="0">
                <a:solidFill>
                  <a:srgbClr val="000000"/>
                </a:solidFill>
                <a:effectLst/>
                <a:latin typeface="Microsoft YaHei" panose="020B0503020204020204" pitchFamily="34" charset="-122"/>
                <a:ea typeface="Microsoft YaHei" panose="020B0503020204020204" pitchFamily="34" charset="-122"/>
              </a:rPr>
              <a:t>CANET</a:t>
            </a:r>
            <a:r>
              <a:rPr lang="zh-CN" altLang="en-US" sz="1400" b="0" i="0" dirty="0">
                <a:solidFill>
                  <a:srgbClr val="000000"/>
                </a:solidFill>
                <a:effectLst/>
                <a:latin typeface="Microsoft YaHei" panose="020B0503020204020204" pitchFamily="34" charset="-122"/>
                <a:ea typeface="Microsoft YaHei" panose="020B0503020204020204" pitchFamily="34" charset="-122"/>
              </a:rPr>
              <a:t>（中国学术网）在北京计算机应用技术研究所内正式建成中国第一个国际互联网电子邮件节点，并于</a:t>
            </a:r>
            <a:r>
              <a:rPr lang="en-US" altLang="zh-CN" sz="1400" b="0" i="0" dirty="0">
                <a:solidFill>
                  <a:srgbClr val="000000"/>
                </a:solidFill>
                <a:effectLst/>
                <a:latin typeface="Microsoft YaHei" panose="020B0503020204020204" pitchFamily="34" charset="-122"/>
                <a:ea typeface="Microsoft YaHei" panose="020B0503020204020204" pitchFamily="34" charset="-122"/>
              </a:rPr>
              <a:t>9</a:t>
            </a:r>
            <a:r>
              <a:rPr lang="zh-CN" altLang="en-US" sz="1400" b="0" i="0" dirty="0">
                <a:solidFill>
                  <a:srgbClr val="000000"/>
                </a:solidFill>
                <a:effectLst/>
                <a:latin typeface="Microsoft YaHei" panose="020B0503020204020204" pitchFamily="34" charset="-122"/>
                <a:ea typeface="Microsoft YaHei" panose="020B0503020204020204" pitchFamily="34" charset="-122"/>
              </a:rPr>
              <a:t>月</a:t>
            </a:r>
            <a:r>
              <a:rPr lang="en-US" altLang="zh-CN" sz="1400" b="0" i="0" dirty="0">
                <a:solidFill>
                  <a:srgbClr val="000000"/>
                </a:solidFill>
                <a:effectLst/>
                <a:latin typeface="Microsoft YaHei" panose="020B0503020204020204" pitchFamily="34" charset="-122"/>
                <a:ea typeface="Microsoft YaHei" panose="020B0503020204020204" pitchFamily="34" charset="-122"/>
              </a:rPr>
              <a:t>14</a:t>
            </a:r>
            <a:r>
              <a:rPr lang="zh-CN" altLang="en-US" sz="1400" b="0" i="0" dirty="0">
                <a:solidFill>
                  <a:srgbClr val="000000"/>
                </a:solidFill>
                <a:effectLst/>
                <a:latin typeface="Microsoft YaHei" panose="020B0503020204020204" pitchFamily="34" charset="-122"/>
                <a:ea typeface="Microsoft YaHei" panose="020B0503020204020204" pitchFamily="34" charset="-122"/>
              </a:rPr>
              <a:t>日发出了中国第一封电子邮件：“</a:t>
            </a:r>
            <a:r>
              <a:rPr lang="en-US" altLang="zh-CN" sz="1400" b="0" i="0" dirty="0">
                <a:solidFill>
                  <a:srgbClr val="000000"/>
                </a:solidFill>
                <a:effectLst/>
                <a:latin typeface="Microsoft YaHei" panose="020B0503020204020204" pitchFamily="34" charset="-122"/>
                <a:ea typeface="Microsoft YaHei" panose="020B0503020204020204" pitchFamily="34" charset="-122"/>
              </a:rPr>
              <a:t>Across the Great Wall we can reach every corner in the world.(</a:t>
            </a:r>
            <a:r>
              <a:rPr lang="zh-CN" altLang="en-US" sz="1400" b="0" i="0" dirty="0">
                <a:solidFill>
                  <a:srgbClr val="000000"/>
                </a:solidFill>
                <a:effectLst/>
                <a:latin typeface="Microsoft YaHei" panose="020B0503020204020204" pitchFamily="34" charset="-122"/>
                <a:ea typeface="Microsoft YaHei" panose="020B0503020204020204" pitchFamily="34" charset="-122"/>
              </a:rPr>
              <a:t>越过长城，走向世界</a:t>
            </a:r>
            <a:r>
              <a:rPr lang="en-US" altLang="zh-CN" sz="1400" b="0" i="0" dirty="0">
                <a:solidFill>
                  <a:srgbClr val="000000"/>
                </a:solidFill>
                <a:effectLst/>
                <a:latin typeface="Microsoft YaHei" panose="020B0503020204020204" pitchFamily="34" charset="-122"/>
                <a:ea typeface="Microsoft YaHei" panose="020B0503020204020204" pitchFamily="34" charset="-122"/>
              </a:rPr>
              <a:t>)”</a:t>
            </a:r>
            <a:r>
              <a:rPr lang="zh-CN" altLang="en-US" sz="1400" b="0" i="0" dirty="0">
                <a:solidFill>
                  <a:srgbClr val="000000"/>
                </a:solidFill>
                <a:effectLst/>
                <a:latin typeface="Microsoft YaHei" panose="020B0503020204020204" pitchFamily="34" charset="-122"/>
                <a:ea typeface="Microsoft YaHei" panose="020B0503020204020204" pitchFamily="34" charset="-122"/>
              </a:rPr>
              <a:t>，揭开了中国人使用互联网的序幕。</a:t>
            </a:r>
            <a:endParaRPr lang="en-US" altLang="zh-CN" sz="1400" b="0" i="0" dirty="0">
              <a:solidFill>
                <a:srgbClr val="000000"/>
              </a:solidFill>
              <a:effectLst/>
              <a:latin typeface="Microsoft YaHei" panose="020B0503020204020204" pitchFamily="34" charset="-122"/>
              <a:ea typeface="Microsoft YaHei" panose="020B0503020204020204" pitchFamily="34" charset="-122"/>
            </a:endParaRPr>
          </a:p>
          <a:p>
            <a:r>
              <a:rPr lang="en-US" altLang="zh-CN" sz="1400" b="0" i="0" dirty="0">
                <a:solidFill>
                  <a:srgbClr val="333333"/>
                </a:solidFill>
                <a:effectLst/>
                <a:latin typeface="Microsoft YaHei" panose="020B0503020204020204" pitchFamily="34" charset="-122"/>
                <a:ea typeface="Microsoft YaHei" panose="020B0503020204020204" pitchFamily="34" charset="-122"/>
              </a:rPr>
              <a:t>1994</a:t>
            </a:r>
            <a:r>
              <a:rPr lang="zh-CN" altLang="en-US" sz="1400" b="0" i="0" dirty="0">
                <a:solidFill>
                  <a:srgbClr val="333333"/>
                </a:solidFill>
                <a:effectLst/>
                <a:latin typeface="Microsoft YaHei" panose="020B0503020204020204" pitchFamily="34" charset="-122"/>
                <a:ea typeface="Microsoft YaHei" panose="020B0503020204020204" pitchFamily="34" charset="-122"/>
              </a:rPr>
              <a:t>年</a:t>
            </a:r>
            <a:r>
              <a:rPr lang="en-US" altLang="zh-CN" sz="1400" b="0" i="0" dirty="0">
                <a:solidFill>
                  <a:srgbClr val="333333"/>
                </a:solidFill>
                <a:effectLst/>
                <a:latin typeface="Microsoft YaHei" panose="020B0503020204020204" pitchFamily="34" charset="-122"/>
                <a:ea typeface="Microsoft YaHei" panose="020B0503020204020204" pitchFamily="34" charset="-122"/>
              </a:rPr>
              <a:t>4</a:t>
            </a:r>
            <a:r>
              <a:rPr lang="zh-CN" altLang="en-US" sz="1400" b="0" i="0" dirty="0">
                <a:solidFill>
                  <a:srgbClr val="333333"/>
                </a:solidFill>
                <a:effectLst/>
                <a:latin typeface="Microsoft YaHei" panose="020B0503020204020204" pitchFamily="34" charset="-122"/>
                <a:ea typeface="Microsoft YaHei" panose="020B0503020204020204" pitchFamily="34" charset="-122"/>
              </a:rPr>
              <a:t>月</a:t>
            </a:r>
            <a:r>
              <a:rPr lang="en-US" altLang="zh-CN" sz="1400" b="0" i="0" dirty="0">
                <a:solidFill>
                  <a:srgbClr val="333333"/>
                </a:solidFill>
                <a:effectLst/>
                <a:latin typeface="Microsoft YaHei" panose="020B0503020204020204" pitchFamily="34" charset="-122"/>
                <a:ea typeface="Microsoft YaHei" panose="020B0503020204020204" pitchFamily="34" charset="-122"/>
              </a:rPr>
              <a:t>20</a:t>
            </a:r>
            <a:r>
              <a:rPr lang="zh-CN" altLang="en-US" sz="1400" b="0" i="0" dirty="0">
                <a:solidFill>
                  <a:srgbClr val="333333"/>
                </a:solidFill>
                <a:effectLst/>
                <a:latin typeface="Microsoft YaHei" panose="020B0503020204020204" pitchFamily="34" charset="-122"/>
                <a:ea typeface="Microsoft YaHei" panose="020B0503020204020204" pitchFamily="34" charset="-122"/>
              </a:rPr>
              <a:t>日，</a:t>
            </a:r>
            <a:r>
              <a:rPr lang="en-US" altLang="zh-CN" sz="1400" b="0" i="0" dirty="0">
                <a:solidFill>
                  <a:srgbClr val="333333"/>
                </a:solidFill>
                <a:effectLst/>
                <a:latin typeface="Microsoft YaHei" panose="020B0503020204020204" pitchFamily="34" charset="-122"/>
                <a:ea typeface="Microsoft YaHei" panose="020B0503020204020204" pitchFamily="34" charset="-122"/>
              </a:rPr>
              <a:t>NCFC</a:t>
            </a:r>
            <a:r>
              <a:rPr lang="zh-CN" altLang="en-US" sz="1400" b="0" i="0" dirty="0">
                <a:solidFill>
                  <a:srgbClr val="333333"/>
                </a:solidFill>
                <a:effectLst/>
                <a:latin typeface="Microsoft YaHei" panose="020B0503020204020204" pitchFamily="34" charset="-122"/>
                <a:ea typeface="Microsoft YaHei" panose="020B0503020204020204" pitchFamily="34" charset="-122"/>
              </a:rPr>
              <a:t>工程通过美国</a:t>
            </a:r>
            <a:r>
              <a:rPr lang="en-US" altLang="zh-CN" sz="1400" b="0" i="0" dirty="0">
                <a:solidFill>
                  <a:srgbClr val="333333"/>
                </a:solidFill>
                <a:effectLst/>
                <a:latin typeface="Microsoft YaHei" panose="020B0503020204020204" pitchFamily="34" charset="-122"/>
                <a:ea typeface="Microsoft YaHei" panose="020B0503020204020204" pitchFamily="34" charset="-122"/>
              </a:rPr>
              <a:t>Sprint</a:t>
            </a:r>
            <a:r>
              <a:rPr lang="zh-CN" altLang="en-US" sz="1400" b="0" i="0" dirty="0">
                <a:solidFill>
                  <a:srgbClr val="333333"/>
                </a:solidFill>
                <a:effectLst/>
                <a:latin typeface="Microsoft YaHei" panose="020B0503020204020204" pitchFamily="34" charset="-122"/>
                <a:ea typeface="Microsoft YaHei" panose="020B0503020204020204" pitchFamily="34" charset="-122"/>
              </a:rPr>
              <a:t>公司连入</a:t>
            </a:r>
            <a:r>
              <a:rPr lang="en-US" altLang="zh-CN" sz="1400" b="0" i="0" dirty="0">
                <a:solidFill>
                  <a:srgbClr val="333333"/>
                </a:solidFill>
                <a:effectLst/>
                <a:latin typeface="Microsoft YaHei" panose="020B0503020204020204" pitchFamily="34" charset="-122"/>
                <a:ea typeface="Microsoft YaHei" panose="020B0503020204020204" pitchFamily="34" charset="-122"/>
              </a:rPr>
              <a:t>Internet</a:t>
            </a:r>
            <a:r>
              <a:rPr lang="zh-CN" altLang="en-US" sz="1400" b="0" i="0" dirty="0">
                <a:solidFill>
                  <a:srgbClr val="333333"/>
                </a:solidFill>
                <a:effectLst/>
                <a:latin typeface="Microsoft YaHei" panose="020B0503020204020204" pitchFamily="34" charset="-122"/>
                <a:ea typeface="Microsoft YaHei" panose="020B0503020204020204" pitchFamily="34" charset="-122"/>
              </a:rPr>
              <a:t>的</a:t>
            </a:r>
            <a:r>
              <a:rPr lang="en-US" altLang="zh-CN" sz="1400" b="0" i="0" dirty="0">
                <a:solidFill>
                  <a:srgbClr val="333333"/>
                </a:solidFill>
                <a:effectLst/>
                <a:latin typeface="Microsoft YaHei" panose="020B0503020204020204" pitchFamily="34" charset="-122"/>
                <a:ea typeface="Microsoft YaHei" panose="020B0503020204020204" pitchFamily="34" charset="-122"/>
              </a:rPr>
              <a:t>64K</a:t>
            </a:r>
            <a:r>
              <a:rPr lang="zh-CN" altLang="en-US" sz="1400" b="0" i="0" dirty="0">
                <a:solidFill>
                  <a:srgbClr val="333333"/>
                </a:solidFill>
                <a:effectLst/>
                <a:latin typeface="Microsoft YaHei" panose="020B0503020204020204" pitchFamily="34" charset="-122"/>
                <a:ea typeface="Microsoft YaHei" panose="020B0503020204020204" pitchFamily="34" charset="-122"/>
              </a:rPr>
              <a:t>国际专线开通，实现了与</a:t>
            </a:r>
            <a:r>
              <a:rPr lang="en-US" altLang="zh-CN" sz="1400" b="0" i="0" dirty="0">
                <a:solidFill>
                  <a:srgbClr val="333333"/>
                </a:solidFill>
                <a:effectLst/>
                <a:latin typeface="Microsoft YaHei" panose="020B0503020204020204" pitchFamily="34" charset="-122"/>
                <a:ea typeface="Microsoft YaHei" panose="020B0503020204020204" pitchFamily="34" charset="-122"/>
              </a:rPr>
              <a:t>Internet</a:t>
            </a:r>
            <a:r>
              <a:rPr lang="zh-CN" altLang="en-US" sz="1400" b="0" i="0" dirty="0">
                <a:solidFill>
                  <a:srgbClr val="333333"/>
                </a:solidFill>
                <a:effectLst/>
                <a:latin typeface="Microsoft YaHei" panose="020B0503020204020204" pitchFamily="34" charset="-122"/>
                <a:ea typeface="Microsoft YaHei" panose="020B0503020204020204" pitchFamily="34" charset="-122"/>
              </a:rPr>
              <a:t>的全功能连接。从此中国被国际上正式承认为真正拥有全功能</a:t>
            </a:r>
            <a:r>
              <a:rPr lang="en-US" altLang="zh-CN" sz="1400" b="0" i="0" dirty="0">
                <a:solidFill>
                  <a:srgbClr val="333333"/>
                </a:solidFill>
                <a:effectLst/>
                <a:latin typeface="Microsoft YaHei" panose="020B0503020204020204" pitchFamily="34" charset="-122"/>
                <a:ea typeface="Microsoft YaHei" panose="020B0503020204020204" pitchFamily="34" charset="-122"/>
              </a:rPr>
              <a:t>Internet</a:t>
            </a:r>
            <a:r>
              <a:rPr lang="zh-CN" altLang="en-US" sz="1400" b="0" i="0" dirty="0">
                <a:solidFill>
                  <a:srgbClr val="333333"/>
                </a:solidFill>
                <a:effectLst/>
                <a:latin typeface="Microsoft YaHei" panose="020B0503020204020204" pitchFamily="34" charset="-122"/>
                <a:ea typeface="Microsoft YaHei" panose="020B0503020204020204" pitchFamily="34" charset="-122"/>
              </a:rPr>
              <a:t>的国家。此事被中国新闻界评为</a:t>
            </a:r>
            <a:r>
              <a:rPr lang="en-US" altLang="zh-CN" sz="1400" b="0" i="0" dirty="0">
                <a:solidFill>
                  <a:srgbClr val="333333"/>
                </a:solidFill>
                <a:effectLst/>
                <a:latin typeface="Microsoft YaHei" panose="020B0503020204020204" pitchFamily="34" charset="-122"/>
                <a:ea typeface="Microsoft YaHei" panose="020B0503020204020204" pitchFamily="34" charset="-122"/>
              </a:rPr>
              <a:t>1994</a:t>
            </a:r>
            <a:r>
              <a:rPr lang="zh-CN" altLang="en-US" sz="1400" b="0" i="0" dirty="0">
                <a:solidFill>
                  <a:srgbClr val="333333"/>
                </a:solidFill>
                <a:effectLst/>
                <a:latin typeface="Microsoft YaHei" panose="020B0503020204020204" pitchFamily="34" charset="-122"/>
                <a:ea typeface="Microsoft YaHei" panose="020B0503020204020204" pitchFamily="34" charset="-122"/>
              </a:rPr>
              <a:t>年中国十大科技新闻之一，被国家统计公报列为中国</a:t>
            </a:r>
            <a:r>
              <a:rPr lang="en-US" altLang="zh-CN" sz="1400" b="0" i="0" dirty="0">
                <a:solidFill>
                  <a:srgbClr val="333333"/>
                </a:solidFill>
                <a:effectLst/>
                <a:latin typeface="Microsoft YaHei" panose="020B0503020204020204" pitchFamily="34" charset="-122"/>
                <a:ea typeface="Microsoft YaHei" panose="020B0503020204020204" pitchFamily="34" charset="-122"/>
              </a:rPr>
              <a:t>1994</a:t>
            </a:r>
            <a:r>
              <a:rPr lang="zh-CN" altLang="en-US" sz="1400" b="0" i="0" dirty="0">
                <a:solidFill>
                  <a:srgbClr val="333333"/>
                </a:solidFill>
                <a:effectLst/>
                <a:latin typeface="Microsoft YaHei" panose="020B0503020204020204" pitchFamily="34" charset="-122"/>
                <a:ea typeface="Microsoft YaHei" panose="020B0503020204020204" pitchFamily="34" charset="-122"/>
              </a:rPr>
              <a:t>年重大科技成就之一。</a:t>
            </a:r>
            <a:endParaRPr lang="en-US" altLang="zh-CN" sz="1400" b="0" i="0" dirty="0">
              <a:solidFill>
                <a:srgbClr val="333333"/>
              </a:solidFill>
              <a:effectLst/>
              <a:latin typeface="Microsoft YaHei" panose="020B0503020204020204" pitchFamily="34" charset="-122"/>
              <a:ea typeface="Microsoft YaHei" panose="020B0503020204020204" pitchFamily="34" charset="-122"/>
            </a:endParaRPr>
          </a:p>
          <a:p>
            <a:r>
              <a:rPr lang="zh-CN" altLang="en-US" sz="1400" b="0" i="0" dirty="0">
                <a:solidFill>
                  <a:srgbClr val="333333"/>
                </a:solidFill>
                <a:effectLst/>
                <a:latin typeface="Microsoft YaHei" panose="020B0503020204020204" pitchFamily="34" charset="-122"/>
                <a:ea typeface="Microsoft YaHei" panose="020B0503020204020204" pitchFamily="34" charset="-122"/>
              </a:rPr>
              <a:t>经过三十多年的发展，我国的网络规模发生了翻天覆地的变化</a:t>
            </a:r>
            <a:r>
              <a:rPr lang="en-US" altLang="zh-CN" sz="1400" b="0" i="0" dirty="0">
                <a:solidFill>
                  <a:srgbClr val="333333"/>
                </a:solidFill>
                <a:effectLst/>
                <a:latin typeface="Microsoft YaHei" panose="020B0503020204020204" pitchFamily="34" charset="-122"/>
                <a:ea typeface="Microsoft YaHei" panose="020B0503020204020204" pitchFamily="34" charset="-122"/>
              </a:rPr>
              <a:t>……</a:t>
            </a:r>
          </a:p>
          <a:p>
            <a:r>
              <a:rPr lang="zh-CN" altLang="en-US" sz="1400" b="0" i="0" dirty="0">
                <a:solidFill>
                  <a:srgbClr val="333333"/>
                </a:solidFill>
                <a:effectLst/>
                <a:latin typeface="Microsoft YaHei" panose="020B0503020204020204" pitchFamily="34" charset="-122"/>
                <a:ea typeface="Microsoft YaHei" panose="020B0503020204020204" pitchFamily="34" charset="-122"/>
              </a:rPr>
              <a:t>增强民族自豪感：中国互联网应用全球领先，美国维基百科活不下去了，但百度百科、搜狗百科等却非常活跃，中文搜索信息量暴增，我国在线</a:t>
            </a:r>
            <a:r>
              <a:rPr lang="en-US" altLang="zh-CN" sz="1400" b="0" i="0" dirty="0">
                <a:solidFill>
                  <a:srgbClr val="333333"/>
                </a:solidFill>
                <a:effectLst/>
                <a:latin typeface="Microsoft YaHei" panose="020B0503020204020204" pitchFamily="34" charset="-122"/>
                <a:ea typeface="Microsoft YaHei" panose="020B0503020204020204" pitchFamily="34" charset="-122"/>
              </a:rPr>
              <a:t>K12</a:t>
            </a:r>
            <a:r>
              <a:rPr lang="zh-CN" altLang="en-US" sz="1400" b="0" i="0" dirty="0">
                <a:solidFill>
                  <a:srgbClr val="333333"/>
                </a:solidFill>
                <a:effectLst/>
                <a:latin typeface="Microsoft YaHei" panose="020B0503020204020204" pitchFamily="34" charset="-122"/>
                <a:ea typeface="Microsoft YaHei" panose="020B0503020204020204" pitchFamily="34" charset="-122"/>
              </a:rPr>
              <a:t>市场如此火爆，法语、德育、意大利语呢？是不是会衰落呢？</a:t>
            </a:r>
            <a:endParaRPr lang="en-US" altLang="zh-CN" sz="1400" b="0" i="0" dirty="0">
              <a:solidFill>
                <a:srgbClr val="333333"/>
              </a:solidFill>
              <a:effectLst/>
              <a:latin typeface="Microsoft YaHei" panose="020B0503020204020204" pitchFamily="34" charset="-122"/>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109</a:t>
            </a:fld>
            <a:endParaRPr kumimoji="1" lang="zh-CN" altLang="en-US"/>
          </a:p>
        </p:txBody>
      </p:sp>
    </p:spTree>
    <p:extLst>
      <p:ext uri="{BB962C8B-B14F-4D97-AF65-F5344CB8AC3E}">
        <p14:creationId xmlns:p14="http://schemas.microsoft.com/office/powerpoint/2010/main" val="23862659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400" dirty="0"/>
              <a:t>https://</a:t>
            </a:r>
            <a:r>
              <a:rPr lang="en-US" altLang="zh-CN" sz="1400" dirty="0" err="1"/>
              <a:t>baike.baidu.com</a:t>
            </a:r>
            <a:r>
              <a:rPr lang="en-US" altLang="zh-CN" sz="1400" dirty="0"/>
              <a:t>/item/CNGI</a:t>
            </a:r>
          </a:p>
          <a:p>
            <a:r>
              <a:rPr lang="en-US" altLang="zh-CN" sz="1400" dirty="0"/>
              <a:t>http://</a:t>
            </a:r>
            <a:r>
              <a:rPr lang="en-US" altLang="zh-CN" sz="1400" dirty="0" err="1"/>
              <a:t>www.edu.cn</a:t>
            </a:r>
            <a:r>
              <a:rPr lang="en-US" altLang="zh-CN" sz="1400" dirty="0"/>
              <a:t>/</a:t>
            </a:r>
            <a:r>
              <a:rPr lang="en-US" altLang="zh-CN" sz="1400" dirty="0" err="1"/>
              <a:t>cernet_fu_wu</a:t>
            </a:r>
            <a:r>
              <a:rPr lang="en-US" altLang="zh-CN" sz="1400" dirty="0"/>
              <a:t>/internet_n2/internet2/201004/t20100426_469168.shtml</a:t>
            </a:r>
          </a:p>
          <a:p>
            <a:r>
              <a:rPr lang="zh-CN" altLang="en-US" sz="1400" dirty="0"/>
              <a:t>从战略和时间点，看出我国互联网快速发展：技术</a:t>
            </a:r>
            <a:r>
              <a:rPr lang="en-US" altLang="zh-CN" sz="1400" dirty="0"/>
              <a:t>&amp;</a:t>
            </a:r>
            <a:r>
              <a:rPr lang="zh-CN" altLang="en-US" sz="1400" dirty="0"/>
              <a:t>应用业务。</a:t>
            </a:r>
            <a:endParaRPr lang="en-US" altLang="zh-CN" sz="1400" dirty="0"/>
          </a:p>
          <a:p>
            <a:endParaRPr lang="en-US" altLang="zh-CN" sz="1400" dirty="0"/>
          </a:p>
          <a:p>
            <a:r>
              <a:rPr lang="en-US" altLang="zh-CN" sz="1400" dirty="0"/>
              <a:t>NGN</a:t>
            </a:r>
            <a:r>
              <a:rPr lang="zh-CN" altLang="en-US" sz="1400" dirty="0"/>
              <a:t>和</a:t>
            </a:r>
            <a:r>
              <a:rPr lang="en-US" altLang="zh-CN" sz="1400" dirty="0"/>
              <a:t>NGI</a:t>
            </a:r>
            <a:r>
              <a:rPr lang="zh-CN" altLang="en-US" sz="1400" dirty="0"/>
              <a:t>之争</a:t>
            </a:r>
            <a:endParaRPr lang="en-US" altLang="zh-CN" sz="1400" dirty="0"/>
          </a:p>
          <a:p>
            <a:r>
              <a:rPr lang="zh-CN" altLang="en-US" sz="1400" dirty="0"/>
              <a:t>传统电信思路：拨号上网的互联网是电话网的一个服务，好比传真也是依附在电话网上的一种服务，在此基础上发展</a:t>
            </a:r>
            <a:r>
              <a:rPr lang="en-US" altLang="zh-CN" sz="1400" dirty="0"/>
              <a:t>NGN</a:t>
            </a:r>
            <a:r>
              <a:rPr lang="zh-CN" altLang="en-US" sz="1400" dirty="0"/>
              <a:t>；底层传输使用电路交换，充分保障服务质量。</a:t>
            </a:r>
            <a:endParaRPr lang="en-US" altLang="zh-CN" sz="1400" dirty="0"/>
          </a:p>
          <a:p>
            <a:r>
              <a:rPr lang="zh-CN" altLang="en-US" sz="1400" dirty="0"/>
              <a:t>互联网思路：电话业务是互联网上的一个服务，就像电子邮件、文件传输等众多服务一样，在此基础上发展</a:t>
            </a:r>
            <a:r>
              <a:rPr lang="en-US" altLang="zh-CN" sz="1400" dirty="0"/>
              <a:t>NGI</a:t>
            </a:r>
            <a:r>
              <a:rPr lang="zh-CN" altLang="en-US" sz="1400" dirty="0"/>
              <a:t>；底层传输采用分组交换，充分支持灵活高效的复用。</a:t>
            </a:r>
            <a:endParaRPr lang="en-US" altLang="zh-CN" sz="1400" dirty="0"/>
          </a:p>
          <a:p>
            <a:r>
              <a:rPr lang="zh-CN" altLang="en-US" sz="1400" dirty="0"/>
              <a:t>最终结果：电信网络都采用了软交换，即依托分组交换来承载话音业务。分组交换的互联网胜出！</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110</a:t>
            </a:fld>
            <a:endParaRPr kumimoji="1" lang="zh-CN" altLang="en-US"/>
          </a:p>
        </p:txBody>
      </p:sp>
    </p:spTree>
    <p:extLst>
      <p:ext uri="{BB962C8B-B14F-4D97-AF65-F5344CB8AC3E}">
        <p14:creationId xmlns:p14="http://schemas.microsoft.com/office/powerpoint/2010/main" val="12937558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800" dirty="0"/>
              <a:t>1989</a:t>
            </a:r>
            <a:r>
              <a:rPr kumimoji="1" lang="zh-CN" altLang="en-US" sz="1800" dirty="0"/>
              <a:t>从加拿大回国投身祖国建设，时势造英雄。</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111</a:t>
            </a:fld>
            <a:endParaRPr kumimoji="1" lang="zh-CN" altLang="en-US"/>
          </a:p>
        </p:txBody>
      </p:sp>
    </p:spTree>
    <p:extLst>
      <p:ext uri="{BB962C8B-B14F-4D97-AF65-F5344CB8AC3E}">
        <p14:creationId xmlns:p14="http://schemas.microsoft.com/office/powerpoint/2010/main" val="392866656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三个级别：地区级、省级、接入用户</a:t>
            </a:r>
            <a:endParaRPr lang="en-US" altLang="zh-CN" dirty="0"/>
          </a:p>
          <a:p>
            <a:r>
              <a:rPr lang="zh-CN" altLang="en-US" dirty="0"/>
              <a:t>八大地区中心采用</a:t>
            </a:r>
            <a:r>
              <a:rPr lang="en-US" altLang="zh-CN" dirty="0"/>
              <a:t>IBGP</a:t>
            </a:r>
            <a:r>
              <a:rPr lang="zh-CN" altLang="en-US" dirty="0"/>
              <a:t>实现全连接</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075FF09-559A-413E-B23E-0DFCD03CDBD8}" type="slidenum">
              <a:rPr lang="zh-CN" altLang="en-US" smtClean="0"/>
              <a:t>112</a:t>
            </a:fld>
            <a:endParaRPr lang="zh-CN" altLang="en-US"/>
          </a:p>
        </p:txBody>
      </p:sp>
    </p:spTree>
    <p:extLst>
      <p:ext uri="{BB962C8B-B14F-4D97-AF65-F5344CB8AC3E}">
        <p14:creationId xmlns:p14="http://schemas.microsoft.com/office/powerpoint/2010/main" val="20645747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200" dirty="0">
                <a:solidFill>
                  <a:schemeClr val="tx1"/>
                </a:solidFill>
                <a:latin typeface="+mn-lt"/>
                <a:ea typeface="+mn-ea"/>
                <a:cs typeface="+mn-cs"/>
              </a:rPr>
              <a:t>此处可以选讲我国代表性的设备厂商华为</a:t>
            </a:r>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https://</a:t>
            </a:r>
            <a:r>
              <a:rPr lang="en-US" altLang="zh-CN" sz="1800" kern="1200" dirty="0" err="1">
                <a:solidFill>
                  <a:schemeClr val="tx1"/>
                </a:solidFill>
                <a:latin typeface="+mn-lt"/>
                <a:ea typeface="+mn-ea"/>
                <a:cs typeface="+mn-cs"/>
              </a:rPr>
              <a:t>baike.baidu.com</a:t>
            </a:r>
            <a:r>
              <a:rPr lang="en-US" altLang="zh-CN" sz="1800" kern="1200" dirty="0">
                <a:solidFill>
                  <a:schemeClr val="tx1"/>
                </a:solidFill>
                <a:latin typeface="+mn-lt"/>
                <a:ea typeface="+mn-ea"/>
                <a:cs typeface="+mn-cs"/>
              </a:rPr>
              <a:t>/item/</a:t>
            </a:r>
            <a:r>
              <a:rPr lang="zh-CN" altLang="en-US" sz="1800" kern="1200" dirty="0">
                <a:solidFill>
                  <a:schemeClr val="tx1"/>
                </a:solidFill>
                <a:latin typeface="+mn-lt"/>
                <a:ea typeface="+mn-ea"/>
                <a:cs typeface="+mn-cs"/>
              </a:rPr>
              <a:t>华为的冬天</a:t>
            </a:r>
            <a:endParaRPr lang="en-US" altLang="zh-CN" sz="1800" kern="1200" dirty="0">
              <a:solidFill>
                <a:schemeClr val="tx1"/>
              </a:solidFill>
              <a:latin typeface="+mn-lt"/>
              <a:ea typeface="+mn-ea"/>
              <a:cs typeface="+mn-cs"/>
            </a:endParaRPr>
          </a:p>
          <a:p>
            <a:r>
              <a:rPr lang="zh-CN" altLang="en-US" sz="1800" kern="1200" dirty="0">
                <a:solidFill>
                  <a:schemeClr val="tx1"/>
                </a:solidFill>
                <a:latin typeface="+mn-lt"/>
                <a:ea typeface="+mn-ea"/>
                <a:cs typeface="+mn-cs"/>
              </a:rPr>
              <a:t>朗讯的倒下</a:t>
            </a:r>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https://</a:t>
            </a:r>
            <a:r>
              <a:rPr lang="en-US" altLang="zh-CN" sz="1800" kern="1200" dirty="0" err="1">
                <a:solidFill>
                  <a:schemeClr val="tx1"/>
                </a:solidFill>
                <a:latin typeface="+mn-lt"/>
                <a:ea typeface="+mn-ea"/>
                <a:cs typeface="+mn-cs"/>
              </a:rPr>
              <a:t>kuaibao.qq.com</a:t>
            </a:r>
            <a:r>
              <a:rPr lang="en-US" altLang="zh-CN" sz="1800" kern="1200" dirty="0">
                <a:solidFill>
                  <a:schemeClr val="tx1"/>
                </a:solidFill>
                <a:latin typeface="+mn-lt"/>
                <a:ea typeface="+mn-ea"/>
                <a:cs typeface="+mn-cs"/>
              </a:rPr>
              <a:t>/s/20190625A0T58000?refer=spider</a:t>
            </a:r>
          </a:p>
          <a:p>
            <a:r>
              <a:rPr lang="en-US" altLang="zh-CN" sz="1800" kern="1200" dirty="0">
                <a:solidFill>
                  <a:schemeClr val="tx1"/>
                </a:solidFill>
                <a:latin typeface="+mn-lt"/>
                <a:ea typeface="+mn-ea"/>
                <a:cs typeface="+mn-cs"/>
              </a:rPr>
              <a:t>http://</a:t>
            </a:r>
            <a:r>
              <a:rPr lang="en-US" altLang="zh-CN" sz="1800" kern="1200" dirty="0" err="1">
                <a:solidFill>
                  <a:schemeClr val="tx1"/>
                </a:solidFill>
                <a:latin typeface="+mn-lt"/>
                <a:ea typeface="+mn-ea"/>
                <a:cs typeface="+mn-cs"/>
              </a:rPr>
              <a:t>bbs.tianya.cn</a:t>
            </a:r>
            <a:r>
              <a:rPr lang="en-US" altLang="zh-CN" sz="1800" kern="1200" dirty="0">
                <a:solidFill>
                  <a:schemeClr val="tx1"/>
                </a:solidFill>
                <a:latin typeface="+mn-lt"/>
                <a:ea typeface="+mn-ea"/>
                <a:cs typeface="+mn-cs"/>
              </a:rPr>
              <a:t>/post-hn-3821-1.shtml</a:t>
            </a:r>
          </a:p>
          <a:p>
            <a:endParaRPr lang="en-US" altLang="zh-CN" sz="1800" kern="1200" dirty="0">
              <a:solidFill>
                <a:schemeClr val="tx1"/>
              </a:solidFill>
              <a:latin typeface="+mn-lt"/>
              <a:ea typeface="+mn-ea"/>
              <a:cs typeface="+mn-cs"/>
            </a:endParaRPr>
          </a:p>
          <a:p>
            <a:r>
              <a:rPr lang="zh-CN" altLang="en-US" sz="1800" kern="1200" dirty="0">
                <a:solidFill>
                  <a:schemeClr val="tx1"/>
                </a:solidFill>
                <a:latin typeface="+mn-lt"/>
                <a:ea typeface="+mn-ea"/>
                <a:cs typeface="+mn-cs"/>
              </a:rPr>
              <a:t>备胎转正：  </a:t>
            </a:r>
            <a:r>
              <a:rPr lang="en-US" altLang="zh-CN" sz="1800" kern="1200" dirty="0">
                <a:solidFill>
                  <a:schemeClr val="tx1"/>
                </a:solidFill>
                <a:latin typeface="+mn-lt"/>
                <a:ea typeface="+mn-ea"/>
                <a:cs typeface="+mn-cs"/>
              </a:rPr>
              <a:t>https://</a:t>
            </a:r>
            <a:r>
              <a:rPr lang="en-US" altLang="zh-CN" sz="1800" kern="1200" dirty="0" err="1">
                <a:solidFill>
                  <a:schemeClr val="tx1"/>
                </a:solidFill>
                <a:latin typeface="+mn-lt"/>
                <a:ea typeface="+mn-ea"/>
                <a:cs typeface="+mn-cs"/>
              </a:rPr>
              <a:t>www.sohu.com</a:t>
            </a:r>
            <a:r>
              <a:rPr lang="en-US" altLang="zh-CN" sz="1800" kern="1200" dirty="0">
                <a:solidFill>
                  <a:schemeClr val="tx1"/>
                </a:solidFill>
                <a:latin typeface="+mn-lt"/>
                <a:ea typeface="+mn-ea"/>
                <a:cs typeface="+mn-cs"/>
              </a:rPr>
              <a:t>/a/314877520_198937</a:t>
            </a:r>
          </a:p>
          <a:p>
            <a:endParaRPr lang="en-US" altLang="zh-CN" sz="1800" kern="1200" dirty="0">
              <a:solidFill>
                <a:schemeClr val="tx1"/>
              </a:solidFill>
              <a:latin typeface="+mn-lt"/>
              <a:ea typeface="+mn-ea"/>
              <a:cs typeface="+mn-cs"/>
            </a:endParaRPr>
          </a:p>
          <a:p>
            <a:r>
              <a:rPr lang="en-US" altLang="zh-CN" sz="1800" kern="1200" dirty="0">
                <a:solidFill>
                  <a:schemeClr val="tx1"/>
                </a:solidFill>
                <a:latin typeface="+mn-lt"/>
                <a:ea typeface="+mn-ea"/>
                <a:cs typeface="+mn-cs"/>
              </a:rPr>
              <a:t>2018</a:t>
            </a:r>
            <a:r>
              <a:rPr lang="zh-CN" altLang="en-US" sz="1800" kern="1200" dirty="0">
                <a:solidFill>
                  <a:schemeClr val="tx1"/>
                </a:solidFill>
                <a:latin typeface="+mn-lt"/>
                <a:ea typeface="+mn-ea"/>
                <a:cs typeface="+mn-cs"/>
              </a:rPr>
              <a:t>年以后的，中美科技对弈中出现最频繁的一个</a:t>
            </a:r>
            <a:r>
              <a:rPr lang="zh-CN" altLang="en-US" sz="1800" dirty="0"/>
              <a:t>公司就是华为，这里简要介绍一下这家网络公司。</a:t>
            </a:r>
            <a:endParaRPr lang="en-US" altLang="zh-CN" sz="1800" dirty="0"/>
          </a:p>
          <a:p>
            <a:r>
              <a:rPr lang="zh-CN" altLang="en-US" sz="1800" dirty="0"/>
              <a:t>华为成立于</a:t>
            </a:r>
            <a:r>
              <a:rPr lang="en-US" altLang="zh-CN" sz="1800" dirty="0"/>
              <a:t>1987</a:t>
            </a:r>
            <a:r>
              <a:rPr lang="zh-CN" altLang="en-US" sz="1800" dirty="0"/>
              <a:t>年，与另一家网络巨头美国公司思科属于同时代的公司（思科是</a:t>
            </a:r>
            <a:r>
              <a:rPr lang="en-US" altLang="zh-CN" sz="1800" dirty="0"/>
              <a:t>1984</a:t>
            </a:r>
            <a:r>
              <a:rPr lang="zh-CN" altLang="en-US" sz="1800" dirty="0"/>
              <a:t>年），经过三十多年的发展，华为已经发展成为业界第一的网络公司，尤其是在运营商网络领域。</a:t>
            </a:r>
            <a:endParaRPr lang="en-US" altLang="zh-CN" sz="1800" dirty="0"/>
          </a:p>
          <a:p>
            <a:r>
              <a:rPr lang="zh-CN" altLang="en-US" sz="1800" dirty="0"/>
              <a:t>从学术创新，到产业落地的技术创新，到制定国际标准。核心是科技创新能力和具有创新能力的高端人才。</a:t>
            </a:r>
            <a:endParaRPr lang="en-US" altLang="zh-CN" sz="1800" dirty="0"/>
          </a:p>
          <a:p>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华为招聘</a:t>
            </a:r>
            <a:r>
              <a:rPr lang="en-US" altLang="zh-CN" sz="1800" dirty="0"/>
              <a:t>200</a:t>
            </a:r>
            <a:r>
              <a:rPr lang="zh-CN" altLang="en-US" sz="1800" dirty="0"/>
              <a:t>万年薪的“天才少年”，当然不仅仅是个别的</a:t>
            </a:r>
            <a:r>
              <a:rPr lang="en-US" altLang="zh-CN" sz="1800" dirty="0"/>
              <a:t> </a:t>
            </a:r>
            <a:r>
              <a:rPr lang="zh-CN" altLang="en-US" sz="1800" dirty="0"/>
              <a:t>“天才少年”，华为等一批大厂，都向高端技术人员特别是研究人员倾斜，越来越注重核心技术创新！同学们，加油啊！</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dirty="0"/>
          </a:p>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113</a:t>
            </a:fld>
            <a:endParaRPr kumimoji="1" lang="zh-CN" altLang="en-US"/>
          </a:p>
        </p:txBody>
      </p:sp>
    </p:spTree>
    <p:extLst>
      <p:ext uri="{BB962C8B-B14F-4D97-AF65-F5344CB8AC3E}">
        <p14:creationId xmlns:p14="http://schemas.microsoft.com/office/powerpoint/2010/main" val="20295277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E6C9AC36-F551-8142-B918-8641B516A611}" type="datetime1">
              <a:rPr kumimoji="1" lang="zh-CN" altLang="en-US" smtClean="0"/>
              <a:t>2025/9/8</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20802"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0" spc="600" dirty="0">
                <a:solidFill>
                  <a:schemeClr val="bg1"/>
                </a:solidFill>
                <a:latin typeface="微软雅黑" panose="020B0503020204020204" pitchFamily="34" charset="-122"/>
                <a:ea typeface="微软雅黑" panose="020B0503020204020204" pitchFamily="34" charset="-122"/>
              </a:rPr>
              <a:t>	</a:t>
            </a: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pic>
        <p:nvPicPr>
          <p:cNvPr id="6" name="图片 5"/>
          <p:cNvPicPr>
            <a:picLocks noChangeAspect="1"/>
          </p:cNvPicPr>
          <p:nvPr userDrawn="1"/>
        </p:nvPicPr>
        <p:blipFill>
          <a:blip r:embed="rId2"/>
          <a:stretch>
            <a:fillRect/>
          </a:stretch>
        </p:blipFill>
        <p:spPr>
          <a:xfrm>
            <a:off x="5113946" y="5259189"/>
            <a:ext cx="3039454" cy="547885"/>
          </a:xfrm>
          <a:prstGeom prst="rect">
            <a:avLst/>
          </a:prstGeom>
        </p:spPr>
      </p:pic>
      <p:pic>
        <p:nvPicPr>
          <p:cNvPr id="9" name="图片 8"/>
          <p:cNvPicPr>
            <a:picLocks noChangeAspect="1"/>
          </p:cNvPicPr>
          <p:nvPr userDrawn="1"/>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D9F44458-A3AD-7248-AB3A-A80099144E2A}" type="datetime1">
              <a:rPr kumimoji="1" lang="zh-CN" altLang="en-US" smtClean="0"/>
              <a:t>2025/9/8</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1024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4290EBB2-4D7C-084A-BE30-AC939B671EC1}" type="datetime1">
              <a:rPr kumimoji="1" lang="zh-CN" altLang="en-US" smtClean="0"/>
              <a:t>2025/9/8</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4303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6"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0909CBCB-4772-C140-A4B1-31188B93BC68}"/>
              </a:ext>
            </a:extLst>
          </p:cNvPr>
          <p:cNvSpPr>
            <a:spLocks noGrp="1" noChangeArrowheads="1"/>
          </p:cNvSpPr>
          <p:nvPr>
            <p:ph type="dt" sz="half" idx="10"/>
          </p:nvPr>
        </p:nvSpPr>
        <p:spPr>
          <a:ln/>
        </p:spPr>
        <p:txBody>
          <a:bodyPr/>
          <a:lstStyle>
            <a:lvl1pPr>
              <a:defRPr/>
            </a:lvl1pPr>
          </a:lstStyle>
          <a:p>
            <a:pPr>
              <a:defRPr/>
            </a:pPr>
            <a:fld id="{45C7992C-DF72-7644-B12E-329898B62496}" type="datetime1">
              <a:rPr lang="zh-CN" altLang="en-US" smtClean="0"/>
              <a:t>2025/9/8</a:t>
            </a:fld>
            <a:endParaRPr lang="en-US" altLang="zh-CN"/>
          </a:p>
        </p:txBody>
      </p:sp>
      <p:sp>
        <p:nvSpPr>
          <p:cNvPr id="4" name="Rectangle 7">
            <a:extLst>
              <a:ext uri="{FF2B5EF4-FFF2-40B4-BE49-F238E27FC236}">
                <a16:creationId xmlns:a16="http://schemas.microsoft.com/office/drawing/2014/main" id="{ED82BB1B-5A33-BF46-ADBA-8265C3C1C52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6B5948C6-0782-6042-A859-FD82FD45C478}" type="datetime1">
              <a:rPr kumimoji="1" lang="zh-CN" altLang="en-US" smtClean="0"/>
              <a:t>2025/9/8</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image" Target="../media/image12.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38.png"/><Relationship Id="rId3" Type="http://schemas.openxmlformats.org/officeDocument/2006/relationships/image" Target="../media/image19.png"/><Relationship Id="rId7" Type="http://schemas.openxmlformats.org/officeDocument/2006/relationships/image" Target="../media/image35.png"/><Relationship Id="rId12"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24.png"/><Relationship Id="rId5" Type="http://schemas.openxmlformats.org/officeDocument/2006/relationships/image" Target="../media/image33.png"/><Relationship Id="rId10" Type="http://schemas.openxmlformats.org/officeDocument/2006/relationships/image" Target="../media/image15.png"/><Relationship Id="rId4" Type="http://schemas.openxmlformats.org/officeDocument/2006/relationships/image" Target="../media/image20.png"/><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0.jpe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26" Type="http://schemas.openxmlformats.org/officeDocument/2006/relationships/image" Target="../media/image63.png"/><Relationship Id="rId3" Type="http://schemas.openxmlformats.org/officeDocument/2006/relationships/image" Target="../media/image41.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5" Type="http://schemas.openxmlformats.org/officeDocument/2006/relationships/image" Target="../media/image62.png"/><Relationship Id="rId2" Type="http://schemas.openxmlformats.org/officeDocument/2006/relationships/notesSlide" Target="../notesSlides/notesSlide35.xml"/><Relationship Id="rId16" Type="http://schemas.openxmlformats.org/officeDocument/2006/relationships/image" Target="../media/image53.png"/><Relationship Id="rId20" Type="http://schemas.openxmlformats.org/officeDocument/2006/relationships/image" Target="../media/image57.png"/><Relationship Id="rId29"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24" Type="http://schemas.openxmlformats.org/officeDocument/2006/relationships/image" Target="../media/image61.png"/><Relationship Id="rId5" Type="http://schemas.openxmlformats.org/officeDocument/2006/relationships/image" Target="../media/image29.png"/><Relationship Id="rId15" Type="http://schemas.openxmlformats.org/officeDocument/2006/relationships/image" Target="../media/image52.png"/><Relationship Id="rId23" Type="http://schemas.openxmlformats.org/officeDocument/2006/relationships/image" Target="../media/image60.png"/><Relationship Id="rId28" Type="http://schemas.openxmlformats.org/officeDocument/2006/relationships/image" Target="../media/image64.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2.png"/><Relationship Id="rId9" Type="http://schemas.openxmlformats.org/officeDocument/2006/relationships/image" Target="../media/image46.png"/><Relationship Id="rId14" Type="http://schemas.openxmlformats.org/officeDocument/2006/relationships/image" Target="../media/image51.png"/><Relationship Id="rId22" Type="http://schemas.openxmlformats.org/officeDocument/2006/relationships/image" Target="../media/image59.png"/><Relationship Id="rId27" Type="http://schemas.openxmlformats.org/officeDocument/2006/relationships/image" Target="../media/image19.png"/></Relationships>
</file>

<file path=ppt/slides/_rels/slide5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5.jpeg"/><Relationship Id="rId3" Type="http://schemas.openxmlformats.org/officeDocument/2006/relationships/notesSlide" Target="../notesSlides/notesSlide36.xml"/><Relationship Id="rId7" Type="http://schemas.openxmlformats.org/officeDocument/2006/relationships/oleObject" Target="../embeddings/oleObject3.bin"/><Relationship Id="rId12" Type="http://schemas.openxmlformats.org/officeDocument/2006/relationships/image" Target="../media/image74.jpeg"/><Relationship Id="rId17" Type="http://schemas.openxmlformats.org/officeDocument/2006/relationships/image" Target="../media/image79.png"/><Relationship Id="rId2" Type="http://schemas.openxmlformats.org/officeDocument/2006/relationships/slideLayout" Target="../slideLayouts/slideLayout2.xml"/><Relationship Id="rId16" Type="http://schemas.openxmlformats.org/officeDocument/2006/relationships/image" Target="../media/image78.png"/><Relationship Id="rId1" Type="http://schemas.openxmlformats.org/officeDocument/2006/relationships/vmlDrawing" Target="../drawings/vmlDrawing3.vml"/><Relationship Id="rId6" Type="http://schemas.openxmlformats.org/officeDocument/2006/relationships/image" Target="../media/image70.jpeg"/><Relationship Id="rId11" Type="http://schemas.openxmlformats.org/officeDocument/2006/relationships/image" Target="../media/image73.jpeg"/><Relationship Id="rId5" Type="http://schemas.openxmlformats.org/officeDocument/2006/relationships/image" Target="../media/image69.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68.png"/><Relationship Id="rId9" Type="http://schemas.openxmlformats.org/officeDocument/2006/relationships/image" Target="../media/image71.emf"/><Relationship Id="rId14" Type="http://schemas.openxmlformats.org/officeDocument/2006/relationships/image" Target="../media/image76.png"/></Relationships>
</file>

<file path=ppt/slides/_rels/slide5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82.jpeg"/><Relationship Id="rId4" Type="http://schemas.openxmlformats.org/officeDocument/2006/relationships/image" Target="../media/image81.jpeg"/></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jpeg"/><Relationship Id="rId9" Type="http://schemas.openxmlformats.org/officeDocument/2006/relationships/image" Target="../media/image89.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92.png"/><Relationship Id="rId1" Type="http://schemas.openxmlformats.org/officeDocument/2006/relationships/slideLayout" Target="../slideLayouts/slideLayout4.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8.png"/></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hyperlink" Target="http://www.ebay.com/" TargetMode="External"/><Relationship Id="rId13" Type="http://schemas.openxmlformats.org/officeDocument/2006/relationships/image" Target="../media/image105.jpeg"/><Relationship Id="rId18" Type="http://schemas.openxmlformats.org/officeDocument/2006/relationships/image" Target="../media/image109.png"/><Relationship Id="rId26" Type="http://schemas.openxmlformats.org/officeDocument/2006/relationships/image" Target="../media/image114.jpeg"/><Relationship Id="rId3" Type="http://schemas.openxmlformats.org/officeDocument/2006/relationships/image" Target="../media/image99.png"/><Relationship Id="rId21" Type="http://schemas.openxmlformats.org/officeDocument/2006/relationships/image" Target="../media/image111.jpeg"/><Relationship Id="rId7" Type="http://schemas.openxmlformats.org/officeDocument/2006/relationships/image" Target="../media/image101.png"/><Relationship Id="rId12" Type="http://schemas.openxmlformats.org/officeDocument/2006/relationships/image" Target="../media/image104.png"/><Relationship Id="rId17" Type="http://schemas.microsoft.com/office/2007/relationships/hdphoto" Target="../media/hdphoto2.wdp"/><Relationship Id="rId25" Type="http://schemas.openxmlformats.org/officeDocument/2006/relationships/hyperlink" Target="http://images.google.com/imgres?imgurl=http://www.wpclipart.com/telephone/telephone_cartoon.png&amp;imgrefurl=http://policeonthescene.libsyn.com/&amp;h=264&amp;w=270&amp;sz=37&amp;hl=en&amp;start=8&amp;tbnid=8sTVCGh5uzf1gM:&amp;tbnh=110&amp;tbnw=113&amp;prev=/images?q=telephone&amp;gbv=2&amp;hl=en" TargetMode="External"/><Relationship Id="rId2" Type="http://schemas.openxmlformats.org/officeDocument/2006/relationships/notesSlide" Target="../notesSlides/notesSlide54.xml"/><Relationship Id="rId16" Type="http://schemas.openxmlformats.org/officeDocument/2006/relationships/image" Target="../media/image108.png"/><Relationship Id="rId20" Type="http://schemas.microsoft.com/office/2007/relationships/hdphoto" Target="../media/hdphoto3.wdp"/><Relationship Id="rId29"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hyperlink" Target="http://www.facebook.com/r.php" TargetMode="External"/><Relationship Id="rId11" Type="http://schemas.openxmlformats.org/officeDocument/2006/relationships/image" Target="../media/image103.jpeg"/><Relationship Id="rId24" Type="http://schemas.openxmlformats.org/officeDocument/2006/relationships/image" Target="../media/image113.jpeg"/><Relationship Id="rId32" Type="http://schemas.openxmlformats.org/officeDocument/2006/relationships/image" Target="../media/image119.jpeg"/><Relationship Id="rId5" Type="http://schemas.openxmlformats.org/officeDocument/2006/relationships/image" Target="../media/image100.jpeg"/><Relationship Id="rId15" Type="http://schemas.openxmlformats.org/officeDocument/2006/relationships/image" Target="../media/image107.jpeg"/><Relationship Id="rId23" Type="http://schemas.microsoft.com/office/2007/relationships/hdphoto" Target="../media/hdphoto4.wdp"/><Relationship Id="rId28" Type="http://schemas.openxmlformats.org/officeDocument/2006/relationships/image" Target="../media/image115.jpeg"/><Relationship Id="rId10" Type="http://schemas.microsoft.com/office/2007/relationships/hdphoto" Target="../media/hdphoto1.wdp"/><Relationship Id="rId19" Type="http://schemas.openxmlformats.org/officeDocument/2006/relationships/image" Target="../media/image110.png"/><Relationship Id="rId31" Type="http://schemas.openxmlformats.org/officeDocument/2006/relationships/image" Target="../media/image118.jpeg"/><Relationship Id="rId4" Type="http://schemas.openxmlformats.org/officeDocument/2006/relationships/hyperlink" Target="http://images.google.com/imgres?imgurl=http://www.uberreview.com/wp-content/uploads/youtube_logo.jpg&amp;imgrefurl=http://current.com/items/88859385_youtube_criticised_for_gang_rape_video&amp;h=450&amp;w=600&amp;sz=27&amp;hl=en&amp;start=18&amp;tbnid=uG9PhuBLX4dJJM:&amp;tbnh=101&amp;tbnw=135&amp;prev=/images?q=youtube&amp;gbv=2&amp;hl=en" TargetMode="External"/><Relationship Id="rId9" Type="http://schemas.openxmlformats.org/officeDocument/2006/relationships/image" Target="../media/image102.png"/><Relationship Id="rId14" Type="http://schemas.openxmlformats.org/officeDocument/2006/relationships/image" Target="../media/image106.jpeg"/><Relationship Id="rId22" Type="http://schemas.openxmlformats.org/officeDocument/2006/relationships/image" Target="../media/image112.png"/><Relationship Id="rId27" Type="http://schemas.openxmlformats.org/officeDocument/2006/relationships/hyperlink" Target="http://images.google.com/imgres?imgurl=http://rtmulcahy.files.wordpress.com/2007/06/cellphone.gif&amp;imgrefurl=http://rtmulcahy.wordpress.com/2007/06/&amp;h=360&amp;w=334&amp;sz=36&amp;hl=en&amp;start=1&amp;tbnid=xT9wMZ61r7KFCM:&amp;tbnh=121&amp;tbnw=112&amp;prev=/images?q=cell+phone&amp;gbv=2&amp;hl=en" TargetMode="External"/><Relationship Id="rId30" Type="http://schemas.openxmlformats.org/officeDocument/2006/relationships/image" Target="../media/image117.jpe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20.png"/></Relationships>
</file>

<file path=ppt/slides/_rels/slide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23.jpeg"/></Relationships>
</file>

<file path=ppt/slides/_rels/slide9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image" Target="../media/image125.jpeg"/></Relationships>
</file>

<file path=ppt/slides/_rels/slide98.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131.jpeg"/><Relationship Id="rId4" Type="http://schemas.openxmlformats.org/officeDocument/2006/relationships/image" Target="../media/image130.wmf"/></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hyperlink" Target="https://www.githubs.cn/"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5.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111.xml.rels><?xml version="1.0" encoding="UTF-8" standalone="yes"?>
<Relationships xmlns="http://schemas.openxmlformats.org/package/2006/relationships"><Relationship Id="rId3" Type="http://schemas.openxmlformats.org/officeDocument/2006/relationships/image" Target="../media/image140.gi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42.jpeg"/></Relationships>
</file>

<file path=ppt/slides/_rels/slide113.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146.wmf"/><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45.wmf"/><Relationship Id="rId5" Type="http://schemas.openxmlformats.org/officeDocument/2006/relationships/image" Target="../media/image144.png"/><Relationship Id="rId4" Type="http://schemas.openxmlformats.org/officeDocument/2006/relationships/image" Target="../media/image143.png"/></Relationships>
</file>

<file path=ppt/slides/_rels/slide1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148.jpe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1D2C24A-8636-AF41-9B6B-D4A6C730B849}"/>
              </a:ext>
            </a:extLst>
          </p:cNvPr>
          <p:cNvSpPr>
            <a:spLocks noGrp="1" noChangeArrowheads="1"/>
          </p:cNvSpPr>
          <p:nvPr>
            <p:ph type="ctrTitle"/>
          </p:nvPr>
        </p:nvSpPr>
        <p:spPr>
          <a:xfrm>
            <a:off x="2133600" y="1828800"/>
            <a:ext cx="7772400" cy="1143000"/>
          </a:xfrm>
        </p:spPr>
        <p:txBody>
          <a:bodyPr/>
          <a:lstStyle/>
          <a:p>
            <a:pPr eaLnBrk="1" hangingPunct="1"/>
            <a:r>
              <a:rPr lang="zh-CN" altLang="en-US" sz="6600" dirty="0"/>
              <a:t>计算机网络</a:t>
            </a:r>
          </a:p>
        </p:txBody>
      </p:sp>
      <p:sp>
        <p:nvSpPr>
          <p:cNvPr id="5123" name="Rectangle 3">
            <a:extLst>
              <a:ext uri="{FF2B5EF4-FFF2-40B4-BE49-F238E27FC236}">
                <a16:creationId xmlns:a16="http://schemas.microsoft.com/office/drawing/2014/main" id="{6CAD0BAA-B31F-7444-935F-4382504FBDCF}"/>
              </a:ext>
            </a:extLst>
          </p:cNvPr>
          <p:cNvSpPr>
            <a:spLocks noGrp="1" noChangeArrowheads="1"/>
          </p:cNvSpPr>
          <p:nvPr>
            <p:ph type="subTitle" idx="1"/>
          </p:nvPr>
        </p:nvSpPr>
        <p:spPr>
          <a:xfrm>
            <a:off x="2362200" y="3733800"/>
            <a:ext cx="7543800" cy="1524000"/>
          </a:xfrm>
        </p:spPr>
        <p:txBody>
          <a:bodyPr>
            <a:normAutofit/>
          </a:bodyPr>
          <a:lstStyle/>
          <a:p>
            <a:pPr>
              <a:lnSpc>
                <a:spcPct val="150000"/>
              </a:lnSpc>
            </a:pPr>
            <a:r>
              <a:rPr kumimoji="1" lang="zh-CN" altLang="en-US" sz="3600"/>
              <a:t>计算机网络课程组</a:t>
            </a:r>
            <a:endParaRPr kumimoji="1" lang="en-US" altLang="zh-CN" sz="3600" dirty="0"/>
          </a:p>
          <a:p>
            <a:pPr>
              <a:lnSpc>
                <a:spcPct val="150000"/>
              </a:lnSpc>
            </a:pPr>
            <a:endParaRPr kumimoji="1" lang="en-US" altLang="zh-CN" sz="3600" dirty="0"/>
          </a:p>
        </p:txBody>
      </p:sp>
    </p:spTree>
    <p:extLst>
      <p:ext uri="{BB962C8B-B14F-4D97-AF65-F5344CB8AC3E}">
        <p14:creationId xmlns:p14="http://schemas.microsoft.com/office/powerpoint/2010/main" val="1036279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FBB2B6A-0D14-6347-8342-4216CEB590B3}"/>
              </a:ext>
            </a:extLst>
          </p:cNvPr>
          <p:cNvSpPr>
            <a:spLocks noGrp="1" noChangeArrowheads="1"/>
          </p:cNvSpPr>
          <p:nvPr>
            <p:ph type="title"/>
          </p:nvPr>
        </p:nvSpPr>
        <p:spPr/>
        <p:txBody>
          <a:bodyPr>
            <a:normAutofit/>
          </a:bodyPr>
          <a:lstStyle/>
          <a:p>
            <a:r>
              <a:rPr lang="zh-CN" altLang="en-US" dirty="0"/>
              <a:t>课程的任务、目的和基本要求</a:t>
            </a:r>
          </a:p>
        </p:txBody>
      </p:sp>
      <p:sp>
        <p:nvSpPr>
          <p:cNvPr id="9219" name="Rectangle 3">
            <a:extLst>
              <a:ext uri="{FF2B5EF4-FFF2-40B4-BE49-F238E27FC236}">
                <a16:creationId xmlns:a16="http://schemas.microsoft.com/office/drawing/2014/main" id="{5C6F2343-F0D6-D94C-8A33-AA95B3EB0144}"/>
              </a:ext>
            </a:extLst>
          </p:cNvPr>
          <p:cNvSpPr>
            <a:spLocks noGrp="1" noChangeArrowheads="1"/>
          </p:cNvSpPr>
          <p:nvPr>
            <p:ph idx="1"/>
          </p:nvPr>
        </p:nvSpPr>
        <p:spPr/>
        <p:txBody>
          <a:bodyPr/>
          <a:lstStyle/>
          <a:p>
            <a:pPr>
              <a:lnSpc>
                <a:spcPct val="120000"/>
              </a:lnSpc>
            </a:pPr>
            <a:r>
              <a:rPr lang="zh-CN" altLang="en-US" dirty="0"/>
              <a:t>掌握计算机网络的基本概念</a:t>
            </a:r>
          </a:p>
          <a:p>
            <a:pPr>
              <a:lnSpc>
                <a:spcPct val="120000"/>
              </a:lnSpc>
            </a:pPr>
            <a:r>
              <a:rPr lang="zh-CN" altLang="en-US" dirty="0"/>
              <a:t>掌握计算机网络的体系结构和参考模型</a:t>
            </a:r>
            <a:endParaRPr lang="en-US" altLang="zh-CN" dirty="0"/>
          </a:p>
          <a:p>
            <a:pPr>
              <a:lnSpc>
                <a:spcPct val="120000"/>
              </a:lnSpc>
            </a:pPr>
            <a:r>
              <a:rPr lang="zh-CN" altLang="en-US" dirty="0"/>
              <a:t>掌握典型计算机网络（</a:t>
            </a:r>
            <a:r>
              <a:rPr lang="en-US" altLang="zh-CN" dirty="0"/>
              <a:t>Internet</a:t>
            </a:r>
            <a:r>
              <a:rPr lang="zh-CN" altLang="en-US" dirty="0"/>
              <a:t>）各层协议的基本工作原理及其所采用的技术</a:t>
            </a:r>
          </a:p>
          <a:p>
            <a:pPr>
              <a:lnSpc>
                <a:spcPct val="120000"/>
              </a:lnSpc>
            </a:pPr>
            <a:r>
              <a:rPr lang="zh-CN" altLang="en-US" dirty="0"/>
              <a:t>掌握计算机网络的一些基本设计方法</a:t>
            </a:r>
          </a:p>
          <a:p>
            <a:pPr>
              <a:lnSpc>
                <a:spcPct val="120000"/>
              </a:lnSpc>
            </a:pPr>
            <a:r>
              <a:rPr lang="zh-CN" altLang="en-US" dirty="0"/>
              <a:t>通过网络实验，掌握计算机网络协议的基本实现技术</a:t>
            </a:r>
          </a:p>
          <a:p>
            <a:pPr>
              <a:lnSpc>
                <a:spcPct val="120000"/>
              </a:lnSpc>
            </a:pPr>
            <a:r>
              <a:rPr lang="zh-CN" altLang="en-US" dirty="0"/>
              <a:t>为以后计算机网络及其应用的专题学习和研究奠定基础</a:t>
            </a:r>
          </a:p>
        </p:txBody>
      </p:sp>
      <p:sp>
        <p:nvSpPr>
          <p:cNvPr id="2" name="灯片编号占位符 1">
            <a:extLst>
              <a:ext uri="{FF2B5EF4-FFF2-40B4-BE49-F238E27FC236}">
                <a16:creationId xmlns:a16="http://schemas.microsoft.com/office/drawing/2014/main" id="{436CC8A2-3065-1249-B9AA-1B07752D6B6A}"/>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extLst>
      <p:ext uri="{BB962C8B-B14F-4D97-AF65-F5344CB8AC3E}">
        <p14:creationId xmlns:p14="http://schemas.microsoft.com/office/powerpoint/2010/main" val="211754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A79491B-C08F-1C40-AFBA-AE91B1EF2368}"/>
              </a:ext>
            </a:extLst>
          </p:cNvPr>
          <p:cNvSpPr>
            <a:spLocks noGrp="1" noChangeArrowheads="1"/>
          </p:cNvSpPr>
          <p:nvPr>
            <p:ph type="title"/>
          </p:nvPr>
        </p:nvSpPr>
        <p:spPr/>
        <p:txBody>
          <a:bodyPr/>
          <a:lstStyle/>
          <a:p>
            <a:r>
              <a:rPr lang="zh-CN" altLang="en-US" dirty="0"/>
              <a:t>主要教学内容</a:t>
            </a:r>
          </a:p>
        </p:txBody>
      </p:sp>
      <p:graphicFrame>
        <p:nvGraphicFramePr>
          <p:cNvPr id="2" name="表格 2">
            <a:extLst>
              <a:ext uri="{FF2B5EF4-FFF2-40B4-BE49-F238E27FC236}">
                <a16:creationId xmlns:a16="http://schemas.microsoft.com/office/drawing/2014/main" id="{52516A1D-514D-F54B-A20C-3228AE5E3B91}"/>
              </a:ext>
            </a:extLst>
          </p:cNvPr>
          <p:cNvGraphicFramePr>
            <a:graphicFrameLocks noGrp="1"/>
          </p:cNvGraphicFramePr>
          <p:nvPr>
            <p:extLst>
              <p:ext uri="{D42A27DB-BD31-4B8C-83A1-F6EECF244321}">
                <p14:modId xmlns:p14="http://schemas.microsoft.com/office/powerpoint/2010/main" val="565978599"/>
              </p:ext>
            </p:extLst>
          </p:nvPr>
        </p:nvGraphicFramePr>
        <p:xfrm>
          <a:off x="1807780" y="1327150"/>
          <a:ext cx="6789874" cy="5029200"/>
        </p:xfrm>
        <a:graphic>
          <a:graphicData uri="http://schemas.openxmlformats.org/drawingml/2006/table">
            <a:tbl>
              <a:tblPr firstRow="1" bandRow="1">
                <a:tableStyleId>{5C22544A-7EE6-4342-B048-85BDC9FD1C3A}</a:tableStyleId>
              </a:tblPr>
              <a:tblGrid>
                <a:gridCol w="1975945">
                  <a:extLst>
                    <a:ext uri="{9D8B030D-6E8A-4147-A177-3AD203B41FA5}">
                      <a16:colId xmlns:a16="http://schemas.microsoft.com/office/drawing/2014/main" val="1138087416"/>
                    </a:ext>
                  </a:extLst>
                </a:gridCol>
                <a:gridCol w="4813929">
                  <a:extLst>
                    <a:ext uri="{9D8B030D-6E8A-4147-A177-3AD203B41FA5}">
                      <a16:colId xmlns:a16="http://schemas.microsoft.com/office/drawing/2014/main" val="3071055908"/>
                    </a:ext>
                  </a:extLst>
                </a:gridCol>
              </a:tblGrid>
              <a:tr h="446332">
                <a:tc>
                  <a:txBody>
                    <a:bodyPr/>
                    <a:lstStyle/>
                    <a:p>
                      <a:pPr algn="ctr"/>
                      <a:r>
                        <a:rPr lang="zh-CN" altLang="en-US" sz="2400" dirty="0">
                          <a:latin typeface="Microsoft YaHei" panose="020B0503020204020204" pitchFamily="34" charset="-122"/>
                          <a:ea typeface="Microsoft YaHei" panose="020B0503020204020204" pitchFamily="34" charset="-122"/>
                        </a:rPr>
                        <a:t>章  </a:t>
                      </a:r>
                    </a:p>
                  </a:txBody>
                  <a:tcPr>
                    <a:solidFill>
                      <a:srgbClr val="5B307E"/>
                    </a:solidFill>
                  </a:tcPr>
                </a:tc>
                <a:tc>
                  <a:txBody>
                    <a:bodyPr/>
                    <a:lstStyle/>
                    <a:p>
                      <a:pPr algn="ctr"/>
                      <a:r>
                        <a:rPr lang="zh-CN" altLang="en-US" sz="2400" dirty="0">
                          <a:latin typeface="Microsoft YaHei" panose="020B0503020204020204" pitchFamily="34" charset="-122"/>
                          <a:ea typeface="Microsoft YaHei" panose="020B0503020204020204" pitchFamily="34" charset="-122"/>
                        </a:rPr>
                        <a:t>主要内容</a:t>
                      </a:r>
                    </a:p>
                  </a:txBody>
                  <a:tcPr>
                    <a:solidFill>
                      <a:srgbClr val="5B307E"/>
                    </a:solidFill>
                  </a:tcPr>
                </a:tc>
                <a:extLst>
                  <a:ext uri="{0D108BD9-81ED-4DB2-BD59-A6C34878D82A}">
                    <a16:rowId xmlns:a16="http://schemas.microsoft.com/office/drawing/2014/main" val="2867163946"/>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第一章</a:t>
                      </a:r>
                    </a:p>
                  </a:txBody>
                  <a:tcPr/>
                </a:tc>
                <a:tc>
                  <a:txBody>
                    <a:bodyPr/>
                    <a:lstStyle/>
                    <a:p>
                      <a:pPr algn="ctr"/>
                      <a:r>
                        <a:rPr lang="zh-CN" altLang="en-US" sz="2400" dirty="0">
                          <a:latin typeface="Microsoft YaHei" panose="020B0503020204020204" pitchFamily="34" charset="-122"/>
                          <a:ea typeface="Microsoft YaHei" panose="020B0503020204020204" pitchFamily="34" charset="-122"/>
                        </a:rPr>
                        <a:t>引  言（</a:t>
                      </a:r>
                      <a:r>
                        <a:rPr lang="en-US" altLang="zh-CN" sz="2400" dirty="0">
                          <a:latin typeface="Microsoft YaHei" panose="020B0503020204020204" pitchFamily="34" charset="-122"/>
                          <a:ea typeface="Microsoft YaHei" panose="020B0503020204020204" pitchFamily="34" charset="-122"/>
                        </a:rPr>
                        <a:t>4</a:t>
                      </a:r>
                      <a:r>
                        <a:rPr lang="zh-CN" altLang="en-US" sz="2400" dirty="0">
                          <a:latin typeface="Microsoft YaHei" panose="020B0503020204020204" pitchFamily="34" charset="-122"/>
                          <a:ea typeface="Microsoft YaHei" panose="020B0503020204020204" pitchFamily="34" charset="-122"/>
                        </a:rPr>
                        <a:t>学时）</a:t>
                      </a:r>
                    </a:p>
                  </a:txBody>
                  <a:tcPr/>
                </a:tc>
                <a:extLst>
                  <a:ext uri="{0D108BD9-81ED-4DB2-BD59-A6C34878D82A}">
                    <a16:rowId xmlns:a16="http://schemas.microsoft.com/office/drawing/2014/main" val="4246908304"/>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第二章</a:t>
                      </a:r>
                      <a:endParaRPr lang="en-US" altLang="zh-CN" sz="2400" dirty="0">
                        <a:latin typeface="Microsoft YaHei" panose="020B0503020204020204" pitchFamily="34" charset="-122"/>
                        <a:ea typeface="Microsoft YaHei" panose="020B0503020204020204" pitchFamily="34"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dirty="0">
                          <a:latin typeface="Microsoft YaHei" panose="020B0503020204020204" pitchFamily="34" charset="-122"/>
                          <a:ea typeface="Microsoft YaHei" panose="020B0503020204020204" pitchFamily="34" charset="-122"/>
                        </a:rPr>
                        <a:t>物理层（</a:t>
                      </a:r>
                      <a:r>
                        <a:rPr lang="en-US" altLang="zh-CN" sz="2400" dirty="0">
                          <a:latin typeface="Microsoft YaHei" panose="020B0503020204020204" pitchFamily="34" charset="-122"/>
                          <a:ea typeface="Microsoft YaHei" panose="020B0503020204020204" pitchFamily="34" charset="-122"/>
                        </a:rPr>
                        <a:t>6</a:t>
                      </a:r>
                      <a:r>
                        <a:rPr lang="zh-CN" altLang="en-US" sz="2400" dirty="0">
                          <a:latin typeface="Microsoft YaHei" panose="020B0503020204020204" pitchFamily="34" charset="-122"/>
                          <a:ea typeface="Microsoft YaHei" panose="020B0503020204020204" pitchFamily="34" charset="-122"/>
                        </a:rPr>
                        <a:t>学时）</a:t>
                      </a:r>
                    </a:p>
                  </a:txBody>
                  <a:tcPr/>
                </a:tc>
                <a:extLst>
                  <a:ext uri="{0D108BD9-81ED-4DB2-BD59-A6C34878D82A}">
                    <a16:rowId xmlns:a16="http://schemas.microsoft.com/office/drawing/2014/main" val="417283951"/>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第三章</a:t>
                      </a: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dirty="0">
                          <a:solidFill>
                            <a:srgbClr val="000000"/>
                          </a:solidFill>
                          <a:effectLst/>
                          <a:latin typeface="Microsoft YaHei" panose="020B0503020204020204" pitchFamily="34" charset="-122"/>
                          <a:ea typeface="Microsoft YaHei" panose="020B0503020204020204" pitchFamily="34" charset="-122"/>
                        </a:rPr>
                        <a:t>数据链路层</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4</a:t>
                      </a:r>
                      <a:r>
                        <a:rPr lang="zh-CN" altLang="en-US" sz="2400" dirty="0">
                          <a:latin typeface="Microsoft YaHei" panose="020B0503020204020204" pitchFamily="34" charset="-122"/>
                          <a:ea typeface="Microsoft YaHei" panose="020B0503020204020204" pitchFamily="34" charset="-122"/>
                        </a:rPr>
                        <a:t>学时）</a:t>
                      </a:r>
                      <a:endParaRPr lang="zh-CN" altLang="en-US" sz="2400" dirty="0">
                        <a:solidFill>
                          <a:srgbClr val="000000"/>
                        </a:solidFill>
                        <a:effectLst/>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3753277002"/>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第四章</a:t>
                      </a: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400" dirty="0">
                          <a:solidFill>
                            <a:srgbClr val="000000"/>
                          </a:solidFill>
                          <a:effectLst/>
                          <a:latin typeface="Microsoft YaHei" panose="020B0503020204020204" pitchFamily="34" charset="-122"/>
                          <a:ea typeface="Microsoft YaHei" panose="020B0503020204020204" pitchFamily="34" charset="-122"/>
                        </a:rPr>
                        <a:t>MAC</a:t>
                      </a:r>
                      <a:r>
                        <a:rPr lang="zh-CN" altLang="en-US" sz="2400" dirty="0">
                          <a:solidFill>
                            <a:srgbClr val="000000"/>
                          </a:solidFill>
                          <a:effectLst/>
                          <a:latin typeface="Microsoft YaHei" panose="020B0503020204020204" pitchFamily="34" charset="-122"/>
                          <a:ea typeface="Microsoft YaHei" panose="020B0503020204020204" pitchFamily="34" charset="-122"/>
                        </a:rPr>
                        <a:t>子层</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8</a:t>
                      </a:r>
                      <a:r>
                        <a:rPr lang="zh-CN" altLang="en-US" sz="2400" dirty="0">
                          <a:latin typeface="Microsoft YaHei" panose="020B0503020204020204" pitchFamily="34" charset="-122"/>
                          <a:ea typeface="Microsoft YaHei" panose="020B0503020204020204" pitchFamily="34" charset="-122"/>
                        </a:rPr>
                        <a:t>学时）</a:t>
                      </a:r>
                      <a:endParaRPr lang="zh-CN" altLang="en-US" sz="2400" dirty="0">
                        <a:solidFill>
                          <a:srgbClr val="000000"/>
                        </a:solidFill>
                        <a:effectLst/>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3963228387"/>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第五章</a:t>
                      </a: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dirty="0">
                          <a:solidFill>
                            <a:srgbClr val="000000"/>
                          </a:solidFill>
                          <a:effectLst/>
                          <a:latin typeface="Microsoft YaHei" panose="020B0503020204020204" pitchFamily="34" charset="-122"/>
                          <a:ea typeface="Microsoft YaHei" panose="020B0503020204020204" pitchFamily="34" charset="-122"/>
                        </a:rPr>
                        <a:t>网络层</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10</a:t>
                      </a:r>
                      <a:r>
                        <a:rPr lang="zh-CN" altLang="en-US" sz="2400" dirty="0">
                          <a:latin typeface="Microsoft YaHei" panose="020B0503020204020204" pitchFamily="34" charset="-122"/>
                          <a:ea typeface="Microsoft YaHei" panose="020B0503020204020204" pitchFamily="34" charset="-122"/>
                        </a:rPr>
                        <a:t>学时）</a:t>
                      </a:r>
                      <a:endParaRPr lang="zh-CN" altLang="en-US" sz="2400" dirty="0">
                        <a:solidFill>
                          <a:srgbClr val="000000"/>
                        </a:solidFill>
                        <a:effectLst/>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625761511"/>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第六章</a:t>
                      </a: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dirty="0">
                          <a:solidFill>
                            <a:srgbClr val="000000"/>
                          </a:solidFill>
                          <a:effectLst/>
                          <a:latin typeface="Microsoft YaHei" panose="020B0503020204020204" pitchFamily="34" charset="-122"/>
                          <a:ea typeface="Microsoft YaHei" panose="020B0503020204020204" pitchFamily="34" charset="-122"/>
                        </a:rPr>
                        <a:t>传输层</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8</a:t>
                      </a:r>
                      <a:r>
                        <a:rPr lang="zh-CN" altLang="en-US" sz="2400" dirty="0">
                          <a:latin typeface="Microsoft YaHei" panose="020B0503020204020204" pitchFamily="34" charset="-122"/>
                          <a:ea typeface="Microsoft YaHei" panose="020B0503020204020204" pitchFamily="34" charset="-122"/>
                        </a:rPr>
                        <a:t>学时）</a:t>
                      </a:r>
                      <a:endParaRPr lang="zh-CN" altLang="en-US" sz="2400" dirty="0">
                        <a:solidFill>
                          <a:srgbClr val="000000"/>
                        </a:solidFill>
                        <a:effectLst/>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2728568797"/>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第七章</a:t>
                      </a: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dirty="0">
                          <a:solidFill>
                            <a:srgbClr val="000000"/>
                          </a:solidFill>
                          <a:effectLst/>
                          <a:latin typeface="Microsoft YaHei" panose="020B0503020204020204" pitchFamily="34" charset="-122"/>
                          <a:ea typeface="Microsoft YaHei" panose="020B0503020204020204" pitchFamily="34" charset="-122"/>
                        </a:rPr>
                        <a:t>应用层</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6</a:t>
                      </a:r>
                      <a:r>
                        <a:rPr lang="zh-CN" altLang="en-US" sz="2400" dirty="0">
                          <a:latin typeface="Microsoft YaHei" panose="020B0503020204020204" pitchFamily="34" charset="-122"/>
                          <a:ea typeface="Microsoft YaHei" panose="020B0503020204020204" pitchFamily="34" charset="-122"/>
                        </a:rPr>
                        <a:t>学时）</a:t>
                      </a:r>
                      <a:endParaRPr lang="zh-CN" altLang="en-US" sz="2400" dirty="0">
                        <a:solidFill>
                          <a:srgbClr val="000000"/>
                        </a:solidFill>
                        <a:effectLst/>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475116411"/>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第八章</a:t>
                      </a:r>
                    </a:p>
                  </a:txBody>
                  <a:tcPr/>
                </a:tc>
                <a:tc>
                  <a:txBody>
                    <a:bodyPr/>
                    <a:lstStyle/>
                    <a:p>
                      <a:pPr algn="ctr" fontAlgn="ctr" latinLnBrk="0"/>
                      <a:r>
                        <a:rPr lang="zh-CN" altLang="en-US" sz="2400" dirty="0">
                          <a:solidFill>
                            <a:srgbClr val="000000"/>
                          </a:solidFill>
                          <a:effectLst/>
                          <a:latin typeface="Microsoft YaHei" panose="020B0503020204020204" pitchFamily="34" charset="-122"/>
                          <a:ea typeface="Microsoft YaHei" panose="020B0503020204020204" pitchFamily="34" charset="-122"/>
                        </a:rPr>
                        <a:t>网络安全（有必修课）</a:t>
                      </a:r>
                    </a:p>
                  </a:txBody>
                  <a:tcPr anchor="ctr"/>
                </a:tc>
                <a:extLst>
                  <a:ext uri="{0D108BD9-81ED-4DB2-BD59-A6C34878D82A}">
                    <a16:rowId xmlns:a16="http://schemas.microsoft.com/office/drawing/2014/main" val="2095960506"/>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第九章</a:t>
                      </a:r>
                    </a:p>
                  </a:txBody>
                  <a:tcPr/>
                </a:tc>
                <a:tc>
                  <a:txBody>
                    <a:bodyPr/>
                    <a:lstStyle/>
                    <a:p>
                      <a:pPr algn="ctr" fontAlgn="ctr" latinLnBrk="0"/>
                      <a:r>
                        <a:rPr lang="zh-CN" altLang="en-US" sz="2400" dirty="0">
                          <a:solidFill>
                            <a:srgbClr val="000000"/>
                          </a:solidFill>
                          <a:effectLst/>
                          <a:latin typeface="Microsoft YaHei" panose="020B0503020204020204" pitchFamily="34" charset="-122"/>
                          <a:ea typeface="Microsoft YaHei" panose="020B0503020204020204" pitchFamily="34" charset="-122"/>
                        </a:rPr>
                        <a:t>新型网络（自学）</a:t>
                      </a:r>
                    </a:p>
                  </a:txBody>
                  <a:tcPr anchor="ctr"/>
                </a:tc>
                <a:extLst>
                  <a:ext uri="{0D108BD9-81ED-4DB2-BD59-A6C34878D82A}">
                    <a16:rowId xmlns:a16="http://schemas.microsoft.com/office/drawing/2014/main" val="64170445"/>
                  </a:ext>
                </a:extLst>
              </a:tr>
              <a:tr h="446332">
                <a:tc>
                  <a:txBody>
                    <a:bodyPr/>
                    <a:lstStyle/>
                    <a:p>
                      <a:pPr algn="ctr"/>
                      <a:r>
                        <a:rPr lang="zh-CN" altLang="en-US" sz="2400" dirty="0">
                          <a:latin typeface="Microsoft YaHei" panose="020B0503020204020204" pitchFamily="34" charset="-122"/>
                          <a:ea typeface="Microsoft YaHei" panose="020B0503020204020204" pitchFamily="34" charset="-122"/>
                        </a:rPr>
                        <a:t>机动</a:t>
                      </a: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2400" dirty="0">
                          <a:solidFill>
                            <a:srgbClr val="000000"/>
                          </a:solidFill>
                          <a:effectLst/>
                          <a:latin typeface="Microsoft YaHei" panose="020B0503020204020204" pitchFamily="34" charset="-122"/>
                          <a:ea typeface="Microsoft YaHei" panose="020B0503020204020204" pitchFamily="34" charset="-122"/>
                        </a:rPr>
                        <a:t>课堂作业，期中考试</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学时）</a:t>
                      </a:r>
                      <a:endParaRPr lang="zh-CN" altLang="en-US" sz="2400" dirty="0">
                        <a:solidFill>
                          <a:srgbClr val="000000"/>
                        </a:solidFill>
                        <a:effectLst/>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863710895"/>
                  </a:ext>
                </a:extLst>
              </a:tr>
            </a:tbl>
          </a:graphicData>
        </a:graphic>
      </p:graphicFrame>
      <p:sp>
        <p:nvSpPr>
          <p:cNvPr id="5" name="灯片编号占位符 4">
            <a:extLst>
              <a:ext uri="{FF2B5EF4-FFF2-40B4-BE49-F238E27FC236}">
                <a16:creationId xmlns:a16="http://schemas.microsoft.com/office/drawing/2014/main" id="{BA1F23B1-A824-8B47-9745-3E9D0CD15215}"/>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2941446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7E7B41-EA21-4B45-BE63-2411CCFF7B74}"/>
              </a:ext>
            </a:extLst>
          </p:cNvPr>
          <p:cNvSpPr>
            <a:spLocks noGrp="1"/>
          </p:cNvSpPr>
          <p:nvPr>
            <p:ph type="title"/>
          </p:nvPr>
        </p:nvSpPr>
        <p:spPr/>
        <p:txBody>
          <a:bodyPr/>
          <a:lstStyle/>
          <a:p>
            <a:r>
              <a:rPr lang="zh-CN" altLang="en-US" dirty="0"/>
              <a:t>教材</a:t>
            </a:r>
          </a:p>
        </p:txBody>
      </p:sp>
      <p:sp>
        <p:nvSpPr>
          <p:cNvPr id="4" name="灯片编号占位符 3">
            <a:extLst>
              <a:ext uri="{FF2B5EF4-FFF2-40B4-BE49-F238E27FC236}">
                <a16:creationId xmlns:a16="http://schemas.microsoft.com/office/drawing/2014/main" id="{987C659E-1F1F-4EDC-8766-17E4E2341F34}"/>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5" name="矩形 4">
            <a:extLst>
              <a:ext uri="{FF2B5EF4-FFF2-40B4-BE49-F238E27FC236}">
                <a16:creationId xmlns:a16="http://schemas.microsoft.com/office/drawing/2014/main" id="{68A4E871-F201-49EB-89CB-BF28334B3DB4}"/>
              </a:ext>
            </a:extLst>
          </p:cNvPr>
          <p:cNvSpPr/>
          <p:nvPr/>
        </p:nvSpPr>
        <p:spPr>
          <a:xfrm>
            <a:off x="583183" y="5036643"/>
            <a:ext cx="4834731" cy="1569660"/>
          </a:xfrm>
          <a:prstGeom prst="rect">
            <a:avLst/>
          </a:prstGeom>
        </p:spPr>
        <p:txBody>
          <a:bodyPr wrap="square">
            <a:spAutoFit/>
          </a:bodyPr>
          <a:lstStyle/>
          <a:p>
            <a:r>
              <a:rPr lang="en-US" altLang="zh-CN" sz="2400" dirty="0">
                <a:solidFill>
                  <a:prstClr val="black"/>
                </a:solidFill>
                <a:latin typeface="Microsoft YaHei" panose="020B0503020204020204" pitchFamily="34" charset="-122"/>
                <a:ea typeface="Microsoft YaHei" panose="020B0503020204020204" pitchFamily="34" charset="-122"/>
              </a:rPr>
              <a:t>《</a:t>
            </a:r>
            <a:r>
              <a:rPr lang="zh-CN" altLang="en-US" sz="2400" dirty="0">
                <a:solidFill>
                  <a:prstClr val="black"/>
                </a:solidFill>
                <a:latin typeface="Microsoft YaHei" panose="020B0503020204020204" pitchFamily="34" charset="-122"/>
                <a:ea typeface="Microsoft YaHei" panose="020B0503020204020204" pitchFamily="34" charset="-122"/>
              </a:rPr>
              <a:t>计算机网络（第</a:t>
            </a:r>
            <a:r>
              <a:rPr lang="en-US" altLang="zh-CN" sz="2400" dirty="0">
                <a:solidFill>
                  <a:prstClr val="black"/>
                </a:solidFill>
                <a:latin typeface="Microsoft YaHei" panose="020B0503020204020204" pitchFamily="34" charset="-122"/>
                <a:ea typeface="Microsoft YaHei" panose="020B0503020204020204" pitchFamily="34" charset="-122"/>
              </a:rPr>
              <a:t>6</a:t>
            </a:r>
            <a:r>
              <a:rPr lang="zh-CN" altLang="en-US" sz="2400" dirty="0">
                <a:solidFill>
                  <a:prstClr val="black"/>
                </a:solidFill>
                <a:latin typeface="Microsoft YaHei" panose="020B0503020204020204" pitchFamily="34" charset="-122"/>
                <a:ea typeface="Microsoft YaHei" panose="020B0503020204020204" pitchFamily="34" charset="-122"/>
              </a:rPr>
              <a:t>版）</a:t>
            </a:r>
            <a:r>
              <a:rPr lang="en-US" altLang="zh-CN" sz="2400" dirty="0">
                <a:solidFill>
                  <a:prstClr val="black"/>
                </a:solidFill>
                <a:latin typeface="Microsoft YaHei" panose="020B0503020204020204" pitchFamily="34" charset="-122"/>
                <a:ea typeface="Microsoft YaHei" panose="020B0503020204020204" pitchFamily="34" charset="-122"/>
              </a:rPr>
              <a:t>》</a:t>
            </a:r>
            <a:r>
              <a:rPr lang="zh-CN" altLang="en-US" sz="2400" dirty="0">
                <a:solidFill>
                  <a:prstClr val="black"/>
                </a:solidFill>
                <a:latin typeface="Microsoft YaHei" panose="020B0503020204020204" pitchFamily="34" charset="-122"/>
                <a:ea typeface="Microsoft YaHei" panose="020B0503020204020204" pitchFamily="34" charset="-122"/>
              </a:rPr>
              <a:t>，</a:t>
            </a:r>
            <a:r>
              <a:rPr lang="en-US" altLang="zh-CN" sz="2400" dirty="0">
                <a:solidFill>
                  <a:prstClr val="black"/>
                </a:solidFill>
                <a:latin typeface="Microsoft YaHei" panose="020B0503020204020204" pitchFamily="34" charset="-122"/>
                <a:ea typeface="Microsoft YaHei" panose="020B0503020204020204" pitchFamily="34" charset="-122"/>
              </a:rPr>
              <a:t>Andrew S.</a:t>
            </a:r>
            <a:r>
              <a:rPr lang="zh-CN" altLang="en-US" sz="2400" dirty="0">
                <a:solidFill>
                  <a:prstClr val="black"/>
                </a:solidFill>
                <a:latin typeface="Microsoft YaHei" panose="020B0503020204020204" pitchFamily="34" charset="-122"/>
                <a:ea typeface="Microsoft YaHei" panose="020B0503020204020204" pitchFamily="34" charset="-122"/>
              </a:rPr>
              <a:t> </a:t>
            </a:r>
            <a:r>
              <a:rPr lang="en-US" altLang="zh-CN" sz="2400" dirty="0">
                <a:solidFill>
                  <a:prstClr val="black"/>
                </a:solidFill>
                <a:latin typeface="Microsoft YaHei" panose="020B0503020204020204" pitchFamily="34" charset="-122"/>
                <a:ea typeface="Microsoft YaHei" panose="020B0503020204020204" pitchFamily="34" charset="-122"/>
              </a:rPr>
              <a:t>Tanenbaum</a:t>
            </a:r>
            <a:r>
              <a:rPr lang="zh-CN" altLang="en-US" sz="2400" dirty="0">
                <a:solidFill>
                  <a:prstClr val="black"/>
                </a:solidFill>
                <a:latin typeface="Microsoft YaHei" panose="020B0503020204020204" pitchFamily="34" charset="-122"/>
                <a:ea typeface="Microsoft YaHei" panose="020B0503020204020204" pitchFamily="34" charset="-122"/>
              </a:rPr>
              <a:t> </a:t>
            </a:r>
            <a:r>
              <a:rPr lang="en-US" altLang="zh-CN" sz="2400" dirty="0">
                <a:solidFill>
                  <a:prstClr val="black"/>
                </a:solidFill>
                <a:latin typeface="Microsoft YaHei" panose="020B0503020204020204" pitchFamily="34" charset="-122"/>
                <a:ea typeface="Microsoft YaHei" panose="020B0503020204020204" pitchFamily="34" charset="-122"/>
              </a:rPr>
              <a:t>&amp;</a:t>
            </a:r>
            <a:r>
              <a:rPr lang="zh-CN" altLang="en-US" sz="2400" dirty="0">
                <a:solidFill>
                  <a:prstClr val="black"/>
                </a:solidFill>
                <a:latin typeface="Microsoft YaHei" panose="020B0503020204020204" pitchFamily="34" charset="-122"/>
                <a:ea typeface="Microsoft YaHei" panose="020B0503020204020204" pitchFamily="34" charset="-122"/>
              </a:rPr>
              <a:t> </a:t>
            </a:r>
            <a:r>
              <a:rPr lang="en-US" altLang="zh-CN" sz="2400" dirty="0">
                <a:solidFill>
                  <a:prstClr val="black"/>
                </a:solidFill>
                <a:latin typeface="Microsoft YaHei" panose="020B0503020204020204" pitchFamily="34" charset="-122"/>
                <a:ea typeface="Microsoft YaHei" panose="020B0503020204020204" pitchFamily="34" charset="-122"/>
              </a:rPr>
              <a:t>Nick </a:t>
            </a:r>
            <a:r>
              <a:rPr lang="en-US" altLang="zh-CN" sz="2400" dirty="0" err="1">
                <a:solidFill>
                  <a:prstClr val="black"/>
                </a:solidFill>
                <a:latin typeface="Microsoft YaHei" panose="020B0503020204020204" pitchFamily="34" charset="-122"/>
                <a:ea typeface="Microsoft YaHei" panose="020B0503020204020204" pitchFamily="34" charset="-122"/>
              </a:rPr>
              <a:t>Feamster</a:t>
            </a:r>
            <a:r>
              <a:rPr lang="en-US" altLang="zh-CN" sz="2400" dirty="0">
                <a:solidFill>
                  <a:prstClr val="black"/>
                </a:solidFill>
                <a:latin typeface="Microsoft YaHei" panose="020B0503020204020204" pitchFamily="34" charset="-122"/>
                <a:ea typeface="Microsoft YaHei" panose="020B0503020204020204" pitchFamily="34" charset="-122"/>
              </a:rPr>
              <a:t> &amp; David </a:t>
            </a:r>
            <a:r>
              <a:rPr lang="en-US" altLang="zh-CN" sz="2400" dirty="0" err="1">
                <a:solidFill>
                  <a:prstClr val="black"/>
                </a:solidFill>
                <a:latin typeface="Microsoft YaHei" panose="020B0503020204020204" pitchFamily="34" charset="-122"/>
                <a:ea typeface="Microsoft YaHei" panose="020B0503020204020204" pitchFamily="34" charset="-122"/>
              </a:rPr>
              <a:t>Wetherall</a:t>
            </a:r>
            <a:r>
              <a:rPr lang="zh-CN" altLang="en-US" sz="2400" dirty="0">
                <a:solidFill>
                  <a:prstClr val="black"/>
                </a:solidFill>
                <a:latin typeface="Microsoft YaHei" panose="020B0503020204020204" pitchFamily="34" charset="-122"/>
                <a:ea typeface="Microsoft YaHei" panose="020B0503020204020204" pitchFamily="34" charset="-122"/>
              </a:rPr>
              <a:t>著，清华大学出版社，</a:t>
            </a:r>
            <a:r>
              <a:rPr lang="en-US" altLang="zh-CN" sz="2400" dirty="0">
                <a:solidFill>
                  <a:prstClr val="black"/>
                </a:solidFill>
                <a:latin typeface="Microsoft YaHei" panose="020B0503020204020204" pitchFamily="34" charset="-122"/>
                <a:ea typeface="Microsoft YaHei" panose="020B0503020204020204" pitchFamily="34" charset="-122"/>
              </a:rPr>
              <a:t>2022</a:t>
            </a:r>
            <a:r>
              <a:rPr lang="zh-CN" altLang="en-US" sz="2400" dirty="0">
                <a:solidFill>
                  <a:prstClr val="black"/>
                </a:solidFill>
                <a:latin typeface="Microsoft YaHei" panose="020B0503020204020204" pitchFamily="34" charset="-122"/>
                <a:ea typeface="Microsoft YaHei" panose="020B0503020204020204" pitchFamily="34" charset="-122"/>
              </a:rPr>
              <a:t>年</a:t>
            </a:r>
            <a:r>
              <a:rPr lang="en-US" altLang="zh-CN" sz="2400" dirty="0">
                <a:solidFill>
                  <a:prstClr val="black"/>
                </a:solidFill>
                <a:latin typeface="Microsoft YaHei" panose="020B0503020204020204" pitchFamily="34" charset="-122"/>
                <a:ea typeface="Microsoft YaHei" panose="020B0503020204020204" pitchFamily="34" charset="-122"/>
              </a:rPr>
              <a:t>6</a:t>
            </a:r>
            <a:r>
              <a:rPr lang="zh-CN" altLang="en-US" sz="2400" dirty="0">
                <a:solidFill>
                  <a:prstClr val="black"/>
                </a:solidFill>
                <a:latin typeface="Microsoft YaHei" panose="020B0503020204020204" pitchFamily="34" charset="-122"/>
                <a:ea typeface="Microsoft YaHei" panose="020B0503020204020204" pitchFamily="34" charset="-122"/>
              </a:rPr>
              <a:t>月</a:t>
            </a:r>
            <a:endParaRPr lang="zh-CN" altLang="en-US" sz="2000" dirty="0"/>
          </a:p>
        </p:txBody>
      </p:sp>
      <p:pic>
        <p:nvPicPr>
          <p:cNvPr id="6" name="图片 5">
            <a:extLst>
              <a:ext uri="{FF2B5EF4-FFF2-40B4-BE49-F238E27FC236}">
                <a16:creationId xmlns:a16="http://schemas.microsoft.com/office/drawing/2014/main" id="{55656893-883F-403B-9E72-4DB4E606A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288" y="1962915"/>
            <a:ext cx="2357929" cy="3073728"/>
          </a:xfrm>
          <a:prstGeom prst="rect">
            <a:avLst/>
          </a:prstGeom>
        </p:spPr>
      </p:pic>
      <p:sp>
        <p:nvSpPr>
          <p:cNvPr id="7" name="文本框 6">
            <a:extLst>
              <a:ext uri="{FF2B5EF4-FFF2-40B4-BE49-F238E27FC236}">
                <a16:creationId xmlns:a16="http://schemas.microsoft.com/office/drawing/2014/main" id="{598221FD-0EC9-4127-A153-9BF9A593B9A1}"/>
              </a:ext>
            </a:extLst>
          </p:cNvPr>
          <p:cNvSpPr txBox="1"/>
          <p:nvPr/>
        </p:nvSpPr>
        <p:spPr>
          <a:xfrm>
            <a:off x="2458593" y="1336951"/>
            <a:ext cx="904415" cy="584775"/>
          </a:xfrm>
          <a:prstGeom prst="rect">
            <a:avLst/>
          </a:prstGeom>
          <a:noFill/>
        </p:spPr>
        <p:txBody>
          <a:bodyPr wrap="none" rtlCol="0">
            <a:spAutoFit/>
          </a:bodyPr>
          <a:lstStyle/>
          <a:p>
            <a:r>
              <a:rPr lang="en-US" altLang="zh-CN" sz="3200" b="1" dirty="0">
                <a:latin typeface="微软雅黑" panose="020B0503020204020204" pitchFamily="34" charset="-122"/>
                <a:ea typeface="微软雅黑" panose="020B0503020204020204" pitchFamily="34" charset="-122"/>
              </a:rPr>
              <a:t>A</a:t>
            </a:r>
            <a:r>
              <a:rPr lang="zh-CN" altLang="en-US" sz="3200" b="1" dirty="0">
                <a:latin typeface="微软雅黑" panose="020B0503020204020204" pitchFamily="34" charset="-122"/>
                <a:ea typeface="微软雅黑" panose="020B0503020204020204" pitchFamily="34" charset="-122"/>
              </a:rPr>
              <a:t>班</a:t>
            </a:r>
          </a:p>
        </p:txBody>
      </p:sp>
      <p:pic>
        <p:nvPicPr>
          <p:cNvPr id="8" name="图片 7">
            <a:extLst>
              <a:ext uri="{FF2B5EF4-FFF2-40B4-BE49-F238E27FC236}">
                <a16:creationId xmlns:a16="http://schemas.microsoft.com/office/drawing/2014/main" id="{B54930F1-08C4-45DB-A305-D6B709667F0D}"/>
              </a:ext>
            </a:extLst>
          </p:cNvPr>
          <p:cNvPicPr>
            <a:picLocks noChangeAspect="1"/>
          </p:cNvPicPr>
          <p:nvPr/>
        </p:nvPicPr>
        <p:blipFill rotWithShape="1">
          <a:blip r:embed="rId3" cstate="print"/>
          <a:srcRect l="18462" t="1539" r="16923" b="3077"/>
          <a:stretch/>
        </p:blipFill>
        <p:spPr>
          <a:xfrm>
            <a:off x="7315200" y="1869167"/>
            <a:ext cx="2143124" cy="3163659"/>
          </a:xfrm>
          <a:prstGeom prst="rect">
            <a:avLst/>
          </a:prstGeom>
        </p:spPr>
      </p:pic>
      <p:sp>
        <p:nvSpPr>
          <p:cNvPr id="9" name="文本框 8">
            <a:extLst>
              <a:ext uri="{FF2B5EF4-FFF2-40B4-BE49-F238E27FC236}">
                <a16:creationId xmlns:a16="http://schemas.microsoft.com/office/drawing/2014/main" id="{C4789E2F-7E22-4200-A6AF-829E63A2E7D4}"/>
              </a:ext>
            </a:extLst>
          </p:cNvPr>
          <p:cNvSpPr txBox="1"/>
          <p:nvPr/>
        </p:nvSpPr>
        <p:spPr>
          <a:xfrm>
            <a:off x="7840218" y="1336951"/>
            <a:ext cx="875561" cy="584775"/>
          </a:xfrm>
          <a:prstGeom prst="rect">
            <a:avLst/>
          </a:prstGeom>
          <a:noFill/>
        </p:spPr>
        <p:txBody>
          <a:bodyPr wrap="none" rtlCol="0">
            <a:spAutoFit/>
          </a:bodyPr>
          <a:lstStyle/>
          <a:p>
            <a:r>
              <a:rPr lang="en-US" altLang="zh-CN" sz="3200" b="1" dirty="0">
                <a:latin typeface="微软雅黑" panose="020B0503020204020204" pitchFamily="34" charset="-122"/>
                <a:ea typeface="微软雅黑" panose="020B0503020204020204" pitchFamily="34" charset="-122"/>
              </a:rPr>
              <a:t>B</a:t>
            </a:r>
            <a:r>
              <a:rPr lang="zh-CN" altLang="en-US" sz="3200" b="1" dirty="0">
                <a:latin typeface="微软雅黑" panose="020B0503020204020204" pitchFamily="34" charset="-122"/>
                <a:ea typeface="微软雅黑" panose="020B0503020204020204" pitchFamily="34" charset="-122"/>
              </a:rPr>
              <a:t>班</a:t>
            </a:r>
          </a:p>
        </p:txBody>
      </p:sp>
      <p:sp>
        <p:nvSpPr>
          <p:cNvPr id="11" name="文本框 10">
            <a:extLst>
              <a:ext uri="{FF2B5EF4-FFF2-40B4-BE49-F238E27FC236}">
                <a16:creationId xmlns:a16="http://schemas.microsoft.com/office/drawing/2014/main" id="{12130AEE-518E-4E51-BF6E-58B1E4A3F39F}"/>
              </a:ext>
            </a:extLst>
          </p:cNvPr>
          <p:cNvSpPr txBox="1"/>
          <p:nvPr/>
        </p:nvSpPr>
        <p:spPr>
          <a:xfrm>
            <a:off x="6663141" y="5105550"/>
            <a:ext cx="4105275" cy="1200329"/>
          </a:xfrm>
          <a:prstGeom prst="rect">
            <a:avLst/>
          </a:prstGeom>
          <a:noFill/>
        </p:spPr>
        <p:txBody>
          <a:bodyPr wrap="square">
            <a:spAutoFit/>
          </a:bodyPr>
          <a:lstStyle/>
          <a:p>
            <a:pPr>
              <a:spcBef>
                <a:spcPts val="400"/>
              </a:spcBef>
              <a:spcAft>
                <a:spcPts val="300"/>
              </a:spcAft>
            </a:pPr>
            <a:r>
              <a:rPr lang="en-US" altLang="zh-CN" sz="2400" dirty="0">
                <a:solidFill>
                  <a:prstClr val="black"/>
                </a:solidFill>
                <a:latin typeface="Microsoft YaHei" panose="020B0503020204020204" pitchFamily="34" charset="-122"/>
                <a:ea typeface="Microsoft YaHei" panose="020B0503020204020204" pitchFamily="34" charset="-122"/>
              </a:rPr>
              <a:t>《</a:t>
            </a:r>
            <a:r>
              <a:rPr lang="zh-CN" altLang="en-US" sz="2400" dirty="0">
                <a:solidFill>
                  <a:prstClr val="black"/>
                </a:solidFill>
                <a:latin typeface="Microsoft YaHei" panose="020B0503020204020204" pitchFamily="34" charset="-122"/>
                <a:ea typeface="Microsoft YaHei" panose="020B0503020204020204" pitchFamily="34" charset="-122"/>
              </a:rPr>
              <a:t>计算机网络（第</a:t>
            </a:r>
            <a:r>
              <a:rPr lang="en-US" altLang="zh-CN" sz="2400" dirty="0">
                <a:solidFill>
                  <a:prstClr val="black"/>
                </a:solidFill>
                <a:latin typeface="Microsoft YaHei" panose="020B0503020204020204" pitchFamily="34" charset="-122"/>
                <a:ea typeface="Microsoft YaHei" panose="020B0503020204020204" pitchFamily="34" charset="-122"/>
              </a:rPr>
              <a:t>8</a:t>
            </a:r>
            <a:r>
              <a:rPr lang="zh-CN" altLang="en-US" sz="2400" dirty="0">
                <a:solidFill>
                  <a:prstClr val="black"/>
                </a:solidFill>
                <a:latin typeface="Microsoft YaHei" panose="020B0503020204020204" pitchFamily="34" charset="-122"/>
                <a:ea typeface="Microsoft YaHei" panose="020B0503020204020204" pitchFamily="34" charset="-122"/>
              </a:rPr>
              <a:t>版）</a:t>
            </a:r>
            <a:r>
              <a:rPr lang="en-US" altLang="zh-CN" sz="2400" dirty="0">
                <a:solidFill>
                  <a:prstClr val="black"/>
                </a:solidFill>
                <a:latin typeface="Microsoft YaHei" panose="020B0503020204020204" pitchFamily="34" charset="-122"/>
                <a:ea typeface="Microsoft YaHei" panose="020B0503020204020204" pitchFamily="34" charset="-122"/>
              </a:rPr>
              <a:t>》</a:t>
            </a:r>
            <a:r>
              <a:rPr lang="zh-CN" altLang="en-US" sz="2400" dirty="0">
                <a:solidFill>
                  <a:prstClr val="black"/>
                </a:solidFill>
                <a:latin typeface="Microsoft YaHei" panose="020B0503020204020204" pitchFamily="34" charset="-122"/>
                <a:ea typeface="Microsoft YaHei" panose="020B0503020204020204" pitchFamily="34" charset="-122"/>
              </a:rPr>
              <a:t>，谢希仁，电子工业出版社，</a:t>
            </a:r>
            <a:r>
              <a:rPr lang="en-US" altLang="zh-CN" sz="2400" dirty="0">
                <a:solidFill>
                  <a:prstClr val="black"/>
                </a:solidFill>
                <a:latin typeface="Microsoft YaHei" panose="020B0503020204020204" pitchFamily="34" charset="-122"/>
                <a:ea typeface="Microsoft YaHei" panose="020B0503020204020204" pitchFamily="34" charset="-122"/>
              </a:rPr>
              <a:t>2021</a:t>
            </a:r>
            <a:r>
              <a:rPr lang="zh-CN" altLang="en-US" sz="2400" dirty="0">
                <a:solidFill>
                  <a:prstClr val="black"/>
                </a:solidFill>
                <a:latin typeface="Microsoft YaHei" panose="020B0503020204020204" pitchFamily="34" charset="-122"/>
                <a:ea typeface="Microsoft YaHei" panose="020B0503020204020204" pitchFamily="34" charset="-122"/>
              </a:rPr>
              <a:t>年</a:t>
            </a:r>
            <a:r>
              <a:rPr lang="en-US" altLang="zh-CN" sz="2400" dirty="0">
                <a:solidFill>
                  <a:prstClr val="black"/>
                </a:solidFill>
                <a:latin typeface="Microsoft YaHei" panose="020B0503020204020204" pitchFamily="34" charset="-122"/>
                <a:ea typeface="Microsoft YaHei" panose="020B0503020204020204" pitchFamily="34" charset="-122"/>
              </a:rPr>
              <a:t>06</a:t>
            </a:r>
            <a:r>
              <a:rPr lang="zh-CN" altLang="en-US" sz="2400" dirty="0">
                <a:solidFill>
                  <a:prstClr val="black"/>
                </a:solidFill>
                <a:latin typeface="Microsoft YaHei" panose="020B0503020204020204" pitchFamily="34" charset="-122"/>
                <a:ea typeface="Microsoft YaHei" panose="020B0503020204020204" pitchFamily="34" charset="-122"/>
              </a:rPr>
              <a:t>月</a:t>
            </a:r>
          </a:p>
        </p:txBody>
      </p:sp>
    </p:spTree>
    <p:extLst>
      <p:ext uri="{BB962C8B-B14F-4D97-AF65-F5344CB8AC3E}">
        <p14:creationId xmlns:p14="http://schemas.microsoft.com/office/powerpoint/2010/main" val="2889309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5F5C8C9-54B8-F442-8E3F-FBD8148C2AC3}"/>
              </a:ext>
            </a:extLst>
          </p:cNvPr>
          <p:cNvSpPr>
            <a:spLocks noGrp="1" noChangeArrowheads="1"/>
          </p:cNvSpPr>
          <p:nvPr>
            <p:ph type="title"/>
          </p:nvPr>
        </p:nvSpPr>
        <p:spPr/>
        <p:txBody>
          <a:bodyPr/>
          <a:lstStyle/>
          <a:p>
            <a:r>
              <a:rPr lang="zh-CN" altLang="en-US" dirty="0"/>
              <a:t>主要参考书</a:t>
            </a:r>
          </a:p>
        </p:txBody>
      </p:sp>
      <p:sp>
        <p:nvSpPr>
          <p:cNvPr id="14339" name="Rectangle 3">
            <a:extLst>
              <a:ext uri="{FF2B5EF4-FFF2-40B4-BE49-F238E27FC236}">
                <a16:creationId xmlns:a16="http://schemas.microsoft.com/office/drawing/2014/main" id="{FE48CE49-CFA1-9143-8517-093D47146C38}"/>
              </a:ext>
            </a:extLst>
          </p:cNvPr>
          <p:cNvSpPr>
            <a:spLocks noGrp="1" noChangeArrowheads="1"/>
          </p:cNvSpPr>
          <p:nvPr>
            <p:ph idx="1"/>
          </p:nvPr>
        </p:nvSpPr>
        <p:spPr>
          <a:xfrm>
            <a:off x="629212" y="3793587"/>
            <a:ext cx="5711953" cy="2448979"/>
          </a:xfrm>
          <a:ln>
            <a:solidFill>
              <a:srgbClr val="5B307E"/>
            </a:solidFill>
          </a:ln>
        </p:spPr>
        <p:txBody>
          <a:bodyPr anchor="ctr">
            <a:normAutofit/>
          </a:bodyPr>
          <a:lstStyle/>
          <a:p>
            <a:r>
              <a:rPr lang="en-US" altLang="zh-CN" sz="2000" dirty="0"/>
              <a:t>Andrew S. Tanenbaum, </a:t>
            </a:r>
            <a:r>
              <a:rPr lang="en-US" altLang="zh-CN" sz="2000" b="1" dirty="0"/>
              <a:t>Computer Networks</a:t>
            </a:r>
            <a:r>
              <a:rPr lang="en-US" altLang="zh-CN" sz="2000" dirty="0"/>
              <a:t>, 6</a:t>
            </a:r>
            <a:r>
              <a:rPr lang="en-US" altLang="zh-CN" sz="2000" baseline="30000" dirty="0"/>
              <a:t>th</a:t>
            </a:r>
            <a:r>
              <a:rPr lang="en-US" altLang="zh-CN" sz="2000" dirty="0"/>
              <a:t> edition, Prentice-Hall,</a:t>
            </a:r>
            <a:r>
              <a:rPr lang="zh-CN" altLang="en-US" sz="2000" dirty="0"/>
              <a:t> </a:t>
            </a:r>
            <a:r>
              <a:rPr lang="en-US" altLang="zh-CN" sz="2000" dirty="0"/>
              <a:t>2021</a:t>
            </a:r>
          </a:p>
          <a:p>
            <a:r>
              <a:rPr lang="en-US" altLang="zh-CN" sz="2000" dirty="0"/>
              <a:t>James F. Kurose and Keith W. Ross, Computer Networking: </a:t>
            </a:r>
            <a:r>
              <a:rPr lang="en-US" altLang="zh-CN" sz="2000" b="1" dirty="0"/>
              <a:t>A Top-Down Approach</a:t>
            </a:r>
            <a:r>
              <a:rPr lang="en-US" altLang="zh-CN" sz="2000" dirty="0"/>
              <a:t>, Addison Wesley, 8</a:t>
            </a:r>
            <a:r>
              <a:rPr lang="en-US" altLang="zh-CN" sz="2000" baseline="30000" dirty="0"/>
              <a:t>th</a:t>
            </a:r>
            <a:r>
              <a:rPr lang="en-US" altLang="zh-CN" sz="2000" dirty="0"/>
              <a:t> edition, 2020</a:t>
            </a:r>
          </a:p>
        </p:txBody>
      </p:sp>
      <p:sp>
        <p:nvSpPr>
          <p:cNvPr id="7" name="矩形 6">
            <a:extLst>
              <a:ext uri="{FF2B5EF4-FFF2-40B4-BE49-F238E27FC236}">
                <a16:creationId xmlns:a16="http://schemas.microsoft.com/office/drawing/2014/main" id="{95BDFBC8-990F-A443-9C88-2387E474CA10}"/>
              </a:ext>
            </a:extLst>
          </p:cNvPr>
          <p:cNvSpPr/>
          <p:nvPr/>
        </p:nvSpPr>
        <p:spPr>
          <a:xfrm>
            <a:off x="629212" y="1353362"/>
            <a:ext cx="10461518" cy="2180413"/>
          </a:xfrm>
          <a:prstGeom prst="rect">
            <a:avLst/>
          </a:prstGeom>
          <a:ln>
            <a:solidFill>
              <a:srgbClr val="5B307E"/>
            </a:solidFill>
          </a:ln>
        </p:spPr>
        <p:txBody>
          <a:bodyPr wrap="none" anchor="ctr">
            <a:noAutofit/>
          </a:bodyPr>
          <a:lstStyle/>
          <a:p>
            <a:pPr>
              <a:spcBef>
                <a:spcPts val="400"/>
              </a:spcBef>
              <a:spcAft>
                <a:spcPts val="300"/>
              </a:spcAft>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计算机网络：自顶向下方法</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原书第</a:t>
            </a:r>
            <a:r>
              <a:rPr lang="en-US" altLang="zh-CN" sz="2000" dirty="0">
                <a:latin typeface="Microsoft YaHei" panose="020B0503020204020204" pitchFamily="34" charset="-122"/>
                <a:ea typeface="Microsoft YaHei" panose="020B0503020204020204" pitchFamily="34" charset="-122"/>
              </a:rPr>
              <a:t>8</a:t>
            </a:r>
            <a:r>
              <a:rPr lang="zh-CN" altLang="en-US" sz="2000" dirty="0">
                <a:latin typeface="Microsoft YaHei" panose="020B0503020204020204" pitchFamily="34" charset="-122"/>
                <a:ea typeface="Microsoft YaHei" panose="020B0503020204020204" pitchFamily="34" charset="-122"/>
              </a:rPr>
              <a:t>版</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，库罗斯</a:t>
            </a:r>
            <a:r>
              <a:rPr lang="en-US" altLang="zh-CN" sz="2000" dirty="0">
                <a:latin typeface="Microsoft YaHei" panose="020B0503020204020204" pitchFamily="34" charset="-122"/>
                <a:ea typeface="Microsoft YaHei" panose="020B0503020204020204" pitchFamily="34" charset="-122"/>
              </a:rPr>
              <a:t>&amp;</a:t>
            </a:r>
            <a:r>
              <a:rPr lang="zh-CN" altLang="en-US" sz="2000" dirty="0">
                <a:latin typeface="Microsoft YaHei" panose="020B0503020204020204" pitchFamily="34" charset="-122"/>
                <a:ea typeface="Microsoft YaHei" panose="020B0503020204020204" pitchFamily="34" charset="-122"/>
              </a:rPr>
              <a:t>罗斯，机械工业出版社，</a:t>
            </a:r>
            <a:r>
              <a:rPr lang="en-US" altLang="zh-CN" sz="2000" dirty="0">
                <a:latin typeface="Microsoft YaHei" panose="020B0503020204020204" pitchFamily="34" charset="-122"/>
                <a:ea typeface="Microsoft YaHei" panose="020B0503020204020204" pitchFamily="34" charset="-122"/>
              </a:rPr>
              <a:t>2025</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01</a:t>
            </a:r>
            <a:r>
              <a:rPr lang="zh-CN" altLang="en-US" sz="2000" dirty="0">
                <a:latin typeface="Microsoft YaHei" panose="020B0503020204020204" pitchFamily="34" charset="-122"/>
                <a:ea typeface="Microsoft YaHei" panose="020B0503020204020204" pitchFamily="34" charset="-122"/>
              </a:rPr>
              <a:t>月</a:t>
            </a:r>
          </a:p>
          <a:p>
            <a:pPr>
              <a:spcBef>
                <a:spcPts val="400"/>
              </a:spcBef>
              <a:spcAft>
                <a:spcPts val="300"/>
              </a:spcAft>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计算机网络（第</a:t>
            </a:r>
            <a:r>
              <a:rPr lang="en-US" altLang="zh-CN" sz="2000" dirty="0">
                <a:latin typeface="Microsoft YaHei" panose="020B0503020204020204" pitchFamily="34" charset="-122"/>
                <a:ea typeface="Microsoft YaHei" panose="020B0503020204020204" pitchFamily="34" charset="-122"/>
              </a:rPr>
              <a:t>8</a:t>
            </a:r>
            <a:r>
              <a:rPr lang="zh-CN" altLang="en-US" sz="2000" dirty="0">
                <a:latin typeface="Microsoft YaHei" panose="020B0503020204020204" pitchFamily="34" charset="-122"/>
                <a:ea typeface="Microsoft YaHei" panose="020B0503020204020204" pitchFamily="34" charset="-122"/>
              </a:rPr>
              <a:t>版）</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，谢希仁，电子工业出版社，</a:t>
            </a:r>
            <a:r>
              <a:rPr lang="en-US" altLang="zh-CN" sz="2000" dirty="0">
                <a:latin typeface="Microsoft YaHei" panose="020B0503020204020204" pitchFamily="34" charset="-122"/>
                <a:ea typeface="Microsoft YaHei" panose="020B0503020204020204" pitchFamily="34" charset="-122"/>
              </a:rPr>
              <a:t>2021</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06</a:t>
            </a:r>
            <a:r>
              <a:rPr lang="zh-CN" altLang="en-US" sz="2000" dirty="0">
                <a:latin typeface="Microsoft YaHei" panose="020B0503020204020204" pitchFamily="34" charset="-122"/>
                <a:ea typeface="Microsoft YaHei" panose="020B0503020204020204" pitchFamily="34" charset="-122"/>
              </a:rPr>
              <a:t>月</a:t>
            </a:r>
          </a:p>
          <a:p>
            <a:pPr>
              <a:spcBef>
                <a:spcPts val="400"/>
              </a:spcBef>
              <a:spcAft>
                <a:spcPts val="300"/>
              </a:spcAft>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计算机网络（第</a:t>
            </a:r>
            <a:r>
              <a:rPr lang="en-US" altLang="zh-CN" sz="2000" dirty="0">
                <a:latin typeface="Microsoft YaHei" panose="020B0503020204020204" pitchFamily="34" charset="-122"/>
                <a:ea typeface="Microsoft YaHei" panose="020B0503020204020204" pitchFamily="34" charset="-122"/>
              </a:rPr>
              <a:t>3</a:t>
            </a:r>
            <a:r>
              <a:rPr lang="zh-CN" altLang="en-US" sz="2000" dirty="0">
                <a:latin typeface="Microsoft YaHei" panose="020B0503020204020204" pitchFamily="34" charset="-122"/>
                <a:ea typeface="Microsoft YaHei" panose="020B0503020204020204" pitchFamily="34" charset="-122"/>
              </a:rPr>
              <a:t>版）</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，徐敬东、张建忠，清华大学出版社，</a:t>
            </a:r>
            <a:r>
              <a:rPr lang="en-US" altLang="zh-CN" sz="2000" dirty="0">
                <a:latin typeface="Microsoft YaHei" panose="020B0503020204020204" pitchFamily="34" charset="-122"/>
                <a:ea typeface="Microsoft YaHei" panose="020B0503020204020204" pitchFamily="34" charset="-122"/>
              </a:rPr>
              <a:t>2013</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6</a:t>
            </a:r>
            <a:r>
              <a:rPr lang="zh-CN" altLang="en-US" sz="2000" dirty="0">
                <a:latin typeface="Microsoft YaHei" panose="020B0503020204020204" pitchFamily="34" charset="-122"/>
                <a:ea typeface="Microsoft YaHei" panose="020B0503020204020204" pitchFamily="34" charset="-122"/>
              </a:rPr>
              <a:t>月</a:t>
            </a:r>
            <a:r>
              <a:rPr lang="en-US" altLang="zh-CN" sz="2000" dirty="0">
                <a:latin typeface="Microsoft YaHei" panose="020B0503020204020204" pitchFamily="34" charset="-122"/>
                <a:ea typeface="Microsoft YaHei" panose="020B0503020204020204" pitchFamily="34" charset="-122"/>
              </a:rPr>
              <a:t>1</a:t>
            </a:r>
            <a:r>
              <a:rPr lang="zh-CN" altLang="en-US" sz="2000" dirty="0">
                <a:latin typeface="Microsoft YaHei" panose="020B0503020204020204" pitchFamily="34" charset="-122"/>
                <a:ea typeface="Microsoft YaHei" panose="020B0503020204020204" pitchFamily="34" charset="-122"/>
              </a:rPr>
              <a:t>日</a:t>
            </a:r>
          </a:p>
          <a:p>
            <a:pPr>
              <a:spcBef>
                <a:spcPts val="400"/>
              </a:spcBef>
              <a:spcAft>
                <a:spcPts val="300"/>
              </a:spcAft>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计算机网络教程（第</a:t>
            </a:r>
            <a:r>
              <a:rPr lang="en-US" altLang="zh-CN" sz="2000" dirty="0">
                <a:latin typeface="Microsoft YaHei" panose="020B0503020204020204" pitchFamily="34" charset="-122"/>
                <a:ea typeface="Microsoft YaHei" panose="020B0503020204020204" pitchFamily="34" charset="-122"/>
              </a:rPr>
              <a:t>6</a:t>
            </a:r>
            <a:r>
              <a:rPr lang="zh-CN" altLang="en-US" sz="2000" dirty="0">
                <a:latin typeface="Microsoft YaHei" panose="020B0503020204020204" pitchFamily="34" charset="-122"/>
                <a:ea typeface="Microsoft YaHei" panose="020B0503020204020204" pitchFamily="34" charset="-122"/>
              </a:rPr>
              <a:t>版）</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，吴功宜，电子工业出版社，</a:t>
            </a:r>
            <a:r>
              <a:rPr lang="en-US" altLang="zh-CN" sz="2000" dirty="0">
                <a:latin typeface="Microsoft YaHei" panose="020B0503020204020204" pitchFamily="34" charset="-122"/>
                <a:ea typeface="Microsoft YaHei" panose="020B0503020204020204" pitchFamily="34" charset="-122"/>
              </a:rPr>
              <a:t>2018</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03</a:t>
            </a:r>
            <a:r>
              <a:rPr lang="zh-CN" altLang="en-US" sz="2000" dirty="0">
                <a:latin typeface="Microsoft YaHei" panose="020B0503020204020204" pitchFamily="34" charset="-122"/>
                <a:ea typeface="Microsoft YaHei" panose="020B0503020204020204" pitchFamily="34" charset="-122"/>
              </a:rPr>
              <a:t>月</a:t>
            </a:r>
          </a:p>
        </p:txBody>
      </p:sp>
      <p:sp>
        <p:nvSpPr>
          <p:cNvPr id="2" name="灯片编号占位符 1">
            <a:extLst>
              <a:ext uri="{FF2B5EF4-FFF2-40B4-BE49-F238E27FC236}">
                <a16:creationId xmlns:a16="http://schemas.microsoft.com/office/drawing/2014/main" id="{3DBE2315-880A-DF4D-91C8-4CEDB78D81E1}"/>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pic>
        <p:nvPicPr>
          <p:cNvPr id="9" name="图片 8">
            <a:extLst>
              <a:ext uri="{FF2B5EF4-FFF2-40B4-BE49-F238E27FC236}">
                <a16:creationId xmlns:a16="http://schemas.microsoft.com/office/drawing/2014/main" id="{44F18154-213A-4CEC-A328-12EFB08A31BF}"/>
              </a:ext>
            </a:extLst>
          </p:cNvPr>
          <p:cNvPicPr>
            <a:picLocks noChangeAspect="1"/>
          </p:cNvPicPr>
          <p:nvPr/>
        </p:nvPicPr>
        <p:blipFill>
          <a:blip r:embed="rId3" cstate="print"/>
          <a:stretch>
            <a:fillRect/>
          </a:stretch>
        </p:blipFill>
        <p:spPr>
          <a:xfrm>
            <a:off x="9301818" y="3833312"/>
            <a:ext cx="2012123" cy="2523038"/>
          </a:xfrm>
          <a:prstGeom prst="rect">
            <a:avLst/>
          </a:prstGeom>
        </p:spPr>
      </p:pic>
      <p:pic>
        <p:nvPicPr>
          <p:cNvPr id="10" name="图片 9">
            <a:extLst>
              <a:ext uri="{FF2B5EF4-FFF2-40B4-BE49-F238E27FC236}">
                <a16:creationId xmlns:a16="http://schemas.microsoft.com/office/drawing/2014/main" id="{355828DF-E175-48C3-9955-536E7189B261}"/>
              </a:ext>
            </a:extLst>
          </p:cNvPr>
          <p:cNvPicPr>
            <a:picLocks noChangeAspect="1"/>
          </p:cNvPicPr>
          <p:nvPr/>
        </p:nvPicPr>
        <p:blipFill>
          <a:blip r:embed="rId4" cstate="print"/>
          <a:stretch>
            <a:fillRect/>
          </a:stretch>
        </p:blipFill>
        <p:spPr>
          <a:xfrm>
            <a:off x="6813939" y="3776162"/>
            <a:ext cx="2058112" cy="2580704"/>
          </a:xfrm>
          <a:prstGeom prst="rect">
            <a:avLst/>
          </a:prstGeom>
        </p:spPr>
      </p:pic>
    </p:spTree>
    <p:extLst>
      <p:ext uri="{BB962C8B-B14F-4D97-AF65-F5344CB8AC3E}">
        <p14:creationId xmlns:p14="http://schemas.microsoft.com/office/powerpoint/2010/main" val="260025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1C8F84-BFCE-4425-BE85-C2C97ABEA420}"/>
              </a:ext>
            </a:extLst>
          </p:cNvPr>
          <p:cNvSpPr>
            <a:spLocks noGrp="1"/>
          </p:cNvSpPr>
          <p:nvPr>
            <p:ph type="title"/>
          </p:nvPr>
        </p:nvSpPr>
        <p:spPr/>
        <p:txBody>
          <a:bodyPr/>
          <a:lstStyle/>
          <a:p>
            <a:r>
              <a:rPr lang="zh-CN" altLang="en-US" dirty="0"/>
              <a:t>成绩说明</a:t>
            </a:r>
          </a:p>
        </p:txBody>
      </p:sp>
      <p:sp>
        <p:nvSpPr>
          <p:cNvPr id="3" name="内容占位符 2">
            <a:extLst>
              <a:ext uri="{FF2B5EF4-FFF2-40B4-BE49-F238E27FC236}">
                <a16:creationId xmlns:a16="http://schemas.microsoft.com/office/drawing/2014/main" id="{1234B0F5-9E4D-45F4-A811-34ED0871A677}"/>
              </a:ext>
            </a:extLst>
          </p:cNvPr>
          <p:cNvSpPr>
            <a:spLocks noGrp="1"/>
          </p:cNvSpPr>
          <p:nvPr>
            <p:ph idx="1"/>
          </p:nvPr>
        </p:nvSpPr>
        <p:spPr/>
        <p:txBody>
          <a:bodyPr>
            <a:normAutofit/>
          </a:bodyPr>
          <a:lstStyle/>
          <a:p>
            <a:r>
              <a:rPr lang="zh-CN" altLang="en-US" sz="2400" dirty="0"/>
              <a:t>总成绩＝平时成绩</a:t>
            </a:r>
            <a:r>
              <a:rPr lang="en-US" altLang="zh-CN" sz="2400" dirty="0"/>
              <a:t>×50</a:t>
            </a:r>
            <a:r>
              <a:rPr lang="zh-CN" altLang="en-US" sz="2400" dirty="0"/>
              <a:t>％＋期末考试</a:t>
            </a:r>
            <a:r>
              <a:rPr lang="en-US" altLang="zh-CN" sz="2400" dirty="0"/>
              <a:t>×50</a:t>
            </a:r>
            <a:r>
              <a:rPr lang="zh-CN" altLang="en-US" sz="2400" dirty="0"/>
              <a:t>％</a:t>
            </a:r>
            <a:endParaRPr lang="en-US" altLang="zh-CN" sz="2400" dirty="0"/>
          </a:p>
          <a:p>
            <a:endParaRPr lang="zh-CN" altLang="en-US" sz="2400" dirty="0"/>
          </a:p>
          <a:p>
            <a:pPr marL="354013" indent="-354013" eaLnBrk="1" hangingPunct="1">
              <a:buNone/>
            </a:pPr>
            <a:r>
              <a:rPr lang="en-US" altLang="zh-CN" sz="2400" dirty="0"/>
              <a:t>1.</a:t>
            </a:r>
            <a:r>
              <a:rPr lang="zh-CN" altLang="en-US" sz="2400" dirty="0"/>
              <a:t>平时成绩：作业、课堂作业、期中考试、实验</a:t>
            </a:r>
          </a:p>
          <a:p>
            <a:pPr marL="354013" indent="-354013" eaLnBrk="1" hangingPunct="1">
              <a:buNone/>
            </a:pPr>
            <a:r>
              <a:rPr lang="en-US" altLang="zh-CN" sz="2400" dirty="0"/>
              <a:t>2.</a:t>
            </a:r>
            <a:r>
              <a:rPr lang="zh-CN" altLang="en-US" sz="2400" dirty="0"/>
              <a:t>期末考试：开卷考试</a:t>
            </a:r>
          </a:p>
        </p:txBody>
      </p:sp>
      <p:sp>
        <p:nvSpPr>
          <p:cNvPr id="4" name="灯片编号占位符 3">
            <a:extLst>
              <a:ext uri="{FF2B5EF4-FFF2-40B4-BE49-F238E27FC236}">
                <a16:creationId xmlns:a16="http://schemas.microsoft.com/office/drawing/2014/main" id="{0AFD8648-B708-4800-BEEE-200FFF149797}"/>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Tree>
    <p:extLst>
      <p:ext uri="{BB962C8B-B14F-4D97-AF65-F5344CB8AC3E}">
        <p14:creationId xmlns:p14="http://schemas.microsoft.com/office/powerpoint/2010/main" val="104438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AFDCAF-9062-4BC3-B55D-4E285BF8BF8F}"/>
              </a:ext>
            </a:extLst>
          </p:cNvPr>
          <p:cNvSpPr>
            <a:spLocks noGrp="1"/>
          </p:cNvSpPr>
          <p:nvPr>
            <p:ph type="title"/>
          </p:nvPr>
        </p:nvSpPr>
        <p:spPr/>
        <p:txBody>
          <a:bodyPr/>
          <a:lstStyle/>
          <a:p>
            <a:r>
              <a:rPr lang="en-US" altLang="zh-CN" dirty="0"/>
              <a:t>PPT</a:t>
            </a:r>
            <a:r>
              <a:rPr lang="zh-CN" altLang="en-US" dirty="0"/>
              <a:t>说明</a:t>
            </a:r>
          </a:p>
        </p:txBody>
      </p:sp>
      <p:sp>
        <p:nvSpPr>
          <p:cNvPr id="3" name="内容占位符 2">
            <a:extLst>
              <a:ext uri="{FF2B5EF4-FFF2-40B4-BE49-F238E27FC236}">
                <a16:creationId xmlns:a16="http://schemas.microsoft.com/office/drawing/2014/main" id="{845F6560-FBC4-4DA3-AECC-82A86DC56671}"/>
              </a:ext>
            </a:extLst>
          </p:cNvPr>
          <p:cNvSpPr>
            <a:spLocks noGrp="1"/>
          </p:cNvSpPr>
          <p:nvPr>
            <p:ph idx="1"/>
          </p:nvPr>
        </p:nvSpPr>
        <p:spPr/>
        <p:txBody>
          <a:bodyPr/>
          <a:lstStyle/>
          <a:p>
            <a:r>
              <a:rPr lang="zh-CN" altLang="en-US" dirty="0"/>
              <a:t>每章开始都有本章目标说明，标红的内容为重难点</a:t>
            </a:r>
            <a:endParaRPr lang="en-US" altLang="zh-CN" dirty="0"/>
          </a:p>
          <a:p>
            <a:endParaRPr lang="en-US" altLang="zh-CN" dirty="0"/>
          </a:p>
          <a:p>
            <a:r>
              <a:rPr lang="zh-CN" altLang="en-US" dirty="0"/>
              <a:t>每页右下角若有图标            ，说明该页内容属于考试范围，否则老师根据情况简单介绍或学生自学</a:t>
            </a:r>
          </a:p>
        </p:txBody>
      </p:sp>
      <p:sp>
        <p:nvSpPr>
          <p:cNvPr id="4" name="灯片编号占位符 3">
            <a:extLst>
              <a:ext uri="{FF2B5EF4-FFF2-40B4-BE49-F238E27FC236}">
                <a16:creationId xmlns:a16="http://schemas.microsoft.com/office/drawing/2014/main" id="{7ECC094C-2448-4791-9AC1-8DBF57462297}"/>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pic>
        <p:nvPicPr>
          <p:cNvPr id="5" name="Picture 28" descr="015">
            <a:extLst>
              <a:ext uri="{FF2B5EF4-FFF2-40B4-BE49-F238E27FC236}">
                <a16:creationId xmlns:a16="http://schemas.microsoft.com/office/drawing/2014/main" id="{DA61E7BD-C3BA-47CB-A692-B6FA635986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9526" y="2412342"/>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4991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第一章 引言</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计算机网络课程组</a:t>
            </a:r>
            <a:endParaRPr kumimoji="1" lang="en-US" altLang="zh-CN" sz="3200" dirty="0"/>
          </a:p>
        </p:txBody>
      </p:sp>
    </p:spTree>
    <p:extLst>
      <p:ext uri="{BB962C8B-B14F-4D97-AF65-F5344CB8AC3E}">
        <p14:creationId xmlns:p14="http://schemas.microsoft.com/office/powerpoint/2010/main" val="2465913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514350" indent="-514350">
              <a:lnSpc>
                <a:spcPct val="120000"/>
              </a:lnSpc>
              <a:buFont typeface="+mj-lt"/>
              <a:buAutoNum type="arabicPeriod"/>
            </a:pPr>
            <a:r>
              <a:rPr kumimoji="1" lang="zh-CN" altLang="en-US" dirty="0"/>
              <a:t>了解网络的基本概念，</a:t>
            </a:r>
            <a:r>
              <a:rPr kumimoji="1" lang="zh-CN" altLang="en-US" dirty="0">
                <a:solidFill>
                  <a:srgbClr val="C00000"/>
                </a:solidFill>
              </a:rPr>
              <a:t>掌握典型交换方式及其优缺点</a:t>
            </a:r>
          </a:p>
          <a:p>
            <a:pPr marL="514350" indent="-514350">
              <a:lnSpc>
                <a:spcPct val="120000"/>
              </a:lnSpc>
              <a:buFont typeface="+mj-lt"/>
              <a:buAutoNum type="arabicPeriod"/>
            </a:pPr>
            <a:r>
              <a:rPr kumimoji="1" lang="zh-CN" altLang="en-US" dirty="0">
                <a:solidFill>
                  <a:srgbClr val="C00000"/>
                </a:solidFill>
              </a:rPr>
              <a:t>掌握分层结构和网络协议（核心内容）</a:t>
            </a:r>
          </a:p>
          <a:p>
            <a:pPr marL="514350" indent="-514350">
              <a:lnSpc>
                <a:spcPct val="120000"/>
              </a:lnSpc>
              <a:buFont typeface="+mj-lt"/>
              <a:buAutoNum type="arabicPeriod"/>
            </a:pPr>
            <a:r>
              <a:rPr kumimoji="1" lang="zh-CN" altLang="en-US" dirty="0">
                <a:solidFill>
                  <a:srgbClr val="C00000"/>
                </a:solidFill>
              </a:rPr>
              <a:t>掌握网络参考模型（核心内容）</a:t>
            </a:r>
          </a:p>
          <a:p>
            <a:pPr marL="514350" indent="-514350">
              <a:lnSpc>
                <a:spcPct val="120000"/>
              </a:lnSpc>
              <a:buFont typeface="+mj-lt"/>
              <a:buAutoNum type="arabicPeriod"/>
            </a:pPr>
            <a:r>
              <a:rPr kumimoji="1" lang="zh-CN" altLang="en-US" dirty="0">
                <a:solidFill>
                  <a:srgbClr val="C00000"/>
                </a:solidFill>
              </a:rPr>
              <a:t>掌握计算机网络主要度量的含义</a:t>
            </a:r>
          </a:p>
          <a:p>
            <a:pPr marL="514350" indent="-514350">
              <a:lnSpc>
                <a:spcPct val="120000"/>
              </a:lnSpc>
              <a:buFont typeface="+mj-lt"/>
              <a:buAutoNum type="arabicPeriod"/>
            </a:pPr>
            <a:r>
              <a:rPr kumimoji="1" lang="zh-CN" altLang="en-US" dirty="0"/>
              <a:t>了解制定网络协议的标准化组织</a:t>
            </a:r>
          </a:p>
          <a:p>
            <a:pPr marL="514350" indent="-514350">
              <a:lnSpc>
                <a:spcPct val="120000"/>
              </a:lnSpc>
              <a:buFont typeface="+mj-lt"/>
              <a:buAutoNum type="arabicPeriod"/>
            </a:pPr>
            <a:r>
              <a:rPr kumimoji="1" lang="zh-CN" altLang="en-US" dirty="0"/>
              <a:t>了解国内外互联网发展史，以史为鉴</a:t>
            </a:r>
          </a:p>
        </p:txBody>
      </p:sp>
      <p:sp>
        <p:nvSpPr>
          <p:cNvPr id="6" name="灯片编号占位符 5">
            <a:extLst>
              <a:ext uri="{FF2B5EF4-FFF2-40B4-BE49-F238E27FC236}">
                <a16:creationId xmlns:a16="http://schemas.microsoft.com/office/drawing/2014/main" id="{BF3E877C-BC12-7E4D-A194-CD69A5A31304}"/>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extLst>
      <p:ext uri="{BB962C8B-B14F-4D97-AF65-F5344CB8AC3E}">
        <p14:creationId xmlns:p14="http://schemas.microsoft.com/office/powerpoint/2010/main" val="3141699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sz="half" idx="1"/>
          </p:nvPr>
        </p:nvSpPr>
        <p:spPr>
          <a:xfrm>
            <a:off x="1203960" y="1825625"/>
            <a:ext cx="5181600" cy="4351338"/>
          </a:xfrm>
        </p:spPr>
        <p:txBody>
          <a:bodyPr>
            <a:normAutofit/>
          </a:bodyPr>
          <a:lstStyle/>
          <a:p>
            <a:pPr marL="0" indent="0">
              <a:lnSpc>
                <a:spcPct val="150000"/>
              </a:lnSpc>
              <a:buNone/>
            </a:pPr>
            <a:r>
              <a:rPr kumimoji="1" lang="en-US" altLang="zh-CN" dirty="0">
                <a:solidFill>
                  <a:srgbClr val="C00000"/>
                </a:solidFill>
              </a:rPr>
              <a:t>1.1 </a:t>
            </a:r>
            <a:r>
              <a:rPr kumimoji="1" lang="zh-CN" altLang="en-US" dirty="0">
                <a:solidFill>
                  <a:srgbClr val="C00000"/>
                </a:solidFill>
              </a:rPr>
              <a:t>网络的概念</a:t>
            </a:r>
            <a:endParaRPr kumimoji="1" lang="en-US" altLang="zh-CN" dirty="0">
              <a:solidFill>
                <a:srgbClr val="C00000"/>
              </a:solidFill>
            </a:endParaRPr>
          </a:p>
          <a:p>
            <a:pPr marL="0" indent="0">
              <a:lnSpc>
                <a:spcPct val="150000"/>
              </a:lnSpc>
              <a:buNone/>
            </a:pPr>
            <a:r>
              <a:rPr kumimoji="1" lang="en-US" altLang="zh-CN" dirty="0"/>
              <a:t>1.2 </a:t>
            </a:r>
            <a:r>
              <a:rPr kumimoji="1" lang="zh-CN" altLang="en-US" dirty="0"/>
              <a:t>网络分类</a:t>
            </a:r>
            <a:endParaRPr kumimoji="1" lang="en-US" altLang="zh-CN" dirty="0"/>
          </a:p>
          <a:p>
            <a:pPr marL="0" indent="0">
              <a:lnSpc>
                <a:spcPct val="150000"/>
              </a:lnSpc>
              <a:buNone/>
            </a:pPr>
            <a:r>
              <a:rPr kumimoji="1" lang="en-US" altLang="zh-CN" dirty="0"/>
              <a:t>1.3 </a:t>
            </a:r>
            <a:r>
              <a:rPr kumimoji="1" lang="zh-CN" altLang="en-US" dirty="0"/>
              <a:t>网络实例</a:t>
            </a:r>
            <a:endParaRPr kumimoji="1" lang="en-US" altLang="zh-CN" dirty="0"/>
          </a:p>
          <a:p>
            <a:pPr marL="0" indent="0">
              <a:lnSpc>
                <a:spcPct val="150000"/>
              </a:lnSpc>
              <a:buNone/>
            </a:pPr>
            <a:r>
              <a:rPr kumimoji="1" lang="en-US" altLang="zh-CN" dirty="0"/>
              <a:t>1.4 </a:t>
            </a:r>
            <a:r>
              <a:rPr kumimoji="1" lang="zh-CN" altLang="en-US" dirty="0"/>
              <a:t>协议与分层结构</a:t>
            </a:r>
            <a:endParaRPr kumimoji="1" lang="en-US" altLang="zh-CN" dirty="0"/>
          </a:p>
        </p:txBody>
      </p:sp>
      <p:sp>
        <p:nvSpPr>
          <p:cNvPr id="5" name="内容占位符 4">
            <a:extLst>
              <a:ext uri="{FF2B5EF4-FFF2-40B4-BE49-F238E27FC236}">
                <a16:creationId xmlns:a16="http://schemas.microsoft.com/office/drawing/2014/main" id="{EAE97F77-16B3-2043-B14E-0B774467C142}"/>
              </a:ext>
            </a:extLst>
          </p:cNvPr>
          <p:cNvSpPr>
            <a:spLocks noGrp="1"/>
          </p:cNvSpPr>
          <p:nvPr>
            <p:ph sz="half" idx="2"/>
          </p:nvPr>
        </p:nvSpPr>
        <p:spPr>
          <a:xfrm>
            <a:off x="6096000" y="1825625"/>
            <a:ext cx="5181600" cy="4351338"/>
          </a:xfrm>
        </p:spPr>
        <p:txBody>
          <a:bodyPr/>
          <a:lstStyle/>
          <a:p>
            <a:pPr marL="0" indent="0">
              <a:lnSpc>
                <a:spcPct val="150000"/>
              </a:lnSpc>
              <a:buNone/>
            </a:pPr>
            <a:r>
              <a:rPr kumimoji="1" lang="en-US" altLang="zh-CN" dirty="0"/>
              <a:t>1.5 </a:t>
            </a:r>
            <a:r>
              <a:rPr kumimoji="1" lang="zh-CN" altLang="en-US" dirty="0"/>
              <a:t>参考模型</a:t>
            </a:r>
            <a:endParaRPr kumimoji="1" lang="en-US" altLang="zh-CN" dirty="0"/>
          </a:p>
          <a:p>
            <a:pPr marL="0" indent="0">
              <a:lnSpc>
                <a:spcPct val="150000"/>
              </a:lnSpc>
              <a:buNone/>
            </a:pPr>
            <a:r>
              <a:rPr kumimoji="1" lang="en-US" altLang="zh-CN" dirty="0"/>
              <a:t>1.6 </a:t>
            </a:r>
            <a:r>
              <a:rPr kumimoji="1" lang="zh-CN" altLang="en-US" dirty="0"/>
              <a:t>计算机网络度量单位</a:t>
            </a:r>
          </a:p>
          <a:p>
            <a:pPr marL="0" indent="0">
              <a:lnSpc>
                <a:spcPct val="150000"/>
              </a:lnSpc>
              <a:buNone/>
            </a:pPr>
            <a:r>
              <a:rPr kumimoji="1" lang="en-US" altLang="zh-CN" dirty="0"/>
              <a:t>1.7 </a:t>
            </a:r>
            <a:r>
              <a:rPr kumimoji="1" lang="zh-CN" altLang="en-US" dirty="0"/>
              <a:t>标准化组织（自学）</a:t>
            </a:r>
            <a:endParaRPr kumimoji="1" lang="en-US" altLang="zh-CN" dirty="0"/>
          </a:p>
          <a:p>
            <a:pPr marL="0" indent="0">
              <a:lnSpc>
                <a:spcPct val="150000"/>
              </a:lnSpc>
              <a:buNone/>
            </a:pPr>
            <a:r>
              <a:rPr kumimoji="1" lang="en-US" altLang="zh-CN" dirty="0"/>
              <a:t>1.8 </a:t>
            </a:r>
            <a:r>
              <a:rPr kumimoji="1" lang="zh-CN" altLang="en-US" dirty="0"/>
              <a:t>互联网发展史与启示（自学）</a:t>
            </a:r>
            <a:endParaRPr kumimoji="1" lang="en-US" altLang="zh-CN" dirty="0"/>
          </a:p>
          <a:p>
            <a:pPr marL="0" indent="0">
              <a:lnSpc>
                <a:spcPct val="150000"/>
              </a:lnSpc>
              <a:buNone/>
            </a:pPr>
            <a:endParaRPr kumimoji="1" lang="en-US" altLang="zh-CN" dirty="0"/>
          </a:p>
        </p:txBody>
      </p:sp>
      <p:sp>
        <p:nvSpPr>
          <p:cNvPr id="6" name="灯片编号占位符 5">
            <a:extLst>
              <a:ext uri="{FF2B5EF4-FFF2-40B4-BE49-F238E27FC236}">
                <a16:creationId xmlns:a16="http://schemas.microsoft.com/office/drawing/2014/main" id="{24CD85B4-968A-C44A-A494-417815D6DAA7}"/>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a:p>
        </p:txBody>
      </p:sp>
    </p:spTree>
    <p:extLst>
      <p:ext uri="{BB962C8B-B14F-4D97-AF65-F5344CB8AC3E}">
        <p14:creationId xmlns:p14="http://schemas.microsoft.com/office/powerpoint/2010/main" val="310051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a:t>
            </a:r>
            <a:r>
              <a:rPr lang="zh-CN" altLang="en-US" dirty="0"/>
              <a:t>网络的概念</a:t>
            </a:r>
          </a:p>
        </p:txBody>
      </p:sp>
      <p:sp>
        <p:nvSpPr>
          <p:cNvPr id="3" name="内容占位符 2"/>
          <p:cNvSpPr>
            <a:spLocks noGrp="1"/>
          </p:cNvSpPr>
          <p:nvPr>
            <p:ph idx="1"/>
          </p:nvPr>
        </p:nvSpPr>
        <p:spPr/>
        <p:txBody>
          <a:bodyPr/>
          <a:lstStyle/>
          <a:p>
            <a:pPr>
              <a:defRPr/>
            </a:pPr>
            <a:r>
              <a:rPr lang="zh-CN" altLang="en-US" dirty="0">
                <a:solidFill>
                  <a:srgbClr val="FF0000"/>
                </a:solidFill>
              </a:rPr>
              <a:t>计算机网络</a:t>
            </a:r>
            <a:r>
              <a:rPr lang="zh-CN" altLang="en-US" dirty="0"/>
              <a:t>是计算机技术与通信技术相结合的产物。</a:t>
            </a:r>
          </a:p>
          <a:p>
            <a:pPr>
              <a:defRPr/>
            </a:pPr>
            <a:r>
              <a:rPr lang="zh-CN" altLang="en-US" dirty="0">
                <a:solidFill>
                  <a:srgbClr val="CC0000"/>
                </a:solidFill>
              </a:rPr>
              <a:t>网络</a:t>
            </a:r>
            <a:r>
              <a:rPr lang="en-US" altLang="zh-CN" dirty="0"/>
              <a:t>(network)</a:t>
            </a:r>
            <a:r>
              <a:rPr lang="zh-CN" altLang="en-US" dirty="0"/>
              <a:t>由若干</a:t>
            </a:r>
            <a:r>
              <a:rPr lang="zh-CN" altLang="en-US" dirty="0">
                <a:solidFill>
                  <a:srgbClr val="CC0000"/>
                </a:solidFill>
              </a:rPr>
              <a:t>节点</a:t>
            </a:r>
            <a:r>
              <a:rPr lang="en-US" altLang="zh-CN" dirty="0"/>
              <a:t>(node)</a:t>
            </a:r>
            <a:r>
              <a:rPr lang="zh-CN" altLang="en-US" dirty="0"/>
              <a:t>和连接这些节点的</a:t>
            </a:r>
            <a:r>
              <a:rPr lang="zh-CN" altLang="en-US" dirty="0">
                <a:solidFill>
                  <a:srgbClr val="CC0000"/>
                </a:solidFill>
              </a:rPr>
              <a:t>链路</a:t>
            </a:r>
            <a:r>
              <a:rPr lang="en-US" altLang="zh-CN" dirty="0"/>
              <a:t>(link)</a:t>
            </a:r>
            <a:r>
              <a:rPr lang="zh-CN" altLang="en-US" dirty="0"/>
              <a:t>组成。 </a:t>
            </a:r>
          </a:p>
          <a:p>
            <a:pPr>
              <a:defRPr/>
            </a:pPr>
            <a:r>
              <a:rPr lang="zh-CN" altLang="en-US" dirty="0"/>
              <a:t>网络把许多计算机连接在一起，向用户提供最重要的功能：连通性</a:t>
            </a:r>
            <a:r>
              <a:rPr lang="en-US" altLang="zh-CN" dirty="0"/>
              <a:t>(connectivity)</a:t>
            </a:r>
            <a:r>
              <a:rPr lang="zh-CN" altLang="en-US" dirty="0"/>
              <a:t>和资源共享</a:t>
            </a:r>
            <a:r>
              <a:rPr lang="en-US" altLang="zh-CN" dirty="0"/>
              <a:t>(resource sharing)</a:t>
            </a:r>
            <a:r>
              <a:rPr lang="zh-CN" altLang="en-US" dirty="0"/>
              <a:t> 。</a:t>
            </a: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pic>
        <p:nvPicPr>
          <p:cNvPr id="5" name="Picture 28" descr="015">
            <a:extLst>
              <a:ext uri="{FF2B5EF4-FFF2-40B4-BE49-F238E27FC236}">
                <a16:creationId xmlns:a16="http://schemas.microsoft.com/office/drawing/2014/main" id="{9270B532-5989-4912-B2FE-940CCCC835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274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a:t>
            </a:r>
            <a:r>
              <a:rPr lang="zh-CN" altLang="en-US" dirty="0"/>
              <a:t>网络的概念</a:t>
            </a:r>
          </a:p>
        </p:txBody>
      </p:sp>
      <p:sp>
        <p:nvSpPr>
          <p:cNvPr id="3" name="内容占位符 2"/>
          <p:cNvSpPr>
            <a:spLocks noGrp="1"/>
          </p:cNvSpPr>
          <p:nvPr>
            <p:ph idx="1"/>
          </p:nvPr>
        </p:nvSpPr>
        <p:spPr/>
        <p:txBody>
          <a:bodyPr/>
          <a:lstStyle/>
          <a:p>
            <a:pPr>
              <a:defRPr/>
            </a:pPr>
            <a:r>
              <a:rPr lang="zh-CN" altLang="en-US" dirty="0"/>
              <a:t>计算机网络</a:t>
            </a:r>
            <a:r>
              <a:rPr lang="en-US" altLang="zh-CN" dirty="0"/>
              <a:t>——</a:t>
            </a:r>
            <a:r>
              <a:rPr lang="zh-CN" altLang="en-US" dirty="0">
                <a:solidFill>
                  <a:srgbClr val="FF0000"/>
                </a:solidFill>
              </a:rPr>
              <a:t>自主计算机的互连集合</a:t>
            </a:r>
            <a:r>
              <a:rPr lang="zh-CN" altLang="en-US" dirty="0"/>
              <a:t>。</a:t>
            </a:r>
          </a:p>
          <a:p>
            <a:pPr lvl="1">
              <a:spcBef>
                <a:spcPct val="20000"/>
              </a:spcBef>
              <a:buClr>
                <a:schemeClr val="accent1"/>
              </a:buClr>
              <a:buSzPct val="70000"/>
              <a:buNone/>
              <a:defRPr/>
            </a:pPr>
            <a:r>
              <a:rPr lang="zh-CN" altLang="en-US" dirty="0"/>
              <a:t>概念的两个方面：</a:t>
            </a:r>
          </a:p>
          <a:p>
            <a:pPr lvl="3">
              <a:spcBef>
                <a:spcPct val="20000"/>
              </a:spcBef>
              <a:buFontTx/>
              <a:buChar char="–"/>
              <a:defRPr/>
            </a:pPr>
            <a:r>
              <a:rPr lang="zh-CN" altLang="en-US" dirty="0">
                <a:solidFill>
                  <a:srgbClr val="FF0000"/>
                </a:solidFill>
              </a:rPr>
              <a:t>自主：不是主从关系</a:t>
            </a:r>
          </a:p>
          <a:p>
            <a:pPr lvl="4">
              <a:spcBef>
                <a:spcPct val="20000"/>
              </a:spcBef>
              <a:buFontTx/>
              <a:buChar char="–"/>
              <a:defRPr/>
            </a:pPr>
            <a:r>
              <a:rPr lang="zh-CN" altLang="en-US" dirty="0"/>
              <a:t>主控－从属</a:t>
            </a:r>
          </a:p>
          <a:p>
            <a:pPr lvl="4">
              <a:spcBef>
                <a:spcPct val="20000"/>
              </a:spcBef>
              <a:buFontTx/>
              <a:buChar char="–"/>
              <a:defRPr/>
            </a:pPr>
            <a:r>
              <a:rPr lang="zh-CN" altLang="en-US" dirty="0"/>
              <a:t>主机－终端（终端网络）</a:t>
            </a:r>
          </a:p>
          <a:p>
            <a:pPr lvl="3">
              <a:spcBef>
                <a:spcPct val="20000"/>
              </a:spcBef>
              <a:buFontTx/>
              <a:buChar char="–"/>
              <a:defRPr/>
            </a:pPr>
            <a:r>
              <a:rPr lang="zh-CN" altLang="en-US" dirty="0">
                <a:solidFill>
                  <a:srgbClr val="FF0000"/>
                </a:solidFill>
              </a:rPr>
              <a:t>互连：以任何通信方式</a:t>
            </a:r>
          </a:p>
          <a:p>
            <a:pPr lvl="4">
              <a:spcBef>
                <a:spcPct val="20000"/>
              </a:spcBef>
              <a:buFontTx/>
              <a:buChar char="–"/>
              <a:defRPr/>
            </a:pPr>
            <a:r>
              <a:rPr lang="zh-CN" altLang="en-US" dirty="0"/>
              <a:t>铜线、光纤</a:t>
            </a:r>
          </a:p>
          <a:p>
            <a:pPr lvl="4">
              <a:spcBef>
                <a:spcPct val="20000"/>
              </a:spcBef>
              <a:buFontTx/>
              <a:buChar char="–"/>
              <a:defRPr/>
            </a:pPr>
            <a:r>
              <a:rPr lang="zh-CN" altLang="en-US" dirty="0"/>
              <a:t>红外、激光、微波、卫星</a:t>
            </a:r>
          </a:p>
          <a:p>
            <a:pPr>
              <a:defRPr/>
            </a:pP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Tree>
    <p:extLst>
      <p:ext uri="{BB962C8B-B14F-4D97-AF65-F5344CB8AC3E}">
        <p14:creationId xmlns:p14="http://schemas.microsoft.com/office/powerpoint/2010/main" val="253712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a:t>
            </a:r>
            <a:r>
              <a:rPr lang="zh-CN" altLang="en-US" dirty="0"/>
              <a:t>网络的概念</a:t>
            </a:r>
          </a:p>
        </p:txBody>
      </p:sp>
      <p:sp>
        <p:nvSpPr>
          <p:cNvPr id="3" name="内容占位符 2"/>
          <p:cNvSpPr>
            <a:spLocks noGrp="1"/>
          </p:cNvSpPr>
          <p:nvPr>
            <p:ph idx="1"/>
          </p:nvPr>
        </p:nvSpPr>
        <p:spPr/>
        <p:txBody>
          <a:bodyPr/>
          <a:lstStyle/>
          <a:p>
            <a:pPr>
              <a:lnSpc>
                <a:spcPct val="90000"/>
              </a:lnSpc>
            </a:pPr>
            <a:r>
              <a:rPr lang="zh-CN" altLang="en-US" dirty="0"/>
              <a:t>计算机网络是一些互相连接的、自治的计算机的集合</a:t>
            </a:r>
          </a:p>
          <a:p>
            <a:pPr>
              <a:lnSpc>
                <a:spcPct val="90000"/>
              </a:lnSpc>
            </a:pPr>
            <a:r>
              <a:rPr lang="zh-CN" altLang="en-US" dirty="0">
                <a:ea typeface="黑体" panose="02010609060101010101" pitchFamily="49" charset="-122"/>
              </a:rPr>
              <a:t>因特网</a:t>
            </a:r>
            <a:r>
              <a:rPr lang="en-US" altLang="zh-CN" dirty="0">
                <a:ea typeface="黑体" panose="02010609060101010101" pitchFamily="49" charset="-122"/>
              </a:rPr>
              <a:t>(Internet)</a:t>
            </a:r>
            <a:r>
              <a:rPr lang="zh-CN" altLang="en-US" dirty="0">
                <a:ea typeface="黑体" panose="02010609060101010101" pitchFamily="49" charset="-122"/>
              </a:rPr>
              <a:t>是</a:t>
            </a:r>
            <a:r>
              <a:rPr lang="zh-CN" altLang="en-US" dirty="0">
                <a:latin typeface="Arial" panose="020B0604020202020204" pitchFamily="34" charset="0"/>
                <a:ea typeface="黑体" panose="02010609060101010101" pitchFamily="49" charset="-122"/>
              </a:rPr>
              <a:t>“</a:t>
            </a:r>
            <a:r>
              <a:rPr lang="zh-CN" altLang="en-US" dirty="0">
                <a:ea typeface="黑体" panose="02010609060101010101" pitchFamily="49" charset="-122"/>
              </a:rPr>
              <a:t>网络的网络</a:t>
            </a:r>
            <a:r>
              <a:rPr lang="zh-CN" altLang="en-US" dirty="0">
                <a:latin typeface="Arial" panose="020B0604020202020204" pitchFamily="34" charset="0"/>
                <a:ea typeface="黑体" panose="02010609060101010101" pitchFamily="49" charset="-122"/>
              </a:rPr>
              <a:t>”</a:t>
            </a:r>
            <a:endParaRPr lang="zh-CN" altLang="en-US" dirty="0">
              <a:ea typeface="黑体" panose="02010609060101010101" pitchFamily="49" charset="-122"/>
            </a:endParaRPr>
          </a:p>
          <a:p>
            <a:pPr>
              <a:defRPr/>
            </a:pP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grpSp>
        <p:nvGrpSpPr>
          <p:cNvPr id="5" name="Group 2"/>
          <p:cNvGrpSpPr>
            <a:grpSpLocks/>
          </p:cNvGrpSpPr>
          <p:nvPr/>
        </p:nvGrpSpPr>
        <p:grpSpPr bwMode="auto">
          <a:xfrm>
            <a:off x="1492478" y="2262626"/>
            <a:ext cx="8747125" cy="4291013"/>
            <a:chOff x="1519" y="640"/>
            <a:chExt cx="3991" cy="1862"/>
          </a:xfrm>
        </p:grpSpPr>
        <p:grpSp>
          <p:nvGrpSpPr>
            <p:cNvPr id="6" name="Group 3"/>
            <p:cNvGrpSpPr>
              <a:grpSpLocks/>
            </p:cNvGrpSpPr>
            <p:nvPr/>
          </p:nvGrpSpPr>
          <p:grpSpPr bwMode="auto">
            <a:xfrm>
              <a:off x="3514" y="935"/>
              <a:ext cx="1996" cy="1361"/>
              <a:chOff x="109" y="1226"/>
              <a:chExt cx="2516" cy="1675"/>
            </a:xfrm>
          </p:grpSpPr>
          <p:grpSp>
            <p:nvGrpSpPr>
              <p:cNvPr id="139" name="Group 4"/>
              <p:cNvGrpSpPr>
                <a:grpSpLocks/>
              </p:cNvGrpSpPr>
              <p:nvPr/>
            </p:nvGrpSpPr>
            <p:grpSpPr bwMode="auto">
              <a:xfrm>
                <a:off x="109" y="1226"/>
                <a:ext cx="2516" cy="1675"/>
                <a:chOff x="109" y="1226"/>
                <a:chExt cx="2516" cy="1675"/>
              </a:xfrm>
            </p:grpSpPr>
            <p:grpSp>
              <p:nvGrpSpPr>
                <p:cNvPr id="141" name="Group 5"/>
                <p:cNvGrpSpPr>
                  <a:grpSpLocks/>
                </p:cNvGrpSpPr>
                <p:nvPr/>
              </p:nvGrpSpPr>
              <p:grpSpPr bwMode="auto">
                <a:xfrm>
                  <a:off x="109" y="1226"/>
                  <a:ext cx="2516" cy="1675"/>
                  <a:chOff x="109" y="1226"/>
                  <a:chExt cx="2516" cy="1675"/>
                </a:xfrm>
              </p:grpSpPr>
              <p:sp>
                <p:nvSpPr>
                  <p:cNvPr id="143" name="Oval 6"/>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4" name="Oval 7"/>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5" name="Oval 8"/>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6" name="Oval 9"/>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7" name="Oval 10"/>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8" name="Oval 11"/>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9" name="Oval 12"/>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grpSp>
            <p:sp>
              <p:nvSpPr>
                <p:cNvPr id="142" name="Oval 13"/>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grpSp>
          <p:sp>
            <p:nvSpPr>
              <p:cNvPr id="140" name="Freeform 14"/>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Line 15"/>
            <p:cNvSpPr>
              <a:spLocks noChangeShapeType="1"/>
            </p:cNvSpPr>
            <p:nvPr/>
          </p:nvSpPr>
          <p:spPr bwMode="auto">
            <a:xfrm flipH="1">
              <a:off x="4421" y="1661"/>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16"/>
            <p:cNvSpPr>
              <a:spLocks noChangeShapeType="1"/>
            </p:cNvSpPr>
            <p:nvPr/>
          </p:nvSpPr>
          <p:spPr bwMode="auto">
            <a:xfrm flipH="1" flipV="1">
              <a:off x="4240" y="1480"/>
              <a:ext cx="136"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Text Box 17"/>
            <p:cNvSpPr txBox="1">
              <a:spLocks noChangeArrowheads="1"/>
            </p:cNvSpPr>
            <p:nvPr/>
          </p:nvSpPr>
          <p:spPr bwMode="auto">
            <a:xfrm>
              <a:off x="2339" y="2276"/>
              <a:ext cx="283"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333399"/>
                  </a:solidFill>
                  <a:ea typeface="黑体" panose="02010609060101010101" pitchFamily="49" charset="-122"/>
                </a:rPr>
                <a:t>(a)</a:t>
              </a:r>
            </a:p>
          </p:txBody>
        </p:sp>
        <p:sp>
          <p:nvSpPr>
            <p:cNvPr id="10" name="Text Box 18"/>
            <p:cNvSpPr txBox="1">
              <a:spLocks noChangeArrowheads="1"/>
            </p:cNvSpPr>
            <p:nvPr/>
          </p:nvSpPr>
          <p:spPr bwMode="auto">
            <a:xfrm>
              <a:off x="4428" y="2276"/>
              <a:ext cx="283"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333399"/>
                  </a:solidFill>
                  <a:ea typeface="黑体" panose="02010609060101010101" pitchFamily="49" charset="-122"/>
                </a:rPr>
                <a:t>(b)</a:t>
              </a:r>
            </a:p>
          </p:txBody>
        </p:sp>
        <p:grpSp>
          <p:nvGrpSpPr>
            <p:cNvPr id="11" name="Group 19"/>
            <p:cNvGrpSpPr>
              <a:grpSpLocks/>
            </p:cNvGrpSpPr>
            <p:nvPr/>
          </p:nvGrpSpPr>
          <p:grpSpPr bwMode="auto">
            <a:xfrm>
              <a:off x="1519" y="1026"/>
              <a:ext cx="1727" cy="1162"/>
              <a:chOff x="1680" y="240"/>
              <a:chExt cx="2529" cy="1270"/>
            </a:xfrm>
          </p:grpSpPr>
          <p:sp>
            <p:nvSpPr>
              <p:cNvPr id="130" name="Oval 20"/>
              <p:cNvSpPr>
                <a:spLocks noChangeArrowheads="1"/>
              </p:cNvSpPr>
              <p:nvPr/>
            </p:nvSpPr>
            <p:spPr bwMode="auto">
              <a:xfrm>
                <a:off x="2554" y="240"/>
                <a:ext cx="1088"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1" name="Oval 21"/>
              <p:cNvSpPr>
                <a:spLocks noChangeArrowheads="1"/>
              </p:cNvSpPr>
              <p:nvPr/>
            </p:nvSpPr>
            <p:spPr bwMode="auto">
              <a:xfrm>
                <a:off x="1941" y="381"/>
                <a:ext cx="827"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2" name="Oval 22"/>
              <p:cNvSpPr>
                <a:spLocks noChangeArrowheads="1"/>
              </p:cNvSpPr>
              <p:nvPr/>
            </p:nvSpPr>
            <p:spPr bwMode="auto">
              <a:xfrm>
                <a:off x="1680" y="702"/>
                <a:ext cx="552" cy="411"/>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3" name="Oval 23"/>
              <p:cNvSpPr>
                <a:spLocks noChangeArrowheads="1"/>
              </p:cNvSpPr>
              <p:nvPr/>
            </p:nvSpPr>
            <p:spPr bwMode="auto">
              <a:xfrm>
                <a:off x="1849" y="894"/>
                <a:ext cx="842" cy="450"/>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4" name="Oval 24"/>
              <p:cNvSpPr>
                <a:spLocks noChangeArrowheads="1"/>
              </p:cNvSpPr>
              <p:nvPr/>
            </p:nvSpPr>
            <p:spPr bwMode="auto">
              <a:xfrm>
                <a:off x="2462" y="971"/>
                <a:ext cx="1272" cy="539"/>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5" name="Oval 25"/>
              <p:cNvSpPr>
                <a:spLocks noChangeArrowheads="1"/>
              </p:cNvSpPr>
              <p:nvPr/>
            </p:nvSpPr>
            <p:spPr bwMode="auto">
              <a:xfrm>
                <a:off x="3289" y="394"/>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6" name="Oval 26"/>
              <p:cNvSpPr>
                <a:spLocks noChangeArrowheads="1"/>
              </p:cNvSpPr>
              <p:nvPr/>
            </p:nvSpPr>
            <p:spPr bwMode="auto">
              <a:xfrm>
                <a:off x="3412" y="663"/>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7" name="Oval 27"/>
              <p:cNvSpPr>
                <a:spLocks noChangeArrowheads="1"/>
              </p:cNvSpPr>
              <p:nvPr/>
            </p:nvSpPr>
            <p:spPr bwMode="auto">
              <a:xfrm>
                <a:off x="3335" y="753"/>
                <a:ext cx="797" cy="66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8" name="Oval 28"/>
              <p:cNvSpPr>
                <a:spLocks noChangeArrowheads="1"/>
              </p:cNvSpPr>
              <p:nvPr/>
            </p:nvSpPr>
            <p:spPr bwMode="auto">
              <a:xfrm>
                <a:off x="2140" y="548"/>
                <a:ext cx="1640" cy="667"/>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grpSp>
        <p:sp>
          <p:nvSpPr>
            <p:cNvPr id="12" name="Line 29"/>
            <p:cNvSpPr>
              <a:spLocks noChangeShapeType="1"/>
            </p:cNvSpPr>
            <p:nvPr/>
          </p:nvSpPr>
          <p:spPr bwMode="auto">
            <a:xfrm flipH="1" flipV="1">
              <a:off x="2516" y="1207"/>
              <a:ext cx="458" cy="5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30"/>
            <p:cNvSpPr txBox="1">
              <a:spLocks noChangeArrowheads="1"/>
            </p:cNvSpPr>
            <p:nvPr/>
          </p:nvSpPr>
          <p:spPr bwMode="auto">
            <a:xfrm>
              <a:off x="2239" y="640"/>
              <a:ext cx="652"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333399"/>
                  </a:solidFill>
                  <a:latin typeface="黑体" panose="02010609060101010101" pitchFamily="49" charset="-122"/>
                  <a:ea typeface="黑体" panose="02010609060101010101" pitchFamily="49" charset="-122"/>
                </a:rPr>
                <a:t>network</a:t>
              </a:r>
            </a:p>
          </p:txBody>
        </p:sp>
        <p:sp>
          <p:nvSpPr>
            <p:cNvPr id="14" name="Line 31"/>
            <p:cNvSpPr>
              <a:spLocks noChangeShapeType="1"/>
            </p:cNvSpPr>
            <p:nvPr/>
          </p:nvSpPr>
          <p:spPr bwMode="auto">
            <a:xfrm flipH="1" flipV="1">
              <a:off x="4104" y="1933"/>
              <a:ext cx="72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32"/>
            <p:cNvSpPr>
              <a:spLocks noChangeShapeType="1"/>
            </p:cNvSpPr>
            <p:nvPr/>
          </p:nvSpPr>
          <p:spPr bwMode="auto">
            <a:xfrm flipV="1">
              <a:off x="4104" y="1117"/>
              <a:ext cx="22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33"/>
            <p:cNvSpPr txBox="1">
              <a:spLocks noChangeArrowheads="1"/>
            </p:cNvSpPr>
            <p:nvPr/>
          </p:nvSpPr>
          <p:spPr bwMode="auto">
            <a:xfrm>
              <a:off x="3787" y="640"/>
              <a:ext cx="976"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dirty="0">
                  <a:solidFill>
                    <a:srgbClr val="333399"/>
                  </a:solidFill>
                  <a:latin typeface="黑体" panose="02010609060101010101" pitchFamily="49" charset="-122"/>
                  <a:ea typeface="黑体" panose="02010609060101010101" pitchFamily="49" charset="-122"/>
                </a:rPr>
                <a:t>   internet</a:t>
              </a:r>
            </a:p>
          </p:txBody>
        </p:sp>
        <p:sp>
          <p:nvSpPr>
            <p:cNvPr id="17" name="Line 34"/>
            <p:cNvSpPr>
              <a:spLocks noChangeShapeType="1"/>
            </p:cNvSpPr>
            <p:nvPr/>
          </p:nvSpPr>
          <p:spPr bwMode="auto">
            <a:xfrm flipH="1">
              <a:off x="3832" y="1480"/>
              <a:ext cx="408"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35"/>
            <p:cNvSpPr>
              <a:spLocks noChangeShapeType="1"/>
            </p:cNvSpPr>
            <p:nvPr/>
          </p:nvSpPr>
          <p:spPr bwMode="auto">
            <a:xfrm>
              <a:off x="4512" y="1117"/>
              <a:ext cx="272"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36"/>
            <p:cNvSpPr>
              <a:spLocks noChangeShapeType="1"/>
            </p:cNvSpPr>
            <p:nvPr/>
          </p:nvSpPr>
          <p:spPr bwMode="auto">
            <a:xfrm>
              <a:off x="4875" y="1253"/>
              <a:ext cx="408"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37"/>
            <p:cNvSpPr>
              <a:spLocks noChangeShapeType="1"/>
            </p:cNvSpPr>
            <p:nvPr/>
          </p:nvSpPr>
          <p:spPr bwMode="auto">
            <a:xfrm flipH="1">
              <a:off x="4784" y="1298"/>
              <a:ext cx="46"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38"/>
            <p:cNvSpPr>
              <a:spLocks noChangeShapeType="1"/>
            </p:cNvSpPr>
            <p:nvPr/>
          </p:nvSpPr>
          <p:spPr bwMode="auto">
            <a:xfrm flipV="1">
              <a:off x="4240" y="1253"/>
              <a:ext cx="454"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39"/>
            <p:cNvSpPr>
              <a:spLocks noChangeShapeType="1"/>
            </p:cNvSpPr>
            <p:nvPr/>
          </p:nvSpPr>
          <p:spPr bwMode="auto">
            <a:xfrm>
              <a:off x="4058" y="1162"/>
              <a:ext cx="91"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40"/>
            <p:cNvSpPr>
              <a:spLocks noChangeShapeType="1"/>
            </p:cNvSpPr>
            <p:nvPr/>
          </p:nvSpPr>
          <p:spPr bwMode="auto">
            <a:xfrm flipV="1">
              <a:off x="4422" y="1616"/>
              <a:ext cx="317"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41"/>
            <p:cNvSpPr>
              <a:spLocks noChangeShapeType="1"/>
            </p:cNvSpPr>
            <p:nvPr/>
          </p:nvSpPr>
          <p:spPr bwMode="auto">
            <a:xfrm>
              <a:off x="4830" y="1616"/>
              <a:ext cx="408"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42"/>
            <p:cNvSpPr>
              <a:spLocks noChangeShapeType="1"/>
            </p:cNvSpPr>
            <p:nvPr/>
          </p:nvSpPr>
          <p:spPr bwMode="auto">
            <a:xfrm flipH="1">
              <a:off x="4013" y="1525"/>
              <a:ext cx="136"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43"/>
            <p:cNvSpPr>
              <a:spLocks noChangeShapeType="1"/>
            </p:cNvSpPr>
            <p:nvPr/>
          </p:nvSpPr>
          <p:spPr bwMode="auto">
            <a:xfrm>
              <a:off x="4784" y="1661"/>
              <a:ext cx="0"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 name="Group 44"/>
            <p:cNvGrpSpPr>
              <a:grpSpLocks/>
            </p:cNvGrpSpPr>
            <p:nvPr/>
          </p:nvGrpSpPr>
          <p:grpSpPr bwMode="auto">
            <a:xfrm>
              <a:off x="3877" y="1071"/>
              <a:ext cx="272" cy="227"/>
              <a:chOff x="2949" y="196"/>
              <a:chExt cx="941" cy="598"/>
            </a:xfrm>
          </p:grpSpPr>
          <p:sp>
            <p:nvSpPr>
              <p:cNvPr id="119" name="Oval 45"/>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0" name="Oval 46"/>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1" name="Oval 47"/>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2" name="Oval 48"/>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3" name="Oval 49"/>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4" name="Oval 50"/>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5" name="Oval 51"/>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6" name="Oval 52"/>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27" name="Freeform 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 name="Freeform 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 name="Freeform 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 name="Group 56"/>
            <p:cNvGrpSpPr>
              <a:grpSpLocks/>
            </p:cNvGrpSpPr>
            <p:nvPr/>
          </p:nvGrpSpPr>
          <p:grpSpPr bwMode="auto">
            <a:xfrm>
              <a:off x="4648" y="1071"/>
              <a:ext cx="408" cy="317"/>
              <a:chOff x="2949" y="196"/>
              <a:chExt cx="941" cy="598"/>
            </a:xfrm>
          </p:grpSpPr>
          <p:sp>
            <p:nvSpPr>
              <p:cNvPr id="108" name="Oval 57"/>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9" name="Oval 58"/>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0" name="Oval 59"/>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1" name="Oval 60"/>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2" name="Oval 61"/>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3" name="Oval 62"/>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4" name="Oval 63"/>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5" name="Oval 64"/>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16"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9" name="Group 68"/>
            <p:cNvGrpSpPr>
              <a:grpSpLocks/>
            </p:cNvGrpSpPr>
            <p:nvPr/>
          </p:nvGrpSpPr>
          <p:grpSpPr bwMode="auto">
            <a:xfrm rot="-1072061">
              <a:off x="3614" y="1401"/>
              <a:ext cx="318" cy="271"/>
              <a:chOff x="2949" y="196"/>
              <a:chExt cx="941" cy="598"/>
            </a:xfrm>
          </p:grpSpPr>
          <p:sp>
            <p:nvSpPr>
              <p:cNvPr id="97" name="Oval 6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8" name="Oval 7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9" name="Oval 7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0" name="Oval 7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1" name="Oval 7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2" name="Oval 7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3" name="Oval 7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4" name="Oval 7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05" name="Freeform 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Freeform 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Freeform 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 name="Group 80"/>
            <p:cNvGrpSpPr>
              <a:grpSpLocks/>
            </p:cNvGrpSpPr>
            <p:nvPr/>
          </p:nvGrpSpPr>
          <p:grpSpPr bwMode="auto">
            <a:xfrm rot="-854928">
              <a:off x="3786" y="1741"/>
              <a:ext cx="362" cy="317"/>
              <a:chOff x="2949" y="196"/>
              <a:chExt cx="941" cy="598"/>
            </a:xfrm>
          </p:grpSpPr>
          <p:sp>
            <p:nvSpPr>
              <p:cNvPr id="86" name="Oval 81"/>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7" name="Oval 82"/>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8" name="Oval 83"/>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9" name="Oval 84"/>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0" name="Oval 85"/>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1" name="Oval 86"/>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2" name="Oval 87"/>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3" name="Oval 88"/>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94" name="Freeform 8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 name="Freeform 9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 name="Freeform 9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1" name="Line 92"/>
            <p:cNvSpPr>
              <a:spLocks noChangeShapeType="1"/>
            </p:cNvSpPr>
            <p:nvPr/>
          </p:nvSpPr>
          <p:spPr bwMode="auto">
            <a:xfrm flipH="1">
              <a:off x="4830" y="1706"/>
              <a:ext cx="453"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 name="Group 93"/>
            <p:cNvGrpSpPr>
              <a:grpSpLocks/>
            </p:cNvGrpSpPr>
            <p:nvPr/>
          </p:nvGrpSpPr>
          <p:grpSpPr bwMode="auto">
            <a:xfrm rot="-666782">
              <a:off x="4648" y="1888"/>
              <a:ext cx="272" cy="227"/>
              <a:chOff x="2949" y="196"/>
              <a:chExt cx="941" cy="598"/>
            </a:xfrm>
          </p:grpSpPr>
          <p:sp>
            <p:nvSpPr>
              <p:cNvPr id="75" name="Oval 94"/>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6" name="Oval 95"/>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7" name="Oval 96"/>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8" name="Oval 97"/>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9" name="Oval 98"/>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0" name="Oval 99"/>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1" name="Oval 100"/>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2" name="Oval 101"/>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83" name="Freeform 10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Freeform 10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 name="Freeform 10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 name="Group 105"/>
            <p:cNvGrpSpPr>
              <a:grpSpLocks/>
            </p:cNvGrpSpPr>
            <p:nvPr/>
          </p:nvGrpSpPr>
          <p:grpSpPr bwMode="auto">
            <a:xfrm rot="282232">
              <a:off x="5147" y="1570"/>
              <a:ext cx="272" cy="227"/>
              <a:chOff x="2949" y="196"/>
              <a:chExt cx="941" cy="598"/>
            </a:xfrm>
          </p:grpSpPr>
          <p:sp>
            <p:nvSpPr>
              <p:cNvPr id="64" name="Oval 106"/>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5" name="Oval 107"/>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6" name="Oval 108"/>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7" name="Oval 109"/>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8" name="Oval 110"/>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9" name="Oval 111"/>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0" name="Oval 112"/>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1" name="Oval 113"/>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72" name="Freeform 11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Freeform 11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Freeform 11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 name="Line 117"/>
            <p:cNvSpPr>
              <a:spLocks noChangeShapeType="1"/>
            </p:cNvSpPr>
            <p:nvPr/>
          </p:nvSpPr>
          <p:spPr bwMode="auto">
            <a:xfrm flipV="1">
              <a:off x="1791" y="1207"/>
              <a:ext cx="589"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118"/>
            <p:cNvSpPr>
              <a:spLocks noChangeShapeType="1"/>
            </p:cNvSpPr>
            <p:nvPr/>
          </p:nvSpPr>
          <p:spPr bwMode="auto">
            <a:xfrm flipV="1">
              <a:off x="2290" y="1207"/>
              <a:ext cx="136" cy="6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36" name="Picture 1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0" y="1525"/>
              <a:ext cx="19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8" y="1389"/>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8"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5" y="1888"/>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9" name="Picture 1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 y="1525"/>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0" name="Picture 1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6" y="1389"/>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 name="Picture 1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5" y="1026"/>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 name="Picture 1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0" y="1797"/>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3" name="Group 126"/>
            <p:cNvGrpSpPr>
              <a:grpSpLocks/>
            </p:cNvGrpSpPr>
            <p:nvPr/>
          </p:nvGrpSpPr>
          <p:grpSpPr bwMode="auto">
            <a:xfrm rot="-666782">
              <a:off x="4285" y="1570"/>
              <a:ext cx="272" cy="227"/>
              <a:chOff x="2949" y="196"/>
              <a:chExt cx="941" cy="598"/>
            </a:xfrm>
          </p:grpSpPr>
          <p:sp>
            <p:nvSpPr>
              <p:cNvPr id="53" name="Oval 127"/>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4" name="Oval 128"/>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5" name="Oval 129"/>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6" name="Oval 130"/>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7" name="Oval 131"/>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8" name="Oval 132"/>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9" name="Oval 133"/>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0" name="Oval 134"/>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61" name="Freeform 13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Freeform 13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Freeform 13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44" name="Picture 1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4" y="1842"/>
              <a:ext cx="19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1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5" y="1752"/>
              <a:ext cx="19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14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959483">
              <a:off x="2299" y="1144"/>
              <a:ext cx="274"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Oval 141"/>
            <p:cNvSpPr>
              <a:spLocks noChangeArrowheads="1"/>
            </p:cNvSpPr>
            <p:nvPr/>
          </p:nvSpPr>
          <p:spPr bwMode="auto">
            <a:xfrm>
              <a:off x="2885" y="1709"/>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48" name="Text Box 142"/>
            <p:cNvSpPr txBox="1">
              <a:spLocks noChangeArrowheads="1"/>
            </p:cNvSpPr>
            <p:nvPr/>
          </p:nvSpPr>
          <p:spPr bwMode="auto">
            <a:xfrm>
              <a:off x="2562" y="973"/>
              <a:ext cx="409"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333399"/>
                  </a:solidFill>
                  <a:latin typeface="黑体" panose="02010609060101010101" pitchFamily="49" charset="-122"/>
                  <a:ea typeface="黑体" panose="02010609060101010101" pitchFamily="49" charset="-122"/>
                </a:rPr>
                <a:t>node</a:t>
              </a:r>
            </a:p>
          </p:txBody>
        </p:sp>
        <p:sp>
          <p:nvSpPr>
            <p:cNvPr id="49" name="Text Box 143"/>
            <p:cNvSpPr txBox="1">
              <a:spLocks noChangeArrowheads="1"/>
            </p:cNvSpPr>
            <p:nvPr/>
          </p:nvSpPr>
          <p:spPr bwMode="auto">
            <a:xfrm>
              <a:off x="2734" y="1290"/>
              <a:ext cx="40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a:solidFill>
                    <a:srgbClr val="333399"/>
                  </a:solidFill>
                  <a:latin typeface="黑体" panose="02010609060101010101" pitchFamily="49" charset="-122"/>
                  <a:ea typeface="黑体" panose="02010609060101010101" pitchFamily="49" charset="-122"/>
                </a:rPr>
                <a:t>link</a:t>
              </a:r>
            </a:p>
          </p:txBody>
        </p:sp>
        <p:sp>
          <p:nvSpPr>
            <p:cNvPr id="50" name="Oval 144"/>
            <p:cNvSpPr>
              <a:spLocks noChangeArrowheads="1"/>
            </p:cNvSpPr>
            <p:nvPr/>
          </p:nvSpPr>
          <p:spPr bwMode="auto">
            <a:xfrm>
              <a:off x="2301" y="1077"/>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1" name="Oval 145"/>
            <p:cNvSpPr>
              <a:spLocks noChangeArrowheads="1"/>
            </p:cNvSpPr>
            <p:nvPr/>
          </p:nvSpPr>
          <p:spPr bwMode="auto">
            <a:xfrm>
              <a:off x="1669" y="1501"/>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52" name="Oval 146"/>
            <p:cNvSpPr>
              <a:spLocks noChangeArrowheads="1"/>
            </p:cNvSpPr>
            <p:nvPr/>
          </p:nvSpPr>
          <p:spPr bwMode="auto">
            <a:xfrm>
              <a:off x="2117" y="1813"/>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grpSp>
      <p:pic>
        <p:nvPicPr>
          <p:cNvPr id="150" name="Picture 28" descr="015">
            <a:extLst>
              <a:ext uri="{FF2B5EF4-FFF2-40B4-BE49-F238E27FC236}">
                <a16:creationId xmlns:a16="http://schemas.microsoft.com/office/drawing/2014/main" id="{CE52BDD8-CA12-4205-AF7E-ABBBB5A6071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326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a:t>
            </a:r>
            <a:r>
              <a:rPr lang="zh-CN" altLang="en-US" dirty="0"/>
              <a:t>网络的概念</a:t>
            </a:r>
          </a:p>
        </p:txBody>
      </p:sp>
      <p:sp>
        <p:nvSpPr>
          <p:cNvPr id="3" name="内容占位符 2"/>
          <p:cNvSpPr>
            <a:spLocks noGrp="1"/>
          </p:cNvSpPr>
          <p:nvPr>
            <p:ph idx="1"/>
          </p:nvPr>
        </p:nvSpPr>
        <p:spPr/>
        <p:txBody>
          <a:bodyPr/>
          <a:lstStyle/>
          <a:p>
            <a:r>
              <a:rPr lang="zh-CN" altLang="en-US" dirty="0"/>
              <a:t>互联网是</a:t>
            </a:r>
            <a:r>
              <a:rPr lang="zh-CN" altLang="en-US" dirty="0">
                <a:latin typeface="Arial" panose="020B0604020202020204" pitchFamily="34" charset="0"/>
              </a:rPr>
              <a:t>“</a:t>
            </a:r>
            <a:r>
              <a:rPr lang="zh-CN" altLang="en-US" dirty="0">
                <a:solidFill>
                  <a:srgbClr val="CC0000"/>
                </a:solidFill>
              </a:rPr>
              <a:t>网络的网络</a:t>
            </a:r>
            <a:r>
              <a:rPr lang="zh-CN" altLang="en-US" dirty="0">
                <a:latin typeface="Arial" panose="020B0604020202020204" pitchFamily="34" charset="0"/>
              </a:rPr>
              <a:t>”</a:t>
            </a:r>
            <a:r>
              <a:rPr lang="en-US" altLang="zh-CN" dirty="0"/>
              <a:t>(network of networks)</a:t>
            </a:r>
            <a:r>
              <a:rPr lang="zh-CN" altLang="en-US" dirty="0"/>
              <a:t>，网络把许多计算机连接在一起。</a:t>
            </a:r>
            <a:endParaRPr lang="en-US" altLang="zh-CN" dirty="0"/>
          </a:p>
          <a:p>
            <a:r>
              <a:rPr lang="zh-CN" altLang="en-US" dirty="0"/>
              <a:t>连接在因特网上的计算机都称为</a:t>
            </a:r>
            <a:r>
              <a:rPr lang="zh-CN" altLang="en-US" dirty="0">
                <a:solidFill>
                  <a:srgbClr val="CC0000"/>
                </a:solidFill>
              </a:rPr>
              <a:t>主机</a:t>
            </a:r>
            <a:r>
              <a:rPr lang="en-US" altLang="zh-CN" dirty="0"/>
              <a:t>(host)</a:t>
            </a:r>
            <a:r>
              <a:rPr lang="zh-CN" altLang="en-US" dirty="0"/>
              <a:t>。 </a:t>
            </a:r>
          </a:p>
          <a:p>
            <a:pPr>
              <a:defRPr/>
            </a:pP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grpSp>
        <p:nvGrpSpPr>
          <p:cNvPr id="150" name="Group 2"/>
          <p:cNvGrpSpPr>
            <a:grpSpLocks/>
          </p:cNvGrpSpPr>
          <p:nvPr/>
        </p:nvGrpSpPr>
        <p:grpSpPr bwMode="auto">
          <a:xfrm>
            <a:off x="3021493" y="3119761"/>
            <a:ext cx="5249341" cy="2973064"/>
            <a:chOff x="249" y="650"/>
            <a:chExt cx="2452" cy="1658"/>
          </a:xfrm>
        </p:grpSpPr>
        <p:sp>
          <p:nvSpPr>
            <p:cNvPr id="151" name="Line 3"/>
            <p:cNvSpPr>
              <a:spLocks noChangeShapeType="1"/>
            </p:cNvSpPr>
            <p:nvPr/>
          </p:nvSpPr>
          <p:spPr bwMode="auto">
            <a:xfrm flipH="1" flipV="1">
              <a:off x="302" y="1258"/>
              <a:ext cx="673" cy="13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 name="Line 4"/>
            <p:cNvSpPr>
              <a:spLocks noChangeShapeType="1"/>
            </p:cNvSpPr>
            <p:nvPr/>
          </p:nvSpPr>
          <p:spPr bwMode="auto">
            <a:xfrm flipH="1">
              <a:off x="2109" y="1434"/>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 name="Line 5"/>
            <p:cNvSpPr>
              <a:spLocks noChangeShapeType="1"/>
            </p:cNvSpPr>
            <p:nvPr/>
          </p:nvSpPr>
          <p:spPr bwMode="auto">
            <a:xfrm flipH="1">
              <a:off x="1791" y="935"/>
              <a:ext cx="227" cy="2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 name="Line 6"/>
            <p:cNvSpPr>
              <a:spLocks noChangeShapeType="1"/>
            </p:cNvSpPr>
            <p:nvPr/>
          </p:nvSpPr>
          <p:spPr bwMode="auto">
            <a:xfrm flipH="1" flipV="1">
              <a:off x="1746" y="1797"/>
              <a:ext cx="24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Line 7"/>
            <p:cNvSpPr>
              <a:spLocks noChangeShapeType="1"/>
            </p:cNvSpPr>
            <p:nvPr/>
          </p:nvSpPr>
          <p:spPr bwMode="auto">
            <a:xfrm>
              <a:off x="975" y="935"/>
              <a:ext cx="181" cy="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 name="Line 8"/>
            <p:cNvSpPr>
              <a:spLocks noChangeShapeType="1"/>
            </p:cNvSpPr>
            <p:nvPr/>
          </p:nvSpPr>
          <p:spPr bwMode="auto">
            <a:xfrm flipV="1">
              <a:off x="1065" y="1752"/>
              <a:ext cx="91" cy="3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 name="Line 9"/>
            <p:cNvSpPr>
              <a:spLocks noChangeShapeType="1"/>
            </p:cNvSpPr>
            <p:nvPr/>
          </p:nvSpPr>
          <p:spPr bwMode="auto">
            <a:xfrm flipV="1">
              <a:off x="590" y="1642"/>
              <a:ext cx="336"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58" name="Picture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 y="75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 name="Picture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 y="75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0" name="Picture 1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 y="1207"/>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1" name="Picture 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 y="202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 name="Picture 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 y="202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 y="1642"/>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 name="Text Box 16"/>
            <p:cNvSpPr txBox="1">
              <a:spLocks noChangeArrowheads="1"/>
            </p:cNvSpPr>
            <p:nvPr/>
          </p:nvSpPr>
          <p:spPr bwMode="auto">
            <a:xfrm>
              <a:off x="1057" y="650"/>
              <a:ext cx="262"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a:solidFill>
                    <a:srgbClr val="333399"/>
                  </a:solidFill>
                  <a:latin typeface="Times New Roman" panose="02020603050405020304" pitchFamily="18" charset="0"/>
                  <a:ea typeface="黑体" panose="02010609060101010101" pitchFamily="49" charset="-122"/>
                </a:rPr>
                <a:t>host</a:t>
              </a:r>
            </a:p>
          </p:txBody>
        </p:sp>
        <p:pic>
          <p:nvPicPr>
            <p:cNvPr id="165" name="Picture 1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 y="1117"/>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66" name="Object 18"/>
            <p:cNvGraphicFramePr>
              <a:graphicFrameLocks noChangeAspect="1"/>
            </p:cNvGraphicFramePr>
            <p:nvPr/>
          </p:nvGraphicFramePr>
          <p:xfrm>
            <a:off x="748" y="1026"/>
            <a:ext cx="1542" cy="1089"/>
          </p:xfrm>
          <a:graphic>
            <a:graphicData uri="http://schemas.openxmlformats.org/presentationml/2006/ole">
              <mc:AlternateContent xmlns:mc="http://schemas.openxmlformats.org/markup-compatibility/2006">
                <mc:Choice xmlns:v="urn:schemas-microsoft-com:vml" Requires="v">
                  <p:oleObj spid="_x0000_s10300" name="VISIO" r:id="rId4" imgW="1687068" imgH="964692" progId="Visio.Drawing.6">
                    <p:embed/>
                  </p:oleObj>
                </mc:Choice>
                <mc:Fallback>
                  <p:oleObj name="VISIO" r:id="rId4" imgW="1687068" imgH="964692" progId="Visio.Drawing.6">
                    <p:embed/>
                    <p:pic>
                      <p:nvPicPr>
                        <p:cNvPr id="19474"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 y="1026"/>
                          <a:ext cx="1542" cy="1089"/>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67" name="Text Box 19"/>
            <p:cNvSpPr txBox="1">
              <a:spLocks noChangeArrowheads="1"/>
            </p:cNvSpPr>
            <p:nvPr/>
          </p:nvSpPr>
          <p:spPr bwMode="auto">
            <a:xfrm>
              <a:off x="1292" y="1376"/>
              <a:ext cx="440"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a:solidFill>
                    <a:srgbClr val="333399"/>
                  </a:solidFill>
                  <a:latin typeface="Times New Roman" panose="02020603050405020304" pitchFamily="18" charset="0"/>
                  <a:ea typeface="黑体" panose="02010609060101010101" pitchFamily="49" charset="-122"/>
                </a:rPr>
                <a:t>Internet</a:t>
              </a:r>
            </a:p>
          </p:txBody>
        </p:sp>
      </p:grpSp>
      <p:pic>
        <p:nvPicPr>
          <p:cNvPr id="23" name="Picture 28" descr="015">
            <a:extLst>
              <a:ext uri="{FF2B5EF4-FFF2-40B4-BE49-F238E27FC236}">
                <a16:creationId xmlns:a16="http://schemas.microsoft.com/office/drawing/2014/main" id="{6A1EACA0-C894-480C-BA11-8D3135C3C37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6957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网络的网络</a:t>
            </a:r>
            <a:endParaRPr lang="zh-CN" altLang="en-US" dirty="0"/>
          </a:p>
        </p:txBody>
      </p:sp>
      <p:sp>
        <p:nvSpPr>
          <p:cNvPr id="3" name="文本框 2"/>
          <p:cNvSpPr txBox="1"/>
          <p:nvPr/>
        </p:nvSpPr>
        <p:spPr>
          <a:xfrm>
            <a:off x="3968432" y="1440654"/>
            <a:ext cx="4255135" cy="521970"/>
          </a:xfrm>
          <a:prstGeom prst="rect">
            <a:avLst/>
          </a:prstGeom>
          <a:noFill/>
        </p:spPr>
        <p:txBody>
          <a:bodyPr wrap="square" rtlCol="0" anchor="t">
            <a:spAutoFit/>
          </a:bodyPr>
          <a:lstStyle/>
          <a:p>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Internet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 与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internet</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2" name="表格 11">
            <a:extLst>
              <a:ext uri="{FF2B5EF4-FFF2-40B4-BE49-F238E27FC236}">
                <a16:creationId xmlns:a16="http://schemas.microsoft.com/office/drawing/2014/main" id="{9AC77744-1B62-B74D-910A-CC3FE7D08FF9}"/>
              </a:ext>
            </a:extLst>
          </p:cNvPr>
          <p:cNvGraphicFramePr>
            <a:graphicFrameLocks noGrp="1"/>
          </p:cNvGraphicFramePr>
          <p:nvPr/>
        </p:nvGraphicFramePr>
        <p:xfrm>
          <a:off x="1202498" y="2159066"/>
          <a:ext cx="9787001" cy="4062997"/>
        </p:xfrm>
        <a:graphic>
          <a:graphicData uri="http://schemas.openxmlformats.org/drawingml/2006/table">
            <a:tbl>
              <a:tblPr/>
              <a:tblGrid>
                <a:gridCol w="4908935">
                  <a:extLst>
                    <a:ext uri="{9D8B030D-6E8A-4147-A177-3AD203B41FA5}">
                      <a16:colId xmlns:a16="http://schemas.microsoft.com/office/drawing/2014/main" val="2514713391"/>
                    </a:ext>
                  </a:extLst>
                </a:gridCol>
                <a:gridCol w="4878066">
                  <a:extLst>
                    <a:ext uri="{9D8B030D-6E8A-4147-A177-3AD203B41FA5}">
                      <a16:colId xmlns:a16="http://schemas.microsoft.com/office/drawing/2014/main" val="3802589556"/>
                    </a:ext>
                  </a:extLst>
                </a:gridCol>
              </a:tblGrid>
              <a:tr h="741677">
                <a:tc>
                  <a:txBody>
                    <a:bodyPr/>
                    <a:lstStyle/>
                    <a:p>
                      <a:pPr algn="ctr" fontAlgn="t"/>
                      <a:r>
                        <a:rPr lang="zh-CN" altLang="en-US" sz="2000" b="0" i="0" u="none" strike="noStrike" dirty="0">
                          <a:solidFill>
                            <a:schemeClr val="tx1"/>
                          </a:solidFill>
                          <a:effectLst/>
                          <a:latin typeface="Microsoft YaHei" panose="020B0503020204020204" pitchFamily="34" charset="-122"/>
                          <a:ea typeface="Microsoft YaHei" panose="020B0503020204020204" pitchFamily="34" charset="-122"/>
                        </a:rPr>
                        <a:t>互联网（</a:t>
                      </a:r>
                      <a:r>
                        <a:rPr lang="en" sz="2000" b="0" i="0" u="none" strike="noStrike" dirty="0">
                          <a:solidFill>
                            <a:srgbClr val="C00000"/>
                          </a:solidFill>
                          <a:effectLst/>
                          <a:latin typeface="Microsoft YaHei" panose="020B0503020204020204" pitchFamily="34" charset="-122"/>
                          <a:ea typeface="Microsoft YaHei" panose="020B0503020204020204" pitchFamily="34" charset="-122"/>
                        </a:rPr>
                        <a:t>I</a:t>
                      </a:r>
                      <a:r>
                        <a:rPr lang="en" sz="2000" b="0" i="0" u="none" strike="noStrike" dirty="0">
                          <a:solidFill>
                            <a:schemeClr val="tx1"/>
                          </a:solidFill>
                          <a:effectLst/>
                          <a:latin typeface="Microsoft YaHei" panose="020B0503020204020204" pitchFamily="34" charset="-122"/>
                          <a:ea typeface="Microsoft YaHei" panose="020B0503020204020204" pitchFamily="34" charset="-122"/>
                        </a:rPr>
                        <a:t>nternet）</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3E3FA"/>
                    </a:solidFill>
                  </a:tcPr>
                </a:tc>
                <a:tc>
                  <a:txBody>
                    <a:bodyPr/>
                    <a:lstStyle/>
                    <a:p>
                      <a:pPr algn="ctr" fontAlgn="t"/>
                      <a:r>
                        <a:rPr lang="zh-CN" altLang="en-US" sz="2000" b="0" i="0" u="none" strike="noStrike" dirty="0">
                          <a:solidFill>
                            <a:schemeClr val="tx1"/>
                          </a:solidFill>
                          <a:effectLst/>
                          <a:latin typeface="Microsoft YaHei" panose="020B0503020204020204" pitchFamily="34" charset="-122"/>
                          <a:ea typeface="Microsoft YaHei" panose="020B0503020204020204" pitchFamily="34" charset="-122"/>
                        </a:rPr>
                        <a:t>互连网（</a:t>
                      </a:r>
                      <a:r>
                        <a:rPr lang="en" sz="2000" b="0" i="0" u="none" strike="noStrike" dirty="0">
                          <a:solidFill>
                            <a:srgbClr val="C00000"/>
                          </a:solidFill>
                          <a:effectLst/>
                          <a:latin typeface="Microsoft YaHei" panose="020B0503020204020204" pitchFamily="34" charset="-122"/>
                          <a:ea typeface="Microsoft YaHei" panose="020B0503020204020204" pitchFamily="34" charset="-122"/>
                        </a:rPr>
                        <a:t>i</a:t>
                      </a:r>
                      <a:r>
                        <a:rPr lang="en" sz="2000" b="0" i="0" u="none" strike="noStrike" dirty="0">
                          <a:solidFill>
                            <a:schemeClr val="tx1"/>
                          </a:solidFill>
                          <a:effectLst/>
                          <a:latin typeface="Microsoft YaHei" panose="020B0503020204020204" pitchFamily="34" charset="-122"/>
                          <a:ea typeface="Microsoft YaHei" panose="020B0503020204020204" pitchFamily="34" charset="-122"/>
                        </a:rPr>
                        <a:t>nternet）</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3E3FA"/>
                    </a:solidFill>
                  </a:tcPr>
                </a:tc>
                <a:extLst>
                  <a:ext uri="{0D108BD9-81ED-4DB2-BD59-A6C34878D82A}">
                    <a16:rowId xmlns:a16="http://schemas.microsoft.com/office/drawing/2014/main" val="2386346331"/>
                  </a:ext>
                </a:extLst>
              </a:tr>
              <a:tr h="381599">
                <a:tc gridSpan="2">
                  <a:txBody>
                    <a:bodyPr/>
                    <a:lstStyle/>
                    <a:p>
                      <a:pPr algn="ctr" rtl="0" fontAlgn="ctr"/>
                      <a:r>
                        <a:rPr lang="zh-CN" altLang="en-US" sz="2000" b="0" i="0" u="none" strike="noStrike" dirty="0">
                          <a:solidFill>
                            <a:srgbClr val="C00000"/>
                          </a:solidFill>
                          <a:effectLst/>
                          <a:latin typeface="Microsoft YaHei" panose="020B0503020204020204" pitchFamily="34" charset="-122"/>
                          <a:ea typeface="Microsoft YaHei" panose="020B0503020204020204" pitchFamily="34" charset="-122"/>
                        </a:rPr>
                        <a:t>相似之处</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ctr" rtl="0" fontAlgn="ctr"/>
                      <a:endParaRPr lang="zh-CN" altLang="en-US" sz="2000" b="0" i="0" u="none" strike="noStrike" dirty="0">
                        <a:solidFill>
                          <a:srgbClr val="C00000"/>
                        </a:solidFill>
                        <a:effectLst/>
                        <a:latin typeface="Microsoft YaHei" panose="020B0503020204020204" pitchFamily="34" charset="-122"/>
                        <a:ea typeface="Microsoft YaHei"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6180216"/>
                  </a:ext>
                </a:extLst>
              </a:tr>
              <a:tr h="692529">
                <a:tc>
                  <a:txBody>
                    <a:bodyPr/>
                    <a:lstStyle/>
                    <a:p>
                      <a:pPr algn="ctr" rtl="0" fontAlgn="ctr"/>
                      <a:r>
                        <a:rPr lang="zh-CN" altLang="en-US" sz="1800" b="0" i="0" u="none" strike="noStrike" dirty="0">
                          <a:solidFill>
                            <a:srgbClr val="000000"/>
                          </a:solidFill>
                          <a:effectLst/>
                          <a:latin typeface="Microsoft YaHei" panose="020B0503020204020204" pitchFamily="34" charset="-122"/>
                          <a:ea typeface="Microsoft YaHei" panose="020B0503020204020204" pitchFamily="34" charset="-122"/>
                        </a:rPr>
                        <a:t>网络的网络</a:t>
                      </a:r>
                      <a:br>
                        <a:rPr lang="en-US" altLang="zh-CN" sz="1800" b="0" i="0" u="none" strike="noStrike" dirty="0">
                          <a:solidFill>
                            <a:srgbClr val="000000"/>
                          </a:solidFill>
                          <a:effectLst/>
                          <a:latin typeface="Microsoft YaHei" panose="020B0503020204020204" pitchFamily="34" charset="-122"/>
                          <a:ea typeface="Microsoft YaHei" panose="020B0503020204020204" pitchFamily="34" charset="-122"/>
                        </a:rPr>
                      </a:br>
                      <a:r>
                        <a:rPr lang="zh-CN" altLang="en-US" sz="1800" b="0" i="0" u="none" strike="noStrike" dirty="0">
                          <a:solidFill>
                            <a:srgbClr val="000000"/>
                          </a:solidFill>
                          <a:effectLst/>
                          <a:latin typeface="Microsoft YaHei" panose="020B0503020204020204" pitchFamily="34" charset="-122"/>
                          <a:ea typeface="Microsoft YaHei" panose="020B0503020204020204" pitchFamily="34" charset="-122"/>
                        </a:rPr>
                        <a:t>（这种类型的一个具体实例）</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600" b="0" i="0" u="none" strike="noStrike" dirty="0">
                          <a:solidFill>
                            <a:srgbClr val="000000"/>
                          </a:solidFill>
                          <a:effectLst/>
                          <a:latin typeface="Microsoft YaHei" panose="020B0503020204020204" pitchFamily="34" charset="-122"/>
                          <a:ea typeface="Microsoft YaHei" panose="020B0503020204020204" pitchFamily="34" charset="-122"/>
                        </a:rPr>
                        <a:t>网络的网络</a:t>
                      </a:r>
                      <a:b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br>
                      <a:r>
                        <a:rPr lang="zh-CN" altLang="en-US" sz="1600" b="0" i="0" u="none" strike="noStrike" dirty="0">
                          <a:solidFill>
                            <a:srgbClr val="000000"/>
                          </a:solidFill>
                          <a:effectLst/>
                          <a:latin typeface="Microsoft YaHei" panose="020B0503020204020204" pitchFamily="34" charset="-122"/>
                          <a:ea typeface="Microsoft YaHei" panose="020B0503020204020204" pitchFamily="34" charset="-122"/>
                        </a:rPr>
                        <a:t>（泛指这种类型）</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729679"/>
                  </a:ext>
                </a:extLst>
              </a:tr>
              <a:tr h="381599">
                <a:tc gridSpan="2">
                  <a:txBody>
                    <a:bodyPr/>
                    <a:lstStyle/>
                    <a:p>
                      <a:pPr algn="ctr" rtl="0" fontAlgn="ctr"/>
                      <a:r>
                        <a:rPr lang="zh-CN" altLang="en-US" sz="2000" b="0" i="0" u="none" strike="noStrike" dirty="0">
                          <a:solidFill>
                            <a:srgbClr val="C00000"/>
                          </a:solidFill>
                          <a:effectLst/>
                          <a:latin typeface="Microsoft YaHei" panose="020B0503020204020204" pitchFamily="34" charset="-122"/>
                          <a:ea typeface="Microsoft YaHei" panose="020B0503020204020204" pitchFamily="34" charset="-122"/>
                        </a:rPr>
                        <a:t>不同之处</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gn="ctr" rtl="0" fontAlgn="ctr"/>
                      <a:endParaRPr lang="zh-CN" altLang="en-US" sz="2000" b="0" i="0" u="none" strike="noStrike" dirty="0">
                        <a:solidFill>
                          <a:srgbClr val="C00000"/>
                        </a:solidFill>
                        <a:effectLst/>
                        <a:latin typeface="Microsoft YaHei" panose="020B0503020204020204" pitchFamily="34" charset="-122"/>
                        <a:ea typeface="Microsoft YaHei" panose="020B0503020204020204" pitchFamily="34" charset="-122"/>
                      </a:endParaRP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757966"/>
                  </a:ext>
                </a:extLst>
              </a:tr>
              <a:tr h="1158929">
                <a:tc>
                  <a:txBody>
                    <a:bodyPr/>
                    <a:lstStyle/>
                    <a:p>
                      <a:pPr marL="92075" indent="0" algn="ctr" rtl="0" fontAlgn="ctr">
                        <a:tabLst/>
                      </a:pPr>
                      <a:r>
                        <a:rPr lang="zh-CN" altLang="en-US" sz="2000" b="0" i="0" u="none" strike="noStrike" dirty="0">
                          <a:solidFill>
                            <a:srgbClr val="000000"/>
                          </a:solidFill>
                          <a:effectLst/>
                          <a:latin typeface="Microsoft YaHei" panose="020B0503020204020204" pitchFamily="34" charset="-122"/>
                          <a:ea typeface="Microsoft YaHei" panose="020B0503020204020204" pitchFamily="34" charset="-122"/>
                        </a:rPr>
                        <a:t>特指遵循 </a:t>
                      </a:r>
                      <a:r>
                        <a:rPr lang="en" sz="2000" b="0" i="0" u="none" strike="noStrike" dirty="0">
                          <a:solidFill>
                            <a:srgbClr val="000000"/>
                          </a:solidFill>
                          <a:effectLst/>
                          <a:latin typeface="Microsoft YaHei" panose="020B0503020204020204" pitchFamily="34" charset="-122"/>
                          <a:ea typeface="Microsoft YaHei" panose="020B0503020204020204" pitchFamily="34" charset="-122"/>
                        </a:rPr>
                        <a:t>TCP/IP </a:t>
                      </a:r>
                      <a:r>
                        <a:rPr lang="zh-CN" altLang="en-US" sz="2000" b="0" i="0" u="none" strike="noStrike" dirty="0">
                          <a:solidFill>
                            <a:srgbClr val="000000"/>
                          </a:solidFill>
                          <a:effectLst/>
                          <a:latin typeface="Microsoft YaHei" panose="020B0503020204020204" pitchFamily="34" charset="-122"/>
                          <a:ea typeface="Microsoft YaHei" panose="020B0503020204020204" pitchFamily="34" charset="-122"/>
                        </a:rPr>
                        <a:t>标准、利用路由器将各种计算机网络互连起来而形成的、覆盖全球的、特定的互连网</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92075" indent="0" algn="ctr" rtl="0" fontAlgn="ctr">
                        <a:tabLst/>
                      </a:pPr>
                      <a:r>
                        <a:rPr lang="zh-CN" altLang="en-US" sz="2000" b="0" i="0" u="none" strike="noStrike" dirty="0">
                          <a:solidFill>
                            <a:srgbClr val="000000"/>
                          </a:solidFill>
                          <a:effectLst/>
                          <a:latin typeface="Microsoft YaHei" panose="020B0503020204020204" pitchFamily="34" charset="-122"/>
                          <a:ea typeface="Microsoft YaHei" panose="020B0503020204020204" pitchFamily="34" charset="-122"/>
                        </a:rPr>
                        <a:t>泛指由多个不同类型计算机网络互连而成的网络</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40319280"/>
                  </a:ext>
                </a:extLst>
              </a:tr>
              <a:tr h="353332">
                <a:tc>
                  <a:txBody>
                    <a:bodyPr/>
                    <a:lstStyle/>
                    <a:p>
                      <a:pPr algn="ctr" rtl="0" fontAlgn="ctr"/>
                      <a:r>
                        <a:rPr lang="zh-CN" altLang="en-US" sz="1800" b="0" i="0" u="none" strike="noStrike">
                          <a:solidFill>
                            <a:srgbClr val="000000"/>
                          </a:solidFill>
                          <a:effectLst/>
                          <a:latin typeface="Microsoft YaHei" panose="020B0503020204020204" pitchFamily="34" charset="-122"/>
                          <a:ea typeface="Microsoft YaHei" panose="020B0503020204020204" pitchFamily="34" charset="-122"/>
                        </a:rPr>
                        <a:t>使用 </a:t>
                      </a:r>
                      <a:r>
                        <a:rPr lang="en" sz="1800" b="0" i="0" u="none" strike="noStrike">
                          <a:solidFill>
                            <a:srgbClr val="000000"/>
                          </a:solidFill>
                          <a:effectLst/>
                          <a:latin typeface="Microsoft YaHei" panose="020B0503020204020204" pitchFamily="34" charset="-122"/>
                          <a:ea typeface="Microsoft YaHei" panose="020B0503020204020204" pitchFamily="34" charset="-122"/>
                        </a:rPr>
                        <a:t>TCP/IP</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zh-CN" altLang="en-US" sz="1800" b="0" i="0" u="none" strike="noStrike">
                          <a:solidFill>
                            <a:srgbClr val="000000"/>
                          </a:solidFill>
                          <a:effectLst/>
                          <a:latin typeface="Microsoft YaHei" panose="020B0503020204020204" pitchFamily="34" charset="-122"/>
                          <a:ea typeface="Microsoft YaHei" panose="020B0503020204020204" pitchFamily="34" charset="-122"/>
                        </a:rPr>
                        <a:t>除 </a:t>
                      </a:r>
                      <a:r>
                        <a:rPr lang="en" sz="1800" b="0" i="0" u="none" strike="noStrike">
                          <a:solidFill>
                            <a:srgbClr val="000000"/>
                          </a:solidFill>
                          <a:effectLst/>
                          <a:latin typeface="Microsoft YaHei" panose="020B0503020204020204" pitchFamily="34" charset="-122"/>
                          <a:ea typeface="Microsoft YaHei" panose="020B0503020204020204" pitchFamily="34" charset="-122"/>
                        </a:rPr>
                        <a:t>TCP/IP </a:t>
                      </a:r>
                      <a:r>
                        <a:rPr lang="zh-CN" altLang="en-US" sz="1800" b="0" i="0" u="none" strike="noStrike">
                          <a:solidFill>
                            <a:srgbClr val="000000"/>
                          </a:solidFill>
                          <a:effectLst/>
                          <a:latin typeface="Microsoft YaHei" panose="020B0503020204020204" pitchFamily="34" charset="-122"/>
                          <a:ea typeface="Microsoft YaHei" panose="020B0503020204020204" pitchFamily="34" charset="-122"/>
                        </a:rPr>
                        <a:t>外，还可以使用其他协议</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954038311"/>
                  </a:ext>
                </a:extLst>
              </a:tr>
              <a:tr h="353332">
                <a:tc>
                  <a:txBody>
                    <a:bodyPr/>
                    <a:lstStyle/>
                    <a:p>
                      <a:pPr algn="ctr" rtl="0" fontAlgn="ctr"/>
                      <a:r>
                        <a:rPr lang="zh-CN" altLang="en-US" sz="1800" b="0" i="0" u="none" strike="noStrike">
                          <a:solidFill>
                            <a:srgbClr val="000000"/>
                          </a:solidFill>
                          <a:effectLst/>
                          <a:latin typeface="Microsoft YaHei" panose="020B0503020204020204" pitchFamily="34" charset="-122"/>
                          <a:ea typeface="Microsoft YaHei" panose="020B0503020204020204" pitchFamily="34" charset="-122"/>
                        </a:rPr>
                        <a:t>是一个专用名词</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zh-CN" altLang="en-US" sz="1800" b="0" i="0" u="none" strike="noStrike" dirty="0">
                          <a:solidFill>
                            <a:srgbClr val="000000"/>
                          </a:solidFill>
                          <a:effectLst/>
                          <a:latin typeface="Microsoft YaHei" panose="020B0503020204020204" pitchFamily="34" charset="-122"/>
                          <a:ea typeface="Microsoft YaHei" panose="020B0503020204020204" pitchFamily="34" charset="-122"/>
                        </a:rPr>
                        <a:t>是一个通用名词</a:t>
                      </a:r>
                    </a:p>
                  </a:txBody>
                  <a:tcPr marL="8952" marR="8952" marT="895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91889951"/>
                  </a:ext>
                </a:extLst>
              </a:tr>
            </a:tbl>
          </a:graphicData>
        </a:graphic>
      </p:graphicFrame>
      <p:sp>
        <p:nvSpPr>
          <p:cNvPr id="5" name="灯片编号占位符 4">
            <a:extLst>
              <a:ext uri="{FF2B5EF4-FFF2-40B4-BE49-F238E27FC236}">
                <a16:creationId xmlns:a16="http://schemas.microsoft.com/office/drawing/2014/main" id="{87275946-2F97-FA49-BE7F-51E971ED7F47}"/>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8" name="文本框 7">
            <a:extLst>
              <a:ext uri="{FF2B5EF4-FFF2-40B4-BE49-F238E27FC236}">
                <a16:creationId xmlns:a16="http://schemas.microsoft.com/office/drawing/2014/main" id="{8EE54199-CCA2-A943-B09F-23299B9BD5AA}"/>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spTree>
    <p:extLst>
      <p:ext uri="{BB962C8B-B14F-4D97-AF65-F5344CB8AC3E}">
        <p14:creationId xmlns:p14="http://schemas.microsoft.com/office/powerpoint/2010/main" val="1170658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solidFill>
                  <a:srgbClr val="C00000"/>
                </a:solidFill>
              </a:rPr>
              <a:t>1.2 </a:t>
            </a:r>
            <a:r>
              <a:rPr kumimoji="1" lang="zh-CN" altLang="en-US" dirty="0">
                <a:solidFill>
                  <a:srgbClr val="C00000"/>
                </a:solidFill>
              </a:rPr>
              <a:t>网络的分类</a:t>
            </a:r>
            <a:endParaRPr kumimoji="1" lang="en-US" altLang="zh-CN" dirty="0">
              <a:solidFill>
                <a:srgbClr val="C00000"/>
              </a:solidFill>
            </a:endParaRPr>
          </a:p>
          <a:p>
            <a:pPr marL="0" indent="0">
              <a:lnSpc>
                <a:spcPct val="130000"/>
              </a:lnSpc>
              <a:buNone/>
            </a:pPr>
            <a:r>
              <a:rPr kumimoji="1" lang="en-US" altLang="zh-CN" dirty="0"/>
              <a:t>1.3 </a:t>
            </a:r>
            <a:r>
              <a:rPr kumimoji="1" lang="zh-CN" altLang="en-US" dirty="0"/>
              <a:t>网络实例</a:t>
            </a:r>
            <a:endParaRPr kumimoji="1" lang="en-US" altLang="zh-CN" dirty="0"/>
          </a:p>
          <a:p>
            <a:pPr marL="0" indent="0">
              <a:lnSpc>
                <a:spcPct val="130000"/>
              </a:lnSpc>
              <a:buNone/>
            </a:pPr>
            <a:r>
              <a:rPr kumimoji="1" lang="en-US" altLang="zh-CN" dirty="0"/>
              <a:t>1.4 </a:t>
            </a:r>
            <a:r>
              <a:rPr kumimoji="1" lang="zh-CN" altLang="en-US" dirty="0"/>
              <a:t>协议与分层结构</a:t>
            </a:r>
            <a:endParaRPr kumimoji="1" lang="en-US" altLang="zh-CN" dirty="0"/>
          </a:p>
          <a:p>
            <a:pPr marL="0" indent="0">
              <a:lnSpc>
                <a:spcPct val="130000"/>
              </a:lnSpc>
              <a:buNone/>
            </a:pPr>
            <a:r>
              <a:rPr kumimoji="1" lang="en-US" altLang="zh-CN" dirty="0"/>
              <a:t>1.5 </a:t>
            </a:r>
            <a:r>
              <a:rPr kumimoji="1" lang="zh-CN" altLang="en-US" dirty="0"/>
              <a:t>参考模型</a:t>
            </a:r>
            <a:endParaRPr kumimoji="1" lang="en-US" altLang="zh-CN" dirty="0"/>
          </a:p>
          <a:p>
            <a:pPr marL="0" indent="0">
              <a:lnSpc>
                <a:spcPct val="130000"/>
              </a:lnSpc>
              <a:buNone/>
            </a:pPr>
            <a:r>
              <a:rPr kumimoji="1" lang="en-US" altLang="zh-CN" dirty="0"/>
              <a:t>1.6 </a:t>
            </a:r>
            <a:r>
              <a:rPr kumimoji="1" lang="zh-CN" altLang="en-US" dirty="0"/>
              <a:t>计算机网络度量单位</a:t>
            </a: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491047"/>
            <a:ext cx="3814781" cy="2335520"/>
          </a:xfrm>
          <a:prstGeom prst="wedgeRectCallout">
            <a:avLst>
              <a:gd name="adj1" fmla="val -80689"/>
              <a:gd name="adj2" fmla="val -1413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按拓扑结构分类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按用途分类</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按范围分类</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按技术分类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extLst>
      <p:ext uri="{BB962C8B-B14F-4D97-AF65-F5344CB8AC3E}">
        <p14:creationId xmlns:p14="http://schemas.microsoft.com/office/powerpoint/2010/main" val="2036762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网络分类（按拓扑结构）</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4" y="1418897"/>
            <a:ext cx="3614320" cy="4937453"/>
          </a:xfrm>
        </p:spPr>
        <p:txBody>
          <a:bodyPr anchor="t" anchorCtr="0">
            <a:normAutofit/>
          </a:bodyPr>
          <a:lstStyle/>
          <a:p>
            <a:r>
              <a:rPr lang="zh-CN" altLang="en-US" sz="2400" dirty="0">
                <a:solidFill>
                  <a:srgbClr val="C00000"/>
                </a:solidFill>
                <a:ea typeface="黑体" panose="02010609060101010101" pitchFamily="49" charset="-122"/>
              </a:rPr>
              <a:t>星型</a:t>
            </a:r>
          </a:p>
          <a:p>
            <a:r>
              <a:rPr lang="zh-CN" altLang="en-US" sz="2400" dirty="0">
                <a:solidFill>
                  <a:srgbClr val="C00000"/>
                </a:solidFill>
                <a:ea typeface="黑体" panose="02010609060101010101" pitchFamily="49" charset="-122"/>
              </a:rPr>
              <a:t>总线型</a:t>
            </a:r>
          </a:p>
          <a:p>
            <a:r>
              <a:rPr lang="zh-CN" altLang="en-US" sz="2400" dirty="0">
                <a:solidFill>
                  <a:srgbClr val="C00000"/>
                </a:solidFill>
                <a:ea typeface="黑体" panose="02010609060101010101" pitchFamily="49" charset="-122"/>
              </a:rPr>
              <a:t>环型</a:t>
            </a:r>
          </a:p>
          <a:p>
            <a:r>
              <a:rPr lang="zh-CN" altLang="en-US" sz="2400" dirty="0">
                <a:solidFill>
                  <a:srgbClr val="C00000"/>
                </a:solidFill>
                <a:ea typeface="黑体" panose="02010609060101010101" pitchFamily="49" charset="-122"/>
              </a:rPr>
              <a:t>树型</a:t>
            </a:r>
          </a:p>
          <a:p>
            <a:r>
              <a:rPr lang="zh-CN" altLang="en-US" sz="2400" dirty="0">
                <a:solidFill>
                  <a:srgbClr val="C00000"/>
                </a:solidFill>
                <a:ea typeface="黑体" panose="02010609060101010101" pitchFamily="49" charset="-122"/>
              </a:rPr>
              <a:t>网状</a:t>
            </a:r>
            <a:r>
              <a:rPr lang="zh-CN" altLang="en-US" sz="2400" dirty="0">
                <a:ea typeface="黑体" panose="02010609060101010101" pitchFamily="49" charset="-122"/>
              </a:rPr>
              <a:t>：任一结点至少与其它两个结点直接相连</a:t>
            </a:r>
            <a:endParaRPr lang="zh-CN" altLang="en-US" sz="24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grpSp>
        <p:nvGrpSpPr>
          <p:cNvPr id="6" name="组合 5"/>
          <p:cNvGrpSpPr/>
          <p:nvPr/>
        </p:nvGrpSpPr>
        <p:grpSpPr>
          <a:xfrm>
            <a:off x="4948651" y="1711436"/>
            <a:ext cx="6669087" cy="4511675"/>
            <a:chOff x="1403350" y="1038225"/>
            <a:chExt cx="7461250" cy="5270500"/>
          </a:xfrm>
        </p:grpSpPr>
        <p:sp>
          <p:nvSpPr>
            <p:cNvPr id="7" name="Line 2"/>
            <p:cNvSpPr>
              <a:spLocks noChangeShapeType="1"/>
            </p:cNvSpPr>
            <p:nvPr/>
          </p:nvSpPr>
          <p:spPr bwMode="auto">
            <a:xfrm flipH="1" flipV="1">
              <a:off x="1693863" y="1444625"/>
              <a:ext cx="533400" cy="4572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3"/>
            <p:cNvSpPr>
              <a:spLocks noChangeShapeType="1"/>
            </p:cNvSpPr>
            <p:nvPr/>
          </p:nvSpPr>
          <p:spPr bwMode="auto">
            <a:xfrm flipV="1">
              <a:off x="2379663" y="1368425"/>
              <a:ext cx="0" cy="5334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4"/>
            <p:cNvSpPr>
              <a:spLocks noChangeShapeType="1"/>
            </p:cNvSpPr>
            <p:nvPr/>
          </p:nvSpPr>
          <p:spPr bwMode="auto">
            <a:xfrm flipH="1">
              <a:off x="1770063" y="2130425"/>
              <a:ext cx="425450" cy="3651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5"/>
            <p:cNvSpPr>
              <a:spLocks noChangeShapeType="1"/>
            </p:cNvSpPr>
            <p:nvPr/>
          </p:nvSpPr>
          <p:spPr bwMode="auto">
            <a:xfrm>
              <a:off x="2379663" y="2130425"/>
              <a:ext cx="673100" cy="5064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6"/>
            <p:cNvSpPr>
              <a:spLocks noChangeShapeType="1"/>
            </p:cNvSpPr>
            <p:nvPr/>
          </p:nvSpPr>
          <p:spPr bwMode="auto">
            <a:xfrm flipV="1">
              <a:off x="2455863" y="1597025"/>
              <a:ext cx="533400" cy="3810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7"/>
            <p:cNvSpPr>
              <a:spLocks noChangeArrowheads="1"/>
            </p:cNvSpPr>
            <p:nvPr/>
          </p:nvSpPr>
          <p:spPr bwMode="auto">
            <a:xfrm>
              <a:off x="2151063" y="1825625"/>
              <a:ext cx="368300" cy="368300"/>
            </a:xfrm>
            <a:prstGeom prst="rect">
              <a:avLst/>
            </a:prstGeom>
            <a:solidFill>
              <a:schemeClr val="bg1"/>
            </a:solidFill>
            <a:ln w="25400">
              <a:solidFill>
                <a:srgbClr val="333399"/>
              </a:solidFill>
              <a:miter lim="800000"/>
              <a:headEnd/>
              <a:tailEnd/>
            </a:ln>
            <a:effectLst>
              <a:outerShdw dist="35921"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3" name="Rectangle 8"/>
            <p:cNvSpPr>
              <a:spLocks noChangeArrowheads="1"/>
            </p:cNvSpPr>
            <p:nvPr/>
          </p:nvSpPr>
          <p:spPr bwMode="auto">
            <a:xfrm>
              <a:off x="7053263" y="5487988"/>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4" name="Rectangle 9"/>
            <p:cNvSpPr>
              <a:spLocks noChangeArrowheads="1"/>
            </p:cNvSpPr>
            <p:nvPr/>
          </p:nvSpPr>
          <p:spPr bwMode="auto">
            <a:xfrm>
              <a:off x="7034213" y="4310063"/>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5" name="Rectangle 10"/>
            <p:cNvSpPr>
              <a:spLocks noChangeArrowheads="1"/>
            </p:cNvSpPr>
            <p:nvPr/>
          </p:nvSpPr>
          <p:spPr bwMode="auto">
            <a:xfrm>
              <a:off x="7062788" y="4824413"/>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6" name="Rectangle 11"/>
            <p:cNvSpPr>
              <a:spLocks noChangeArrowheads="1"/>
            </p:cNvSpPr>
            <p:nvPr/>
          </p:nvSpPr>
          <p:spPr bwMode="auto">
            <a:xfrm>
              <a:off x="5135563" y="4310063"/>
              <a:ext cx="101600" cy="101600"/>
            </a:xfrm>
            <a:prstGeom prst="rect">
              <a:avLst/>
            </a:prstGeom>
            <a:solidFill>
              <a:srgbClr val="3333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7" name="Line 12"/>
            <p:cNvSpPr>
              <a:spLocks noChangeShapeType="1"/>
            </p:cNvSpPr>
            <p:nvPr/>
          </p:nvSpPr>
          <p:spPr bwMode="auto">
            <a:xfrm>
              <a:off x="5314950" y="2114550"/>
              <a:ext cx="21558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Rectangle 13"/>
            <p:cNvSpPr>
              <a:spLocks noChangeArrowheads="1"/>
            </p:cNvSpPr>
            <p:nvPr/>
          </p:nvSpPr>
          <p:spPr bwMode="auto">
            <a:xfrm>
              <a:off x="7423150" y="2063750"/>
              <a:ext cx="101600" cy="101600"/>
            </a:xfrm>
            <a:prstGeom prst="rect">
              <a:avLst/>
            </a:prstGeom>
            <a:solidFill>
              <a:schemeClr val="tx1"/>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19" name="Rectangle 14"/>
            <p:cNvSpPr>
              <a:spLocks noChangeArrowheads="1"/>
            </p:cNvSpPr>
            <p:nvPr/>
          </p:nvSpPr>
          <p:spPr bwMode="auto">
            <a:xfrm>
              <a:off x="5203825" y="2063750"/>
              <a:ext cx="101600" cy="101600"/>
            </a:xfrm>
            <a:prstGeom prst="rect">
              <a:avLst/>
            </a:prstGeom>
            <a:solidFill>
              <a:schemeClr val="tx1"/>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20" name="Line 15"/>
            <p:cNvSpPr>
              <a:spLocks noChangeShapeType="1"/>
            </p:cNvSpPr>
            <p:nvPr/>
          </p:nvSpPr>
          <p:spPr bwMode="auto">
            <a:xfrm flipV="1">
              <a:off x="5740400" y="1797050"/>
              <a:ext cx="0" cy="3206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6"/>
            <p:cNvSpPr>
              <a:spLocks noChangeShapeType="1"/>
            </p:cNvSpPr>
            <p:nvPr/>
          </p:nvSpPr>
          <p:spPr bwMode="auto">
            <a:xfrm>
              <a:off x="6121400" y="2127250"/>
              <a:ext cx="0" cy="3460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7"/>
            <p:cNvSpPr>
              <a:spLocks noChangeShapeType="1"/>
            </p:cNvSpPr>
            <p:nvPr/>
          </p:nvSpPr>
          <p:spPr bwMode="auto">
            <a:xfrm flipV="1">
              <a:off x="6597650" y="1768475"/>
              <a:ext cx="0" cy="358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8"/>
            <p:cNvSpPr>
              <a:spLocks noChangeShapeType="1"/>
            </p:cNvSpPr>
            <p:nvPr/>
          </p:nvSpPr>
          <p:spPr bwMode="auto">
            <a:xfrm>
              <a:off x="7083425" y="2127250"/>
              <a:ext cx="0" cy="3460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9"/>
            <p:cNvSpPr>
              <a:spLocks noChangeShapeType="1"/>
            </p:cNvSpPr>
            <p:nvPr/>
          </p:nvSpPr>
          <p:spPr bwMode="auto">
            <a:xfrm>
              <a:off x="5354638" y="4884738"/>
              <a:ext cx="17748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0"/>
            <p:cNvSpPr>
              <a:spLocks noChangeShapeType="1"/>
            </p:cNvSpPr>
            <p:nvPr/>
          </p:nvSpPr>
          <p:spPr bwMode="auto">
            <a:xfrm flipV="1">
              <a:off x="5695950" y="4735513"/>
              <a:ext cx="0" cy="1460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1"/>
            <p:cNvSpPr>
              <a:spLocks noChangeShapeType="1"/>
            </p:cNvSpPr>
            <p:nvPr/>
          </p:nvSpPr>
          <p:spPr bwMode="auto">
            <a:xfrm flipV="1">
              <a:off x="6380163" y="4751388"/>
              <a:ext cx="0" cy="1460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2"/>
            <p:cNvSpPr>
              <a:spLocks noChangeShapeType="1"/>
            </p:cNvSpPr>
            <p:nvPr/>
          </p:nvSpPr>
          <p:spPr bwMode="auto">
            <a:xfrm>
              <a:off x="5827713" y="4211638"/>
              <a:ext cx="0" cy="136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3"/>
            <p:cNvSpPr>
              <a:spLocks noChangeShapeType="1"/>
            </p:cNvSpPr>
            <p:nvPr/>
          </p:nvSpPr>
          <p:spPr bwMode="auto">
            <a:xfrm>
              <a:off x="6684963" y="4221163"/>
              <a:ext cx="0" cy="136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4"/>
            <p:cNvSpPr>
              <a:spLocks noChangeShapeType="1"/>
            </p:cNvSpPr>
            <p:nvPr/>
          </p:nvSpPr>
          <p:spPr bwMode="auto">
            <a:xfrm flipV="1">
              <a:off x="6713538" y="5348288"/>
              <a:ext cx="0" cy="1873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5"/>
            <p:cNvSpPr>
              <a:spLocks noChangeShapeType="1"/>
            </p:cNvSpPr>
            <p:nvPr/>
          </p:nvSpPr>
          <p:spPr bwMode="auto">
            <a:xfrm>
              <a:off x="5237163" y="4351338"/>
              <a:ext cx="182245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Freeform 26"/>
            <p:cNvSpPr>
              <a:spLocks/>
            </p:cNvSpPr>
            <p:nvPr/>
          </p:nvSpPr>
          <p:spPr bwMode="auto">
            <a:xfrm>
              <a:off x="5341938" y="4360863"/>
              <a:ext cx="1735137" cy="1182687"/>
            </a:xfrm>
            <a:custGeom>
              <a:avLst/>
              <a:gdLst>
                <a:gd name="T0" fmla="*/ 0 w 1093"/>
                <a:gd name="T1" fmla="*/ 0 h 745"/>
                <a:gd name="T2" fmla="*/ 0 w 1093"/>
                <a:gd name="T3" fmla="*/ 2147483646 h 745"/>
                <a:gd name="T4" fmla="*/ 2147483646 w 1093"/>
                <a:gd name="T5" fmla="*/ 2147483646 h 745"/>
                <a:gd name="T6" fmla="*/ 0 60000 65536"/>
                <a:gd name="T7" fmla="*/ 0 60000 65536"/>
                <a:gd name="T8" fmla="*/ 0 60000 65536"/>
              </a:gdLst>
              <a:ahLst/>
              <a:cxnLst>
                <a:cxn ang="T6">
                  <a:pos x="T0" y="T1"/>
                </a:cxn>
                <a:cxn ang="T7">
                  <a:pos x="T2" y="T3"/>
                </a:cxn>
                <a:cxn ang="T8">
                  <a:pos x="T4" y="T5"/>
                </a:cxn>
              </a:cxnLst>
              <a:rect l="0" t="0" r="r" b="b"/>
              <a:pathLst>
                <a:path w="1093" h="745">
                  <a:moveTo>
                    <a:pt x="0" y="0"/>
                  </a:moveTo>
                  <a:lnTo>
                    <a:pt x="0" y="744"/>
                  </a:lnTo>
                  <a:lnTo>
                    <a:pt x="1092" y="744"/>
                  </a:lnTo>
                </a:path>
              </a:pathLst>
            </a:custGeom>
            <a:noFill/>
            <a:ln w="28575" cap="rnd"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Rectangle 27"/>
            <p:cNvSpPr>
              <a:spLocks noChangeArrowheads="1"/>
            </p:cNvSpPr>
            <p:nvPr/>
          </p:nvSpPr>
          <p:spPr bwMode="auto">
            <a:xfrm>
              <a:off x="7667625" y="3141663"/>
              <a:ext cx="1196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000">
                  <a:latin typeface="Times New Roman" panose="02020603050405020304" pitchFamily="18" charset="0"/>
                  <a:ea typeface="黑体" panose="02010609060101010101" pitchFamily="49" charset="-122"/>
                </a:rPr>
                <a:t>匹配电阻</a:t>
              </a:r>
            </a:p>
          </p:txBody>
        </p:sp>
        <p:sp>
          <p:nvSpPr>
            <p:cNvPr id="33" name="Line 28"/>
            <p:cNvSpPr>
              <a:spLocks noChangeShapeType="1"/>
            </p:cNvSpPr>
            <p:nvPr/>
          </p:nvSpPr>
          <p:spPr bwMode="auto">
            <a:xfrm>
              <a:off x="7524750" y="2205038"/>
              <a:ext cx="360363" cy="93662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9"/>
            <p:cNvSpPr>
              <a:spLocks noChangeShapeType="1"/>
            </p:cNvSpPr>
            <p:nvPr/>
          </p:nvSpPr>
          <p:spPr bwMode="auto">
            <a:xfrm flipH="1">
              <a:off x="7107238" y="3573463"/>
              <a:ext cx="704850" cy="7112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30"/>
            <p:cNvSpPr>
              <a:spLocks noChangeArrowheads="1"/>
            </p:cNvSpPr>
            <p:nvPr/>
          </p:nvSpPr>
          <p:spPr bwMode="auto">
            <a:xfrm>
              <a:off x="3413125" y="1557338"/>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000">
                  <a:latin typeface="Times New Roman" panose="02020603050405020304" pitchFamily="18" charset="0"/>
                  <a:ea typeface="黑体" panose="02010609060101010101" pitchFamily="49" charset="-122"/>
                </a:rPr>
                <a:t>集线器</a:t>
              </a:r>
            </a:p>
          </p:txBody>
        </p:sp>
        <p:sp>
          <p:nvSpPr>
            <p:cNvPr id="36" name="Line 31"/>
            <p:cNvSpPr>
              <a:spLocks noChangeShapeType="1"/>
            </p:cNvSpPr>
            <p:nvPr/>
          </p:nvSpPr>
          <p:spPr bwMode="auto">
            <a:xfrm flipV="1">
              <a:off x="6008688" y="5332413"/>
              <a:ext cx="0" cy="2063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2"/>
            <p:cNvSpPr>
              <a:spLocks noChangeShapeType="1"/>
            </p:cNvSpPr>
            <p:nvPr/>
          </p:nvSpPr>
          <p:spPr bwMode="auto">
            <a:xfrm flipH="1" flipV="1">
              <a:off x="1738313" y="4325938"/>
              <a:ext cx="119062" cy="123825"/>
            </a:xfrm>
            <a:prstGeom prst="line">
              <a:avLst/>
            </a:prstGeom>
            <a:noFill/>
            <a:ln w="254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33"/>
            <p:cNvSpPr>
              <a:spLocks noChangeArrowheads="1"/>
            </p:cNvSpPr>
            <p:nvPr/>
          </p:nvSpPr>
          <p:spPr bwMode="auto">
            <a:xfrm>
              <a:off x="3203575" y="4652963"/>
              <a:ext cx="1450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zh-CN" altLang="en-US" sz="2000">
                  <a:latin typeface="Times New Roman" panose="02020603050405020304" pitchFamily="18" charset="0"/>
                  <a:ea typeface="黑体" panose="02010609060101010101" pitchFamily="49" charset="-122"/>
                </a:rPr>
                <a:t>干线耦合器</a:t>
              </a:r>
            </a:p>
          </p:txBody>
        </p:sp>
        <p:sp>
          <p:nvSpPr>
            <p:cNvPr id="39" name="Line 34"/>
            <p:cNvSpPr>
              <a:spLocks noChangeShapeType="1"/>
            </p:cNvSpPr>
            <p:nvPr/>
          </p:nvSpPr>
          <p:spPr bwMode="auto">
            <a:xfrm flipH="1">
              <a:off x="2736850" y="4327525"/>
              <a:ext cx="111125" cy="104775"/>
            </a:xfrm>
            <a:prstGeom prst="line">
              <a:avLst/>
            </a:prstGeom>
            <a:noFill/>
            <a:ln w="254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5"/>
            <p:cNvSpPr>
              <a:spLocks noChangeShapeType="1"/>
            </p:cNvSpPr>
            <p:nvPr/>
          </p:nvSpPr>
          <p:spPr bwMode="auto">
            <a:xfrm flipH="1" flipV="1">
              <a:off x="2755900" y="5272088"/>
              <a:ext cx="131763" cy="1397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6"/>
            <p:cNvSpPr>
              <a:spLocks noChangeShapeType="1"/>
            </p:cNvSpPr>
            <p:nvPr/>
          </p:nvSpPr>
          <p:spPr bwMode="auto">
            <a:xfrm flipH="1">
              <a:off x="1768475" y="5313363"/>
              <a:ext cx="98425" cy="1206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Oval 37"/>
            <p:cNvSpPr>
              <a:spLocks noChangeArrowheads="1"/>
            </p:cNvSpPr>
            <p:nvPr/>
          </p:nvSpPr>
          <p:spPr bwMode="auto">
            <a:xfrm rot="-2760000">
              <a:off x="1704975" y="4254500"/>
              <a:ext cx="1203325" cy="1203325"/>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43" name="Rectangle 38"/>
            <p:cNvSpPr>
              <a:spLocks noChangeArrowheads="1"/>
            </p:cNvSpPr>
            <p:nvPr/>
          </p:nvSpPr>
          <p:spPr bwMode="auto">
            <a:xfrm rot="-2760000">
              <a:off x="1795462" y="4397376"/>
              <a:ext cx="136525" cy="88900"/>
            </a:xfrm>
            <a:prstGeom prst="rect">
              <a:avLst/>
            </a:prstGeom>
            <a:solidFill>
              <a:schemeClr val="bg1"/>
            </a:solidFill>
            <a:ln w="2857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44" name="Rectangle 39"/>
            <p:cNvSpPr>
              <a:spLocks noChangeArrowheads="1"/>
            </p:cNvSpPr>
            <p:nvPr/>
          </p:nvSpPr>
          <p:spPr bwMode="auto">
            <a:xfrm rot="-2760000">
              <a:off x="2679700" y="5224463"/>
              <a:ext cx="136525" cy="88900"/>
            </a:xfrm>
            <a:prstGeom prst="rect">
              <a:avLst/>
            </a:prstGeom>
            <a:solidFill>
              <a:schemeClr val="bg1"/>
            </a:solidFill>
            <a:ln w="254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45" name="Rectangle 40"/>
            <p:cNvSpPr>
              <a:spLocks noChangeArrowheads="1"/>
            </p:cNvSpPr>
            <p:nvPr/>
          </p:nvSpPr>
          <p:spPr bwMode="auto">
            <a:xfrm rot="-2760000">
              <a:off x="2695576" y="4359275"/>
              <a:ext cx="88900" cy="136525"/>
            </a:xfrm>
            <a:prstGeom prst="rect">
              <a:avLst/>
            </a:prstGeom>
            <a:solidFill>
              <a:schemeClr val="bg1"/>
            </a:solidFill>
            <a:ln w="2857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46" name="Line 41"/>
            <p:cNvSpPr>
              <a:spLocks noChangeShapeType="1"/>
            </p:cNvSpPr>
            <p:nvPr/>
          </p:nvSpPr>
          <p:spPr bwMode="auto">
            <a:xfrm>
              <a:off x="2800350" y="4486275"/>
              <a:ext cx="476250" cy="38258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42"/>
            <p:cNvSpPr>
              <a:spLocks noChangeArrowheads="1"/>
            </p:cNvSpPr>
            <p:nvPr/>
          </p:nvSpPr>
          <p:spPr bwMode="auto">
            <a:xfrm rot="-2760000">
              <a:off x="1858963" y="5200650"/>
              <a:ext cx="88900" cy="136525"/>
            </a:xfrm>
            <a:prstGeom prst="rect">
              <a:avLst/>
            </a:prstGeom>
            <a:solidFill>
              <a:schemeClr val="bg1"/>
            </a:solidFill>
            <a:ln w="254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1800">
                <a:solidFill>
                  <a:schemeClr val="bg1"/>
                </a:solidFill>
                <a:latin typeface="Verdana" panose="020B0604030504040204" pitchFamily="34" charset="0"/>
              </a:endParaRPr>
            </a:p>
          </p:txBody>
        </p:sp>
        <p:sp>
          <p:nvSpPr>
            <p:cNvPr id="48" name="Arc 43"/>
            <p:cNvSpPr>
              <a:spLocks/>
            </p:cNvSpPr>
            <p:nvPr/>
          </p:nvSpPr>
          <p:spPr bwMode="auto">
            <a:xfrm flipV="1">
              <a:off x="2122488" y="4675188"/>
              <a:ext cx="627062" cy="636587"/>
            </a:xfrm>
            <a:custGeom>
              <a:avLst/>
              <a:gdLst>
                <a:gd name="T0" fmla="*/ 0 w 25403"/>
                <a:gd name="T1" fmla="*/ 67411816 h 30101"/>
                <a:gd name="T2" fmla="*/ 2147483646 w 25403"/>
                <a:gd name="T3" fmla="*/ 2147483646 h 30101"/>
                <a:gd name="T4" fmla="*/ 1411973226 w 25403"/>
                <a:gd name="T5" fmla="*/ 2147483646 h 30101"/>
                <a:gd name="T6" fmla="*/ 0 60000 65536"/>
                <a:gd name="T7" fmla="*/ 0 60000 65536"/>
                <a:gd name="T8" fmla="*/ 0 60000 65536"/>
              </a:gdLst>
              <a:ahLst/>
              <a:cxnLst>
                <a:cxn ang="T6">
                  <a:pos x="T0" y="T1"/>
                </a:cxn>
                <a:cxn ang="T7">
                  <a:pos x="T2" y="T3"/>
                </a:cxn>
                <a:cxn ang="T8">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lnTo>
                    <a:pt x="0" y="337"/>
                  </a:lnTo>
                  <a:close/>
                </a:path>
              </a:pathLst>
            </a:custGeom>
            <a:noFill/>
            <a:ln w="28575">
              <a:solidFill>
                <a:srgbClr val="333399"/>
              </a:solidFill>
              <a:round/>
              <a:headEn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8963" y="39512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1463" y="39671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350" y="40052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1775" y="53006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2250" y="5376863"/>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0338" y="227647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7663" y="22828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1463" y="12922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6863" y="13684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6463" y="10382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3875" y="22828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075" y="22955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1275" y="15335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7675" y="1520825"/>
              <a:ext cx="4095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7963" y="51069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4063" y="51196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7763" y="44846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16563" y="44973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7163" y="3951288"/>
              <a:ext cx="3206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 name="Line 63"/>
            <p:cNvSpPr>
              <a:spLocks noChangeShapeType="1"/>
            </p:cNvSpPr>
            <p:nvPr/>
          </p:nvSpPr>
          <p:spPr bwMode="auto">
            <a:xfrm flipV="1">
              <a:off x="2455863" y="1844675"/>
              <a:ext cx="1030287" cy="2095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Text Box 64"/>
            <p:cNvSpPr txBox="1">
              <a:spLocks noChangeArrowheads="1"/>
            </p:cNvSpPr>
            <p:nvPr/>
          </p:nvSpPr>
          <p:spPr bwMode="auto">
            <a:xfrm>
              <a:off x="5795963" y="27813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总线网</a:t>
              </a:r>
            </a:p>
          </p:txBody>
        </p:sp>
        <p:sp>
          <p:nvSpPr>
            <p:cNvPr id="70" name="Text Box 65"/>
            <p:cNvSpPr txBox="1">
              <a:spLocks noChangeArrowheads="1"/>
            </p:cNvSpPr>
            <p:nvPr/>
          </p:nvSpPr>
          <p:spPr bwMode="auto">
            <a:xfrm>
              <a:off x="1673225" y="27813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黑体" panose="02010609060101010101" pitchFamily="49" charset="-122"/>
                  <a:ea typeface="黑体" panose="02010609060101010101" pitchFamily="49" charset="-122"/>
                </a:rPr>
                <a:t>星形网</a:t>
              </a:r>
            </a:p>
          </p:txBody>
        </p:sp>
        <p:sp>
          <p:nvSpPr>
            <p:cNvPr id="71" name="Text Box 66"/>
            <p:cNvSpPr txBox="1">
              <a:spLocks noChangeArrowheads="1"/>
            </p:cNvSpPr>
            <p:nvPr/>
          </p:nvSpPr>
          <p:spPr bwMode="auto">
            <a:xfrm>
              <a:off x="5651500" y="5851525"/>
              <a:ext cx="125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树形网 </a:t>
              </a:r>
            </a:p>
          </p:txBody>
        </p:sp>
        <p:sp>
          <p:nvSpPr>
            <p:cNvPr id="72" name="Text Box 67"/>
            <p:cNvSpPr txBox="1">
              <a:spLocks noChangeArrowheads="1"/>
            </p:cNvSpPr>
            <p:nvPr/>
          </p:nvSpPr>
          <p:spPr bwMode="auto">
            <a:xfrm>
              <a:off x="1763713" y="585152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latin typeface="黑体" panose="02010609060101010101" pitchFamily="49" charset="-122"/>
                  <a:ea typeface="黑体" panose="02010609060101010101" pitchFamily="49" charset="-122"/>
                </a:rPr>
                <a:t>环形网</a:t>
              </a:r>
            </a:p>
          </p:txBody>
        </p:sp>
      </p:grpSp>
      <p:pic>
        <p:nvPicPr>
          <p:cNvPr id="73" name="Picture 28" descr="015">
            <a:extLst>
              <a:ext uri="{FF2B5EF4-FFF2-40B4-BE49-F238E27FC236}">
                <a16:creationId xmlns:a16="http://schemas.microsoft.com/office/drawing/2014/main" id="{33093E31-87F8-4BE3-93CC-B43F511F2F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7116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网络分类（按用途）</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10843269" cy="4937453"/>
          </a:xfrm>
        </p:spPr>
        <p:txBody>
          <a:bodyPr anchor="t" anchorCtr="0">
            <a:normAutofit/>
          </a:bodyPr>
          <a:lstStyle/>
          <a:p>
            <a:r>
              <a:rPr lang="zh-CN" altLang="en-US" sz="2400" dirty="0">
                <a:solidFill>
                  <a:srgbClr val="C00000"/>
                </a:solidFill>
              </a:rPr>
              <a:t>接入网</a:t>
            </a:r>
            <a:endParaRPr lang="en-US" altLang="zh-CN" sz="2000" dirty="0"/>
          </a:p>
          <a:p>
            <a:pPr lvl="1"/>
            <a:r>
              <a:rPr lang="zh-CN" altLang="en-US" sz="2000" dirty="0"/>
              <a:t>为用户提供到远程计算机的</a:t>
            </a:r>
            <a:r>
              <a:rPr lang="zh-CN" altLang="en-US" sz="2000" dirty="0">
                <a:solidFill>
                  <a:srgbClr val="FF0000"/>
                </a:solidFill>
              </a:rPr>
              <a:t>连通性（</a:t>
            </a:r>
            <a:r>
              <a:rPr lang="en-US" altLang="zh-CN" sz="2000" dirty="0">
                <a:solidFill>
                  <a:srgbClr val="FF0000"/>
                </a:solidFill>
              </a:rPr>
              <a:t>connectivity</a:t>
            </a:r>
            <a:r>
              <a:rPr lang="zh-CN" altLang="en-US" sz="2000" dirty="0">
                <a:solidFill>
                  <a:srgbClr val="FF0000"/>
                </a:solidFill>
              </a:rPr>
              <a:t>）</a:t>
            </a:r>
            <a:endParaRPr lang="en-US" altLang="zh-CN" sz="2000" dirty="0">
              <a:solidFill>
                <a:srgbClr val="FF0000"/>
              </a:solidFill>
            </a:endParaRPr>
          </a:p>
          <a:p>
            <a:pPr lvl="1">
              <a:lnSpc>
                <a:spcPct val="110000"/>
              </a:lnSpc>
              <a:spcBef>
                <a:spcPts val="300"/>
              </a:spcBef>
            </a:pPr>
            <a:r>
              <a:rPr lang="zh-CN" altLang="en-US" sz="2000" dirty="0">
                <a:sym typeface="+mn-ea"/>
              </a:rPr>
              <a:t>有线网络接入技术：光纤到户</a:t>
            </a:r>
            <a:r>
              <a:rPr lang="en-US" altLang="zh-CN" sz="2000" dirty="0">
                <a:sym typeface="+mn-ea"/>
              </a:rPr>
              <a:t>FTTH</a:t>
            </a:r>
            <a:r>
              <a:rPr lang="zh-CN" altLang="en-US" sz="2000" dirty="0">
                <a:sym typeface="+mn-ea"/>
              </a:rPr>
              <a:t>，以太网，同轴电缆，双绞线的</a:t>
            </a:r>
            <a:r>
              <a:rPr lang="en-US" altLang="zh-CN" sz="2000" dirty="0">
                <a:sym typeface="+mn-ea"/>
              </a:rPr>
              <a:t>DSL</a:t>
            </a:r>
            <a:r>
              <a:rPr lang="zh-CN" altLang="en-US" sz="2000" dirty="0">
                <a:sym typeface="+mn-ea"/>
              </a:rPr>
              <a:t>，古老的拨号上网</a:t>
            </a:r>
            <a:endParaRPr lang="en-US" altLang="zh-CN" sz="2000" dirty="0">
              <a:sym typeface="+mn-ea"/>
            </a:endParaRPr>
          </a:p>
          <a:p>
            <a:pPr lvl="1">
              <a:lnSpc>
                <a:spcPct val="110000"/>
              </a:lnSpc>
              <a:spcBef>
                <a:spcPts val="300"/>
              </a:spcBef>
            </a:pPr>
            <a:r>
              <a:rPr lang="zh-CN" altLang="en-US" sz="2000" dirty="0">
                <a:sym typeface="+mn-ea"/>
              </a:rPr>
              <a:t>无线网络接入技术：WiFi、4G/5G，卫星广域覆盖</a:t>
            </a:r>
            <a:endParaRPr lang="en-US" altLang="zh-CN" sz="2000" dirty="0">
              <a:sym typeface="+mn-ea"/>
            </a:endParaRPr>
          </a:p>
          <a:p>
            <a:pPr lvl="1">
              <a:lnSpc>
                <a:spcPct val="110000"/>
              </a:lnSpc>
              <a:spcBef>
                <a:spcPts val="300"/>
              </a:spcBef>
            </a:pPr>
            <a:r>
              <a:rPr lang="zh-CN" altLang="en-US" sz="2000" dirty="0">
                <a:sym typeface="+mn-ea"/>
              </a:rPr>
              <a:t>接入场景：住宅（家庭）接入网，机构（学校、公司）接入网，移动接入网络（WiFi、4G/5G）</a:t>
            </a:r>
            <a:endParaRPr lang="en-US" altLang="zh-CN" sz="20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spTree>
    <p:extLst>
      <p:ext uri="{BB962C8B-B14F-4D97-AF65-F5344CB8AC3E}">
        <p14:creationId xmlns:p14="http://schemas.microsoft.com/office/powerpoint/2010/main" val="1979795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接入网：光纤到户</a:t>
            </a:r>
            <a:r>
              <a:rPr lang="en-US" altLang="zh-CN" dirty="0">
                <a:sym typeface="+mn-ea"/>
              </a:rPr>
              <a:t>FTTH</a:t>
            </a:r>
            <a:endParaRPr kumimoji="1" lang="zh-CN" altLang="en-US" dirty="0"/>
          </a:p>
        </p:txBody>
      </p:sp>
      <p:sp>
        <p:nvSpPr>
          <p:cNvPr id="6" name="内容占位符 5"/>
          <p:cNvSpPr>
            <a:spLocks noGrp="1"/>
          </p:cNvSpPr>
          <p:nvPr>
            <p:ph idx="1"/>
          </p:nvPr>
        </p:nvSpPr>
        <p:spPr>
          <a:xfrm>
            <a:off x="849773" y="1452885"/>
            <a:ext cx="7009435" cy="4586694"/>
          </a:xfrm>
        </p:spPr>
        <p:txBody>
          <a:bodyPr>
            <a:normAutofit/>
          </a:bodyPr>
          <a:lstStyle/>
          <a:p>
            <a:r>
              <a:rPr lang="en-US" altLang="zh-CN" sz="2400" dirty="0" err="1">
                <a:sym typeface="+mn-ea"/>
              </a:rPr>
              <a:t>光纤到户</a:t>
            </a:r>
            <a:r>
              <a:rPr lang="en-US" altLang="zh-CN" sz="2400" dirty="0" err="1"/>
              <a:t>FTTH</a:t>
            </a:r>
            <a:endParaRPr lang="en-US" altLang="zh-CN" sz="2400" dirty="0">
              <a:sym typeface="+mn-ea"/>
            </a:endParaRPr>
          </a:p>
          <a:p>
            <a:pPr lvl="1"/>
            <a:r>
              <a:rPr lang="en-US" altLang="zh-CN" sz="2000" dirty="0">
                <a:sym typeface="+mn-ea"/>
              </a:rPr>
              <a:t>FTTH:</a:t>
            </a:r>
            <a:r>
              <a:rPr lang="zh-CN" altLang="en-US" sz="2000" dirty="0">
                <a:sym typeface="+mn-ea"/>
              </a:rPr>
              <a:t> </a:t>
            </a:r>
            <a:r>
              <a:rPr lang="en-US" altLang="zh-CN" sz="2000" dirty="0">
                <a:sym typeface="+mn-ea"/>
              </a:rPr>
              <a:t>Fiber To The Home</a:t>
            </a:r>
          </a:p>
          <a:p>
            <a:pPr lvl="1"/>
            <a:r>
              <a:rPr lang="zh-CN" altLang="en-US" sz="2000" dirty="0">
                <a:sym typeface="+mn-ea"/>
              </a:rPr>
              <a:t>我国及全球先进地区普遍采用的</a:t>
            </a:r>
            <a:r>
              <a:rPr lang="en-US" altLang="zh-CN" sz="2000" dirty="0" err="1"/>
              <a:t>光纤通信的传输方法</a:t>
            </a:r>
            <a:endParaRPr lang="en-US" altLang="zh-CN" sz="2000" dirty="0"/>
          </a:p>
          <a:p>
            <a:pPr lvl="1"/>
            <a:r>
              <a:rPr lang="zh-CN" altLang="en-US" sz="2000" dirty="0"/>
              <a:t>分为两类：有源光纤网络</a:t>
            </a:r>
            <a:r>
              <a:rPr lang="en-US" altLang="zh-CN" sz="2000" dirty="0"/>
              <a:t>AON</a:t>
            </a:r>
            <a:r>
              <a:rPr lang="zh-CN" altLang="en-US" sz="2000" dirty="0"/>
              <a:t>和无源光纤网络</a:t>
            </a:r>
            <a:r>
              <a:rPr lang="en-US" altLang="zh-CN" sz="2000" dirty="0"/>
              <a:t>PON</a:t>
            </a:r>
          </a:p>
          <a:p>
            <a:pPr lvl="1"/>
            <a:r>
              <a:rPr lang="zh-CN" altLang="en-US" sz="2000" dirty="0"/>
              <a:t>带宽大、线路稳定</a:t>
            </a:r>
            <a:endParaRPr lang="en-US" altLang="zh-CN" sz="2000" dirty="0"/>
          </a:p>
          <a:p>
            <a:r>
              <a:rPr lang="zh-CN" altLang="en-US" sz="2400" dirty="0"/>
              <a:t>无源光纤网络</a:t>
            </a:r>
            <a:r>
              <a:rPr lang="en-US" altLang="zh-CN" sz="2400" dirty="0"/>
              <a:t>PON</a:t>
            </a:r>
          </a:p>
          <a:p>
            <a:pPr lvl="1"/>
            <a:r>
              <a:rPr lang="en-US" altLang="zh-CN" sz="2000" dirty="0"/>
              <a:t>PON:</a:t>
            </a:r>
            <a:r>
              <a:rPr lang="zh-CN" altLang="en-US" sz="2000" dirty="0"/>
              <a:t> </a:t>
            </a:r>
            <a:r>
              <a:rPr lang="en-US" altLang="zh-CN" sz="2000" dirty="0"/>
              <a:t>Passive</a:t>
            </a:r>
            <a:r>
              <a:rPr lang="zh-CN" altLang="en-US" sz="2000" dirty="0"/>
              <a:t> </a:t>
            </a:r>
            <a:r>
              <a:rPr lang="en-US" altLang="zh-CN" sz="2000" dirty="0"/>
              <a:t>Optical</a:t>
            </a:r>
            <a:r>
              <a:rPr lang="zh-CN" altLang="en-US" sz="2000" dirty="0"/>
              <a:t> </a:t>
            </a:r>
            <a:r>
              <a:rPr lang="en-US" altLang="zh-CN" sz="2000" dirty="0"/>
              <a:t>Network</a:t>
            </a:r>
          </a:p>
          <a:p>
            <a:pPr lvl="1"/>
            <a:r>
              <a:rPr lang="en-US" altLang="zh-CN" sz="2000" dirty="0"/>
              <a:t>OLT</a:t>
            </a:r>
            <a:r>
              <a:rPr lang="zh-CN" altLang="en-US" sz="2000" dirty="0"/>
              <a:t>：局端的光线路终端</a:t>
            </a:r>
          </a:p>
          <a:p>
            <a:pPr lvl="1"/>
            <a:r>
              <a:rPr lang="en-US" altLang="zh-CN" sz="2000" dirty="0"/>
              <a:t>ONU</a:t>
            </a:r>
            <a:r>
              <a:rPr lang="zh-CN" altLang="en-US" sz="2000" dirty="0"/>
              <a:t>光网络单元（如光猫</a:t>
            </a:r>
            <a:r>
              <a:rPr lang="en-US" altLang="zh-CN" sz="2000" dirty="0"/>
              <a:t>ONT</a:t>
            </a:r>
            <a:r>
              <a:rPr lang="zh-CN" altLang="en-US" sz="2000" dirty="0"/>
              <a:t>）</a:t>
            </a:r>
            <a:endParaRPr lang="en-US" altLang="zh-CN" sz="2000" dirty="0"/>
          </a:p>
          <a:p>
            <a:pPr lvl="1"/>
            <a:r>
              <a:rPr lang="zh-CN" altLang="en-US" sz="2000" dirty="0"/>
              <a:t>光猫</a:t>
            </a:r>
            <a:r>
              <a:rPr lang="en-US" altLang="zh-CN" sz="2000" dirty="0"/>
              <a:t>ONT</a:t>
            </a:r>
            <a:r>
              <a:rPr lang="zh-CN" altLang="en-US" sz="2000" dirty="0"/>
              <a:t>通过一个或多个无源</a:t>
            </a:r>
            <a:br>
              <a:rPr lang="en-US" altLang="zh-CN" sz="2000" dirty="0"/>
            </a:br>
            <a:r>
              <a:rPr lang="zh-CN" altLang="en-US" sz="2000" dirty="0"/>
              <a:t>分光器，连接到局端的光线路</a:t>
            </a:r>
            <a:br>
              <a:rPr lang="en-US" altLang="zh-CN" sz="2000" dirty="0"/>
            </a:br>
            <a:r>
              <a:rPr lang="zh-CN" altLang="en-US" sz="2000" dirty="0"/>
              <a:t>终端</a:t>
            </a:r>
            <a:r>
              <a:rPr lang="en-US" altLang="zh-CN" sz="2000" dirty="0"/>
              <a:t>OLT</a:t>
            </a:r>
            <a:endParaRPr lang="zh-CN" altLang="en-US" sz="2000" dirty="0"/>
          </a:p>
        </p:txBody>
      </p:sp>
      <p:pic>
        <p:nvPicPr>
          <p:cNvPr id="15364" name="Picture 4">
            <a:extLst>
              <a:ext uri="{FF2B5EF4-FFF2-40B4-BE49-F238E27FC236}">
                <a16:creationId xmlns:a16="http://schemas.microsoft.com/office/drawing/2014/main" id="{0FE18B95-1D0C-3B44-BD42-27D97FA1504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66083" y="3155963"/>
            <a:ext cx="5669197" cy="3092289"/>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0807A826-21AA-A544-8C92-6A5666C5AB8A}"/>
              </a:ext>
            </a:extLst>
          </p:cNvPr>
          <p:cNvSpPr/>
          <p:nvPr/>
        </p:nvSpPr>
        <p:spPr>
          <a:xfrm>
            <a:off x="7106856" y="3429000"/>
            <a:ext cx="3125164" cy="369332"/>
          </a:xfrm>
          <a:prstGeom prst="rect">
            <a:avLst/>
          </a:prstGeom>
          <a:solidFill>
            <a:schemeClr val="bg1"/>
          </a:solidFill>
        </p:spPr>
        <p:txBody>
          <a:bodyPr wrap="square">
            <a:spAutoFit/>
          </a:bodyPr>
          <a:lstStyle/>
          <a:p>
            <a:pPr algn="ctr"/>
            <a:r>
              <a:rPr lang="zh-CN" altLang="en-US" dirty="0">
                <a:latin typeface="Microsoft YaHei" panose="020B0503020204020204" pitchFamily="34" charset="-122"/>
                <a:ea typeface="Microsoft YaHei" panose="020B0503020204020204" pitchFamily="34" charset="-122"/>
              </a:rPr>
              <a:t>无源光纤网络</a:t>
            </a:r>
            <a:r>
              <a:rPr lang="en-US" altLang="zh-CN" dirty="0">
                <a:latin typeface="Microsoft YaHei" panose="020B0503020204020204" pitchFamily="34" charset="-122"/>
                <a:ea typeface="Microsoft YaHei" panose="020B0503020204020204" pitchFamily="34" charset="-122"/>
              </a:rPr>
              <a:t>PON</a:t>
            </a:r>
            <a:endParaRPr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91CDD560-BCC5-7742-8096-295383B322A9}"/>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8" name="文本框 7">
            <a:extLst>
              <a:ext uri="{FF2B5EF4-FFF2-40B4-BE49-F238E27FC236}">
                <a16:creationId xmlns:a16="http://schemas.microsoft.com/office/drawing/2014/main" id="{5C6F9214-E3FE-A645-B9BC-28EBB655CA64}"/>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网络分类：接入网</a:t>
            </a:r>
          </a:p>
        </p:txBody>
      </p:sp>
      <p:sp>
        <p:nvSpPr>
          <p:cNvPr id="9" name="矩形 8">
            <a:extLst>
              <a:ext uri="{FF2B5EF4-FFF2-40B4-BE49-F238E27FC236}">
                <a16:creationId xmlns:a16="http://schemas.microsoft.com/office/drawing/2014/main" id="{72D46ED1-7977-A341-B115-522AF05D53D3}"/>
              </a:ext>
            </a:extLst>
          </p:cNvPr>
          <p:cNvSpPr/>
          <p:nvPr/>
        </p:nvSpPr>
        <p:spPr>
          <a:xfrm>
            <a:off x="8513952" y="1888926"/>
            <a:ext cx="2179315" cy="830997"/>
          </a:xfrm>
          <a:prstGeom prst="rect">
            <a:avLst/>
          </a:prstGeom>
          <a:ln>
            <a:solidFill>
              <a:srgbClr val="C00000"/>
            </a:solidFill>
          </a:ln>
        </p:spPr>
        <p:txBody>
          <a:bodyPr wrap="none">
            <a:spAutoFit/>
          </a:bodyPr>
          <a:lstStyle/>
          <a:p>
            <a:pPr algn="ctr"/>
            <a:r>
              <a:rPr lang="zh-CN" altLang="en-US" sz="2400" dirty="0">
                <a:solidFill>
                  <a:prstClr val="black"/>
                </a:solidFill>
                <a:latin typeface="微软雅黑" panose="020B0503020204020204" pitchFamily="34" charset="-122"/>
                <a:ea typeface="微软雅黑" panose="020B0503020204020204" pitchFamily="34" charset="-122"/>
              </a:rPr>
              <a:t>我国</a:t>
            </a:r>
            <a:r>
              <a:rPr lang="en-US" altLang="zh-CN" sz="2400" dirty="0">
                <a:solidFill>
                  <a:prstClr val="black"/>
                </a:solidFill>
                <a:latin typeface="微软雅黑" panose="020B0503020204020204" pitchFamily="34" charset="-122"/>
                <a:ea typeface="微软雅黑" panose="020B0503020204020204" pitchFamily="34" charset="-122"/>
              </a:rPr>
              <a:t>FTTH</a:t>
            </a:r>
            <a:r>
              <a:rPr lang="zh-CN" altLang="en-US" sz="2400" dirty="0">
                <a:solidFill>
                  <a:prstClr val="black"/>
                </a:solidFill>
                <a:latin typeface="微软雅黑" panose="020B0503020204020204" pitchFamily="34" charset="-122"/>
                <a:ea typeface="微软雅黑" panose="020B0503020204020204" pitchFamily="34" charset="-122"/>
              </a:rPr>
              <a:t>用户</a:t>
            </a:r>
            <a:br>
              <a:rPr lang="en-US" altLang="zh-CN" sz="2400" dirty="0">
                <a:solidFill>
                  <a:prstClr val="black"/>
                </a:solidFill>
                <a:latin typeface="微软雅黑" panose="020B0503020204020204" pitchFamily="34" charset="-122"/>
                <a:ea typeface="微软雅黑" panose="020B0503020204020204" pitchFamily="34" charset="-122"/>
              </a:rPr>
            </a:br>
            <a:r>
              <a:rPr lang="zh-CN" altLang="en-US" sz="2400" dirty="0">
                <a:solidFill>
                  <a:prstClr val="black"/>
                </a:solidFill>
                <a:latin typeface="微软雅黑" panose="020B0503020204020204" pitchFamily="34" charset="-122"/>
                <a:ea typeface="微软雅黑" panose="020B0503020204020204" pitchFamily="34" charset="-122"/>
              </a:rPr>
              <a:t>已接近</a:t>
            </a:r>
            <a:r>
              <a:rPr lang="en-US" altLang="zh-CN" sz="2400" dirty="0">
                <a:solidFill>
                  <a:prstClr val="black"/>
                </a:solidFill>
                <a:latin typeface="微软雅黑" panose="020B0503020204020204" pitchFamily="34" charset="-122"/>
                <a:ea typeface="微软雅黑" panose="020B0503020204020204" pitchFamily="34" charset="-122"/>
              </a:rPr>
              <a:t>5</a:t>
            </a:r>
            <a:r>
              <a:rPr lang="zh-CN" altLang="en-US" sz="2400" dirty="0">
                <a:solidFill>
                  <a:prstClr val="black"/>
                </a:solidFill>
                <a:latin typeface="微软雅黑" panose="020B0503020204020204" pitchFamily="34" charset="-122"/>
                <a:ea typeface="微软雅黑" panose="020B0503020204020204" pitchFamily="34" charset="-122"/>
              </a:rPr>
              <a:t>亿</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465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接入网：数字用户线</a:t>
            </a:r>
            <a:r>
              <a:rPr lang="en-US" altLang="zh-CN" dirty="0">
                <a:sym typeface="+mn-ea"/>
              </a:rPr>
              <a:t>DSL</a:t>
            </a:r>
            <a:endParaRPr lang="zh-CN" altLang="en-US" dirty="0"/>
          </a:p>
        </p:txBody>
      </p:sp>
      <p:sp>
        <p:nvSpPr>
          <p:cNvPr id="115" name="内容占位符 2">
            <a:extLst>
              <a:ext uri="{FF2B5EF4-FFF2-40B4-BE49-F238E27FC236}">
                <a16:creationId xmlns:a16="http://schemas.microsoft.com/office/drawing/2014/main" id="{A88A61C1-F6BC-2443-ADEF-0C16AC034B86}"/>
              </a:ext>
            </a:extLst>
          </p:cNvPr>
          <p:cNvSpPr>
            <a:spLocks noGrp="1"/>
          </p:cNvSpPr>
          <p:nvPr>
            <p:ph idx="1"/>
          </p:nvPr>
        </p:nvSpPr>
        <p:spPr>
          <a:xfrm>
            <a:off x="838200" y="1510758"/>
            <a:ext cx="9799735" cy="4586694"/>
          </a:xfrm>
        </p:spPr>
        <p:txBody>
          <a:bodyPr>
            <a:normAutofit/>
          </a:bodyPr>
          <a:lstStyle/>
          <a:p>
            <a:pPr>
              <a:buFont typeface="Wingdings" panose="05000000000000000000" charset="0"/>
              <a:buChar char="Ø"/>
            </a:pPr>
            <a:r>
              <a:rPr lang="zh-CN" altLang="en-US" sz="2400" dirty="0">
                <a:sym typeface="+mn-ea"/>
              </a:rPr>
              <a:t>数字用户线</a:t>
            </a:r>
            <a:r>
              <a:rPr lang="en-US" altLang="zh-CN" sz="2400" dirty="0">
                <a:sym typeface="+mn-ea"/>
              </a:rPr>
              <a:t>DSL</a:t>
            </a:r>
            <a:r>
              <a:rPr lang="zh-CN" altLang="en-US" sz="2400" dirty="0">
                <a:sym typeface="+mn-ea"/>
              </a:rPr>
              <a:t>：</a:t>
            </a:r>
            <a:r>
              <a:rPr lang="en-US" altLang="zh-CN" sz="2400" dirty="0">
                <a:sym typeface="+mn-ea"/>
              </a:rPr>
              <a:t>Digital</a:t>
            </a:r>
            <a:r>
              <a:rPr lang="zh-CN" altLang="en-US" sz="2400" dirty="0">
                <a:sym typeface="+mn-ea"/>
              </a:rPr>
              <a:t> </a:t>
            </a:r>
            <a:r>
              <a:rPr lang="en-US" altLang="zh-CN" sz="2400" dirty="0">
                <a:sym typeface="+mn-ea"/>
              </a:rPr>
              <a:t>Subscriber</a:t>
            </a:r>
            <a:r>
              <a:rPr lang="zh-CN" altLang="en-US" sz="2400" dirty="0">
                <a:sym typeface="+mn-ea"/>
              </a:rPr>
              <a:t> </a:t>
            </a:r>
            <a:r>
              <a:rPr lang="en-US" altLang="zh-CN" sz="2400" dirty="0">
                <a:sym typeface="+mn-ea"/>
              </a:rPr>
              <a:t>Line</a:t>
            </a:r>
            <a:endParaRPr lang="en-US" altLang="zh-CN" sz="2400" dirty="0"/>
          </a:p>
          <a:p>
            <a:pPr>
              <a:buFont typeface="Wingdings" panose="05000000000000000000" charset="0"/>
              <a:buChar char="Ø"/>
            </a:pPr>
            <a:r>
              <a:rPr lang="zh-CN" altLang="en-US" sz="2400" dirty="0"/>
              <a:t>使用电话线连接到数字用户线接入复用器</a:t>
            </a:r>
            <a:r>
              <a:rPr lang="en-US" altLang="zh-CN" sz="2400" dirty="0"/>
              <a:t>(</a:t>
            </a:r>
            <a:r>
              <a:rPr lang="zh-CN" altLang="en-US" sz="2400" dirty="0"/>
              <a:t>DSLAM</a:t>
            </a:r>
            <a:r>
              <a:rPr lang="en-US" altLang="zh-CN" sz="2400" dirty="0"/>
              <a:t>)</a:t>
            </a:r>
            <a:endParaRPr lang="zh-CN" altLang="en-US" sz="2400" dirty="0"/>
          </a:p>
          <a:p>
            <a:pPr lvl="1"/>
            <a:r>
              <a:rPr lang="zh-CN" altLang="en-US" sz="2000" dirty="0"/>
              <a:t>DSL电话线上，语音和数据可以同时传输</a:t>
            </a:r>
            <a:endParaRPr lang="en-US" altLang="zh-CN" sz="2000" dirty="0"/>
          </a:p>
          <a:p>
            <a:pPr lvl="1"/>
            <a:r>
              <a:rPr lang="zh-CN" altLang="en-US" sz="2000" dirty="0"/>
              <a:t>数据进入互联网，语音连接到电话网</a:t>
            </a:r>
          </a:p>
          <a:p>
            <a:pPr>
              <a:buFont typeface="Wingdings" panose="05000000000000000000" charset="0"/>
              <a:buChar char="Ø"/>
            </a:pPr>
            <a:r>
              <a:rPr lang="zh-CN" altLang="en-US" sz="2400" dirty="0"/>
              <a:t>上下行速率不对称</a:t>
            </a:r>
            <a:endParaRPr lang="en-US" altLang="zh-CN" sz="2400" dirty="0"/>
          </a:p>
          <a:p>
            <a:pPr lvl="1">
              <a:buFont typeface="Wingdings" panose="05000000000000000000" charset="0"/>
              <a:buChar char="Ø"/>
            </a:pPr>
            <a:r>
              <a:rPr lang="zh-CN" altLang="en-US" sz="2000" dirty="0"/>
              <a:t>24-52 Mbps下行速率，3.5-16 Mbps上行速率</a:t>
            </a:r>
          </a:p>
        </p:txBody>
      </p:sp>
      <p:grpSp>
        <p:nvGrpSpPr>
          <p:cNvPr id="8" name="组合 7">
            <a:extLst>
              <a:ext uri="{FF2B5EF4-FFF2-40B4-BE49-F238E27FC236}">
                <a16:creationId xmlns:a16="http://schemas.microsoft.com/office/drawing/2014/main" id="{6897ABCC-C76E-9D47-9ECC-E0FA736FBDE6}"/>
              </a:ext>
            </a:extLst>
          </p:cNvPr>
          <p:cNvGrpSpPr/>
          <p:nvPr/>
        </p:nvGrpSpPr>
        <p:grpSpPr>
          <a:xfrm>
            <a:off x="1729621" y="4188172"/>
            <a:ext cx="8732758" cy="2533304"/>
            <a:chOff x="2105191" y="1353015"/>
            <a:chExt cx="6592066" cy="2851985"/>
          </a:xfrm>
        </p:grpSpPr>
        <p:grpSp>
          <p:nvGrpSpPr>
            <p:cNvPr id="6" name="组合 5">
              <a:extLst>
                <a:ext uri="{FF2B5EF4-FFF2-40B4-BE49-F238E27FC236}">
                  <a16:creationId xmlns:a16="http://schemas.microsoft.com/office/drawing/2014/main" id="{37532356-EC49-424A-B74E-8B6E3726D51B}"/>
                </a:ext>
              </a:extLst>
            </p:cNvPr>
            <p:cNvGrpSpPr/>
            <p:nvPr/>
          </p:nvGrpSpPr>
          <p:grpSpPr>
            <a:xfrm>
              <a:off x="2105191" y="1414749"/>
              <a:ext cx="6592066" cy="2790251"/>
              <a:chOff x="2330998" y="1304925"/>
              <a:chExt cx="6592066" cy="2790251"/>
            </a:xfrm>
          </p:grpSpPr>
          <p:sp>
            <p:nvSpPr>
              <p:cNvPr id="133" name="AutoShape 102"/>
              <p:cNvSpPr>
                <a:spLocks noChangeArrowheads="1"/>
              </p:cNvSpPr>
              <p:nvPr/>
            </p:nvSpPr>
            <p:spPr bwMode="auto">
              <a:xfrm>
                <a:off x="2553248" y="1346200"/>
                <a:ext cx="2498725" cy="46831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5" name="组合 4">
                <a:extLst>
                  <a:ext uri="{FF2B5EF4-FFF2-40B4-BE49-F238E27FC236}">
                    <a16:creationId xmlns:a16="http://schemas.microsoft.com/office/drawing/2014/main" id="{499242D0-1644-2047-AEB3-9E1B4CAC5162}"/>
                  </a:ext>
                </a:extLst>
              </p:cNvPr>
              <p:cNvGrpSpPr/>
              <p:nvPr/>
            </p:nvGrpSpPr>
            <p:grpSpPr>
              <a:xfrm>
                <a:off x="2330998" y="1304925"/>
                <a:ext cx="6592066" cy="2790251"/>
                <a:chOff x="2330998" y="1304925"/>
                <a:chExt cx="6592066" cy="2790251"/>
              </a:xfrm>
            </p:grpSpPr>
            <p:sp>
              <p:nvSpPr>
                <p:cNvPr id="122" name="Rectangle 90"/>
                <p:cNvSpPr>
                  <a:spLocks noChangeArrowheads="1"/>
                </p:cNvSpPr>
                <p:nvPr/>
              </p:nvSpPr>
              <p:spPr bwMode="auto">
                <a:xfrm>
                  <a:off x="2809153" y="1796098"/>
                  <a:ext cx="1978025" cy="13954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57" name="Group 156"/>
                <p:cNvGrpSpPr/>
                <p:nvPr/>
              </p:nvGrpSpPr>
              <p:grpSpPr>
                <a:xfrm>
                  <a:off x="6745014" y="2947413"/>
                  <a:ext cx="2178050" cy="1147763"/>
                  <a:chOff x="6634372" y="2940623"/>
                  <a:chExt cx="2178050" cy="1147763"/>
                </a:xfrm>
              </p:grpSpPr>
              <p:sp>
                <p:nvSpPr>
                  <p:cNvPr id="158" name="Freeform 129"/>
                  <p:cNvSpPr/>
                  <p:nvPr/>
                </p:nvSpPr>
                <p:spPr bwMode="auto">
                  <a:xfrm>
                    <a:off x="6634372" y="2940623"/>
                    <a:ext cx="2178050" cy="1147763"/>
                  </a:xfrm>
                  <a:custGeom>
                    <a:avLst/>
                    <a:gdLst>
                      <a:gd name="T0" fmla="*/ 1509012 w 765"/>
                      <a:gd name="T1" fmla="*/ 5729 h 459"/>
                      <a:gd name="T2" fmla="*/ 1027025 w 765"/>
                      <a:gd name="T3" fmla="*/ 40395 h 459"/>
                      <a:gd name="T4" fmla="*/ 340902 w 765"/>
                      <a:gd name="T5" fmla="*/ 58024 h 459"/>
                      <a:gd name="T6" fmla="*/ 49874 w 765"/>
                      <a:gd name="T7" fmla="*/ 194383 h 459"/>
                      <a:gd name="T8" fmla="*/ 640932 w 765"/>
                      <a:gd name="T9" fmla="*/ 256788 h 459"/>
                      <a:gd name="T10" fmla="*/ 1233656 w 765"/>
                      <a:gd name="T11" fmla="*/ 246677 h 459"/>
                      <a:gd name="T12" fmla="*/ 2079640 w 765"/>
                      <a:gd name="T13" fmla="*/ 256788 h 459"/>
                      <a:gd name="T14" fmla="*/ 2485867 w 765"/>
                      <a:gd name="T15" fmla="*/ 251149 h 459"/>
                      <a:gd name="T16" fmla="*/ 2678580 w 765"/>
                      <a:gd name="T17" fmla="*/ 215337 h 459"/>
                      <a:gd name="T18" fmla="*/ 2671282 w 765"/>
                      <a:gd name="T19" fmla="*/ 91397 h 459"/>
                      <a:gd name="T20" fmla="*/ 2357408 w 765"/>
                      <a:gd name="T21" fmla="*/ 19830 h 459"/>
                      <a:gd name="T22" fmla="*/ 1509012 w 765"/>
                      <a:gd name="T23" fmla="*/ 572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9CDFF9"/>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Line 130"/>
                  <p:cNvSpPr>
                    <a:spLocks noChangeShapeType="1"/>
                  </p:cNvSpPr>
                  <p:nvPr/>
                </p:nvSpPr>
                <p:spPr bwMode="auto">
                  <a:xfrm flipV="1">
                    <a:off x="7464635" y="3294636"/>
                    <a:ext cx="168275" cy="120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Line 131"/>
                  <p:cNvSpPr>
                    <a:spLocks noChangeShapeType="1"/>
                  </p:cNvSpPr>
                  <p:nvPr/>
                </p:nvSpPr>
                <p:spPr bwMode="auto">
                  <a:xfrm>
                    <a:off x="7231272" y="3534348"/>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1" name="Line 132"/>
                  <p:cNvSpPr>
                    <a:spLocks noChangeShapeType="1"/>
                  </p:cNvSpPr>
                  <p:nvPr/>
                </p:nvSpPr>
                <p:spPr bwMode="auto">
                  <a:xfrm flipV="1">
                    <a:off x="7464635" y="3391473"/>
                    <a:ext cx="358775" cy="400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2" name="Line 133"/>
                  <p:cNvSpPr>
                    <a:spLocks noChangeShapeType="1"/>
                  </p:cNvSpPr>
                  <p:nvPr/>
                </p:nvSpPr>
                <p:spPr bwMode="auto">
                  <a:xfrm>
                    <a:off x="7961522" y="3389886"/>
                    <a:ext cx="0" cy="2714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3" name="Line 134"/>
                  <p:cNvSpPr>
                    <a:spLocks noChangeShapeType="1"/>
                  </p:cNvSpPr>
                  <p:nvPr/>
                </p:nvSpPr>
                <p:spPr bwMode="auto">
                  <a:xfrm>
                    <a:off x="7490035" y="3813748"/>
                    <a:ext cx="2571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4" name="Line 135"/>
                  <p:cNvSpPr>
                    <a:spLocks noChangeShapeType="1"/>
                  </p:cNvSpPr>
                  <p:nvPr/>
                </p:nvSpPr>
                <p:spPr bwMode="auto">
                  <a:xfrm>
                    <a:off x="8245685" y="3801048"/>
                    <a:ext cx="241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5" name="Line 172"/>
                  <p:cNvSpPr>
                    <a:spLocks noChangeShapeType="1"/>
                  </p:cNvSpPr>
                  <p:nvPr/>
                </p:nvSpPr>
                <p:spPr bwMode="auto">
                  <a:xfrm>
                    <a:off x="8510797" y="3797873"/>
                    <a:ext cx="242888"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6" name="Text Box 580"/>
                  <p:cNvSpPr txBox="1">
                    <a:spLocks noChangeArrowheads="1"/>
                  </p:cNvSpPr>
                  <p:nvPr/>
                </p:nvSpPr>
                <p:spPr bwMode="auto">
                  <a:xfrm>
                    <a:off x="8207585" y="3191448"/>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ISP</a:t>
                    </a:r>
                  </a:p>
                </p:txBody>
              </p:sp>
              <p:grpSp>
                <p:nvGrpSpPr>
                  <p:cNvPr id="167" name="Group 166"/>
                  <p:cNvGrpSpPr/>
                  <p:nvPr/>
                </p:nvGrpSpPr>
                <p:grpSpPr>
                  <a:xfrm>
                    <a:off x="6972551" y="3193191"/>
                    <a:ext cx="576221" cy="330754"/>
                    <a:chOff x="7493876" y="2774731"/>
                    <a:chExt cx="1481958" cy="894622"/>
                  </a:xfrm>
                </p:grpSpPr>
                <p:sp>
                  <p:nvSpPr>
                    <p:cNvPr id="192" name="Freeform 191"/>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3" name="Oval 192"/>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4" name="Group 193"/>
                    <p:cNvGrpSpPr/>
                    <p:nvPr/>
                  </p:nvGrpSpPr>
                  <p:grpSpPr>
                    <a:xfrm>
                      <a:off x="7713663" y="2848339"/>
                      <a:ext cx="1042107" cy="425543"/>
                      <a:chOff x="7786941" y="2884917"/>
                      <a:chExt cx="897649" cy="353919"/>
                    </a:xfrm>
                  </p:grpSpPr>
                  <p:sp>
                    <p:nvSpPr>
                      <p:cNvPr id="195" name="Freeform 194"/>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195"/>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196"/>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8" name="Group 167"/>
                  <p:cNvGrpSpPr/>
                  <p:nvPr/>
                </p:nvGrpSpPr>
                <p:grpSpPr>
                  <a:xfrm>
                    <a:off x="6955883" y="3598924"/>
                    <a:ext cx="576221" cy="330754"/>
                    <a:chOff x="7493876" y="2774731"/>
                    <a:chExt cx="1481958" cy="894622"/>
                  </a:xfrm>
                </p:grpSpPr>
                <p:sp>
                  <p:nvSpPr>
                    <p:cNvPr id="185" name="Freeform 184"/>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6" name="Oval 185"/>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7" name="Group 186"/>
                    <p:cNvGrpSpPr/>
                    <p:nvPr/>
                  </p:nvGrpSpPr>
                  <p:grpSpPr>
                    <a:xfrm>
                      <a:off x="7713663" y="2848339"/>
                      <a:ext cx="1042107" cy="425543"/>
                      <a:chOff x="7786941" y="2884917"/>
                      <a:chExt cx="897649" cy="353919"/>
                    </a:xfrm>
                  </p:grpSpPr>
                  <p:sp>
                    <p:nvSpPr>
                      <p:cNvPr id="188" name="Freeform 187"/>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Freeform 188"/>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p:cNvGrpSpPr/>
                  <p:nvPr/>
                </p:nvGrpSpPr>
                <p:grpSpPr>
                  <a:xfrm>
                    <a:off x="7720114" y="3593282"/>
                    <a:ext cx="576221" cy="330754"/>
                    <a:chOff x="7493876" y="2774731"/>
                    <a:chExt cx="1481958" cy="894622"/>
                  </a:xfrm>
                </p:grpSpPr>
                <p:sp>
                  <p:nvSpPr>
                    <p:cNvPr id="178" name="Freeform 177"/>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p:cNvGrpSpPr/>
                    <p:nvPr/>
                  </p:nvGrpSpPr>
                  <p:grpSpPr>
                    <a:xfrm>
                      <a:off x="7713663" y="2848339"/>
                      <a:ext cx="1042107" cy="425543"/>
                      <a:chOff x="7786941" y="2884917"/>
                      <a:chExt cx="897649" cy="353919"/>
                    </a:xfrm>
                  </p:grpSpPr>
                  <p:sp>
                    <p:nvSpPr>
                      <p:cNvPr id="181" name="Freeform 180"/>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p:cNvGrpSpPr/>
                  <p:nvPr/>
                </p:nvGrpSpPr>
                <p:grpSpPr>
                  <a:xfrm>
                    <a:off x="7618622" y="3082478"/>
                    <a:ext cx="576221" cy="330754"/>
                    <a:chOff x="7493876" y="2774731"/>
                    <a:chExt cx="1481958" cy="894622"/>
                  </a:xfrm>
                </p:grpSpPr>
                <p:sp>
                  <p:nvSpPr>
                    <p:cNvPr id="171" name="Freeform 17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2" name="Oval 17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3" name="Group 172"/>
                    <p:cNvGrpSpPr/>
                    <p:nvPr/>
                  </p:nvGrpSpPr>
                  <p:grpSpPr>
                    <a:xfrm>
                      <a:off x="7713663" y="2848339"/>
                      <a:ext cx="1042107" cy="425543"/>
                      <a:chOff x="7786941" y="2884917"/>
                      <a:chExt cx="897649" cy="353919"/>
                    </a:xfrm>
                  </p:grpSpPr>
                  <p:sp>
                    <p:nvSpPr>
                      <p:cNvPr id="174" name="Freeform 17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7" name="Freeform 17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95" name="Freeform 3"/>
                <p:cNvSpPr/>
                <p:nvPr/>
              </p:nvSpPr>
              <p:spPr bwMode="auto">
                <a:xfrm>
                  <a:off x="5902873" y="1444625"/>
                  <a:ext cx="1670975" cy="1477963"/>
                </a:xfrm>
                <a:custGeom>
                  <a:avLst/>
                  <a:gdLst>
                    <a:gd name="T0" fmla="*/ 2147483647 w 1396"/>
                    <a:gd name="T1" fmla="*/ 2147483647 h 931"/>
                    <a:gd name="T2" fmla="*/ 2147483647 w 1396"/>
                    <a:gd name="T3" fmla="*/ 2147483647 h 931"/>
                    <a:gd name="T4" fmla="*/ 2147483647 w 1396"/>
                    <a:gd name="T5" fmla="*/ 2147483647 h 931"/>
                    <a:gd name="T6" fmla="*/ 2147483647 w 1396"/>
                    <a:gd name="T7" fmla="*/ 2147483647 h 931"/>
                    <a:gd name="T8" fmla="*/ 2147483647 w 1396"/>
                    <a:gd name="T9" fmla="*/ 2147483647 h 931"/>
                    <a:gd name="T10" fmla="*/ 2147483647 w 1396"/>
                    <a:gd name="T11" fmla="*/ 2147483647 h 931"/>
                    <a:gd name="T12" fmla="*/ 2147483647 w 1396"/>
                    <a:gd name="T13" fmla="*/ 2147483647 h 931"/>
                    <a:gd name="T14" fmla="*/ 2147483647 w 1396"/>
                    <a:gd name="T15" fmla="*/ 2147483647 h 931"/>
                    <a:gd name="T16" fmla="*/ 2147483647 w 1396"/>
                    <a:gd name="T17" fmla="*/ 2147483647 h 931"/>
                    <a:gd name="T18" fmla="*/ 2147483647 w 1396"/>
                    <a:gd name="T19" fmla="*/ 2147483647 h 931"/>
                    <a:gd name="T20" fmla="*/ 2147483647 w 1396"/>
                    <a:gd name="T21" fmla="*/ 2147483647 h 931"/>
                    <a:gd name="T22" fmla="*/ 2147483647 w 1396"/>
                    <a:gd name="T23" fmla="*/ 2147483647 h 931"/>
                    <a:gd name="T24" fmla="*/ 2147483647 w 1396"/>
                    <a:gd name="T25" fmla="*/ 2147483647 h 931"/>
                    <a:gd name="T26" fmla="*/ 2147483647 w 1396"/>
                    <a:gd name="T27" fmla="*/ 2147483647 h 931"/>
                    <a:gd name="T28" fmla="*/ 2147483647 w 1396"/>
                    <a:gd name="T29" fmla="*/ 2147483647 h 931"/>
                    <a:gd name="T30" fmla="*/ 2147483647 w 1396"/>
                    <a:gd name="T31" fmla="*/ 2147483647 h 93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96"/>
                    <a:gd name="T49" fmla="*/ 0 h 931"/>
                    <a:gd name="T50" fmla="*/ 1396 w 1396"/>
                    <a:gd name="T51" fmla="*/ 931 h 93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96" h="931">
                      <a:moveTo>
                        <a:pt x="873" y="18"/>
                      </a:moveTo>
                      <a:cubicBezTo>
                        <a:pt x="787" y="32"/>
                        <a:pt x="625" y="55"/>
                        <a:pt x="526" y="89"/>
                      </a:cubicBezTo>
                      <a:cubicBezTo>
                        <a:pt x="426" y="122"/>
                        <a:pt x="346" y="184"/>
                        <a:pt x="278" y="216"/>
                      </a:cubicBezTo>
                      <a:cubicBezTo>
                        <a:pt x="210" y="248"/>
                        <a:pt x="159" y="236"/>
                        <a:pt x="118" y="283"/>
                      </a:cubicBezTo>
                      <a:cubicBezTo>
                        <a:pt x="77" y="330"/>
                        <a:pt x="46" y="416"/>
                        <a:pt x="30" y="497"/>
                      </a:cubicBezTo>
                      <a:cubicBezTo>
                        <a:pt x="14" y="578"/>
                        <a:pt x="0" y="714"/>
                        <a:pt x="24" y="768"/>
                      </a:cubicBezTo>
                      <a:cubicBezTo>
                        <a:pt x="49" y="821"/>
                        <a:pt x="112" y="796"/>
                        <a:pt x="178" y="818"/>
                      </a:cubicBezTo>
                      <a:cubicBezTo>
                        <a:pt x="244" y="840"/>
                        <a:pt x="318" y="886"/>
                        <a:pt x="421" y="902"/>
                      </a:cubicBezTo>
                      <a:cubicBezTo>
                        <a:pt x="524" y="918"/>
                        <a:pt x="681" y="916"/>
                        <a:pt x="793" y="916"/>
                      </a:cubicBezTo>
                      <a:cubicBezTo>
                        <a:pt x="905" y="916"/>
                        <a:pt x="1004" y="931"/>
                        <a:pt x="1095" y="902"/>
                      </a:cubicBezTo>
                      <a:cubicBezTo>
                        <a:pt x="1186" y="873"/>
                        <a:pt x="1291" y="813"/>
                        <a:pt x="1337" y="744"/>
                      </a:cubicBezTo>
                      <a:cubicBezTo>
                        <a:pt x="1383" y="675"/>
                        <a:pt x="1365" y="580"/>
                        <a:pt x="1372" y="487"/>
                      </a:cubicBezTo>
                      <a:cubicBezTo>
                        <a:pt x="1378" y="393"/>
                        <a:pt x="1396" y="256"/>
                        <a:pt x="1377" y="179"/>
                      </a:cubicBezTo>
                      <a:cubicBezTo>
                        <a:pt x="1358" y="102"/>
                        <a:pt x="1314" y="57"/>
                        <a:pt x="1259" y="28"/>
                      </a:cubicBezTo>
                      <a:cubicBezTo>
                        <a:pt x="1203" y="0"/>
                        <a:pt x="1110" y="7"/>
                        <a:pt x="1046" y="5"/>
                      </a:cubicBezTo>
                      <a:cubicBezTo>
                        <a:pt x="981" y="3"/>
                        <a:pt x="959" y="5"/>
                        <a:pt x="873" y="18"/>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Rectangle 44"/>
                <p:cNvSpPr>
                  <a:spLocks noChangeArrowheads="1"/>
                </p:cNvSpPr>
                <p:nvPr/>
              </p:nvSpPr>
              <p:spPr bwMode="auto">
                <a:xfrm>
                  <a:off x="6182273" y="1900238"/>
                  <a:ext cx="955675" cy="700087"/>
                </a:xfrm>
                <a:prstGeom prst="rect">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grpSp>
              <p:nvGrpSpPr>
                <p:cNvPr id="104" name="Group 108"/>
                <p:cNvGrpSpPr/>
                <p:nvPr/>
              </p:nvGrpSpPr>
              <p:grpSpPr bwMode="auto">
                <a:xfrm>
                  <a:off x="6239423" y="2017713"/>
                  <a:ext cx="368300" cy="519112"/>
                  <a:chOff x="1852" y="2562"/>
                  <a:chExt cx="355" cy="471"/>
                </a:xfrm>
              </p:grpSpPr>
              <p:sp>
                <p:nvSpPr>
                  <p:cNvPr id="105" name="Freeform 109"/>
                  <p:cNvSpPr/>
                  <p:nvPr/>
                </p:nvSpPr>
                <p:spPr bwMode="auto">
                  <a:xfrm>
                    <a:off x="1852" y="2621"/>
                    <a:ext cx="318" cy="412"/>
                  </a:xfrm>
                  <a:custGeom>
                    <a:avLst/>
                    <a:gdLst>
                      <a:gd name="T0" fmla="*/ 0 w 318"/>
                      <a:gd name="T1" fmla="*/ 412 h 412"/>
                      <a:gd name="T2" fmla="*/ 3 w 318"/>
                      <a:gd name="T3" fmla="*/ 1 h 412"/>
                      <a:gd name="T4" fmla="*/ 74 w 318"/>
                      <a:gd name="T5" fmla="*/ 0 h 412"/>
                      <a:gd name="T6" fmla="*/ 254 w 318"/>
                      <a:gd name="T7" fmla="*/ 111 h 412"/>
                      <a:gd name="T8" fmla="*/ 318 w 318"/>
                      <a:gd name="T9" fmla="*/ 115 h 412"/>
                      <a:gd name="T10" fmla="*/ 318 w 318"/>
                      <a:gd name="T11" fmla="*/ 308 h 412"/>
                      <a:gd name="T12" fmla="*/ 246 w 318"/>
                      <a:gd name="T13" fmla="*/ 308 h 412"/>
                      <a:gd name="T14" fmla="*/ 74 w 318"/>
                      <a:gd name="T15" fmla="*/ 412 h 412"/>
                      <a:gd name="T16" fmla="*/ 0 w 318"/>
                      <a:gd name="T17" fmla="*/ 412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chemeClr val="accent1"/>
                      </a:gs>
                    </a:gsLst>
                    <a:lin ang="0" scaled="1"/>
                  </a:gra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Freeform 110"/>
                  <p:cNvSpPr/>
                  <p:nvPr/>
                </p:nvSpPr>
                <p:spPr bwMode="auto">
                  <a:xfrm>
                    <a:off x="1854" y="2562"/>
                    <a:ext cx="353" cy="369"/>
                  </a:xfrm>
                  <a:custGeom>
                    <a:avLst/>
                    <a:gdLst>
                      <a:gd name="T0" fmla="*/ 0 w 353"/>
                      <a:gd name="T1" fmla="*/ 59 h 369"/>
                      <a:gd name="T2" fmla="*/ 32 w 353"/>
                      <a:gd name="T3" fmla="*/ 0 h 369"/>
                      <a:gd name="T4" fmla="*/ 105 w 353"/>
                      <a:gd name="T5" fmla="*/ 0 h 369"/>
                      <a:gd name="T6" fmla="*/ 276 w 353"/>
                      <a:gd name="T7" fmla="*/ 113 h 369"/>
                      <a:gd name="T8" fmla="*/ 353 w 353"/>
                      <a:gd name="T9" fmla="*/ 113 h 369"/>
                      <a:gd name="T10" fmla="*/ 353 w 353"/>
                      <a:gd name="T11" fmla="*/ 315 h 369"/>
                      <a:gd name="T12" fmla="*/ 318 w 353"/>
                      <a:gd name="T13" fmla="*/ 369 h 369"/>
                      <a:gd name="T14" fmla="*/ 315 w 353"/>
                      <a:gd name="T15" fmla="*/ 173 h 369"/>
                      <a:gd name="T16" fmla="*/ 254 w 353"/>
                      <a:gd name="T17" fmla="*/ 173 h 369"/>
                      <a:gd name="T18" fmla="*/ 75 w 353"/>
                      <a:gd name="T19" fmla="*/ 60 h 369"/>
                      <a:gd name="T20" fmla="*/ 0 w 353"/>
                      <a:gd name="T21" fmla="*/ 59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111"/>
                  <p:cNvSpPr>
                    <a:spLocks noChangeShapeType="1"/>
                  </p:cNvSpPr>
                  <p:nvPr/>
                </p:nvSpPr>
                <p:spPr bwMode="auto">
                  <a:xfrm flipH="1">
                    <a:off x="2167" y="2674"/>
                    <a:ext cx="34" cy="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112"/>
                  <p:cNvSpPr>
                    <a:spLocks noChangeShapeType="1"/>
                  </p:cNvSpPr>
                  <p:nvPr/>
                </p:nvSpPr>
                <p:spPr bwMode="auto">
                  <a:xfrm>
                    <a:off x="1880" y="2830"/>
                    <a:ext cx="2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113"/>
                  <p:cNvSpPr/>
                  <p:nvPr/>
                </p:nvSpPr>
                <p:spPr bwMode="auto">
                  <a:xfrm>
                    <a:off x="1874" y="2670"/>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Freeform 114"/>
                  <p:cNvSpPr/>
                  <p:nvPr/>
                </p:nvSpPr>
                <p:spPr bwMode="auto">
                  <a:xfrm flipV="1">
                    <a:off x="1874" y="2884"/>
                    <a:ext cx="264" cy="105"/>
                  </a:xfrm>
                  <a:custGeom>
                    <a:avLst/>
                    <a:gdLst>
                      <a:gd name="T0" fmla="*/ 0 w 264"/>
                      <a:gd name="T1" fmla="*/ 0 h 105"/>
                      <a:gd name="T2" fmla="*/ 52 w 264"/>
                      <a:gd name="T3" fmla="*/ 0 h 105"/>
                      <a:gd name="T4" fmla="*/ 207 w 264"/>
                      <a:gd name="T5" fmla="*/ 105 h 105"/>
                      <a:gd name="T6" fmla="*/ 264 w 264"/>
                      <a:gd name="T7" fmla="*/ 105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2" name="Group 118"/>
                <p:cNvGrpSpPr/>
                <p:nvPr/>
              </p:nvGrpSpPr>
              <p:grpSpPr bwMode="auto">
                <a:xfrm>
                  <a:off x="4980536" y="1304925"/>
                  <a:ext cx="796925" cy="658813"/>
                  <a:chOff x="1671" y="1861"/>
                  <a:chExt cx="502" cy="415"/>
                </a:xfrm>
              </p:grpSpPr>
              <p:sp>
                <p:nvSpPr>
                  <p:cNvPr id="113" name="Rectangle 116"/>
                  <p:cNvSpPr>
                    <a:spLocks noChangeArrowheads="1"/>
                  </p:cNvSpPr>
                  <p:nvPr/>
                </p:nvSpPr>
                <p:spPr bwMode="auto">
                  <a:xfrm>
                    <a:off x="1742" y="1966"/>
                    <a:ext cx="360" cy="31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4" name="AutoShape 117"/>
                  <p:cNvSpPr>
                    <a:spLocks noChangeArrowheads="1"/>
                  </p:cNvSpPr>
                  <p:nvPr/>
                </p:nvSpPr>
                <p:spPr bwMode="auto">
                  <a:xfrm>
                    <a:off x="1671" y="1861"/>
                    <a:ext cx="502" cy="129"/>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nvGrpSpPr>
                <p:cNvPr id="126" name="Group 94"/>
                <p:cNvGrpSpPr/>
                <p:nvPr/>
              </p:nvGrpSpPr>
              <p:grpSpPr bwMode="auto">
                <a:xfrm>
                  <a:off x="3677198" y="2195513"/>
                  <a:ext cx="614363" cy="220662"/>
                  <a:chOff x="322" y="890"/>
                  <a:chExt cx="872" cy="339"/>
                </a:xfrm>
              </p:grpSpPr>
              <p:sp>
                <p:nvSpPr>
                  <p:cNvPr id="127" name="Rectangle 95"/>
                  <p:cNvSpPr>
                    <a:spLocks noChangeArrowheads="1"/>
                  </p:cNvSpPr>
                  <p:nvPr/>
                </p:nvSpPr>
                <p:spPr bwMode="auto">
                  <a:xfrm>
                    <a:off x="322" y="1005"/>
                    <a:ext cx="872" cy="224"/>
                  </a:xfrm>
                  <a:prstGeom prst="rect">
                    <a:avLst/>
                  </a:prstGeom>
                  <a:solidFill>
                    <a:schemeClr val="bg1">
                      <a:lumMod val="7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8" name="Rectangle 96"/>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9" name="Rectangle 97"/>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0" name="Rectangle 98"/>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1" name="Rectangle 99"/>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2" name="AutoShape 100"/>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8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4" name="Rectangle 103"/>
                <p:cNvSpPr>
                  <a:spLocks noChangeArrowheads="1"/>
                </p:cNvSpPr>
                <p:nvPr/>
              </p:nvSpPr>
              <p:spPr bwMode="auto">
                <a:xfrm>
                  <a:off x="4531273" y="2246313"/>
                  <a:ext cx="166688" cy="144462"/>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5" name="Freeform 104"/>
                <p:cNvSpPr/>
                <p:nvPr/>
              </p:nvSpPr>
              <p:spPr bwMode="auto">
                <a:xfrm>
                  <a:off x="4007398" y="1801813"/>
                  <a:ext cx="604838" cy="434975"/>
                </a:xfrm>
                <a:custGeom>
                  <a:avLst/>
                  <a:gdLst>
                    <a:gd name="T0" fmla="*/ 2147483647 w 381"/>
                    <a:gd name="T1" fmla="*/ 2147483647 h 274"/>
                    <a:gd name="T2" fmla="*/ 2147483647 w 381"/>
                    <a:gd name="T3" fmla="*/ 2147483647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36" name="Object 3"/>
                <p:cNvGraphicFramePr>
                  <a:graphicFrameLocks noChangeAspect="1"/>
                </p:cNvGraphicFramePr>
                <p:nvPr/>
              </p:nvGraphicFramePr>
              <p:xfrm>
                <a:off x="3667673" y="1598613"/>
                <a:ext cx="490538" cy="369887"/>
              </p:xfrm>
              <a:graphic>
                <a:graphicData uri="http://schemas.openxmlformats.org/presentationml/2006/ole">
                  <mc:AlternateContent xmlns:mc="http://schemas.openxmlformats.org/markup-compatibility/2006">
                    <mc:Choice xmlns:v="urn:schemas-microsoft-com:vml" Requires="v">
                      <p:oleObj spid="_x0000_s12346" name="Clip" r:id="rId4" imgW="9515475" imgH="6705600" progId="MS_ClipArt_Gallery.2">
                        <p:embed/>
                      </p:oleObj>
                    </mc:Choice>
                    <mc:Fallback>
                      <p:oleObj name="Clip" r:id="rId4" imgW="9515475" imgH="6705600" progId="MS_ClipArt_Gallery.2">
                        <p:embed/>
                        <p:pic>
                          <p:nvPicPr>
                            <p:cNvPr id="13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7673" y="1598613"/>
                              <a:ext cx="49053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8" name="AutoShape 131"/>
                <p:cNvSpPr>
                  <a:spLocks noChangeArrowheads="1"/>
                </p:cNvSpPr>
                <p:nvPr/>
              </p:nvSpPr>
              <p:spPr bwMode="auto">
                <a:xfrm>
                  <a:off x="6042573" y="1646238"/>
                  <a:ext cx="1206500" cy="261937"/>
                </a:xfrm>
                <a:prstGeom prst="triangle">
                  <a:avLst>
                    <a:gd name="adj" fmla="val 50000"/>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42" name="Group 141"/>
                <p:cNvGrpSpPr/>
                <p:nvPr/>
              </p:nvGrpSpPr>
              <p:grpSpPr bwMode="auto">
                <a:xfrm>
                  <a:off x="2740573" y="1985963"/>
                  <a:ext cx="642938" cy="644525"/>
                  <a:chOff x="-44" y="1473"/>
                  <a:chExt cx="981" cy="1105"/>
                </a:xfrm>
              </p:grpSpPr>
              <p:pic>
                <p:nvPicPr>
                  <p:cNvPr id="143" name="Picture 142" descr="desktop_computer_stylized_medium"/>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Freeform 143"/>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99" name="Line 16"/>
                <p:cNvSpPr>
                  <a:spLocks noChangeShapeType="1"/>
                </p:cNvSpPr>
                <p:nvPr/>
              </p:nvSpPr>
              <p:spPr bwMode="auto">
                <a:xfrm>
                  <a:off x="7384011" y="1897063"/>
                  <a:ext cx="469236" cy="26566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14"/>
                <p:cNvSpPr>
                  <a:spLocks noChangeShapeType="1"/>
                </p:cNvSpPr>
                <p:nvPr/>
              </p:nvSpPr>
              <p:spPr bwMode="auto">
                <a:xfrm flipV="1">
                  <a:off x="4288386" y="2306638"/>
                  <a:ext cx="193833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Freeform 123"/>
                <p:cNvSpPr/>
                <p:nvPr/>
              </p:nvSpPr>
              <p:spPr bwMode="auto">
                <a:xfrm>
                  <a:off x="6612486" y="2327275"/>
                  <a:ext cx="463550" cy="1009650"/>
                </a:xfrm>
                <a:custGeom>
                  <a:avLst/>
                  <a:gdLst>
                    <a:gd name="T0" fmla="*/ 0 w 292"/>
                    <a:gd name="T1" fmla="*/ 0 h 636"/>
                    <a:gd name="T2" fmla="*/ 2147483647 w 292"/>
                    <a:gd name="T3" fmla="*/ 0 h 636"/>
                    <a:gd name="T4" fmla="*/ 2147483647 w 292"/>
                    <a:gd name="T5" fmla="*/ 2147483647 h 636"/>
                    <a:gd name="T6" fmla="*/ 2147483647 w 292"/>
                    <a:gd name="T7" fmla="*/ 2147483647 h 636"/>
                    <a:gd name="T8" fmla="*/ 0 60000 65536"/>
                    <a:gd name="T9" fmla="*/ 0 60000 65536"/>
                    <a:gd name="T10" fmla="*/ 0 60000 65536"/>
                    <a:gd name="T11" fmla="*/ 0 60000 65536"/>
                    <a:gd name="T12" fmla="*/ 0 w 292"/>
                    <a:gd name="T13" fmla="*/ 0 h 636"/>
                    <a:gd name="T14" fmla="*/ 292 w 292"/>
                    <a:gd name="T15" fmla="*/ 636 h 636"/>
                  </a:gdLst>
                  <a:ahLst/>
                  <a:cxnLst>
                    <a:cxn ang="T8">
                      <a:pos x="T0" y="T1"/>
                    </a:cxn>
                    <a:cxn ang="T9">
                      <a:pos x="T2" y="T3"/>
                    </a:cxn>
                    <a:cxn ang="T10">
                      <a:pos x="T4" y="T5"/>
                    </a:cxn>
                    <a:cxn ang="T11">
                      <a:pos x="T6" y="T7"/>
                    </a:cxn>
                  </a:cxnLst>
                  <a:rect l="T12" t="T13" r="T14" b="T15"/>
                  <a:pathLst>
                    <a:path w="292" h="636">
                      <a:moveTo>
                        <a:pt x="0" y="0"/>
                      </a:moveTo>
                      <a:lnTo>
                        <a:pt x="130" y="0"/>
                      </a:lnTo>
                      <a:lnTo>
                        <a:pt x="130" y="636"/>
                      </a:lnTo>
                      <a:lnTo>
                        <a:pt x="292" y="636"/>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Line 7"/>
                <p:cNvSpPr>
                  <a:spLocks noChangeShapeType="1"/>
                </p:cNvSpPr>
                <p:nvPr/>
              </p:nvSpPr>
              <p:spPr bwMode="auto">
                <a:xfrm flipV="1">
                  <a:off x="3321598" y="2308225"/>
                  <a:ext cx="365125"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7" name="Line 130"/>
                <p:cNvSpPr>
                  <a:spLocks noChangeShapeType="1"/>
                </p:cNvSpPr>
                <p:nvPr/>
              </p:nvSpPr>
              <p:spPr bwMode="auto">
                <a:xfrm flipH="1">
                  <a:off x="4294736" y="2308225"/>
                  <a:ext cx="23971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Oval 12"/>
                <p:cNvSpPr>
                  <a:spLocks noChangeArrowheads="1"/>
                </p:cNvSpPr>
                <p:nvPr/>
              </p:nvSpPr>
              <p:spPr bwMode="auto">
                <a:xfrm>
                  <a:off x="7283998" y="1779588"/>
                  <a:ext cx="193675" cy="193675"/>
                </a:xfrm>
                <a:prstGeom prst="ellipse">
                  <a:avLst/>
                </a:prstGeom>
                <a:solidFill>
                  <a:schemeClr val="tx1"/>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98" name="Line 15"/>
                <p:cNvSpPr>
                  <a:spLocks noChangeShapeType="1"/>
                </p:cNvSpPr>
                <p:nvPr/>
              </p:nvSpPr>
              <p:spPr bwMode="auto">
                <a:xfrm flipV="1">
                  <a:off x="6990311" y="1920875"/>
                  <a:ext cx="317500" cy="3365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8" name="Group 135"/>
                <p:cNvGrpSpPr/>
                <p:nvPr/>
              </p:nvGrpSpPr>
              <p:grpSpPr bwMode="auto">
                <a:xfrm>
                  <a:off x="2330998" y="2384425"/>
                  <a:ext cx="3162300" cy="1281113"/>
                  <a:chOff x="462" y="1538"/>
                  <a:chExt cx="1992" cy="807"/>
                </a:xfrm>
              </p:grpSpPr>
              <p:sp>
                <p:nvSpPr>
                  <p:cNvPr id="119" name="Text Box 124"/>
                  <p:cNvSpPr txBox="1">
                    <a:spLocks noChangeArrowheads="1"/>
                  </p:cNvSpPr>
                  <p:nvPr/>
                </p:nvSpPr>
                <p:spPr bwMode="auto">
                  <a:xfrm>
                    <a:off x="462" y="2094"/>
                    <a:ext cx="174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0" algn="ctr">
                      <a:lnSpc>
                        <a:spcPct val="85000"/>
                      </a:lnSpc>
                      <a:defRPr/>
                    </a:pPr>
                    <a:r>
                      <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语音、数据在不同频率</a:t>
                    </a:r>
                    <a:r>
                      <a:rPr lang="zh-CN" altLang="en-US" sz="2000" dirty="0">
                        <a:solidFill>
                          <a:prstClr val="black"/>
                        </a:solidFill>
                        <a:latin typeface="微软雅黑" panose="020B0503020204020204" pitchFamily="34" charset="-122"/>
                        <a:ea typeface="微软雅黑" panose="020B0503020204020204" pitchFamily="34" charset="-122"/>
                      </a:rPr>
                      <a:t>下传输</a:t>
                    </a:r>
                    <a:endPar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0" name="Line 125"/>
                  <p:cNvSpPr>
                    <a:spLocks noChangeShapeType="1"/>
                  </p:cNvSpPr>
                  <p:nvPr/>
                </p:nvSpPr>
                <p:spPr bwMode="auto">
                  <a:xfrm flipV="1">
                    <a:off x="2093" y="1538"/>
                    <a:ext cx="361" cy="584"/>
                  </a:xfrm>
                  <a:prstGeom prst="line">
                    <a:avLst/>
                  </a:prstGeom>
                  <a:noFill/>
                  <a:ln w="9525">
                    <a:solidFill>
                      <a:srgbClr val="CC0000"/>
                    </a:solidFill>
                    <a:round/>
                    <a:headEnd type="none" w="med" len="me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11" name="Text Box 115"/>
                <p:cNvSpPr txBox="1">
                  <a:spLocks noChangeArrowheads="1"/>
                </p:cNvSpPr>
                <p:nvPr/>
              </p:nvSpPr>
              <p:spPr bwMode="auto">
                <a:xfrm>
                  <a:off x="5491827" y="2558769"/>
                  <a:ext cx="1462693" cy="7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8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数字用户线接入复用器</a:t>
                  </a:r>
                  <a:r>
                    <a:rPr lang="en-US" altLang="zh-CN" sz="18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DSLAM</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3" name="Text Box 17"/>
                <p:cNvSpPr txBox="1">
                  <a:spLocks noChangeArrowheads="1"/>
                </p:cNvSpPr>
                <p:nvPr/>
              </p:nvSpPr>
              <p:spPr bwMode="auto">
                <a:xfrm>
                  <a:off x="7514683" y="1655142"/>
                  <a:ext cx="119888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电话网络</a:t>
                  </a:r>
                </a:p>
              </p:txBody>
            </p:sp>
            <p:sp>
              <p:nvSpPr>
                <p:cNvPr id="7" name="Oval 12"/>
                <p:cNvSpPr>
                  <a:spLocks noChangeArrowheads="1"/>
                </p:cNvSpPr>
                <p:nvPr/>
              </p:nvSpPr>
              <p:spPr bwMode="auto">
                <a:xfrm>
                  <a:off x="6806478" y="2198053"/>
                  <a:ext cx="193675" cy="193675"/>
                </a:xfrm>
                <a:prstGeom prst="ellipse">
                  <a:avLst/>
                </a:prstGeom>
                <a:solidFill>
                  <a:schemeClr val="tx1"/>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614" name="Text Box 39"/>
                <p:cNvSpPr txBox="1">
                  <a:spLocks noChangeArrowheads="1"/>
                </p:cNvSpPr>
                <p:nvPr/>
              </p:nvSpPr>
              <p:spPr bwMode="auto">
                <a:xfrm>
                  <a:off x="3110230" y="2505960"/>
                  <a:ext cx="1605915" cy="7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电缆</a:t>
                  </a:r>
                </a:p>
                <a:p>
                  <a:pPr marL="0" marR="0" lvl="0" indent="0" algn="ctr" defTabSz="914400" rtl="0" eaLnBrk="1" fontAlgn="auto" latinLnBrk="0" hangingPunct="1">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调制解调器</a:t>
                  </a:r>
                </a:p>
              </p:txBody>
            </p:sp>
            <p:sp>
              <p:nvSpPr>
                <p:cNvPr id="217" name="Text Box 41"/>
                <p:cNvSpPr txBox="1">
                  <a:spLocks noChangeArrowheads="1"/>
                </p:cNvSpPr>
                <p:nvPr/>
              </p:nvSpPr>
              <p:spPr bwMode="auto">
                <a:xfrm>
                  <a:off x="4158615" y="2424430"/>
                  <a:ext cx="104457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分路器</a:t>
                  </a:r>
                </a:p>
              </p:txBody>
            </p:sp>
          </p:grpSp>
        </p:grpSp>
        <p:sp>
          <p:nvSpPr>
            <p:cNvPr id="141" name="Text Box 133"/>
            <p:cNvSpPr txBox="1">
              <a:spLocks noChangeArrowheads="1"/>
            </p:cNvSpPr>
            <p:nvPr/>
          </p:nvSpPr>
          <p:spPr bwMode="auto">
            <a:xfrm>
              <a:off x="5730583" y="1353015"/>
              <a:ext cx="836389" cy="634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auto" latinLnBrk="0" hangingPunct="1">
                <a:lnSpc>
                  <a:spcPct val="85000"/>
                </a:lnSpc>
                <a:spcBef>
                  <a:spcPts val="0"/>
                </a:spcBef>
                <a:spcAft>
                  <a:spcPts val="0"/>
                </a:spcAft>
                <a:buClrTx/>
                <a:buSzTx/>
                <a:buFontTx/>
                <a:buNone/>
                <a:defRPr/>
              </a:pPr>
              <a:r>
                <a:rPr kumimoji="0" lang="zh-CN"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DSL接入</a:t>
              </a:r>
            </a:p>
            <a:p>
              <a:pPr marL="0" marR="0" lvl="0" indent="0" algn="r" defTabSz="914400" rtl="0" eaLnBrk="1" fontAlgn="auto" latinLnBrk="0" hangingPunct="1">
                <a:lnSpc>
                  <a:spcPct val="85000"/>
                </a:lnSpc>
                <a:spcBef>
                  <a:spcPts val="0"/>
                </a:spcBef>
                <a:spcAft>
                  <a:spcPts val="0"/>
                </a:spcAft>
                <a:buClrTx/>
                <a:buSzTx/>
                <a:buFontTx/>
                <a:buNone/>
                <a:defRPr/>
              </a:pPr>
              <a:r>
                <a:rPr kumimoji="0" lang="zh-CN"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多路复用</a:t>
              </a:r>
            </a:p>
          </p:txBody>
        </p:sp>
      </p:grpSp>
      <p:sp>
        <p:nvSpPr>
          <p:cNvPr id="11" name="矩形 10">
            <a:extLst>
              <a:ext uri="{FF2B5EF4-FFF2-40B4-BE49-F238E27FC236}">
                <a16:creationId xmlns:a16="http://schemas.microsoft.com/office/drawing/2014/main" id="{BA0FF1C8-016D-B346-8543-94EDB3508E8B}"/>
              </a:ext>
            </a:extLst>
          </p:cNvPr>
          <p:cNvSpPr/>
          <p:nvPr/>
        </p:nvSpPr>
        <p:spPr>
          <a:xfrm>
            <a:off x="7353531" y="2801467"/>
            <a:ext cx="3477234" cy="830997"/>
          </a:xfrm>
          <a:prstGeom prst="rect">
            <a:avLst/>
          </a:prstGeom>
          <a:ln>
            <a:solidFill>
              <a:srgbClr val="C00000"/>
            </a:solidFill>
          </a:ln>
        </p:spPr>
        <p:txBody>
          <a:bodyPr wrap="none">
            <a:spAutoFit/>
          </a:bodyPr>
          <a:lstStyle/>
          <a:p>
            <a:pPr algn="ctr"/>
            <a:r>
              <a:rPr lang="zh-CN" altLang="en-US" sz="2400" dirty="0">
                <a:solidFill>
                  <a:prstClr val="black"/>
                </a:solidFill>
                <a:latin typeface="微软雅黑" panose="020B0503020204020204" pitchFamily="34" charset="-122"/>
                <a:ea typeface="微软雅黑" panose="020B0503020204020204" pitchFamily="34" charset="-122"/>
              </a:rPr>
              <a:t>我国已广泛升级为</a:t>
            </a:r>
            <a:r>
              <a:rPr lang="en-US" altLang="zh-CN" sz="2400" dirty="0">
                <a:solidFill>
                  <a:prstClr val="black"/>
                </a:solidFill>
                <a:latin typeface="微软雅黑" panose="020B0503020204020204" pitchFamily="34" charset="-122"/>
                <a:ea typeface="微软雅黑" panose="020B0503020204020204" pitchFamily="34" charset="-122"/>
              </a:rPr>
              <a:t>FTTH</a:t>
            </a:r>
          </a:p>
          <a:p>
            <a:pPr algn="ctr"/>
            <a:r>
              <a:rPr lang="zh-CN" altLang="en-US" sz="2400" dirty="0">
                <a:solidFill>
                  <a:prstClr val="black"/>
                </a:solidFill>
                <a:latin typeface="微软雅黑" panose="020B0503020204020204" pitchFamily="34" charset="-122"/>
                <a:ea typeface="微软雅黑" panose="020B0503020204020204" pitchFamily="34" charset="-122"/>
              </a:rPr>
              <a:t>国外依然大量使用</a:t>
            </a:r>
            <a:r>
              <a:rPr lang="en-US" altLang="zh-CN" sz="2400" dirty="0">
                <a:solidFill>
                  <a:prstClr val="black"/>
                </a:solidFill>
                <a:latin typeface="微软雅黑" panose="020B0503020204020204" pitchFamily="34" charset="-122"/>
                <a:ea typeface="微软雅黑" panose="020B0503020204020204" pitchFamily="34" charset="-122"/>
              </a:rPr>
              <a:t>DSL</a:t>
            </a:r>
            <a:r>
              <a:rPr lang="en-US" altLang="zh-CN" sz="2400" dirty="0">
                <a:solidFill>
                  <a:prstClr val="black"/>
                </a:solidFill>
                <a:latin typeface="微软雅黑" panose="020B0503020204020204" pitchFamily="34" charset="-122"/>
                <a:ea typeface="微软雅黑" panose="020B0503020204020204" pitchFamily="34" charset="-122"/>
                <a:sym typeface="Wingdings" pitchFamily="2" charset="2"/>
              </a:rPr>
              <a:t></a:t>
            </a:r>
            <a:endParaRPr lang="zh-CN" altLang="en-US" dirty="0"/>
          </a:p>
        </p:txBody>
      </p:sp>
      <p:sp>
        <p:nvSpPr>
          <p:cNvPr id="116" name="Text Box 17">
            <a:extLst>
              <a:ext uri="{FF2B5EF4-FFF2-40B4-BE49-F238E27FC236}">
                <a16:creationId xmlns:a16="http://schemas.microsoft.com/office/drawing/2014/main" id="{5EF686A9-4D54-7149-90B5-C1D3D41FEDEC}"/>
              </a:ext>
            </a:extLst>
          </p:cNvPr>
          <p:cNvSpPr txBox="1">
            <a:spLocks noChangeArrowheads="1"/>
          </p:cNvSpPr>
          <p:nvPr/>
        </p:nvSpPr>
        <p:spPr bwMode="auto">
          <a:xfrm>
            <a:off x="9222314" y="5458989"/>
            <a:ext cx="121058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5000"/>
              </a:lnSpc>
              <a:spcBef>
                <a:spcPts val="0"/>
              </a:spcBef>
              <a:spcAft>
                <a:spcPts val="0"/>
              </a:spcAft>
              <a:buClrTx/>
              <a:buSzTx/>
              <a:buFontTx/>
              <a:buNone/>
              <a:defRPr/>
            </a:pPr>
            <a:r>
              <a:rPr lang="zh-CN" altLang="en-US" sz="2000" dirty="0">
                <a:solidFill>
                  <a:prstClr val="black"/>
                </a:solidFill>
                <a:latin typeface="微软雅黑" panose="020B0503020204020204" pitchFamily="34" charset="-122"/>
                <a:ea typeface="微软雅黑" panose="020B0503020204020204" pitchFamily="34" charset="-122"/>
              </a:rPr>
              <a:t>数据</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a:t>
            </a:r>
          </a:p>
        </p:txBody>
      </p:sp>
      <p:sp>
        <p:nvSpPr>
          <p:cNvPr id="3" name="灯片编号占位符 2">
            <a:extLst>
              <a:ext uri="{FF2B5EF4-FFF2-40B4-BE49-F238E27FC236}">
                <a16:creationId xmlns:a16="http://schemas.microsoft.com/office/drawing/2014/main" id="{59A2F576-3409-4F43-B318-5F042FC39A10}"/>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101" name="文本框 100">
            <a:extLst>
              <a:ext uri="{FF2B5EF4-FFF2-40B4-BE49-F238E27FC236}">
                <a16:creationId xmlns:a16="http://schemas.microsoft.com/office/drawing/2014/main" id="{2F078001-48A8-C34D-9B4F-18190735FF0E}"/>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网络分类：接入网</a:t>
            </a:r>
          </a:p>
        </p:txBody>
      </p:sp>
    </p:spTree>
    <p:extLst>
      <p:ext uri="{BB962C8B-B14F-4D97-AF65-F5344CB8AC3E}">
        <p14:creationId xmlns:p14="http://schemas.microsoft.com/office/powerpoint/2010/main" val="165376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接入网：</a:t>
            </a:r>
            <a:r>
              <a:rPr lang="zh-CN" altLang="en-US" dirty="0"/>
              <a:t>同轴</a:t>
            </a:r>
            <a:r>
              <a:rPr lang="zh-CN" altLang="en-US" dirty="0">
                <a:sym typeface="+mn-ea"/>
              </a:rPr>
              <a:t>电缆</a:t>
            </a:r>
            <a:endParaRPr lang="zh-CN" altLang="en-US" dirty="0"/>
          </a:p>
        </p:txBody>
      </p:sp>
      <p:sp>
        <p:nvSpPr>
          <p:cNvPr id="3" name="内容占位符 2"/>
          <p:cNvSpPr>
            <a:spLocks noGrp="1"/>
          </p:cNvSpPr>
          <p:nvPr>
            <p:ph idx="1"/>
          </p:nvPr>
        </p:nvSpPr>
        <p:spPr>
          <a:xfrm>
            <a:off x="852507" y="1307122"/>
            <a:ext cx="10515600" cy="2549292"/>
          </a:xfrm>
        </p:spPr>
        <p:txBody>
          <a:bodyPr>
            <a:noAutofit/>
          </a:bodyPr>
          <a:lstStyle/>
          <a:p>
            <a:pPr>
              <a:spcBef>
                <a:spcPts val="300"/>
              </a:spcBef>
            </a:pPr>
            <a:r>
              <a:rPr lang="zh-CN" altLang="en-US" sz="2400" dirty="0"/>
              <a:t>同轴</a:t>
            </a:r>
            <a:r>
              <a:rPr lang="zh-CN" altLang="en-US" sz="2400" dirty="0">
                <a:sym typeface="+mn-ea"/>
              </a:rPr>
              <a:t>电缆：</a:t>
            </a:r>
            <a:r>
              <a:rPr lang="en-US" altLang="zh-CN" sz="2400" dirty="0">
                <a:sym typeface="+mn-ea"/>
              </a:rPr>
              <a:t>Cable</a:t>
            </a:r>
            <a:endParaRPr lang="zh-CN" altLang="en-US" sz="2400" dirty="0"/>
          </a:p>
          <a:p>
            <a:pPr lvl="1">
              <a:spcBef>
                <a:spcPts val="300"/>
              </a:spcBef>
            </a:pPr>
            <a:r>
              <a:rPr lang="zh-CN" altLang="en-US" sz="2000" dirty="0"/>
              <a:t>家庭利用传统</a:t>
            </a:r>
            <a:r>
              <a:rPr lang="zh-CN" altLang="en-US" sz="2000" dirty="0">
                <a:solidFill>
                  <a:srgbClr val="C00000"/>
                </a:solidFill>
              </a:rPr>
              <a:t>有线电视信号线</a:t>
            </a:r>
            <a:r>
              <a:rPr lang="zh-CN" altLang="en-US" sz="2000" dirty="0"/>
              <a:t>（同轴电缆）接入头端上网</a:t>
            </a:r>
          </a:p>
          <a:p>
            <a:pPr lvl="1">
              <a:spcBef>
                <a:spcPts val="300"/>
              </a:spcBef>
            </a:pPr>
            <a:r>
              <a:rPr lang="zh-CN" altLang="en-US" sz="2000" dirty="0"/>
              <a:t>多个家庭共享有线电视的头端</a:t>
            </a:r>
            <a:endParaRPr lang="en-US" altLang="zh-CN" sz="2000" dirty="0"/>
          </a:p>
          <a:p>
            <a:pPr lvl="1">
              <a:spcBef>
                <a:spcPts val="300"/>
              </a:spcBef>
            </a:pPr>
            <a:r>
              <a:rPr lang="zh-CN" altLang="en-US" sz="2000" dirty="0"/>
              <a:t>不对称：高达40 Mbps–1.2 Gbps下行传输速率，</a:t>
            </a:r>
            <a:br>
              <a:rPr lang="en-US" altLang="zh-CN" sz="2000" dirty="0"/>
            </a:br>
            <a:r>
              <a:rPr lang="zh-CN" altLang="en-US" sz="2000" dirty="0"/>
              <a:t>30-100 Mbps上行传输速率</a:t>
            </a:r>
            <a:endParaRPr lang="en-US" altLang="zh-CN" sz="2000" dirty="0"/>
          </a:p>
          <a:p>
            <a:pPr>
              <a:spcBef>
                <a:spcPts val="300"/>
              </a:spcBef>
            </a:pPr>
            <a:r>
              <a:rPr lang="zh-CN" altLang="en-US" sz="2400" dirty="0"/>
              <a:t>混合光纤同轴电缆</a:t>
            </a:r>
            <a:r>
              <a:rPr lang="en-US" altLang="zh-CN" sz="2400" dirty="0"/>
              <a:t>HFC</a:t>
            </a:r>
          </a:p>
          <a:p>
            <a:pPr lvl="1">
              <a:spcBef>
                <a:spcPts val="300"/>
              </a:spcBef>
            </a:pPr>
            <a:r>
              <a:rPr lang="zh-CN" altLang="en-US" sz="2000" dirty="0"/>
              <a:t>先用同轴电缆接入光纤节点，再用光纤连接到头端</a:t>
            </a:r>
          </a:p>
          <a:p>
            <a:pPr lvl="1">
              <a:spcBef>
                <a:spcPts val="300"/>
              </a:spcBef>
            </a:pPr>
            <a:endParaRPr lang="zh-CN" altLang="en-US" sz="2000" dirty="0"/>
          </a:p>
        </p:txBody>
      </p:sp>
      <p:grpSp>
        <p:nvGrpSpPr>
          <p:cNvPr id="6" name="组合 5">
            <a:extLst>
              <a:ext uri="{FF2B5EF4-FFF2-40B4-BE49-F238E27FC236}">
                <a16:creationId xmlns:a16="http://schemas.microsoft.com/office/drawing/2014/main" id="{AA6426A1-C91C-5540-BD4C-F23C1E4AA1DC}"/>
              </a:ext>
            </a:extLst>
          </p:cNvPr>
          <p:cNvGrpSpPr/>
          <p:nvPr/>
        </p:nvGrpSpPr>
        <p:grpSpPr>
          <a:xfrm>
            <a:off x="1180200" y="3908425"/>
            <a:ext cx="9776216" cy="2813050"/>
            <a:chOff x="1278391" y="1275336"/>
            <a:chExt cx="9776216" cy="2813050"/>
          </a:xfrm>
        </p:grpSpPr>
        <p:sp>
          <p:nvSpPr>
            <p:cNvPr id="64" name="AutoShape 72"/>
            <p:cNvSpPr>
              <a:spLocks noChangeArrowheads="1"/>
            </p:cNvSpPr>
            <p:nvPr/>
          </p:nvSpPr>
          <p:spPr bwMode="auto">
            <a:xfrm>
              <a:off x="1870447" y="1275336"/>
              <a:ext cx="2268538" cy="468312"/>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50" name="Text Box 45"/>
            <p:cNvSpPr txBox="1">
              <a:spLocks noChangeArrowheads="1"/>
            </p:cNvSpPr>
            <p:nvPr/>
          </p:nvSpPr>
          <p:spPr bwMode="auto">
            <a:xfrm>
              <a:off x="8510797" y="2170739"/>
              <a:ext cx="254381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有线电视数据转发器</a:t>
              </a:r>
              <a:b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algn="ctr">
                <a:lnSpc>
                  <a:spcPct val="80000"/>
                </a:lnSpc>
                <a:defRPr/>
              </a:pPr>
              <a:r>
                <a:rPr lang="en-US" altLang="en-US" sz="1800" dirty="0" err="1">
                  <a:solidFill>
                    <a:prstClr val="black"/>
                  </a:solidFill>
                  <a:latin typeface="微软雅黑" panose="020B0503020204020204" pitchFamily="34" charset="-122"/>
                  <a:ea typeface="微软雅黑" panose="020B0503020204020204" pitchFamily="34" charset="-122"/>
                </a:rPr>
                <a:t>电缆调制解调器</a:t>
              </a:r>
              <a:endParaRPr lang="en-US" altLang="en-US" sz="1800" dirty="0">
                <a:solidFill>
                  <a:prstClr val="black"/>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BB984948-55C6-5D47-96B6-CA37E04EC3EE}"/>
                </a:ext>
              </a:extLst>
            </p:cNvPr>
            <p:cNvGrpSpPr/>
            <p:nvPr/>
          </p:nvGrpSpPr>
          <p:grpSpPr>
            <a:xfrm>
              <a:off x="1278391" y="1426783"/>
              <a:ext cx="9202494" cy="2661603"/>
              <a:chOff x="1278391" y="1426783"/>
              <a:chExt cx="9202494" cy="2661603"/>
            </a:xfrm>
          </p:grpSpPr>
          <p:sp>
            <p:nvSpPr>
              <p:cNvPr id="209" name="Rectangle 60"/>
              <p:cNvSpPr>
                <a:spLocks noChangeArrowheads="1"/>
              </p:cNvSpPr>
              <p:nvPr/>
            </p:nvSpPr>
            <p:spPr bwMode="auto">
              <a:xfrm>
                <a:off x="2074282" y="1699198"/>
                <a:ext cx="1793875" cy="925513"/>
              </a:xfrm>
              <a:prstGeom prst="rect">
                <a:avLst/>
              </a:prstGeom>
              <a:solidFill>
                <a:srgbClr val="DDDDDD"/>
              </a:solidFill>
              <a:ln>
                <a:noFill/>
              </a:ln>
              <a:effectLst>
                <a:outerShdw blurRad="50800" dist="50800" dir="5400000" algn="ctr" rotWithShape="0">
                  <a:srgbClr val="000000">
                    <a:alpha val="10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57" name="Group 64"/>
              <p:cNvGrpSpPr/>
              <p:nvPr/>
            </p:nvGrpSpPr>
            <p:grpSpPr bwMode="auto">
              <a:xfrm>
                <a:off x="2744842" y="2113536"/>
                <a:ext cx="614363" cy="220662"/>
                <a:chOff x="322" y="890"/>
                <a:chExt cx="872" cy="339"/>
              </a:xfrm>
            </p:grpSpPr>
            <p:sp>
              <p:nvSpPr>
                <p:cNvPr id="58" name="Rectangle 65"/>
                <p:cNvSpPr>
                  <a:spLocks noChangeArrowheads="1"/>
                </p:cNvSpPr>
                <p:nvPr/>
              </p:nvSpPr>
              <p:spPr bwMode="auto">
                <a:xfrm>
                  <a:off x="322" y="1005"/>
                  <a:ext cx="872" cy="224"/>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59" name="Rectangle 66"/>
                <p:cNvSpPr>
                  <a:spLocks noChangeArrowheads="1"/>
                </p:cNvSpPr>
                <p:nvPr/>
              </p:nvSpPr>
              <p:spPr bwMode="auto">
                <a:xfrm>
                  <a:off x="394" y="1073"/>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0" name="Rectangle 67"/>
                <p:cNvSpPr>
                  <a:spLocks noChangeArrowheads="1"/>
                </p:cNvSpPr>
                <p:nvPr/>
              </p:nvSpPr>
              <p:spPr bwMode="auto">
                <a:xfrm>
                  <a:off x="466" y="1073"/>
                  <a:ext cx="56"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1" name="Rectangle 68"/>
                <p:cNvSpPr>
                  <a:spLocks noChangeArrowheads="1"/>
                </p:cNvSpPr>
                <p:nvPr/>
              </p:nvSpPr>
              <p:spPr bwMode="auto">
                <a:xfrm>
                  <a:off x="541"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2" name="Rectangle 69"/>
                <p:cNvSpPr>
                  <a:spLocks noChangeArrowheads="1"/>
                </p:cNvSpPr>
                <p:nvPr/>
              </p:nvSpPr>
              <p:spPr bwMode="auto">
                <a:xfrm>
                  <a:off x="615" y="1070"/>
                  <a:ext cx="56"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3" name="AutoShape 70"/>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49" name="Rectangle 73"/>
              <p:cNvSpPr>
                <a:spLocks noChangeArrowheads="1"/>
              </p:cNvSpPr>
              <p:nvPr/>
            </p:nvSpPr>
            <p:spPr bwMode="auto">
              <a:xfrm>
                <a:off x="3475092" y="2175448"/>
                <a:ext cx="166688" cy="144463"/>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650" name="Freeform 74"/>
              <p:cNvSpPr/>
              <p:nvPr/>
            </p:nvSpPr>
            <p:spPr bwMode="auto">
              <a:xfrm>
                <a:off x="3084567" y="1730948"/>
                <a:ext cx="479425" cy="434975"/>
              </a:xfrm>
              <a:custGeom>
                <a:avLst/>
                <a:gdLst>
                  <a:gd name="T0" fmla="*/ 2147483647 w 381"/>
                  <a:gd name="T1" fmla="*/ 2147483647 h 274"/>
                  <a:gd name="T2" fmla="*/ 2147483647 w 381"/>
                  <a:gd name="T3" fmla="*/ 2147483647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 name="Picture 96" descr="tv"/>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685787" y="1426783"/>
                <a:ext cx="75565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 name="Group 117"/>
              <p:cNvGrpSpPr/>
              <p:nvPr/>
            </p:nvGrpSpPr>
            <p:grpSpPr bwMode="auto">
              <a:xfrm>
                <a:off x="4116442" y="1505523"/>
                <a:ext cx="850900" cy="527050"/>
                <a:chOff x="-490" y="1664"/>
                <a:chExt cx="1429" cy="842"/>
              </a:xfrm>
            </p:grpSpPr>
            <p:sp>
              <p:nvSpPr>
                <p:cNvPr id="67" name="AutoShape 111"/>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68" name="Group 116"/>
                <p:cNvGrpSpPr/>
                <p:nvPr/>
              </p:nvGrpSpPr>
              <p:grpSpPr bwMode="auto">
                <a:xfrm>
                  <a:off x="-427" y="1737"/>
                  <a:ext cx="1217" cy="769"/>
                  <a:chOff x="-427" y="1737"/>
                  <a:chExt cx="1217" cy="769"/>
                </a:xfrm>
              </p:grpSpPr>
              <p:sp>
                <p:nvSpPr>
                  <p:cNvPr id="69" name="Rectangle 99"/>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0"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1" name="Group 103"/>
                  <p:cNvGrpSpPr/>
                  <p:nvPr/>
                </p:nvGrpSpPr>
                <p:grpSpPr bwMode="auto">
                  <a:xfrm>
                    <a:off x="68" y="2192"/>
                    <a:ext cx="387" cy="139"/>
                    <a:chOff x="322" y="890"/>
                    <a:chExt cx="872" cy="339"/>
                  </a:xfrm>
                </p:grpSpPr>
                <p:sp>
                  <p:nvSpPr>
                    <p:cNvPr id="72" name="Rectangle 104"/>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3" name="Rectangle 105"/>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4" name="Rectangle 106"/>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5" name="Rectangle 107"/>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6" name="Rectangle 108"/>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77" name="AutoShape 109"/>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78" name="Picture 110" descr="desktop_computer_stylized_small"/>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Rectangle 112"/>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80" name="Freeform 113"/>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Line 114"/>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2" name="Picture 115" descr="tv"/>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83" name="Group 118"/>
              <p:cNvGrpSpPr/>
              <p:nvPr/>
            </p:nvGrpSpPr>
            <p:grpSpPr bwMode="auto">
              <a:xfrm>
                <a:off x="5029572" y="1499173"/>
                <a:ext cx="850900" cy="527050"/>
                <a:chOff x="-490" y="1664"/>
                <a:chExt cx="1429" cy="842"/>
              </a:xfrm>
            </p:grpSpPr>
            <p:sp>
              <p:nvSpPr>
                <p:cNvPr id="84" name="AutoShape 119"/>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85" name="Group 120"/>
                <p:cNvGrpSpPr/>
                <p:nvPr/>
              </p:nvGrpSpPr>
              <p:grpSpPr bwMode="auto">
                <a:xfrm>
                  <a:off x="-427" y="1737"/>
                  <a:ext cx="1217" cy="769"/>
                  <a:chOff x="-427" y="1737"/>
                  <a:chExt cx="1217" cy="769"/>
                </a:xfrm>
              </p:grpSpPr>
              <p:sp>
                <p:nvSpPr>
                  <p:cNvPr id="86" name="Rectangle 121"/>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87"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8" name="Group 123"/>
                  <p:cNvGrpSpPr/>
                  <p:nvPr/>
                </p:nvGrpSpPr>
                <p:grpSpPr bwMode="auto">
                  <a:xfrm>
                    <a:off x="68" y="2192"/>
                    <a:ext cx="387" cy="139"/>
                    <a:chOff x="322" y="890"/>
                    <a:chExt cx="872" cy="339"/>
                  </a:xfrm>
                </p:grpSpPr>
                <p:sp>
                  <p:nvSpPr>
                    <p:cNvPr id="89" name="Rectangle 124"/>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0" name="Rectangle 125"/>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1" name="Rectangle 126"/>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2" name="Rectangle 127"/>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3" name="Rectangle 128"/>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4" name="AutoShape 129"/>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95" name="Picture 130" descr="desktop_computer_stylized_small"/>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Rectangle 131"/>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97" name="Freeform 132"/>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133"/>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9" name="Picture 134" descr="tv"/>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00" name="Group 135"/>
              <p:cNvGrpSpPr/>
              <p:nvPr/>
            </p:nvGrpSpPr>
            <p:grpSpPr bwMode="auto">
              <a:xfrm>
                <a:off x="4203755" y="2345311"/>
                <a:ext cx="850900" cy="527050"/>
                <a:chOff x="-490" y="1664"/>
                <a:chExt cx="1429" cy="842"/>
              </a:xfrm>
            </p:grpSpPr>
            <p:sp>
              <p:nvSpPr>
                <p:cNvPr id="101" name="AutoShape 136"/>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02" name="Group 137"/>
                <p:cNvGrpSpPr/>
                <p:nvPr/>
              </p:nvGrpSpPr>
              <p:grpSpPr bwMode="auto">
                <a:xfrm>
                  <a:off x="-427" y="1737"/>
                  <a:ext cx="1217" cy="769"/>
                  <a:chOff x="-427" y="1737"/>
                  <a:chExt cx="1217" cy="769"/>
                </a:xfrm>
              </p:grpSpPr>
              <p:sp>
                <p:nvSpPr>
                  <p:cNvPr id="103" name="Rectangle 138"/>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4"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5" name="Group 140"/>
                  <p:cNvGrpSpPr/>
                  <p:nvPr/>
                </p:nvGrpSpPr>
                <p:grpSpPr bwMode="auto">
                  <a:xfrm>
                    <a:off x="68" y="2192"/>
                    <a:ext cx="387" cy="139"/>
                    <a:chOff x="322" y="890"/>
                    <a:chExt cx="872" cy="339"/>
                  </a:xfrm>
                </p:grpSpPr>
                <p:sp>
                  <p:nvSpPr>
                    <p:cNvPr id="106" name="Rectangle 141"/>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7" name="Rectangle 142"/>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8" name="Rectangle 143"/>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09" name="Rectangle 144"/>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0" name="Rectangle 145"/>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1" name="AutoShape 146"/>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12" name="Picture 147" descr="desktop_computer_stylized_small"/>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48"/>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14" name="Freeform 149"/>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 name="Line 150"/>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6" name="Picture 151" descr="tv"/>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17" name="Group 152"/>
              <p:cNvGrpSpPr/>
              <p:nvPr/>
            </p:nvGrpSpPr>
            <p:grpSpPr bwMode="auto">
              <a:xfrm>
                <a:off x="5070530" y="2354836"/>
                <a:ext cx="850900" cy="527050"/>
                <a:chOff x="-490" y="1664"/>
                <a:chExt cx="1429" cy="842"/>
              </a:xfrm>
            </p:grpSpPr>
            <p:sp>
              <p:nvSpPr>
                <p:cNvPr id="118" name="AutoShape 153"/>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19" name="Group 154"/>
                <p:cNvGrpSpPr/>
                <p:nvPr/>
              </p:nvGrpSpPr>
              <p:grpSpPr bwMode="auto">
                <a:xfrm>
                  <a:off x="-427" y="1737"/>
                  <a:ext cx="1217" cy="769"/>
                  <a:chOff x="-427" y="1737"/>
                  <a:chExt cx="1217" cy="769"/>
                </a:xfrm>
              </p:grpSpPr>
              <p:sp>
                <p:nvSpPr>
                  <p:cNvPr id="120" name="Rectangle 155"/>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1"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2" name="Group 157"/>
                  <p:cNvGrpSpPr/>
                  <p:nvPr/>
                </p:nvGrpSpPr>
                <p:grpSpPr bwMode="auto">
                  <a:xfrm>
                    <a:off x="68" y="2192"/>
                    <a:ext cx="387" cy="139"/>
                    <a:chOff x="322" y="890"/>
                    <a:chExt cx="872" cy="339"/>
                  </a:xfrm>
                </p:grpSpPr>
                <p:sp>
                  <p:nvSpPr>
                    <p:cNvPr id="123" name="Rectangle 158"/>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4" name="Rectangle 159"/>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5" name="Rectangle 160"/>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6" name="Rectangle 161"/>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7" name="Rectangle 162"/>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28" name="AutoShape 163"/>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29" name="Picture 164" descr="desktop_computer_stylized_small"/>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Rectangle 165"/>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1" name="Freeform 166"/>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Line 167"/>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3" name="Picture 168" descr="tv"/>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725" name="Line 169"/>
              <p:cNvSpPr>
                <a:spLocks noChangeShapeType="1"/>
              </p:cNvSpPr>
              <p:nvPr/>
            </p:nvSpPr>
            <p:spPr bwMode="auto">
              <a:xfrm>
                <a:off x="3657655" y="2248473"/>
                <a:ext cx="369093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4" name="Group 170"/>
              <p:cNvGrpSpPr/>
              <p:nvPr/>
            </p:nvGrpSpPr>
            <p:grpSpPr bwMode="auto">
              <a:xfrm>
                <a:off x="6170985" y="1507111"/>
                <a:ext cx="850900" cy="527050"/>
                <a:chOff x="-490" y="1664"/>
                <a:chExt cx="1429" cy="842"/>
              </a:xfrm>
            </p:grpSpPr>
            <p:sp>
              <p:nvSpPr>
                <p:cNvPr id="135" name="AutoShape 171"/>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36" name="Group 172"/>
                <p:cNvGrpSpPr/>
                <p:nvPr/>
              </p:nvGrpSpPr>
              <p:grpSpPr bwMode="auto">
                <a:xfrm>
                  <a:off x="-427" y="1737"/>
                  <a:ext cx="1217" cy="769"/>
                  <a:chOff x="-427" y="1737"/>
                  <a:chExt cx="1217" cy="769"/>
                </a:xfrm>
              </p:grpSpPr>
              <p:sp>
                <p:nvSpPr>
                  <p:cNvPr id="137" name="Rectangle 173"/>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38" name="Line 7"/>
                  <p:cNvSpPr>
                    <a:spLocks noChangeShapeType="1"/>
                  </p:cNvSpPr>
                  <p:nvPr/>
                </p:nvSpPr>
                <p:spPr bwMode="auto">
                  <a:xfrm flipV="1">
                    <a:off x="-150" y="2270"/>
                    <a:ext cx="230"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9" name="Group 175"/>
                  <p:cNvGrpSpPr/>
                  <p:nvPr/>
                </p:nvGrpSpPr>
                <p:grpSpPr bwMode="auto">
                  <a:xfrm>
                    <a:off x="68" y="2192"/>
                    <a:ext cx="387" cy="139"/>
                    <a:chOff x="322" y="890"/>
                    <a:chExt cx="872" cy="339"/>
                  </a:xfrm>
                </p:grpSpPr>
                <p:sp>
                  <p:nvSpPr>
                    <p:cNvPr id="140" name="Rectangle 176"/>
                    <p:cNvSpPr>
                      <a:spLocks noChangeArrowheads="1"/>
                    </p:cNvSpPr>
                    <p:nvPr/>
                  </p:nvSpPr>
                  <p:spPr bwMode="auto">
                    <a:xfrm>
                      <a:off x="320" y="1000"/>
                      <a:ext cx="871" cy="229"/>
                    </a:xfrm>
                    <a:prstGeom prst="rect">
                      <a:avLst/>
                    </a:prstGeom>
                    <a:solidFill>
                      <a:schemeClr val="bg1">
                        <a:lumMod val="8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1" name="Rectangle 177"/>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2" name="Rectangle 178"/>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3" name="Rectangle 179"/>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4" name="Rectangle 180"/>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5" name="AutoShape 181"/>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46" name="Picture 182" descr="desktop_computer_stylized_small"/>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Rectangle 183"/>
                  <p:cNvSpPr>
                    <a:spLocks noChangeArrowheads="1"/>
                  </p:cNvSpPr>
                  <p:nvPr/>
                </p:nvSpPr>
                <p:spPr bwMode="auto">
                  <a:xfrm>
                    <a:off x="528" y="2232"/>
                    <a:ext cx="104" cy="91"/>
                  </a:xfrm>
                  <a:prstGeom prst="rect">
                    <a:avLst/>
                  </a:prstGeom>
                  <a:solidFill>
                    <a:srgbClr val="00009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148" name="Freeform 184"/>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9" name="Line 185"/>
                  <p:cNvSpPr>
                    <a:spLocks noChangeShapeType="1"/>
                  </p:cNvSpPr>
                  <p:nvPr/>
                </p:nvSpPr>
                <p:spPr bwMode="auto">
                  <a:xfrm flipH="1">
                    <a:off x="470" y="2270"/>
                    <a:ext cx="1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0" name="Picture 186" descr="tv"/>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51" name="Line 205"/>
              <p:cNvSpPr>
                <a:spLocks noChangeShapeType="1"/>
              </p:cNvSpPr>
              <p:nvPr/>
            </p:nvSpPr>
            <p:spPr bwMode="auto">
              <a:xfrm flipH="1">
                <a:off x="4762872" y="1918273"/>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2" name="Line 206"/>
              <p:cNvSpPr>
                <a:spLocks noChangeShapeType="1"/>
              </p:cNvSpPr>
              <p:nvPr/>
            </p:nvSpPr>
            <p:spPr bwMode="auto">
              <a:xfrm flipH="1">
                <a:off x="5656317" y="1918273"/>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3" name="Line 207"/>
              <p:cNvSpPr>
                <a:spLocks noChangeShapeType="1"/>
              </p:cNvSpPr>
              <p:nvPr/>
            </p:nvSpPr>
            <p:spPr bwMode="auto">
              <a:xfrm flipH="1">
                <a:off x="6792967" y="1918273"/>
                <a:ext cx="3175" cy="333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4" name="Freeform 208"/>
              <p:cNvSpPr/>
              <p:nvPr/>
            </p:nvSpPr>
            <p:spPr bwMode="auto">
              <a:xfrm>
                <a:off x="5742042" y="2254823"/>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9" name="Rectangle 44"/>
              <p:cNvSpPr>
                <a:spLocks noChangeArrowheads="1"/>
              </p:cNvSpPr>
              <p:nvPr/>
            </p:nvSpPr>
            <p:spPr bwMode="auto">
              <a:xfrm>
                <a:off x="7086655" y="1823023"/>
                <a:ext cx="955675" cy="700088"/>
              </a:xfrm>
              <a:prstGeom prst="rect">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mn-cs"/>
                </a:endParaRPr>
              </a:p>
            </p:txBody>
          </p:sp>
          <p:sp>
            <p:nvSpPr>
              <p:cNvPr id="155" name="Freeform 217"/>
              <p:cNvSpPr/>
              <p:nvPr/>
            </p:nvSpPr>
            <p:spPr bwMode="auto">
              <a:xfrm>
                <a:off x="7345417" y="1940498"/>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lumMod val="75000"/>
                </a:schemeClr>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6" name="Freeform 221"/>
              <p:cNvSpPr/>
              <p:nvPr/>
            </p:nvSpPr>
            <p:spPr bwMode="auto">
              <a:xfrm flipV="1">
                <a:off x="7366055" y="2296098"/>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6" name="AutoShape 225"/>
              <p:cNvSpPr>
                <a:spLocks noChangeArrowheads="1"/>
              </p:cNvSpPr>
              <p:nvPr/>
            </p:nvSpPr>
            <p:spPr bwMode="auto">
              <a:xfrm>
                <a:off x="6958385" y="1559498"/>
                <a:ext cx="1206500" cy="261938"/>
              </a:xfrm>
              <a:prstGeom prst="triangle">
                <a:avLst>
                  <a:gd name="adj" fmla="val 50000"/>
                </a:avLst>
              </a:prstGeom>
              <a:noFill/>
              <a:ln w="9525">
                <a:solidFill>
                  <a:schemeClr val="tx1"/>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nvGrpSpPr>
              <p:cNvPr id="157" name="Group 326"/>
              <p:cNvGrpSpPr/>
              <p:nvPr/>
            </p:nvGrpSpPr>
            <p:grpSpPr bwMode="auto">
              <a:xfrm>
                <a:off x="2000305" y="1964311"/>
                <a:ext cx="609600" cy="609600"/>
                <a:chOff x="-44" y="1473"/>
                <a:chExt cx="981" cy="1105"/>
              </a:xfrm>
            </p:grpSpPr>
            <p:pic>
              <p:nvPicPr>
                <p:cNvPr id="158" name="Picture 327" descr="desktop_computer_stylized_medium"/>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 name="Freeform 328"/>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9" name="Group 5"/>
              <p:cNvGrpSpPr/>
              <p:nvPr/>
            </p:nvGrpSpPr>
            <p:grpSpPr bwMode="auto">
              <a:xfrm>
                <a:off x="1278391" y="2337689"/>
                <a:ext cx="3887788" cy="1490663"/>
                <a:chOff x="-245" y="1511"/>
                <a:chExt cx="2449" cy="939"/>
              </a:xfrm>
            </p:grpSpPr>
            <p:sp>
              <p:nvSpPr>
                <p:cNvPr id="260" name="Text Box 6"/>
                <p:cNvSpPr txBox="1">
                  <a:spLocks noChangeArrowheads="1"/>
                </p:cNvSpPr>
                <p:nvPr/>
              </p:nvSpPr>
              <p:spPr bwMode="auto">
                <a:xfrm>
                  <a:off x="-245" y="2004"/>
                  <a:ext cx="24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0" algn="ctr">
                    <a:defRPr/>
                  </a:pPr>
                  <a:r>
                    <a:rPr kumimoji="0" lang="en-US" altLang="en-US" sz="2000" b="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数据、电视</a:t>
                  </a:r>
                  <a:r>
                    <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信号</a:t>
                  </a:r>
                  <a:r>
                    <a:rPr lang="zh-CN" altLang="en-US" sz="2000" dirty="0">
                      <a:solidFill>
                        <a:prstClr val="black"/>
                      </a:solidFill>
                      <a:latin typeface="微软雅黑" panose="020B0503020204020204" pitchFamily="34" charset="-122"/>
                      <a:ea typeface="微软雅黑" panose="020B0503020204020204" pitchFamily="34" charset="-122"/>
                    </a:rPr>
                    <a:t>，</a:t>
                  </a:r>
                  <a:br>
                    <a:rPr lang="en-US" altLang="zh-CN" sz="2000" dirty="0">
                      <a:solidFill>
                        <a:prstClr val="black"/>
                      </a:solidFill>
                      <a:latin typeface="微软雅黑" panose="020B0503020204020204" pitchFamily="34" charset="-122"/>
                      <a:ea typeface="微软雅黑" panose="020B0503020204020204" pitchFamily="34" charset="-122"/>
                    </a:rPr>
                  </a:br>
                  <a:r>
                    <a:rPr kumimoji="0" lang="en-US" altLang="en-US" sz="2000" b="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以不同的频率</a:t>
                  </a:r>
                  <a:r>
                    <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a:t>
                  </a:r>
                  <a:r>
                    <a:rPr lang="en-US" altLang="en-US" sz="2000" dirty="0" err="1">
                      <a:solidFill>
                        <a:prstClr val="black"/>
                      </a:solidFill>
                      <a:latin typeface="微软雅黑" panose="020B0503020204020204" pitchFamily="34" charset="-122"/>
                      <a:ea typeface="微软雅黑" panose="020B0503020204020204" pitchFamily="34" charset="-122"/>
                    </a:rPr>
                    <a:t>共享电缆上传输</a:t>
                  </a:r>
                  <a:endParaRPr kumimoji="0" lang="zh-CN" altLang="en-US" sz="20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61" name="Line 7"/>
                <p:cNvSpPr>
                  <a:spLocks noChangeShapeType="1"/>
                </p:cNvSpPr>
                <p:nvPr/>
              </p:nvSpPr>
              <p:spPr bwMode="auto">
                <a:xfrm flipV="1">
                  <a:off x="1470" y="1511"/>
                  <a:ext cx="282" cy="476"/>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60" name="Group 4"/>
              <p:cNvGrpSpPr/>
              <p:nvPr/>
            </p:nvGrpSpPr>
            <p:grpSpPr>
              <a:xfrm>
                <a:off x="6470486" y="2229423"/>
                <a:ext cx="4010399" cy="1858963"/>
                <a:chOff x="6470486" y="2229423"/>
                <a:chExt cx="4010399" cy="1858963"/>
              </a:xfrm>
            </p:grpSpPr>
            <p:grpSp>
              <p:nvGrpSpPr>
                <p:cNvPr id="161" name="Group 175"/>
                <p:cNvGrpSpPr/>
                <p:nvPr/>
              </p:nvGrpSpPr>
              <p:grpSpPr bwMode="auto">
                <a:xfrm>
                  <a:off x="7701172" y="2411990"/>
                  <a:ext cx="2779713" cy="338138"/>
                  <a:chOff x="3912" y="1497"/>
                  <a:chExt cx="1751" cy="213"/>
                </a:xfrm>
              </p:grpSpPr>
              <p:sp>
                <p:nvSpPr>
                  <p:cNvPr id="162" name="Line 176"/>
                  <p:cNvSpPr>
                    <a:spLocks noChangeShapeType="1"/>
                  </p:cNvSpPr>
                  <p:nvPr/>
                </p:nvSpPr>
                <p:spPr bwMode="auto">
                  <a:xfrm flipH="1" flipV="1">
                    <a:off x="3912" y="1497"/>
                    <a:ext cx="711" cy="94"/>
                  </a:xfrm>
                  <a:prstGeom prst="line">
                    <a:avLst/>
                  </a:prstGeom>
                  <a:noFill/>
                  <a:ln w="9525">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3" name="Text Box 177"/>
                  <p:cNvSpPr txBox="1">
                    <a:spLocks noChangeArrowheads="1"/>
                  </p:cNvSpPr>
                  <p:nvPr/>
                </p:nvSpPr>
                <p:spPr bwMode="auto">
                  <a:xfrm>
                    <a:off x="4411" y="1504"/>
                    <a:ext cx="125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auto" latinLnBrk="0" hangingPunct="1">
                      <a:lnSpc>
                        <a:spcPct val="85000"/>
                      </a:lnSpc>
                      <a:spcBef>
                        <a:spcPts val="0"/>
                      </a:spcBef>
                      <a:spcAft>
                        <a:spcPts val="0"/>
                      </a:spcAft>
                      <a:buClrTx/>
                      <a:buSzTx/>
                      <a:buFontTx/>
                      <a:buNone/>
                      <a:defRPr/>
                    </a:pPr>
                    <a:endParaRPr kumimoji="0" lang="en-US" altLang="en-US" sz="1800" b="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64" name="Text Box 126"/>
                <p:cNvSpPr txBox="1">
                  <a:spLocks noChangeArrowheads="1"/>
                </p:cNvSpPr>
                <p:nvPr/>
              </p:nvSpPr>
              <p:spPr bwMode="auto">
                <a:xfrm>
                  <a:off x="6470486" y="2525371"/>
                  <a:ext cx="14092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电缆头端</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5" name="Freeform 174"/>
                <p:cNvSpPr/>
                <p:nvPr/>
              </p:nvSpPr>
              <p:spPr bwMode="auto">
                <a:xfrm>
                  <a:off x="7742447" y="2229423"/>
                  <a:ext cx="206375" cy="927100"/>
                </a:xfrm>
                <a:custGeom>
                  <a:avLst/>
                  <a:gdLst>
                    <a:gd name="T0" fmla="*/ 0 w 130"/>
                    <a:gd name="T1" fmla="*/ 0 h 584"/>
                    <a:gd name="T2" fmla="*/ 2147483647 w 130"/>
                    <a:gd name="T3" fmla="*/ 0 h 584"/>
                    <a:gd name="T4" fmla="*/ 2147483647 w 130"/>
                    <a:gd name="T5" fmla="*/ 2147483647 h 584"/>
                    <a:gd name="T6" fmla="*/ 0 60000 65536"/>
                    <a:gd name="T7" fmla="*/ 0 60000 65536"/>
                    <a:gd name="T8" fmla="*/ 0 60000 65536"/>
                    <a:gd name="T9" fmla="*/ 0 w 130"/>
                    <a:gd name="T10" fmla="*/ 0 h 584"/>
                    <a:gd name="T11" fmla="*/ 130 w 130"/>
                    <a:gd name="T12" fmla="*/ 584 h 584"/>
                  </a:gdLst>
                  <a:ahLst/>
                  <a:cxnLst>
                    <a:cxn ang="T6">
                      <a:pos x="T0" y="T1"/>
                    </a:cxn>
                    <a:cxn ang="T7">
                      <a:pos x="T2" y="T3"/>
                    </a:cxn>
                    <a:cxn ang="T8">
                      <a:pos x="T4" y="T5"/>
                    </a:cxn>
                  </a:cxnLst>
                  <a:rect l="T9" t="T10" r="T11" b="T12"/>
                  <a:pathLst>
                    <a:path w="130" h="584">
                      <a:moveTo>
                        <a:pt x="0" y="0"/>
                      </a:moveTo>
                      <a:lnTo>
                        <a:pt x="130" y="0"/>
                      </a:lnTo>
                      <a:lnTo>
                        <a:pt x="130" y="58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66" name="Group 3"/>
                <p:cNvGrpSpPr/>
                <p:nvPr/>
              </p:nvGrpSpPr>
              <p:grpSpPr>
                <a:xfrm>
                  <a:off x="6634372" y="2940623"/>
                  <a:ext cx="2178050" cy="1147763"/>
                  <a:chOff x="6634372" y="2940623"/>
                  <a:chExt cx="2178050" cy="1147763"/>
                </a:xfrm>
              </p:grpSpPr>
              <p:sp>
                <p:nvSpPr>
                  <p:cNvPr id="167" name="Freeform 129"/>
                  <p:cNvSpPr/>
                  <p:nvPr/>
                </p:nvSpPr>
                <p:spPr bwMode="auto">
                  <a:xfrm>
                    <a:off x="6634372" y="2940623"/>
                    <a:ext cx="2178050" cy="1147763"/>
                  </a:xfrm>
                  <a:custGeom>
                    <a:avLst/>
                    <a:gdLst>
                      <a:gd name="T0" fmla="*/ 1509012 w 765"/>
                      <a:gd name="T1" fmla="*/ 5729 h 459"/>
                      <a:gd name="T2" fmla="*/ 1027025 w 765"/>
                      <a:gd name="T3" fmla="*/ 40395 h 459"/>
                      <a:gd name="T4" fmla="*/ 340902 w 765"/>
                      <a:gd name="T5" fmla="*/ 58024 h 459"/>
                      <a:gd name="T6" fmla="*/ 49874 w 765"/>
                      <a:gd name="T7" fmla="*/ 194383 h 459"/>
                      <a:gd name="T8" fmla="*/ 640932 w 765"/>
                      <a:gd name="T9" fmla="*/ 256788 h 459"/>
                      <a:gd name="T10" fmla="*/ 1233656 w 765"/>
                      <a:gd name="T11" fmla="*/ 246677 h 459"/>
                      <a:gd name="T12" fmla="*/ 2079640 w 765"/>
                      <a:gd name="T13" fmla="*/ 256788 h 459"/>
                      <a:gd name="T14" fmla="*/ 2485867 w 765"/>
                      <a:gd name="T15" fmla="*/ 251149 h 459"/>
                      <a:gd name="T16" fmla="*/ 2678580 w 765"/>
                      <a:gd name="T17" fmla="*/ 215337 h 459"/>
                      <a:gd name="T18" fmla="*/ 2671282 w 765"/>
                      <a:gd name="T19" fmla="*/ 91397 h 459"/>
                      <a:gd name="T20" fmla="*/ 2357408 w 765"/>
                      <a:gd name="T21" fmla="*/ 19830 h 459"/>
                      <a:gd name="T22" fmla="*/ 1509012 w 765"/>
                      <a:gd name="T23" fmla="*/ 5729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8" name="Line 130"/>
                  <p:cNvSpPr>
                    <a:spLocks noChangeShapeType="1"/>
                  </p:cNvSpPr>
                  <p:nvPr/>
                </p:nvSpPr>
                <p:spPr bwMode="auto">
                  <a:xfrm flipV="1">
                    <a:off x="7464635" y="3294636"/>
                    <a:ext cx="168275" cy="120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9" name="Line 131"/>
                  <p:cNvSpPr>
                    <a:spLocks noChangeShapeType="1"/>
                  </p:cNvSpPr>
                  <p:nvPr/>
                </p:nvSpPr>
                <p:spPr bwMode="auto">
                  <a:xfrm>
                    <a:off x="7231272" y="3534348"/>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0" name="Line 132"/>
                  <p:cNvSpPr>
                    <a:spLocks noChangeShapeType="1"/>
                  </p:cNvSpPr>
                  <p:nvPr/>
                </p:nvSpPr>
                <p:spPr bwMode="auto">
                  <a:xfrm flipV="1">
                    <a:off x="7464635" y="3391473"/>
                    <a:ext cx="358775" cy="4000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1" name="Line 133"/>
                  <p:cNvSpPr>
                    <a:spLocks noChangeShapeType="1"/>
                  </p:cNvSpPr>
                  <p:nvPr/>
                </p:nvSpPr>
                <p:spPr bwMode="auto">
                  <a:xfrm>
                    <a:off x="7961522" y="3389886"/>
                    <a:ext cx="0" cy="2714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Line 134"/>
                  <p:cNvSpPr>
                    <a:spLocks noChangeShapeType="1"/>
                  </p:cNvSpPr>
                  <p:nvPr/>
                </p:nvSpPr>
                <p:spPr bwMode="auto">
                  <a:xfrm>
                    <a:off x="7490035" y="3813748"/>
                    <a:ext cx="2571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Line 135"/>
                  <p:cNvSpPr>
                    <a:spLocks noChangeShapeType="1"/>
                  </p:cNvSpPr>
                  <p:nvPr/>
                </p:nvSpPr>
                <p:spPr bwMode="auto">
                  <a:xfrm>
                    <a:off x="8245685" y="3801048"/>
                    <a:ext cx="241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Line 172"/>
                  <p:cNvSpPr>
                    <a:spLocks noChangeShapeType="1"/>
                  </p:cNvSpPr>
                  <p:nvPr/>
                </p:nvSpPr>
                <p:spPr bwMode="auto">
                  <a:xfrm>
                    <a:off x="8510797" y="3797873"/>
                    <a:ext cx="242888"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5" name="Text Box 580"/>
                  <p:cNvSpPr txBox="1">
                    <a:spLocks noChangeArrowheads="1"/>
                  </p:cNvSpPr>
                  <p:nvPr/>
                </p:nvSpPr>
                <p:spPr bwMode="auto">
                  <a:xfrm>
                    <a:off x="8207585" y="3191448"/>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rPr>
                      <a:t>ISP</a:t>
                    </a:r>
                  </a:p>
                </p:txBody>
              </p:sp>
              <p:grpSp>
                <p:nvGrpSpPr>
                  <p:cNvPr id="176" name="Group 301"/>
                  <p:cNvGrpSpPr/>
                  <p:nvPr/>
                </p:nvGrpSpPr>
                <p:grpSpPr>
                  <a:xfrm>
                    <a:off x="6972551" y="3193191"/>
                    <a:ext cx="576221" cy="330754"/>
                    <a:chOff x="7493876" y="2774731"/>
                    <a:chExt cx="1481958" cy="894622"/>
                  </a:xfrm>
                </p:grpSpPr>
                <p:sp>
                  <p:nvSpPr>
                    <p:cNvPr id="177" name="Freeform 302"/>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8" name="Oval 303"/>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9" name="Group 304"/>
                    <p:cNvGrpSpPr/>
                    <p:nvPr/>
                  </p:nvGrpSpPr>
                  <p:grpSpPr>
                    <a:xfrm>
                      <a:off x="7713663" y="2848339"/>
                      <a:ext cx="1042107" cy="425543"/>
                      <a:chOff x="7786941" y="2884917"/>
                      <a:chExt cx="897649" cy="353919"/>
                    </a:xfrm>
                  </p:grpSpPr>
                  <p:sp>
                    <p:nvSpPr>
                      <p:cNvPr id="180" name="Freeform 305"/>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1" name="Freeform 306"/>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307"/>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308"/>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4" name="Group 309"/>
                  <p:cNvGrpSpPr/>
                  <p:nvPr/>
                </p:nvGrpSpPr>
                <p:grpSpPr>
                  <a:xfrm>
                    <a:off x="6955883" y="3598924"/>
                    <a:ext cx="576221" cy="330754"/>
                    <a:chOff x="7493876" y="2774731"/>
                    <a:chExt cx="1481958" cy="894622"/>
                  </a:xfrm>
                </p:grpSpPr>
                <p:sp>
                  <p:nvSpPr>
                    <p:cNvPr id="185" name="Freeform 31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6" name="Oval 31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7" name="Group 312"/>
                    <p:cNvGrpSpPr/>
                    <p:nvPr/>
                  </p:nvGrpSpPr>
                  <p:grpSpPr>
                    <a:xfrm>
                      <a:off x="7713663" y="2848339"/>
                      <a:ext cx="1042107" cy="425543"/>
                      <a:chOff x="7786941" y="2884917"/>
                      <a:chExt cx="897649" cy="353919"/>
                    </a:xfrm>
                  </p:grpSpPr>
                  <p:sp>
                    <p:nvSpPr>
                      <p:cNvPr id="188" name="Freeform 31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Freeform 31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31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31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2" name="Group 317"/>
                  <p:cNvGrpSpPr/>
                  <p:nvPr/>
                </p:nvGrpSpPr>
                <p:grpSpPr>
                  <a:xfrm>
                    <a:off x="7720114" y="3593282"/>
                    <a:ext cx="576221" cy="330754"/>
                    <a:chOff x="7493876" y="2774731"/>
                    <a:chExt cx="1481958" cy="894622"/>
                  </a:xfrm>
                </p:grpSpPr>
                <p:sp>
                  <p:nvSpPr>
                    <p:cNvPr id="193" name="Freeform 31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4" name="Oval 31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5" name="Group 320"/>
                    <p:cNvGrpSpPr/>
                    <p:nvPr/>
                  </p:nvGrpSpPr>
                  <p:grpSpPr>
                    <a:xfrm>
                      <a:off x="7713663" y="2848339"/>
                      <a:ext cx="1042107" cy="425543"/>
                      <a:chOff x="7786941" y="2884917"/>
                      <a:chExt cx="897649" cy="353919"/>
                    </a:xfrm>
                  </p:grpSpPr>
                  <p:sp>
                    <p:nvSpPr>
                      <p:cNvPr id="196" name="Freeform 32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Freeform 32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32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32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0" name="Group 266"/>
                  <p:cNvGrpSpPr/>
                  <p:nvPr/>
                </p:nvGrpSpPr>
                <p:grpSpPr>
                  <a:xfrm>
                    <a:off x="7618622" y="3082478"/>
                    <a:ext cx="576221" cy="330754"/>
                    <a:chOff x="7493876" y="2774731"/>
                    <a:chExt cx="1481958" cy="894622"/>
                  </a:xfrm>
                </p:grpSpPr>
                <p:sp>
                  <p:nvSpPr>
                    <p:cNvPr id="201" name="Freeform 275"/>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2" name="Oval 276"/>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3" name="Group 277"/>
                    <p:cNvGrpSpPr/>
                    <p:nvPr/>
                  </p:nvGrpSpPr>
                  <p:grpSpPr>
                    <a:xfrm>
                      <a:off x="7713663" y="2848339"/>
                      <a:ext cx="1042107" cy="425543"/>
                      <a:chOff x="7786941" y="2884917"/>
                      <a:chExt cx="897649" cy="353919"/>
                    </a:xfrm>
                  </p:grpSpPr>
                  <p:sp>
                    <p:nvSpPr>
                      <p:cNvPr id="204" name="Freeform 278"/>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5" name="Freeform 279"/>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80"/>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81"/>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sp>
            <p:nvSpPr>
              <p:cNvPr id="751" name="Freeform 216"/>
              <p:cNvSpPr/>
              <p:nvPr/>
            </p:nvSpPr>
            <p:spPr bwMode="auto">
              <a:xfrm>
                <a:off x="7343830" y="2005586"/>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100000">
                    <a:schemeClr val="accent1">
                      <a:lumMod val="60000"/>
                      <a:lumOff val="40000"/>
                    </a:schemeClr>
                  </a:gs>
                </a:gsLst>
                <a:lin ang="0" scaled="1"/>
              </a:gra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5" name="Freeform 220"/>
              <p:cNvSpPr/>
              <p:nvPr/>
            </p:nvSpPr>
            <p:spPr bwMode="auto">
              <a:xfrm>
                <a:off x="7366055" y="2059561"/>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 name="Freeform 221"/>
              <p:cNvSpPr/>
              <p:nvPr/>
            </p:nvSpPr>
            <p:spPr bwMode="auto">
              <a:xfrm flipV="1">
                <a:off x="7371770" y="2266888"/>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4" name="Line 219"/>
              <p:cNvSpPr>
                <a:spLocks noChangeShapeType="1"/>
              </p:cNvSpPr>
              <p:nvPr/>
            </p:nvSpPr>
            <p:spPr bwMode="auto">
              <a:xfrm>
                <a:off x="7372405" y="2235773"/>
                <a:ext cx="2682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4" name="Text Box 39"/>
              <p:cNvSpPr txBox="1">
                <a:spLocks noChangeArrowheads="1"/>
              </p:cNvSpPr>
              <p:nvPr/>
            </p:nvSpPr>
            <p:spPr bwMode="auto">
              <a:xfrm>
                <a:off x="2595602" y="2248699"/>
                <a:ext cx="877163" cy="777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调制</a:t>
                </a:r>
                <a:b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en-US" sz="18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解调器</a:t>
                </a:r>
                <a:endPar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7" name="Text Box 41"/>
              <p:cNvSpPr txBox="1">
                <a:spLocks noChangeArrowheads="1"/>
              </p:cNvSpPr>
              <p:nvPr/>
            </p:nvSpPr>
            <p:spPr bwMode="auto">
              <a:xfrm>
                <a:off x="3395975" y="2348444"/>
                <a:ext cx="877163"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defRPr/>
                </a:pPr>
                <a:r>
                  <a:rPr kumimoji="0" lang="en-US"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分路器</a:t>
                </a:r>
              </a:p>
            </p:txBody>
          </p:sp>
        </p:grpSp>
      </p:grpSp>
      <p:sp>
        <p:nvSpPr>
          <p:cNvPr id="210" name="矩形 209">
            <a:extLst>
              <a:ext uri="{FF2B5EF4-FFF2-40B4-BE49-F238E27FC236}">
                <a16:creationId xmlns:a16="http://schemas.microsoft.com/office/drawing/2014/main" id="{ACD7BB39-D3F3-F542-87B6-18E4ED609F62}"/>
              </a:ext>
            </a:extLst>
          </p:cNvPr>
          <p:cNvSpPr/>
          <p:nvPr/>
        </p:nvSpPr>
        <p:spPr>
          <a:xfrm>
            <a:off x="7417566" y="2409100"/>
            <a:ext cx="3898824" cy="1200329"/>
          </a:xfrm>
          <a:prstGeom prst="rect">
            <a:avLst/>
          </a:prstGeom>
          <a:ln>
            <a:solidFill>
              <a:srgbClr val="C00000"/>
            </a:solidFill>
          </a:ln>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我国已广泛升级为</a:t>
            </a:r>
            <a:r>
              <a:rPr lang="en-US" altLang="zh-CN" sz="2400" dirty="0">
                <a:solidFill>
                  <a:prstClr val="black"/>
                </a:solidFill>
                <a:latin typeface="微软雅黑" panose="020B0503020204020204" pitchFamily="34" charset="-122"/>
                <a:ea typeface="微软雅黑" panose="020B0503020204020204" pitchFamily="34" charset="-122"/>
              </a:rPr>
              <a:t>FTTH</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r>
              <a:rPr lang="zh-CN" altLang="en-US" sz="2400" dirty="0">
                <a:solidFill>
                  <a:prstClr val="black"/>
                </a:solidFill>
                <a:latin typeface="微软雅黑" panose="020B0503020204020204" pitchFamily="34" charset="-122"/>
                <a:ea typeface="微软雅黑" panose="020B0503020204020204" pitchFamily="34" charset="-122"/>
              </a:rPr>
              <a:t>美国住宅依然有</a:t>
            </a:r>
            <a:r>
              <a:rPr lang="en-US" altLang="zh-CN" sz="2400" dirty="0">
                <a:solidFill>
                  <a:prstClr val="black"/>
                </a:solidFill>
                <a:latin typeface="微软雅黑" panose="020B0503020204020204" pitchFamily="34" charset="-122"/>
                <a:ea typeface="微软雅黑" panose="020B0503020204020204" pitchFamily="34" charset="-122"/>
              </a:rPr>
              <a:t>80%</a:t>
            </a:r>
            <a:r>
              <a:rPr lang="zh-CN" altLang="en-US" sz="2400" dirty="0">
                <a:solidFill>
                  <a:prstClr val="black"/>
                </a:solidFill>
                <a:latin typeface="微软雅黑" panose="020B0503020204020204" pitchFamily="34" charset="-122"/>
                <a:ea typeface="微软雅黑" panose="020B0503020204020204" pitchFamily="34" charset="-122"/>
              </a:rPr>
              <a:t>多使用</a:t>
            </a:r>
            <a:br>
              <a:rPr lang="en-US" altLang="zh-CN" sz="2400" dirty="0">
                <a:solidFill>
                  <a:prstClr val="black"/>
                </a:solidFill>
                <a:latin typeface="微软雅黑" panose="020B0503020204020204" pitchFamily="34" charset="-122"/>
                <a:ea typeface="微软雅黑" panose="020B0503020204020204" pitchFamily="34" charset="-122"/>
              </a:rPr>
            </a:br>
            <a:r>
              <a:rPr lang="en-US" altLang="zh-CN" sz="2400" dirty="0">
                <a:solidFill>
                  <a:prstClr val="black"/>
                </a:solidFill>
                <a:latin typeface="微软雅黑" panose="020B0503020204020204" pitchFamily="34" charset="-122"/>
                <a:ea typeface="微软雅黑" panose="020B0503020204020204" pitchFamily="34" charset="-122"/>
              </a:rPr>
              <a:t>DSL</a:t>
            </a:r>
            <a:r>
              <a:rPr lang="zh-CN" altLang="en-US" sz="2400" dirty="0">
                <a:solidFill>
                  <a:prstClr val="black"/>
                </a:solidFill>
                <a:latin typeface="微软雅黑" panose="020B0503020204020204" pitchFamily="34" charset="-122"/>
                <a:ea typeface="微软雅黑" panose="020B0503020204020204" pitchFamily="34" charset="-122"/>
              </a:rPr>
              <a:t>和同轴电缆接入</a:t>
            </a:r>
            <a:r>
              <a:rPr lang="en-US" altLang="zh-CN" sz="2400" dirty="0">
                <a:solidFill>
                  <a:prstClr val="black"/>
                </a:solidFill>
                <a:latin typeface="微软雅黑" panose="020B0503020204020204" pitchFamily="34" charset="-122"/>
                <a:ea typeface="微软雅黑" panose="020B0503020204020204" pitchFamily="34" charset="-122"/>
                <a:sym typeface="Wingdings" pitchFamily="2" charset="2"/>
              </a:rPr>
              <a:t></a:t>
            </a:r>
            <a:endParaRPr lang="zh-CN" altLang="en-US" dirty="0"/>
          </a:p>
        </p:txBody>
      </p:sp>
      <p:sp>
        <p:nvSpPr>
          <p:cNvPr id="7" name="灯片编号占位符 6">
            <a:extLst>
              <a:ext uri="{FF2B5EF4-FFF2-40B4-BE49-F238E27FC236}">
                <a16:creationId xmlns:a16="http://schemas.microsoft.com/office/drawing/2014/main" id="{3FE2FE67-6B8D-8B45-A8A6-E16D89C8F9FB}"/>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212" name="文本框 211">
            <a:extLst>
              <a:ext uri="{FF2B5EF4-FFF2-40B4-BE49-F238E27FC236}">
                <a16:creationId xmlns:a16="http://schemas.microsoft.com/office/drawing/2014/main" id="{9B4E6F02-4FA8-D749-9897-1CA4B001C980}"/>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网络分类：接入网</a:t>
            </a:r>
          </a:p>
        </p:txBody>
      </p:sp>
    </p:spTree>
    <p:extLst>
      <p:ext uri="{BB962C8B-B14F-4D97-AF65-F5344CB8AC3E}">
        <p14:creationId xmlns:p14="http://schemas.microsoft.com/office/powerpoint/2010/main" val="42950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blinds(horizontal)">
                                      <p:cBhvr>
                                        <p:cTn id="7"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接入网：无线接入</a:t>
            </a:r>
          </a:p>
        </p:txBody>
      </p:sp>
      <p:sp>
        <p:nvSpPr>
          <p:cNvPr id="3" name="内容占位符 2"/>
          <p:cNvSpPr>
            <a:spLocks noGrp="1"/>
          </p:cNvSpPr>
          <p:nvPr>
            <p:ph idx="1"/>
          </p:nvPr>
        </p:nvSpPr>
        <p:spPr/>
        <p:txBody>
          <a:bodyPr/>
          <a:lstStyle/>
          <a:p>
            <a:r>
              <a:rPr lang="zh-CN" altLang="en-US" dirty="0"/>
              <a:t>无线接入网</a:t>
            </a:r>
            <a:r>
              <a:rPr lang="zh-CN" altLang="en-US" dirty="0">
                <a:sym typeface="+mn-ea"/>
              </a:rPr>
              <a:t>通过基站</a:t>
            </a:r>
            <a:r>
              <a:rPr lang="en-US" altLang="zh-CN" dirty="0">
                <a:sym typeface="+mn-ea"/>
              </a:rPr>
              <a:t>(</a:t>
            </a:r>
            <a:r>
              <a:rPr lang="zh-CN" altLang="en-US" dirty="0">
                <a:sym typeface="+mn-ea"/>
              </a:rPr>
              <a:t>“接入点”</a:t>
            </a:r>
            <a:r>
              <a:rPr lang="en-US" altLang="zh-CN" dirty="0">
                <a:sym typeface="+mn-ea"/>
              </a:rPr>
              <a:t>)</a:t>
            </a:r>
            <a:r>
              <a:rPr lang="zh-CN" altLang="en-US" dirty="0">
                <a:sym typeface="+mn-ea"/>
              </a:rPr>
              <a:t>将</a:t>
            </a:r>
            <a:r>
              <a:rPr lang="zh-CN" altLang="en-US" dirty="0"/>
              <a:t>终端系统连接到路由器上</a:t>
            </a:r>
          </a:p>
        </p:txBody>
      </p:sp>
      <p:grpSp>
        <p:nvGrpSpPr>
          <p:cNvPr id="5" name="Group 2"/>
          <p:cNvGrpSpPr/>
          <p:nvPr/>
        </p:nvGrpSpPr>
        <p:grpSpPr>
          <a:xfrm>
            <a:off x="1027781" y="2172337"/>
            <a:ext cx="4720964" cy="3872818"/>
            <a:chOff x="928086" y="2531112"/>
            <a:chExt cx="4720964" cy="3872818"/>
          </a:xfrm>
        </p:grpSpPr>
        <p:sp>
          <p:nvSpPr>
            <p:cNvPr id="275" name="Rectangle 3"/>
            <p:cNvSpPr>
              <a:spLocks noChangeArrowheads="1"/>
            </p:cNvSpPr>
            <p:nvPr/>
          </p:nvSpPr>
          <p:spPr bwMode="auto">
            <a:xfrm>
              <a:off x="928086" y="2531112"/>
              <a:ext cx="4720964" cy="296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MS PGothic" panose="020B0600070205080204" pitchFamily="34" charset="-128"/>
                </a:defRPr>
              </a:lvl1pPr>
              <a:lvl2pPr marL="682625" indent="-225425">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342900" marR="0" lvl="0" indent="-342900" algn="l" defTabSz="914400" rtl="0" eaLnBrk="1" fontAlgn="auto" latinLnBrk="0" hangingPunct="1">
                <a:lnSpc>
                  <a:spcPct val="110000"/>
                </a:lnSpc>
                <a:spcBef>
                  <a:spcPct val="20000"/>
                </a:spcBef>
                <a:spcAft>
                  <a:spcPts val="0"/>
                </a:spcAft>
                <a:buClr>
                  <a:srgbClr val="000099"/>
                </a:buClr>
                <a:buSzPct val="65000"/>
                <a:buFont typeface="Wingdings" panose="05000000000000000000" pitchFamily="2" charset="2"/>
                <a:buNone/>
                <a:defRPr/>
              </a:pPr>
              <a:r>
                <a:rPr kumimoji="0" lang="en-US" altLang="en-US" b="0" i="0" u="none" strike="noStrike" kern="1200" cap="none" spc="0" normalizeH="0" baseline="0" noProof="0" dirty="0" err="1">
                  <a:ln>
                    <a:noFill/>
                  </a:ln>
                  <a:solidFill>
                    <a:srgbClr val="CC0000"/>
                  </a:solidFill>
                  <a:effectLst/>
                  <a:uLnTx/>
                  <a:uFillTx/>
                  <a:latin typeface="微软雅黑" panose="020B0503020204020204" pitchFamily="34" charset="-122"/>
                  <a:ea typeface="微软雅黑" panose="020B0503020204020204" pitchFamily="34" charset="-122"/>
                  <a:cs typeface="+mn-cs"/>
                </a:rPr>
                <a:t>无线局域网</a:t>
              </a:r>
              <a:r>
                <a:rPr kumimoji="0" lang="zh-CN" altLang="en-US"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en-US" altLang="zh-CN"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WLAN</a:t>
              </a:r>
              <a:r>
                <a:rPr kumimoji="0" lang="zh-CN" altLang="en-US"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a:t>
              </a:r>
              <a:endParaRPr kumimoji="0" lang="en-US" altLang="en-US" b="0" i="0" u="none" strike="noStrike" kern="1200" cap="none" spc="0" normalizeH="0" baseline="0" noProof="0" dirty="0">
                <a:ln>
                  <a:noFill/>
                </a:ln>
                <a:solidFill>
                  <a:srgbClr val="CC0000"/>
                </a:solidFill>
                <a:effectLst/>
                <a:uLnTx/>
                <a:uFillTx/>
                <a:latin typeface="Calibri" panose="020F0502020204030204"/>
                <a:ea typeface="MS PGothic" panose="020B0600070205080204" pitchFamily="34" charset="-128"/>
                <a:cs typeface="+mn-cs"/>
              </a:endParaRPr>
            </a:p>
            <a:p>
              <a:pPr marL="342900" marR="0" lvl="0" indent="-342900" algn="l" defTabSz="914400" rtl="0" eaLnBrk="1" fontAlgn="auto" latinLnBrk="0" hangingPunct="1">
                <a:lnSpc>
                  <a:spcPct val="110000"/>
                </a:lnSpc>
                <a:spcBef>
                  <a:spcPct val="20000"/>
                </a:spcBef>
                <a:spcAft>
                  <a:spcPts val="0"/>
                </a:spcAft>
                <a:buClr>
                  <a:srgbClr val="000099"/>
                </a:buClr>
                <a:buSzPct val="65000"/>
                <a:buFont typeface="Arial" panose="020B0604020202020204" pitchFamily="34" charset="0"/>
                <a:buChar char="•"/>
                <a:defRPr/>
              </a:pPr>
              <a:r>
                <a:rPr kumimoji="0" lang="en-US" alt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通常在建筑物内或周围</a:t>
              </a: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10</a:t>
              </a:r>
              <a:r>
                <a:rPr lang="en-US"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米</a:t>
              </a: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a:p>
              <a:pPr marL="342900" marR="0" lvl="0" indent="-342900" algn="l" defTabSz="914400" rtl="0" eaLnBrk="1" fontAlgn="auto" latinLnBrk="0" hangingPunct="1">
                <a:lnSpc>
                  <a:spcPct val="110000"/>
                </a:lnSpc>
                <a:spcBef>
                  <a:spcPct val="20000"/>
                </a:spcBef>
                <a:spcAft>
                  <a:spcPts val="0"/>
                </a:spcAft>
                <a:buClr>
                  <a:srgbClr val="000099"/>
                </a:buClr>
                <a:buSzPct val="65000"/>
                <a:buFont typeface="Arial" panose="020B0604020202020204" pitchFamily="34" charset="0"/>
                <a:buChar char="•"/>
                <a:defRPr/>
              </a:pP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802.11b/g/</a:t>
              </a:r>
              <a:r>
                <a:rPr kumimoji="0" lang="en-US" alt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n（WiFi</a:t>
              </a: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b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br>
              <a:r>
                <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11、54、450 </a:t>
              </a:r>
              <a:r>
                <a:rPr kumimoji="0" lang="en-US" alt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Mbps等传输速率</a:t>
              </a:r>
              <a:endPar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spcBef>
                  <a:spcPct val="20000"/>
                </a:spcBef>
                <a:buClr>
                  <a:srgbClr val="000099"/>
                </a:buClr>
                <a:buSzPct val="65000"/>
                <a:buFont typeface="Arial" panose="020B0604020202020204" pitchFamily="34" charset="0"/>
                <a:buChar char="•"/>
                <a:defRPr/>
              </a:pP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Wi-Fi 6</a:t>
              </a: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最高速率可达</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9.6</a:t>
              </a:r>
              <a:r>
                <a:rPr lang="en-US"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Gbps</a:t>
              </a:r>
              <a:endParaRPr kumimoji="0" lang="en-US"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76" name="Group 85"/>
            <p:cNvGrpSpPr/>
            <p:nvPr/>
          </p:nvGrpSpPr>
          <p:grpSpPr bwMode="auto">
            <a:xfrm>
              <a:off x="1457197" y="4740844"/>
              <a:ext cx="2487613" cy="1562100"/>
              <a:chOff x="2889" y="1631"/>
              <a:chExt cx="980" cy="743"/>
            </a:xfrm>
          </p:grpSpPr>
          <p:sp>
            <p:nvSpPr>
              <p:cNvPr id="277" name="Rectangle 86"/>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sp>
            <p:nvSpPr>
              <p:cNvPr id="278" name="AutoShape 87"/>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mn-cs"/>
                </a:endParaRPr>
              </a:p>
            </p:txBody>
          </p:sp>
        </p:grpSp>
        <p:sp>
          <p:nvSpPr>
            <p:cNvPr id="279" name="Line 110"/>
            <p:cNvSpPr>
              <a:spLocks noChangeShapeType="1"/>
            </p:cNvSpPr>
            <p:nvPr/>
          </p:nvSpPr>
          <p:spPr bwMode="auto">
            <a:xfrm>
              <a:off x="3123661" y="6082085"/>
              <a:ext cx="934073" cy="396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0" name="Line 116"/>
            <p:cNvSpPr>
              <a:spLocks noChangeShapeType="1"/>
            </p:cNvSpPr>
            <p:nvPr/>
          </p:nvSpPr>
          <p:spPr bwMode="auto">
            <a:xfrm flipV="1">
              <a:off x="2501772" y="6010844"/>
              <a:ext cx="287338" cy="47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3" name="Group 246"/>
            <p:cNvGrpSpPr/>
            <p:nvPr/>
          </p:nvGrpSpPr>
          <p:grpSpPr bwMode="auto">
            <a:xfrm>
              <a:off x="2025522" y="5620319"/>
              <a:ext cx="863600" cy="588962"/>
              <a:chOff x="2967" y="478"/>
              <a:chExt cx="788" cy="625"/>
            </a:xfrm>
          </p:grpSpPr>
          <p:pic>
            <p:nvPicPr>
              <p:cNvPr id="384" name="Picture 247" descr="access_point_stylized_small"/>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5" name="Picture 248" descr="antenna_radiation_stylized"/>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6" name="Group 390"/>
            <p:cNvGrpSpPr/>
            <p:nvPr/>
          </p:nvGrpSpPr>
          <p:grpSpPr bwMode="auto">
            <a:xfrm>
              <a:off x="1939797" y="4851969"/>
              <a:ext cx="757238" cy="682625"/>
              <a:chOff x="877" y="1008"/>
              <a:chExt cx="2747" cy="2591"/>
            </a:xfrm>
          </p:grpSpPr>
          <p:pic>
            <p:nvPicPr>
              <p:cNvPr id="387" name="Picture 391" descr="antenna_stylized"/>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8" name="Picture 392" descr="laptop_keyboard"/>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 name="Freeform 393"/>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0" name="Picture 394" descr="screen"/>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1" name="Freeform 395"/>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2" name="Freeform 396"/>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3" name="Freeform 397"/>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4" name="Freeform 398"/>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399"/>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400"/>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13" name="Group 401"/>
              <p:cNvGrpSpPr/>
              <p:nvPr/>
            </p:nvGrpSpPr>
            <p:grpSpPr bwMode="auto">
              <a:xfrm>
                <a:off x="1709" y="3008"/>
                <a:ext cx="507" cy="234"/>
                <a:chOff x="1740" y="2642"/>
                <a:chExt cx="752" cy="327"/>
              </a:xfrm>
            </p:grpSpPr>
            <p:sp>
              <p:nvSpPr>
                <p:cNvPr id="428" name="Freeform 402"/>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9" name="Freeform 403"/>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0" name="Freeform 404"/>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1" name="Freeform 405"/>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2" name="Freeform 406"/>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3" name="Freeform 407"/>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4" name="Freeform 408"/>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409"/>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Freeform 410"/>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7" name="Freeform 411"/>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8" name="Freeform 412"/>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7" name="Freeform 413"/>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94" name="Text Box 446"/>
            <p:cNvSpPr txBox="1">
              <a:spLocks noChangeArrowheads="1"/>
            </p:cNvSpPr>
            <p:nvPr/>
          </p:nvSpPr>
          <p:spPr bwMode="auto">
            <a:xfrm>
              <a:off x="3690431" y="6037217"/>
              <a:ext cx="1212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1"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mn-cs"/>
                </a:rPr>
                <a:t>to Internet</a:t>
              </a:r>
            </a:p>
          </p:txBody>
        </p:sp>
        <p:grpSp>
          <p:nvGrpSpPr>
            <p:cNvPr id="496" name="Group 114"/>
            <p:cNvGrpSpPr/>
            <p:nvPr/>
          </p:nvGrpSpPr>
          <p:grpSpPr bwMode="auto">
            <a:xfrm>
              <a:off x="2828797" y="4912294"/>
              <a:ext cx="636588" cy="879475"/>
              <a:chOff x="5806938" y="3011924"/>
              <a:chExt cx="347997" cy="396620"/>
            </a:xfrm>
          </p:grpSpPr>
          <p:pic>
            <p:nvPicPr>
              <p:cNvPr id="497" name="Picture 117" descr="fridge2.png"/>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5906702" y="307151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8" name="Picture 1115" descr="antenna_stylized"/>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5806938" y="301192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20" name="Group 519"/>
            <p:cNvGrpSpPr/>
            <p:nvPr/>
          </p:nvGrpSpPr>
          <p:grpSpPr>
            <a:xfrm>
              <a:off x="2789999" y="5883655"/>
              <a:ext cx="686068" cy="362749"/>
              <a:chOff x="7493876" y="2774731"/>
              <a:chExt cx="1481958" cy="894622"/>
            </a:xfrm>
          </p:grpSpPr>
          <p:sp>
            <p:nvSpPr>
              <p:cNvPr id="521" name="Freeform 52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22" name="Oval 52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23" name="Group 522"/>
              <p:cNvGrpSpPr/>
              <p:nvPr/>
            </p:nvGrpSpPr>
            <p:grpSpPr>
              <a:xfrm>
                <a:off x="7713663" y="2848339"/>
                <a:ext cx="1042107" cy="425543"/>
                <a:chOff x="7786941" y="2884917"/>
                <a:chExt cx="897649" cy="353919"/>
              </a:xfrm>
            </p:grpSpPr>
            <p:sp>
              <p:nvSpPr>
                <p:cNvPr id="524" name="Freeform 52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5" name="Freeform 52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6" name="Freeform 52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7" name="Freeform 52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6" name="Group 1"/>
          <p:cNvGrpSpPr/>
          <p:nvPr/>
        </p:nvGrpSpPr>
        <p:grpSpPr>
          <a:xfrm>
            <a:off x="6438177" y="2172337"/>
            <a:ext cx="5443549" cy="3889326"/>
            <a:chOff x="6525807" y="2286637"/>
            <a:chExt cx="5443549" cy="3889326"/>
          </a:xfrm>
        </p:grpSpPr>
        <p:sp>
          <p:nvSpPr>
            <p:cNvPr id="435" name="Freeform 84"/>
            <p:cNvSpPr/>
            <p:nvPr/>
          </p:nvSpPr>
          <p:spPr bwMode="auto">
            <a:xfrm>
              <a:off x="6874928" y="4765952"/>
              <a:ext cx="2365994" cy="1410011"/>
            </a:xfrm>
            <a:custGeom>
              <a:avLst/>
              <a:gdLst>
                <a:gd name="T0" fmla="*/ 1388 w 1036"/>
                <a:gd name="T1" fmla="*/ 11 h 675"/>
                <a:gd name="T2" fmla="*/ 837 w 1036"/>
                <a:gd name="T3" fmla="*/ 53 h 675"/>
                <a:gd name="T4" fmla="*/ 442 w 1036"/>
                <a:gd name="T5" fmla="*/ 129 h 675"/>
                <a:gd name="T6" fmla="*/ 329 w 1036"/>
                <a:gd name="T7" fmla="*/ 229 h 675"/>
                <a:gd name="T8" fmla="*/ 45 w 1036"/>
                <a:gd name="T9" fmla="*/ 297 h 675"/>
                <a:gd name="T10" fmla="*/ 37 w 1036"/>
                <a:gd name="T11" fmla="*/ 459 h 675"/>
                <a:gd name="T12" fmla="*/ 282 w 1036"/>
                <a:gd name="T13" fmla="*/ 489 h 675"/>
                <a:gd name="T14" fmla="*/ 984 w 1036"/>
                <a:gd name="T15" fmla="*/ 489 h 675"/>
                <a:gd name="T16" fmla="*/ 1281 w 1036"/>
                <a:gd name="T17" fmla="*/ 555 h 675"/>
                <a:gd name="T18" fmla="*/ 1612 w 1036"/>
                <a:gd name="T19" fmla="*/ 657 h 675"/>
                <a:gd name="T20" fmla="*/ 1865 w 1036"/>
                <a:gd name="T21" fmla="*/ 661 h 675"/>
                <a:gd name="T22" fmla="*/ 2039 w 1036"/>
                <a:gd name="T23" fmla="*/ 603 h 675"/>
                <a:gd name="T24" fmla="*/ 2128 w 1036"/>
                <a:gd name="T25" fmla="*/ 445 h 675"/>
                <a:gd name="T26" fmla="*/ 2183 w 1036"/>
                <a:gd name="T27" fmla="*/ 291 h 675"/>
                <a:gd name="T28" fmla="*/ 2189 w 1036"/>
                <a:gd name="T29" fmla="*/ 107 h 675"/>
                <a:gd name="T30" fmla="*/ 2001 w 1036"/>
                <a:gd name="T31" fmla="*/ 17 h 675"/>
                <a:gd name="T32" fmla="*/ 1662 w 1036"/>
                <a:gd name="T33" fmla="*/ 3 h 675"/>
                <a:gd name="T34" fmla="*/ 138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Line 93"/>
            <p:cNvSpPr>
              <a:spLocks noChangeShapeType="1"/>
            </p:cNvSpPr>
            <p:nvPr/>
          </p:nvSpPr>
          <p:spPr bwMode="auto">
            <a:xfrm>
              <a:off x="8360702" y="5771600"/>
              <a:ext cx="203294" cy="325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37" name="Picture 133" descr="car_icon_small"/>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8427747" y="4780575"/>
              <a:ext cx="1157044" cy="22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8" name="Group 134"/>
            <p:cNvGrpSpPr/>
            <p:nvPr/>
          </p:nvGrpSpPr>
          <p:grpSpPr bwMode="auto">
            <a:xfrm>
              <a:off x="7435067" y="4550795"/>
              <a:ext cx="566627" cy="507604"/>
              <a:chOff x="2751" y="1851"/>
              <a:chExt cx="462" cy="478"/>
            </a:xfrm>
          </p:grpSpPr>
          <p:pic>
            <p:nvPicPr>
              <p:cNvPr id="492" name="Picture 135" descr="iphone_stylized_small"/>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3" name="Picture 136" descr="antenna_radiation_stylized"/>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9" name="Group 252"/>
            <p:cNvGrpSpPr/>
            <p:nvPr/>
          </p:nvGrpSpPr>
          <p:grpSpPr bwMode="auto">
            <a:xfrm>
              <a:off x="8044949" y="4943509"/>
              <a:ext cx="622858" cy="831384"/>
              <a:chOff x="742" y="2409"/>
              <a:chExt cx="576" cy="881"/>
            </a:xfrm>
          </p:grpSpPr>
          <p:grpSp>
            <p:nvGrpSpPr>
              <p:cNvPr id="474" name="Group 253"/>
              <p:cNvGrpSpPr/>
              <p:nvPr/>
            </p:nvGrpSpPr>
            <p:grpSpPr bwMode="auto">
              <a:xfrm>
                <a:off x="832" y="2643"/>
                <a:ext cx="376" cy="647"/>
                <a:chOff x="3130" y="3288"/>
                <a:chExt cx="410" cy="742"/>
              </a:xfrm>
            </p:grpSpPr>
            <p:sp>
              <p:nvSpPr>
                <p:cNvPr id="477" name="Line 270"/>
                <p:cNvSpPr>
                  <a:spLocks noChangeShapeType="1"/>
                </p:cNvSpPr>
                <p:nvPr/>
              </p:nvSpPr>
              <p:spPr bwMode="auto">
                <a:xfrm flipH="1">
                  <a:off x="3130" y="3288"/>
                  <a:ext cx="205" cy="6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8" name="Line 271"/>
                <p:cNvSpPr>
                  <a:spLocks noChangeShapeType="1"/>
                </p:cNvSpPr>
                <p:nvPr/>
              </p:nvSpPr>
              <p:spPr bwMode="auto">
                <a:xfrm>
                  <a:off x="3335" y="3288"/>
                  <a:ext cx="205" cy="6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9" name="Line 272"/>
                <p:cNvSpPr>
                  <a:spLocks noChangeShapeType="1"/>
                </p:cNvSpPr>
                <p:nvPr/>
              </p:nvSpPr>
              <p:spPr bwMode="auto">
                <a:xfrm>
                  <a:off x="3130"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0" name="Line 273"/>
                <p:cNvSpPr>
                  <a:spLocks noChangeShapeType="1"/>
                </p:cNvSpPr>
                <p:nvPr/>
              </p:nvSpPr>
              <p:spPr bwMode="auto">
                <a:xfrm flipH="1">
                  <a:off x="3335"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1" name="Line 274"/>
                <p:cNvSpPr>
                  <a:spLocks noChangeShapeType="1"/>
                </p:cNvSpPr>
                <p:nvPr/>
              </p:nvSpPr>
              <p:spPr bwMode="auto">
                <a:xfrm>
                  <a:off x="3335" y="3303"/>
                  <a:ext cx="0" cy="7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2" name="Line 275"/>
                <p:cNvSpPr>
                  <a:spLocks noChangeShapeType="1"/>
                </p:cNvSpPr>
                <p:nvPr/>
              </p:nvSpPr>
              <p:spPr bwMode="auto">
                <a:xfrm flipV="1">
                  <a:off x="3130" y="3888"/>
                  <a:ext cx="205"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3" name="Line 276"/>
                <p:cNvSpPr>
                  <a:spLocks noChangeShapeType="1"/>
                </p:cNvSpPr>
                <p:nvPr/>
              </p:nvSpPr>
              <p:spPr bwMode="auto">
                <a:xfrm flipH="1" flipV="1">
                  <a:off x="3335" y="3888"/>
                  <a:ext cx="205" cy="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4" name="Line 277"/>
                <p:cNvSpPr>
                  <a:spLocks noChangeShapeType="1"/>
                </p:cNvSpPr>
                <p:nvPr/>
              </p:nvSpPr>
              <p:spPr bwMode="auto">
                <a:xfrm>
                  <a:off x="3217" y="3668"/>
                  <a:ext cx="118"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5" name="Line 278"/>
                <p:cNvSpPr>
                  <a:spLocks noChangeShapeType="1"/>
                </p:cNvSpPr>
                <p:nvPr/>
              </p:nvSpPr>
              <p:spPr bwMode="auto">
                <a:xfrm flipV="1">
                  <a:off x="3335" y="3668"/>
                  <a:ext cx="124"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Line 279"/>
                <p:cNvSpPr>
                  <a:spLocks noChangeShapeType="1"/>
                </p:cNvSpPr>
                <p:nvPr/>
              </p:nvSpPr>
              <p:spPr bwMode="auto">
                <a:xfrm>
                  <a:off x="3178" y="3766"/>
                  <a:ext cx="152" cy="7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7" name="Line 280"/>
                <p:cNvSpPr>
                  <a:spLocks noChangeShapeType="1"/>
                </p:cNvSpPr>
                <p:nvPr/>
              </p:nvSpPr>
              <p:spPr bwMode="auto">
                <a:xfrm flipV="1">
                  <a:off x="3335" y="3781"/>
                  <a:ext cx="153" cy="6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Line 281"/>
                <p:cNvSpPr>
                  <a:spLocks noChangeShapeType="1"/>
                </p:cNvSpPr>
                <p:nvPr/>
              </p:nvSpPr>
              <p:spPr bwMode="auto">
                <a:xfrm flipV="1">
                  <a:off x="3335" y="3567"/>
                  <a:ext cx="78"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Line 282"/>
                <p:cNvSpPr>
                  <a:spLocks noChangeShapeType="1"/>
                </p:cNvSpPr>
                <p:nvPr/>
              </p:nvSpPr>
              <p:spPr bwMode="auto">
                <a:xfrm flipV="1">
                  <a:off x="3335" y="3428"/>
                  <a:ext cx="49"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0" name="Line 283"/>
                <p:cNvSpPr>
                  <a:spLocks noChangeShapeType="1"/>
                </p:cNvSpPr>
                <p:nvPr/>
              </p:nvSpPr>
              <p:spPr bwMode="auto">
                <a:xfrm>
                  <a:off x="3247" y="3558"/>
                  <a:ext cx="9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1" name="Line 284"/>
                <p:cNvSpPr>
                  <a:spLocks noChangeShapeType="1"/>
                </p:cNvSpPr>
                <p:nvPr/>
              </p:nvSpPr>
              <p:spPr bwMode="auto">
                <a:xfrm>
                  <a:off x="3289" y="3422"/>
                  <a:ext cx="5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75" name="Picture 269" descr="cell_tower_radiation copy"/>
              <p:cNvPicPr>
                <a:picLocks noChangeAspect="1" noChangeArrowheads="1"/>
              </p:cNvPicPr>
              <p:nvPr/>
            </p:nvPicPr>
            <p:blipFill>
              <a:blip r:embed="rId12">
                <a:extLst>
                  <a:ext uri="{28A0092B-C50C-407E-A947-70E740481C1C}">
                    <a14:useLocalDpi xmlns:a14="http://schemas.microsoft.com/office/drawing/2010/main"/>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6" name="Oval 270"/>
              <p:cNvSpPr>
                <a:spLocks noChangeArrowheads="1"/>
              </p:cNvSpPr>
              <p:nvPr/>
            </p:nvSpPr>
            <p:spPr bwMode="auto">
              <a:xfrm>
                <a:off x="986" y="2597"/>
                <a:ext cx="65" cy="67"/>
              </a:xfrm>
              <a:prstGeom prst="ellipse">
                <a:avLst/>
              </a:prstGeom>
              <a:solidFill>
                <a:schemeClr val="tx2"/>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mn-cs"/>
                </a:endParaRPr>
              </a:p>
            </p:txBody>
          </p:sp>
        </p:grpSp>
        <p:grpSp>
          <p:nvGrpSpPr>
            <p:cNvPr id="440" name="Group 342"/>
            <p:cNvGrpSpPr/>
            <p:nvPr/>
          </p:nvGrpSpPr>
          <p:grpSpPr bwMode="auto">
            <a:xfrm>
              <a:off x="7011178" y="5204622"/>
              <a:ext cx="728830" cy="536849"/>
              <a:chOff x="877" y="1008"/>
              <a:chExt cx="2747" cy="2591"/>
            </a:xfrm>
          </p:grpSpPr>
          <p:pic>
            <p:nvPicPr>
              <p:cNvPr id="451" name="Picture 343" descr="antenna_stylized"/>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2" name="Picture 344" descr="laptop_keyboard"/>
              <p:cNvPicPr>
                <a:picLocks noChangeAspect="1" noChangeArrowheads="1"/>
              </p:cNvPicPr>
              <p:nvPr/>
            </p:nvPicPr>
            <p:blipFill>
              <a:blip r:embed="rId14" cstate="print">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3" name="Freeform 345"/>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54" name="Picture 346" descr="screen"/>
              <p:cNvPicPr>
                <a:picLocks noChangeAspect="1" noChangeArrowheads="1"/>
              </p:cNvPicPr>
              <p:nvPr/>
            </p:nvPicPr>
            <p:blipFill>
              <a:blip r:embed="rId15">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5" name="Freeform 347"/>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6" name="Freeform 348"/>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7" name="Freeform 349"/>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8" name="Freeform 350"/>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9" name="Freeform 351"/>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0" name="Freeform 352"/>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61" name="Group 353"/>
              <p:cNvGrpSpPr/>
              <p:nvPr/>
            </p:nvGrpSpPr>
            <p:grpSpPr bwMode="auto">
              <a:xfrm>
                <a:off x="1709" y="3008"/>
                <a:ext cx="507" cy="234"/>
                <a:chOff x="1740" y="2642"/>
                <a:chExt cx="752" cy="327"/>
              </a:xfrm>
            </p:grpSpPr>
            <p:sp>
              <p:nvSpPr>
                <p:cNvPr id="468" name="Freeform 354"/>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9" name="Freeform 355"/>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0" name="Freeform 356"/>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1" name="Freeform 357"/>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2" name="Freeform 358"/>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3" name="Freeform 359"/>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62" name="Freeform 360"/>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3" name="Freeform 361"/>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4" name="Freeform 362"/>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5" name="Freeform 363"/>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6" name="Freeform 364"/>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7" name="Freeform 365"/>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42" name="Line 444"/>
            <p:cNvSpPr>
              <a:spLocks noChangeShapeType="1"/>
            </p:cNvSpPr>
            <p:nvPr/>
          </p:nvSpPr>
          <p:spPr bwMode="auto">
            <a:xfrm>
              <a:off x="8933050" y="5885917"/>
              <a:ext cx="62934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5" name="Text Box 447"/>
            <p:cNvSpPr txBox="1">
              <a:spLocks noChangeArrowheads="1"/>
            </p:cNvSpPr>
            <p:nvPr/>
          </p:nvSpPr>
          <p:spPr bwMode="auto">
            <a:xfrm>
              <a:off x="9277842" y="5809251"/>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1800" b="0" i="1"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mn-cs"/>
                </a:rPr>
                <a:t>to Internet</a:t>
              </a:r>
            </a:p>
          </p:txBody>
        </p:sp>
        <p:sp>
          <p:nvSpPr>
            <p:cNvPr id="519" name="Rectangle 3"/>
            <p:cNvSpPr>
              <a:spLocks noChangeArrowheads="1"/>
            </p:cNvSpPr>
            <p:nvPr/>
          </p:nvSpPr>
          <p:spPr bwMode="auto">
            <a:xfrm>
              <a:off x="6525807" y="2286637"/>
              <a:ext cx="5443549" cy="2381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MS PGothic" panose="020B0600070205080204" pitchFamily="34" charset="-128"/>
                </a:defRPr>
              </a:lvl1pPr>
              <a:lvl2pPr marL="682625" indent="-225425">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342900" marR="0" lvl="0" indent="-342900" algn="l" defTabSz="914400" rtl="0" eaLnBrk="1" fontAlgn="auto" latinLnBrk="0" hangingPunct="1">
                <a:lnSpc>
                  <a:spcPct val="130000"/>
                </a:lnSpc>
                <a:spcBef>
                  <a:spcPct val="20000"/>
                </a:spcBef>
                <a:spcAft>
                  <a:spcPts val="0"/>
                </a:spcAft>
                <a:buClr>
                  <a:srgbClr val="000099"/>
                </a:buClr>
                <a:buSzPct val="65000"/>
                <a:buFont typeface="Wingdings" panose="05000000000000000000" pitchFamily="2" charset="2"/>
                <a:buNone/>
                <a:defRPr/>
              </a:pPr>
              <a:r>
                <a:rPr kumimoji="0" lang="en-US" altLang="en-US" b="0" i="0" u="none" strike="noStrike" kern="1200" cap="none" spc="0" normalizeH="0" baseline="0" noProof="0" dirty="0" err="1">
                  <a:ln>
                    <a:noFill/>
                  </a:ln>
                  <a:solidFill>
                    <a:srgbClr val="CC0000"/>
                  </a:solidFill>
                  <a:effectLst/>
                  <a:uLnTx/>
                  <a:uFillTx/>
                  <a:latin typeface="微软雅黑" panose="020B0503020204020204" pitchFamily="34" charset="-122"/>
                  <a:ea typeface="微软雅黑" panose="020B0503020204020204" pitchFamily="34" charset="-122"/>
                  <a:cs typeface="Calibri" panose="020F0502020204030204" pitchFamily="34" charset="0"/>
                </a:rPr>
                <a:t>广域蜂窝接入网</a:t>
              </a:r>
              <a:endParaRPr kumimoji="0" lang="en-US" altLang="en-US"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a:p>
              <a:pPr marL="342900" marR="0" lvl="0" indent="-342900" algn="l" defTabSz="914400" rtl="0" eaLnBrk="1" fontAlgn="auto" latinLnBrk="0" hangingPunct="1">
                <a:lnSpc>
                  <a:spcPct val="130000"/>
                </a:lnSpc>
                <a:spcBef>
                  <a:spcPct val="20000"/>
                </a:spcBef>
                <a:spcAft>
                  <a:spcPts val="0"/>
                </a:spcAft>
                <a:buClr>
                  <a:srgbClr val="000099"/>
                </a:buClr>
                <a:buSzPct val="65000"/>
                <a:buFont typeface="Arial" panose="020B0604020202020204" pitchFamily="34" charset="0"/>
                <a:buChar char="•"/>
                <a:defRPr/>
              </a:pPr>
              <a:r>
                <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由移动蜂窝网络运营商提供（10公里）</a:t>
              </a:r>
            </a:p>
            <a:p>
              <a:pPr>
                <a:lnSpc>
                  <a:spcPct val="130000"/>
                </a:lnSpc>
                <a:spcBef>
                  <a:spcPct val="20000"/>
                </a:spcBef>
                <a:buClr>
                  <a:srgbClr val="000099"/>
                </a:buClr>
                <a:buSzPct val="65000"/>
                <a:buFont typeface="Arial" panose="020B0604020202020204" pitchFamily="34" charset="0"/>
                <a:buChar char="•"/>
                <a:defRPr/>
              </a:pP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2G/3G/4G/5G等蜂窝网络</a:t>
              </a:r>
            </a:p>
            <a:p>
              <a:pPr lvl="0">
                <a:lnSpc>
                  <a:spcPct val="130000"/>
                </a:lnSpc>
                <a:spcBef>
                  <a:spcPct val="20000"/>
                </a:spcBef>
                <a:buClr>
                  <a:srgbClr val="000099"/>
                </a:buClr>
                <a:buSzPct val="65000"/>
                <a:buFont typeface="Arial" panose="020B0604020202020204" pitchFamily="34" charset="0"/>
                <a:buChar char="•"/>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1000 </a:t>
              </a:r>
              <a:r>
                <a:rPr kumimoji="0" lang="en-US" sz="20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Mbps速率</a:t>
              </a:r>
              <a:endPar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28" name="Group 527"/>
            <p:cNvGrpSpPr/>
            <p:nvPr/>
          </p:nvGrpSpPr>
          <p:grpSpPr>
            <a:xfrm>
              <a:off x="8517156" y="5755545"/>
              <a:ext cx="499292" cy="246225"/>
              <a:chOff x="7493876" y="2774731"/>
              <a:chExt cx="1481958" cy="894622"/>
            </a:xfrm>
          </p:grpSpPr>
          <p:sp>
            <p:nvSpPr>
              <p:cNvPr id="529" name="Freeform 52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30" name="Oval 52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31" name="Group 530"/>
              <p:cNvGrpSpPr/>
              <p:nvPr/>
            </p:nvGrpSpPr>
            <p:grpSpPr>
              <a:xfrm>
                <a:off x="7713663" y="2848339"/>
                <a:ext cx="1042107" cy="425543"/>
                <a:chOff x="7786941" y="2884917"/>
                <a:chExt cx="897649" cy="353919"/>
              </a:xfrm>
            </p:grpSpPr>
            <p:sp>
              <p:nvSpPr>
                <p:cNvPr id="532" name="Freeform 53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3" name="Freeform 53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4" name="Freeform 53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5" name="Freeform 53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7" name="灯片编号占位符 6">
            <a:extLst>
              <a:ext uri="{FF2B5EF4-FFF2-40B4-BE49-F238E27FC236}">
                <a16:creationId xmlns:a16="http://schemas.microsoft.com/office/drawing/2014/main" id="{06D04425-2BCC-0D4A-B7BE-665BBB514F5C}"/>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113" name="文本框 112">
            <a:extLst>
              <a:ext uri="{FF2B5EF4-FFF2-40B4-BE49-F238E27FC236}">
                <a16:creationId xmlns:a16="http://schemas.microsoft.com/office/drawing/2014/main" id="{0948735B-2280-4B4A-A9A1-EE8769EB2C02}"/>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网络分类：接入网</a:t>
            </a:r>
          </a:p>
        </p:txBody>
      </p:sp>
    </p:spTree>
    <p:extLst>
      <p:ext uri="{BB962C8B-B14F-4D97-AF65-F5344CB8AC3E}">
        <p14:creationId xmlns:p14="http://schemas.microsoft.com/office/powerpoint/2010/main" val="216310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2BE99-B751-9447-8C36-281D10417A86}"/>
              </a:ext>
            </a:extLst>
          </p:cNvPr>
          <p:cNvSpPr>
            <a:spLocks noGrp="1"/>
          </p:cNvSpPr>
          <p:nvPr>
            <p:ph type="title"/>
          </p:nvPr>
        </p:nvSpPr>
        <p:spPr>
          <a:xfrm>
            <a:off x="1307508" y="365126"/>
            <a:ext cx="8461936" cy="879086"/>
          </a:xfrm>
        </p:spPr>
        <p:txBody>
          <a:bodyPr>
            <a:normAutofit/>
          </a:bodyPr>
          <a:lstStyle/>
          <a:p>
            <a:r>
              <a:rPr lang="zh-CN" altLang="en-US" dirty="0"/>
              <a:t>接入网：企业和家庭网络</a:t>
            </a:r>
            <a:endParaRPr kumimoji="1" lang="zh-CN" altLang="en-US" dirty="0"/>
          </a:p>
        </p:txBody>
      </p:sp>
      <p:sp>
        <p:nvSpPr>
          <p:cNvPr id="3" name="内容占位符 2">
            <a:extLst>
              <a:ext uri="{FF2B5EF4-FFF2-40B4-BE49-F238E27FC236}">
                <a16:creationId xmlns:a16="http://schemas.microsoft.com/office/drawing/2014/main" id="{A50F063A-8DB5-3647-9D80-381EF2EC9A07}"/>
              </a:ext>
            </a:extLst>
          </p:cNvPr>
          <p:cNvSpPr>
            <a:spLocks noGrp="1"/>
          </p:cNvSpPr>
          <p:nvPr>
            <p:ph idx="1"/>
          </p:nvPr>
        </p:nvSpPr>
        <p:spPr>
          <a:xfrm>
            <a:off x="923314" y="1433231"/>
            <a:ext cx="5150783" cy="4858387"/>
          </a:xfrm>
        </p:spPr>
        <p:txBody>
          <a:bodyPr>
            <a:noAutofit/>
          </a:bodyPr>
          <a:lstStyle/>
          <a:p>
            <a:r>
              <a:rPr lang="zh-CN" altLang="en-US" dirty="0"/>
              <a:t>实际的接入网</a:t>
            </a:r>
          </a:p>
          <a:p>
            <a:pPr lvl="1"/>
            <a:r>
              <a:rPr lang="zh-CN" altLang="en-US" dirty="0"/>
              <a:t>往往采用有线、无线等多种技术的混合</a:t>
            </a:r>
            <a:endParaRPr lang="en-US" altLang="zh-CN" dirty="0"/>
          </a:p>
          <a:p>
            <a:pPr lvl="1"/>
            <a:r>
              <a:rPr lang="zh-CN" altLang="en-US" dirty="0"/>
              <a:t>甚至</a:t>
            </a:r>
            <a:r>
              <a:rPr lang="en-US" altLang="zh-CN" dirty="0" err="1"/>
              <a:t>WiFi</a:t>
            </a:r>
            <a:r>
              <a:rPr lang="zh-CN" altLang="en-US" dirty="0"/>
              <a:t>和</a:t>
            </a:r>
            <a:r>
              <a:rPr lang="en-US" altLang="zh-CN" dirty="0"/>
              <a:t>4G</a:t>
            </a:r>
            <a:r>
              <a:rPr lang="zh-CN" altLang="en-US" dirty="0"/>
              <a:t>等多种无线技术的混合接入</a:t>
            </a:r>
          </a:p>
          <a:p>
            <a:r>
              <a:rPr lang="zh-CN" altLang="en-US" dirty="0"/>
              <a:t>有线以太网接入</a:t>
            </a:r>
            <a:endParaRPr lang="en-US" altLang="zh-CN" dirty="0"/>
          </a:p>
          <a:p>
            <a:pPr lvl="1"/>
            <a:r>
              <a:rPr lang="zh-CN" altLang="en-US" dirty="0"/>
              <a:t>100Mbps、1Gbps、</a:t>
            </a:r>
            <a:br>
              <a:rPr lang="en-US" altLang="zh-CN" dirty="0"/>
            </a:br>
            <a:r>
              <a:rPr lang="zh-CN" altLang="en-US" dirty="0"/>
              <a:t>10Gbps等接入速率</a:t>
            </a:r>
          </a:p>
          <a:p>
            <a:r>
              <a:rPr lang="zh-CN" altLang="en-US" dirty="0"/>
              <a:t>无线WiFi接入</a:t>
            </a:r>
            <a:endParaRPr lang="en-US" altLang="zh-CN" dirty="0"/>
          </a:p>
          <a:p>
            <a:pPr lvl="1"/>
            <a:r>
              <a:rPr lang="zh-CN" altLang="en-US" dirty="0"/>
              <a:t>11、54、450Mbps等</a:t>
            </a:r>
            <a:endParaRPr lang="zh-CN" altLang="en-US" sz="1800" dirty="0"/>
          </a:p>
        </p:txBody>
      </p:sp>
      <p:sp>
        <p:nvSpPr>
          <p:cNvPr id="6" name="AutoShape 99">
            <a:extLst>
              <a:ext uri="{FF2B5EF4-FFF2-40B4-BE49-F238E27FC236}">
                <a16:creationId xmlns:a16="http://schemas.microsoft.com/office/drawing/2014/main" id="{E172F886-2983-6D41-B966-9278B70A7D47}"/>
              </a:ext>
            </a:extLst>
          </p:cNvPr>
          <p:cNvSpPr>
            <a:spLocks noChangeArrowheads="1"/>
          </p:cNvSpPr>
          <p:nvPr/>
        </p:nvSpPr>
        <p:spPr bwMode="auto">
          <a:xfrm>
            <a:off x="6626444" y="2565286"/>
            <a:ext cx="4542014" cy="455507"/>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7" name="Rectangle 87">
            <a:extLst>
              <a:ext uri="{FF2B5EF4-FFF2-40B4-BE49-F238E27FC236}">
                <a16:creationId xmlns:a16="http://schemas.microsoft.com/office/drawing/2014/main" id="{918C1314-52FD-3842-9779-2BFE58B459AB}"/>
              </a:ext>
            </a:extLst>
          </p:cNvPr>
          <p:cNvSpPr>
            <a:spLocks noChangeArrowheads="1"/>
          </p:cNvSpPr>
          <p:nvPr/>
        </p:nvSpPr>
        <p:spPr bwMode="auto">
          <a:xfrm>
            <a:off x="6976124" y="3012323"/>
            <a:ext cx="3843930" cy="157827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pic>
        <p:nvPicPr>
          <p:cNvPr id="8" name="Picture 120" descr="access_point_stylized_small">
            <a:extLst>
              <a:ext uri="{FF2B5EF4-FFF2-40B4-BE49-F238E27FC236}">
                <a16:creationId xmlns:a16="http://schemas.microsoft.com/office/drawing/2014/main" id="{B7D26C6C-A51F-E749-A083-26C15A36260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527997" y="3651353"/>
            <a:ext cx="627815" cy="42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1" descr="antenna_radiation_stylized">
            <a:extLst>
              <a:ext uri="{FF2B5EF4-FFF2-40B4-BE49-F238E27FC236}">
                <a16:creationId xmlns:a16="http://schemas.microsoft.com/office/drawing/2014/main" id="{86D69E55-7CD4-0546-9528-077182B367AD}"/>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478949" y="3588295"/>
            <a:ext cx="858886" cy="146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44" descr="iphone_stylized_small">
            <a:extLst>
              <a:ext uri="{FF2B5EF4-FFF2-40B4-BE49-F238E27FC236}">
                <a16:creationId xmlns:a16="http://schemas.microsoft.com/office/drawing/2014/main" id="{606AA6DB-EE8A-7643-9403-4935FE3EB25A}"/>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358986" y="3103613"/>
            <a:ext cx="193983" cy="38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5" descr="antenna_radiation_stylized">
            <a:extLst>
              <a:ext uri="{FF2B5EF4-FFF2-40B4-BE49-F238E27FC236}">
                <a16:creationId xmlns:a16="http://schemas.microsoft.com/office/drawing/2014/main" id="{9D5F16BF-36B8-0A40-90B8-C795ADFBF519}"/>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133097" y="3036792"/>
            <a:ext cx="589607" cy="10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47">
            <a:extLst>
              <a:ext uri="{FF2B5EF4-FFF2-40B4-BE49-F238E27FC236}">
                <a16:creationId xmlns:a16="http://schemas.microsoft.com/office/drawing/2014/main" id="{ED80294F-BF25-2C4E-8435-336D6E4D79D7}"/>
              </a:ext>
            </a:extLst>
          </p:cNvPr>
          <p:cNvSpPr>
            <a:spLocks noChangeArrowheads="1"/>
          </p:cNvSpPr>
          <p:nvPr/>
        </p:nvSpPr>
        <p:spPr bwMode="auto">
          <a:xfrm>
            <a:off x="7023089" y="3657618"/>
            <a:ext cx="3935817" cy="480299"/>
          </a:xfrm>
          <a:prstGeom prst="ellipse">
            <a:avLst/>
          </a:prstGeom>
          <a:noFill/>
          <a:ln w="19050">
            <a:solidFill>
              <a:srgbClr val="CC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pic>
        <p:nvPicPr>
          <p:cNvPr id="13" name="Picture 152" descr="antenna_stylized">
            <a:extLst>
              <a:ext uri="{FF2B5EF4-FFF2-40B4-BE49-F238E27FC236}">
                <a16:creationId xmlns:a16="http://schemas.microsoft.com/office/drawing/2014/main" id="{35135650-DF58-9547-88B5-4FAF25A04EC9}"/>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7933278" y="2807157"/>
            <a:ext cx="760856" cy="333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3" descr="laptop_keyboard">
            <a:extLst>
              <a:ext uri="{FF2B5EF4-FFF2-40B4-BE49-F238E27FC236}">
                <a16:creationId xmlns:a16="http://schemas.microsoft.com/office/drawing/2014/main" id="{0429FE75-B42C-9843-83F5-A26972F59D5D}"/>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rot="109064" flipH="1">
            <a:off x="7970134" y="3178002"/>
            <a:ext cx="626834" cy="23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Freeform 154">
            <a:extLst>
              <a:ext uri="{FF2B5EF4-FFF2-40B4-BE49-F238E27FC236}">
                <a16:creationId xmlns:a16="http://schemas.microsoft.com/office/drawing/2014/main" id="{7DD51875-DB10-0B46-A599-0068DD8BA231}"/>
              </a:ext>
            </a:extLst>
          </p:cNvPr>
          <p:cNvSpPr/>
          <p:nvPr/>
        </p:nvSpPr>
        <p:spPr bwMode="auto">
          <a:xfrm>
            <a:off x="8177869" y="2946988"/>
            <a:ext cx="504539" cy="310683"/>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pic>
        <p:nvPicPr>
          <p:cNvPr id="16" name="Picture 155" descr="screen">
            <a:extLst>
              <a:ext uri="{FF2B5EF4-FFF2-40B4-BE49-F238E27FC236}">
                <a16:creationId xmlns:a16="http://schemas.microsoft.com/office/drawing/2014/main" id="{197C41D4-E3FC-8B4C-87DC-4BD861A65134}"/>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8202719" y="2954978"/>
            <a:ext cx="458468" cy="28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reeform 156">
            <a:extLst>
              <a:ext uri="{FF2B5EF4-FFF2-40B4-BE49-F238E27FC236}">
                <a16:creationId xmlns:a16="http://schemas.microsoft.com/office/drawing/2014/main" id="{D7DC39AB-5BC8-0048-9B71-6180D75BA3DE}"/>
              </a:ext>
            </a:extLst>
          </p:cNvPr>
          <p:cNvSpPr/>
          <p:nvPr/>
        </p:nvSpPr>
        <p:spPr bwMode="auto">
          <a:xfrm>
            <a:off x="8269730" y="2937822"/>
            <a:ext cx="427475" cy="57812"/>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18" name="Freeform 157">
            <a:extLst>
              <a:ext uri="{FF2B5EF4-FFF2-40B4-BE49-F238E27FC236}">
                <a16:creationId xmlns:a16="http://schemas.microsoft.com/office/drawing/2014/main" id="{A6B057FE-1F89-A142-9FA9-06B6CDBEF810}"/>
              </a:ext>
            </a:extLst>
          </p:cNvPr>
          <p:cNvSpPr/>
          <p:nvPr/>
        </p:nvSpPr>
        <p:spPr bwMode="auto">
          <a:xfrm>
            <a:off x="8173402" y="2937352"/>
            <a:ext cx="118666" cy="240650"/>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19" name="Freeform 158">
            <a:extLst>
              <a:ext uri="{FF2B5EF4-FFF2-40B4-BE49-F238E27FC236}">
                <a16:creationId xmlns:a16="http://schemas.microsoft.com/office/drawing/2014/main" id="{E557F67E-CE64-E746-A8D9-CAC1A3BF55F3}"/>
              </a:ext>
            </a:extLst>
          </p:cNvPr>
          <p:cNvSpPr/>
          <p:nvPr/>
        </p:nvSpPr>
        <p:spPr bwMode="auto">
          <a:xfrm>
            <a:off x="8566255" y="2980359"/>
            <a:ext cx="127879" cy="2777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0" name="Freeform 159">
            <a:extLst>
              <a:ext uri="{FF2B5EF4-FFF2-40B4-BE49-F238E27FC236}">
                <a16:creationId xmlns:a16="http://schemas.microsoft.com/office/drawing/2014/main" id="{BD140AAD-831D-0A48-ADAA-13CD9B61C32F}"/>
              </a:ext>
            </a:extLst>
          </p:cNvPr>
          <p:cNvSpPr/>
          <p:nvPr/>
        </p:nvSpPr>
        <p:spPr bwMode="auto">
          <a:xfrm>
            <a:off x="8172005" y="3165782"/>
            <a:ext cx="469078" cy="9376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1" name="Freeform 160">
            <a:extLst>
              <a:ext uri="{FF2B5EF4-FFF2-40B4-BE49-F238E27FC236}">
                <a16:creationId xmlns:a16="http://schemas.microsoft.com/office/drawing/2014/main" id="{3D640BD3-8E0F-2B41-98DD-C4A65A90D566}"/>
              </a:ext>
            </a:extLst>
          </p:cNvPr>
          <p:cNvSpPr/>
          <p:nvPr/>
        </p:nvSpPr>
        <p:spPr bwMode="auto">
          <a:xfrm>
            <a:off x="8580495" y="2982709"/>
            <a:ext cx="119782" cy="27895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2" name="Freeform 161">
            <a:extLst>
              <a:ext uri="{FF2B5EF4-FFF2-40B4-BE49-F238E27FC236}">
                <a16:creationId xmlns:a16="http://schemas.microsoft.com/office/drawing/2014/main" id="{C40A1491-9236-FE42-B846-FF8FB7952B81}"/>
              </a:ext>
            </a:extLst>
          </p:cNvPr>
          <p:cNvSpPr/>
          <p:nvPr/>
        </p:nvSpPr>
        <p:spPr bwMode="auto">
          <a:xfrm>
            <a:off x="8172564" y="3178238"/>
            <a:ext cx="417145" cy="925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nvGrpSpPr>
          <p:cNvPr id="23" name="Group 162">
            <a:extLst>
              <a:ext uri="{FF2B5EF4-FFF2-40B4-BE49-F238E27FC236}">
                <a16:creationId xmlns:a16="http://schemas.microsoft.com/office/drawing/2014/main" id="{1FBE181A-8FC5-5840-830E-B712B3091C61}"/>
              </a:ext>
            </a:extLst>
          </p:cNvPr>
          <p:cNvGrpSpPr/>
          <p:nvPr/>
        </p:nvGrpSpPr>
        <p:grpSpPr bwMode="auto">
          <a:xfrm>
            <a:off x="8165584" y="3277177"/>
            <a:ext cx="141561" cy="54992"/>
            <a:chOff x="1740" y="2642"/>
            <a:chExt cx="752" cy="327"/>
          </a:xfrm>
        </p:grpSpPr>
        <p:sp>
          <p:nvSpPr>
            <p:cNvPr id="66" name="Freeform 163">
              <a:extLst>
                <a:ext uri="{FF2B5EF4-FFF2-40B4-BE49-F238E27FC236}">
                  <a16:creationId xmlns:a16="http://schemas.microsoft.com/office/drawing/2014/main" id="{A9D25397-BDBA-A249-B0AA-8373477B1C01}"/>
                </a:ext>
              </a:extLst>
            </p:cNvPr>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67" name="Freeform 164">
              <a:extLst>
                <a:ext uri="{FF2B5EF4-FFF2-40B4-BE49-F238E27FC236}">
                  <a16:creationId xmlns:a16="http://schemas.microsoft.com/office/drawing/2014/main" id="{AA6346E4-54FA-674E-B51A-9B5603473AFB}"/>
                </a:ext>
              </a:extLst>
            </p:cNvPr>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68" name="Freeform 165">
              <a:extLst>
                <a:ext uri="{FF2B5EF4-FFF2-40B4-BE49-F238E27FC236}">
                  <a16:creationId xmlns:a16="http://schemas.microsoft.com/office/drawing/2014/main" id="{9737211B-50EB-B649-ADCA-EF0D7CB2BACF}"/>
                </a:ext>
              </a:extLst>
            </p:cNvPr>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69" name="Freeform 166">
              <a:extLst>
                <a:ext uri="{FF2B5EF4-FFF2-40B4-BE49-F238E27FC236}">
                  <a16:creationId xmlns:a16="http://schemas.microsoft.com/office/drawing/2014/main" id="{BF5381C8-821F-224B-B997-44023C653245}"/>
                </a:ext>
              </a:extLst>
            </p:cNvPr>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70" name="Freeform 167">
              <a:extLst>
                <a:ext uri="{FF2B5EF4-FFF2-40B4-BE49-F238E27FC236}">
                  <a16:creationId xmlns:a16="http://schemas.microsoft.com/office/drawing/2014/main" id="{B9022BD7-1E2D-7246-B9BB-ACC95AF222F1}"/>
                </a:ext>
              </a:extLst>
            </p:cNvPr>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71" name="Freeform 168">
              <a:extLst>
                <a:ext uri="{FF2B5EF4-FFF2-40B4-BE49-F238E27FC236}">
                  <a16:creationId xmlns:a16="http://schemas.microsoft.com/office/drawing/2014/main" id="{4D8E13F1-94C2-D24A-95F9-38B1899B92C9}"/>
                </a:ext>
              </a:extLst>
            </p:cNvPr>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sp>
        <p:nvSpPr>
          <p:cNvPr id="24" name="Freeform 169">
            <a:extLst>
              <a:ext uri="{FF2B5EF4-FFF2-40B4-BE49-F238E27FC236}">
                <a16:creationId xmlns:a16="http://schemas.microsoft.com/office/drawing/2014/main" id="{73605C85-4C65-F04E-A375-C4D47849B514}"/>
              </a:ext>
            </a:extLst>
          </p:cNvPr>
          <p:cNvSpPr/>
          <p:nvPr/>
        </p:nvSpPr>
        <p:spPr bwMode="auto">
          <a:xfrm>
            <a:off x="8407941" y="3285402"/>
            <a:ext cx="171437" cy="120795"/>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5" name="Freeform 170">
            <a:extLst>
              <a:ext uri="{FF2B5EF4-FFF2-40B4-BE49-F238E27FC236}">
                <a16:creationId xmlns:a16="http://schemas.microsoft.com/office/drawing/2014/main" id="{F7DC6AAF-517C-354E-8420-E2FFFEDD89C1}"/>
              </a:ext>
            </a:extLst>
          </p:cNvPr>
          <p:cNvSpPr/>
          <p:nvPr/>
        </p:nvSpPr>
        <p:spPr bwMode="auto">
          <a:xfrm>
            <a:off x="7970414" y="3295037"/>
            <a:ext cx="438644" cy="110220"/>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6" name="Freeform 171">
            <a:extLst>
              <a:ext uri="{FF2B5EF4-FFF2-40B4-BE49-F238E27FC236}">
                <a16:creationId xmlns:a16="http://schemas.microsoft.com/office/drawing/2014/main" id="{F2BFF84C-1CBC-C643-93A0-D813C625F44E}"/>
              </a:ext>
            </a:extLst>
          </p:cNvPr>
          <p:cNvSpPr/>
          <p:nvPr/>
        </p:nvSpPr>
        <p:spPr bwMode="auto">
          <a:xfrm>
            <a:off x="7970693" y="3274826"/>
            <a:ext cx="4746" cy="22326"/>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7" name="Freeform 172">
            <a:extLst>
              <a:ext uri="{FF2B5EF4-FFF2-40B4-BE49-F238E27FC236}">
                <a16:creationId xmlns:a16="http://schemas.microsoft.com/office/drawing/2014/main" id="{5CBD4B76-47BA-A041-A9A8-D122AA623039}"/>
              </a:ext>
            </a:extLst>
          </p:cNvPr>
          <p:cNvSpPr/>
          <p:nvPr/>
        </p:nvSpPr>
        <p:spPr bwMode="auto">
          <a:xfrm>
            <a:off x="7970972" y="3183878"/>
            <a:ext cx="203825" cy="92359"/>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8" name="Freeform 173">
            <a:extLst>
              <a:ext uri="{FF2B5EF4-FFF2-40B4-BE49-F238E27FC236}">
                <a16:creationId xmlns:a16="http://schemas.microsoft.com/office/drawing/2014/main" id="{D7385DD3-E25C-8042-BB07-75C73A6F7322}"/>
              </a:ext>
            </a:extLst>
          </p:cNvPr>
          <p:cNvSpPr/>
          <p:nvPr/>
        </p:nvSpPr>
        <p:spPr bwMode="auto">
          <a:xfrm>
            <a:off x="7984654" y="3279527"/>
            <a:ext cx="416028" cy="10598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29" name="Freeform 174">
            <a:extLst>
              <a:ext uri="{FF2B5EF4-FFF2-40B4-BE49-F238E27FC236}">
                <a16:creationId xmlns:a16="http://schemas.microsoft.com/office/drawing/2014/main" id="{A2E0E524-2CB5-8D43-990D-0FF9DE6EE67A}"/>
              </a:ext>
            </a:extLst>
          </p:cNvPr>
          <p:cNvSpPr/>
          <p:nvPr/>
        </p:nvSpPr>
        <p:spPr bwMode="auto">
          <a:xfrm flipV="1">
            <a:off x="8400123" y="3272006"/>
            <a:ext cx="169761" cy="109750"/>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pic>
        <p:nvPicPr>
          <p:cNvPr id="30" name="Picture 176" descr="desktop_computer_stylized_medium">
            <a:extLst>
              <a:ext uri="{FF2B5EF4-FFF2-40B4-BE49-F238E27FC236}">
                <a16:creationId xmlns:a16="http://schemas.microsoft.com/office/drawing/2014/main" id="{595608E7-42F0-2C42-9624-1043463D686A}"/>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flipH="1">
            <a:off x="8552237" y="3082907"/>
            <a:ext cx="903553" cy="511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Freeform 177">
            <a:extLst>
              <a:ext uri="{FF2B5EF4-FFF2-40B4-BE49-F238E27FC236}">
                <a16:creationId xmlns:a16="http://schemas.microsoft.com/office/drawing/2014/main" id="{41A1EA9E-9109-1B44-BC33-E6B1FB7A2F06}"/>
              </a:ext>
            </a:extLst>
          </p:cNvPr>
          <p:cNvSpPr/>
          <p:nvPr/>
        </p:nvSpPr>
        <p:spPr bwMode="auto">
          <a:xfrm flipH="1">
            <a:off x="8937237" y="3131930"/>
            <a:ext cx="439343" cy="234012"/>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pic>
        <p:nvPicPr>
          <p:cNvPr id="32" name="Picture 179" descr="desktop_computer_stylized_medium">
            <a:extLst>
              <a:ext uri="{FF2B5EF4-FFF2-40B4-BE49-F238E27FC236}">
                <a16:creationId xmlns:a16="http://schemas.microsoft.com/office/drawing/2014/main" id="{417F6987-6F13-464F-B575-2ADD1289D2AB}"/>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flipH="1">
            <a:off x="8477963" y="4153913"/>
            <a:ext cx="682769" cy="42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180">
            <a:extLst>
              <a:ext uri="{FF2B5EF4-FFF2-40B4-BE49-F238E27FC236}">
                <a16:creationId xmlns:a16="http://schemas.microsoft.com/office/drawing/2014/main" id="{68610ADF-3FC0-384B-8CB0-411EAB35F8D8}"/>
              </a:ext>
            </a:extLst>
          </p:cNvPr>
          <p:cNvSpPr/>
          <p:nvPr/>
        </p:nvSpPr>
        <p:spPr bwMode="auto">
          <a:xfrm flipH="1">
            <a:off x="8768888" y="4194449"/>
            <a:ext cx="331989" cy="193502"/>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pic>
        <p:nvPicPr>
          <p:cNvPr id="34" name="Picture 101" descr="fridge2.png">
            <a:extLst>
              <a:ext uri="{FF2B5EF4-FFF2-40B4-BE49-F238E27FC236}">
                <a16:creationId xmlns:a16="http://schemas.microsoft.com/office/drawing/2014/main" id="{8804E887-C076-E74E-A39C-EF7F231A1ECA}"/>
              </a:ext>
            </a:extLst>
          </p:cNvPr>
          <p:cNvPicPr>
            <a:picLocks noChangeAspect="1"/>
          </p:cNvPicPr>
          <p:nvPr/>
        </p:nvPicPr>
        <p:blipFill>
          <a:blip r:embed="rId11">
            <a:extLst>
              <a:ext uri="{28A0092B-C50C-407E-A947-70E740481C1C}">
                <a14:useLocalDpi xmlns:a14="http://schemas.microsoft.com/office/drawing/2010/main"/>
              </a:ext>
            </a:extLst>
          </a:blip>
          <a:srcRect/>
          <a:stretch>
            <a:fillRect/>
          </a:stretch>
        </p:blipFill>
        <p:spPr bwMode="auto">
          <a:xfrm>
            <a:off x="9847784" y="3004608"/>
            <a:ext cx="419923" cy="642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1115" descr="antenna_stylized">
            <a:extLst>
              <a:ext uri="{FF2B5EF4-FFF2-40B4-BE49-F238E27FC236}">
                <a16:creationId xmlns:a16="http://schemas.microsoft.com/office/drawing/2014/main" id="{BBF0D377-E2B5-1743-8928-B01E51B0618B}"/>
              </a:ext>
            </a:extLst>
          </p:cNvPr>
          <p:cNvPicPr>
            <a:picLocks noChangeAspect="1" noChangeArrowheads="1"/>
          </p:cNvPicPr>
          <p:nvPr/>
        </p:nvPicPr>
        <p:blipFill>
          <a:blip r:embed="rId12">
            <a:extLst>
              <a:ext uri="{28A0092B-C50C-407E-A947-70E740481C1C}">
                <a14:useLocalDpi xmlns:a14="http://schemas.microsoft.com/office/drawing/2010/main"/>
              </a:ext>
            </a:extLst>
          </a:blip>
          <a:srcRect/>
          <a:stretch>
            <a:fillRect/>
          </a:stretch>
        </p:blipFill>
        <p:spPr bwMode="auto">
          <a:xfrm>
            <a:off x="9626802" y="2890917"/>
            <a:ext cx="770828" cy="319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281">
            <a:extLst>
              <a:ext uri="{FF2B5EF4-FFF2-40B4-BE49-F238E27FC236}">
                <a16:creationId xmlns:a16="http://schemas.microsoft.com/office/drawing/2014/main" id="{26FA2E17-791C-7D4C-9C2D-05E026DB45DF}"/>
              </a:ext>
            </a:extLst>
          </p:cNvPr>
          <p:cNvSpPr/>
          <p:nvPr/>
        </p:nvSpPr>
        <p:spPr>
          <a:xfrm>
            <a:off x="8583430" y="3864435"/>
            <a:ext cx="958423" cy="226321"/>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rPr>
              <a:t>                   </a:t>
            </a:r>
          </a:p>
        </p:txBody>
      </p:sp>
      <p:sp>
        <p:nvSpPr>
          <p:cNvPr id="37" name="Oval 282">
            <a:extLst>
              <a:ext uri="{FF2B5EF4-FFF2-40B4-BE49-F238E27FC236}">
                <a16:creationId xmlns:a16="http://schemas.microsoft.com/office/drawing/2014/main" id="{E74B8FA9-0126-C44D-AC65-34D188A81630}"/>
              </a:ext>
            </a:extLst>
          </p:cNvPr>
          <p:cNvSpPr/>
          <p:nvPr/>
        </p:nvSpPr>
        <p:spPr>
          <a:xfrm>
            <a:off x="8583981" y="3744623"/>
            <a:ext cx="957262" cy="224071"/>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rPr>
              <a:t>              </a:t>
            </a:r>
          </a:p>
        </p:txBody>
      </p:sp>
      <p:grpSp>
        <p:nvGrpSpPr>
          <p:cNvPr id="38" name="Group 283">
            <a:extLst>
              <a:ext uri="{FF2B5EF4-FFF2-40B4-BE49-F238E27FC236}">
                <a16:creationId xmlns:a16="http://schemas.microsoft.com/office/drawing/2014/main" id="{3FC2F603-53CC-0849-816B-A4BE162DCD9F}"/>
              </a:ext>
            </a:extLst>
          </p:cNvPr>
          <p:cNvGrpSpPr/>
          <p:nvPr/>
        </p:nvGrpSpPr>
        <p:grpSpPr>
          <a:xfrm>
            <a:off x="8725572" y="3773103"/>
            <a:ext cx="673959" cy="164644"/>
            <a:chOff x="7786941" y="2884917"/>
            <a:chExt cx="897649" cy="353919"/>
          </a:xfrm>
        </p:grpSpPr>
        <p:sp>
          <p:nvSpPr>
            <p:cNvPr id="62" name="Freeform 284">
              <a:extLst>
                <a:ext uri="{FF2B5EF4-FFF2-40B4-BE49-F238E27FC236}">
                  <a16:creationId xmlns:a16="http://schemas.microsoft.com/office/drawing/2014/main" id="{1D766E1C-0978-0944-981A-F68D43070F2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63" name="Freeform 285">
              <a:extLst>
                <a:ext uri="{FF2B5EF4-FFF2-40B4-BE49-F238E27FC236}">
                  <a16:creationId xmlns:a16="http://schemas.microsoft.com/office/drawing/2014/main" id="{DAC7372E-5C89-8046-AB30-EBEE1FD18E9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64" name="Freeform 286">
              <a:extLst>
                <a:ext uri="{FF2B5EF4-FFF2-40B4-BE49-F238E27FC236}">
                  <a16:creationId xmlns:a16="http://schemas.microsoft.com/office/drawing/2014/main" id="{F2DECEE8-1F4F-C248-89C3-EB1DB328D29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65" name="Freeform 287">
              <a:extLst>
                <a:ext uri="{FF2B5EF4-FFF2-40B4-BE49-F238E27FC236}">
                  <a16:creationId xmlns:a16="http://schemas.microsoft.com/office/drawing/2014/main" id="{AEBB6131-DFAF-7842-9AB8-C6A22291E6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endParaRPr>
            </a:p>
          </p:txBody>
        </p:sp>
      </p:grpSp>
      <p:sp>
        <p:nvSpPr>
          <p:cNvPr id="39" name="Text Box 26">
            <a:extLst>
              <a:ext uri="{FF2B5EF4-FFF2-40B4-BE49-F238E27FC236}">
                <a16:creationId xmlns:a16="http://schemas.microsoft.com/office/drawing/2014/main" id="{6DA49F7A-4BE0-FD46-A50B-02C9A2C97016}"/>
              </a:ext>
            </a:extLst>
          </p:cNvPr>
          <p:cNvSpPr txBox="1">
            <a:spLocks noChangeArrowheads="1"/>
          </p:cNvSpPr>
          <p:nvPr/>
        </p:nvSpPr>
        <p:spPr bwMode="auto">
          <a:xfrm>
            <a:off x="10615443" y="3561087"/>
            <a:ext cx="1283937" cy="30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algn="r" defTabSz="914400" rtl="0" eaLnBrk="1" fontAlgn="auto" latinLnBrk="0" hangingPunct="1">
              <a:lnSpc>
                <a:spcPct val="85000"/>
              </a:lnSpc>
              <a:spcBef>
                <a:spcPts val="0"/>
              </a:spcBef>
              <a:spcAft>
                <a:spcPts val="0"/>
              </a:spcAft>
              <a:buClrTx/>
              <a:buSzTx/>
              <a:buFontTx/>
              <a:buNone/>
              <a:defRPr/>
            </a:pP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rPr>
              <a:t>至前端</a:t>
            </a: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40" name="Line 116">
            <a:extLst>
              <a:ext uri="{FF2B5EF4-FFF2-40B4-BE49-F238E27FC236}">
                <a16:creationId xmlns:a16="http://schemas.microsoft.com/office/drawing/2014/main" id="{4A9B8D52-CFCF-F04A-A3BC-2D757CB50CD9}"/>
              </a:ext>
            </a:extLst>
          </p:cNvPr>
          <p:cNvSpPr>
            <a:spLocks noChangeShapeType="1"/>
          </p:cNvSpPr>
          <p:nvPr/>
        </p:nvSpPr>
        <p:spPr bwMode="auto">
          <a:xfrm flipH="1">
            <a:off x="7959568" y="3931807"/>
            <a:ext cx="661074"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nvGrpSpPr>
          <p:cNvPr id="277" name="组合 276">
            <a:extLst>
              <a:ext uri="{FF2B5EF4-FFF2-40B4-BE49-F238E27FC236}">
                <a16:creationId xmlns:a16="http://schemas.microsoft.com/office/drawing/2014/main" id="{4657EABE-CBEA-4B4C-9085-186311EA626F}"/>
              </a:ext>
            </a:extLst>
          </p:cNvPr>
          <p:cNvGrpSpPr/>
          <p:nvPr/>
        </p:nvGrpSpPr>
        <p:grpSpPr>
          <a:xfrm>
            <a:off x="8694134" y="4074859"/>
            <a:ext cx="1600756" cy="1328966"/>
            <a:chOff x="3717978" y="4719110"/>
            <a:chExt cx="1600756" cy="1328966"/>
          </a:xfrm>
        </p:grpSpPr>
        <p:sp>
          <p:nvSpPr>
            <p:cNvPr id="41" name="Text Box 39">
              <a:extLst>
                <a:ext uri="{FF2B5EF4-FFF2-40B4-BE49-F238E27FC236}">
                  <a16:creationId xmlns:a16="http://schemas.microsoft.com/office/drawing/2014/main" id="{4E09C443-5518-FD4C-8F6C-A68DE2648F98}"/>
                </a:ext>
              </a:extLst>
            </p:cNvPr>
            <p:cNvSpPr txBox="1">
              <a:spLocks noChangeArrowheads="1"/>
            </p:cNvSpPr>
            <p:nvPr/>
          </p:nvSpPr>
          <p:spPr bwMode="auto">
            <a:xfrm>
              <a:off x="3717978" y="5327879"/>
              <a:ext cx="1600756"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algn="ctr" defTabSz="914400" rtl="0" eaLnBrk="1" fontAlgn="auto" latinLnBrk="0" hangingPunct="1">
                <a:lnSpc>
                  <a:spcPct val="85000"/>
                </a:lnSpc>
                <a:spcBef>
                  <a:spcPts val="0"/>
                </a:spcBef>
                <a:spcAft>
                  <a:spcPts val="0"/>
                </a:spcAft>
                <a:buClrTx/>
                <a:buSzTx/>
                <a:buFontTx/>
                <a:buNone/>
                <a:defRPr/>
              </a:pP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rPr>
                <a:t>路由器</a:t>
              </a:r>
              <a:b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b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rPr>
                <a:t>防火墙</a:t>
              </a:r>
              <a:b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br>
              <a: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NAT</a:t>
              </a:r>
            </a:p>
          </p:txBody>
        </p:sp>
        <p:sp>
          <p:nvSpPr>
            <p:cNvPr id="42" name="Line 133">
              <a:extLst>
                <a:ext uri="{FF2B5EF4-FFF2-40B4-BE49-F238E27FC236}">
                  <a16:creationId xmlns:a16="http://schemas.microsoft.com/office/drawing/2014/main" id="{5CC85BCD-36E6-A54D-ABE4-534E2A1B67D8}"/>
                </a:ext>
              </a:extLst>
            </p:cNvPr>
            <p:cNvSpPr>
              <a:spLocks noChangeShapeType="1"/>
            </p:cNvSpPr>
            <p:nvPr/>
          </p:nvSpPr>
          <p:spPr bwMode="auto">
            <a:xfrm>
              <a:off x="4400255" y="4719110"/>
              <a:ext cx="0" cy="599607"/>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grpSp>
        <p:nvGrpSpPr>
          <p:cNvPr id="278" name="组合 277">
            <a:extLst>
              <a:ext uri="{FF2B5EF4-FFF2-40B4-BE49-F238E27FC236}">
                <a16:creationId xmlns:a16="http://schemas.microsoft.com/office/drawing/2014/main" id="{6C3FAAC2-3150-3E48-960D-C7456275BBED}"/>
              </a:ext>
            </a:extLst>
          </p:cNvPr>
          <p:cNvGrpSpPr/>
          <p:nvPr/>
        </p:nvGrpSpPr>
        <p:grpSpPr>
          <a:xfrm>
            <a:off x="7030933" y="4122070"/>
            <a:ext cx="1324515" cy="1027291"/>
            <a:chOff x="2054777" y="4766321"/>
            <a:chExt cx="1324515" cy="1027291"/>
          </a:xfrm>
        </p:grpSpPr>
        <p:sp>
          <p:nvSpPr>
            <p:cNvPr id="43" name="Line 136">
              <a:extLst>
                <a:ext uri="{FF2B5EF4-FFF2-40B4-BE49-F238E27FC236}">
                  <a16:creationId xmlns:a16="http://schemas.microsoft.com/office/drawing/2014/main" id="{698D3F1D-A11C-E44B-8C9D-557114773595}"/>
                </a:ext>
              </a:extLst>
            </p:cNvPr>
            <p:cNvSpPr>
              <a:spLocks noChangeShapeType="1"/>
            </p:cNvSpPr>
            <p:nvPr/>
          </p:nvSpPr>
          <p:spPr bwMode="auto">
            <a:xfrm>
              <a:off x="2771768" y="4766321"/>
              <a:ext cx="0" cy="500491"/>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44" name="Text Box 39">
              <a:extLst>
                <a:ext uri="{FF2B5EF4-FFF2-40B4-BE49-F238E27FC236}">
                  <a16:creationId xmlns:a16="http://schemas.microsoft.com/office/drawing/2014/main" id="{0F0B8B4B-0926-5440-853F-980B90DBAC0C}"/>
                </a:ext>
              </a:extLst>
            </p:cNvPr>
            <p:cNvSpPr txBox="1">
              <a:spLocks noChangeArrowheads="1"/>
            </p:cNvSpPr>
            <p:nvPr/>
          </p:nvSpPr>
          <p:spPr bwMode="auto">
            <a:xfrm>
              <a:off x="2054777" y="5282062"/>
              <a:ext cx="1324515" cy="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indent="11113" algn="ctr">
                <a:lnSpc>
                  <a:spcPct val="85000"/>
                </a:lnSpc>
                <a:defRPr/>
              </a:pP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rPr>
                <a:t>WiFi</a:t>
              </a:r>
              <a:b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b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rPr>
                <a:t>无线接入点</a:t>
              </a: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grpSp>
        <p:nvGrpSpPr>
          <p:cNvPr id="46" name="Group 91">
            <a:extLst>
              <a:ext uri="{FF2B5EF4-FFF2-40B4-BE49-F238E27FC236}">
                <a16:creationId xmlns:a16="http://schemas.microsoft.com/office/drawing/2014/main" id="{81008B3D-B981-4C4D-B696-1F2C5C21C88A}"/>
              </a:ext>
            </a:extLst>
          </p:cNvPr>
          <p:cNvGrpSpPr/>
          <p:nvPr/>
        </p:nvGrpSpPr>
        <p:grpSpPr bwMode="auto">
          <a:xfrm>
            <a:off x="9905271" y="3795720"/>
            <a:ext cx="819324" cy="214578"/>
            <a:chOff x="322" y="890"/>
            <a:chExt cx="872" cy="339"/>
          </a:xfrm>
        </p:grpSpPr>
        <p:sp>
          <p:nvSpPr>
            <p:cNvPr id="56" name="Rectangle 92">
              <a:extLst>
                <a:ext uri="{FF2B5EF4-FFF2-40B4-BE49-F238E27FC236}">
                  <a16:creationId xmlns:a16="http://schemas.microsoft.com/office/drawing/2014/main" id="{602480D8-D731-D04B-AEE8-44B18B816A5A}"/>
                </a:ext>
              </a:extLst>
            </p:cNvPr>
            <p:cNvSpPr>
              <a:spLocks noChangeArrowheads="1"/>
            </p:cNvSpPr>
            <p:nvPr/>
          </p:nvSpPr>
          <p:spPr bwMode="auto">
            <a:xfrm>
              <a:off x="323" y="1004"/>
              <a:ext cx="871" cy="225"/>
            </a:xfrm>
            <a:prstGeom prst="rect">
              <a:avLst/>
            </a:prstGeom>
            <a:solidFill>
              <a:schemeClr val="bg1">
                <a:lumMod val="75000"/>
              </a:schemeClr>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57" name="Rectangle 93">
              <a:extLst>
                <a:ext uri="{FF2B5EF4-FFF2-40B4-BE49-F238E27FC236}">
                  <a16:creationId xmlns:a16="http://schemas.microsoft.com/office/drawing/2014/main" id="{CA8475A9-6CB0-6B4C-B7DC-75EC96CF19E1}"/>
                </a:ext>
              </a:extLst>
            </p:cNvPr>
            <p:cNvSpPr>
              <a:spLocks noChangeArrowheads="1"/>
            </p:cNvSpPr>
            <p:nvPr/>
          </p:nvSpPr>
          <p:spPr bwMode="auto">
            <a:xfrm>
              <a:off x="393" y="1073"/>
              <a:ext cx="57" cy="5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58" name="Rectangle 94">
              <a:extLst>
                <a:ext uri="{FF2B5EF4-FFF2-40B4-BE49-F238E27FC236}">
                  <a16:creationId xmlns:a16="http://schemas.microsoft.com/office/drawing/2014/main" id="{801BAA66-C6F4-694A-AAE2-038EE3EB70A2}"/>
                </a:ext>
              </a:extLst>
            </p:cNvPr>
            <p:cNvSpPr>
              <a:spLocks noChangeArrowheads="1"/>
            </p:cNvSpPr>
            <p:nvPr/>
          </p:nvSpPr>
          <p:spPr bwMode="auto">
            <a:xfrm>
              <a:off x="467" y="1073"/>
              <a:ext cx="56" cy="57"/>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59" name="Rectangle 95">
              <a:extLst>
                <a:ext uri="{FF2B5EF4-FFF2-40B4-BE49-F238E27FC236}">
                  <a16:creationId xmlns:a16="http://schemas.microsoft.com/office/drawing/2014/main" id="{0F7F3ED2-DE12-6048-A10C-2237AD1D7D94}"/>
                </a:ext>
              </a:extLst>
            </p:cNvPr>
            <p:cNvSpPr>
              <a:spLocks noChangeArrowheads="1"/>
            </p:cNvSpPr>
            <p:nvPr/>
          </p:nvSpPr>
          <p:spPr bwMode="auto">
            <a:xfrm>
              <a:off x="541" y="1071"/>
              <a:ext cx="56" cy="5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60" name="Rectangle 96">
              <a:extLst>
                <a:ext uri="{FF2B5EF4-FFF2-40B4-BE49-F238E27FC236}">
                  <a16:creationId xmlns:a16="http://schemas.microsoft.com/office/drawing/2014/main" id="{42597968-3798-5147-AD07-65539AFDD81F}"/>
                </a:ext>
              </a:extLst>
            </p:cNvPr>
            <p:cNvSpPr>
              <a:spLocks noChangeArrowheads="1"/>
            </p:cNvSpPr>
            <p:nvPr/>
          </p:nvSpPr>
          <p:spPr bwMode="auto">
            <a:xfrm>
              <a:off x="615" y="1071"/>
              <a:ext cx="56" cy="5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61" name="AutoShape 97">
              <a:extLst>
                <a:ext uri="{FF2B5EF4-FFF2-40B4-BE49-F238E27FC236}">
                  <a16:creationId xmlns:a16="http://schemas.microsoft.com/office/drawing/2014/main" id="{CE6828E5-F646-FB44-9E0C-C2F2EBE2B72A}"/>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85000"/>
              </a:schemeClr>
            </a:solidFill>
            <a:ln w="9525">
              <a:solidFill>
                <a:schemeClr val="tx1"/>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sp>
        <p:nvSpPr>
          <p:cNvPr id="47" name="Line 102">
            <a:extLst>
              <a:ext uri="{FF2B5EF4-FFF2-40B4-BE49-F238E27FC236}">
                <a16:creationId xmlns:a16="http://schemas.microsoft.com/office/drawing/2014/main" id="{E5F7A509-3703-D543-97C2-031A9E1096A3}"/>
              </a:ext>
            </a:extLst>
          </p:cNvPr>
          <p:cNvSpPr>
            <a:spLocks noChangeShapeType="1"/>
          </p:cNvSpPr>
          <p:nvPr/>
        </p:nvSpPr>
        <p:spPr bwMode="auto">
          <a:xfrm flipH="1">
            <a:off x="10720766" y="3935948"/>
            <a:ext cx="1228986"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48" name="Line 104">
            <a:extLst>
              <a:ext uri="{FF2B5EF4-FFF2-40B4-BE49-F238E27FC236}">
                <a16:creationId xmlns:a16="http://schemas.microsoft.com/office/drawing/2014/main" id="{79DFB2FA-2C7D-DF45-808C-7FE14EC990EA}"/>
              </a:ext>
            </a:extLst>
          </p:cNvPr>
          <p:cNvSpPr>
            <a:spLocks noChangeShapeType="1"/>
          </p:cNvSpPr>
          <p:nvPr/>
        </p:nvSpPr>
        <p:spPr bwMode="auto">
          <a:xfrm flipH="1">
            <a:off x="9537724" y="3938771"/>
            <a:ext cx="367547"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49" name="Line 122">
            <a:extLst>
              <a:ext uri="{FF2B5EF4-FFF2-40B4-BE49-F238E27FC236}">
                <a16:creationId xmlns:a16="http://schemas.microsoft.com/office/drawing/2014/main" id="{E0847329-AEE0-3449-A7A0-AE62837EE86E}"/>
              </a:ext>
            </a:extLst>
          </p:cNvPr>
          <p:cNvSpPr>
            <a:spLocks noChangeShapeType="1"/>
          </p:cNvSpPr>
          <p:nvPr/>
        </p:nvSpPr>
        <p:spPr bwMode="auto">
          <a:xfrm flipH="1" flipV="1">
            <a:off x="9016943" y="3495470"/>
            <a:ext cx="0" cy="27763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45" name="Text Box 142">
            <a:extLst>
              <a:ext uri="{FF2B5EF4-FFF2-40B4-BE49-F238E27FC236}">
                <a16:creationId xmlns:a16="http://schemas.microsoft.com/office/drawing/2014/main" id="{964D6277-EAEF-2443-9F5E-42F3E3B689E3}"/>
              </a:ext>
            </a:extLst>
          </p:cNvPr>
          <p:cNvSpPr txBox="1">
            <a:spLocks noChangeArrowheads="1"/>
          </p:cNvSpPr>
          <p:nvPr/>
        </p:nvSpPr>
        <p:spPr bwMode="auto">
          <a:xfrm>
            <a:off x="10203965" y="2615219"/>
            <a:ext cx="1210588"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无线和有线</a:t>
            </a:r>
          </a:p>
          <a:p>
            <a:pPr marL="0" marR="0" lvl="0" indent="0" algn="ctr" defTabSz="914400" rtl="0" eaLnBrk="1" fontAlgn="auto" latinLnBrk="0" hangingPunct="1">
              <a:lnSpc>
                <a:spcPct val="9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设备</a:t>
            </a:r>
          </a:p>
        </p:txBody>
      </p:sp>
      <p:sp>
        <p:nvSpPr>
          <p:cNvPr id="50" name="Text Box 148">
            <a:extLst>
              <a:ext uri="{FF2B5EF4-FFF2-40B4-BE49-F238E27FC236}">
                <a16:creationId xmlns:a16="http://schemas.microsoft.com/office/drawing/2014/main" id="{333E1477-1343-D444-8861-09C64100C438}"/>
              </a:ext>
            </a:extLst>
          </p:cNvPr>
          <p:cNvSpPr txBox="1">
            <a:spLocks noChangeArrowheads="1"/>
          </p:cNvSpPr>
          <p:nvPr/>
        </p:nvSpPr>
        <p:spPr bwMode="auto">
          <a:xfrm>
            <a:off x="5238537" y="4035142"/>
            <a:ext cx="1428329"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defRPr/>
            </a:pPr>
            <a:r>
              <a:rPr kumimoji="0" lang="en-US" altLang="en-US" sz="1800" b="0" i="0" u="none" strike="noStrike" kern="1200" cap="none" spc="0" normalizeH="0" baseline="0" noProof="0" dirty="0" err="1">
                <a:ln>
                  <a:noFill/>
                </a:ln>
                <a:solidFill>
                  <a:srgbClr val="C00000"/>
                </a:solidFill>
                <a:effectLst/>
                <a:uLnTx/>
                <a:uFillTx/>
                <a:latin typeface="Microsoft YaHei" panose="020B0503020204020204" pitchFamily="34" charset="-122"/>
                <a:ea typeface="Microsoft YaHei" panose="020B0503020204020204" pitchFamily="34" charset="-122"/>
              </a:rPr>
              <a:t>经常合并在一个盒子里</a:t>
            </a:r>
            <a:endParaRPr kumimoji="0" lang="en-US"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endParaRPr>
          </a:p>
        </p:txBody>
      </p:sp>
      <p:sp>
        <p:nvSpPr>
          <p:cNvPr id="51" name="Line 149">
            <a:extLst>
              <a:ext uri="{FF2B5EF4-FFF2-40B4-BE49-F238E27FC236}">
                <a16:creationId xmlns:a16="http://schemas.microsoft.com/office/drawing/2014/main" id="{198AD034-624B-A844-A26A-50399B8BC932}"/>
              </a:ext>
            </a:extLst>
          </p:cNvPr>
          <p:cNvSpPr>
            <a:spLocks noChangeShapeType="1"/>
          </p:cNvSpPr>
          <p:nvPr/>
        </p:nvSpPr>
        <p:spPr bwMode="auto">
          <a:xfrm flipV="1">
            <a:off x="6561676" y="3877682"/>
            <a:ext cx="488214" cy="244388"/>
          </a:xfrm>
          <a:prstGeom prst="line">
            <a:avLst/>
          </a:prstGeom>
          <a:noFill/>
          <a:ln w="28575">
            <a:solidFill>
              <a:srgbClr val="C0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grpSp>
        <p:nvGrpSpPr>
          <p:cNvPr id="280" name="组合 279">
            <a:extLst>
              <a:ext uri="{FF2B5EF4-FFF2-40B4-BE49-F238E27FC236}">
                <a16:creationId xmlns:a16="http://schemas.microsoft.com/office/drawing/2014/main" id="{82A743BA-BBB0-8549-B95A-451F5B59C37B}"/>
              </a:ext>
            </a:extLst>
          </p:cNvPr>
          <p:cNvGrpSpPr/>
          <p:nvPr/>
        </p:nvGrpSpPr>
        <p:grpSpPr>
          <a:xfrm>
            <a:off x="8179183" y="4590408"/>
            <a:ext cx="1324515" cy="1169987"/>
            <a:chOff x="7633273" y="5518447"/>
            <a:chExt cx="1324515" cy="1169987"/>
          </a:xfrm>
        </p:grpSpPr>
        <p:sp>
          <p:nvSpPr>
            <p:cNvPr id="52" name="Line 134">
              <a:extLst>
                <a:ext uri="{FF2B5EF4-FFF2-40B4-BE49-F238E27FC236}">
                  <a16:creationId xmlns:a16="http://schemas.microsoft.com/office/drawing/2014/main" id="{A170908E-0F21-244F-B2E0-CB6221DF8DC9}"/>
                </a:ext>
              </a:extLst>
            </p:cNvPr>
            <p:cNvSpPr>
              <a:spLocks noChangeShapeType="1"/>
            </p:cNvSpPr>
            <p:nvPr/>
          </p:nvSpPr>
          <p:spPr bwMode="auto">
            <a:xfrm>
              <a:off x="8351541" y="5518447"/>
              <a:ext cx="0" cy="639654"/>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53" name="Text Box 39">
              <a:extLst>
                <a:ext uri="{FF2B5EF4-FFF2-40B4-BE49-F238E27FC236}">
                  <a16:creationId xmlns:a16="http://schemas.microsoft.com/office/drawing/2014/main" id="{C7D35780-50AE-124B-848D-907F4E049ABC}"/>
                </a:ext>
              </a:extLst>
            </p:cNvPr>
            <p:cNvSpPr txBox="1">
              <a:spLocks noChangeArrowheads="1"/>
            </p:cNvSpPr>
            <p:nvPr/>
          </p:nvSpPr>
          <p:spPr bwMode="auto">
            <a:xfrm>
              <a:off x="7633273" y="6202147"/>
              <a:ext cx="1324515"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defRPr/>
              </a:pPr>
              <a: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微软雅黑" panose="020B0503020204020204" pitchFamily="34" charset="-122"/>
                </a:rPr>
                <a:t>有线以太网（1 Gbps）</a:t>
              </a:r>
            </a:p>
          </p:txBody>
        </p:sp>
      </p:grpSp>
      <p:sp>
        <p:nvSpPr>
          <p:cNvPr id="54" name="Text Box 39">
            <a:extLst>
              <a:ext uri="{FF2B5EF4-FFF2-40B4-BE49-F238E27FC236}">
                <a16:creationId xmlns:a16="http://schemas.microsoft.com/office/drawing/2014/main" id="{E8C590A6-22B4-EC41-A0C0-9DD04AC915B3}"/>
              </a:ext>
            </a:extLst>
          </p:cNvPr>
          <p:cNvSpPr txBox="1">
            <a:spLocks noChangeArrowheads="1"/>
          </p:cNvSpPr>
          <p:nvPr/>
        </p:nvSpPr>
        <p:spPr bwMode="auto">
          <a:xfrm>
            <a:off x="9952863" y="4634672"/>
            <a:ext cx="1902716" cy="4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defRPr/>
            </a:pP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cs typeface="微软雅黑" panose="020B0503020204020204" pitchFamily="34" charset="-122"/>
              </a:rPr>
              <a:t>电缆或DSL</a:t>
            </a:r>
            <a:br>
              <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微软雅黑" panose="020B0503020204020204" pitchFamily="34" charset="-122"/>
              </a:rPr>
            </a:br>
            <a:r>
              <a:rPr kumimoji="0" lang="en-US" altLang="en-US" sz="16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cs typeface="微软雅黑" panose="020B0503020204020204" pitchFamily="34" charset="-122"/>
              </a:rPr>
              <a:t>调制解调器</a:t>
            </a:r>
            <a:endParaRPr kumimoji="0" lang="en-US" alt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微软雅黑" panose="020B0503020204020204" pitchFamily="34" charset="-122"/>
            </a:endParaRPr>
          </a:p>
        </p:txBody>
      </p:sp>
      <p:sp>
        <p:nvSpPr>
          <p:cNvPr id="55" name="Line 129">
            <a:extLst>
              <a:ext uri="{FF2B5EF4-FFF2-40B4-BE49-F238E27FC236}">
                <a16:creationId xmlns:a16="http://schemas.microsoft.com/office/drawing/2014/main" id="{3656A45C-044F-6047-857A-FE6A62678B77}"/>
              </a:ext>
            </a:extLst>
          </p:cNvPr>
          <p:cNvSpPr>
            <a:spLocks noChangeShapeType="1"/>
          </p:cNvSpPr>
          <p:nvPr/>
        </p:nvSpPr>
        <p:spPr bwMode="auto">
          <a:xfrm>
            <a:off x="10397375" y="4035142"/>
            <a:ext cx="0" cy="555266"/>
          </a:xfrm>
          <a:prstGeom prst="line">
            <a:avLst/>
          </a:prstGeom>
          <a:noFill/>
          <a:ln w="19050">
            <a:solidFill>
              <a:srgbClr val="CC0000"/>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78CA3E3A-B6F6-8040-8111-3390E5F0BDB5}"/>
              </a:ext>
            </a:extLst>
          </p:cNvPr>
          <p:cNvSpPr/>
          <p:nvPr/>
        </p:nvSpPr>
        <p:spPr>
          <a:xfrm>
            <a:off x="7049889" y="2001392"/>
            <a:ext cx="3570208" cy="461665"/>
          </a:xfrm>
          <a:prstGeom prst="rect">
            <a:avLst/>
          </a:prstGeom>
        </p:spPr>
        <p:txBody>
          <a:bodyPr wrap="none">
            <a:spAutoFit/>
          </a:bodyPr>
          <a:lstStyle/>
          <a:p>
            <a:r>
              <a:rPr lang="zh-CN" altLang="en-US" sz="2400" dirty="0">
                <a:latin typeface="Microsoft YaHei" panose="020B0503020204020204" pitchFamily="34" charset="-122"/>
                <a:ea typeface="Microsoft YaHei" panose="020B0503020204020204" pitchFamily="34" charset="-122"/>
              </a:rPr>
              <a:t>校园、企业、家庭等网络</a:t>
            </a:r>
          </a:p>
        </p:txBody>
      </p:sp>
      <p:pic>
        <p:nvPicPr>
          <p:cNvPr id="12290" name="Picture 2">
            <a:extLst>
              <a:ext uri="{FF2B5EF4-FFF2-40B4-BE49-F238E27FC236}">
                <a16:creationId xmlns:a16="http://schemas.microsoft.com/office/drawing/2014/main" id="{CB2DFBDB-F4B2-7046-B87F-D28F1D03677B}"/>
              </a:ext>
            </a:extLst>
          </p:cNvPr>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4862089" y="4620212"/>
            <a:ext cx="2202893" cy="1474141"/>
          </a:xfrm>
          <a:prstGeom prst="rect">
            <a:avLst/>
          </a:prstGeom>
          <a:noFill/>
          <a:extLst>
            <a:ext uri="{909E8E84-426E-40DD-AFC4-6F175D3DCCD1}">
              <a14:hiddenFill xmlns:a14="http://schemas.microsoft.com/office/drawing/2010/main">
                <a:solidFill>
                  <a:srgbClr val="FFFFFF"/>
                </a:solidFill>
              </a14:hiddenFill>
            </a:ext>
          </a:extLst>
        </p:spPr>
      </p:pic>
      <p:sp>
        <p:nvSpPr>
          <p:cNvPr id="72" name="灯片编号占位符 71">
            <a:extLst>
              <a:ext uri="{FF2B5EF4-FFF2-40B4-BE49-F238E27FC236}">
                <a16:creationId xmlns:a16="http://schemas.microsoft.com/office/drawing/2014/main" id="{31B71800-0C35-0D4D-8E3B-E8A0B63B1DD3}"/>
              </a:ext>
            </a:extLst>
          </p:cNvPr>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77" name="文本框 76">
            <a:extLst>
              <a:ext uri="{FF2B5EF4-FFF2-40B4-BE49-F238E27FC236}">
                <a16:creationId xmlns:a16="http://schemas.microsoft.com/office/drawing/2014/main" id="{0E719679-7AFA-AC46-AD03-C1E15A81DAF9}"/>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网络分类：接入网</a:t>
            </a:r>
          </a:p>
        </p:txBody>
      </p:sp>
    </p:spTree>
    <p:extLst>
      <p:ext uri="{BB962C8B-B14F-4D97-AF65-F5344CB8AC3E}">
        <p14:creationId xmlns:p14="http://schemas.microsoft.com/office/powerpoint/2010/main" val="150896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linds(horizontal)">
                                      <p:cBhvr>
                                        <p:cTn id="7" dur="500"/>
                                        <p:tgtEl>
                                          <p:spTgt spid="5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linds(horizontal)">
                                      <p:cBhvr>
                                        <p:cTn id="10" dur="500"/>
                                        <p:tgtEl>
                                          <p:spTgt spid="5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par>
                                <p:cTn id="14" presetID="3" presetClass="entr" presetSubtype="10" fill="hold" nodeType="withEffect">
                                  <p:stCondLst>
                                    <p:cond delay="0"/>
                                  </p:stCondLst>
                                  <p:childTnLst>
                                    <p:set>
                                      <p:cBhvr>
                                        <p:cTn id="15" dur="1" fill="hold">
                                          <p:stCondLst>
                                            <p:cond delay="0"/>
                                          </p:stCondLst>
                                        </p:cTn>
                                        <p:tgtEl>
                                          <p:spTgt spid="12290"/>
                                        </p:tgtEl>
                                        <p:attrNameLst>
                                          <p:attrName>style.visibility</p:attrName>
                                        </p:attrNameLst>
                                      </p:cBhvr>
                                      <p:to>
                                        <p:strVal val="visible"/>
                                      </p:to>
                                    </p:set>
                                    <p:animEffect transition="in" filter="blinds(horizontal)">
                                      <p:cBhvr>
                                        <p:cTn id="16"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0" grpId="0"/>
      <p:bldP spid="5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网络分类（按用途）</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10704121" cy="5302578"/>
          </a:xfrm>
        </p:spPr>
        <p:txBody>
          <a:bodyPr anchor="t" anchorCtr="0">
            <a:normAutofit/>
          </a:bodyPr>
          <a:lstStyle/>
          <a:p>
            <a:r>
              <a:rPr lang="zh-CN" altLang="en-US" sz="2400" dirty="0">
                <a:solidFill>
                  <a:srgbClr val="C00000"/>
                </a:solidFill>
              </a:rPr>
              <a:t>数据中心网</a:t>
            </a:r>
            <a:r>
              <a:rPr lang="en-US" altLang="zh-CN" sz="2400" dirty="0">
                <a:solidFill>
                  <a:srgbClr val="C00000"/>
                </a:solidFill>
              </a:rPr>
              <a:t>DCN</a:t>
            </a:r>
            <a:r>
              <a:rPr lang="zh-CN" altLang="en-US" sz="2400" dirty="0"/>
              <a:t>（</a:t>
            </a:r>
            <a:r>
              <a:rPr lang="en-US" altLang="zh-CN" sz="2000" dirty="0"/>
              <a:t>data-center</a:t>
            </a:r>
            <a:r>
              <a:rPr lang="zh-CN" altLang="en-US" sz="2000" dirty="0"/>
              <a:t> </a:t>
            </a:r>
            <a:r>
              <a:rPr lang="en-US" altLang="zh-CN" sz="2000" dirty="0"/>
              <a:t>Network </a:t>
            </a:r>
            <a:r>
              <a:rPr lang="zh-CN" altLang="en-US" sz="2400" dirty="0"/>
              <a:t>）</a:t>
            </a:r>
            <a:endParaRPr lang="en-US" altLang="zh-CN" sz="2400" dirty="0"/>
          </a:p>
          <a:p>
            <a:pPr lvl="1"/>
            <a:r>
              <a:rPr lang="zh-CN" altLang="en-US" dirty="0"/>
              <a:t>服务于日益增长的云计算（</a:t>
            </a:r>
            <a:r>
              <a:rPr lang="en-US" altLang="zh-CN" dirty="0"/>
              <a:t>cloud computing</a:t>
            </a:r>
            <a:r>
              <a:rPr lang="zh-CN" altLang="en-US" dirty="0"/>
              <a:t>）服务</a:t>
            </a:r>
            <a:endParaRPr lang="en-US" altLang="zh-CN" dirty="0"/>
          </a:p>
          <a:p>
            <a:pPr lvl="1"/>
            <a:r>
              <a:rPr lang="zh-CN" altLang="zh-CN" dirty="0"/>
              <a:t>主流架构采用</a:t>
            </a:r>
            <a:r>
              <a:rPr lang="en-US" altLang="zh-CN" dirty="0"/>
              <a:t>CLOS</a:t>
            </a:r>
            <a:r>
              <a:rPr lang="zh-CN" altLang="zh-CN" dirty="0"/>
              <a:t>网络</a:t>
            </a:r>
            <a:r>
              <a:rPr lang="zh-CN" altLang="en-US" dirty="0"/>
              <a:t>（</a:t>
            </a:r>
            <a:r>
              <a:rPr lang="en-US" altLang="zh-CN" dirty="0"/>
              <a:t>Charles Clos1953</a:t>
            </a:r>
            <a:r>
              <a:rPr lang="zh-CN" altLang="en-US" dirty="0"/>
              <a:t>年提出）</a:t>
            </a:r>
            <a:r>
              <a:rPr lang="zh-CN" altLang="zh-CN" dirty="0"/>
              <a:t>、树型结构</a:t>
            </a:r>
            <a:r>
              <a:rPr lang="zh-CN" altLang="en-US" dirty="0"/>
              <a:t>，有三层交换：接入、汇聚、核心</a:t>
            </a:r>
            <a:endParaRPr lang="en-US" altLang="zh-CN" dirty="0"/>
          </a:p>
          <a:p>
            <a:pPr lvl="1"/>
            <a:r>
              <a:rPr lang="zh-CN" altLang="zh-CN" dirty="0"/>
              <a:t>核心思想：用多个小规模、低成本的单元（交换机）构建复杂、大规模的网络</a:t>
            </a:r>
            <a:r>
              <a:rPr lang="zh-CN" altLang="en-US" dirty="0"/>
              <a:t>；无阻塞</a:t>
            </a:r>
            <a:endParaRPr lang="en-US" altLang="zh-CN" dirty="0"/>
          </a:p>
          <a:p>
            <a:pPr lvl="1"/>
            <a:r>
              <a:rPr lang="zh-CN" altLang="zh-CN" dirty="0"/>
              <a:t>两种结构</a:t>
            </a:r>
            <a:r>
              <a:rPr lang="zh-CN" altLang="en-US" dirty="0"/>
              <a:t>最受</a:t>
            </a:r>
            <a:r>
              <a:rPr lang="zh-CN" altLang="zh-CN" dirty="0"/>
              <a:t>重视</a:t>
            </a:r>
            <a:r>
              <a:rPr lang="zh-CN" altLang="en-US" dirty="0"/>
              <a:t>：</a:t>
            </a:r>
            <a:endParaRPr lang="en-US" altLang="zh-CN" dirty="0"/>
          </a:p>
          <a:p>
            <a:pPr lvl="2">
              <a:buFont typeface="黑体" panose="02010609060101010101" pitchFamily="49" charset="-122"/>
              <a:buChar char="-"/>
            </a:pPr>
            <a:r>
              <a:rPr lang="zh-CN" altLang="zh-CN" sz="2400" dirty="0"/>
              <a:t>以交换机为中心的网络结构</a:t>
            </a:r>
            <a:endParaRPr lang="en-US" altLang="zh-CN" sz="2400" dirty="0"/>
          </a:p>
          <a:p>
            <a:pPr lvl="2">
              <a:buFont typeface="黑体" panose="02010609060101010101" pitchFamily="49" charset="-122"/>
              <a:buChar char="-"/>
            </a:pPr>
            <a:r>
              <a:rPr lang="zh-CN" altLang="zh-CN" sz="2400" dirty="0"/>
              <a:t>以服务器为中心的网络结构</a:t>
            </a:r>
            <a:endParaRPr lang="en-US" altLang="zh-CN" dirty="0"/>
          </a:p>
          <a:p>
            <a:pPr lvl="1"/>
            <a:r>
              <a:rPr lang="zh-CN" altLang="en-US" dirty="0"/>
              <a:t>典型代表</a:t>
            </a:r>
            <a:r>
              <a:rPr lang="en-US" altLang="zh-CN" dirty="0">
                <a:solidFill>
                  <a:srgbClr val="FF0000"/>
                </a:solidFill>
              </a:rPr>
              <a:t>CDN</a:t>
            </a:r>
            <a:r>
              <a:rPr lang="zh-CN" altLang="en-US" dirty="0"/>
              <a:t>（</a:t>
            </a:r>
            <a:r>
              <a:rPr lang="en-US" altLang="zh-CN" dirty="0"/>
              <a:t>Content Delivery Network</a:t>
            </a:r>
            <a:r>
              <a:rPr lang="zh-CN" altLang="en-US" dirty="0"/>
              <a:t>，</a:t>
            </a:r>
            <a:r>
              <a:rPr lang="zh-CN" altLang="en-US" dirty="0">
                <a:solidFill>
                  <a:srgbClr val="FF0000"/>
                </a:solidFill>
              </a:rPr>
              <a:t>内容分发网络</a:t>
            </a:r>
            <a:r>
              <a:rPr lang="zh-CN" altLang="en-US" dirty="0"/>
              <a:t>），实现多副本存储、流量均衡</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spTree>
    <p:extLst>
      <p:ext uri="{BB962C8B-B14F-4D97-AF65-F5344CB8AC3E}">
        <p14:creationId xmlns:p14="http://schemas.microsoft.com/office/powerpoint/2010/main" val="4099227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数据中心网络：</a:t>
            </a:r>
            <a:r>
              <a:rPr lang="zh-CN" altLang="zh-CN" dirty="0"/>
              <a:t>以交换机为中心</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4166169" cy="4937453"/>
          </a:xfrm>
        </p:spPr>
        <p:txBody>
          <a:bodyPr anchor="t" anchorCtr="0">
            <a:normAutofit/>
          </a:bodyPr>
          <a:lstStyle/>
          <a:p>
            <a:r>
              <a:rPr lang="zh-CN" altLang="en-US" sz="2400" dirty="0"/>
              <a:t>典型：</a:t>
            </a:r>
            <a:r>
              <a:rPr lang="zh-CN" altLang="zh-CN" sz="2400" dirty="0"/>
              <a:t>胖树</a:t>
            </a:r>
            <a:r>
              <a:rPr lang="zh-CN" altLang="en-US" sz="2400" dirty="0"/>
              <a:t>网络</a:t>
            </a:r>
            <a:endParaRPr lang="en-US" altLang="zh-CN" sz="2400" dirty="0"/>
          </a:p>
          <a:p>
            <a:pPr marL="542925" indent="-542925">
              <a:buNone/>
            </a:pPr>
            <a:r>
              <a:rPr lang="en-US" altLang="zh-CN" sz="2400" dirty="0"/>
              <a:t>(1)</a:t>
            </a:r>
            <a:r>
              <a:rPr lang="zh-CN" altLang="zh-CN" sz="2400" dirty="0"/>
              <a:t>每个交换机一半端口上联，一半端口下联</a:t>
            </a:r>
          </a:p>
          <a:p>
            <a:pPr marL="542925" indent="-542925">
              <a:buNone/>
            </a:pPr>
            <a:r>
              <a:rPr lang="en-US" altLang="zh-CN" sz="2400" dirty="0"/>
              <a:t>(2)</a:t>
            </a:r>
            <a:r>
              <a:rPr lang="zh-CN" altLang="zh-CN" sz="2400" dirty="0"/>
              <a:t>最底层交换机的下联端口连接服务器，即树叶为服务器，其它端口连接交换机</a:t>
            </a:r>
          </a:p>
          <a:p>
            <a:pPr marL="542925" indent="-542925">
              <a:buNone/>
            </a:pPr>
            <a:r>
              <a:rPr lang="en-US" altLang="zh-CN" sz="2400" dirty="0"/>
              <a:t>(3)</a:t>
            </a:r>
            <a:r>
              <a:rPr lang="zh-CN" altLang="zh-CN" sz="2400" dirty="0"/>
              <a:t>任意两台服务器（树叶节点）之间都有独享通信路径</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网络分类：数据中心网</a:t>
            </a:r>
          </a:p>
        </p:txBody>
      </p:sp>
      <p:grpSp>
        <p:nvGrpSpPr>
          <p:cNvPr id="6" name="画布 170">
            <a:extLst>
              <a:ext uri="{FF2B5EF4-FFF2-40B4-BE49-F238E27FC236}">
                <a16:creationId xmlns:a16="http://schemas.microsoft.com/office/drawing/2014/main" id="{651EAC09-6449-4B68-8D06-F1C13B6D14AF}"/>
              </a:ext>
            </a:extLst>
          </p:cNvPr>
          <p:cNvGrpSpPr/>
          <p:nvPr/>
        </p:nvGrpSpPr>
        <p:grpSpPr>
          <a:xfrm>
            <a:off x="4720615" y="1371675"/>
            <a:ext cx="7068898" cy="4601494"/>
            <a:chOff x="0" y="0"/>
            <a:chExt cx="4743450" cy="2228850"/>
          </a:xfrm>
        </p:grpSpPr>
        <p:sp>
          <p:nvSpPr>
            <p:cNvPr id="7" name="矩形 6">
              <a:extLst>
                <a:ext uri="{FF2B5EF4-FFF2-40B4-BE49-F238E27FC236}">
                  <a16:creationId xmlns:a16="http://schemas.microsoft.com/office/drawing/2014/main" id="{A3EF27E9-CAFB-461F-AF5A-09A0F39E1AD2}"/>
                </a:ext>
              </a:extLst>
            </p:cNvPr>
            <p:cNvSpPr/>
            <p:nvPr/>
          </p:nvSpPr>
          <p:spPr>
            <a:xfrm>
              <a:off x="0" y="0"/>
              <a:ext cx="4743450" cy="2228850"/>
            </a:xfrm>
            <a:prstGeom prst="rect">
              <a:avLst/>
            </a:prstGeom>
          </p:spPr>
        </p:sp>
        <p:sp>
          <p:nvSpPr>
            <p:cNvPr id="8" name="矩形 7">
              <a:extLst>
                <a:ext uri="{FF2B5EF4-FFF2-40B4-BE49-F238E27FC236}">
                  <a16:creationId xmlns:a16="http://schemas.microsoft.com/office/drawing/2014/main" id="{906ACA70-D1F3-4EC4-9989-E1F003D9EEBF}"/>
                </a:ext>
              </a:extLst>
            </p:cNvPr>
            <p:cNvSpPr/>
            <p:nvPr/>
          </p:nvSpPr>
          <p:spPr>
            <a:xfrm>
              <a:off x="750381" y="143738"/>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cxnSp>
          <p:nvCxnSpPr>
            <p:cNvPr id="9" name="直接连接符 8">
              <a:extLst>
                <a:ext uri="{FF2B5EF4-FFF2-40B4-BE49-F238E27FC236}">
                  <a16:creationId xmlns:a16="http://schemas.microsoft.com/office/drawing/2014/main" id="{A77BF614-61F7-4D03-A622-250FDBF6141D}"/>
                </a:ext>
              </a:extLst>
            </p:cNvPr>
            <p:cNvCxnSpPr>
              <a:stCxn id="8" idx="2"/>
              <a:endCxn id="29" idx="0"/>
            </p:cNvCxnSpPr>
            <p:nvPr/>
          </p:nvCxnSpPr>
          <p:spPr>
            <a:xfrm flipH="1">
              <a:off x="482380" y="297020"/>
              <a:ext cx="437124" cy="778149"/>
            </a:xfrm>
            <a:prstGeom prst="line">
              <a:avLst/>
            </a:prstGeom>
            <a:noFill/>
            <a:ln w="6350" cap="flat" cmpd="sng" algn="ctr">
              <a:solidFill>
                <a:sysClr val="windowText" lastClr="000000"/>
              </a:solidFill>
              <a:prstDash val="solid"/>
              <a:miter lim="800000"/>
            </a:ln>
            <a:effectLst/>
          </p:spPr>
        </p:cxnSp>
        <p:cxnSp>
          <p:nvCxnSpPr>
            <p:cNvPr id="10" name="直接连接符 9">
              <a:extLst>
                <a:ext uri="{FF2B5EF4-FFF2-40B4-BE49-F238E27FC236}">
                  <a16:creationId xmlns:a16="http://schemas.microsoft.com/office/drawing/2014/main" id="{8FE3FC76-FCF6-4195-B19D-0DA8C47D02F1}"/>
                </a:ext>
              </a:extLst>
            </p:cNvPr>
            <p:cNvCxnSpPr>
              <a:stCxn id="8" idx="2"/>
              <a:endCxn id="31" idx="0"/>
            </p:cNvCxnSpPr>
            <p:nvPr/>
          </p:nvCxnSpPr>
          <p:spPr>
            <a:xfrm>
              <a:off x="919504" y="297020"/>
              <a:ext cx="510576" cy="778149"/>
            </a:xfrm>
            <a:prstGeom prst="line">
              <a:avLst/>
            </a:prstGeom>
            <a:noFill/>
            <a:ln w="6350" cap="flat" cmpd="sng" algn="ctr">
              <a:solidFill>
                <a:sysClr val="windowText" lastClr="000000"/>
              </a:solidFill>
              <a:prstDash val="solid"/>
              <a:miter lim="800000"/>
            </a:ln>
            <a:effectLst/>
          </p:spPr>
        </p:cxnSp>
        <p:cxnSp>
          <p:nvCxnSpPr>
            <p:cNvPr id="11" name="直接连接符 10">
              <a:extLst>
                <a:ext uri="{FF2B5EF4-FFF2-40B4-BE49-F238E27FC236}">
                  <a16:creationId xmlns:a16="http://schemas.microsoft.com/office/drawing/2014/main" id="{B774C691-98B4-4559-9EFB-05EA6B5B8D55}"/>
                </a:ext>
              </a:extLst>
            </p:cNvPr>
            <p:cNvCxnSpPr>
              <a:stCxn id="8" idx="2"/>
              <a:endCxn id="33" idx="0"/>
            </p:cNvCxnSpPr>
            <p:nvPr/>
          </p:nvCxnSpPr>
          <p:spPr>
            <a:xfrm>
              <a:off x="919504" y="297020"/>
              <a:ext cx="1458885" cy="778149"/>
            </a:xfrm>
            <a:prstGeom prst="line">
              <a:avLst/>
            </a:prstGeom>
            <a:noFill/>
            <a:ln w="6350" cap="flat" cmpd="sng" algn="ctr">
              <a:solidFill>
                <a:sysClr val="windowText" lastClr="000000"/>
              </a:solidFill>
              <a:prstDash val="solid"/>
              <a:miter lim="800000"/>
            </a:ln>
            <a:effectLst/>
          </p:spPr>
        </p:cxnSp>
        <p:cxnSp>
          <p:nvCxnSpPr>
            <p:cNvPr id="12" name="直接连接符 11">
              <a:extLst>
                <a:ext uri="{FF2B5EF4-FFF2-40B4-BE49-F238E27FC236}">
                  <a16:creationId xmlns:a16="http://schemas.microsoft.com/office/drawing/2014/main" id="{C284B20A-D073-4D1F-898D-7EFCB7644428}"/>
                </a:ext>
              </a:extLst>
            </p:cNvPr>
            <p:cNvCxnSpPr>
              <a:stCxn id="8" idx="2"/>
              <a:endCxn id="35" idx="0"/>
            </p:cNvCxnSpPr>
            <p:nvPr/>
          </p:nvCxnSpPr>
          <p:spPr>
            <a:xfrm>
              <a:off x="919504" y="297020"/>
              <a:ext cx="2406629" cy="778149"/>
            </a:xfrm>
            <a:prstGeom prst="line">
              <a:avLst/>
            </a:prstGeom>
            <a:noFill/>
            <a:ln w="6350" cap="flat" cmpd="sng" algn="ctr">
              <a:solidFill>
                <a:sysClr val="windowText" lastClr="000000"/>
              </a:solidFill>
              <a:prstDash val="solid"/>
              <a:miter lim="800000"/>
            </a:ln>
            <a:effectLst/>
          </p:spPr>
        </p:cxnSp>
        <p:cxnSp>
          <p:nvCxnSpPr>
            <p:cNvPr id="13" name="直接连接符 12">
              <a:extLst>
                <a:ext uri="{FF2B5EF4-FFF2-40B4-BE49-F238E27FC236}">
                  <a16:creationId xmlns:a16="http://schemas.microsoft.com/office/drawing/2014/main" id="{6107DD60-E306-4720-9E13-C7966AD16325}"/>
                </a:ext>
              </a:extLst>
            </p:cNvPr>
            <p:cNvCxnSpPr>
              <a:stCxn id="26" idx="2"/>
              <a:endCxn id="29" idx="0"/>
            </p:cNvCxnSpPr>
            <p:nvPr/>
          </p:nvCxnSpPr>
          <p:spPr>
            <a:xfrm flipH="1">
              <a:off x="482380" y="301351"/>
              <a:ext cx="1237085" cy="773818"/>
            </a:xfrm>
            <a:prstGeom prst="line">
              <a:avLst/>
            </a:prstGeom>
            <a:noFill/>
            <a:ln w="6350" cap="flat" cmpd="sng" algn="ctr">
              <a:solidFill>
                <a:sysClr val="windowText" lastClr="000000"/>
              </a:solidFill>
              <a:prstDash val="solid"/>
              <a:miter lim="800000"/>
            </a:ln>
            <a:effectLst/>
          </p:spPr>
        </p:cxnSp>
        <p:cxnSp>
          <p:nvCxnSpPr>
            <p:cNvPr id="14" name="直接连接符 13">
              <a:extLst>
                <a:ext uri="{FF2B5EF4-FFF2-40B4-BE49-F238E27FC236}">
                  <a16:creationId xmlns:a16="http://schemas.microsoft.com/office/drawing/2014/main" id="{1674196A-37A1-4F54-A856-554D64E5B3D4}"/>
                </a:ext>
              </a:extLst>
            </p:cNvPr>
            <p:cNvCxnSpPr>
              <a:stCxn id="26" idx="2"/>
              <a:endCxn id="31" idx="0"/>
            </p:cNvCxnSpPr>
            <p:nvPr/>
          </p:nvCxnSpPr>
          <p:spPr>
            <a:xfrm flipH="1">
              <a:off x="1430080" y="301351"/>
              <a:ext cx="289385" cy="773818"/>
            </a:xfrm>
            <a:prstGeom prst="line">
              <a:avLst/>
            </a:prstGeom>
            <a:noFill/>
            <a:ln w="6350" cap="flat" cmpd="sng" algn="ctr">
              <a:solidFill>
                <a:sysClr val="windowText" lastClr="000000"/>
              </a:solidFill>
              <a:prstDash val="solid"/>
              <a:miter lim="800000"/>
            </a:ln>
            <a:effectLst/>
          </p:spPr>
        </p:cxnSp>
        <p:cxnSp>
          <p:nvCxnSpPr>
            <p:cNvPr id="15" name="直接连接符 14">
              <a:extLst>
                <a:ext uri="{FF2B5EF4-FFF2-40B4-BE49-F238E27FC236}">
                  <a16:creationId xmlns:a16="http://schemas.microsoft.com/office/drawing/2014/main" id="{1727456B-4574-4004-A6AD-30C21EB771CF}"/>
                </a:ext>
              </a:extLst>
            </p:cNvPr>
            <p:cNvCxnSpPr>
              <a:stCxn id="26" idx="2"/>
              <a:endCxn id="33" idx="0"/>
            </p:cNvCxnSpPr>
            <p:nvPr/>
          </p:nvCxnSpPr>
          <p:spPr>
            <a:xfrm>
              <a:off x="1719465" y="301351"/>
              <a:ext cx="658924" cy="773818"/>
            </a:xfrm>
            <a:prstGeom prst="line">
              <a:avLst/>
            </a:prstGeom>
            <a:noFill/>
            <a:ln w="6350" cap="flat" cmpd="sng" algn="ctr">
              <a:solidFill>
                <a:sysClr val="windowText" lastClr="000000"/>
              </a:solidFill>
              <a:prstDash val="solid"/>
              <a:miter lim="800000"/>
            </a:ln>
            <a:effectLst/>
          </p:spPr>
        </p:cxnSp>
        <p:cxnSp>
          <p:nvCxnSpPr>
            <p:cNvPr id="16" name="直接连接符 15">
              <a:extLst>
                <a:ext uri="{FF2B5EF4-FFF2-40B4-BE49-F238E27FC236}">
                  <a16:creationId xmlns:a16="http://schemas.microsoft.com/office/drawing/2014/main" id="{7DB8ED08-4B11-4BC4-A79A-D86F93C0484E}"/>
                </a:ext>
              </a:extLst>
            </p:cNvPr>
            <p:cNvCxnSpPr>
              <a:stCxn id="26" idx="2"/>
              <a:endCxn id="35" idx="0"/>
            </p:cNvCxnSpPr>
            <p:nvPr/>
          </p:nvCxnSpPr>
          <p:spPr>
            <a:xfrm>
              <a:off x="1719465" y="301351"/>
              <a:ext cx="1606668" cy="773818"/>
            </a:xfrm>
            <a:prstGeom prst="line">
              <a:avLst/>
            </a:prstGeom>
            <a:noFill/>
            <a:ln w="6350" cap="flat" cmpd="sng" algn="ctr">
              <a:solidFill>
                <a:sysClr val="windowText" lastClr="000000"/>
              </a:solidFill>
              <a:prstDash val="solid"/>
              <a:miter lim="800000"/>
            </a:ln>
            <a:effectLst/>
          </p:spPr>
        </p:cxnSp>
        <p:cxnSp>
          <p:nvCxnSpPr>
            <p:cNvPr id="17" name="直接连接符 16">
              <a:extLst>
                <a:ext uri="{FF2B5EF4-FFF2-40B4-BE49-F238E27FC236}">
                  <a16:creationId xmlns:a16="http://schemas.microsoft.com/office/drawing/2014/main" id="{54DBCEFC-DC02-456F-917F-6CB0ADEF541C}"/>
                </a:ext>
              </a:extLst>
            </p:cNvPr>
            <p:cNvCxnSpPr>
              <a:stCxn id="27" idx="2"/>
              <a:endCxn id="30" idx="0"/>
            </p:cNvCxnSpPr>
            <p:nvPr/>
          </p:nvCxnSpPr>
          <p:spPr>
            <a:xfrm flipH="1">
              <a:off x="956138" y="301351"/>
              <a:ext cx="1563024" cy="773818"/>
            </a:xfrm>
            <a:prstGeom prst="line">
              <a:avLst/>
            </a:prstGeom>
            <a:noFill/>
            <a:ln w="6350" cap="flat" cmpd="sng" algn="ctr">
              <a:solidFill>
                <a:sysClr val="windowText" lastClr="000000"/>
              </a:solidFill>
              <a:prstDash val="solid"/>
              <a:miter lim="800000"/>
            </a:ln>
            <a:effectLst/>
          </p:spPr>
        </p:cxnSp>
        <p:cxnSp>
          <p:nvCxnSpPr>
            <p:cNvPr id="18" name="直接连接符 17">
              <a:extLst>
                <a:ext uri="{FF2B5EF4-FFF2-40B4-BE49-F238E27FC236}">
                  <a16:creationId xmlns:a16="http://schemas.microsoft.com/office/drawing/2014/main" id="{52DCC724-7CB9-4DED-9DC3-517467E6CD01}"/>
                </a:ext>
              </a:extLst>
            </p:cNvPr>
            <p:cNvCxnSpPr>
              <a:stCxn id="27" idx="2"/>
              <a:endCxn id="32" idx="0"/>
            </p:cNvCxnSpPr>
            <p:nvPr/>
          </p:nvCxnSpPr>
          <p:spPr>
            <a:xfrm flipH="1">
              <a:off x="1904523" y="301351"/>
              <a:ext cx="614639" cy="773818"/>
            </a:xfrm>
            <a:prstGeom prst="line">
              <a:avLst/>
            </a:prstGeom>
            <a:noFill/>
            <a:ln w="6350" cap="flat" cmpd="sng" algn="ctr">
              <a:solidFill>
                <a:sysClr val="windowText" lastClr="000000"/>
              </a:solidFill>
              <a:prstDash val="solid"/>
              <a:miter lim="800000"/>
            </a:ln>
            <a:effectLst/>
          </p:spPr>
        </p:cxnSp>
        <p:cxnSp>
          <p:nvCxnSpPr>
            <p:cNvPr id="19" name="直接连接符 18">
              <a:extLst>
                <a:ext uri="{FF2B5EF4-FFF2-40B4-BE49-F238E27FC236}">
                  <a16:creationId xmlns:a16="http://schemas.microsoft.com/office/drawing/2014/main" id="{7F8EB9A9-F40D-4E48-97CB-42F1440D3F72}"/>
                </a:ext>
              </a:extLst>
            </p:cNvPr>
            <p:cNvCxnSpPr>
              <a:stCxn id="27" idx="2"/>
              <a:endCxn id="36" idx="0"/>
            </p:cNvCxnSpPr>
            <p:nvPr/>
          </p:nvCxnSpPr>
          <p:spPr>
            <a:xfrm>
              <a:off x="2519162" y="301351"/>
              <a:ext cx="1281201" cy="779103"/>
            </a:xfrm>
            <a:prstGeom prst="line">
              <a:avLst/>
            </a:prstGeom>
            <a:noFill/>
            <a:ln w="6350" cap="flat" cmpd="sng" algn="ctr">
              <a:solidFill>
                <a:sysClr val="windowText" lastClr="000000"/>
              </a:solidFill>
              <a:prstDash val="solid"/>
              <a:miter lim="800000"/>
            </a:ln>
            <a:effectLst/>
          </p:spPr>
        </p:cxnSp>
        <p:cxnSp>
          <p:nvCxnSpPr>
            <p:cNvPr id="20" name="直接连接符 19">
              <a:extLst>
                <a:ext uri="{FF2B5EF4-FFF2-40B4-BE49-F238E27FC236}">
                  <a16:creationId xmlns:a16="http://schemas.microsoft.com/office/drawing/2014/main" id="{80518E5F-7792-4A80-89B2-BAD330109454}"/>
                </a:ext>
              </a:extLst>
            </p:cNvPr>
            <p:cNvCxnSpPr>
              <a:stCxn id="27" idx="2"/>
              <a:endCxn id="34" idx="0"/>
            </p:cNvCxnSpPr>
            <p:nvPr/>
          </p:nvCxnSpPr>
          <p:spPr>
            <a:xfrm>
              <a:off x="2519162" y="301351"/>
              <a:ext cx="333003" cy="779103"/>
            </a:xfrm>
            <a:prstGeom prst="line">
              <a:avLst/>
            </a:prstGeom>
            <a:noFill/>
            <a:ln w="6350" cap="flat" cmpd="sng" algn="ctr">
              <a:solidFill>
                <a:sysClr val="windowText" lastClr="000000"/>
              </a:solidFill>
              <a:prstDash val="solid"/>
              <a:miter lim="800000"/>
            </a:ln>
            <a:effectLst/>
          </p:spPr>
        </p:cxnSp>
        <p:cxnSp>
          <p:nvCxnSpPr>
            <p:cNvPr id="21" name="直接连接符 20">
              <a:extLst>
                <a:ext uri="{FF2B5EF4-FFF2-40B4-BE49-F238E27FC236}">
                  <a16:creationId xmlns:a16="http://schemas.microsoft.com/office/drawing/2014/main" id="{45F865D3-2FC9-4D9A-9B4F-CF0C14436370}"/>
                </a:ext>
              </a:extLst>
            </p:cNvPr>
            <p:cNvCxnSpPr>
              <a:stCxn id="28" idx="2"/>
              <a:endCxn id="30" idx="0"/>
            </p:cNvCxnSpPr>
            <p:nvPr/>
          </p:nvCxnSpPr>
          <p:spPr>
            <a:xfrm flipH="1">
              <a:off x="956138" y="286339"/>
              <a:ext cx="2362939" cy="788830"/>
            </a:xfrm>
            <a:prstGeom prst="line">
              <a:avLst/>
            </a:prstGeom>
            <a:noFill/>
            <a:ln w="6350" cap="flat" cmpd="sng" algn="ctr">
              <a:solidFill>
                <a:sysClr val="windowText" lastClr="000000"/>
              </a:solidFill>
              <a:prstDash val="solid"/>
              <a:miter lim="800000"/>
            </a:ln>
            <a:effectLst/>
          </p:spPr>
        </p:cxnSp>
        <p:cxnSp>
          <p:nvCxnSpPr>
            <p:cNvPr id="22" name="直接连接符 21">
              <a:extLst>
                <a:ext uri="{FF2B5EF4-FFF2-40B4-BE49-F238E27FC236}">
                  <a16:creationId xmlns:a16="http://schemas.microsoft.com/office/drawing/2014/main" id="{140CC2F3-05C6-4075-ADFA-71A3C2EDAD01}"/>
                </a:ext>
              </a:extLst>
            </p:cNvPr>
            <p:cNvCxnSpPr>
              <a:stCxn id="28" idx="2"/>
              <a:endCxn id="36" idx="0"/>
            </p:cNvCxnSpPr>
            <p:nvPr/>
          </p:nvCxnSpPr>
          <p:spPr>
            <a:xfrm>
              <a:off x="3319077" y="286339"/>
              <a:ext cx="481286" cy="794115"/>
            </a:xfrm>
            <a:prstGeom prst="line">
              <a:avLst/>
            </a:prstGeom>
            <a:noFill/>
            <a:ln w="6350" cap="flat" cmpd="sng" algn="ctr">
              <a:solidFill>
                <a:sysClr val="windowText" lastClr="000000"/>
              </a:solidFill>
              <a:prstDash val="solid"/>
              <a:miter lim="800000"/>
            </a:ln>
            <a:effectLst/>
          </p:spPr>
        </p:cxnSp>
        <p:cxnSp>
          <p:nvCxnSpPr>
            <p:cNvPr id="23" name="直接连接符 22">
              <a:extLst>
                <a:ext uri="{FF2B5EF4-FFF2-40B4-BE49-F238E27FC236}">
                  <a16:creationId xmlns:a16="http://schemas.microsoft.com/office/drawing/2014/main" id="{9F7842F5-E1E2-49D6-91F2-32E9AA0D133A}"/>
                </a:ext>
              </a:extLst>
            </p:cNvPr>
            <p:cNvCxnSpPr>
              <a:stCxn id="28" idx="2"/>
              <a:endCxn id="32" idx="0"/>
            </p:cNvCxnSpPr>
            <p:nvPr/>
          </p:nvCxnSpPr>
          <p:spPr>
            <a:xfrm flipH="1">
              <a:off x="1904523" y="286339"/>
              <a:ext cx="1414554" cy="788830"/>
            </a:xfrm>
            <a:prstGeom prst="line">
              <a:avLst/>
            </a:prstGeom>
            <a:noFill/>
            <a:ln w="6350" cap="flat" cmpd="sng" algn="ctr">
              <a:solidFill>
                <a:sysClr val="windowText" lastClr="000000"/>
              </a:solidFill>
              <a:prstDash val="solid"/>
              <a:miter lim="800000"/>
            </a:ln>
            <a:effectLst/>
          </p:spPr>
        </p:cxnSp>
        <p:cxnSp>
          <p:nvCxnSpPr>
            <p:cNvPr id="24" name="直接连接符 23">
              <a:extLst>
                <a:ext uri="{FF2B5EF4-FFF2-40B4-BE49-F238E27FC236}">
                  <a16:creationId xmlns:a16="http://schemas.microsoft.com/office/drawing/2014/main" id="{8B6F121B-A5D6-4E35-9F0E-B5A736183844}"/>
                </a:ext>
              </a:extLst>
            </p:cNvPr>
            <p:cNvCxnSpPr>
              <a:stCxn id="28" idx="2"/>
              <a:endCxn id="34" idx="0"/>
            </p:cNvCxnSpPr>
            <p:nvPr/>
          </p:nvCxnSpPr>
          <p:spPr>
            <a:xfrm flipH="1">
              <a:off x="2852165" y="286339"/>
              <a:ext cx="466912" cy="794115"/>
            </a:xfrm>
            <a:prstGeom prst="line">
              <a:avLst/>
            </a:prstGeom>
            <a:noFill/>
            <a:ln w="6350" cap="flat" cmpd="sng" algn="ctr">
              <a:solidFill>
                <a:sysClr val="windowText" lastClr="000000"/>
              </a:solidFill>
              <a:prstDash val="solid"/>
              <a:miter lim="800000"/>
            </a:ln>
            <a:effectLst/>
          </p:spPr>
        </p:cxnSp>
        <p:grpSp>
          <p:nvGrpSpPr>
            <p:cNvPr id="25" name="组合 24">
              <a:extLst>
                <a:ext uri="{FF2B5EF4-FFF2-40B4-BE49-F238E27FC236}">
                  <a16:creationId xmlns:a16="http://schemas.microsoft.com/office/drawing/2014/main" id="{FCEC9C41-8474-4302-AF69-FF6B35399DE1}"/>
                </a:ext>
              </a:extLst>
            </p:cNvPr>
            <p:cNvGrpSpPr/>
            <p:nvPr/>
          </p:nvGrpSpPr>
          <p:grpSpPr>
            <a:xfrm>
              <a:off x="371591" y="1742801"/>
              <a:ext cx="211421" cy="359784"/>
              <a:chOff x="371591" y="2079351"/>
              <a:chExt cx="211421" cy="359784"/>
            </a:xfrm>
          </p:grpSpPr>
          <p:grpSp>
            <p:nvGrpSpPr>
              <p:cNvPr id="119" name="组合 118">
                <a:extLst>
                  <a:ext uri="{FF2B5EF4-FFF2-40B4-BE49-F238E27FC236}">
                    <a16:creationId xmlns:a16="http://schemas.microsoft.com/office/drawing/2014/main" id="{D667E51C-BCD9-482C-9706-6B1D7DCF86D9}"/>
                  </a:ext>
                </a:extLst>
              </p:cNvPr>
              <p:cNvGrpSpPr/>
              <p:nvPr/>
            </p:nvGrpSpPr>
            <p:grpSpPr>
              <a:xfrm>
                <a:off x="371591" y="2349281"/>
                <a:ext cx="211421" cy="89854"/>
                <a:chOff x="893255" y="1421813"/>
                <a:chExt cx="211421" cy="89854"/>
              </a:xfrm>
            </p:grpSpPr>
            <p:sp>
              <p:nvSpPr>
                <p:cNvPr id="122" name="矩形: 棱台 126">
                  <a:extLst>
                    <a:ext uri="{FF2B5EF4-FFF2-40B4-BE49-F238E27FC236}">
                      <a16:creationId xmlns:a16="http://schemas.microsoft.com/office/drawing/2014/main" id="{F9C50A7F-AEBA-4278-9905-650E30EBB38C}"/>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123" name="矩形: 棱台 127">
                  <a:extLst>
                    <a:ext uri="{FF2B5EF4-FFF2-40B4-BE49-F238E27FC236}">
                      <a16:creationId xmlns:a16="http://schemas.microsoft.com/office/drawing/2014/main" id="{650D8BCC-5281-4DCE-AA4D-4A074E5E1D48}"/>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120" name="直接连接符 119">
                <a:extLst>
                  <a:ext uri="{FF2B5EF4-FFF2-40B4-BE49-F238E27FC236}">
                    <a16:creationId xmlns:a16="http://schemas.microsoft.com/office/drawing/2014/main" id="{A46774BA-57BA-4383-9190-9A076274D01B}"/>
                  </a:ext>
                </a:extLst>
              </p:cNvPr>
              <p:cNvCxnSpPr>
                <a:stCxn id="37" idx="2"/>
                <a:endCxn id="122"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121" name="直接连接符 120">
                <a:extLst>
                  <a:ext uri="{FF2B5EF4-FFF2-40B4-BE49-F238E27FC236}">
                    <a16:creationId xmlns:a16="http://schemas.microsoft.com/office/drawing/2014/main" id="{B3D9E6DC-710E-4E30-8429-7F3C576A07CA}"/>
                  </a:ext>
                </a:extLst>
              </p:cNvPr>
              <p:cNvCxnSpPr>
                <a:stCxn id="37" idx="2"/>
                <a:endCxn id="123"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sp>
          <p:nvSpPr>
            <p:cNvPr id="26" name="矩形 25">
              <a:extLst>
                <a:ext uri="{FF2B5EF4-FFF2-40B4-BE49-F238E27FC236}">
                  <a16:creationId xmlns:a16="http://schemas.microsoft.com/office/drawing/2014/main" id="{8DEE4620-0EF5-44F3-A5DA-D1D374066A5D}"/>
                </a:ext>
              </a:extLst>
            </p:cNvPr>
            <p:cNvSpPr/>
            <p:nvPr/>
          </p:nvSpPr>
          <p:spPr>
            <a:xfrm>
              <a:off x="1550342" y="1480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27" name="矩形 26">
              <a:extLst>
                <a:ext uri="{FF2B5EF4-FFF2-40B4-BE49-F238E27FC236}">
                  <a16:creationId xmlns:a16="http://schemas.microsoft.com/office/drawing/2014/main" id="{DA2D6F84-20CA-4AE5-8B08-C732E75F2A56}"/>
                </a:ext>
              </a:extLst>
            </p:cNvPr>
            <p:cNvSpPr/>
            <p:nvPr/>
          </p:nvSpPr>
          <p:spPr>
            <a:xfrm>
              <a:off x="2350039" y="1480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28" name="矩形 27">
              <a:extLst>
                <a:ext uri="{FF2B5EF4-FFF2-40B4-BE49-F238E27FC236}">
                  <a16:creationId xmlns:a16="http://schemas.microsoft.com/office/drawing/2014/main" id="{B0CB6C5B-5250-47C5-AC09-9668DBEFFDCD}"/>
                </a:ext>
              </a:extLst>
            </p:cNvPr>
            <p:cNvSpPr/>
            <p:nvPr/>
          </p:nvSpPr>
          <p:spPr>
            <a:xfrm>
              <a:off x="3149954" y="133057"/>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29" name="矩形 28">
              <a:extLst>
                <a:ext uri="{FF2B5EF4-FFF2-40B4-BE49-F238E27FC236}">
                  <a16:creationId xmlns:a16="http://schemas.microsoft.com/office/drawing/2014/main" id="{60627918-20D2-4C35-A656-54A0493A0D94}"/>
                </a:ext>
              </a:extLst>
            </p:cNvPr>
            <p:cNvSpPr/>
            <p:nvPr/>
          </p:nvSpPr>
          <p:spPr>
            <a:xfrm>
              <a:off x="313257" y="10751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0" name="矩形 29">
              <a:extLst>
                <a:ext uri="{FF2B5EF4-FFF2-40B4-BE49-F238E27FC236}">
                  <a16:creationId xmlns:a16="http://schemas.microsoft.com/office/drawing/2014/main" id="{294D8666-9796-45D7-8CA9-17CBD9B16500}"/>
                </a:ext>
              </a:extLst>
            </p:cNvPr>
            <p:cNvSpPr/>
            <p:nvPr/>
          </p:nvSpPr>
          <p:spPr>
            <a:xfrm>
              <a:off x="787015" y="10751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1" name="矩形 30">
              <a:extLst>
                <a:ext uri="{FF2B5EF4-FFF2-40B4-BE49-F238E27FC236}">
                  <a16:creationId xmlns:a16="http://schemas.microsoft.com/office/drawing/2014/main" id="{793A2641-2BCF-4D49-948D-D70EBC52BCDE}"/>
                </a:ext>
              </a:extLst>
            </p:cNvPr>
            <p:cNvSpPr/>
            <p:nvPr/>
          </p:nvSpPr>
          <p:spPr>
            <a:xfrm>
              <a:off x="1260957" y="10751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2" name="矩形 31">
              <a:extLst>
                <a:ext uri="{FF2B5EF4-FFF2-40B4-BE49-F238E27FC236}">
                  <a16:creationId xmlns:a16="http://schemas.microsoft.com/office/drawing/2014/main" id="{9570ACF9-080D-48FB-AA0F-FB643EFA219F}"/>
                </a:ext>
              </a:extLst>
            </p:cNvPr>
            <p:cNvSpPr/>
            <p:nvPr/>
          </p:nvSpPr>
          <p:spPr>
            <a:xfrm>
              <a:off x="1735400" y="10751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3" name="矩形 32">
              <a:extLst>
                <a:ext uri="{FF2B5EF4-FFF2-40B4-BE49-F238E27FC236}">
                  <a16:creationId xmlns:a16="http://schemas.microsoft.com/office/drawing/2014/main" id="{FC43FE0D-171C-453A-A5D3-C16BE33DE218}"/>
                </a:ext>
              </a:extLst>
            </p:cNvPr>
            <p:cNvSpPr/>
            <p:nvPr/>
          </p:nvSpPr>
          <p:spPr>
            <a:xfrm>
              <a:off x="2209266" y="10751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4" name="矩形 33">
              <a:extLst>
                <a:ext uri="{FF2B5EF4-FFF2-40B4-BE49-F238E27FC236}">
                  <a16:creationId xmlns:a16="http://schemas.microsoft.com/office/drawing/2014/main" id="{A5E33096-04E3-4479-9959-51F330285EB1}"/>
                </a:ext>
              </a:extLst>
            </p:cNvPr>
            <p:cNvSpPr/>
            <p:nvPr/>
          </p:nvSpPr>
          <p:spPr>
            <a:xfrm>
              <a:off x="2683042" y="1080454"/>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5" name="矩形 34">
              <a:extLst>
                <a:ext uri="{FF2B5EF4-FFF2-40B4-BE49-F238E27FC236}">
                  <a16:creationId xmlns:a16="http://schemas.microsoft.com/office/drawing/2014/main" id="{D542B87B-6A8B-4B77-BBAA-C4505AB6CBF5}"/>
                </a:ext>
              </a:extLst>
            </p:cNvPr>
            <p:cNvSpPr/>
            <p:nvPr/>
          </p:nvSpPr>
          <p:spPr>
            <a:xfrm>
              <a:off x="3157010" y="107516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6" name="矩形 35">
              <a:extLst>
                <a:ext uri="{FF2B5EF4-FFF2-40B4-BE49-F238E27FC236}">
                  <a16:creationId xmlns:a16="http://schemas.microsoft.com/office/drawing/2014/main" id="{1A0B354C-E66E-487E-9D88-A53EC1199ABA}"/>
                </a:ext>
              </a:extLst>
            </p:cNvPr>
            <p:cNvSpPr/>
            <p:nvPr/>
          </p:nvSpPr>
          <p:spPr>
            <a:xfrm>
              <a:off x="3631240" y="1080454"/>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7" name="矩形 36">
              <a:extLst>
                <a:ext uri="{FF2B5EF4-FFF2-40B4-BE49-F238E27FC236}">
                  <a16:creationId xmlns:a16="http://schemas.microsoft.com/office/drawing/2014/main" id="{005FBB4F-5592-44DD-A7FC-31C25CFBB1C8}"/>
                </a:ext>
              </a:extLst>
            </p:cNvPr>
            <p:cNvSpPr/>
            <p:nvPr/>
          </p:nvSpPr>
          <p:spPr>
            <a:xfrm>
              <a:off x="313257" y="158951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8" name="矩形 37">
              <a:extLst>
                <a:ext uri="{FF2B5EF4-FFF2-40B4-BE49-F238E27FC236}">
                  <a16:creationId xmlns:a16="http://schemas.microsoft.com/office/drawing/2014/main" id="{4C7B306D-2069-4589-9947-2C38E8632BA7}"/>
                </a:ext>
              </a:extLst>
            </p:cNvPr>
            <p:cNvSpPr/>
            <p:nvPr/>
          </p:nvSpPr>
          <p:spPr>
            <a:xfrm>
              <a:off x="787015" y="158951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39" name="矩形 38">
              <a:extLst>
                <a:ext uri="{FF2B5EF4-FFF2-40B4-BE49-F238E27FC236}">
                  <a16:creationId xmlns:a16="http://schemas.microsoft.com/office/drawing/2014/main" id="{2F3B6F8E-992D-4407-92F8-1390C9AA1971}"/>
                </a:ext>
              </a:extLst>
            </p:cNvPr>
            <p:cNvSpPr/>
            <p:nvPr/>
          </p:nvSpPr>
          <p:spPr>
            <a:xfrm>
              <a:off x="1260957" y="158951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40" name="矩形 39">
              <a:extLst>
                <a:ext uri="{FF2B5EF4-FFF2-40B4-BE49-F238E27FC236}">
                  <a16:creationId xmlns:a16="http://schemas.microsoft.com/office/drawing/2014/main" id="{3A3467BB-FB73-4E9E-A96D-B7E10F6C00A1}"/>
                </a:ext>
              </a:extLst>
            </p:cNvPr>
            <p:cNvSpPr/>
            <p:nvPr/>
          </p:nvSpPr>
          <p:spPr>
            <a:xfrm>
              <a:off x="1735400" y="158951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41" name="矩形 40">
              <a:extLst>
                <a:ext uri="{FF2B5EF4-FFF2-40B4-BE49-F238E27FC236}">
                  <a16:creationId xmlns:a16="http://schemas.microsoft.com/office/drawing/2014/main" id="{BE37E2B4-C5FF-402C-85FC-99DAAB251E01}"/>
                </a:ext>
              </a:extLst>
            </p:cNvPr>
            <p:cNvSpPr/>
            <p:nvPr/>
          </p:nvSpPr>
          <p:spPr>
            <a:xfrm>
              <a:off x="2209266" y="158951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42" name="矩形 41">
              <a:extLst>
                <a:ext uri="{FF2B5EF4-FFF2-40B4-BE49-F238E27FC236}">
                  <a16:creationId xmlns:a16="http://schemas.microsoft.com/office/drawing/2014/main" id="{5CC2E883-36A0-4F65-A73B-F8651E787CAC}"/>
                </a:ext>
              </a:extLst>
            </p:cNvPr>
            <p:cNvSpPr/>
            <p:nvPr/>
          </p:nvSpPr>
          <p:spPr>
            <a:xfrm>
              <a:off x="2683042" y="1594804"/>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43" name="矩形 42">
              <a:extLst>
                <a:ext uri="{FF2B5EF4-FFF2-40B4-BE49-F238E27FC236}">
                  <a16:creationId xmlns:a16="http://schemas.microsoft.com/office/drawing/2014/main" id="{4FE8A198-D684-4E1F-8A3A-088118D4125D}"/>
                </a:ext>
              </a:extLst>
            </p:cNvPr>
            <p:cNvSpPr/>
            <p:nvPr/>
          </p:nvSpPr>
          <p:spPr>
            <a:xfrm>
              <a:off x="3157010" y="1589519"/>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44" name="矩形 43">
              <a:extLst>
                <a:ext uri="{FF2B5EF4-FFF2-40B4-BE49-F238E27FC236}">
                  <a16:creationId xmlns:a16="http://schemas.microsoft.com/office/drawing/2014/main" id="{C9C26D88-01DF-4DF1-B59E-36F9C105DAAE}"/>
                </a:ext>
              </a:extLst>
            </p:cNvPr>
            <p:cNvSpPr/>
            <p:nvPr/>
          </p:nvSpPr>
          <p:spPr>
            <a:xfrm>
              <a:off x="3631240" y="1594804"/>
              <a:ext cx="338246" cy="153282"/>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b="1" i="0" u="none" strike="noStrike" kern="10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grpSp>
          <p:nvGrpSpPr>
            <p:cNvPr id="45" name="组合 44">
              <a:extLst>
                <a:ext uri="{FF2B5EF4-FFF2-40B4-BE49-F238E27FC236}">
                  <a16:creationId xmlns:a16="http://schemas.microsoft.com/office/drawing/2014/main" id="{05679B7C-B6E2-4C8D-B886-CF62E71C54F5}"/>
                </a:ext>
              </a:extLst>
            </p:cNvPr>
            <p:cNvGrpSpPr/>
            <p:nvPr/>
          </p:nvGrpSpPr>
          <p:grpSpPr>
            <a:xfrm>
              <a:off x="482380" y="1228451"/>
              <a:ext cx="473758" cy="361068"/>
              <a:chOff x="171230" y="1565001"/>
              <a:chExt cx="473758" cy="361068"/>
            </a:xfrm>
          </p:grpSpPr>
          <p:cxnSp>
            <p:nvCxnSpPr>
              <p:cNvPr id="114" name="直接连接符 113">
                <a:extLst>
                  <a:ext uri="{FF2B5EF4-FFF2-40B4-BE49-F238E27FC236}">
                    <a16:creationId xmlns:a16="http://schemas.microsoft.com/office/drawing/2014/main" id="{FBF88547-9820-4DF3-AD33-1F5302368EFE}"/>
                  </a:ext>
                </a:extLst>
              </p:cNvPr>
              <p:cNvCxnSpPr>
                <a:stCxn id="29" idx="2"/>
                <a:endCxn id="37" idx="0"/>
              </p:cNvCxnSpPr>
              <p:nvPr/>
            </p:nvCxnSpPr>
            <p:spPr>
              <a:xfrm>
                <a:off x="171230" y="1565001"/>
                <a:ext cx="0" cy="361068"/>
              </a:xfrm>
              <a:prstGeom prst="line">
                <a:avLst/>
              </a:prstGeom>
              <a:noFill/>
              <a:ln w="6350" cap="flat" cmpd="sng" algn="ctr">
                <a:solidFill>
                  <a:sysClr val="windowText" lastClr="000000"/>
                </a:solidFill>
                <a:prstDash val="solid"/>
                <a:miter lim="800000"/>
              </a:ln>
              <a:effectLst/>
            </p:spPr>
          </p:cxnSp>
          <p:grpSp>
            <p:nvGrpSpPr>
              <p:cNvPr id="115" name="组合 114">
                <a:extLst>
                  <a:ext uri="{FF2B5EF4-FFF2-40B4-BE49-F238E27FC236}">
                    <a16:creationId xmlns:a16="http://schemas.microsoft.com/office/drawing/2014/main" id="{415E0D21-DA1F-4977-957F-CAD377FB8B9C}"/>
                  </a:ext>
                </a:extLst>
              </p:cNvPr>
              <p:cNvGrpSpPr/>
              <p:nvPr/>
            </p:nvGrpSpPr>
            <p:grpSpPr>
              <a:xfrm>
                <a:off x="171230" y="1565001"/>
                <a:ext cx="473758" cy="361068"/>
                <a:chOff x="171230" y="1565001"/>
                <a:chExt cx="473758" cy="361068"/>
              </a:xfrm>
            </p:grpSpPr>
            <p:cxnSp>
              <p:nvCxnSpPr>
                <p:cNvPr id="116" name="直接连接符 115">
                  <a:extLst>
                    <a:ext uri="{FF2B5EF4-FFF2-40B4-BE49-F238E27FC236}">
                      <a16:creationId xmlns:a16="http://schemas.microsoft.com/office/drawing/2014/main" id="{61769AF8-B9BB-458F-AD5E-12FC036AD3CB}"/>
                    </a:ext>
                  </a:extLst>
                </p:cNvPr>
                <p:cNvCxnSpPr>
                  <a:stCxn id="29" idx="2"/>
                  <a:endCxn id="38" idx="0"/>
                </p:cNvCxnSpPr>
                <p:nvPr/>
              </p:nvCxnSpPr>
              <p:spPr>
                <a:xfrm>
                  <a:off x="171230" y="1565001"/>
                  <a:ext cx="473758" cy="361068"/>
                </a:xfrm>
                <a:prstGeom prst="line">
                  <a:avLst/>
                </a:prstGeom>
                <a:noFill/>
                <a:ln w="6350" cap="flat" cmpd="sng" algn="ctr">
                  <a:solidFill>
                    <a:sysClr val="windowText" lastClr="000000"/>
                  </a:solidFill>
                  <a:prstDash val="solid"/>
                  <a:miter lim="800000"/>
                </a:ln>
                <a:effectLst/>
              </p:spPr>
            </p:cxnSp>
            <p:cxnSp>
              <p:nvCxnSpPr>
                <p:cNvPr id="117" name="直接连接符 116">
                  <a:extLst>
                    <a:ext uri="{FF2B5EF4-FFF2-40B4-BE49-F238E27FC236}">
                      <a16:creationId xmlns:a16="http://schemas.microsoft.com/office/drawing/2014/main" id="{10B1473B-F2B3-4C05-AF20-1123B5148771}"/>
                    </a:ext>
                  </a:extLst>
                </p:cNvPr>
                <p:cNvCxnSpPr>
                  <a:stCxn id="30" idx="2"/>
                  <a:endCxn id="38" idx="0"/>
                </p:cNvCxnSpPr>
                <p:nvPr/>
              </p:nvCxnSpPr>
              <p:spPr>
                <a:xfrm>
                  <a:off x="644988" y="1565001"/>
                  <a:ext cx="0" cy="361068"/>
                </a:xfrm>
                <a:prstGeom prst="line">
                  <a:avLst/>
                </a:prstGeom>
                <a:noFill/>
                <a:ln w="6350" cap="flat" cmpd="sng" algn="ctr">
                  <a:solidFill>
                    <a:sysClr val="windowText" lastClr="000000"/>
                  </a:solidFill>
                  <a:prstDash val="solid"/>
                  <a:miter lim="800000"/>
                </a:ln>
                <a:effectLst/>
              </p:spPr>
            </p:cxnSp>
            <p:cxnSp>
              <p:nvCxnSpPr>
                <p:cNvPr id="118" name="直接连接符 117">
                  <a:extLst>
                    <a:ext uri="{FF2B5EF4-FFF2-40B4-BE49-F238E27FC236}">
                      <a16:creationId xmlns:a16="http://schemas.microsoft.com/office/drawing/2014/main" id="{D3E225A7-7BB2-4CB8-AFD4-9100674CDAA4}"/>
                    </a:ext>
                  </a:extLst>
                </p:cNvPr>
                <p:cNvCxnSpPr>
                  <a:stCxn id="30" idx="2"/>
                  <a:endCxn id="37" idx="0"/>
                </p:cNvCxnSpPr>
                <p:nvPr/>
              </p:nvCxnSpPr>
              <p:spPr>
                <a:xfrm flipH="1">
                  <a:off x="171230" y="1565001"/>
                  <a:ext cx="473758" cy="361068"/>
                </a:xfrm>
                <a:prstGeom prst="line">
                  <a:avLst/>
                </a:prstGeom>
                <a:noFill/>
                <a:ln w="6350" cap="flat" cmpd="sng" algn="ctr">
                  <a:solidFill>
                    <a:sysClr val="windowText" lastClr="000000"/>
                  </a:solidFill>
                  <a:prstDash val="solid"/>
                  <a:miter lim="800000"/>
                </a:ln>
                <a:effectLst/>
              </p:spPr>
            </p:cxnSp>
          </p:grpSp>
        </p:grpSp>
        <p:grpSp>
          <p:nvGrpSpPr>
            <p:cNvPr id="46" name="组合 45">
              <a:extLst>
                <a:ext uri="{FF2B5EF4-FFF2-40B4-BE49-F238E27FC236}">
                  <a16:creationId xmlns:a16="http://schemas.microsoft.com/office/drawing/2014/main" id="{A5FF4422-E115-464B-8705-10B76193C791}"/>
                </a:ext>
              </a:extLst>
            </p:cNvPr>
            <p:cNvGrpSpPr/>
            <p:nvPr/>
          </p:nvGrpSpPr>
          <p:grpSpPr>
            <a:xfrm>
              <a:off x="1423491" y="1228451"/>
              <a:ext cx="473758" cy="361068"/>
              <a:chOff x="171230" y="1565001"/>
              <a:chExt cx="473758" cy="361068"/>
            </a:xfrm>
          </p:grpSpPr>
          <p:cxnSp>
            <p:nvCxnSpPr>
              <p:cNvPr id="109" name="直接连接符 108">
                <a:extLst>
                  <a:ext uri="{FF2B5EF4-FFF2-40B4-BE49-F238E27FC236}">
                    <a16:creationId xmlns:a16="http://schemas.microsoft.com/office/drawing/2014/main" id="{F44AAC80-A3FA-4AD3-87E8-6DED4B0E66E6}"/>
                  </a:ext>
                </a:extLst>
              </p:cNvPr>
              <p:cNvCxnSpPr/>
              <p:nvPr/>
            </p:nvCxnSpPr>
            <p:spPr>
              <a:xfrm>
                <a:off x="171230" y="1565001"/>
                <a:ext cx="0" cy="361068"/>
              </a:xfrm>
              <a:prstGeom prst="line">
                <a:avLst/>
              </a:prstGeom>
              <a:noFill/>
              <a:ln w="6350" cap="flat" cmpd="sng" algn="ctr">
                <a:solidFill>
                  <a:sysClr val="windowText" lastClr="000000"/>
                </a:solidFill>
                <a:prstDash val="solid"/>
                <a:miter lim="800000"/>
              </a:ln>
              <a:effectLst/>
            </p:spPr>
          </p:cxnSp>
          <p:grpSp>
            <p:nvGrpSpPr>
              <p:cNvPr id="110" name="组合 109">
                <a:extLst>
                  <a:ext uri="{FF2B5EF4-FFF2-40B4-BE49-F238E27FC236}">
                    <a16:creationId xmlns:a16="http://schemas.microsoft.com/office/drawing/2014/main" id="{46F81089-97AB-4052-8C4A-F1ED91D2F4FB}"/>
                  </a:ext>
                </a:extLst>
              </p:cNvPr>
              <p:cNvGrpSpPr/>
              <p:nvPr/>
            </p:nvGrpSpPr>
            <p:grpSpPr>
              <a:xfrm>
                <a:off x="171230" y="1565001"/>
                <a:ext cx="473758" cy="361068"/>
                <a:chOff x="171230" y="1565001"/>
                <a:chExt cx="473758" cy="361068"/>
              </a:xfrm>
            </p:grpSpPr>
            <p:cxnSp>
              <p:nvCxnSpPr>
                <p:cNvPr id="111" name="直接连接符 110">
                  <a:extLst>
                    <a:ext uri="{FF2B5EF4-FFF2-40B4-BE49-F238E27FC236}">
                      <a16:creationId xmlns:a16="http://schemas.microsoft.com/office/drawing/2014/main" id="{58694B1D-B15F-4BFD-91A2-ADC8718588F0}"/>
                    </a:ext>
                  </a:extLst>
                </p:cNvPr>
                <p:cNvCxnSpPr/>
                <p:nvPr/>
              </p:nvCxnSpPr>
              <p:spPr>
                <a:xfrm>
                  <a:off x="171230" y="1565001"/>
                  <a:ext cx="473758" cy="361068"/>
                </a:xfrm>
                <a:prstGeom prst="line">
                  <a:avLst/>
                </a:prstGeom>
                <a:noFill/>
                <a:ln w="6350" cap="flat" cmpd="sng" algn="ctr">
                  <a:solidFill>
                    <a:sysClr val="windowText" lastClr="000000"/>
                  </a:solidFill>
                  <a:prstDash val="solid"/>
                  <a:miter lim="800000"/>
                </a:ln>
                <a:effectLst/>
              </p:spPr>
            </p:cxnSp>
            <p:cxnSp>
              <p:nvCxnSpPr>
                <p:cNvPr id="112" name="直接连接符 111">
                  <a:extLst>
                    <a:ext uri="{FF2B5EF4-FFF2-40B4-BE49-F238E27FC236}">
                      <a16:creationId xmlns:a16="http://schemas.microsoft.com/office/drawing/2014/main" id="{F4DF799D-FB38-41FC-95B8-16B6928F6B74}"/>
                    </a:ext>
                  </a:extLst>
                </p:cNvPr>
                <p:cNvCxnSpPr/>
                <p:nvPr/>
              </p:nvCxnSpPr>
              <p:spPr>
                <a:xfrm>
                  <a:off x="644988" y="1565001"/>
                  <a:ext cx="0" cy="361068"/>
                </a:xfrm>
                <a:prstGeom prst="line">
                  <a:avLst/>
                </a:prstGeom>
                <a:noFill/>
                <a:ln w="6350" cap="flat" cmpd="sng" algn="ctr">
                  <a:solidFill>
                    <a:sysClr val="windowText" lastClr="000000"/>
                  </a:solidFill>
                  <a:prstDash val="solid"/>
                  <a:miter lim="800000"/>
                </a:ln>
                <a:effectLst/>
              </p:spPr>
            </p:cxnSp>
            <p:cxnSp>
              <p:nvCxnSpPr>
                <p:cNvPr id="113" name="直接连接符 112">
                  <a:extLst>
                    <a:ext uri="{FF2B5EF4-FFF2-40B4-BE49-F238E27FC236}">
                      <a16:creationId xmlns:a16="http://schemas.microsoft.com/office/drawing/2014/main" id="{166E49B7-41AD-48D5-8FC4-80C1F1CB0AC0}"/>
                    </a:ext>
                  </a:extLst>
                </p:cNvPr>
                <p:cNvCxnSpPr/>
                <p:nvPr/>
              </p:nvCxnSpPr>
              <p:spPr>
                <a:xfrm flipH="1">
                  <a:off x="171230" y="1565001"/>
                  <a:ext cx="473758" cy="361068"/>
                </a:xfrm>
                <a:prstGeom prst="line">
                  <a:avLst/>
                </a:prstGeom>
                <a:noFill/>
                <a:ln w="6350" cap="flat" cmpd="sng" algn="ctr">
                  <a:solidFill>
                    <a:sysClr val="windowText" lastClr="000000"/>
                  </a:solidFill>
                  <a:prstDash val="solid"/>
                  <a:miter lim="800000"/>
                </a:ln>
                <a:effectLst/>
              </p:spPr>
            </p:cxnSp>
          </p:grpSp>
        </p:grpSp>
        <p:grpSp>
          <p:nvGrpSpPr>
            <p:cNvPr id="47" name="组合 46">
              <a:extLst>
                <a:ext uri="{FF2B5EF4-FFF2-40B4-BE49-F238E27FC236}">
                  <a16:creationId xmlns:a16="http://schemas.microsoft.com/office/drawing/2014/main" id="{AE1ABB65-C183-4CD8-B744-A626B622A907}"/>
                </a:ext>
              </a:extLst>
            </p:cNvPr>
            <p:cNvGrpSpPr/>
            <p:nvPr/>
          </p:nvGrpSpPr>
          <p:grpSpPr>
            <a:xfrm>
              <a:off x="2406603" y="1228451"/>
              <a:ext cx="473758" cy="361068"/>
              <a:chOff x="171230" y="1565001"/>
              <a:chExt cx="473758" cy="361068"/>
            </a:xfrm>
          </p:grpSpPr>
          <p:cxnSp>
            <p:nvCxnSpPr>
              <p:cNvPr id="104" name="直接连接符 103">
                <a:extLst>
                  <a:ext uri="{FF2B5EF4-FFF2-40B4-BE49-F238E27FC236}">
                    <a16:creationId xmlns:a16="http://schemas.microsoft.com/office/drawing/2014/main" id="{126185EF-72B5-4CD0-9A4F-FE4F94B38322}"/>
                  </a:ext>
                </a:extLst>
              </p:cNvPr>
              <p:cNvCxnSpPr/>
              <p:nvPr/>
            </p:nvCxnSpPr>
            <p:spPr>
              <a:xfrm>
                <a:off x="171230" y="1565001"/>
                <a:ext cx="0" cy="361068"/>
              </a:xfrm>
              <a:prstGeom prst="line">
                <a:avLst/>
              </a:prstGeom>
              <a:noFill/>
              <a:ln w="6350" cap="flat" cmpd="sng" algn="ctr">
                <a:solidFill>
                  <a:sysClr val="windowText" lastClr="000000"/>
                </a:solidFill>
                <a:prstDash val="solid"/>
                <a:miter lim="800000"/>
              </a:ln>
              <a:effectLst/>
            </p:spPr>
          </p:cxnSp>
          <p:grpSp>
            <p:nvGrpSpPr>
              <p:cNvPr id="105" name="组合 104">
                <a:extLst>
                  <a:ext uri="{FF2B5EF4-FFF2-40B4-BE49-F238E27FC236}">
                    <a16:creationId xmlns:a16="http://schemas.microsoft.com/office/drawing/2014/main" id="{71387566-FB1E-4172-8443-3361BEF09209}"/>
                  </a:ext>
                </a:extLst>
              </p:cNvPr>
              <p:cNvGrpSpPr/>
              <p:nvPr/>
            </p:nvGrpSpPr>
            <p:grpSpPr>
              <a:xfrm>
                <a:off x="171230" y="1565001"/>
                <a:ext cx="473758" cy="361068"/>
                <a:chOff x="171230" y="1565001"/>
                <a:chExt cx="473758" cy="361068"/>
              </a:xfrm>
            </p:grpSpPr>
            <p:cxnSp>
              <p:nvCxnSpPr>
                <p:cNvPr id="106" name="直接连接符 105">
                  <a:extLst>
                    <a:ext uri="{FF2B5EF4-FFF2-40B4-BE49-F238E27FC236}">
                      <a16:creationId xmlns:a16="http://schemas.microsoft.com/office/drawing/2014/main" id="{4D1CF420-BF0D-486D-BFB4-FD56C166AE5F}"/>
                    </a:ext>
                  </a:extLst>
                </p:cNvPr>
                <p:cNvCxnSpPr/>
                <p:nvPr/>
              </p:nvCxnSpPr>
              <p:spPr>
                <a:xfrm>
                  <a:off x="171230" y="1565001"/>
                  <a:ext cx="473758" cy="361068"/>
                </a:xfrm>
                <a:prstGeom prst="line">
                  <a:avLst/>
                </a:prstGeom>
                <a:noFill/>
                <a:ln w="6350" cap="flat" cmpd="sng" algn="ctr">
                  <a:solidFill>
                    <a:sysClr val="windowText" lastClr="000000"/>
                  </a:solidFill>
                  <a:prstDash val="solid"/>
                  <a:miter lim="800000"/>
                </a:ln>
                <a:effectLst/>
              </p:spPr>
            </p:cxnSp>
            <p:cxnSp>
              <p:nvCxnSpPr>
                <p:cNvPr id="107" name="直接连接符 106">
                  <a:extLst>
                    <a:ext uri="{FF2B5EF4-FFF2-40B4-BE49-F238E27FC236}">
                      <a16:creationId xmlns:a16="http://schemas.microsoft.com/office/drawing/2014/main" id="{3924B58B-2072-45AE-AFCC-122FB4DA292F}"/>
                    </a:ext>
                  </a:extLst>
                </p:cNvPr>
                <p:cNvCxnSpPr/>
                <p:nvPr/>
              </p:nvCxnSpPr>
              <p:spPr>
                <a:xfrm>
                  <a:off x="644988" y="1565001"/>
                  <a:ext cx="0" cy="361068"/>
                </a:xfrm>
                <a:prstGeom prst="line">
                  <a:avLst/>
                </a:prstGeom>
                <a:noFill/>
                <a:ln w="6350" cap="flat" cmpd="sng" algn="ctr">
                  <a:solidFill>
                    <a:sysClr val="windowText" lastClr="000000"/>
                  </a:solidFill>
                  <a:prstDash val="solid"/>
                  <a:miter lim="800000"/>
                </a:ln>
                <a:effectLst/>
              </p:spPr>
            </p:cxnSp>
            <p:cxnSp>
              <p:nvCxnSpPr>
                <p:cNvPr id="108" name="直接连接符 107">
                  <a:extLst>
                    <a:ext uri="{FF2B5EF4-FFF2-40B4-BE49-F238E27FC236}">
                      <a16:creationId xmlns:a16="http://schemas.microsoft.com/office/drawing/2014/main" id="{894ECDFF-F9D1-4350-91C4-DE5E4D23DF5B}"/>
                    </a:ext>
                  </a:extLst>
                </p:cNvPr>
                <p:cNvCxnSpPr/>
                <p:nvPr/>
              </p:nvCxnSpPr>
              <p:spPr>
                <a:xfrm flipH="1">
                  <a:off x="171230" y="1565001"/>
                  <a:ext cx="473758" cy="361068"/>
                </a:xfrm>
                <a:prstGeom prst="line">
                  <a:avLst/>
                </a:prstGeom>
                <a:noFill/>
                <a:ln w="6350" cap="flat" cmpd="sng" algn="ctr">
                  <a:solidFill>
                    <a:sysClr val="windowText" lastClr="000000"/>
                  </a:solidFill>
                  <a:prstDash val="solid"/>
                  <a:miter lim="800000"/>
                </a:ln>
                <a:effectLst/>
              </p:spPr>
            </p:cxnSp>
          </p:grpSp>
        </p:grpSp>
        <p:grpSp>
          <p:nvGrpSpPr>
            <p:cNvPr id="48" name="组合 47">
              <a:extLst>
                <a:ext uri="{FF2B5EF4-FFF2-40B4-BE49-F238E27FC236}">
                  <a16:creationId xmlns:a16="http://schemas.microsoft.com/office/drawing/2014/main" id="{9C7A2DAD-50EF-45E6-BCDB-A505C304D099}"/>
                </a:ext>
              </a:extLst>
            </p:cNvPr>
            <p:cNvGrpSpPr/>
            <p:nvPr/>
          </p:nvGrpSpPr>
          <p:grpSpPr>
            <a:xfrm>
              <a:off x="3334919" y="1233736"/>
              <a:ext cx="473758" cy="361068"/>
              <a:chOff x="171230" y="1565001"/>
              <a:chExt cx="473758" cy="361068"/>
            </a:xfrm>
          </p:grpSpPr>
          <p:cxnSp>
            <p:nvCxnSpPr>
              <p:cNvPr id="99" name="直接连接符 98">
                <a:extLst>
                  <a:ext uri="{FF2B5EF4-FFF2-40B4-BE49-F238E27FC236}">
                    <a16:creationId xmlns:a16="http://schemas.microsoft.com/office/drawing/2014/main" id="{8096581D-F4BE-4332-996E-83ECA85FE044}"/>
                  </a:ext>
                </a:extLst>
              </p:cNvPr>
              <p:cNvCxnSpPr/>
              <p:nvPr/>
            </p:nvCxnSpPr>
            <p:spPr>
              <a:xfrm>
                <a:off x="171230" y="1565001"/>
                <a:ext cx="0" cy="361068"/>
              </a:xfrm>
              <a:prstGeom prst="line">
                <a:avLst/>
              </a:prstGeom>
              <a:noFill/>
              <a:ln w="6350" cap="flat" cmpd="sng" algn="ctr">
                <a:solidFill>
                  <a:sysClr val="windowText" lastClr="000000"/>
                </a:solidFill>
                <a:prstDash val="solid"/>
                <a:miter lim="800000"/>
              </a:ln>
              <a:effectLst/>
            </p:spPr>
          </p:cxnSp>
          <p:grpSp>
            <p:nvGrpSpPr>
              <p:cNvPr id="100" name="组合 99">
                <a:extLst>
                  <a:ext uri="{FF2B5EF4-FFF2-40B4-BE49-F238E27FC236}">
                    <a16:creationId xmlns:a16="http://schemas.microsoft.com/office/drawing/2014/main" id="{034564E0-9279-447B-AB3A-F78DA0D1728C}"/>
                  </a:ext>
                </a:extLst>
              </p:cNvPr>
              <p:cNvGrpSpPr/>
              <p:nvPr/>
            </p:nvGrpSpPr>
            <p:grpSpPr>
              <a:xfrm>
                <a:off x="171230" y="1565001"/>
                <a:ext cx="473758" cy="361068"/>
                <a:chOff x="171230" y="1565001"/>
                <a:chExt cx="473758" cy="361068"/>
              </a:xfrm>
            </p:grpSpPr>
            <p:cxnSp>
              <p:nvCxnSpPr>
                <p:cNvPr id="101" name="直接连接符 100">
                  <a:extLst>
                    <a:ext uri="{FF2B5EF4-FFF2-40B4-BE49-F238E27FC236}">
                      <a16:creationId xmlns:a16="http://schemas.microsoft.com/office/drawing/2014/main" id="{DA1C6699-8C44-4041-9C25-BFA5C2745553}"/>
                    </a:ext>
                  </a:extLst>
                </p:cNvPr>
                <p:cNvCxnSpPr/>
                <p:nvPr/>
              </p:nvCxnSpPr>
              <p:spPr>
                <a:xfrm>
                  <a:off x="171230" y="1565001"/>
                  <a:ext cx="473758" cy="361068"/>
                </a:xfrm>
                <a:prstGeom prst="line">
                  <a:avLst/>
                </a:prstGeom>
                <a:noFill/>
                <a:ln w="6350" cap="flat" cmpd="sng" algn="ctr">
                  <a:solidFill>
                    <a:sysClr val="windowText" lastClr="000000"/>
                  </a:solidFill>
                  <a:prstDash val="solid"/>
                  <a:miter lim="800000"/>
                </a:ln>
                <a:effectLst/>
              </p:spPr>
            </p:cxnSp>
            <p:cxnSp>
              <p:nvCxnSpPr>
                <p:cNvPr id="102" name="直接连接符 101">
                  <a:extLst>
                    <a:ext uri="{FF2B5EF4-FFF2-40B4-BE49-F238E27FC236}">
                      <a16:creationId xmlns:a16="http://schemas.microsoft.com/office/drawing/2014/main" id="{05E6E00B-9FE1-4427-814D-1A560311744E}"/>
                    </a:ext>
                  </a:extLst>
                </p:cNvPr>
                <p:cNvCxnSpPr/>
                <p:nvPr/>
              </p:nvCxnSpPr>
              <p:spPr>
                <a:xfrm>
                  <a:off x="644988" y="1565001"/>
                  <a:ext cx="0" cy="361068"/>
                </a:xfrm>
                <a:prstGeom prst="line">
                  <a:avLst/>
                </a:prstGeom>
                <a:noFill/>
                <a:ln w="6350" cap="flat" cmpd="sng" algn="ctr">
                  <a:solidFill>
                    <a:sysClr val="windowText" lastClr="000000"/>
                  </a:solidFill>
                  <a:prstDash val="solid"/>
                  <a:miter lim="800000"/>
                </a:ln>
                <a:effectLst/>
              </p:spPr>
            </p:cxnSp>
            <p:cxnSp>
              <p:nvCxnSpPr>
                <p:cNvPr id="103" name="直接连接符 102">
                  <a:extLst>
                    <a:ext uri="{FF2B5EF4-FFF2-40B4-BE49-F238E27FC236}">
                      <a16:creationId xmlns:a16="http://schemas.microsoft.com/office/drawing/2014/main" id="{DB8D3367-7A46-4DF6-8D88-1D415F14D35D}"/>
                    </a:ext>
                  </a:extLst>
                </p:cNvPr>
                <p:cNvCxnSpPr/>
                <p:nvPr/>
              </p:nvCxnSpPr>
              <p:spPr>
                <a:xfrm flipH="1">
                  <a:off x="171230" y="1565001"/>
                  <a:ext cx="473758" cy="361068"/>
                </a:xfrm>
                <a:prstGeom prst="line">
                  <a:avLst/>
                </a:prstGeom>
                <a:noFill/>
                <a:ln w="6350" cap="flat" cmpd="sng" algn="ctr">
                  <a:solidFill>
                    <a:sysClr val="windowText" lastClr="000000"/>
                  </a:solidFill>
                  <a:prstDash val="solid"/>
                  <a:miter lim="800000"/>
                </a:ln>
                <a:effectLst/>
              </p:spPr>
            </p:cxnSp>
          </p:grpSp>
        </p:grpSp>
        <p:sp>
          <p:nvSpPr>
            <p:cNvPr id="49" name="矩形 48">
              <a:extLst>
                <a:ext uri="{FF2B5EF4-FFF2-40B4-BE49-F238E27FC236}">
                  <a16:creationId xmlns:a16="http://schemas.microsoft.com/office/drawing/2014/main" id="{53A1BC26-4472-4505-97EC-48AA68823806}"/>
                </a:ext>
              </a:extLst>
            </p:cNvPr>
            <p:cNvSpPr/>
            <p:nvPr/>
          </p:nvSpPr>
          <p:spPr>
            <a:xfrm>
              <a:off x="283643" y="850900"/>
              <a:ext cx="873630" cy="984250"/>
            </a:xfrm>
            <a:prstGeom prst="rect">
              <a:avLst/>
            </a:prstGeom>
            <a:noFill/>
            <a:ln w="12700" cap="flat" cmpd="sng" algn="ctr">
              <a:solidFill>
                <a:sysClr val="windowText" lastClr="00000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50" name="矩形 49">
              <a:extLst>
                <a:ext uri="{FF2B5EF4-FFF2-40B4-BE49-F238E27FC236}">
                  <a16:creationId xmlns:a16="http://schemas.microsoft.com/office/drawing/2014/main" id="{17102EA7-BB3F-4233-A778-C4A38E96FB9F}"/>
                </a:ext>
              </a:extLst>
            </p:cNvPr>
            <p:cNvSpPr/>
            <p:nvPr/>
          </p:nvSpPr>
          <p:spPr>
            <a:xfrm>
              <a:off x="1231270" y="850900"/>
              <a:ext cx="873630" cy="984250"/>
            </a:xfrm>
            <a:prstGeom prst="rect">
              <a:avLst/>
            </a:prstGeom>
            <a:noFill/>
            <a:ln w="12700" cap="flat" cmpd="sng" algn="ctr">
              <a:solidFill>
                <a:sysClr val="windowText" lastClr="00000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51" name="矩形 50">
              <a:extLst>
                <a:ext uri="{FF2B5EF4-FFF2-40B4-BE49-F238E27FC236}">
                  <a16:creationId xmlns:a16="http://schemas.microsoft.com/office/drawing/2014/main" id="{0FE16E47-4C13-4DD2-BA53-8A321F027B04}"/>
                </a:ext>
              </a:extLst>
            </p:cNvPr>
            <p:cNvSpPr/>
            <p:nvPr/>
          </p:nvSpPr>
          <p:spPr>
            <a:xfrm>
              <a:off x="2176015" y="850900"/>
              <a:ext cx="873630" cy="984250"/>
            </a:xfrm>
            <a:prstGeom prst="rect">
              <a:avLst/>
            </a:prstGeom>
            <a:noFill/>
            <a:ln w="12700" cap="flat" cmpd="sng" algn="ctr">
              <a:solidFill>
                <a:sysClr val="windowText" lastClr="00000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52" name="矩形 51">
              <a:extLst>
                <a:ext uri="{FF2B5EF4-FFF2-40B4-BE49-F238E27FC236}">
                  <a16:creationId xmlns:a16="http://schemas.microsoft.com/office/drawing/2014/main" id="{F8F90756-D8A0-4F67-B431-CBCD0E3AACC3}"/>
                </a:ext>
              </a:extLst>
            </p:cNvPr>
            <p:cNvSpPr/>
            <p:nvPr/>
          </p:nvSpPr>
          <p:spPr>
            <a:xfrm>
              <a:off x="3134180" y="850900"/>
              <a:ext cx="873630" cy="984250"/>
            </a:xfrm>
            <a:prstGeom prst="rect">
              <a:avLst/>
            </a:prstGeom>
            <a:noFill/>
            <a:ln w="12700" cap="flat" cmpd="sng" algn="ctr">
              <a:solidFill>
                <a:sysClr val="windowText" lastClr="000000"/>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grpSp>
          <p:nvGrpSpPr>
            <p:cNvPr id="53" name="组合 52">
              <a:extLst>
                <a:ext uri="{FF2B5EF4-FFF2-40B4-BE49-F238E27FC236}">
                  <a16:creationId xmlns:a16="http://schemas.microsoft.com/office/drawing/2014/main" id="{3C895104-6453-41A9-A4EB-1F307A8D496A}"/>
                </a:ext>
              </a:extLst>
            </p:cNvPr>
            <p:cNvGrpSpPr/>
            <p:nvPr/>
          </p:nvGrpSpPr>
          <p:grpSpPr>
            <a:xfrm>
              <a:off x="828918" y="1742801"/>
              <a:ext cx="211421" cy="359784"/>
              <a:chOff x="371591" y="2079351"/>
              <a:chExt cx="211421" cy="359784"/>
            </a:xfrm>
          </p:grpSpPr>
          <p:grpSp>
            <p:nvGrpSpPr>
              <p:cNvPr id="94" name="组合 93">
                <a:extLst>
                  <a:ext uri="{FF2B5EF4-FFF2-40B4-BE49-F238E27FC236}">
                    <a16:creationId xmlns:a16="http://schemas.microsoft.com/office/drawing/2014/main" id="{702027B7-CF39-41CF-B4B3-2B5DC60BC454}"/>
                  </a:ext>
                </a:extLst>
              </p:cNvPr>
              <p:cNvGrpSpPr/>
              <p:nvPr/>
            </p:nvGrpSpPr>
            <p:grpSpPr>
              <a:xfrm>
                <a:off x="371591" y="2349281"/>
                <a:ext cx="211421" cy="89854"/>
                <a:chOff x="893255" y="1421813"/>
                <a:chExt cx="211421" cy="89854"/>
              </a:xfrm>
            </p:grpSpPr>
            <p:sp>
              <p:nvSpPr>
                <p:cNvPr id="97" name="矩形: 棱台 101">
                  <a:extLst>
                    <a:ext uri="{FF2B5EF4-FFF2-40B4-BE49-F238E27FC236}">
                      <a16:creationId xmlns:a16="http://schemas.microsoft.com/office/drawing/2014/main" id="{07DED0D1-E3EB-4859-8356-F69BFBB59B41}"/>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98" name="矩形: 棱台 102">
                  <a:extLst>
                    <a:ext uri="{FF2B5EF4-FFF2-40B4-BE49-F238E27FC236}">
                      <a16:creationId xmlns:a16="http://schemas.microsoft.com/office/drawing/2014/main" id="{486AF405-554C-4993-B4FE-E1B14F02599B}"/>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95" name="直接连接符 94">
                <a:extLst>
                  <a:ext uri="{FF2B5EF4-FFF2-40B4-BE49-F238E27FC236}">
                    <a16:creationId xmlns:a16="http://schemas.microsoft.com/office/drawing/2014/main" id="{FF95FA29-9C35-4D9B-843D-62745EECE1F8}"/>
                  </a:ext>
                </a:extLst>
              </p:cNvPr>
              <p:cNvCxnSpPr>
                <a:endCxn id="97"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96" name="直接连接符 95">
                <a:extLst>
                  <a:ext uri="{FF2B5EF4-FFF2-40B4-BE49-F238E27FC236}">
                    <a16:creationId xmlns:a16="http://schemas.microsoft.com/office/drawing/2014/main" id="{64F521F9-5825-41BE-BB34-879C2DD38655}"/>
                  </a:ext>
                </a:extLst>
              </p:cNvPr>
              <p:cNvCxnSpPr>
                <a:endCxn id="98"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grpSp>
          <p:nvGrpSpPr>
            <p:cNvPr id="54" name="组合 53">
              <a:extLst>
                <a:ext uri="{FF2B5EF4-FFF2-40B4-BE49-F238E27FC236}">
                  <a16:creationId xmlns:a16="http://schemas.microsoft.com/office/drawing/2014/main" id="{2D58B8FA-6341-4FA0-B16D-10459D3B713F}"/>
                </a:ext>
              </a:extLst>
            </p:cNvPr>
            <p:cNvGrpSpPr/>
            <p:nvPr/>
          </p:nvGrpSpPr>
          <p:grpSpPr>
            <a:xfrm>
              <a:off x="1299249" y="1748086"/>
              <a:ext cx="211421" cy="359784"/>
              <a:chOff x="371591" y="2079351"/>
              <a:chExt cx="211421" cy="359784"/>
            </a:xfrm>
          </p:grpSpPr>
          <p:grpSp>
            <p:nvGrpSpPr>
              <p:cNvPr id="89" name="组合 88">
                <a:extLst>
                  <a:ext uri="{FF2B5EF4-FFF2-40B4-BE49-F238E27FC236}">
                    <a16:creationId xmlns:a16="http://schemas.microsoft.com/office/drawing/2014/main" id="{2A6CF387-93EF-4D55-B972-5F5E721D9C3C}"/>
                  </a:ext>
                </a:extLst>
              </p:cNvPr>
              <p:cNvGrpSpPr/>
              <p:nvPr/>
            </p:nvGrpSpPr>
            <p:grpSpPr>
              <a:xfrm>
                <a:off x="371591" y="2349281"/>
                <a:ext cx="211421" cy="89854"/>
                <a:chOff x="893255" y="1421813"/>
                <a:chExt cx="211421" cy="89854"/>
              </a:xfrm>
            </p:grpSpPr>
            <p:sp>
              <p:nvSpPr>
                <p:cNvPr id="92" name="矩形: 棱台 96">
                  <a:extLst>
                    <a:ext uri="{FF2B5EF4-FFF2-40B4-BE49-F238E27FC236}">
                      <a16:creationId xmlns:a16="http://schemas.microsoft.com/office/drawing/2014/main" id="{8FD52B9B-5793-4B32-B6C3-9F41016DE8B4}"/>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93" name="矩形: 棱台 97">
                  <a:extLst>
                    <a:ext uri="{FF2B5EF4-FFF2-40B4-BE49-F238E27FC236}">
                      <a16:creationId xmlns:a16="http://schemas.microsoft.com/office/drawing/2014/main" id="{E8308DB1-9305-484E-8EE7-664FE5A1BEEB}"/>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90" name="直接连接符 89">
                <a:extLst>
                  <a:ext uri="{FF2B5EF4-FFF2-40B4-BE49-F238E27FC236}">
                    <a16:creationId xmlns:a16="http://schemas.microsoft.com/office/drawing/2014/main" id="{48768323-5858-4300-A9AD-31697D025105}"/>
                  </a:ext>
                </a:extLst>
              </p:cNvPr>
              <p:cNvCxnSpPr>
                <a:endCxn id="92"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91" name="直接连接符 90">
                <a:extLst>
                  <a:ext uri="{FF2B5EF4-FFF2-40B4-BE49-F238E27FC236}">
                    <a16:creationId xmlns:a16="http://schemas.microsoft.com/office/drawing/2014/main" id="{6699B6E1-CC05-4AFE-818A-2D272B700EAF}"/>
                  </a:ext>
                </a:extLst>
              </p:cNvPr>
              <p:cNvCxnSpPr>
                <a:endCxn id="93"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grpSp>
          <p:nvGrpSpPr>
            <p:cNvPr id="55" name="组合 54">
              <a:extLst>
                <a:ext uri="{FF2B5EF4-FFF2-40B4-BE49-F238E27FC236}">
                  <a16:creationId xmlns:a16="http://schemas.microsoft.com/office/drawing/2014/main" id="{0DC2E121-3D82-4176-AF38-E668F5E584C8}"/>
                </a:ext>
              </a:extLst>
            </p:cNvPr>
            <p:cNvGrpSpPr/>
            <p:nvPr/>
          </p:nvGrpSpPr>
          <p:grpSpPr>
            <a:xfrm>
              <a:off x="1781405" y="1742582"/>
              <a:ext cx="211421" cy="359784"/>
              <a:chOff x="371591" y="2079351"/>
              <a:chExt cx="211421" cy="359784"/>
            </a:xfrm>
          </p:grpSpPr>
          <p:grpSp>
            <p:nvGrpSpPr>
              <p:cNvPr id="84" name="组合 83">
                <a:extLst>
                  <a:ext uri="{FF2B5EF4-FFF2-40B4-BE49-F238E27FC236}">
                    <a16:creationId xmlns:a16="http://schemas.microsoft.com/office/drawing/2014/main" id="{9D31BF34-D06F-47F1-8DBF-2A6DA560B097}"/>
                  </a:ext>
                </a:extLst>
              </p:cNvPr>
              <p:cNvGrpSpPr/>
              <p:nvPr/>
            </p:nvGrpSpPr>
            <p:grpSpPr>
              <a:xfrm>
                <a:off x="371591" y="2349281"/>
                <a:ext cx="211421" cy="89854"/>
                <a:chOff x="893255" y="1421813"/>
                <a:chExt cx="211421" cy="89854"/>
              </a:xfrm>
            </p:grpSpPr>
            <p:sp>
              <p:nvSpPr>
                <p:cNvPr id="87" name="矩形: 棱台 91">
                  <a:extLst>
                    <a:ext uri="{FF2B5EF4-FFF2-40B4-BE49-F238E27FC236}">
                      <a16:creationId xmlns:a16="http://schemas.microsoft.com/office/drawing/2014/main" id="{C53FCD6E-4934-441A-A5AC-D7B138347DC0}"/>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88" name="矩形: 棱台 92">
                  <a:extLst>
                    <a:ext uri="{FF2B5EF4-FFF2-40B4-BE49-F238E27FC236}">
                      <a16:creationId xmlns:a16="http://schemas.microsoft.com/office/drawing/2014/main" id="{EB909EDA-5CE6-416D-B5D1-84C2FC03803F}"/>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85" name="直接连接符 84">
                <a:extLst>
                  <a:ext uri="{FF2B5EF4-FFF2-40B4-BE49-F238E27FC236}">
                    <a16:creationId xmlns:a16="http://schemas.microsoft.com/office/drawing/2014/main" id="{E3CF679F-BA8F-4286-99B6-89413FA73898}"/>
                  </a:ext>
                </a:extLst>
              </p:cNvPr>
              <p:cNvCxnSpPr>
                <a:endCxn id="87"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86" name="直接连接符 85">
                <a:extLst>
                  <a:ext uri="{FF2B5EF4-FFF2-40B4-BE49-F238E27FC236}">
                    <a16:creationId xmlns:a16="http://schemas.microsoft.com/office/drawing/2014/main" id="{D65687E7-2EFA-4C3A-AB0C-DD6B7939F330}"/>
                  </a:ext>
                </a:extLst>
              </p:cNvPr>
              <p:cNvCxnSpPr>
                <a:endCxn id="88"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grpSp>
          <p:nvGrpSpPr>
            <p:cNvPr id="56" name="组合 55">
              <a:extLst>
                <a:ext uri="{FF2B5EF4-FFF2-40B4-BE49-F238E27FC236}">
                  <a16:creationId xmlns:a16="http://schemas.microsoft.com/office/drawing/2014/main" id="{9CF0C524-1759-4007-A351-14FF25DEB864}"/>
                </a:ext>
              </a:extLst>
            </p:cNvPr>
            <p:cNvGrpSpPr/>
            <p:nvPr/>
          </p:nvGrpSpPr>
          <p:grpSpPr>
            <a:xfrm>
              <a:off x="2251381" y="1753998"/>
              <a:ext cx="211421" cy="359784"/>
              <a:chOff x="371591" y="2079351"/>
              <a:chExt cx="211421" cy="359784"/>
            </a:xfrm>
          </p:grpSpPr>
          <p:grpSp>
            <p:nvGrpSpPr>
              <p:cNvPr id="79" name="组合 78">
                <a:extLst>
                  <a:ext uri="{FF2B5EF4-FFF2-40B4-BE49-F238E27FC236}">
                    <a16:creationId xmlns:a16="http://schemas.microsoft.com/office/drawing/2014/main" id="{C2A82A22-5529-4686-8D2B-267D0677C2BF}"/>
                  </a:ext>
                </a:extLst>
              </p:cNvPr>
              <p:cNvGrpSpPr/>
              <p:nvPr/>
            </p:nvGrpSpPr>
            <p:grpSpPr>
              <a:xfrm>
                <a:off x="371591" y="2349281"/>
                <a:ext cx="211421" cy="89854"/>
                <a:chOff x="893255" y="1421813"/>
                <a:chExt cx="211421" cy="89854"/>
              </a:xfrm>
            </p:grpSpPr>
            <p:sp>
              <p:nvSpPr>
                <p:cNvPr id="82" name="矩形: 棱台 86">
                  <a:extLst>
                    <a:ext uri="{FF2B5EF4-FFF2-40B4-BE49-F238E27FC236}">
                      <a16:creationId xmlns:a16="http://schemas.microsoft.com/office/drawing/2014/main" id="{431C230C-4706-4912-8079-C724E7FAC534}"/>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83" name="矩形: 棱台 87">
                  <a:extLst>
                    <a:ext uri="{FF2B5EF4-FFF2-40B4-BE49-F238E27FC236}">
                      <a16:creationId xmlns:a16="http://schemas.microsoft.com/office/drawing/2014/main" id="{B58FCCCB-FAD6-4908-864D-79509FFB7143}"/>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80" name="直接连接符 79">
                <a:extLst>
                  <a:ext uri="{FF2B5EF4-FFF2-40B4-BE49-F238E27FC236}">
                    <a16:creationId xmlns:a16="http://schemas.microsoft.com/office/drawing/2014/main" id="{524C6800-895D-4817-89C5-3D3E311B7166}"/>
                  </a:ext>
                </a:extLst>
              </p:cNvPr>
              <p:cNvCxnSpPr>
                <a:endCxn id="82"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81" name="直接连接符 80">
                <a:extLst>
                  <a:ext uri="{FF2B5EF4-FFF2-40B4-BE49-F238E27FC236}">
                    <a16:creationId xmlns:a16="http://schemas.microsoft.com/office/drawing/2014/main" id="{F6AFFBC7-114A-4A3C-9F20-F932709B9E5F}"/>
                  </a:ext>
                </a:extLst>
              </p:cNvPr>
              <p:cNvCxnSpPr>
                <a:endCxn id="83"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grpSp>
          <p:nvGrpSpPr>
            <p:cNvPr id="57" name="组合 56">
              <a:extLst>
                <a:ext uri="{FF2B5EF4-FFF2-40B4-BE49-F238E27FC236}">
                  <a16:creationId xmlns:a16="http://schemas.microsoft.com/office/drawing/2014/main" id="{4693C61D-0237-4B7D-8A74-DED12416024F}"/>
                </a:ext>
              </a:extLst>
            </p:cNvPr>
            <p:cNvGrpSpPr/>
            <p:nvPr/>
          </p:nvGrpSpPr>
          <p:grpSpPr>
            <a:xfrm>
              <a:off x="2727080" y="1753998"/>
              <a:ext cx="211421" cy="359784"/>
              <a:chOff x="371591" y="2079351"/>
              <a:chExt cx="211421" cy="359784"/>
            </a:xfrm>
          </p:grpSpPr>
          <p:grpSp>
            <p:nvGrpSpPr>
              <p:cNvPr id="74" name="组合 73">
                <a:extLst>
                  <a:ext uri="{FF2B5EF4-FFF2-40B4-BE49-F238E27FC236}">
                    <a16:creationId xmlns:a16="http://schemas.microsoft.com/office/drawing/2014/main" id="{A278841A-640C-4E3B-8763-1855C5B6A2F5}"/>
                  </a:ext>
                </a:extLst>
              </p:cNvPr>
              <p:cNvGrpSpPr/>
              <p:nvPr/>
            </p:nvGrpSpPr>
            <p:grpSpPr>
              <a:xfrm>
                <a:off x="371591" y="2349281"/>
                <a:ext cx="211421" cy="89854"/>
                <a:chOff x="893255" y="1421813"/>
                <a:chExt cx="211421" cy="89854"/>
              </a:xfrm>
            </p:grpSpPr>
            <p:sp>
              <p:nvSpPr>
                <p:cNvPr id="77" name="矩形: 棱台 81">
                  <a:extLst>
                    <a:ext uri="{FF2B5EF4-FFF2-40B4-BE49-F238E27FC236}">
                      <a16:creationId xmlns:a16="http://schemas.microsoft.com/office/drawing/2014/main" id="{E5C948CA-5E22-4303-952F-AF7C118C879C}"/>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78" name="矩形: 棱台 82">
                  <a:extLst>
                    <a:ext uri="{FF2B5EF4-FFF2-40B4-BE49-F238E27FC236}">
                      <a16:creationId xmlns:a16="http://schemas.microsoft.com/office/drawing/2014/main" id="{4F951EDD-B2CC-4D17-95DF-C4A20C703659}"/>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75" name="直接连接符 74">
                <a:extLst>
                  <a:ext uri="{FF2B5EF4-FFF2-40B4-BE49-F238E27FC236}">
                    <a16:creationId xmlns:a16="http://schemas.microsoft.com/office/drawing/2014/main" id="{0AE6ACE8-CE41-4D1F-98AB-F5702813A92B}"/>
                  </a:ext>
                </a:extLst>
              </p:cNvPr>
              <p:cNvCxnSpPr>
                <a:endCxn id="77"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76" name="直接连接符 75">
                <a:extLst>
                  <a:ext uri="{FF2B5EF4-FFF2-40B4-BE49-F238E27FC236}">
                    <a16:creationId xmlns:a16="http://schemas.microsoft.com/office/drawing/2014/main" id="{60413A30-A120-4AA4-B050-B9256B0CA4CB}"/>
                  </a:ext>
                </a:extLst>
              </p:cNvPr>
              <p:cNvCxnSpPr>
                <a:endCxn id="78"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grpSp>
          <p:nvGrpSpPr>
            <p:cNvPr id="58" name="组合 57">
              <a:extLst>
                <a:ext uri="{FF2B5EF4-FFF2-40B4-BE49-F238E27FC236}">
                  <a16:creationId xmlns:a16="http://schemas.microsoft.com/office/drawing/2014/main" id="{1B99B67B-F2E4-424C-B089-563A9387BB1E}"/>
                </a:ext>
              </a:extLst>
            </p:cNvPr>
            <p:cNvGrpSpPr/>
            <p:nvPr/>
          </p:nvGrpSpPr>
          <p:grpSpPr>
            <a:xfrm>
              <a:off x="3205282" y="1755176"/>
              <a:ext cx="211421" cy="359784"/>
              <a:chOff x="371591" y="2079351"/>
              <a:chExt cx="211421" cy="359784"/>
            </a:xfrm>
          </p:grpSpPr>
          <p:grpSp>
            <p:nvGrpSpPr>
              <p:cNvPr id="69" name="组合 68">
                <a:extLst>
                  <a:ext uri="{FF2B5EF4-FFF2-40B4-BE49-F238E27FC236}">
                    <a16:creationId xmlns:a16="http://schemas.microsoft.com/office/drawing/2014/main" id="{53AD6E09-9B7D-44A8-ADB5-9CEE859AF50D}"/>
                  </a:ext>
                </a:extLst>
              </p:cNvPr>
              <p:cNvGrpSpPr/>
              <p:nvPr/>
            </p:nvGrpSpPr>
            <p:grpSpPr>
              <a:xfrm>
                <a:off x="371591" y="2349281"/>
                <a:ext cx="211421" cy="89854"/>
                <a:chOff x="893255" y="1421813"/>
                <a:chExt cx="211421" cy="89854"/>
              </a:xfrm>
            </p:grpSpPr>
            <p:sp>
              <p:nvSpPr>
                <p:cNvPr id="72" name="矩形: 棱台 74">
                  <a:extLst>
                    <a:ext uri="{FF2B5EF4-FFF2-40B4-BE49-F238E27FC236}">
                      <a16:creationId xmlns:a16="http://schemas.microsoft.com/office/drawing/2014/main" id="{50A1B9A4-7BB2-4E31-A043-E6C41641BCFE}"/>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73" name="矩形: 棱台 75">
                  <a:extLst>
                    <a:ext uri="{FF2B5EF4-FFF2-40B4-BE49-F238E27FC236}">
                      <a16:creationId xmlns:a16="http://schemas.microsoft.com/office/drawing/2014/main" id="{2D7A8B1F-5275-4833-B521-504036B8AF3C}"/>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70" name="直接连接符 69">
                <a:extLst>
                  <a:ext uri="{FF2B5EF4-FFF2-40B4-BE49-F238E27FC236}">
                    <a16:creationId xmlns:a16="http://schemas.microsoft.com/office/drawing/2014/main" id="{A55A13BA-4EA8-49F5-8F08-EE4A5ADA8EE0}"/>
                  </a:ext>
                </a:extLst>
              </p:cNvPr>
              <p:cNvCxnSpPr>
                <a:endCxn id="72"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71" name="直接连接符 70">
                <a:extLst>
                  <a:ext uri="{FF2B5EF4-FFF2-40B4-BE49-F238E27FC236}">
                    <a16:creationId xmlns:a16="http://schemas.microsoft.com/office/drawing/2014/main" id="{B4AD6B7A-86E6-421F-9E16-6C5D98CDF7DC}"/>
                  </a:ext>
                </a:extLst>
              </p:cNvPr>
              <p:cNvCxnSpPr>
                <a:endCxn id="73"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grpSp>
          <p:nvGrpSpPr>
            <p:cNvPr id="59" name="组合 58">
              <a:extLst>
                <a:ext uri="{FF2B5EF4-FFF2-40B4-BE49-F238E27FC236}">
                  <a16:creationId xmlns:a16="http://schemas.microsoft.com/office/drawing/2014/main" id="{3C27F6AF-35EE-424B-96FE-57DF654FA747}"/>
                </a:ext>
              </a:extLst>
            </p:cNvPr>
            <p:cNvGrpSpPr/>
            <p:nvPr/>
          </p:nvGrpSpPr>
          <p:grpSpPr>
            <a:xfrm>
              <a:off x="3677373" y="1755176"/>
              <a:ext cx="211421" cy="359784"/>
              <a:chOff x="371591" y="2079351"/>
              <a:chExt cx="211421" cy="359784"/>
            </a:xfrm>
          </p:grpSpPr>
          <p:grpSp>
            <p:nvGrpSpPr>
              <p:cNvPr id="64" name="组合 63">
                <a:extLst>
                  <a:ext uri="{FF2B5EF4-FFF2-40B4-BE49-F238E27FC236}">
                    <a16:creationId xmlns:a16="http://schemas.microsoft.com/office/drawing/2014/main" id="{D5D4E4E5-CC22-4AFC-8C20-DBE6C4DD95E2}"/>
                  </a:ext>
                </a:extLst>
              </p:cNvPr>
              <p:cNvGrpSpPr/>
              <p:nvPr/>
            </p:nvGrpSpPr>
            <p:grpSpPr>
              <a:xfrm>
                <a:off x="371591" y="2349281"/>
                <a:ext cx="211421" cy="89854"/>
                <a:chOff x="893255" y="1421813"/>
                <a:chExt cx="211421" cy="89854"/>
              </a:xfrm>
            </p:grpSpPr>
            <p:sp>
              <p:nvSpPr>
                <p:cNvPr id="67" name="矩形: 棱台 69">
                  <a:extLst>
                    <a:ext uri="{FF2B5EF4-FFF2-40B4-BE49-F238E27FC236}">
                      <a16:creationId xmlns:a16="http://schemas.microsoft.com/office/drawing/2014/main" id="{906C224F-CE29-4860-86D9-5C59FD82A695}"/>
                    </a:ext>
                  </a:extLst>
                </p:cNvPr>
                <p:cNvSpPr/>
                <p:nvPr/>
              </p:nvSpPr>
              <p:spPr>
                <a:xfrm>
                  <a:off x="893255"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sp>
              <p:nvSpPr>
                <p:cNvPr id="68" name="矩形: 棱台 70">
                  <a:extLst>
                    <a:ext uri="{FF2B5EF4-FFF2-40B4-BE49-F238E27FC236}">
                      <a16:creationId xmlns:a16="http://schemas.microsoft.com/office/drawing/2014/main" id="{D1162C5A-E0A8-49FC-B245-ACE79F4ADA5E}"/>
                    </a:ext>
                  </a:extLst>
                </p:cNvPr>
                <p:cNvSpPr/>
                <p:nvPr/>
              </p:nvSpPr>
              <p:spPr>
                <a:xfrm>
                  <a:off x="1030679" y="1421813"/>
                  <a:ext cx="73997" cy="89854"/>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ysClr val="windowText" lastClr="000000"/>
                    </a:solidFill>
                    <a:effectLst/>
                    <a:uLnTx/>
                    <a:uFillTx/>
                  </a:endParaRPr>
                </a:p>
              </p:txBody>
            </p:sp>
          </p:grpSp>
          <p:cxnSp>
            <p:nvCxnSpPr>
              <p:cNvPr id="65" name="直接连接符 64">
                <a:extLst>
                  <a:ext uri="{FF2B5EF4-FFF2-40B4-BE49-F238E27FC236}">
                    <a16:creationId xmlns:a16="http://schemas.microsoft.com/office/drawing/2014/main" id="{3F23ED9A-39C6-46C6-94E6-D0758338DD9D}"/>
                  </a:ext>
                </a:extLst>
              </p:cNvPr>
              <p:cNvCxnSpPr>
                <a:endCxn id="67" idx="7"/>
              </p:cNvCxnSpPr>
              <p:nvPr/>
            </p:nvCxnSpPr>
            <p:spPr>
              <a:xfrm flipH="1">
                <a:off x="408590" y="2079351"/>
                <a:ext cx="73790" cy="279180"/>
              </a:xfrm>
              <a:prstGeom prst="line">
                <a:avLst/>
              </a:prstGeom>
              <a:noFill/>
              <a:ln w="6350" cap="flat" cmpd="sng" algn="ctr">
                <a:solidFill>
                  <a:sysClr val="windowText" lastClr="000000"/>
                </a:solidFill>
                <a:prstDash val="solid"/>
                <a:miter lim="800000"/>
              </a:ln>
              <a:effectLst/>
            </p:spPr>
          </p:cxnSp>
          <p:cxnSp>
            <p:nvCxnSpPr>
              <p:cNvPr id="66" name="直接连接符 65">
                <a:extLst>
                  <a:ext uri="{FF2B5EF4-FFF2-40B4-BE49-F238E27FC236}">
                    <a16:creationId xmlns:a16="http://schemas.microsoft.com/office/drawing/2014/main" id="{B9D3CD76-1FE8-4AF7-A220-F5C5979A4726}"/>
                  </a:ext>
                </a:extLst>
              </p:cNvPr>
              <p:cNvCxnSpPr>
                <a:endCxn id="68" idx="7"/>
              </p:cNvCxnSpPr>
              <p:nvPr/>
            </p:nvCxnSpPr>
            <p:spPr>
              <a:xfrm>
                <a:off x="482380" y="2079351"/>
                <a:ext cx="63634" cy="279180"/>
              </a:xfrm>
              <a:prstGeom prst="line">
                <a:avLst/>
              </a:prstGeom>
              <a:noFill/>
              <a:ln w="6350" cap="flat" cmpd="sng" algn="ctr">
                <a:solidFill>
                  <a:sysClr val="windowText" lastClr="000000"/>
                </a:solidFill>
                <a:prstDash val="solid"/>
                <a:miter lim="800000"/>
              </a:ln>
              <a:effectLst/>
            </p:spPr>
          </p:cxnSp>
        </p:grpSp>
        <p:sp>
          <p:nvSpPr>
            <p:cNvPr id="60" name="矩形 59">
              <a:extLst>
                <a:ext uri="{FF2B5EF4-FFF2-40B4-BE49-F238E27FC236}">
                  <a16:creationId xmlns:a16="http://schemas.microsoft.com/office/drawing/2014/main" id="{06AD65DE-44F5-44CB-A36A-5C570914D18B}"/>
                </a:ext>
              </a:extLst>
            </p:cNvPr>
            <p:cNvSpPr/>
            <p:nvPr/>
          </p:nvSpPr>
          <p:spPr>
            <a:xfrm>
              <a:off x="4216400" y="126707"/>
              <a:ext cx="527050" cy="19685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核心层</a:t>
              </a:r>
              <a:endParaRPr kumimoji="0" lang="zh-CN" altLang="en-US"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61" name="矩形 60">
              <a:extLst>
                <a:ext uri="{FF2B5EF4-FFF2-40B4-BE49-F238E27FC236}">
                  <a16:creationId xmlns:a16="http://schemas.microsoft.com/office/drawing/2014/main" id="{9642D2E6-A0B4-42F9-8B42-F807F4C429F9}"/>
                </a:ext>
              </a:extLst>
            </p:cNvPr>
            <p:cNvSpPr/>
            <p:nvPr/>
          </p:nvSpPr>
          <p:spPr>
            <a:xfrm>
              <a:off x="4216400" y="1080161"/>
              <a:ext cx="527050" cy="19685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汇聚层</a:t>
              </a:r>
              <a:endParaRPr kumimoji="0" lang="zh-CN" altLang="en-US"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62" name="矩形 61">
              <a:extLst>
                <a:ext uri="{FF2B5EF4-FFF2-40B4-BE49-F238E27FC236}">
                  <a16:creationId xmlns:a16="http://schemas.microsoft.com/office/drawing/2014/main" id="{34C24247-1596-4999-B86E-DCC32F274C4A}"/>
                </a:ext>
              </a:extLst>
            </p:cNvPr>
            <p:cNvSpPr/>
            <p:nvPr/>
          </p:nvSpPr>
          <p:spPr>
            <a:xfrm>
              <a:off x="4216400" y="1565337"/>
              <a:ext cx="527050" cy="19685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接入层</a:t>
              </a:r>
              <a:endParaRPr kumimoji="0" lang="zh-CN" altLang="en-US"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63" name="矩形 62">
              <a:extLst>
                <a:ext uri="{FF2B5EF4-FFF2-40B4-BE49-F238E27FC236}">
                  <a16:creationId xmlns:a16="http://schemas.microsoft.com/office/drawing/2014/main" id="{71CEEB82-FEDF-4C82-B874-28F7A30237F1}"/>
                </a:ext>
              </a:extLst>
            </p:cNvPr>
            <p:cNvSpPr/>
            <p:nvPr/>
          </p:nvSpPr>
          <p:spPr>
            <a:xfrm>
              <a:off x="271455" y="793457"/>
              <a:ext cx="371591" cy="19685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pod</a:t>
              </a:r>
              <a:endParaRPr kumimoji="0" lang="zh-CN" altLang="en-US"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grpSp>
    </p:spTree>
    <p:extLst>
      <p:ext uri="{BB962C8B-B14F-4D97-AF65-F5344CB8AC3E}">
        <p14:creationId xmlns:p14="http://schemas.microsoft.com/office/powerpoint/2010/main" val="2508999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数据中心网络：</a:t>
            </a:r>
            <a:r>
              <a:rPr lang="zh-CN" altLang="zh-CN" dirty="0"/>
              <a:t>以服务器为中心</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918930" cy="4937453"/>
          </a:xfrm>
        </p:spPr>
        <p:txBody>
          <a:bodyPr anchor="t" anchorCtr="0">
            <a:normAutofit/>
          </a:bodyPr>
          <a:lstStyle/>
          <a:p>
            <a:r>
              <a:rPr lang="zh-CN" altLang="en-US" sz="2400" dirty="0"/>
              <a:t>典型：</a:t>
            </a:r>
            <a:r>
              <a:rPr lang="en-US" altLang="zh-CN" sz="2400" dirty="0" err="1"/>
              <a:t>BCube</a:t>
            </a:r>
            <a:r>
              <a:rPr lang="zh-CN" altLang="zh-CN" sz="2400" dirty="0"/>
              <a:t>网络 </a:t>
            </a:r>
            <a:endParaRPr lang="en-US" altLang="zh-CN" sz="2400" dirty="0"/>
          </a:p>
          <a:p>
            <a:r>
              <a:rPr lang="zh-CN" altLang="zh-CN" sz="2400" dirty="0"/>
              <a:t>服务器为多端口，每个端口连接一个交换机</a:t>
            </a:r>
            <a:endParaRPr lang="en-US" altLang="zh-CN" sz="2400" dirty="0"/>
          </a:p>
          <a:p>
            <a:r>
              <a:rPr lang="zh-CN" altLang="zh-CN" sz="2400" dirty="0"/>
              <a:t>每台交换机连接固定数量的服务器。</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grpSp>
        <p:nvGrpSpPr>
          <p:cNvPr id="124" name="画布 123">
            <a:extLst>
              <a:ext uri="{FF2B5EF4-FFF2-40B4-BE49-F238E27FC236}">
                <a16:creationId xmlns:a16="http://schemas.microsoft.com/office/drawing/2014/main" id="{5AC6E0C8-2C10-4B62-824F-A05399C64A26}"/>
              </a:ext>
            </a:extLst>
          </p:cNvPr>
          <p:cNvGrpSpPr/>
          <p:nvPr/>
        </p:nvGrpSpPr>
        <p:grpSpPr>
          <a:xfrm>
            <a:off x="2320440" y="2971877"/>
            <a:ext cx="7485321" cy="3451424"/>
            <a:chOff x="0" y="0"/>
            <a:chExt cx="4592955" cy="1923415"/>
          </a:xfrm>
        </p:grpSpPr>
        <p:sp>
          <p:nvSpPr>
            <p:cNvPr id="125" name="矩形 124">
              <a:extLst>
                <a:ext uri="{FF2B5EF4-FFF2-40B4-BE49-F238E27FC236}">
                  <a16:creationId xmlns:a16="http://schemas.microsoft.com/office/drawing/2014/main" id="{8E494FC8-54E1-4288-957B-1C55B696521D}"/>
                </a:ext>
              </a:extLst>
            </p:cNvPr>
            <p:cNvSpPr/>
            <p:nvPr/>
          </p:nvSpPr>
          <p:spPr>
            <a:xfrm>
              <a:off x="0" y="0"/>
              <a:ext cx="4592955" cy="1923415"/>
            </a:xfrm>
            <a:prstGeom prst="rect">
              <a:avLst/>
            </a:prstGeom>
          </p:spPr>
        </p:sp>
        <p:sp>
          <p:nvSpPr>
            <p:cNvPr id="126" name="矩形 125">
              <a:extLst>
                <a:ext uri="{FF2B5EF4-FFF2-40B4-BE49-F238E27FC236}">
                  <a16:creationId xmlns:a16="http://schemas.microsoft.com/office/drawing/2014/main" id="{B02CE3DA-CD0D-4CEB-A6D4-C0BF7E032C7D}"/>
                </a:ext>
              </a:extLst>
            </p:cNvPr>
            <p:cNvSpPr/>
            <p:nvPr/>
          </p:nvSpPr>
          <p:spPr>
            <a:xfrm>
              <a:off x="120440" y="63718"/>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7" name="矩形 126">
              <a:extLst>
                <a:ext uri="{FF2B5EF4-FFF2-40B4-BE49-F238E27FC236}">
                  <a16:creationId xmlns:a16="http://schemas.microsoft.com/office/drawing/2014/main" id="{7AF85ED6-3F15-4D34-91EE-11DAA7BDB751}"/>
                </a:ext>
              </a:extLst>
            </p:cNvPr>
            <p:cNvSpPr/>
            <p:nvPr/>
          </p:nvSpPr>
          <p:spPr>
            <a:xfrm>
              <a:off x="1420396" y="68798"/>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dirty="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8" name="矩形 127">
              <a:extLst>
                <a:ext uri="{FF2B5EF4-FFF2-40B4-BE49-F238E27FC236}">
                  <a16:creationId xmlns:a16="http://schemas.microsoft.com/office/drawing/2014/main" id="{8B2C67BA-5551-404D-BFE1-D20E2C70D180}"/>
                </a:ext>
              </a:extLst>
            </p:cNvPr>
            <p:cNvSpPr/>
            <p:nvPr/>
          </p:nvSpPr>
          <p:spPr>
            <a:xfrm>
              <a:off x="2752369" y="63718"/>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9" name="矩形 128">
              <a:extLst>
                <a:ext uri="{FF2B5EF4-FFF2-40B4-BE49-F238E27FC236}">
                  <a16:creationId xmlns:a16="http://schemas.microsoft.com/office/drawing/2014/main" id="{CAEBE0C1-9BE0-4C39-B0C7-847A57EE813A}"/>
                </a:ext>
              </a:extLst>
            </p:cNvPr>
            <p:cNvSpPr/>
            <p:nvPr/>
          </p:nvSpPr>
          <p:spPr>
            <a:xfrm>
              <a:off x="3925644" y="63718"/>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30" name="矩形 129">
              <a:extLst>
                <a:ext uri="{FF2B5EF4-FFF2-40B4-BE49-F238E27FC236}">
                  <a16:creationId xmlns:a16="http://schemas.microsoft.com/office/drawing/2014/main" id="{99180FE1-32DB-4D09-B14B-36558116E699}"/>
                </a:ext>
              </a:extLst>
            </p:cNvPr>
            <p:cNvSpPr/>
            <p:nvPr/>
          </p:nvSpPr>
          <p:spPr>
            <a:xfrm>
              <a:off x="104732" y="1020108"/>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31" name="矩形 130">
              <a:extLst>
                <a:ext uri="{FF2B5EF4-FFF2-40B4-BE49-F238E27FC236}">
                  <a16:creationId xmlns:a16="http://schemas.microsoft.com/office/drawing/2014/main" id="{45D90170-DA69-49E5-BA20-5F4568FFCE3F}"/>
                </a:ext>
              </a:extLst>
            </p:cNvPr>
            <p:cNvSpPr/>
            <p:nvPr/>
          </p:nvSpPr>
          <p:spPr>
            <a:xfrm>
              <a:off x="1409256" y="1019642"/>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32" name="矩形 131">
              <a:extLst>
                <a:ext uri="{FF2B5EF4-FFF2-40B4-BE49-F238E27FC236}">
                  <a16:creationId xmlns:a16="http://schemas.microsoft.com/office/drawing/2014/main" id="{5BB93422-0439-468E-8B36-3A0D877BAC0E}"/>
                </a:ext>
              </a:extLst>
            </p:cNvPr>
            <p:cNvSpPr/>
            <p:nvPr/>
          </p:nvSpPr>
          <p:spPr>
            <a:xfrm>
              <a:off x="2746853" y="1019642"/>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33" name="矩形 132">
              <a:extLst>
                <a:ext uri="{FF2B5EF4-FFF2-40B4-BE49-F238E27FC236}">
                  <a16:creationId xmlns:a16="http://schemas.microsoft.com/office/drawing/2014/main" id="{C95FDA96-1635-4C60-B96D-2C667604829A}"/>
                </a:ext>
              </a:extLst>
            </p:cNvPr>
            <p:cNvSpPr/>
            <p:nvPr/>
          </p:nvSpPr>
          <p:spPr>
            <a:xfrm>
              <a:off x="3925644" y="1019627"/>
              <a:ext cx="601980" cy="153035"/>
            </a:xfrm>
            <a:prstGeom prst="rect">
              <a:avLst/>
            </a:prstGeom>
            <a:noFill/>
            <a:ln w="12700" cap="flat" cmpd="sng" algn="ctr">
              <a:solidFill>
                <a:srgbClr val="5B9BD5">
                  <a:shade val="50000"/>
                </a:srgbClr>
              </a:solid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a:t>
              </a:r>
              <a:endParaRPr kumimoji="0" lang="zh-CN" altLang="en-US" sz="2800" b="1"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134" name="直接连接符 133">
              <a:extLst>
                <a:ext uri="{FF2B5EF4-FFF2-40B4-BE49-F238E27FC236}">
                  <a16:creationId xmlns:a16="http://schemas.microsoft.com/office/drawing/2014/main" id="{18A63AF3-CB8A-450D-B5BD-1743A524A006}"/>
                </a:ext>
              </a:extLst>
            </p:cNvPr>
            <p:cNvCxnSpPr>
              <a:endCxn id="186" idx="7"/>
            </p:cNvCxnSpPr>
            <p:nvPr/>
          </p:nvCxnSpPr>
          <p:spPr>
            <a:xfrm flipH="1">
              <a:off x="189319" y="216748"/>
              <a:ext cx="232111" cy="1481056"/>
            </a:xfrm>
            <a:prstGeom prst="line">
              <a:avLst/>
            </a:prstGeom>
            <a:noFill/>
            <a:ln w="6350" cap="flat" cmpd="sng" algn="ctr">
              <a:solidFill>
                <a:srgbClr val="00B050"/>
              </a:solidFill>
              <a:prstDash val="solid"/>
              <a:miter lim="800000"/>
            </a:ln>
            <a:effectLst/>
          </p:spPr>
        </p:cxnSp>
        <p:cxnSp>
          <p:nvCxnSpPr>
            <p:cNvPr id="135" name="直接连接符 134">
              <a:extLst>
                <a:ext uri="{FF2B5EF4-FFF2-40B4-BE49-F238E27FC236}">
                  <a16:creationId xmlns:a16="http://schemas.microsoft.com/office/drawing/2014/main" id="{51BFC2AE-727B-4C5B-A842-14BA9CD538D3}"/>
                </a:ext>
              </a:extLst>
            </p:cNvPr>
            <p:cNvCxnSpPr>
              <a:endCxn id="178" idx="6"/>
            </p:cNvCxnSpPr>
            <p:nvPr/>
          </p:nvCxnSpPr>
          <p:spPr>
            <a:xfrm>
              <a:off x="421430" y="216748"/>
              <a:ext cx="1062088" cy="1471346"/>
            </a:xfrm>
            <a:prstGeom prst="line">
              <a:avLst/>
            </a:prstGeom>
            <a:noFill/>
            <a:ln w="6350" cap="flat" cmpd="sng" algn="ctr">
              <a:solidFill>
                <a:srgbClr val="00B050"/>
              </a:solidFill>
              <a:prstDash val="solid"/>
              <a:miter lim="800000"/>
            </a:ln>
            <a:effectLst/>
          </p:spPr>
        </p:cxnSp>
        <p:cxnSp>
          <p:nvCxnSpPr>
            <p:cNvPr id="136" name="直接连接符 135">
              <a:extLst>
                <a:ext uri="{FF2B5EF4-FFF2-40B4-BE49-F238E27FC236}">
                  <a16:creationId xmlns:a16="http://schemas.microsoft.com/office/drawing/2014/main" id="{CA394640-6E76-4E12-91B2-B6E73B658471}"/>
                </a:ext>
              </a:extLst>
            </p:cNvPr>
            <p:cNvCxnSpPr>
              <a:endCxn id="170" idx="6"/>
            </p:cNvCxnSpPr>
            <p:nvPr/>
          </p:nvCxnSpPr>
          <p:spPr>
            <a:xfrm>
              <a:off x="421430" y="221828"/>
              <a:ext cx="2415189" cy="1466266"/>
            </a:xfrm>
            <a:prstGeom prst="line">
              <a:avLst/>
            </a:prstGeom>
            <a:noFill/>
            <a:ln w="6350" cap="flat" cmpd="sng" algn="ctr">
              <a:solidFill>
                <a:srgbClr val="00B050"/>
              </a:solidFill>
              <a:prstDash val="solid"/>
              <a:miter lim="800000"/>
            </a:ln>
            <a:effectLst/>
          </p:spPr>
        </p:cxnSp>
        <p:cxnSp>
          <p:nvCxnSpPr>
            <p:cNvPr id="137" name="直接连接符 136">
              <a:extLst>
                <a:ext uri="{FF2B5EF4-FFF2-40B4-BE49-F238E27FC236}">
                  <a16:creationId xmlns:a16="http://schemas.microsoft.com/office/drawing/2014/main" id="{A8A0B043-83FF-4026-802A-45389C516377}"/>
                </a:ext>
              </a:extLst>
            </p:cNvPr>
            <p:cNvCxnSpPr>
              <a:endCxn id="162" idx="6"/>
            </p:cNvCxnSpPr>
            <p:nvPr/>
          </p:nvCxnSpPr>
          <p:spPr>
            <a:xfrm>
              <a:off x="421430" y="216748"/>
              <a:ext cx="3578010" cy="1471346"/>
            </a:xfrm>
            <a:prstGeom prst="line">
              <a:avLst/>
            </a:prstGeom>
            <a:noFill/>
            <a:ln w="6350" cap="flat" cmpd="sng" algn="ctr">
              <a:solidFill>
                <a:srgbClr val="00B050"/>
              </a:solidFill>
              <a:prstDash val="solid"/>
              <a:miter lim="800000"/>
            </a:ln>
            <a:effectLst/>
          </p:spPr>
        </p:cxnSp>
        <p:cxnSp>
          <p:nvCxnSpPr>
            <p:cNvPr id="138" name="直接连接符 137">
              <a:extLst>
                <a:ext uri="{FF2B5EF4-FFF2-40B4-BE49-F238E27FC236}">
                  <a16:creationId xmlns:a16="http://schemas.microsoft.com/office/drawing/2014/main" id="{941DD402-B654-4AE8-9E96-4B47072E0B76}"/>
                </a:ext>
              </a:extLst>
            </p:cNvPr>
            <p:cNvCxnSpPr>
              <a:endCxn id="187" idx="6"/>
            </p:cNvCxnSpPr>
            <p:nvPr/>
          </p:nvCxnSpPr>
          <p:spPr>
            <a:xfrm flipH="1">
              <a:off x="326613" y="216738"/>
              <a:ext cx="1410370" cy="1471825"/>
            </a:xfrm>
            <a:prstGeom prst="line">
              <a:avLst/>
            </a:prstGeom>
            <a:noFill/>
            <a:ln w="6350" cap="flat" cmpd="sng" algn="ctr">
              <a:solidFill>
                <a:srgbClr val="00B050"/>
              </a:solidFill>
              <a:prstDash val="solid"/>
              <a:miter lim="800000"/>
            </a:ln>
            <a:effectLst/>
          </p:spPr>
        </p:cxnSp>
        <p:cxnSp>
          <p:nvCxnSpPr>
            <p:cNvPr id="139" name="直接连接符 138">
              <a:extLst>
                <a:ext uri="{FF2B5EF4-FFF2-40B4-BE49-F238E27FC236}">
                  <a16:creationId xmlns:a16="http://schemas.microsoft.com/office/drawing/2014/main" id="{9480B7B0-8141-4CB9-81AB-68B69C914FC6}"/>
                </a:ext>
              </a:extLst>
            </p:cNvPr>
            <p:cNvCxnSpPr>
              <a:stCxn id="127" idx="2"/>
              <a:endCxn id="179" idx="7"/>
            </p:cNvCxnSpPr>
            <p:nvPr/>
          </p:nvCxnSpPr>
          <p:spPr>
            <a:xfrm flipH="1">
              <a:off x="1620812" y="221828"/>
              <a:ext cx="100574" cy="1475507"/>
            </a:xfrm>
            <a:prstGeom prst="line">
              <a:avLst/>
            </a:prstGeom>
            <a:noFill/>
            <a:ln w="6350" cap="flat" cmpd="sng" algn="ctr">
              <a:solidFill>
                <a:srgbClr val="00B050"/>
              </a:solidFill>
              <a:prstDash val="solid"/>
              <a:miter lim="800000"/>
            </a:ln>
            <a:effectLst/>
          </p:spPr>
        </p:cxnSp>
        <p:cxnSp>
          <p:nvCxnSpPr>
            <p:cNvPr id="140" name="直接连接符 139">
              <a:extLst>
                <a:ext uri="{FF2B5EF4-FFF2-40B4-BE49-F238E27FC236}">
                  <a16:creationId xmlns:a16="http://schemas.microsoft.com/office/drawing/2014/main" id="{C238D8D1-0077-4929-934B-5DAE6C7E2D7B}"/>
                </a:ext>
              </a:extLst>
            </p:cNvPr>
            <p:cNvCxnSpPr>
              <a:stCxn id="127" idx="2"/>
              <a:endCxn id="171" idx="6"/>
            </p:cNvCxnSpPr>
            <p:nvPr/>
          </p:nvCxnSpPr>
          <p:spPr>
            <a:xfrm>
              <a:off x="1721386" y="221828"/>
              <a:ext cx="1252527" cy="1466266"/>
            </a:xfrm>
            <a:prstGeom prst="line">
              <a:avLst/>
            </a:prstGeom>
            <a:noFill/>
            <a:ln w="6350" cap="flat" cmpd="sng" algn="ctr">
              <a:solidFill>
                <a:srgbClr val="00B050"/>
              </a:solidFill>
              <a:prstDash val="solid"/>
              <a:miter lim="800000"/>
            </a:ln>
            <a:effectLst/>
          </p:spPr>
        </p:cxnSp>
        <p:cxnSp>
          <p:nvCxnSpPr>
            <p:cNvPr id="141" name="直接连接符 140">
              <a:extLst>
                <a:ext uri="{FF2B5EF4-FFF2-40B4-BE49-F238E27FC236}">
                  <a16:creationId xmlns:a16="http://schemas.microsoft.com/office/drawing/2014/main" id="{A4EEE726-3C7D-4303-AEBF-75B54393E288}"/>
                </a:ext>
              </a:extLst>
            </p:cNvPr>
            <p:cNvCxnSpPr>
              <a:stCxn id="127" idx="2"/>
            </p:cNvCxnSpPr>
            <p:nvPr/>
          </p:nvCxnSpPr>
          <p:spPr>
            <a:xfrm>
              <a:off x="1721386" y="221828"/>
              <a:ext cx="2415348" cy="1466234"/>
            </a:xfrm>
            <a:prstGeom prst="line">
              <a:avLst/>
            </a:prstGeom>
            <a:noFill/>
            <a:ln w="6350" cap="flat" cmpd="sng" algn="ctr">
              <a:solidFill>
                <a:srgbClr val="00B050"/>
              </a:solidFill>
              <a:prstDash val="solid"/>
              <a:miter lim="800000"/>
            </a:ln>
            <a:effectLst/>
          </p:spPr>
        </p:cxnSp>
        <p:cxnSp>
          <p:nvCxnSpPr>
            <p:cNvPr id="142" name="直接连接符 141">
              <a:extLst>
                <a:ext uri="{FF2B5EF4-FFF2-40B4-BE49-F238E27FC236}">
                  <a16:creationId xmlns:a16="http://schemas.microsoft.com/office/drawing/2014/main" id="{F80C0E55-EA5B-4EE5-804A-ED71F46DC77A}"/>
                </a:ext>
              </a:extLst>
            </p:cNvPr>
            <p:cNvCxnSpPr>
              <a:stCxn id="128" idx="2"/>
              <a:endCxn id="180" idx="6"/>
            </p:cNvCxnSpPr>
            <p:nvPr/>
          </p:nvCxnSpPr>
          <p:spPr>
            <a:xfrm flipH="1">
              <a:off x="1773947" y="216748"/>
              <a:ext cx="1279412" cy="1471346"/>
            </a:xfrm>
            <a:prstGeom prst="line">
              <a:avLst/>
            </a:prstGeom>
            <a:noFill/>
            <a:ln w="6350" cap="flat" cmpd="sng" algn="ctr">
              <a:solidFill>
                <a:srgbClr val="00B050"/>
              </a:solidFill>
              <a:prstDash val="solid"/>
              <a:miter lim="800000"/>
            </a:ln>
            <a:effectLst/>
          </p:spPr>
        </p:cxnSp>
        <p:cxnSp>
          <p:nvCxnSpPr>
            <p:cNvPr id="143" name="直接连接符 142">
              <a:extLst>
                <a:ext uri="{FF2B5EF4-FFF2-40B4-BE49-F238E27FC236}">
                  <a16:creationId xmlns:a16="http://schemas.microsoft.com/office/drawing/2014/main" id="{D046F6D6-501B-4F82-AB26-420F5051CAF9}"/>
                </a:ext>
              </a:extLst>
            </p:cNvPr>
            <p:cNvCxnSpPr>
              <a:stCxn id="128" idx="2"/>
              <a:endCxn id="188" idx="6"/>
            </p:cNvCxnSpPr>
            <p:nvPr/>
          </p:nvCxnSpPr>
          <p:spPr>
            <a:xfrm flipH="1">
              <a:off x="479748" y="216748"/>
              <a:ext cx="2573611" cy="1471815"/>
            </a:xfrm>
            <a:prstGeom prst="line">
              <a:avLst/>
            </a:prstGeom>
            <a:noFill/>
            <a:ln w="6350" cap="flat" cmpd="sng" algn="ctr">
              <a:solidFill>
                <a:srgbClr val="00B050"/>
              </a:solidFill>
              <a:prstDash val="solid"/>
              <a:miter lim="800000"/>
            </a:ln>
            <a:effectLst/>
          </p:spPr>
        </p:cxnSp>
        <p:cxnSp>
          <p:nvCxnSpPr>
            <p:cNvPr id="144" name="直接连接符 143">
              <a:extLst>
                <a:ext uri="{FF2B5EF4-FFF2-40B4-BE49-F238E27FC236}">
                  <a16:creationId xmlns:a16="http://schemas.microsoft.com/office/drawing/2014/main" id="{D1326584-F65C-4061-9DF4-182404823F63}"/>
                </a:ext>
              </a:extLst>
            </p:cNvPr>
            <p:cNvCxnSpPr>
              <a:stCxn id="128" idx="2"/>
              <a:endCxn id="172" idx="7"/>
            </p:cNvCxnSpPr>
            <p:nvPr/>
          </p:nvCxnSpPr>
          <p:spPr>
            <a:xfrm>
              <a:off x="3053359" y="216748"/>
              <a:ext cx="73689" cy="1480587"/>
            </a:xfrm>
            <a:prstGeom prst="line">
              <a:avLst/>
            </a:prstGeom>
            <a:noFill/>
            <a:ln w="6350" cap="flat" cmpd="sng" algn="ctr">
              <a:solidFill>
                <a:srgbClr val="00B050"/>
              </a:solidFill>
              <a:prstDash val="solid"/>
              <a:miter lim="800000"/>
            </a:ln>
            <a:effectLst/>
          </p:spPr>
        </p:cxnSp>
        <p:cxnSp>
          <p:nvCxnSpPr>
            <p:cNvPr id="145" name="直接连接符 144">
              <a:extLst>
                <a:ext uri="{FF2B5EF4-FFF2-40B4-BE49-F238E27FC236}">
                  <a16:creationId xmlns:a16="http://schemas.microsoft.com/office/drawing/2014/main" id="{E7B1EAA0-6053-4FCE-9B8A-6435B5FACAAA}"/>
                </a:ext>
              </a:extLst>
            </p:cNvPr>
            <p:cNvCxnSpPr>
              <a:stCxn id="128" idx="2"/>
              <a:endCxn id="164" idx="7"/>
            </p:cNvCxnSpPr>
            <p:nvPr/>
          </p:nvCxnSpPr>
          <p:spPr>
            <a:xfrm>
              <a:off x="3053359" y="216748"/>
              <a:ext cx="1236510" cy="1480587"/>
            </a:xfrm>
            <a:prstGeom prst="line">
              <a:avLst/>
            </a:prstGeom>
            <a:noFill/>
            <a:ln w="6350" cap="flat" cmpd="sng" algn="ctr">
              <a:solidFill>
                <a:srgbClr val="00B050"/>
              </a:solidFill>
              <a:prstDash val="solid"/>
              <a:miter lim="800000"/>
            </a:ln>
            <a:effectLst/>
          </p:spPr>
        </p:cxnSp>
        <p:cxnSp>
          <p:nvCxnSpPr>
            <p:cNvPr id="146" name="直接连接符 145">
              <a:extLst>
                <a:ext uri="{FF2B5EF4-FFF2-40B4-BE49-F238E27FC236}">
                  <a16:creationId xmlns:a16="http://schemas.microsoft.com/office/drawing/2014/main" id="{844A59D0-DE02-46D1-956C-2E01BAD97D5F}"/>
                </a:ext>
              </a:extLst>
            </p:cNvPr>
            <p:cNvCxnSpPr>
              <a:stCxn id="129" idx="2"/>
              <a:endCxn id="189" idx="6"/>
            </p:cNvCxnSpPr>
            <p:nvPr/>
          </p:nvCxnSpPr>
          <p:spPr>
            <a:xfrm flipH="1">
              <a:off x="617042" y="216748"/>
              <a:ext cx="3609592" cy="1471815"/>
            </a:xfrm>
            <a:prstGeom prst="line">
              <a:avLst/>
            </a:prstGeom>
            <a:noFill/>
            <a:ln w="6350" cap="flat" cmpd="sng" algn="ctr">
              <a:solidFill>
                <a:srgbClr val="00B050"/>
              </a:solidFill>
              <a:prstDash val="solid"/>
              <a:miter lim="800000"/>
            </a:ln>
            <a:effectLst/>
          </p:spPr>
        </p:cxnSp>
        <p:cxnSp>
          <p:nvCxnSpPr>
            <p:cNvPr id="147" name="直接连接符 146">
              <a:extLst>
                <a:ext uri="{FF2B5EF4-FFF2-40B4-BE49-F238E27FC236}">
                  <a16:creationId xmlns:a16="http://schemas.microsoft.com/office/drawing/2014/main" id="{7BBDEC47-66BD-4EB9-A803-6D0B56D9B52C}"/>
                </a:ext>
              </a:extLst>
            </p:cNvPr>
            <p:cNvCxnSpPr>
              <a:stCxn id="129" idx="2"/>
              <a:endCxn id="181" idx="6"/>
            </p:cNvCxnSpPr>
            <p:nvPr/>
          </p:nvCxnSpPr>
          <p:spPr>
            <a:xfrm flipH="1">
              <a:off x="1911241" y="216748"/>
              <a:ext cx="2315393" cy="1471346"/>
            </a:xfrm>
            <a:prstGeom prst="line">
              <a:avLst/>
            </a:prstGeom>
            <a:noFill/>
            <a:ln w="6350" cap="flat" cmpd="sng" algn="ctr">
              <a:solidFill>
                <a:srgbClr val="00B050"/>
              </a:solidFill>
              <a:prstDash val="solid"/>
              <a:miter lim="800000"/>
            </a:ln>
            <a:effectLst/>
          </p:spPr>
        </p:cxnSp>
        <p:cxnSp>
          <p:nvCxnSpPr>
            <p:cNvPr id="148" name="直接连接符 147">
              <a:extLst>
                <a:ext uri="{FF2B5EF4-FFF2-40B4-BE49-F238E27FC236}">
                  <a16:creationId xmlns:a16="http://schemas.microsoft.com/office/drawing/2014/main" id="{4546F356-5DB9-46BD-AB9C-9AEA8A52A1BD}"/>
                </a:ext>
              </a:extLst>
            </p:cNvPr>
            <p:cNvCxnSpPr>
              <a:stCxn id="129" idx="2"/>
              <a:endCxn id="173" idx="6"/>
            </p:cNvCxnSpPr>
            <p:nvPr/>
          </p:nvCxnSpPr>
          <p:spPr>
            <a:xfrm flipH="1">
              <a:off x="3264342" y="216748"/>
              <a:ext cx="962292" cy="1471346"/>
            </a:xfrm>
            <a:prstGeom prst="line">
              <a:avLst/>
            </a:prstGeom>
            <a:noFill/>
            <a:ln w="6350" cap="flat" cmpd="sng" algn="ctr">
              <a:solidFill>
                <a:srgbClr val="00B050"/>
              </a:solidFill>
              <a:prstDash val="solid"/>
              <a:miter lim="800000"/>
            </a:ln>
            <a:effectLst/>
          </p:spPr>
        </p:cxnSp>
        <p:cxnSp>
          <p:nvCxnSpPr>
            <p:cNvPr id="149" name="直接连接符 148">
              <a:extLst>
                <a:ext uri="{FF2B5EF4-FFF2-40B4-BE49-F238E27FC236}">
                  <a16:creationId xmlns:a16="http://schemas.microsoft.com/office/drawing/2014/main" id="{4EBA7A93-BF3B-4F0C-BC70-98FAD1404F15}"/>
                </a:ext>
              </a:extLst>
            </p:cNvPr>
            <p:cNvCxnSpPr>
              <a:stCxn id="129" idx="2"/>
              <a:endCxn id="165" idx="7"/>
            </p:cNvCxnSpPr>
            <p:nvPr/>
          </p:nvCxnSpPr>
          <p:spPr>
            <a:xfrm>
              <a:off x="4226634" y="216748"/>
              <a:ext cx="200529" cy="1480587"/>
            </a:xfrm>
            <a:prstGeom prst="line">
              <a:avLst/>
            </a:prstGeom>
            <a:noFill/>
            <a:ln w="6350" cap="flat" cmpd="sng" algn="ctr">
              <a:solidFill>
                <a:srgbClr val="00B050"/>
              </a:solidFill>
              <a:prstDash val="solid"/>
              <a:miter lim="800000"/>
            </a:ln>
            <a:effectLst/>
          </p:spPr>
        </p:cxnSp>
        <p:grpSp>
          <p:nvGrpSpPr>
            <p:cNvPr id="150" name="组合 149">
              <a:extLst>
                <a:ext uri="{FF2B5EF4-FFF2-40B4-BE49-F238E27FC236}">
                  <a16:creationId xmlns:a16="http://schemas.microsoft.com/office/drawing/2014/main" id="{B17DC218-1407-4A52-BF18-BE56123721D1}"/>
                </a:ext>
              </a:extLst>
            </p:cNvPr>
            <p:cNvGrpSpPr/>
            <p:nvPr/>
          </p:nvGrpSpPr>
          <p:grpSpPr>
            <a:xfrm>
              <a:off x="152355" y="1173131"/>
              <a:ext cx="501650" cy="605084"/>
              <a:chOff x="211915" y="1632973"/>
              <a:chExt cx="501650" cy="605084"/>
            </a:xfrm>
          </p:grpSpPr>
          <p:sp>
            <p:nvSpPr>
              <p:cNvPr id="186" name="矩形: 棱台 190">
                <a:extLst>
                  <a:ext uri="{FF2B5EF4-FFF2-40B4-BE49-F238E27FC236}">
                    <a16:creationId xmlns:a16="http://schemas.microsoft.com/office/drawing/2014/main" id="{DB9C05DB-7102-46B0-8D65-C3DDECEAFFF5}"/>
                  </a:ext>
                </a:extLst>
              </p:cNvPr>
              <p:cNvSpPr/>
              <p:nvPr/>
            </p:nvSpPr>
            <p:spPr>
              <a:xfrm>
                <a:off x="211915"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87" name="矩形: 棱台 191">
                <a:extLst>
                  <a:ext uri="{FF2B5EF4-FFF2-40B4-BE49-F238E27FC236}">
                    <a16:creationId xmlns:a16="http://schemas.microsoft.com/office/drawing/2014/main" id="{C93AB6BE-9790-4C73-BB38-B3E3D47E3D37}"/>
                  </a:ext>
                </a:extLst>
              </p:cNvPr>
              <p:cNvSpPr/>
              <p:nvPr/>
            </p:nvSpPr>
            <p:spPr>
              <a:xfrm>
                <a:off x="349209"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88" name="矩形: 棱台 192">
                <a:extLst>
                  <a:ext uri="{FF2B5EF4-FFF2-40B4-BE49-F238E27FC236}">
                    <a16:creationId xmlns:a16="http://schemas.microsoft.com/office/drawing/2014/main" id="{A7EEFBF7-E2B1-406C-9679-C3E4087DB2C4}"/>
                  </a:ext>
                </a:extLst>
              </p:cNvPr>
              <p:cNvSpPr/>
              <p:nvPr/>
            </p:nvSpPr>
            <p:spPr>
              <a:xfrm>
                <a:off x="502344"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89" name="矩形: 棱台 193">
                <a:extLst>
                  <a:ext uri="{FF2B5EF4-FFF2-40B4-BE49-F238E27FC236}">
                    <a16:creationId xmlns:a16="http://schemas.microsoft.com/office/drawing/2014/main" id="{2E27CC62-5008-448A-844F-016D588FE608}"/>
                  </a:ext>
                </a:extLst>
              </p:cNvPr>
              <p:cNvSpPr/>
              <p:nvPr/>
            </p:nvSpPr>
            <p:spPr>
              <a:xfrm>
                <a:off x="639638"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190" name="直接连接符 189">
                <a:extLst>
                  <a:ext uri="{FF2B5EF4-FFF2-40B4-BE49-F238E27FC236}">
                    <a16:creationId xmlns:a16="http://schemas.microsoft.com/office/drawing/2014/main" id="{948BA11F-C97B-4618-9E05-002EB03CBFBE}"/>
                  </a:ext>
                </a:extLst>
              </p:cNvPr>
              <p:cNvCxnSpPr>
                <a:stCxn id="130" idx="2"/>
              </p:cNvCxnSpPr>
              <p:nvPr/>
            </p:nvCxnSpPr>
            <p:spPr>
              <a:xfrm flipH="1">
                <a:off x="248778" y="1632973"/>
                <a:ext cx="216504" cy="515416"/>
              </a:xfrm>
              <a:prstGeom prst="line">
                <a:avLst/>
              </a:prstGeom>
              <a:noFill/>
              <a:ln w="6350" cap="flat" cmpd="sng" algn="ctr">
                <a:solidFill>
                  <a:sysClr val="windowText" lastClr="000000"/>
                </a:solidFill>
                <a:prstDash val="solid"/>
                <a:miter lim="800000"/>
              </a:ln>
              <a:effectLst/>
            </p:spPr>
          </p:cxnSp>
          <p:cxnSp>
            <p:nvCxnSpPr>
              <p:cNvPr id="191" name="直接连接符 190">
                <a:extLst>
                  <a:ext uri="{FF2B5EF4-FFF2-40B4-BE49-F238E27FC236}">
                    <a16:creationId xmlns:a16="http://schemas.microsoft.com/office/drawing/2014/main" id="{3B8AEDAC-809A-4AA8-B755-2EC33AA17222}"/>
                  </a:ext>
                </a:extLst>
              </p:cNvPr>
              <p:cNvCxnSpPr>
                <a:stCxn id="130" idx="2"/>
                <a:endCxn id="187" idx="6"/>
              </p:cNvCxnSpPr>
              <p:nvPr/>
            </p:nvCxnSpPr>
            <p:spPr>
              <a:xfrm flipH="1">
                <a:off x="386173" y="1632973"/>
                <a:ext cx="79109" cy="515432"/>
              </a:xfrm>
              <a:prstGeom prst="line">
                <a:avLst/>
              </a:prstGeom>
              <a:noFill/>
              <a:ln w="6350" cap="flat" cmpd="sng" algn="ctr">
                <a:solidFill>
                  <a:sysClr val="windowText" lastClr="000000"/>
                </a:solidFill>
                <a:prstDash val="solid"/>
                <a:miter lim="800000"/>
              </a:ln>
              <a:effectLst/>
            </p:spPr>
          </p:cxnSp>
          <p:cxnSp>
            <p:nvCxnSpPr>
              <p:cNvPr id="192" name="直接连接符 191">
                <a:extLst>
                  <a:ext uri="{FF2B5EF4-FFF2-40B4-BE49-F238E27FC236}">
                    <a16:creationId xmlns:a16="http://schemas.microsoft.com/office/drawing/2014/main" id="{4FB52878-603F-4342-8557-7FCA4E8EB899}"/>
                  </a:ext>
                </a:extLst>
              </p:cNvPr>
              <p:cNvCxnSpPr>
                <a:stCxn id="130" idx="2"/>
              </p:cNvCxnSpPr>
              <p:nvPr/>
            </p:nvCxnSpPr>
            <p:spPr>
              <a:xfrm>
                <a:off x="465282" y="1632973"/>
                <a:ext cx="74026" cy="524659"/>
              </a:xfrm>
              <a:prstGeom prst="line">
                <a:avLst/>
              </a:prstGeom>
              <a:noFill/>
              <a:ln w="6350" cap="flat" cmpd="sng" algn="ctr">
                <a:solidFill>
                  <a:sysClr val="windowText" lastClr="000000"/>
                </a:solidFill>
                <a:prstDash val="solid"/>
                <a:miter lim="800000"/>
              </a:ln>
              <a:effectLst/>
            </p:spPr>
          </p:cxnSp>
          <p:cxnSp>
            <p:nvCxnSpPr>
              <p:cNvPr id="193" name="直接连接符 192">
                <a:extLst>
                  <a:ext uri="{FF2B5EF4-FFF2-40B4-BE49-F238E27FC236}">
                    <a16:creationId xmlns:a16="http://schemas.microsoft.com/office/drawing/2014/main" id="{3A57AF7C-A719-474D-88FC-66253F1643EC}"/>
                  </a:ext>
                </a:extLst>
              </p:cNvPr>
              <p:cNvCxnSpPr>
                <a:stCxn id="130" idx="2"/>
                <a:endCxn id="189" idx="6"/>
              </p:cNvCxnSpPr>
              <p:nvPr/>
            </p:nvCxnSpPr>
            <p:spPr>
              <a:xfrm>
                <a:off x="465282" y="1632973"/>
                <a:ext cx="211320" cy="515432"/>
              </a:xfrm>
              <a:prstGeom prst="line">
                <a:avLst/>
              </a:prstGeom>
              <a:noFill/>
              <a:ln w="6350" cap="flat" cmpd="sng" algn="ctr">
                <a:solidFill>
                  <a:sysClr val="windowText" lastClr="000000"/>
                </a:solidFill>
                <a:prstDash val="solid"/>
                <a:miter lim="800000"/>
              </a:ln>
              <a:effectLst/>
            </p:spPr>
          </p:cxnSp>
        </p:grpSp>
        <p:grpSp>
          <p:nvGrpSpPr>
            <p:cNvPr id="151" name="组合 150">
              <a:extLst>
                <a:ext uri="{FF2B5EF4-FFF2-40B4-BE49-F238E27FC236}">
                  <a16:creationId xmlns:a16="http://schemas.microsoft.com/office/drawing/2014/main" id="{1FB286E3-0037-4FA1-87B7-E84984E577AD}"/>
                </a:ext>
              </a:extLst>
            </p:cNvPr>
            <p:cNvGrpSpPr/>
            <p:nvPr/>
          </p:nvGrpSpPr>
          <p:grpSpPr>
            <a:xfrm>
              <a:off x="1446554" y="1172662"/>
              <a:ext cx="501650" cy="605084"/>
              <a:chOff x="211915" y="1632973"/>
              <a:chExt cx="501650" cy="605084"/>
            </a:xfrm>
          </p:grpSpPr>
          <p:sp>
            <p:nvSpPr>
              <p:cNvPr id="178" name="矩形: 棱台 182">
                <a:extLst>
                  <a:ext uri="{FF2B5EF4-FFF2-40B4-BE49-F238E27FC236}">
                    <a16:creationId xmlns:a16="http://schemas.microsoft.com/office/drawing/2014/main" id="{9B4249C4-5EF8-48E3-B72F-F2EA87F6F7EA}"/>
                  </a:ext>
                </a:extLst>
              </p:cNvPr>
              <p:cNvSpPr/>
              <p:nvPr/>
            </p:nvSpPr>
            <p:spPr>
              <a:xfrm>
                <a:off x="211915"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79" name="矩形: 棱台 183">
                <a:extLst>
                  <a:ext uri="{FF2B5EF4-FFF2-40B4-BE49-F238E27FC236}">
                    <a16:creationId xmlns:a16="http://schemas.microsoft.com/office/drawing/2014/main" id="{7EB16645-932B-42DE-835A-CFF0FA0D7C09}"/>
                  </a:ext>
                </a:extLst>
              </p:cNvPr>
              <p:cNvSpPr/>
              <p:nvPr/>
            </p:nvSpPr>
            <p:spPr>
              <a:xfrm>
                <a:off x="349209"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80" name="矩形: 棱台 184">
                <a:extLst>
                  <a:ext uri="{FF2B5EF4-FFF2-40B4-BE49-F238E27FC236}">
                    <a16:creationId xmlns:a16="http://schemas.microsoft.com/office/drawing/2014/main" id="{A8278706-93A1-48A1-9194-664DC31B1AA4}"/>
                  </a:ext>
                </a:extLst>
              </p:cNvPr>
              <p:cNvSpPr/>
              <p:nvPr/>
            </p:nvSpPr>
            <p:spPr>
              <a:xfrm>
                <a:off x="502344"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81" name="矩形: 棱台 185">
                <a:extLst>
                  <a:ext uri="{FF2B5EF4-FFF2-40B4-BE49-F238E27FC236}">
                    <a16:creationId xmlns:a16="http://schemas.microsoft.com/office/drawing/2014/main" id="{419108EA-81E4-4072-BD2C-3C011C1F30EE}"/>
                  </a:ext>
                </a:extLst>
              </p:cNvPr>
              <p:cNvSpPr/>
              <p:nvPr/>
            </p:nvSpPr>
            <p:spPr>
              <a:xfrm>
                <a:off x="639638"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182" name="直接连接符 181">
                <a:extLst>
                  <a:ext uri="{FF2B5EF4-FFF2-40B4-BE49-F238E27FC236}">
                    <a16:creationId xmlns:a16="http://schemas.microsoft.com/office/drawing/2014/main" id="{B748AD98-6C62-44AA-A991-5AED4A2134CA}"/>
                  </a:ext>
                </a:extLst>
              </p:cNvPr>
              <p:cNvCxnSpPr/>
              <p:nvPr/>
            </p:nvCxnSpPr>
            <p:spPr>
              <a:xfrm flipH="1">
                <a:off x="248778" y="1632973"/>
                <a:ext cx="216504" cy="515416"/>
              </a:xfrm>
              <a:prstGeom prst="line">
                <a:avLst/>
              </a:prstGeom>
              <a:noFill/>
              <a:ln w="6350" cap="flat" cmpd="sng" algn="ctr">
                <a:solidFill>
                  <a:sysClr val="windowText" lastClr="000000"/>
                </a:solidFill>
                <a:prstDash val="solid"/>
                <a:miter lim="800000"/>
              </a:ln>
              <a:effectLst/>
            </p:spPr>
          </p:cxnSp>
          <p:cxnSp>
            <p:nvCxnSpPr>
              <p:cNvPr id="183" name="直接连接符 182">
                <a:extLst>
                  <a:ext uri="{FF2B5EF4-FFF2-40B4-BE49-F238E27FC236}">
                    <a16:creationId xmlns:a16="http://schemas.microsoft.com/office/drawing/2014/main" id="{929F7E6B-8C80-445B-BC1B-F2DC7B268080}"/>
                  </a:ext>
                </a:extLst>
              </p:cNvPr>
              <p:cNvCxnSpPr>
                <a:endCxn id="179" idx="6"/>
              </p:cNvCxnSpPr>
              <p:nvPr/>
            </p:nvCxnSpPr>
            <p:spPr>
              <a:xfrm flipH="1">
                <a:off x="386173" y="1632973"/>
                <a:ext cx="79109" cy="515432"/>
              </a:xfrm>
              <a:prstGeom prst="line">
                <a:avLst/>
              </a:prstGeom>
              <a:noFill/>
              <a:ln w="6350" cap="flat" cmpd="sng" algn="ctr">
                <a:solidFill>
                  <a:sysClr val="windowText" lastClr="000000"/>
                </a:solidFill>
                <a:prstDash val="solid"/>
                <a:miter lim="800000"/>
              </a:ln>
              <a:effectLst/>
            </p:spPr>
          </p:cxnSp>
          <p:cxnSp>
            <p:nvCxnSpPr>
              <p:cNvPr id="184" name="直接连接符 183">
                <a:extLst>
                  <a:ext uri="{FF2B5EF4-FFF2-40B4-BE49-F238E27FC236}">
                    <a16:creationId xmlns:a16="http://schemas.microsoft.com/office/drawing/2014/main" id="{AABF531F-4077-4A34-9409-8BFCC5C432C8}"/>
                  </a:ext>
                </a:extLst>
              </p:cNvPr>
              <p:cNvCxnSpPr/>
              <p:nvPr/>
            </p:nvCxnSpPr>
            <p:spPr>
              <a:xfrm>
                <a:off x="465282" y="1632973"/>
                <a:ext cx="74026" cy="524659"/>
              </a:xfrm>
              <a:prstGeom prst="line">
                <a:avLst/>
              </a:prstGeom>
              <a:noFill/>
              <a:ln w="6350" cap="flat" cmpd="sng" algn="ctr">
                <a:solidFill>
                  <a:sysClr val="windowText" lastClr="000000"/>
                </a:solidFill>
                <a:prstDash val="solid"/>
                <a:miter lim="800000"/>
              </a:ln>
              <a:effectLst/>
            </p:spPr>
          </p:cxnSp>
          <p:cxnSp>
            <p:nvCxnSpPr>
              <p:cNvPr id="185" name="直接连接符 184">
                <a:extLst>
                  <a:ext uri="{FF2B5EF4-FFF2-40B4-BE49-F238E27FC236}">
                    <a16:creationId xmlns:a16="http://schemas.microsoft.com/office/drawing/2014/main" id="{3D011E56-41E0-426D-899B-36F927F923D4}"/>
                  </a:ext>
                </a:extLst>
              </p:cNvPr>
              <p:cNvCxnSpPr>
                <a:endCxn id="181" idx="6"/>
              </p:cNvCxnSpPr>
              <p:nvPr/>
            </p:nvCxnSpPr>
            <p:spPr>
              <a:xfrm>
                <a:off x="465282" y="1632973"/>
                <a:ext cx="211320" cy="515432"/>
              </a:xfrm>
              <a:prstGeom prst="line">
                <a:avLst/>
              </a:prstGeom>
              <a:noFill/>
              <a:ln w="6350" cap="flat" cmpd="sng" algn="ctr">
                <a:solidFill>
                  <a:sysClr val="windowText" lastClr="000000"/>
                </a:solidFill>
                <a:prstDash val="solid"/>
                <a:miter lim="800000"/>
              </a:ln>
              <a:effectLst/>
            </p:spPr>
          </p:cxnSp>
        </p:grpSp>
        <p:grpSp>
          <p:nvGrpSpPr>
            <p:cNvPr id="152" name="组合 151">
              <a:extLst>
                <a:ext uri="{FF2B5EF4-FFF2-40B4-BE49-F238E27FC236}">
                  <a16:creationId xmlns:a16="http://schemas.microsoft.com/office/drawing/2014/main" id="{C87A509A-E70F-4145-92E9-2D7EF426537B}"/>
                </a:ext>
              </a:extLst>
            </p:cNvPr>
            <p:cNvGrpSpPr/>
            <p:nvPr/>
          </p:nvGrpSpPr>
          <p:grpSpPr>
            <a:xfrm>
              <a:off x="2799655" y="1172662"/>
              <a:ext cx="501650" cy="605084"/>
              <a:chOff x="211915" y="1632973"/>
              <a:chExt cx="501650" cy="605084"/>
            </a:xfrm>
          </p:grpSpPr>
          <p:sp>
            <p:nvSpPr>
              <p:cNvPr id="170" name="矩形: 棱台 174">
                <a:extLst>
                  <a:ext uri="{FF2B5EF4-FFF2-40B4-BE49-F238E27FC236}">
                    <a16:creationId xmlns:a16="http://schemas.microsoft.com/office/drawing/2014/main" id="{DD7E4C77-F5E4-4AAC-8352-597F52376868}"/>
                  </a:ext>
                </a:extLst>
              </p:cNvPr>
              <p:cNvSpPr/>
              <p:nvPr/>
            </p:nvSpPr>
            <p:spPr>
              <a:xfrm>
                <a:off x="211915"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71" name="矩形: 棱台 175">
                <a:extLst>
                  <a:ext uri="{FF2B5EF4-FFF2-40B4-BE49-F238E27FC236}">
                    <a16:creationId xmlns:a16="http://schemas.microsoft.com/office/drawing/2014/main" id="{D9120EE5-B79D-49E5-803C-28F51214F734}"/>
                  </a:ext>
                </a:extLst>
              </p:cNvPr>
              <p:cNvSpPr/>
              <p:nvPr/>
            </p:nvSpPr>
            <p:spPr>
              <a:xfrm>
                <a:off x="349209"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72" name="矩形: 棱台 176">
                <a:extLst>
                  <a:ext uri="{FF2B5EF4-FFF2-40B4-BE49-F238E27FC236}">
                    <a16:creationId xmlns:a16="http://schemas.microsoft.com/office/drawing/2014/main" id="{F89D37FB-10B1-4256-92FD-287D723B1541}"/>
                  </a:ext>
                </a:extLst>
              </p:cNvPr>
              <p:cNvSpPr/>
              <p:nvPr/>
            </p:nvSpPr>
            <p:spPr>
              <a:xfrm>
                <a:off x="502344"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73" name="矩形: 棱台 177">
                <a:extLst>
                  <a:ext uri="{FF2B5EF4-FFF2-40B4-BE49-F238E27FC236}">
                    <a16:creationId xmlns:a16="http://schemas.microsoft.com/office/drawing/2014/main" id="{B768721F-9A04-447D-A3CA-3D5EEDA085FD}"/>
                  </a:ext>
                </a:extLst>
              </p:cNvPr>
              <p:cNvSpPr/>
              <p:nvPr/>
            </p:nvSpPr>
            <p:spPr>
              <a:xfrm>
                <a:off x="639638"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174" name="直接连接符 173">
                <a:extLst>
                  <a:ext uri="{FF2B5EF4-FFF2-40B4-BE49-F238E27FC236}">
                    <a16:creationId xmlns:a16="http://schemas.microsoft.com/office/drawing/2014/main" id="{BB798C74-DF9F-4AFF-9262-080037B172AB}"/>
                  </a:ext>
                </a:extLst>
              </p:cNvPr>
              <p:cNvCxnSpPr/>
              <p:nvPr/>
            </p:nvCxnSpPr>
            <p:spPr>
              <a:xfrm flipH="1">
                <a:off x="248778" y="1632973"/>
                <a:ext cx="216504" cy="515416"/>
              </a:xfrm>
              <a:prstGeom prst="line">
                <a:avLst/>
              </a:prstGeom>
              <a:noFill/>
              <a:ln w="6350" cap="flat" cmpd="sng" algn="ctr">
                <a:solidFill>
                  <a:sysClr val="windowText" lastClr="000000"/>
                </a:solidFill>
                <a:prstDash val="solid"/>
                <a:miter lim="800000"/>
              </a:ln>
              <a:effectLst/>
            </p:spPr>
          </p:cxnSp>
          <p:cxnSp>
            <p:nvCxnSpPr>
              <p:cNvPr id="175" name="直接连接符 174">
                <a:extLst>
                  <a:ext uri="{FF2B5EF4-FFF2-40B4-BE49-F238E27FC236}">
                    <a16:creationId xmlns:a16="http://schemas.microsoft.com/office/drawing/2014/main" id="{CAD51209-5D40-486D-A1D3-C6A55CD22215}"/>
                  </a:ext>
                </a:extLst>
              </p:cNvPr>
              <p:cNvCxnSpPr>
                <a:endCxn id="171" idx="6"/>
              </p:cNvCxnSpPr>
              <p:nvPr/>
            </p:nvCxnSpPr>
            <p:spPr>
              <a:xfrm flipH="1">
                <a:off x="386173" y="1632973"/>
                <a:ext cx="79109" cy="515432"/>
              </a:xfrm>
              <a:prstGeom prst="line">
                <a:avLst/>
              </a:prstGeom>
              <a:noFill/>
              <a:ln w="6350" cap="flat" cmpd="sng" algn="ctr">
                <a:solidFill>
                  <a:sysClr val="windowText" lastClr="000000"/>
                </a:solidFill>
                <a:prstDash val="solid"/>
                <a:miter lim="800000"/>
              </a:ln>
              <a:effectLst/>
            </p:spPr>
          </p:cxnSp>
          <p:cxnSp>
            <p:nvCxnSpPr>
              <p:cNvPr id="176" name="直接连接符 175">
                <a:extLst>
                  <a:ext uri="{FF2B5EF4-FFF2-40B4-BE49-F238E27FC236}">
                    <a16:creationId xmlns:a16="http://schemas.microsoft.com/office/drawing/2014/main" id="{56DA184A-EF3D-4C89-8B86-6F32BC1CBE43}"/>
                  </a:ext>
                </a:extLst>
              </p:cNvPr>
              <p:cNvCxnSpPr/>
              <p:nvPr/>
            </p:nvCxnSpPr>
            <p:spPr>
              <a:xfrm>
                <a:off x="465282" y="1632973"/>
                <a:ext cx="74026" cy="524659"/>
              </a:xfrm>
              <a:prstGeom prst="line">
                <a:avLst/>
              </a:prstGeom>
              <a:noFill/>
              <a:ln w="6350" cap="flat" cmpd="sng" algn="ctr">
                <a:solidFill>
                  <a:sysClr val="windowText" lastClr="000000"/>
                </a:solidFill>
                <a:prstDash val="solid"/>
                <a:miter lim="800000"/>
              </a:ln>
              <a:effectLst/>
            </p:spPr>
          </p:cxnSp>
          <p:cxnSp>
            <p:nvCxnSpPr>
              <p:cNvPr id="177" name="直接连接符 176">
                <a:extLst>
                  <a:ext uri="{FF2B5EF4-FFF2-40B4-BE49-F238E27FC236}">
                    <a16:creationId xmlns:a16="http://schemas.microsoft.com/office/drawing/2014/main" id="{9131BBA5-4738-4B33-AD8D-7CA86F468002}"/>
                  </a:ext>
                </a:extLst>
              </p:cNvPr>
              <p:cNvCxnSpPr>
                <a:endCxn id="173" idx="6"/>
              </p:cNvCxnSpPr>
              <p:nvPr/>
            </p:nvCxnSpPr>
            <p:spPr>
              <a:xfrm>
                <a:off x="465282" y="1632973"/>
                <a:ext cx="211320" cy="515432"/>
              </a:xfrm>
              <a:prstGeom prst="line">
                <a:avLst/>
              </a:prstGeom>
              <a:noFill/>
              <a:ln w="6350" cap="flat" cmpd="sng" algn="ctr">
                <a:solidFill>
                  <a:sysClr val="windowText" lastClr="000000"/>
                </a:solidFill>
                <a:prstDash val="solid"/>
                <a:miter lim="800000"/>
              </a:ln>
              <a:effectLst/>
            </p:spPr>
          </p:cxnSp>
        </p:grpSp>
        <p:grpSp>
          <p:nvGrpSpPr>
            <p:cNvPr id="153" name="组合 152">
              <a:extLst>
                <a:ext uri="{FF2B5EF4-FFF2-40B4-BE49-F238E27FC236}">
                  <a16:creationId xmlns:a16="http://schemas.microsoft.com/office/drawing/2014/main" id="{78200F0A-FEA4-4055-8B34-E63BA5CACE3A}"/>
                </a:ext>
              </a:extLst>
            </p:cNvPr>
            <p:cNvGrpSpPr/>
            <p:nvPr/>
          </p:nvGrpSpPr>
          <p:grpSpPr>
            <a:xfrm>
              <a:off x="3962476" y="1172662"/>
              <a:ext cx="501650" cy="605084"/>
              <a:chOff x="211915" y="1632973"/>
              <a:chExt cx="501650" cy="605084"/>
            </a:xfrm>
          </p:grpSpPr>
          <p:sp>
            <p:nvSpPr>
              <p:cNvPr id="162" name="矩形: 棱台 166">
                <a:extLst>
                  <a:ext uri="{FF2B5EF4-FFF2-40B4-BE49-F238E27FC236}">
                    <a16:creationId xmlns:a16="http://schemas.microsoft.com/office/drawing/2014/main" id="{243DB10D-F7C6-4B16-B1A6-8CF69E60D24D}"/>
                  </a:ext>
                </a:extLst>
              </p:cNvPr>
              <p:cNvSpPr/>
              <p:nvPr/>
            </p:nvSpPr>
            <p:spPr>
              <a:xfrm>
                <a:off x="211915"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63" name="矩形: 棱台 167">
                <a:extLst>
                  <a:ext uri="{FF2B5EF4-FFF2-40B4-BE49-F238E27FC236}">
                    <a16:creationId xmlns:a16="http://schemas.microsoft.com/office/drawing/2014/main" id="{F8E4BB2B-B5E8-422D-9F76-9487AF4E08B8}"/>
                  </a:ext>
                </a:extLst>
              </p:cNvPr>
              <p:cNvSpPr/>
              <p:nvPr/>
            </p:nvSpPr>
            <p:spPr>
              <a:xfrm>
                <a:off x="349209"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64" name="矩形: 棱台 168">
                <a:extLst>
                  <a:ext uri="{FF2B5EF4-FFF2-40B4-BE49-F238E27FC236}">
                    <a16:creationId xmlns:a16="http://schemas.microsoft.com/office/drawing/2014/main" id="{F989C78F-3305-46BF-96A5-EE488E19AFF7}"/>
                  </a:ext>
                </a:extLst>
              </p:cNvPr>
              <p:cNvSpPr/>
              <p:nvPr/>
            </p:nvSpPr>
            <p:spPr>
              <a:xfrm>
                <a:off x="502344"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65" name="矩形: 棱台 169">
                <a:extLst>
                  <a:ext uri="{FF2B5EF4-FFF2-40B4-BE49-F238E27FC236}">
                    <a16:creationId xmlns:a16="http://schemas.microsoft.com/office/drawing/2014/main" id="{19C7C66D-F62D-4711-8E27-0B95C0E8945D}"/>
                  </a:ext>
                </a:extLst>
              </p:cNvPr>
              <p:cNvSpPr/>
              <p:nvPr/>
            </p:nvSpPr>
            <p:spPr>
              <a:xfrm>
                <a:off x="639638" y="2148420"/>
                <a:ext cx="73927" cy="89637"/>
              </a:xfrm>
              <a:prstGeom prst="bevel">
                <a:avLst/>
              </a:prstGeom>
              <a:no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cxnSp>
            <p:nvCxnSpPr>
              <p:cNvPr id="166" name="直接连接符 165">
                <a:extLst>
                  <a:ext uri="{FF2B5EF4-FFF2-40B4-BE49-F238E27FC236}">
                    <a16:creationId xmlns:a16="http://schemas.microsoft.com/office/drawing/2014/main" id="{2D07DADE-8B00-41E4-82EA-CA56ECCA1364}"/>
                  </a:ext>
                </a:extLst>
              </p:cNvPr>
              <p:cNvCxnSpPr/>
              <p:nvPr/>
            </p:nvCxnSpPr>
            <p:spPr>
              <a:xfrm flipH="1">
                <a:off x="248778" y="1632973"/>
                <a:ext cx="216504" cy="515416"/>
              </a:xfrm>
              <a:prstGeom prst="line">
                <a:avLst/>
              </a:prstGeom>
              <a:noFill/>
              <a:ln w="6350" cap="flat" cmpd="sng" algn="ctr">
                <a:solidFill>
                  <a:sysClr val="windowText" lastClr="000000"/>
                </a:solidFill>
                <a:prstDash val="solid"/>
                <a:miter lim="800000"/>
              </a:ln>
              <a:effectLst/>
            </p:spPr>
          </p:cxnSp>
          <p:cxnSp>
            <p:nvCxnSpPr>
              <p:cNvPr id="167" name="直接连接符 166">
                <a:extLst>
                  <a:ext uri="{FF2B5EF4-FFF2-40B4-BE49-F238E27FC236}">
                    <a16:creationId xmlns:a16="http://schemas.microsoft.com/office/drawing/2014/main" id="{57D10EBC-B81D-4A11-9C99-DCE3BEA1F885}"/>
                  </a:ext>
                </a:extLst>
              </p:cNvPr>
              <p:cNvCxnSpPr>
                <a:endCxn id="163" idx="6"/>
              </p:cNvCxnSpPr>
              <p:nvPr/>
            </p:nvCxnSpPr>
            <p:spPr>
              <a:xfrm flipH="1">
                <a:off x="386173" y="1632973"/>
                <a:ext cx="79109" cy="515432"/>
              </a:xfrm>
              <a:prstGeom prst="line">
                <a:avLst/>
              </a:prstGeom>
              <a:noFill/>
              <a:ln w="6350" cap="flat" cmpd="sng" algn="ctr">
                <a:solidFill>
                  <a:sysClr val="windowText" lastClr="000000"/>
                </a:solidFill>
                <a:prstDash val="solid"/>
                <a:miter lim="800000"/>
              </a:ln>
              <a:effectLst/>
            </p:spPr>
          </p:cxnSp>
          <p:cxnSp>
            <p:nvCxnSpPr>
              <p:cNvPr id="168" name="直接连接符 167">
                <a:extLst>
                  <a:ext uri="{FF2B5EF4-FFF2-40B4-BE49-F238E27FC236}">
                    <a16:creationId xmlns:a16="http://schemas.microsoft.com/office/drawing/2014/main" id="{DC746D62-FEF1-4287-B902-393DCF870D03}"/>
                  </a:ext>
                </a:extLst>
              </p:cNvPr>
              <p:cNvCxnSpPr/>
              <p:nvPr/>
            </p:nvCxnSpPr>
            <p:spPr>
              <a:xfrm>
                <a:off x="465282" y="1632973"/>
                <a:ext cx="74026" cy="524659"/>
              </a:xfrm>
              <a:prstGeom prst="line">
                <a:avLst/>
              </a:prstGeom>
              <a:noFill/>
              <a:ln w="6350" cap="flat" cmpd="sng" algn="ctr">
                <a:solidFill>
                  <a:sysClr val="windowText" lastClr="000000"/>
                </a:solidFill>
                <a:prstDash val="solid"/>
                <a:miter lim="800000"/>
              </a:ln>
              <a:effectLst/>
            </p:spPr>
          </p:cxnSp>
          <p:cxnSp>
            <p:nvCxnSpPr>
              <p:cNvPr id="169" name="直接连接符 168">
                <a:extLst>
                  <a:ext uri="{FF2B5EF4-FFF2-40B4-BE49-F238E27FC236}">
                    <a16:creationId xmlns:a16="http://schemas.microsoft.com/office/drawing/2014/main" id="{818A6195-6C47-4D8C-98A6-A14423FC7C13}"/>
                  </a:ext>
                </a:extLst>
              </p:cNvPr>
              <p:cNvCxnSpPr>
                <a:endCxn id="165" idx="6"/>
              </p:cNvCxnSpPr>
              <p:nvPr/>
            </p:nvCxnSpPr>
            <p:spPr>
              <a:xfrm>
                <a:off x="465282" y="1632973"/>
                <a:ext cx="211320" cy="515432"/>
              </a:xfrm>
              <a:prstGeom prst="line">
                <a:avLst/>
              </a:prstGeom>
              <a:noFill/>
              <a:ln w="6350" cap="flat" cmpd="sng" algn="ctr">
                <a:solidFill>
                  <a:sysClr val="windowText" lastClr="000000"/>
                </a:solidFill>
                <a:prstDash val="solid"/>
                <a:miter lim="800000"/>
              </a:ln>
              <a:effectLst/>
            </p:spPr>
          </p:cxnSp>
        </p:grpSp>
        <p:sp>
          <p:nvSpPr>
            <p:cNvPr id="154" name="矩形 153">
              <a:extLst>
                <a:ext uri="{FF2B5EF4-FFF2-40B4-BE49-F238E27FC236}">
                  <a16:creationId xmlns:a16="http://schemas.microsoft.com/office/drawing/2014/main" id="{0D172390-05C7-4887-AD28-0370839CE681}"/>
                </a:ext>
              </a:extLst>
            </p:cNvPr>
            <p:cNvSpPr/>
            <p:nvPr/>
          </p:nvSpPr>
          <p:spPr>
            <a:xfrm>
              <a:off x="68712" y="972207"/>
              <a:ext cx="702978" cy="951208"/>
            </a:xfrm>
            <a:prstGeom prst="rect">
              <a:avLst/>
            </a:prstGeom>
            <a:noFill/>
            <a:ln w="12700" cap="flat" cmpd="sng" algn="ctr">
              <a:solidFill>
                <a:srgbClr val="5B9BD5">
                  <a:shade val="50000"/>
                </a:srgbClr>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55" name="矩形 154">
              <a:extLst>
                <a:ext uri="{FF2B5EF4-FFF2-40B4-BE49-F238E27FC236}">
                  <a16:creationId xmlns:a16="http://schemas.microsoft.com/office/drawing/2014/main" id="{90E4B104-2B13-4393-A39E-7A66AAEECF68}"/>
                </a:ext>
              </a:extLst>
            </p:cNvPr>
            <p:cNvSpPr/>
            <p:nvPr/>
          </p:nvSpPr>
          <p:spPr>
            <a:xfrm>
              <a:off x="1358386" y="972207"/>
              <a:ext cx="702978" cy="950683"/>
            </a:xfrm>
            <a:prstGeom prst="rect">
              <a:avLst/>
            </a:prstGeom>
            <a:noFill/>
            <a:ln w="12700" cap="flat" cmpd="sng" algn="ctr">
              <a:solidFill>
                <a:srgbClr val="5B9BD5">
                  <a:shade val="50000"/>
                </a:srgbClr>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56" name="矩形 155">
              <a:extLst>
                <a:ext uri="{FF2B5EF4-FFF2-40B4-BE49-F238E27FC236}">
                  <a16:creationId xmlns:a16="http://schemas.microsoft.com/office/drawing/2014/main" id="{B1DC2F24-A5B0-40B1-829A-C8B46E717446}"/>
                </a:ext>
              </a:extLst>
            </p:cNvPr>
            <p:cNvSpPr/>
            <p:nvPr/>
          </p:nvSpPr>
          <p:spPr>
            <a:xfrm>
              <a:off x="169720" y="1759415"/>
              <a:ext cx="484285" cy="16400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BCube0</a:t>
              </a:r>
              <a:endParaRPr kumimoji="0" lang="zh-CN" altLang="en-US" sz="2000"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157" name="矩形 156">
              <a:extLst>
                <a:ext uri="{FF2B5EF4-FFF2-40B4-BE49-F238E27FC236}">
                  <a16:creationId xmlns:a16="http://schemas.microsoft.com/office/drawing/2014/main" id="{8EDDE059-AF77-4676-9BE2-FACDD6F6827E}"/>
                </a:ext>
              </a:extLst>
            </p:cNvPr>
            <p:cNvSpPr/>
            <p:nvPr/>
          </p:nvSpPr>
          <p:spPr>
            <a:xfrm>
              <a:off x="1483417" y="1758891"/>
              <a:ext cx="484285" cy="16400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BCube0</a:t>
              </a:r>
              <a:endParaRPr kumimoji="0" lang="zh-CN" altLang="en-US" sz="2000"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158" name="矩形 157">
              <a:extLst>
                <a:ext uri="{FF2B5EF4-FFF2-40B4-BE49-F238E27FC236}">
                  <a16:creationId xmlns:a16="http://schemas.microsoft.com/office/drawing/2014/main" id="{7860340E-F01B-473A-B250-017AA47FEBAE}"/>
                </a:ext>
              </a:extLst>
            </p:cNvPr>
            <p:cNvSpPr/>
            <p:nvPr/>
          </p:nvSpPr>
          <p:spPr>
            <a:xfrm>
              <a:off x="2690345" y="972207"/>
              <a:ext cx="702978" cy="950683"/>
            </a:xfrm>
            <a:prstGeom prst="rect">
              <a:avLst/>
            </a:prstGeom>
            <a:noFill/>
            <a:ln w="12700" cap="flat" cmpd="sng" algn="ctr">
              <a:solidFill>
                <a:srgbClr val="5B9BD5">
                  <a:shade val="50000"/>
                </a:srgbClr>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59" name="矩形 158">
              <a:extLst>
                <a:ext uri="{FF2B5EF4-FFF2-40B4-BE49-F238E27FC236}">
                  <a16:creationId xmlns:a16="http://schemas.microsoft.com/office/drawing/2014/main" id="{EBAEAD8E-6096-4DC4-99A7-2D1FF9422AF6}"/>
                </a:ext>
              </a:extLst>
            </p:cNvPr>
            <p:cNvSpPr/>
            <p:nvPr/>
          </p:nvSpPr>
          <p:spPr>
            <a:xfrm>
              <a:off x="2815376" y="1758891"/>
              <a:ext cx="484285" cy="16400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BCube0</a:t>
              </a:r>
              <a:endParaRPr kumimoji="0" lang="zh-CN" altLang="en-US" sz="2000"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sp>
          <p:nvSpPr>
            <p:cNvPr id="160" name="矩形 159">
              <a:extLst>
                <a:ext uri="{FF2B5EF4-FFF2-40B4-BE49-F238E27FC236}">
                  <a16:creationId xmlns:a16="http://schemas.microsoft.com/office/drawing/2014/main" id="{D593A2C3-F271-45B6-946C-D68141A253FA}"/>
                </a:ext>
              </a:extLst>
            </p:cNvPr>
            <p:cNvSpPr/>
            <p:nvPr/>
          </p:nvSpPr>
          <p:spPr>
            <a:xfrm>
              <a:off x="3863737" y="972207"/>
              <a:ext cx="702978" cy="950683"/>
            </a:xfrm>
            <a:prstGeom prst="rect">
              <a:avLst/>
            </a:prstGeom>
            <a:noFill/>
            <a:ln w="12700" cap="flat" cmpd="sng" algn="ctr">
              <a:solidFill>
                <a:srgbClr val="5B9BD5">
                  <a:shade val="50000"/>
                </a:srgbClr>
              </a:solidFill>
              <a:prstDash val="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1" i="0" u="none" strike="noStrike" kern="0" cap="none" spc="0" normalizeH="0" baseline="0" noProof="0">
                <a:ln>
                  <a:noFill/>
                </a:ln>
                <a:solidFill>
                  <a:sysClr val="window" lastClr="FFFFFF"/>
                </a:solidFill>
                <a:effectLst/>
                <a:uLnTx/>
                <a:uFillTx/>
                <a:latin typeface="等线" panose="020F0502020204030204"/>
                <a:ea typeface="等线" panose="02010600030101010101" pitchFamily="2" charset="-122"/>
                <a:cs typeface="+mn-cs"/>
              </a:endParaRPr>
            </a:p>
          </p:txBody>
        </p:sp>
        <p:sp>
          <p:nvSpPr>
            <p:cNvPr id="161" name="矩形 160">
              <a:extLst>
                <a:ext uri="{FF2B5EF4-FFF2-40B4-BE49-F238E27FC236}">
                  <a16:creationId xmlns:a16="http://schemas.microsoft.com/office/drawing/2014/main" id="{444F94C9-F256-423D-94AA-3003C0579BF4}"/>
                </a:ext>
              </a:extLst>
            </p:cNvPr>
            <p:cNvSpPr/>
            <p:nvPr/>
          </p:nvSpPr>
          <p:spPr>
            <a:xfrm>
              <a:off x="3988768" y="1758891"/>
              <a:ext cx="484285" cy="164000"/>
            </a:xfrm>
            <a:prstGeom prst="rect">
              <a:avLst/>
            </a:prstGeom>
            <a:no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宋体" panose="02010600030101010101" pitchFamily="2" charset="-122"/>
                </a:rPr>
                <a:t>BCube0</a:t>
              </a:r>
              <a:endParaRPr kumimoji="0" lang="zh-CN" altLang="en-US" sz="2000" b="1" i="0" u="none" strike="noStrike" kern="100" cap="none" spc="0" normalizeH="0" baseline="0" noProof="0">
                <a:ln>
                  <a:noFill/>
                </a:ln>
                <a:solidFill>
                  <a:sysClr val="window" lastClr="FFFFFF"/>
                </a:solidFill>
                <a:effectLst/>
                <a:uLnTx/>
                <a:uFillTx/>
                <a:latin typeface="Times New Roman" panose="02020603050405020304" pitchFamily="18" charset="0"/>
                <a:ea typeface="宋体" panose="02010600030101010101" pitchFamily="2" charset="-122"/>
                <a:cs typeface="宋体" panose="02010600030101010101" pitchFamily="2" charset="-122"/>
              </a:endParaRPr>
            </a:p>
          </p:txBody>
        </p:sp>
      </p:grpSp>
      <p:sp>
        <p:nvSpPr>
          <p:cNvPr id="194" name="文本框 193">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网络分类：数据中心网</a:t>
            </a:r>
          </a:p>
        </p:txBody>
      </p:sp>
    </p:spTree>
    <p:extLst>
      <p:ext uri="{BB962C8B-B14F-4D97-AF65-F5344CB8AC3E}">
        <p14:creationId xmlns:p14="http://schemas.microsoft.com/office/powerpoint/2010/main" val="424725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网络分类（按用途）</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10704121" cy="5302578"/>
          </a:xfrm>
        </p:spPr>
        <p:txBody>
          <a:bodyPr anchor="t" anchorCtr="0">
            <a:normAutofit/>
          </a:bodyPr>
          <a:lstStyle/>
          <a:p>
            <a:r>
              <a:rPr lang="zh-CN" altLang="en-US" sz="2400" dirty="0">
                <a:solidFill>
                  <a:srgbClr val="C00000"/>
                </a:solidFill>
              </a:rPr>
              <a:t>传输网</a:t>
            </a:r>
            <a:endParaRPr lang="en-US" altLang="zh-CN" sz="2400" dirty="0">
              <a:solidFill>
                <a:srgbClr val="C00000"/>
              </a:solidFill>
            </a:endParaRPr>
          </a:p>
          <a:p>
            <a:pPr lvl="1"/>
            <a:r>
              <a:rPr lang="zh-CN" altLang="en-US" sz="2000" dirty="0">
                <a:solidFill>
                  <a:srgbClr val="FF0000"/>
                </a:solidFill>
              </a:rPr>
              <a:t>骨干网络</a:t>
            </a:r>
            <a:r>
              <a:rPr lang="zh-CN" altLang="en-US" sz="2000" dirty="0"/>
              <a:t>（</a:t>
            </a:r>
            <a:r>
              <a:rPr lang="en-US" altLang="zh-CN" sz="2000" dirty="0"/>
              <a:t>backbone</a:t>
            </a:r>
            <a:r>
              <a:rPr lang="zh-CN" altLang="en-US" sz="2000" dirty="0"/>
              <a:t>），承载两个端点间传输流量的角色（有偿使用）</a:t>
            </a:r>
            <a:endParaRPr lang="en-US" altLang="zh-CN" sz="2000" dirty="0"/>
          </a:p>
          <a:p>
            <a:pPr lvl="1"/>
            <a:r>
              <a:rPr lang="zh-CN" altLang="en-US" sz="2000" dirty="0"/>
              <a:t>通常内容和应用托管在数据中心网络，用户通过接入网访问这些内容，传输网实现从数据中心到接入网的连接</a:t>
            </a:r>
            <a:endParaRPr lang="en-US" altLang="zh-CN" sz="2000" dirty="0"/>
          </a:p>
          <a:p>
            <a:r>
              <a:rPr lang="zh-CN" altLang="en-US" sz="2400" dirty="0">
                <a:solidFill>
                  <a:srgbClr val="C00000"/>
                </a:solidFill>
              </a:rPr>
              <a:t>企业网</a:t>
            </a:r>
            <a:endParaRPr lang="zh-CN" altLang="en-US" sz="2400" dirty="0"/>
          </a:p>
          <a:p>
            <a:pPr lvl="1"/>
            <a:r>
              <a:rPr lang="zh-CN" altLang="en-US" sz="2000" dirty="0"/>
              <a:t>实现机构内计算机之间的</a:t>
            </a:r>
            <a:r>
              <a:rPr lang="zh-CN" altLang="en-US" sz="2000" dirty="0">
                <a:solidFill>
                  <a:srgbClr val="FF0000"/>
                </a:solidFill>
              </a:rPr>
              <a:t>资源共享</a:t>
            </a:r>
            <a:r>
              <a:rPr lang="zh-CN" altLang="en-US" sz="2000" dirty="0"/>
              <a:t>（</a:t>
            </a:r>
            <a:r>
              <a:rPr lang="en-US" altLang="zh-CN" sz="2000" dirty="0"/>
              <a:t>resource sharing</a:t>
            </a:r>
            <a:r>
              <a:rPr lang="zh-CN" altLang="en-US" sz="2000" dirty="0"/>
              <a:t>）</a:t>
            </a:r>
            <a:endParaRPr lang="en-US" altLang="zh-CN" sz="2000" dirty="0"/>
          </a:p>
          <a:p>
            <a:pPr lvl="1"/>
            <a:r>
              <a:rPr lang="zh-CN" altLang="en-US" sz="2000" dirty="0"/>
              <a:t>异地采用</a:t>
            </a:r>
            <a:r>
              <a:rPr lang="en-US" altLang="zh-CN" sz="2000" dirty="0">
                <a:solidFill>
                  <a:srgbClr val="FF0000"/>
                </a:solidFill>
              </a:rPr>
              <a:t>VPN</a:t>
            </a:r>
            <a:r>
              <a:rPr lang="zh-CN" altLang="en-US" sz="2000" dirty="0"/>
              <a:t>（</a:t>
            </a:r>
            <a:r>
              <a:rPr lang="en-US" altLang="zh-CN" sz="2000" dirty="0"/>
              <a:t>Virtual Private Network</a:t>
            </a:r>
            <a:r>
              <a:rPr lang="zh-CN" altLang="en-US" sz="2000" dirty="0"/>
              <a:t>）连接成一个逻辑网络</a:t>
            </a:r>
            <a:endParaRPr lang="en-US" altLang="zh-CN" sz="2000" dirty="0"/>
          </a:p>
          <a:p>
            <a:pPr lvl="1"/>
            <a:r>
              <a:rPr lang="zh-CN" altLang="en-US" sz="2000" dirty="0"/>
              <a:t>为员工间提供功能强大的</a:t>
            </a:r>
            <a:r>
              <a:rPr lang="zh-CN" altLang="en-US" sz="2000" dirty="0">
                <a:solidFill>
                  <a:srgbClr val="FF0000"/>
                </a:solidFill>
              </a:rPr>
              <a:t>通信媒介</a:t>
            </a:r>
            <a:r>
              <a:rPr lang="zh-CN" altLang="en-US" sz="2000" dirty="0"/>
              <a:t>（</a:t>
            </a:r>
            <a:r>
              <a:rPr lang="en-US" altLang="zh-CN" sz="2000" dirty="0"/>
              <a:t>communication medium</a:t>
            </a:r>
            <a:r>
              <a:rPr lang="zh-CN" altLang="en-US" sz="2000" dirty="0"/>
              <a:t>），实现</a:t>
            </a:r>
            <a:r>
              <a:rPr lang="zh-CN" altLang="en-US" sz="2000" dirty="0">
                <a:solidFill>
                  <a:srgbClr val="FF0000"/>
                </a:solidFill>
              </a:rPr>
              <a:t>电子邮件</a:t>
            </a:r>
            <a:r>
              <a:rPr lang="zh-CN" altLang="en-US" sz="2000" dirty="0"/>
              <a:t>（</a:t>
            </a:r>
            <a:r>
              <a:rPr lang="en-US" altLang="zh-CN" sz="2000" dirty="0"/>
              <a:t>E-mail</a:t>
            </a:r>
            <a:r>
              <a:rPr lang="zh-CN" altLang="en-US" sz="2000" dirty="0"/>
              <a:t>）、</a:t>
            </a:r>
            <a:r>
              <a:rPr lang="en-US" altLang="zh-CN" sz="2000" dirty="0">
                <a:solidFill>
                  <a:srgbClr val="FF0000"/>
                </a:solidFill>
              </a:rPr>
              <a:t>IP</a:t>
            </a:r>
            <a:r>
              <a:rPr lang="zh-CN" altLang="en-US" sz="2000" dirty="0">
                <a:solidFill>
                  <a:srgbClr val="FF0000"/>
                </a:solidFill>
              </a:rPr>
              <a:t>电话</a:t>
            </a:r>
            <a:r>
              <a:rPr lang="en-US" altLang="zh-CN" sz="2000" dirty="0">
                <a:solidFill>
                  <a:srgbClr val="FF0000"/>
                </a:solidFill>
              </a:rPr>
              <a:t>/</a:t>
            </a:r>
            <a:r>
              <a:rPr lang="zh-CN" altLang="en-US" sz="2000" dirty="0">
                <a:solidFill>
                  <a:srgbClr val="FF0000"/>
                </a:solidFill>
              </a:rPr>
              <a:t>语音</a:t>
            </a:r>
            <a:r>
              <a:rPr lang="zh-CN" altLang="en-US" sz="2000" dirty="0"/>
              <a:t>、</a:t>
            </a:r>
            <a:r>
              <a:rPr lang="zh-CN" altLang="en-US" sz="2000" dirty="0">
                <a:solidFill>
                  <a:srgbClr val="FF0000"/>
                </a:solidFill>
              </a:rPr>
              <a:t>桌面共享</a:t>
            </a:r>
            <a:r>
              <a:rPr lang="zh-CN" altLang="en-US" sz="2000" dirty="0"/>
              <a:t>（</a:t>
            </a:r>
            <a:r>
              <a:rPr lang="en-US" altLang="zh-CN" sz="2000" dirty="0"/>
              <a:t>desktop sharing</a:t>
            </a:r>
            <a:r>
              <a:rPr lang="zh-CN" altLang="en-US" sz="2000" dirty="0"/>
              <a:t>）等服务</a:t>
            </a:r>
            <a:endParaRPr lang="en-US" altLang="zh-CN" sz="20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spTree>
    <p:extLst>
      <p:ext uri="{BB962C8B-B14F-4D97-AF65-F5344CB8AC3E}">
        <p14:creationId xmlns:p14="http://schemas.microsoft.com/office/powerpoint/2010/main" val="3132112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网络分类（按地域规模）</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4" y="1418897"/>
            <a:ext cx="6360720" cy="5302578"/>
          </a:xfrm>
        </p:spPr>
        <p:txBody>
          <a:bodyPr anchor="t" anchorCtr="0">
            <a:normAutofit/>
          </a:bodyPr>
          <a:lstStyle/>
          <a:p>
            <a:r>
              <a:rPr lang="zh-CN" altLang="en-US" sz="2400" dirty="0">
                <a:solidFill>
                  <a:srgbClr val="C00000"/>
                </a:solidFill>
              </a:rPr>
              <a:t>个域网</a:t>
            </a:r>
            <a:r>
              <a:rPr lang="en-US" altLang="zh-CN" sz="2400" dirty="0">
                <a:solidFill>
                  <a:srgbClr val="C00000"/>
                </a:solidFill>
              </a:rPr>
              <a:t>PAN</a:t>
            </a:r>
            <a:r>
              <a:rPr lang="zh-CN" altLang="en-US" sz="2400" dirty="0"/>
              <a:t>（</a:t>
            </a:r>
            <a:r>
              <a:rPr lang="en-US" altLang="zh-CN" sz="2400" dirty="0"/>
              <a:t> Personal</a:t>
            </a:r>
            <a:r>
              <a:rPr lang="zh-CN" altLang="en-US" sz="2400" dirty="0"/>
              <a:t> </a:t>
            </a:r>
            <a:r>
              <a:rPr lang="en-US" altLang="zh-CN" sz="2400" dirty="0"/>
              <a:t>Area</a:t>
            </a:r>
            <a:r>
              <a:rPr lang="zh-CN" altLang="en-US" sz="2400" dirty="0"/>
              <a:t> </a:t>
            </a:r>
            <a:r>
              <a:rPr lang="en-US" altLang="zh-CN" sz="2400" dirty="0"/>
              <a:t>Network </a:t>
            </a:r>
            <a:r>
              <a:rPr lang="zh-CN" altLang="en-US" sz="2400" dirty="0"/>
              <a:t>）</a:t>
            </a:r>
            <a:endParaRPr lang="en-US" altLang="zh-CN" sz="2400" dirty="0"/>
          </a:p>
          <a:p>
            <a:pPr lvl="1"/>
            <a:r>
              <a:rPr lang="zh-CN" altLang="en-US" sz="2000" dirty="0"/>
              <a:t>能在便携式消费电器与通信设备之间进行短距离通信的网络</a:t>
            </a:r>
            <a:endParaRPr lang="en-US" altLang="zh-CN" sz="2000" dirty="0"/>
          </a:p>
          <a:p>
            <a:pPr lvl="1"/>
            <a:r>
              <a:rPr lang="zh-CN" altLang="en-US" sz="2000" dirty="0"/>
              <a:t>覆盖范围一般在</a:t>
            </a:r>
            <a:r>
              <a:rPr lang="en-US" altLang="zh-CN" sz="2000" dirty="0"/>
              <a:t>10</a:t>
            </a:r>
            <a:r>
              <a:rPr lang="zh-CN" altLang="en-US" sz="2000" dirty="0"/>
              <a:t>米半径以内，如蓝牙耳机等</a:t>
            </a:r>
            <a:endParaRPr lang="en-US" altLang="zh-CN" sz="2000" dirty="0"/>
          </a:p>
          <a:p>
            <a:r>
              <a:rPr lang="zh-CN" altLang="en-US" sz="2400" dirty="0">
                <a:solidFill>
                  <a:srgbClr val="C00000"/>
                </a:solidFill>
              </a:rPr>
              <a:t>局域网</a:t>
            </a:r>
            <a:r>
              <a:rPr lang="en-US" altLang="zh-CN" sz="2400" dirty="0">
                <a:solidFill>
                  <a:srgbClr val="C00000"/>
                </a:solidFill>
              </a:rPr>
              <a:t>LAN</a:t>
            </a:r>
            <a:r>
              <a:rPr lang="zh-CN" altLang="en-US" sz="2400" dirty="0"/>
              <a:t>（</a:t>
            </a:r>
            <a:r>
              <a:rPr lang="en-US" altLang="zh-CN" sz="2400" dirty="0"/>
              <a:t>Local</a:t>
            </a:r>
            <a:r>
              <a:rPr lang="zh-CN" altLang="en-US" sz="2400" dirty="0"/>
              <a:t> </a:t>
            </a:r>
            <a:r>
              <a:rPr lang="en-US" altLang="zh-CN" sz="2400" dirty="0"/>
              <a:t>Area</a:t>
            </a:r>
            <a:r>
              <a:rPr lang="zh-CN" altLang="en-US" sz="2400" dirty="0"/>
              <a:t> </a:t>
            </a:r>
            <a:r>
              <a:rPr lang="en-US" altLang="zh-CN" sz="2400" dirty="0"/>
              <a:t>Network</a:t>
            </a:r>
            <a:r>
              <a:rPr lang="zh-CN" altLang="en-US" sz="2400" dirty="0"/>
              <a:t>）</a:t>
            </a:r>
            <a:endParaRPr lang="en-US" altLang="zh-CN" sz="2400" dirty="0"/>
          </a:p>
          <a:p>
            <a:pPr lvl="1"/>
            <a:r>
              <a:rPr lang="zh-CN" altLang="en-US" sz="2000" dirty="0"/>
              <a:t>局部地区形成的区域网络，如企业网络</a:t>
            </a:r>
            <a:endParaRPr lang="en-US" altLang="zh-CN" sz="2000" dirty="0"/>
          </a:p>
          <a:p>
            <a:pPr lvl="1"/>
            <a:r>
              <a:rPr lang="zh-CN" altLang="en-US" sz="2000" dirty="0"/>
              <a:t>分布地区范围有限，可大可小，大到一栋建筑、小到办公室内的组网</a:t>
            </a:r>
            <a:endParaRPr lang="en-US" altLang="zh-CN" sz="2000" dirty="0"/>
          </a:p>
          <a:p>
            <a:pPr lvl="1"/>
            <a:r>
              <a:rPr lang="zh-CN" altLang="en-US" sz="2000" dirty="0"/>
              <a:t>电脑</a:t>
            </a:r>
            <a:r>
              <a:rPr lang="en-US" altLang="zh-CN" sz="2000" dirty="0"/>
              <a:t>WLAN</a:t>
            </a:r>
            <a:r>
              <a:rPr lang="zh-CN" altLang="en-US" sz="2000" dirty="0"/>
              <a:t>接入，打印机共享等等</a:t>
            </a:r>
            <a:endParaRPr lang="en-US" altLang="zh-CN" sz="2000" dirty="0"/>
          </a:p>
          <a:p>
            <a:r>
              <a:rPr lang="zh-CN" altLang="en-US" sz="2400" dirty="0">
                <a:solidFill>
                  <a:srgbClr val="C00000"/>
                </a:solidFill>
              </a:rPr>
              <a:t>城域网</a:t>
            </a:r>
            <a:r>
              <a:rPr lang="en-US" altLang="zh-CN" sz="2400" dirty="0">
                <a:solidFill>
                  <a:srgbClr val="C00000"/>
                </a:solidFill>
              </a:rPr>
              <a:t>MAN</a:t>
            </a:r>
            <a:r>
              <a:rPr lang="zh-CN" altLang="en-US" sz="2400" dirty="0"/>
              <a:t>（</a:t>
            </a:r>
            <a:r>
              <a:rPr lang="en-US" altLang="zh-CN" sz="2000" dirty="0"/>
              <a:t>Metropolitan Area</a:t>
            </a:r>
            <a:r>
              <a:rPr lang="zh-CN" altLang="en-US" sz="2000" dirty="0"/>
              <a:t> </a:t>
            </a:r>
            <a:r>
              <a:rPr lang="en-US" altLang="zh-CN" sz="2000" dirty="0"/>
              <a:t>Network </a:t>
            </a:r>
            <a:r>
              <a:rPr lang="zh-CN" altLang="en-US" sz="2400" dirty="0"/>
              <a:t>）</a:t>
            </a:r>
            <a:endParaRPr lang="en-US" altLang="zh-CN" sz="2400" dirty="0"/>
          </a:p>
          <a:p>
            <a:pPr lvl="1"/>
            <a:r>
              <a:rPr lang="zh-CN" altLang="en-US" sz="2000" dirty="0"/>
              <a:t>范围覆盖一个城市的网络</a:t>
            </a:r>
            <a:endParaRPr lang="en-US" altLang="zh-CN" sz="2000" dirty="0"/>
          </a:p>
          <a:p>
            <a:r>
              <a:rPr lang="zh-CN" altLang="en-US" sz="2400" dirty="0">
                <a:solidFill>
                  <a:srgbClr val="C00000"/>
                </a:solidFill>
              </a:rPr>
              <a:t>广域网</a:t>
            </a:r>
            <a:r>
              <a:rPr lang="en-US" altLang="zh-CN" sz="2400" dirty="0">
                <a:solidFill>
                  <a:srgbClr val="C00000"/>
                </a:solidFill>
              </a:rPr>
              <a:t>WAN</a:t>
            </a:r>
            <a:r>
              <a:rPr lang="zh-CN" altLang="en-US" sz="2400" dirty="0"/>
              <a:t>（</a:t>
            </a:r>
            <a:r>
              <a:rPr lang="en-US" altLang="zh-CN" sz="2400" dirty="0"/>
              <a:t>Wide</a:t>
            </a:r>
            <a:r>
              <a:rPr lang="zh-CN" altLang="en-US" sz="2400" dirty="0"/>
              <a:t> </a:t>
            </a:r>
            <a:r>
              <a:rPr lang="en-US" altLang="zh-CN" sz="2400" dirty="0"/>
              <a:t>Area</a:t>
            </a:r>
            <a:r>
              <a:rPr lang="zh-CN" altLang="en-US" sz="2400" dirty="0"/>
              <a:t> </a:t>
            </a:r>
            <a:r>
              <a:rPr lang="en-US" altLang="zh-CN" sz="2400" dirty="0"/>
              <a:t>Network</a:t>
            </a:r>
            <a:r>
              <a:rPr lang="zh-CN" altLang="en-US" sz="2400" dirty="0"/>
              <a:t>）</a:t>
            </a:r>
          </a:p>
          <a:p>
            <a:pPr lvl="1"/>
            <a:r>
              <a:rPr lang="zh-CN" altLang="en-US" sz="2000" dirty="0"/>
              <a:t>覆盖很大地理区域，乃至覆盖地区和国家</a:t>
            </a:r>
            <a:endParaRPr lang="en-US" altLang="zh-CN" sz="20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pic>
        <p:nvPicPr>
          <p:cNvPr id="9218" name="Picture 2">
            <a:extLst>
              <a:ext uri="{FF2B5EF4-FFF2-40B4-BE49-F238E27FC236}">
                <a16:creationId xmlns:a16="http://schemas.microsoft.com/office/drawing/2014/main" id="{A2233F74-0F76-4B46-8F0F-818F5F84CBEB}"/>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8119072" y="1922451"/>
            <a:ext cx="2477984" cy="124570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E85E4D46-54F2-154C-A5D5-4E74E65B8E30}"/>
              </a:ext>
            </a:extLst>
          </p:cNvPr>
          <p:cNvSpPr/>
          <p:nvPr/>
        </p:nvSpPr>
        <p:spPr>
          <a:xfrm>
            <a:off x="8368050" y="3200235"/>
            <a:ext cx="1980029" cy="707886"/>
          </a:xfrm>
          <a:prstGeom prst="rect">
            <a:avLst/>
          </a:prstGeom>
        </p:spPr>
        <p:txBody>
          <a:bodyPr wrap="none">
            <a:spAutoFit/>
          </a:bodyPr>
          <a:lstStyle/>
          <a:p>
            <a:pPr algn="ctr"/>
            <a:r>
              <a:rPr lang="zh-CN" altLang="en-US" sz="2000" dirty="0">
                <a:solidFill>
                  <a:prstClr val="black"/>
                </a:solidFill>
                <a:latin typeface="Microsoft YaHei" panose="020B0503020204020204" pitchFamily="34" charset="-122"/>
                <a:ea typeface="Microsoft YaHei" panose="020B0503020204020204" pitchFamily="34" charset="-122"/>
              </a:rPr>
              <a:t>典型个域网设备</a:t>
            </a:r>
            <a:endParaRPr lang="en-US" altLang="zh-CN" sz="2000" dirty="0">
              <a:solidFill>
                <a:prstClr val="black"/>
              </a:solidFill>
              <a:latin typeface="Microsoft YaHei" panose="020B0503020204020204" pitchFamily="34" charset="-122"/>
              <a:ea typeface="Microsoft YaHei" panose="020B0503020204020204" pitchFamily="34" charset="-122"/>
            </a:endParaRPr>
          </a:p>
          <a:p>
            <a:pPr algn="ctr"/>
            <a:r>
              <a:rPr lang="zh-CN" altLang="en-US" sz="2000" dirty="0">
                <a:solidFill>
                  <a:prstClr val="black"/>
                </a:solidFill>
                <a:latin typeface="Microsoft YaHei" panose="020B0503020204020204" pitchFamily="34" charset="-122"/>
                <a:ea typeface="Microsoft YaHei" panose="020B0503020204020204" pitchFamily="34" charset="-122"/>
              </a:rPr>
              <a:t>蓝牙耳机</a:t>
            </a:r>
            <a:endParaRPr lang="zh-CN" altLang="en-US" dirty="0"/>
          </a:p>
        </p:txBody>
      </p:sp>
      <p:pic>
        <p:nvPicPr>
          <p:cNvPr id="9220" name="Picture 4">
            <a:extLst>
              <a:ext uri="{FF2B5EF4-FFF2-40B4-BE49-F238E27FC236}">
                <a16:creationId xmlns:a16="http://schemas.microsoft.com/office/drawing/2014/main" id="{72E475FF-833F-994A-BCD0-362C8306391C}"/>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8439799" y="3991962"/>
            <a:ext cx="1836530" cy="1836530"/>
          </a:xfrm>
          <a:prstGeom prst="rect">
            <a:avLst/>
          </a:prstGeom>
          <a:noFill/>
          <a:extLst>
            <a:ext uri="{909E8E84-426E-40DD-AFC4-6F175D3DCCD1}">
              <a14:hiddenFill xmlns:a14="http://schemas.microsoft.com/office/drawing/2010/main">
                <a:solidFill>
                  <a:srgbClr val="FFFFFF"/>
                </a:solidFill>
              </a14:hiddenFill>
            </a:ext>
          </a:extLst>
        </p:spPr>
      </p:pic>
      <p:sp>
        <p:nvSpPr>
          <p:cNvPr id="455" name="矩形 454">
            <a:extLst>
              <a:ext uri="{FF2B5EF4-FFF2-40B4-BE49-F238E27FC236}">
                <a16:creationId xmlns:a16="http://schemas.microsoft.com/office/drawing/2014/main" id="{426BAA76-8027-6C49-8D3A-28A5192013D3}"/>
              </a:ext>
            </a:extLst>
          </p:cNvPr>
          <p:cNvSpPr/>
          <p:nvPr/>
        </p:nvSpPr>
        <p:spPr>
          <a:xfrm>
            <a:off x="8368050" y="5648464"/>
            <a:ext cx="1980029" cy="707886"/>
          </a:xfrm>
          <a:prstGeom prst="rect">
            <a:avLst/>
          </a:prstGeom>
        </p:spPr>
        <p:txBody>
          <a:bodyPr wrap="none">
            <a:spAutoFit/>
          </a:bodyPr>
          <a:lstStyle/>
          <a:p>
            <a:pPr algn="ctr"/>
            <a:r>
              <a:rPr lang="zh-CN" altLang="en-US" sz="2000" dirty="0">
                <a:solidFill>
                  <a:prstClr val="black"/>
                </a:solidFill>
                <a:latin typeface="Microsoft YaHei" panose="020B0503020204020204" pitchFamily="34" charset="-122"/>
                <a:ea typeface="Microsoft YaHei" panose="020B0503020204020204" pitchFamily="34" charset="-122"/>
              </a:rPr>
              <a:t>典型局域网设备</a:t>
            </a:r>
            <a:endParaRPr lang="en-US" altLang="zh-CN" sz="2000" dirty="0">
              <a:solidFill>
                <a:prstClr val="black"/>
              </a:solidFill>
              <a:latin typeface="Microsoft YaHei" panose="020B0503020204020204" pitchFamily="34" charset="-122"/>
              <a:ea typeface="Microsoft YaHei" panose="020B0503020204020204" pitchFamily="34" charset="-122"/>
            </a:endParaRPr>
          </a:p>
          <a:p>
            <a:pPr algn="ctr"/>
            <a:r>
              <a:rPr lang="zh-CN" altLang="en-US" sz="2000" dirty="0">
                <a:solidFill>
                  <a:prstClr val="black"/>
                </a:solidFill>
                <a:latin typeface="Microsoft YaHei" panose="020B0503020204020204" pitchFamily="34" charset="-122"/>
                <a:ea typeface="Microsoft YaHei" panose="020B0503020204020204" pitchFamily="34" charset="-122"/>
              </a:rPr>
              <a:t>无线路由器</a:t>
            </a:r>
            <a:endParaRPr lang="zh-CN" altLang="en-US" dirty="0"/>
          </a:p>
        </p:txBody>
      </p:sp>
      <p:pic>
        <p:nvPicPr>
          <p:cNvPr id="10" name="Picture 28" descr="015">
            <a:extLst>
              <a:ext uri="{FF2B5EF4-FFF2-40B4-BE49-F238E27FC236}">
                <a16:creationId xmlns:a16="http://schemas.microsoft.com/office/drawing/2014/main" id="{7BE977E0-641A-4359-9CC2-2DE841CB45B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777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网络分类（按网络技术）</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4" y="1418897"/>
            <a:ext cx="6360720" cy="4624094"/>
          </a:xfrm>
        </p:spPr>
        <p:txBody>
          <a:bodyPr anchor="t" anchorCtr="0">
            <a:normAutofit/>
          </a:bodyPr>
          <a:lstStyle/>
          <a:p>
            <a:r>
              <a:rPr lang="zh-CN" altLang="en-US" sz="2400" dirty="0">
                <a:solidFill>
                  <a:srgbClr val="C00000"/>
                </a:solidFill>
              </a:rPr>
              <a:t>非交换网络（一跳通信）</a:t>
            </a:r>
            <a:endParaRPr lang="en-US" altLang="zh-CN" sz="2400" dirty="0"/>
          </a:p>
          <a:p>
            <a:pPr lvl="1"/>
            <a:r>
              <a:rPr lang="zh-CN" altLang="en-US" sz="2000" dirty="0"/>
              <a:t>点</a:t>
            </a:r>
            <a:r>
              <a:rPr lang="en-US" altLang="zh-CN" sz="2000" dirty="0"/>
              <a:t>-</a:t>
            </a:r>
            <a:r>
              <a:rPr lang="zh-CN" altLang="en-US" sz="2000" dirty="0"/>
              <a:t>点信道型网络</a:t>
            </a:r>
            <a:endParaRPr lang="en-US" altLang="zh-CN" sz="2000" dirty="0"/>
          </a:p>
          <a:p>
            <a:pPr lvl="1"/>
            <a:r>
              <a:rPr lang="zh-CN" altLang="en-US" sz="2000" dirty="0"/>
              <a:t>共享信道型（多点信道型）网络</a:t>
            </a:r>
            <a:endParaRPr lang="en-US" altLang="zh-CN" sz="2000" dirty="0"/>
          </a:p>
          <a:p>
            <a:r>
              <a:rPr lang="zh-CN" altLang="en-US" sz="2400" dirty="0">
                <a:solidFill>
                  <a:srgbClr val="C00000"/>
                </a:solidFill>
              </a:rPr>
              <a:t>交换网络（多跳通信）</a:t>
            </a:r>
            <a:endParaRPr lang="en-US" altLang="zh-CN" sz="2400" dirty="0"/>
          </a:p>
          <a:p>
            <a:pPr lvl="1"/>
            <a:r>
              <a:rPr lang="zh-CN" altLang="en-US" sz="2000" dirty="0">
                <a:latin typeface="Arial" panose="020B0604020202020204" pitchFamily="34" charset="0"/>
                <a:ea typeface="黑体" panose="02010609060101010101" pitchFamily="49" charset="-122"/>
              </a:rPr>
              <a:t>电路交换</a:t>
            </a:r>
            <a:endParaRPr lang="en-US" altLang="zh-CN" sz="2000" dirty="0"/>
          </a:p>
          <a:p>
            <a:pPr lvl="1"/>
            <a:r>
              <a:rPr lang="zh-CN" altLang="en-US" sz="2000" dirty="0">
                <a:ea typeface="黑体" panose="02010609060101010101" pitchFamily="49" charset="-122"/>
              </a:rPr>
              <a:t>报文交换</a:t>
            </a:r>
            <a:endParaRPr lang="en-US" altLang="zh-CN" sz="2000" dirty="0"/>
          </a:p>
          <a:p>
            <a:pPr lvl="1"/>
            <a:r>
              <a:rPr lang="zh-CN" altLang="en-US" sz="2000" dirty="0">
                <a:ea typeface="黑体" panose="02010609060101010101" pitchFamily="49" charset="-122"/>
              </a:rPr>
              <a:t>分组交换</a:t>
            </a:r>
            <a:endParaRPr lang="en-US" altLang="zh-CN" sz="2000" dirty="0">
              <a:ea typeface="黑体" panose="02010609060101010101" pitchFamily="49" charset="-122"/>
            </a:endParaRPr>
          </a:p>
          <a:p>
            <a:pPr lvl="1"/>
            <a:r>
              <a:rPr lang="zh-CN" altLang="en-US" sz="2000" dirty="0">
                <a:ea typeface="黑体" panose="02010609060101010101" pitchFamily="49" charset="-122"/>
              </a:rPr>
              <a:t>混合交换</a:t>
            </a:r>
          </a:p>
          <a:p>
            <a:pPr lvl="1">
              <a:buNone/>
            </a:pPr>
            <a:r>
              <a:rPr lang="zh-CN" altLang="en-US" sz="2000" dirty="0">
                <a:ea typeface="黑体" panose="02010609060101010101" pitchFamily="49" charset="-122"/>
              </a:rPr>
              <a:t>   </a:t>
            </a:r>
            <a:r>
              <a:rPr lang="en-US" altLang="zh-CN" sz="2000" dirty="0">
                <a:ea typeface="黑体" panose="02010609060101010101" pitchFamily="49" charset="-122"/>
              </a:rPr>
              <a:t>		</a:t>
            </a:r>
            <a:r>
              <a:rPr lang="zh-CN" altLang="en-US" sz="2000" dirty="0">
                <a:ea typeface="黑体" panose="02010609060101010101" pitchFamily="49" charset="-122"/>
              </a:rPr>
              <a:t>同时采用电路交换和分组交换</a:t>
            </a:r>
            <a:endParaRPr lang="en-US" altLang="zh-CN" sz="2000" dirty="0">
              <a:ea typeface="黑体" panose="02010609060101010101" pitchFamily="49" charset="-122"/>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pic>
        <p:nvPicPr>
          <p:cNvPr id="6" name="Picture 28" descr="015">
            <a:extLst>
              <a:ext uri="{FF2B5EF4-FFF2-40B4-BE49-F238E27FC236}">
                <a16:creationId xmlns:a16="http://schemas.microsoft.com/office/drawing/2014/main" id="{97E3B97A-5199-4CA5-88B9-608A22C6109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3126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zh-CN" altLang="en-US" dirty="0"/>
              <a:t>非交换网络</a:t>
            </a:r>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10654425" cy="4937453"/>
          </a:xfrm>
        </p:spPr>
        <p:txBody>
          <a:bodyPr anchor="t" anchorCtr="0">
            <a:normAutofit/>
          </a:bodyPr>
          <a:lstStyle/>
          <a:p>
            <a:r>
              <a:rPr lang="zh-CN" altLang="en-US" sz="2400" dirty="0">
                <a:solidFill>
                  <a:srgbClr val="C00000"/>
                </a:solidFill>
              </a:rPr>
              <a:t>点</a:t>
            </a:r>
            <a:r>
              <a:rPr lang="en-US" altLang="zh-CN" sz="2400" dirty="0">
                <a:solidFill>
                  <a:srgbClr val="C00000"/>
                </a:solidFill>
              </a:rPr>
              <a:t>-</a:t>
            </a:r>
            <a:r>
              <a:rPr lang="zh-CN" altLang="en-US" sz="2400" dirty="0">
                <a:solidFill>
                  <a:srgbClr val="C00000"/>
                </a:solidFill>
              </a:rPr>
              <a:t>点信道型网络</a:t>
            </a:r>
            <a:endParaRPr lang="en-US" altLang="zh-CN" sz="2400" dirty="0">
              <a:solidFill>
                <a:srgbClr val="C00000"/>
              </a:solidFill>
            </a:endParaRPr>
          </a:p>
          <a:p>
            <a:pPr lvl="1"/>
            <a:r>
              <a:rPr lang="zh-CN" altLang="en-US" dirty="0"/>
              <a:t>每个信道连接一对节点。非相邻节点之间的通信需通过其它节点转发。</a:t>
            </a:r>
          </a:p>
          <a:p>
            <a:pPr lvl="1"/>
            <a:r>
              <a:rPr lang="zh-CN" altLang="en-US" dirty="0"/>
              <a:t>星型、环型、树型、网格型</a:t>
            </a:r>
            <a:endParaRPr lang="en-US" altLang="zh-CN" dirty="0"/>
          </a:p>
          <a:p>
            <a:r>
              <a:rPr lang="zh-CN" altLang="en-US" sz="2400" dirty="0">
                <a:solidFill>
                  <a:srgbClr val="C00000"/>
                </a:solidFill>
              </a:rPr>
              <a:t>共享信道型网络</a:t>
            </a:r>
            <a:endParaRPr lang="en-US" altLang="zh-CN" sz="2400" dirty="0">
              <a:solidFill>
                <a:srgbClr val="C00000"/>
              </a:solidFill>
            </a:endParaRPr>
          </a:p>
          <a:p>
            <a:pPr lvl="1"/>
            <a:r>
              <a:rPr lang="zh-CN" altLang="en-US" dirty="0"/>
              <a:t>所有节点共享一条信道，可以看成都相邻。每个节点所发送的信息可被所有节点收到</a:t>
            </a:r>
          </a:p>
          <a:p>
            <a:pPr lvl="1"/>
            <a:r>
              <a:rPr lang="zh-CN" altLang="en-US" dirty="0"/>
              <a:t>总线型、卫星广播网</a:t>
            </a:r>
          </a:p>
          <a:p>
            <a:endParaRPr lang="zh-CN" altLang="en-US" sz="24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网络分类：非交换网络</a:t>
            </a:r>
          </a:p>
        </p:txBody>
      </p:sp>
      <p:pic>
        <p:nvPicPr>
          <p:cNvPr id="6" name="Picture 28" descr="015">
            <a:extLst>
              <a:ext uri="{FF2B5EF4-FFF2-40B4-BE49-F238E27FC236}">
                <a16:creationId xmlns:a16="http://schemas.microsoft.com/office/drawing/2014/main" id="{0640FDDB-17AC-412D-8955-8B82745B98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4558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8" y="365126"/>
            <a:ext cx="8502414" cy="879086"/>
          </a:xfrm>
        </p:spPr>
        <p:txBody>
          <a:bodyPr>
            <a:normAutofit fontScale="90000"/>
          </a:bodyPr>
          <a:lstStyle/>
          <a:p>
            <a:r>
              <a:rPr kumimoji="1" lang="zh-CN" altLang="en-US" dirty="0"/>
              <a:t>交换网络：</a:t>
            </a:r>
            <a:r>
              <a:rPr lang="zh-CN" altLang="en-US" dirty="0"/>
              <a:t>电路交换（</a:t>
            </a:r>
            <a:r>
              <a:rPr lang="en-US" altLang="zh-CN" dirty="0"/>
              <a:t>Circuit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10654425" cy="4937453"/>
          </a:xfrm>
        </p:spPr>
        <p:txBody>
          <a:bodyPr anchor="t" anchorCtr="0">
            <a:normAutofit/>
          </a:bodyPr>
          <a:lstStyle/>
          <a:p>
            <a:r>
              <a:rPr lang="en-US" altLang="zh-CN" sz="2400" dirty="0"/>
              <a:t>5 </a:t>
            </a:r>
            <a:r>
              <a:rPr lang="zh-CN" altLang="en-US" sz="2400" dirty="0"/>
              <a:t>部电话机两两相连，需 </a:t>
            </a:r>
            <a:r>
              <a:rPr lang="en-US" altLang="zh-CN" sz="2400" dirty="0"/>
              <a:t>10 </a:t>
            </a:r>
            <a:r>
              <a:rPr lang="zh-CN" altLang="en-US" sz="2400" dirty="0"/>
              <a:t>对电线。</a:t>
            </a:r>
          </a:p>
          <a:p>
            <a:endParaRPr lang="zh-CN" altLang="en-US" sz="2400" dirty="0"/>
          </a:p>
          <a:p>
            <a:endParaRPr lang="zh-CN" altLang="en-US" sz="2400" dirty="0"/>
          </a:p>
          <a:p>
            <a:endParaRPr lang="zh-CN" altLang="en-US" sz="2400" dirty="0"/>
          </a:p>
          <a:p>
            <a:endParaRPr lang="zh-CN" altLang="en-US" sz="2400" dirty="0"/>
          </a:p>
          <a:p>
            <a:endParaRPr lang="zh-CN" altLang="en-US" sz="2400" dirty="0"/>
          </a:p>
          <a:p>
            <a:pPr>
              <a:spcBef>
                <a:spcPct val="0"/>
              </a:spcBef>
            </a:pPr>
            <a:endParaRPr lang="en-US" altLang="zh-CN" sz="2400" i="1" dirty="0"/>
          </a:p>
          <a:p>
            <a:pPr>
              <a:spcBef>
                <a:spcPct val="0"/>
              </a:spcBef>
            </a:pPr>
            <a:r>
              <a:rPr lang="en-US" altLang="zh-CN" sz="2400" i="1" dirty="0"/>
              <a:t>N </a:t>
            </a:r>
            <a:r>
              <a:rPr lang="zh-CN" altLang="en-US" sz="2400" dirty="0"/>
              <a:t>部电话机两两相连，需 </a:t>
            </a:r>
            <a:r>
              <a:rPr lang="en-US" altLang="zh-CN" sz="2400" i="1" dirty="0"/>
              <a:t>N</a:t>
            </a:r>
            <a:r>
              <a:rPr lang="en-US" altLang="zh-CN" sz="2400" dirty="0"/>
              <a:t>(</a:t>
            </a:r>
            <a:r>
              <a:rPr lang="en-US" altLang="zh-CN" sz="2400" i="1" dirty="0"/>
              <a:t>N</a:t>
            </a:r>
            <a:r>
              <a:rPr lang="en-US" altLang="zh-CN" sz="2400" dirty="0"/>
              <a:t> </a:t>
            </a:r>
            <a:r>
              <a:rPr lang="en-US" altLang="zh-CN" sz="2400" dirty="0">
                <a:latin typeface="Arial" panose="020B0604020202020204" pitchFamily="34" charset="0"/>
              </a:rPr>
              <a:t>–</a:t>
            </a:r>
            <a:r>
              <a:rPr lang="en-US" altLang="zh-CN" sz="2400" dirty="0"/>
              <a:t> 1)/2</a:t>
            </a:r>
            <a:r>
              <a:rPr lang="zh-CN" altLang="en-US" sz="2400" dirty="0"/>
              <a:t>对电线。</a:t>
            </a:r>
          </a:p>
          <a:p>
            <a:r>
              <a:rPr lang="zh-CN" altLang="en-US" sz="2400" dirty="0"/>
              <a:t>当电话机的数量很大时，这种连接方法需要的电线对的数量与电话机数的平方成正比。</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grpSp>
        <p:nvGrpSpPr>
          <p:cNvPr id="6" name="组合 5"/>
          <p:cNvGrpSpPr/>
          <p:nvPr/>
        </p:nvGrpSpPr>
        <p:grpSpPr>
          <a:xfrm>
            <a:off x="3731246" y="1915905"/>
            <a:ext cx="3968750" cy="2411413"/>
            <a:chOff x="2916238" y="2492375"/>
            <a:chExt cx="3968750" cy="2411413"/>
          </a:xfrm>
        </p:grpSpPr>
        <p:sp>
          <p:nvSpPr>
            <p:cNvPr id="7" name="Line 2"/>
            <p:cNvSpPr>
              <a:spLocks noChangeShapeType="1"/>
            </p:cNvSpPr>
            <p:nvPr/>
          </p:nvSpPr>
          <p:spPr bwMode="auto">
            <a:xfrm flipV="1">
              <a:off x="3276600" y="2852738"/>
              <a:ext cx="1384300" cy="7334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3"/>
            <p:cNvSpPr>
              <a:spLocks noChangeShapeType="1"/>
            </p:cNvSpPr>
            <p:nvPr/>
          </p:nvSpPr>
          <p:spPr bwMode="auto">
            <a:xfrm>
              <a:off x="4895850" y="2933700"/>
              <a:ext cx="1536700" cy="7731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4"/>
            <p:cNvSpPr>
              <a:spLocks noChangeShapeType="1"/>
            </p:cNvSpPr>
            <p:nvPr/>
          </p:nvSpPr>
          <p:spPr bwMode="auto">
            <a:xfrm>
              <a:off x="3232150" y="3678238"/>
              <a:ext cx="857250" cy="954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5"/>
            <p:cNvSpPr>
              <a:spLocks noChangeShapeType="1"/>
            </p:cNvSpPr>
            <p:nvPr/>
          </p:nvSpPr>
          <p:spPr bwMode="auto">
            <a:xfrm flipV="1">
              <a:off x="4203700" y="4702175"/>
              <a:ext cx="12541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6"/>
            <p:cNvSpPr>
              <a:spLocks noChangeShapeType="1"/>
            </p:cNvSpPr>
            <p:nvPr/>
          </p:nvSpPr>
          <p:spPr bwMode="auto">
            <a:xfrm flipV="1">
              <a:off x="5540375" y="3673475"/>
              <a:ext cx="895350" cy="9398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7"/>
            <p:cNvSpPr>
              <a:spLocks noChangeShapeType="1"/>
            </p:cNvSpPr>
            <p:nvPr/>
          </p:nvSpPr>
          <p:spPr bwMode="auto">
            <a:xfrm>
              <a:off x="4810125" y="2932113"/>
              <a:ext cx="627063" cy="1770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8"/>
            <p:cNvSpPr>
              <a:spLocks noChangeShapeType="1"/>
            </p:cNvSpPr>
            <p:nvPr/>
          </p:nvSpPr>
          <p:spPr bwMode="auto">
            <a:xfrm flipH="1">
              <a:off x="4187825" y="2949575"/>
              <a:ext cx="487363" cy="17414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9"/>
            <p:cNvSpPr>
              <a:spLocks noChangeShapeType="1"/>
            </p:cNvSpPr>
            <p:nvPr/>
          </p:nvSpPr>
          <p:spPr bwMode="auto">
            <a:xfrm>
              <a:off x="3400425" y="3670300"/>
              <a:ext cx="298291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0"/>
            <p:cNvSpPr>
              <a:spLocks noChangeShapeType="1"/>
            </p:cNvSpPr>
            <p:nvPr/>
          </p:nvSpPr>
          <p:spPr bwMode="auto">
            <a:xfrm>
              <a:off x="3233738" y="3673475"/>
              <a:ext cx="2203450" cy="10096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1"/>
            <p:cNvSpPr>
              <a:spLocks noChangeShapeType="1"/>
            </p:cNvSpPr>
            <p:nvPr/>
          </p:nvSpPr>
          <p:spPr bwMode="auto">
            <a:xfrm flipV="1">
              <a:off x="4211638" y="3716338"/>
              <a:ext cx="2125662" cy="9667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 name="Group 14"/>
            <p:cNvGrpSpPr>
              <a:grpSpLocks/>
            </p:cNvGrpSpPr>
            <p:nvPr/>
          </p:nvGrpSpPr>
          <p:grpSpPr bwMode="auto">
            <a:xfrm>
              <a:off x="2916238" y="2492375"/>
              <a:ext cx="3968750" cy="2411413"/>
              <a:chOff x="1824" y="1570"/>
              <a:chExt cx="2500" cy="1519"/>
            </a:xfrm>
          </p:grpSpPr>
          <p:sp>
            <p:nvSpPr>
              <p:cNvPr id="18" name="Text Box 15"/>
              <p:cNvSpPr txBox="1">
                <a:spLocks noChangeArrowheads="1"/>
              </p:cNvSpPr>
              <p:nvPr/>
            </p:nvSpPr>
            <p:spPr bwMode="auto">
              <a:xfrm>
                <a:off x="2792" y="1570"/>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dirty="0">
                    <a:solidFill>
                      <a:schemeClr val="tx1"/>
                    </a:solidFill>
                    <a:latin typeface="Times New Roman" panose="02020603050405020304" pitchFamily="18" charset="0"/>
                    <a:sym typeface="Wingdings" panose="05000000000000000000" pitchFamily="2" charset="2"/>
                  </a:rPr>
                  <a:t></a:t>
                </a:r>
                <a:r>
                  <a:rPr kumimoji="1" lang="zh-CN" altLang="en-US" sz="3600" dirty="0">
                    <a:solidFill>
                      <a:schemeClr val="tx1"/>
                    </a:solidFill>
                    <a:latin typeface="Times New Roman" panose="02020603050405020304" pitchFamily="18" charset="0"/>
                  </a:rPr>
                  <a:t> </a:t>
                </a:r>
              </a:p>
            </p:txBody>
          </p:sp>
          <p:sp>
            <p:nvSpPr>
              <p:cNvPr id="19" name="Text Box 16"/>
              <p:cNvSpPr txBox="1">
                <a:spLocks noChangeArrowheads="1"/>
              </p:cNvSpPr>
              <p:nvPr/>
            </p:nvSpPr>
            <p:spPr bwMode="auto">
              <a:xfrm>
                <a:off x="1824" y="2058"/>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dirty="0">
                    <a:solidFill>
                      <a:schemeClr val="tx1"/>
                    </a:solidFill>
                    <a:latin typeface="Times New Roman" panose="02020603050405020304" pitchFamily="18" charset="0"/>
                    <a:sym typeface="Wingdings" panose="05000000000000000000" pitchFamily="2" charset="2"/>
                  </a:rPr>
                  <a:t></a:t>
                </a:r>
                <a:r>
                  <a:rPr kumimoji="1" lang="zh-CN" altLang="en-US" sz="3600" dirty="0">
                    <a:solidFill>
                      <a:schemeClr val="tx1"/>
                    </a:solidFill>
                    <a:latin typeface="Times New Roman" panose="02020603050405020304" pitchFamily="18" charset="0"/>
                  </a:rPr>
                  <a:t> </a:t>
                </a:r>
              </a:p>
            </p:txBody>
          </p:sp>
          <p:sp>
            <p:nvSpPr>
              <p:cNvPr id="20" name="Text Box 17"/>
              <p:cNvSpPr txBox="1">
                <a:spLocks noChangeArrowheads="1"/>
              </p:cNvSpPr>
              <p:nvPr/>
            </p:nvSpPr>
            <p:spPr bwMode="auto">
              <a:xfrm>
                <a:off x="2405" y="2685"/>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21" name="Text Box 18"/>
              <p:cNvSpPr txBox="1">
                <a:spLocks noChangeArrowheads="1"/>
              </p:cNvSpPr>
              <p:nvPr/>
            </p:nvSpPr>
            <p:spPr bwMode="auto">
              <a:xfrm>
                <a:off x="3824" y="2058"/>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22" name="Text Box 19"/>
              <p:cNvSpPr txBox="1">
                <a:spLocks noChangeArrowheads="1"/>
              </p:cNvSpPr>
              <p:nvPr/>
            </p:nvSpPr>
            <p:spPr bwMode="auto">
              <a:xfrm>
                <a:off x="3244" y="2685"/>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grpSp>
      </p:grpSp>
      <p:pic>
        <p:nvPicPr>
          <p:cNvPr id="23" name="Picture 28" descr="015">
            <a:extLst>
              <a:ext uri="{FF2B5EF4-FFF2-40B4-BE49-F238E27FC236}">
                <a16:creationId xmlns:a16="http://schemas.microsoft.com/office/drawing/2014/main" id="{4CBA8EFC-1112-489B-A47B-5C0E2DBA74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1436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8" y="365126"/>
            <a:ext cx="8502414" cy="879086"/>
          </a:xfrm>
        </p:spPr>
        <p:txBody>
          <a:bodyPr>
            <a:normAutofit fontScale="90000"/>
          </a:bodyPr>
          <a:lstStyle/>
          <a:p>
            <a:r>
              <a:rPr kumimoji="1" lang="zh-CN" altLang="en-US" dirty="0"/>
              <a:t>交换网络：</a:t>
            </a:r>
            <a:r>
              <a:rPr lang="zh-CN" altLang="en-US" dirty="0"/>
              <a:t>电路交换（</a:t>
            </a:r>
            <a:r>
              <a:rPr lang="en-US" altLang="zh-CN" dirty="0"/>
              <a:t>Circuit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4517040" y="1418897"/>
            <a:ext cx="6932838" cy="4937453"/>
          </a:xfrm>
        </p:spPr>
        <p:txBody>
          <a:bodyPr anchor="t" anchorCtr="0">
            <a:normAutofit/>
          </a:bodyPr>
          <a:lstStyle/>
          <a:p>
            <a:r>
              <a:rPr lang="zh-CN" altLang="en-US" dirty="0">
                <a:latin typeface="Arial" panose="020B0604020202020204" pitchFamily="34" charset="0"/>
              </a:rPr>
              <a:t>“</a:t>
            </a:r>
            <a:r>
              <a:rPr lang="zh-CN" altLang="en-US" dirty="0"/>
              <a:t>交换</a:t>
            </a:r>
            <a:r>
              <a:rPr lang="zh-CN" altLang="en-US" dirty="0">
                <a:latin typeface="Arial" panose="020B0604020202020204" pitchFamily="34" charset="0"/>
              </a:rPr>
              <a:t>”</a:t>
            </a:r>
            <a:r>
              <a:rPr lang="en-US" altLang="zh-CN" dirty="0"/>
              <a:t>(switching)</a:t>
            </a:r>
            <a:r>
              <a:rPr lang="zh-CN" altLang="en-US" dirty="0"/>
              <a:t>的含义</a:t>
            </a:r>
          </a:p>
          <a:p>
            <a:pPr lvl="1"/>
            <a:r>
              <a:rPr lang="zh-CN" altLang="en-US" dirty="0"/>
              <a:t>转接</a:t>
            </a:r>
            <a:r>
              <a:rPr lang="en-US" altLang="zh-CN" dirty="0">
                <a:latin typeface="Arial" panose="020B0604020202020204" pitchFamily="34" charset="0"/>
              </a:rPr>
              <a:t>——</a:t>
            </a:r>
            <a:r>
              <a:rPr lang="zh-CN" altLang="en-US" dirty="0"/>
              <a:t>把一条电话线转接到另一条电话线，使它们连通起来。</a:t>
            </a:r>
          </a:p>
          <a:p>
            <a:pPr lvl="1"/>
            <a:r>
              <a:rPr lang="zh-CN" altLang="en-US" dirty="0"/>
              <a:t>从通信资源的分配角度来看，“交换”就是按照某种方式动态地分配传输线路的资源。</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grpSp>
        <p:nvGrpSpPr>
          <p:cNvPr id="23" name="Group 3"/>
          <p:cNvGrpSpPr>
            <a:grpSpLocks/>
          </p:cNvGrpSpPr>
          <p:nvPr/>
        </p:nvGrpSpPr>
        <p:grpSpPr bwMode="auto">
          <a:xfrm>
            <a:off x="407504" y="2199721"/>
            <a:ext cx="4040188" cy="3336925"/>
            <a:chOff x="1429" y="1944"/>
            <a:chExt cx="2940" cy="1880"/>
          </a:xfrm>
        </p:grpSpPr>
        <p:sp>
          <p:nvSpPr>
            <p:cNvPr id="24" name="Text Box 4"/>
            <p:cNvSpPr txBox="1">
              <a:spLocks noChangeArrowheads="1"/>
            </p:cNvSpPr>
            <p:nvPr/>
          </p:nvSpPr>
          <p:spPr bwMode="auto">
            <a:xfrm rot="1458061">
              <a:off x="3297" y="2034"/>
              <a:ext cx="578"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4800" b="1">
                  <a:solidFill>
                    <a:srgbClr val="333399"/>
                  </a:solidFill>
                  <a:latin typeface="Times New Roman" panose="02020603050405020304" pitchFamily="18" charset="0"/>
                </a:rPr>
                <a:t>…</a:t>
              </a:r>
            </a:p>
          </p:txBody>
        </p:sp>
        <p:sp>
          <p:nvSpPr>
            <p:cNvPr id="25" name="Line 5"/>
            <p:cNvSpPr>
              <a:spLocks noChangeShapeType="1"/>
            </p:cNvSpPr>
            <p:nvPr/>
          </p:nvSpPr>
          <p:spPr bwMode="auto">
            <a:xfrm flipH="1" flipV="1">
              <a:off x="3016" y="3067"/>
              <a:ext cx="797" cy="31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6"/>
            <p:cNvSpPr>
              <a:spLocks noChangeShapeType="1"/>
            </p:cNvSpPr>
            <p:nvPr/>
          </p:nvSpPr>
          <p:spPr bwMode="auto">
            <a:xfrm flipV="1">
              <a:off x="2789" y="3067"/>
              <a:ext cx="46" cy="63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7"/>
            <p:cNvSpPr>
              <a:spLocks noChangeShapeType="1"/>
            </p:cNvSpPr>
            <p:nvPr/>
          </p:nvSpPr>
          <p:spPr bwMode="auto">
            <a:xfrm flipV="1">
              <a:off x="1701" y="3067"/>
              <a:ext cx="998" cy="1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8"/>
            <p:cNvSpPr>
              <a:spLocks noChangeShapeType="1"/>
            </p:cNvSpPr>
            <p:nvPr/>
          </p:nvSpPr>
          <p:spPr bwMode="auto">
            <a:xfrm>
              <a:off x="2245" y="2251"/>
              <a:ext cx="388" cy="5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Text Box 9"/>
            <p:cNvSpPr txBox="1">
              <a:spLocks noChangeArrowheads="1"/>
            </p:cNvSpPr>
            <p:nvPr/>
          </p:nvSpPr>
          <p:spPr bwMode="auto">
            <a:xfrm>
              <a:off x="2675" y="1944"/>
              <a:ext cx="57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30" name="Text Box 10"/>
            <p:cNvSpPr txBox="1">
              <a:spLocks noChangeArrowheads="1"/>
            </p:cNvSpPr>
            <p:nvPr/>
          </p:nvSpPr>
          <p:spPr bwMode="auto">
            <a:xfrm>
              <a:off x="1499" y="2387"/>
              <a:ext cx="501"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31" name="Text Box 11"/>
            <p:cNvSpPr txBox="1">
              <a:spLocks noChangeArrowheads="1"/>
            </p:cNvSpPr>
            <p:nvPr/>
          </p:nvSpPr>
          <p:spPr bwMode="auto">
            <a:xfrm>
              <a:off x="1918" y="3384"/>
              <a:ext cx="577"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32" name="Text Box 12"/>
            <p:cNvSpPr txBox="1">
              <a:spLocks noChangeArrowheads="1"/>
            </p:cNvSpPr>
            <p:nvPr/>
          </p:nvSpPr>
          <p:spPr bwMode="auto">
            <a:xfrm>
              <a:off x="3791" y="2563"/>
              <a:ext cx="57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33" name="Text Box 13"/>
            <p:cNvSpPr txBox="1">
              <a:spLocks noChangeArrowheads="1"/>
            </p:cNvSpPr>
            <p:nvPr/>
          </p:nvSpPr>
          <p:spPr bwMode="auto">
            <a:xfrm>
              <a:off x="3154" y="3344"/>
              <a:ext cx="577"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34" name="Line 14"/>
            <p:cNvSpPr>
              <a:spLocks noChangeShapeType="1"/>
            </p:cNvSpPr>
            <p:nvPr/>
          </p:nvSpPr>
          <p:spPr bwMode="auto">
            <a:xfrm flipH="1" flipV="1">
              <a:off x="2880" y="2160"/>
              <a:ext cx="8" cy="7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5"/>
            <p:cNvSpPr>
              <a:spLocks noChangeShapeType="1"/>
            </p:cNvSpPr>
            <p:nvPr/>
          </p:nvSpPr>
          <p:spPr bwMode="auto">
            <a:xfrm flipV="1">
              <a:off x="3107" y="2795"/>
              <a:ext cx="898" cy="1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6"/>
            <p:cNvSpPr>
              <a:spLocks noChangeShapeType="1"/>
            </p:cNvSpPr>
            <p:nvPr/>
          </p:nvSpPr>
          <p:spPr bwMode="auto">
            <a:xfrm>
              <a:off x="1746" y="2659"/>
              <a:ext cx="924" cy="2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7"/>
            <p:cNvSpPr>
              <a:spLocks noChangeShapeType="1"/>
            </p:cNvSpPr>
            <p:nvPr/>
          </p:nvSpPr>
          <p:spPr bwMode="auto">
            <a:xfrm flipV="1">
              <a:off x="2154" y="3113"/>
              <a:ext cx="590" cy="5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18"/>
            <p:cNvSpPr>
              <a:spLocks noChangeShapeType="1"/>
            </p:cNvSpPr>
            <p:nvPr/>
          </p:nvSpPr>
          <p:spPr bwMode="auto">
            <a:xfrm flipH="1" flipV="1">
              <a:off x="2835" y="2976"/>
              <a:ext cx="536" cy="58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Text Box 19"/>
            <p:cNvSpPr txBox="1">
              <a:spLocks noChangeArrowheads="1"/>
            </p:cNvSpPr>
            <p:nvPr/>
          </p:nvSpPr>
          <p:spPr bwMode="auto">
            <a:xfrm>
              <a:off x="1429" y="2966"/>
              <a:ext cx="578" cy="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40" name="Text Box 20"/>
            <p:cNvSpPr txBox="1">
              <a:spLocks noChangeArrowheads="1"/>
            </p:cNvSpPr>
            <p:nvPr/>
          </p:nvSpPr>
          <p:spPr bwMode="auto">
            <a:xfrm>
              <a:off x="2047" y="2033"/>
              <a:ext cx="578" cy="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41" name="Text Box 21"/>
            <p:cNvSpPr txBox="1">
              <a:spLocks noChangeArrowheads="1"/>
            </p:cNvSpPr>
            <p:nvPr/>
          </p:nvSpPr>
          <p:spPr bwMode="auto">
            <a:xfrm>
              <a:off x="2556" y="3463"/>
              <a:ext cx="57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42" name="Text Box 22"/>
            <p:cNvSpPr txBox="1">
              <a:spLocks noChangeArrowheads="1"/>
            </p:cNvSpPr>
            <p:nvPr/>
          </p:nvSpPr>
          <p:spPr bwMode="auto">
            <a:xfrm>
              <a:off x="3581" y="3133"/>
              <a:ext cx="577"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3600">
                  <a:solidFill>
                    <a:schemeClr val="tx1"/>
                  </a:solidFill>
                  <a:latin typeface="Times New Roman" panose="02020603050405020304" pitchFamily="18" charset="0"/>
                  <a:sym typeface="Wingdings" panose="05000000000000000000" pitchFamily="2" charset="2"/>
                </a:rPr>
                <a:t></a:t>
              </a:r>
              <a:r>
                <a:rPr kumimoji="1" lang="zh-CN" altLang="en-US" sz="3600">
                  <a:solidFill>
                    <a:schemeClr val="tx1"/>
                  </a:solidFill>
                  <a:latin typeface="Times New Roman" panose="02020603050405020304" pitchFamily="18" charset="0"/>
                </a:rPr>
                <a:t> </a:t>
              </a:r>
            </a:p>
          </p:txBody>
        </p:sp>
        <p:sp>
          <p:nvSpPr>
            <p:cNvPr id="43" name="AutoShape 23"/>
            <p:cNvSpPr>
              <a:spLocks noChangeArrowheads="1"/>
            </p:cNvSpPr>
            <p:nvPr/>
          </p:nvSpPr>
          <p:spPr bwMode="auto">
            <a:xfrm>
              <a:off x="2541" y="2704"/>
              <a:ext cx="747" cy="460"/>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endParaRPr kumimoji="1" lang="zh-CN" altLang="en-US" sz="2400">
                <a:solidFill>
                  <a:srgbClr val="333399"/>
                </a:solidFill>
                <a:latin typeface="Times New Roman" panose="02020603050405020304" pitchFamily="18" charset="0"/>
              </a:endParaRPr>
            </a:p>
          </p:txBody>
        </p:sp>
        <p:sp>
          <p:nvSpPr>
            <p:cNvPr id="44" name="Text Box 24"/>
            <p:cNvSpPr txBox="1">
              <a:spLocks noChangeArrowheads="1"/>
            </p:cNvSpPr>
            <p:nvPr/>
          </p:nvSpPr>
          <p:spPr bwMode="auto">
            <a:xfrm>
              <a:off x="2532" y="2826"/>
              <a:ext cx="799" cy="257"/>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400" dirty="0">
                  <a:solidFill>
                    <a:srgbClr val="333399"/>
                  </a:solidFill>
                  <a:latin typeface="Times New Roman" panose="02020603050405020304" pitchFamily="18" charset="0"/>
                  <a:ea typeface="黑体" panose="02010609060101010101" pitchFamily="49" charset="-122"/>
                </a:rPr>
                <a:t>交换机</a:t>
              </a:r>
            </a:p>
          </p:txBody>
        </p:sp>
      </p:grpSp>
      <p:pic>
        <p:nvPicPr>
          <p:cNvPr id="45" name="Picture 28" descr="015">
            <a:extLst>
              <a:ext uri="{FF2B5EF4-FFF2-40B4-BE49-F238E27FC236}">
                <a16:creationId xmlns:a16="http://schemas.microsoft.com/office/drawing/2014/main" id="{2C6C5598-4E3E-471E-87C4-92B9CF8848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1053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8" y="365126"/>
            <a:ext cx="8502414" cy="879086"/>
          </a:xfrm>
        </p:spPr>
        <p:txBody>
          <a:bodyPr>
            <a:normAutofit fontScale="90000"/>
          </a:bodyPr>
          <a:lstStyle/>
          <a:p>
            <a:r>
              <a:rPr kumimoji="1" lang="zh-CN" altLang="en-US" dirty="0"/>
              <a:t>交换网络：</a:t>
            </a:r>
            <a:r>
              <a:rPr lang="zh-CN" altLang="en-US" dirty="0"/>
              <a:t>电路交换（</a:t>
            </a:r>
            <a:r>
              <a:rPr lang="en-US" altLang="zh-CN" dirty="0"/>
              <a:t>Circuit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10694504" cy="4937453"/>
          </a:xfrm>
        </p:spPr>
        <p:txBody>
          <a:bodyPr anchor="t" anchorCtr="0">
            <a:normAutofit/>
          </a:bodyPr>
          <a:lstStyle/>
          <a:p>
            <a:r>
              <a:rPr lang="zh-CN" altLang="en-US" sz="2400" dirty="0">
                <a:latin typeface="仿宋_GB2312" pitchFamily="49" charset="-122"/>
                <a:ea typeface="仿宋_GB2312" pitchFamily="49" charset="-122"/>
              </a:rPr>
              <a:t>交换设备在通信双方找出一条实际的物理线路的过程。</a:t>
            </a:r>
          </a:p>
          <a:p>
            <a:r>
              <a:rPr lang="zh-CN" altLang="en-US" sz="2400" dirty="0">
                <a:latin typeface="仿宋_GB2312" pitchFamily="49" charset="-122"/>
                <a:ea typeface="仿宋_GB2312" pitchFamily="49" charset="-122"/>
              </a:rPr>
              <a:t>最早的电路交换连接是由电话接线员通过插塞建立的，现在则由计算机化的程控交换机实现。</a:t>
            </a:r>
          </a:p>
          <a:p>
            <a:r>
              <a:rPr lang="zh-CN" altLang="en-US" sz="2400" dirty="0">
                <a:latin typeface="仿宋_GB2312" pitchFamily="49" charset="-122"/>
                <a:ea typeface="仿宋_GB2312" pitchFamily="49" charset="-122"/>
              </a:rPr>
              <a:t>特点：数据传输前需要建立一条端到端的通路。</a:t>
            </a:r>
          </a:p>
          <a:p>
            <a:r>
              <a:rPr lang="zh-CN" altLang="en-US" sz="2400" dirty="0">
                <a:latin typeface="仿宋_GB2312" pitchFamily="49" charset="-122"/>
                <a:ea typeface="仿宋_GB2312" pitchFamily="49" charset="-122"/>
              </a:rPr>
              <a:t>过程：</a:t>
            </a:r>
            <a:r>
              <a:rPr lang="zh-CN" altLang="en-US" sz="2400" b="1" dirty="0">
                <a:solidFill>
                  <a:srgbClr val="C00000"/>
                </a:solidFill>
                <a:latin typeface="仿宋_GB2312" pitchFamily="49" charset="-122"/>
                <a:ea typeface="仿宋_GB2312" pitchFamily="49" charset="-122"/>
              </a:rPr>
              <a:t>呼叫</a:t>
            </a:r>
            <a:r>
              <a:rPr lang="en-US" altLang="zh-CN" sz="2400" b="1" dirty="0">
                <a:solidFill>
                  <a:srgbClr val="C00000"/>
                </a:solidFill>
                <a:latin typeface="仿宋_GB2312" pitchFamily="49" charset="-122"/>
                <a:ea typeface="仿宋_GB2312" pitchFamily="49" charset="-122"/>
              </a:rPr>
              <a:t>——</a:t>
            </a:r>
            <a:r>
              <a:rPr lang="zh-CN" altLang="en-US" sz="2400" b="1" dirty="0">
                <a:solidFill>
                  <a:srgbClr val="C00000"/>
                </a:solidFill>
                <a:latin typeface="仿宋_GB2312" pitchFamily="49" charset="-122"/>
                <a:ea typeface="仿宋_GB2312" pitchFamily="49" charset="-122"/>
              </a:rPr>
              <a:t>建立连接</a:t>
            </a:r>
            <a:r>
              <a:rPr lang="en-US" altLang="zh-CN" sz="2400" b="1" dirty="0">
                <a:solidFill>
                  <a:srgbClr val="C00000"/>
                </a:solidFill>
                <a:latin typeface="仿宋_GB2312" pitchFamily="49" charset="-122"/>
                <a:ea typeface="仿宋_GB2312" pitchFamily="49" charset="-122"/>
              </a:rPr>
              <a:t>——</a:t>
            </a:r>
            <a:r>
              <a:rPr lang="zh-CN" altLang="en-US" sz="2400" b="1" dirty="0">
                <a:solidFill>
                  <a:srgbClr val="C00000"/>
                </a:solidFill>
                <a:latin typeface="仿宋_GB2312" pitchFamily="49" charset="-122"/>
                <a:ea typeface="仿宋_GB2312" pitchFamily="49" charset="-122"/>
              </a:rPr>
              <a:t>传输</a:t>
            </a:r>
            <a:r>
              <a:rPr lang="en-US" altLang="zh-CN" sz="2400" b="1" dirty="0">
                <a:solidFill>
                  <a:srgbClr val="C00000"/>
                </a:solidFill>
                <a:latin typeface="仿宋_GB2312" pitchFamily="49" charset="-122"/>
                <a:ea typeface="仿宋_GB2312" pitchFamily="49" charset="-122"/>
              </a:rPr>
              <a:t>——</a:t>
            </a:r>
            <a:r>
              <a:rPr lang="zh-CN" altLang="en-US" sz="2400" b="1" dirty="0">
                <a:solidFill>
                  <a:srgbClr val="C00000"/>
                </a:solidFill>
                <a:latin typeface="仿宋_GB2312" pitchFamily="49" charset="-122"/>
                <a:ea typeface="仿宋_GB2312" pitchFamily="49" charset="-122"/>
              </a:rPr>
              <a:t>挂断。</a:t>
            </a:r>
            <a:endParaRPr lang="en-US" altLang="zh-CN" sz="2000" dirty="0">
              <a:latin typeface="仿宋_GB2312" pitchFamily="49" charset="-122"/>
              <a:ea typeface="仿宋_GB2312" pitchFamily="49" charset="-122"/>
            </a:endParaRPr>
          </a:p>
          <a:p>
            <a:pPr>
              <a:spcBef>
                <a:spcPct val="35000"/>
              </a:spcBef>
              <a:spcAft>
                <a:spcPct val="15000"/>
              </a:spcAft>
            </a:pPr>
            <a:r>
              <a:rPr lang="zh-CN" altLang="en-US" sz="2400" dirty="0">
                <a:latin typeface="仿宋_GB2312" pitchFamily="49" charset="-122"/>
                <a:ea typeface="仿宋_GB2312" pitchFamily="49" charset="-122"/>
              </a:rPr>
              <a:t>优缺点：</a:t>
            </a:r>
            <a:endParaRPr lang="zh-CN" altLang="en-US" sz="2400" dirty="0"/>
          </a:p>
          <a:p>
            <a:pPr lvl="1"/>
            <a:r>
              <a:rPr lang="zh-CN" altLang="en-US" sz="2000" dirty="0">
                <a:solidFill>
                  <a:srgbClr val="0000FF"/>
                </a:solidFill>
                <a:latin typeface="Arial" charset="0"/>
                <a:ea typeface="黑体" pitchFamily="49" charset="-122"/>
              </a:rPr>
              <a:t>建立连接的时间长；</a:t>
            </a:r>
          </a:p>
          <a:p>
            <a:pPr lvl="1"/>
            <a:r>
              <a:rPr lang="zh-CN" altLang="en-US" sz="2000" dirty="0">
                <a:solidFill>
                  <a:srgbClr val="0000FF"/>
                </a:solidFill>
                <a:latin typeface="Arial" charset="0"/>
                <a:ea typeface="黑体" pitchFamily="49" charset="-122"/>
              </a:rPr>
              <a:t>一旦建立连接就独占线路，线路利用率低；</a:t>
            </a:r>
          </a:p>
          <a:p>
            <a:pPr lvl="1"/>
            <a:r>
              <a:rPr lang="zh-CN" altLang="en-US" sz="2000" dirty="0">
                <a:solidFill>
                  <a:srgbClr val="0000FF"/>
                </a:solidFill>
                <a:latin typeface="Arial" charset="0"/>
                <a:ea typeface="黑体" pitchFamily="49" charset="-122"/>
              </a:rPr>
              <a:t>无纠错机制；</a:t>
            </a:r>
          </a:p>
          <a:p>
            <a:pPr lvl="1"/>
            <a:r>
              <a:rPr lang="zh-CN" altLang="en-US" sz="2000" dirty="0">
                <a:solidFill>
                  <a:srgbClr val="0000FF"/>
                </a:solidFill>
                <a:latin typeface="Arial" charset="0"/>
                <a:ea typeface="黑体" pitchFamily="49" charset="-122"/>
              </a:rPr>
              <a:t>建立连接后，传输延迟小。</a:t>
            </a:r>
            <a:endParaRPr lang="en-US" altLang="zh-CN" sz="2000" dirty="0">
              <a:solidFill>
                <a:srgbClr val="0000FF"/>
              </a:solidFill>
              <a:latin typeface="Arial" charset="0"/>
              <a:ea typeface="黑体" pitchFamily="49" charset="-122"/>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pic>
        <p:nvPicPr>
          <p:cNvPr id="6" name="Picture 28" descr="015">
            <a:extLst>
              <a:ext uri="{FF2B5EF4-FFF2-40B4-BE49-F238E27FC236}">
                <a16:creationId xmlns:a16="http://schemas.microsoft.com/office/drawing/2014/main" id="{FC02D800-60D1-49FD-90D1-A6D7AA436F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1241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8" y="365126"/>
            <a:ext cx="8502414" cy="879086"/>
          </a:xfrm>
        </p:spPr>
        <p:txBody>
          <a:bodyPr>
            <a:normAutofit fontScale="90000"/>
          </a:bodyPr>
          <a:lstStyle/>
          <a:p>
            <a:r>
              <a:rPr kumimoji="1" lang="zh-CN" altLang="en-US" dirty="0"/>
              <a:t>交换网络：</a:t>
            </a:r>
            <a:r>
              <a:rPr lang="zh-CN" altLang="en-US" dirty="0"/>
              <a:t>电路交换（</a:t>
            </a:r>
            <a:r>
              <a:rPr lang="en-US" altLang="zh-CN" dirty="0"/>
              <a:t>Circuit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10694504" cy="4937453"/>
          </a:xfrm>
        </p:spPr>
        <p:txBody>
          <a:bodyPr anchor="t" anchorCtr="0">
            <a:normAutofit/>
          </a:bodyPr>
          <a:lstStyle/>
          <a:p>
            <a:r>
              <a:rPr lang="zh-CN" altLang="en-US" sz="2400" dirty="0">
                <a:latin typeface="仿宋_GB2312" pitchFamily="49" charset="-122"/>
                <a:ea typeface="仿宋_GB2312" pitchFamily="49" charset="-122"/>
              </a:rPr>
              <a:t>交换设备在通信双方找出一条实际的物理线路的过程。</a:t>
            </a:r>
          </a:p>
          <a:p>
            <a:r>
              <a:rPr lang="zh-CN" altLang="en-US" sz="2400" dirty="0">
                <a:latin typeface="仿宋_GB2312" pitchFamily="49" charset="-122"/>
                <a:ea typeface="仿宋_GB2312" pitchFamily="49" charset="-122"/>
              </a:rPr>
              <a:t>最早的电路交换连接是由电话接线员通过插塞建立的，现在则由计算机化的程控交换机实现。</a:t>
            </a:r>
          </a:p>
          <a:p>
            <a:r>
              <a:rPr lang="zh-CN" altLang="en-US" sz="2400" dirty="0">
                <a:latin typeface="仿宋_GB2312" pitchFamily="49" charset="-122"/>
                <a:ea typeface="仿宋_GB2312" pitchFamily="49" charset="-122"/>
              </a:rPr>
              <a:t>特点：数据传输前需要建立一条端到端的通路。</a:t>
            </a:r>
          </a:p>
          <a:p>
            <a:r>
              <a:rPr lang="zh-CN" altLang="en-US" sz="2400" dirty="0">
                <a:latin typeface="仿宋_GB2312" pitchFamily="49" charset="-122"/>
                <a:ea typeface="仿宋_GB2312" pitchFamily="49" charset="-122"/>
              </a:rPr>
              <a:t>过程：</a:t>
            </a:r>
            <a:r>
              <a:rPr lang="zh-CN" altLang="en-US" sz="2400" b="1" dirty="0">
                <a:solidFill>
                  <a:srgbClr val="C00000"/>
                </a:solidFill>
                <a:latin typeface="仿宋_GB2312" pitchFamily="49" charset="-122"/>
                <a:ea typeface="仿宋_GB2312" pitchFamily="49" charset="-122"/>
              </a:rPr>
              <a:t>呼叫</a:t>
            </a:r>
            <a:r>
              <a:rPr lang="en-US" altLang="zh-CN" sz="2400" b="1" dirty="0">
                <a:solidFill>
                  <a:srgbClr val="C00000"/>
                </a:solidFill>
                <a:latin typeface="仿宋_GB2312" pitchFamily="49" charset="-122"/>
                <a:ea typeface="仿宋_GB2312" pitchFamily="49" charset="-122"/>
              </a:rPr>
              <a:t>——</a:t>
            </a:r>
            <a:r>
              <a:rPr lang="zh-CN" altLang="en-US" sz="2400" b="1" dirty="0">
                <a:solidFill>
                  <a:srgbClr val="C00000"/>
                </a:solidFill>
                <a:latin typeface="仿宋_GB2312" pitchFamily="49" charset="-122"/>
                <a:ea typeface="仿宋_GB2312" pitchFamily="49" charset="-122"/>
              </a:rPr>
              <a:t>建立连接</a:t>
            </a:r>
            <a:r>
              <a:rPr lang="en-US" altLang="zh-CN" sz="2400" b="1" dirty="0">
                <a:solidFill>
                  <a:srgbClr val="C00000"/>
                </a:solidFill>
                <a:latin typeface="仿宋_GB2312" pitchFamily="49" charset="-122"/>
                <a:ea typeface="仿宋_GB2312" pitchFamily="49" charset="-122"/>
              </a:rPr>
              <a:t>——</a:t>
            </a:r>
            <a:r>
              <a:rPr lang="zh-CN" altLang="en-US" sz="2400" b="1" dirty="0">
                <a:solidFill>
                  <a:srgbClr val="C00000"/>
                </a:solidFill>
                <a:latin typeface="仿宋_GB2312" pitchFamily="49" charset="-122"/>
                <a:ea typeface="仿宋_GB2312" pitchFamily="49" charset="-122"/>
              </a:rPr>
              <a:t>传输</a:t>
            </a:r>
            <a:r>
              <a:rPr lang="en-US" altLang="zh-CN" sz="2400" b="1" dirty="0">
                <a:solidFill>
                  <a:srgbClr val="C00000"/>
                </a:solidFill>
                <a:latin typeface="仿宋_GB2312" pitchFamily="49" charset="-122"/>
                <a:ea typeface="仿宋_GB2312" pitchFamily="49" charset="-122"/>
              </a:rPr>
              <a:t>——</a:t>
            </a:r>
            <a:r>
              <a:rPr lang="zh-CN" altLang="en-US" sz="2400" b="1" dirty="0">
                <a:solidFill>
                  <a:srgbClr val="C00000"/>
                </a:solidFill>
                <a:latin typeface="仿宋_GB2312" pitchFamily="49" charset="-122"/>
                <a:ea typeface="仿宋_GB2312" pitchFamily="49" charset="-122"/>
              </a:rPr>
              <a:t>挂断。</a:t>
            </a:r>
            <a:endParaRPr lang="en-US" altLang="zh-CN" sz="2000" dirty="0">
              <a:latin typeface="仿宋_GB2312" pitchFamily="49" charset="-122"/>
              <a:ea typeface="仿宋_GB2312" pitchFamily="49" charset="-122"/>
            </a:endParaRPr>
          </a:p>
          <a:p>
            <a:pPr>
              <a:spcBef>
                <a:spcPct val="35000"/>
              </a:spcBef>
              <a:spcAft>
                <a:spcPct val="15000"/>
              </a:spcAft>
            </a:pPr>
            <a:r>
              <a:rPr lang="zh-CN" altLang="en-US" sz="2400" dirty="0">
                <a:latin typeface="仿宋_GB2312" pitchFamily="49" charset="-122"/>
                <a:ea typeface="仿宋_GB2312" pitchFamily="49" charset="-122"/>
              </a:rPr>
              <a:t>优缺点：</a:t>
            </a:r>
            <a:endParaRPr lang="zh-CN" altLang="en-US" sz="2400" dirty="0"/>
          </a:p>
          <a:p>
            <a:pPr lvl="1"/>
            <a:r>
              <a:rPr lang="zh-CN" altLang="en-US" sz="2000" dirty="0">
                <a:solidFill>
                  <a:srgbClr val="0000FF"/>
                </a:solidFill>
                <a:latin typeface="Arial" charset="0"/>
                <a:ea typeface="黑体" pitchFamily="49" charset="-122"/>
              </a:rPr>
              <a:t>建立连接的时间长；</a:t>
            </a:r>
          </a:p>
          <a:p>
            <a:pPr lvl="1"/>
            <a:r>
              <a:rPr lang="zh-CN" altLang="en-US" sz="2000" dirty="0">
                <a:solidFill>
                  <a:srgbClr val="0000FF"/>
                </a:solidFill>
                <a:latin typeface="Arial" charset="0"/>
                <a:ea typeface="黑体" pitchFamily="49" charset="-122"/>
              </a:rPr>
              <a:t>一旦建立连接就独占线路，线路利用率低；</a:t>
            </a:r>
          </a:p>
          <a:p>
            <a:pPr lvl="1"/>
            <a:r>
              <a:rPr lang="zh-CN" altLang="en-US" sz="2000" dirty="0">
                <a:solidFill>
                  <a:srgbClr val="0000FF"/>
                </a:solidFill>
                <a:latin typeface="Arial" charset="0"/>
                <a:ea typeface="黑体" pitchFamily="49" charset="-122"/>
              </a:rPr>
              <a:t>无纠错机制；</a:t>
            </a:r>
          </a:p>
          <a:p>
            <a:pPr lvl="1"/>
            <a:r>
              <a:rPr lang="zh-CN" altLang="en-US" sz="2000" dirty="0">
                <a:solidFill>
                  <a:srgbClr val="0000FF"/>
                </a:solidFill>
                <a:latin typeface="Arial" charset="0"/>
                <a:ea typeface="黑体" pitchFamily="49" charset="-122"/>
              </a:rPr>
              <a:t>建立连接后，传输延迟小。</a:t>
            </a:r>
            <a:endParaRPr lang="en-US" altLang="zh-CN" sz="2000" dirty="0">
              <a:solidFill>
                <a:srgbClr val="0000FF"/>
              </a:solidFill>
              <a:latin typeface="Arial" charset="0"/>
              <a:ea typeface="黑体" pitchFamily="49" charset="-122"/>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pic>
        <p:nvPicPr>
          <p:cNvPr id="6" name="Picture 28" descr="015">
            <a:extLst>
              <a:ext uri="{FF2B5EF4-FFF2-40B4-BE49-F238E27FC236}">
                <a16:creationId xmlns:a16="http://schemas.microsoft.com/office/drawing/2014/main" id="{546936E9-7C99-4D53-B063-43171A3E4E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9745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标题 202753"/>
          <p:cNvSpPr>
            <a:spLocks noGrp="1"/>
          </p:cNvSpPr>
          <p:nvPr>
            <p:ph type="title"/>
          </p:nvPr>
        </p:nvSpPr>
        <p:spPr>
          <a:xfrm>
            <a:off x="1307508" y="468339"/>
            <a:ext cx="8220812" cy="646666"/>
          </a:xfrm>
          <a:ln/>
        </p:spPr>
        <p:txBody>
          <a:bodyPr anchor="b"/>
          <a:lstStyle/>
          <a:p>
            <a:r>
              <a:rPr lang="zh-CN" altLang="en-US" dirty="0"/>
              <a:t>电路交换机原理</a:t>
            </a:r>
            <a:endParaRPr lang="en-US" altLang="zh-CN" dirty="0"/>
          </a:p>
        </p:txBody>
      </p:sp>
      <p:sp>
        <p:nvSpPr>
          <p:cNvPr id="7" name="Text Box 3"/>
          <p:cNvSpPr txBox="1">
            <a:spLocks noChangeArrowheads="1"/>
          </p:cNvSpPr>
          <p:nvPr/>
        </p:nvSpPr>
        <p:spPr bwMode="auto">
          <a:xfrm>
            <a:off x="4038600" y="1400335"/>
            <a:ext cx="518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a:solidFill>
                  <a:srgbClr val="0000FF"/>
                </a:solidFill>
                <a:ea typeface="仿宋_GB2312" pitchFamily="49" charset="-122"/>
              </a:rPr>
              <a:t>空分电路交换</a:t>
            </a:r>
            <a:r>
              <a:rPr lang="en-US" altLang="zh-CN" sz="1800">
                <a:solidFill>
                  <a:srgbClr val="0000FF"/>
                </a:solidFill>
                <a:ea typeface="仿宋_GB2312" pitchFamily="49" charset="-122"/>
              </a:rPr>
              <a:t>——</a:t>
            </a:r>
            <a:r>
              <a:rPr lang="zh-CN" altLang="en-US" sz="1800">
                <a:solidFill>
                  <a:srgbClr val="0000FF"/>
                </a:solidFill>
                <a:ea typeface="仿宋_GB2312" pitchFamily="49" charset="-122"/>
              </a:rPr>
              <a:t>每个用户一条传输信道</a:t>
            </a:r>
          </a:p>
        </p:txBody>
      </p:sp>
      <p:sp>
        <p:nvSpPr>
          <p:cNvPr id="8" name="Text Box 4"/>
          <p:cNvSpPr txBox="1">
            <a:spLocks noChangeArrowheads="1"/>
          </p:cNvSpPr>
          <p:nvPr/>
        </p:nvSpPr>
        <p:spPr bwMode="auto">
          <a:xfrm>
            <a:off x="4038600" y="2467134"/>
            <a:ext cx="571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dirty="0">
                <a:solidFill>
                  <a:srgbClr val="0000FF"/>
                </a:solidFill>
                <a:ea typeface="仿宋_GB2312" pitchFamily="49" charset="-122"/>
              </a:rPr>
              <a:t>时分电路交换</a:t>
            </a:r>
            <a:r>
              <a:rPr lang="en-US" altLang="zh-CN" sz="1800" dirty="0">
                <a:solidFill>
                  <a:srgbClr val="0000FF"/>
                </a:solidFill>
                <a:ea typeface="仿宋_GB2312" pitchFamily="49" charset="-122"/>
              </a:rPr>
              <a:t>——</a:t>
            </a:r>
            <a:r>
              <a:rPr lang="zh-CN" altLang="en-US" sz="1800" dirty="0">
                <a:solidFill>
                  <a:srgbClr val="0000FF"/>
                </a:solidFill>
                <a:ea typeface="仿宋_GB2312" pitchFamily="49" charset="-122"/>
              </a:rPr>
              <a:t>多个终端共接于一条公用通信线路， 　　　　　　　　划分时间片进行线路连接</a:t>
            </a:r>
          </a:p>
        </p:txBody>
      </p:sp>
      <p:grpSp>
        <p:nvGrpSpPr>
          <p:cNvPr id="9" name="Group 14"/>
          <p:cNvGrpSpPr>
            <a:grpSpLocks/>
          </p:cNvGrpSpPr>
          <p:nvPr/>
        </p:nvGrpSpPr>
        <p:grpSpPr bwMode="auto">
          <a:xfrm>
            <a:off x="3287688" y="4186645"/>
            <a:ext cx="2159000" cy="1371600"/>
            <a:chOff x="816" y="2112"/>
            <a:chExt cx="1632" cy="864"/>
          </a:xfrm>
        </p:grpSpPr>
        <p:sp>
          <p:nvSpPr>
            <p:cNvPr id="10" name="Line 5"/>
            <p:cNvSpPr>
              <a:spLocks noChangeShapeType="1"/>
            </p:cNvSpPr>
            <p:nvPr/>
          </p:nvSpPr>
          <p:spPr bwMode="auto">
            <a:xfrm flipV="1">
              <a:off x="816" y="2112"/>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1" name="Line 6"/>
            <p:cNvSpPr>
              <a:spLocks noChangeShapeType="1"/>
            </p:cNvSpPr>
            <p:nvPr/>
          </p:nvSpPr>
          <p:spPr bwMode="auto">
            <a:xfrm flipV="1">
              <a:off x="816" y="2400"/>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2" name="Line 7"/>
            <p:cNvSpPr>
              <a:spLocks noChangeShapeType="1"/>
            </p:cNvSpPr>
            <p:nvPr/>
          </p:nvSpPr>
          <p:spPr bwMode="auto">
            <a:xfrm flipV="1">
              <a:off x="816" y="2688"/>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 name="Line 8"/>
            <p:cNvSpPr>
              <a:spLocks noChangeShapeType="1"/>
            </p:cNvSpPr>
            <p:nvPr/>
          </p:nvSpPr>
          <p:spPr bwMode="auto">
            <a:xfrm flipV="1">
              <a:off x="816" y="2976"/>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14" name="Group 13"/>
          <p:cNvGrpSpPr>
            <a:grpSpLocks/>
          </p:cNvGrpSpPr>
          <p:nvPr/>
        </p:nvGrpSpPr>
        <p:grpSpPr bwMode="auto">
          <a:xfrm rot="5400000">
            <a:off x="3351188" y="4145370"/>
            <a:ext cx="2159000" cy="1371600"/>
            <a:chOff x="2880" y="2592"/>
            <a:chExt cx="1632" cy="864"/>
          </a:xfrm>
        </p:grpSpPr>
        <p:sp>
          <p:nvSpPr>
            <p:cNvPr id="15" name="Line 9"/>
            <p:cNvSpPr>
              <a:spLocks noChangeShapeType="1"/>
            </p:cNvSpPr>
            <p:nvPr/>
          </p:nvSpPr>
          <p:spPr bwMode="auto">
            <a:xfrm flipV="1">
              <a:off x="2880" y="2592"/>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6" name="Line 10"/>
            <p:cNvSpPr>
              <a:spLocks noChangeShapeType="1"/>
            </p:cNvSpPr>
            <p:nvPr/>
          </p:nvSpPr>
          <p:spPr bwMode="auto">
            <a:xfrm flipV="1">
              <a:off x="2880" y="2880"/>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7" name="Line 11"/>
            <p:cNvSpPr>
              <a:spLocks noChangeShapeType="1"/>
            </p:cNvSpPr>
            <p:nvPr/>
          </p:nvSpPr>
          <p:spPr bwMode="auto">
            <a:xfrm flipV="1">
              <a:off x="2880" y="3168"/>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8" name="Line 12"/>
            <p:cNvSpPr>
              <a:spLocks noChangeShapeType="1"/>
            </p:cNvSpPr>
            <p:nvPr/>
          </p:nvSpPr>
          <p:spPr bwMode="auto">
            <a:xfrm flipV="1">
              <a:off x="2880" y="3456"/>
              <a:ext cx="1632"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sp>
        <p:nvSpPr>
          <p:cNvPr id="19" name="Text Box 15"/>
          <p:cNvSpPr txBox="1">
            <a:spLocks noChangeArrowheads="1"/>
          </p:cNvSpPr>
          <p:nvPr/>
        </p:nvSpPr>
        <p:spPr bwMode="auto">
          <a:xfrm>
            <a:off x="3592488" y="3319871"/>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1</a:t>
            </a:r>
          </a:p>
        </p:txBody>
      </p:sp>
      <p:sp>
        <p:nvSpPr>
          <p:cNvPr id="20" name="Text Box 16"/>
          <p:cNvSpPr txBox="1">
            <a:spLocks noChangeArrowheads="1"/>
          </p:cNvSpPr>
          <p:nvPr/>
        </p:nvSpPr>
        <p:spPr bwMode="auto">
          <a:xfrm>
            <a:off x="4049688" y="3319871"/>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2</a:t>
            </a:r>
          </a:p>
        </p:txBody>
      </p:sp>
      <p:sp>
        <p:nvSpPr>
          <p:cNvPr id="21" name="Text Box 17"/>
          <p:cNvSpPr txBox="1">
            <a:spLocks noChangeArrowheads="1"/>
          </p:cNvSpPr>
          <p:nvPr/>
        </p:nvSpPr>
        <p:spPr bwMode="auto">
          <a:xfrm>
            <a:off x="4506888" y="3319871"/>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3</a:t>
            </a:r>
          </a:p>
        </p:txBody>
      </p:sp>
      <p:sp>
        <p:nvSpPr>
          <p:cNvPr id="22" name="Text Box 18"/>
          <p:cNvSpPr txBox="1">
            <a:spLocks noChangeArrowheads="1"/>
          </p:cNvSpPr>
          <p:nvPr/>
        </p:nvSpPr>
        <p:spPr bwMode="auto">
          <a:xfrm>
            <a:off x="4964088" y="3319871"/>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4</a:t>
            </a:r>
          </a:p>
        </p:txBody>
      </p:sp>
      <p:sp>
        <p:nvSpPr>
          <p:cNvPr id="23" name="Text Box 19"/>
          <p:cNvSpPr txBox="1">
            <a:spLocks noChangeArrowheads="1"/>
          </p:cNvSpPr>
          <p:nvPr/>
        </p:nvSpPr>
        <p:spPr bwMode="auto">
          <a:xfrm>
            <a:off x="5497488" y="400567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1’</a:t>
            </a:r>
          </a:p>
        </p:txBody>
      </p:sp>
      <p:sp>
        <p:nvSpPr>
          <p:cNvPr id="24" name="Text Box 20"/>
          <p:cNvSpPr txBox="1">
            <a:spLocks noChangeArrowheads="1"/>
          </p:cNvSpPr>
          <p:nvPr/>
        </p:nvSpPr>
        <p:spPr bwMode="auto">
          <a:xfrm>
            <a:off x="5497488" y="446287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2’</a:t>
            </a:r>
          </a:p>
        </p:txBody>
      </p:sp>
      <p:sp>
        <p:nvSpPr>
          <p:cNvPr id="25" name="Text Box 21"/>
          <p:cNvSpPr txBox="1">
            <a:spLocks noChangeArrowheads="1"/>
          </p:cNvSpPr>
          <p:nvPr/>
        </p:nvSpPr>
        <p:spPr bwMode="auto">
          <a:xfrm>
            <a:off x="5497488" y="492007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3’</a:t>
            </a:r>
          </a:p>
        </p:txBody>
      </p:sp>
      <p:sp>
        <p:nvSpPr>
          <p:cNvPr id="26" name="Text Box 22"/>
          <p:cNvSpPr txBox="1">
            <a:spLocks noChangeArrowheads="1"/>
          </p:cNvSpPr>
          <p:nvPr/>
        </p:nvSpPr>
        <p:spPr bwMode="auto">
          <a:xfrm>
            <a:off x="5497488" y="537727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a:solidFill>
                  <a:srgbClr val="C00000"/>
                </a:solidFill>
              </a:rPr>
              <a:t>4’</a:t>
            </a:r>
          </a:p>
        </p:txBody>
      </p:sp>
      <p:grpSp>
        <p:nvGrpSpPr>
          <p:cNvPr id="27" name="Group 28"/>
          <p:cNvGrpSpPr>
            <a:grpSpLocks/>
          </p:cNvGrpSpPr>
          <p:nvPr/>
        </p:nvGrpSpPr>
        <p:grpSpPr bwMode="auto">
          <a:xfrm>
            <a:off x="3440088" y="3865970"/>
            <a:ext cx="304800" cy="304800"/>
            <a:chOff x="3216" y="3504"/>
            <a:chExt cx="192" cy="192"/>
          </a:xfrm>
        </p:grpSpPr>
        <p:sp>
          <p:nvSpPr>
            <p:cNvPr id="28" name="Line 23"/>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29" name="Line 24"/>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30" name="Oval 25"/>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31" name="Oval 26"/>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32" name="Line 27"/>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33" name="Group 29"/>
          <p:cNvGrpSpPr>
            <a:grpSpLocks/>
          </p:cNvGrpSpPr>
          <p:nvPr/>
        </p:nvGrpSpPr>
        <p:grpSpPr bwMode="auto">
          <a:xfrm>
            <a:off x="3897288" y="3853270"/>
            <a:ext cx="304800" cy="304800"/>
            <a:chOff x="3216" y="3504"/>
            <a:chExt cx="192" cy="192"/>
          </a:xfrm>
        </p:grpSpPr>
        <p:sp>
          <p:nvSpPr>
            <p:cNvPr id="34" name="Line 30"/>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35" name="Line 31"/>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36" name="Oval 32"/>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37" name="Oval 33"/>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38" name="Line 34"/>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39" name="Group 35"/>
          <p:cNvGrpSpPr>
            <a:grpSpLocks/>
          </p:cNvGrpSpPr>
          <p:nvPr/>
        </p:nvGrpSpPr>
        <p:grpSpPr bwMode="auto">
          <a:xfrm>
            <a:off x="4354488" y="3853270"/>
            <a:ext cx="304800" cy="304800"/>
            <a:chOff x="3216" y="3504"/>
            <a:chExt cx="192" cy="192"/>
          </a:xfrm>
        </p:grpSpPr>
        <p:sp>
          <p:nvSpPr>
            <p:cNvPr id="40" name="Line 36"/>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41" name="Line 37"/>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42" name="Oval 38"/>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43" name="Oval 39"/>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44" name="Line 40"/>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45" name="Group 41"/>
          <p:cNvGrpSpPr>
            <a:grpSpLocks/>
          </p:cNvGrpSpPr>
          <p:nvPr/>
        </p:nvGrpSpPr>
        <p:grpSpPr bwMode="auto">
          <a:xfrm>
            <a:off x="4811688" y="3853270"/>
            <a:ext cx="304800" cy="304800"/>
            <a:chOff x="3216" y="3504"/>
            <a:chExt cx="192" cy="192"/>
          </a:xfrm>
        </p:grpSpPr>
        <p:sp>
          <p:nvSpPr>
            <p:cNvPr id="46" name="Line 42"/>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47" name="Line 43"/>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48" name="Oval 44"/>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49" name="Oval 45"/>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50" name="Line 46"/>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51" name="Group 47"/>
          <p:cNvGrpSpPr>
            <a:grpSpLocks/>
          </p:cNvGrpSpPr>
          <p:nvPr/>
        </p:nvGrpSpPr>
        <p:grpSpPr bwMode="auto">
          <a:xfrm>
            <a:off x="3440088" y="4323170"/>
            <a:ext cx="304800" cy="304800"/>
            <a:chOff x="3216" y="3504"/>
            <a:chExt cx="192" cy="192"/>
          </a:xfrm>
        </p:grpSpPr>
        <p:sp>
          <p:nvSpPr>
            <p:cNvPr id="52" name="Line 48"/>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53" name="Line 49"/>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54" name="Oval 50"/>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55" name="Oval 51"/>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56" name="Line 52"/>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57" name="Group 53"/>
          <p:cNvGrpSpPr>
            <a:grpSpLocks/>
          </p:cNvGrpSpPr>
          <p:nvPr/>
        </p:nvGrpSpPr>
        <p:grpSpPr bwMode="auto">
          <a:xfrm>
            <a:off x="3897288" y="4310470"/>
            <a:ext cx="304800" cy="304800"/>
            <a:chOff x="3216" y="3504"/>
            <a:chExt cx="192" cy="192"/>
          </a:xfrm>
        </p:grpSpPr>
        <p:sp>
          <p:nvSpPr>
            <p:cNvPr id="58" name="Line 54"/>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59" name="Line 55"/>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60" name="Oval 56"/>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61" name="Oval 57"/>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62" name="Line 58"/>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63" name="Group 59"/>
          <p:cNvGrpSpPr>
            <a:grpSpLocks/>
          </p:cNvGrpSpPr>
          <p:nvPr/>
        </p:nvGrpSpPr>
        <p:grpSpPr bwMode="auto">
          <a:xfrm>
            <a:off x="4354488" y="4310470"/>
            <a:ext cx="304800" cy="304800"/>
            <a:chOff x="3216" y="3504"/>
            <a:chExt cx="192" cy="192"/>
          </a:xfrm>
        </p:grpSpPr>
        <p:sp>
          <p:nvSpPr>
            <p:cNvPr id="64" name="Line 60"/>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65" name="Line 61"/>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66" name="Oval 62"/>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67" name="Oval 63"/>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68" name="Line 64"/>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69" name="Group 65"/>
          <p:cNvGrpSpPr>
            <a:grpSpLocks/>
          </p:cNvGrpSpPr>
          <p:nvPr/>
        </p:nvGrpSpPr>
        <p:grpSpPr bwMode="auto">
          <a:xfrm>
            <a:off x="4811688" y="4310470"/>
            <a:ext cx="304800" cy="304800"/>
            <a:chOff x="3216" y="3504"/>
            <a:chExt cx="192" cy="192"/>
          </a:xfrm>
        </p:grpSpPr>
        <p:sp>
          <p:nvSpPr>
            <p:cNvPr id="70" name="Line 66"/>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71" name="Line 67"/>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72" name="Oval 68"/>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73" name="Oval 69"/>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74" name="Line 70"/>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75" name="Group 71"/>
          <p:cNvGrpSpPr>
            <a:grpSpLocks/>
          </p:cNvGrpSpPr>
          <p:nvPr/>
        </p:nvGrpSpPr>
        <p:grpSpPr bwMode="auto">
          <a:xfrm>
            <a:off x="3440088" y="4767670"/>
            <a:ext cx="304800" cy="304800"/>
            <a:chOff x="3216" y="3504"/>
            <a:chExt cx="192" cy="192"/>
          </a:xfrm>
        </p:grpSpPr>
        <p:sp>
          <p:nvSpPr>
            <p:cNvPr id="76" name="Line 72"/>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77" name="Line 73"/>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78" name="Oval 74"/>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79" name="Oval 75"/>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80" name="Line 76"/>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81" name="Group 77"/>
          <p:cNvGrpSpPr>
            <a:grpSpLocks/>
          </p:cNvGrpSpPr>
          <p:nvPr/>
        </p:nvGrpSpPr>
        <p:grpSpPr bwMode="auto">
          <a:xfrm>
            <a:off x="3897288" y="4754970"/>
            <a:ext cx="304800" cy="304800"/>
            <a:chOff x="3216" y="3504"/>
            <a:chExt cx="192" cy="192"/>
          </a:xfrm>
        </p:grpSpPr>
        <p:sp>
          <p:nvSpPr>
            <p:cNvPr id="82" name="Line 78"/>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83" name="Line 79"/>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84" name="Oval 80"/>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85" name="Oval 81"/>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86" name="Line 82"/>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87" name="Group 83"/>
          <p:cNvGrpSpPr>
            <a:grpSpLocks/>
          </p:cNvGrpSpPr>
          <p:nvPr/>
        </p:nvGrpSpPr>
        <p:grpSpPr bwMode="auto">
          <a:xfrm>
            <a:off x="4354488" y="4754970"/>
            <a:ext cx="304800" cy="304800"/>
            <a:chOff x="3216" y="3504"/>
            <a:chExt cx="192" cy="192"/>
          </a:xfrm>
        </p:grpSpPr>
        <p:sp>
          <p:nvSpPr>
            <p:cNvPr id="88" name="Line 84"/>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89" name="Line 85"/>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90" name="Oval 86"/>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91" name="Oval 87"/>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92" name="Line 88"/>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93" name="Group 89"/>
          <p:cNvGrpSpPr>
            <a:grpSpLocks/>
          </p:cNvGrpSpPr>
          <p:nvPr/>
        </p:nvGrpSpPr>
        <p:grpSpPr bwMode="auto">
          <a:xfrm>
            <a:off x="4811688" y="4754970"/>
            <a:ext cx="304800" cy="304800"/>
            <a:chOff x="3216" y="3504"/>
            <a:chExt cx="192" cy="192"/>
          </a:xfrm>
        </p:grpSpPr>
        <p:sp>
          <p:nvSpPr>
            <p:cNvPr id="94" name="Line 90"/>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95" name="Line 91"/>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96" name="Oval 92"/>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97" name="Oval 93"/>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98" name="Line 94"/>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99" name="Group 95"/>
          <p:cNvGrpSpPr>
            <a:grpSpLocks/>
          </p:cNvGrpSpPr>
          <p:nvPr/>
        </p:nvGrpSpPr>
        <p:grpSpPr bwMode="auto">
          <a:xfrm>
            <a:off x="3440088" y="5237570"/>
            <a:ext cx="304800" cy="304800"/>
            <a:chOff x="3216" y="3504"/>
            <a:chExt cx="192" cy="192"/>
          </a:xfrm>
        </p:grpSpPr>
        <p:sp>
          <p:nvSpPr>
            <p:cNvPr id="100" name="Line 96"/>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01" name="Line 97"/>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02" name="Oval 98"/>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03" name="Oval 99"/>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04" name="Line 100"/>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105" name="Group 101"/>
          <p:cNvGrpSpPr>
            <a:grpSpLocks/>
          </p:cNvGrpSpPr>
          <p:nvPr/>
        </p:nvGrpSpPr>
        <p:grpSpPr bwMode="auto">
          <a:xfrm>
            <a:off x="3897288" y="5224870"/>
            <a:ext cx="304800" cy="304800"/>
            <a:chOff x="3216" y="3504"/>
            <a:chExt cx="192" cy="192"/>
          </a:xfrm>
        </p:grpSpPr>
        <p:sp>
          <p:nvSpPr>
            <p:cNvPr id="106" name="Line 102"/>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07" name="Line 103"/>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08" name="Oval 104"/>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09" name="Oval 105"/>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10" name="Line 106"/>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111" name="Group 107"/>
          <p:cNvGrpSpPr>
            <a:grpSpLocks/>
          </p:cNvGrpSpPr>
          <p:nvPr/>
        </p:nvGrpSpPr>
        <p:grpSpPr bwMode="auto">
          <a:xfrm>
            <a:off x="4354488" y="5224870"/>
            <a:ext cx="304800" cy="304800"/>
            <a:chOff x="3216" y="3504"/>
            <a:chExt cx="192" cy="192"/>
          </a:xfrm>
        </p:grpSpPr>
        <p:sp>
          <p:nvSpPr>
            <p:cNvPr id="112" name="Line 108"/>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13" name="Line 109"/>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14" name="Oval 110"/>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15" name="Oval 111"/>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16" name="Line 112"/>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grpSp>
        <p:nvGrpSpPr>
          <p:cNvPr id="117" name="Group 113"/>
          <p:cNvGrpSpPr>
            <a:grpSpLocks/>
          </p:cNvGrpSpPr>
          <p:nvPr/>
        </p:nvGrpSpPr>
        <p:grpSpPr bwMode="auto">
          <a:xfrm>
            <a:off x="4811688" y="5224870"/>
            <a:ext cx="304800" cy="304800"/>
            <a:chOff x="3216" y="3504"/>
            <a:chExt cx="192" cy="192"/>
          </a:xfrm>
        </p:grpSpPr>
        <p:sp>
          <p:nvSpPr>
            <p:cNvPr id="118" name="Line 114"/>
            <p:cNvSpPr>
              <a:spLocks noChangeShapeType="1"/>
            </p:cNvSpPr>
            <p:nvPr/>
          </p:nvSpPr>
          <p:spPr bwMode="auto">
            <a:xfrm flipH="1">
              <a:off x="3216" y="3648"/>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19" name="Line 115"/>
            <p:cNvSpPr>
              <a:spLocks noChangeShapeType="1"/>
            </p:cNvSpPr>
            <p:nvPr/>
          </p:nvSpPr>
          <p:spPr bwMode="auto">
            <a:xfrm flipH="1">
              <a:off x="3360" y="3520"/>
              <a:ext cx="48" cy="4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20" name="Oval 116"/>
            <p:cNvSpPr>
              <a:spLocks noChangeArrowheads="1"/>
            </p:cNvSpPr>
            <p:nvPr/>
          </p:nvSpPr>
          <p:spPr bwMode="auto">
            <a:xfrm>
              <a:off x="3248" y="3624"/>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21" name="Oval 117"/>
            <p:cNvSpPr>
              <a:spLocks noChangeArrowheads="1"/>
            </p:cNvSpPr>
            <p:nvPr/>
          </p:nvSpPr>
          <p:spPr bwMode="auto">
            <a:xfrm>
              <a:off x="3320" y="3568"/>
              <a:ext cx="48" cy="48"/>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22" name="Line 118"/>
            <p:cNvSpPr>
              <a:spLocks noChangeShapeType="1"/>
            </p:cNvSpPr>
            <p:nvPr/>
          </p:nvSpPr>
          <p:spPr bwMode="auto">
            <a:xfrm flipV="1">
              <a:off x="3264" y="3504"/>
              <a:ext cx="48" cy="144"/>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grpSp>
      <p:sp>
        <p:nvSpPr>
          <p:cNvPr id="123" name="Oval 119"/>
          <p:cNvSpPr>
            <a:spLocks noChangeArrowheads="1"/>
          </p:cNvSpPr>
          <p:nvPr/>
        </p:nvSpPr>
        <p:spPr bwMode="auto">
          <a:xfrm>
            <a:off x="7250088" y="3624670"/>
            <a:ext cx="457200" cy="3810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a:solidFill>
                  <a:srgbClr val="000000"/>
                </a:solidFill>
              </a:rPr>
              <a:t>T1</a:t>
            </a:r>
          </a:p>
        </p:txBody>
      </p:sp>
      <p:sp>
        <p:nvSpPr>
          <p:cNvPr id="124" name="Oval 120"/>
          <p:cNvSpPr>
            <a:spLocks noChangeArrowheads="1"/>
          </p:cNvSpPr>
          <p:nvPr/>
        </p:nvSpPr>
        <p:spPr bwMode="auto">
          <a:xfrm>
            <a:off x="7250088" y="4196170"/>
            <a:ext cx="457200" cy="3810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a:solidFill>
                  <a:srgbClr val="000000"/>
                </a:solidFill>
              </a:rPr>
              <a:t>T2</a:t>
            </a:r>
          </a:p>
        </p:txBody>
      </p:sp>
      <p:sp>
        <p:nvSpPr>
          <p:cNvPr id="125" name="Oval 121"/>
          <p:cNvSpPr>
            <a:spLocks noChangeArrowheads="1"/>
          </p:cNvSpPr>
          <p:nvPr/>
        </p:nvSpPr>
        <p:spPr bwMode="auto">
          <a:xfrm>
            <a:off x="7250088" y="4767670"/>
            <a:ext cx="457200" cy="3810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a:solidFill>
                  <a:srgbClr val="000000"/>
                </a:solidFill>
              </a:rPr>
              <a:t>T3</a:t>
            </a:r>
          </a:p>
        </p:txBody>
      </p:sp>
      <p:sp>
        <p:nvSpPr>
          <p:cNvPr id="126" name="Oval 122"/>
          <p:cNvSpPr>
            <a:spLocks noChangeArrowheads="1"/>
          </p:cNvSpPr>
          <p:nvPr/>
        </p:nvSpPr>
        <p:spPr bwMode="auto">
          <a:xfrm>
            <a:off x="7250088" y="5529670"/>
            <a:ext cx="457200" cy="3810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1800">
                <a:solidFill>
                  <a:srgbClr val="000000"/>
                </a:solidFill>
              </a:rPr>
              <a:t>Tn</a:t>
            </a:r>
          </a:p>
        </p:txBody>
      </p:sp>
      <p:sp>
        <p:nvSpPr>
          <p:cNvPr id="127" name="Text Box 123"/>
          <p:cNvSpPr txBox="1">
            <a:spLocks noChangeArrowheads="1"/>
          </p:cNvSpPr>
          <p:nvPr/>
        </p:nvSpPr>
        <p:spPr bwMode="auto">
          <a:xfrm>
            <a:off x="7250088" y="504707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C00000"/>
                </a:solidFill>
              </a:rPr>
              <a:t>…</a:t>
            </a:r>
          </a:p>
        </p:txBody>
      </p:sp>
      <p:sp>
        <p:nvSpPr>
          <p:cNvPr id="128" name="Line 124"/>
          <p:cNvSpPr>
            <a:spLocks noChangeShapeType="1"/>
          </p:cNvSpPr>
          <p:nvPr/>
        </p:nvSpPr>
        <p:spPr bwMode="auto">
          <a:xfrm>
            <a:off x="8088288" y="3815170"/>
            <a:ext cx="685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29" name="Line 125"/>
          <p:cNvSpPr>
            <a:spLocks noChangeShapeType="1"/>
          </p:cNvSpPr>
          <p:nvPr/>
        </p:nvSpPr>
        <p:spPr bwMode="auto">
          <a:xfrm>
            <a:off x="8774088" y="3815170"/>
            <a:ext cx="0" cy="19431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0" name="Line 126"/>
          <p:cNvSpPr>
            <a:spLocks noChangeShapeType="1"/>
          </p:cNvSpPr>
          <p:nvPr/>
        </p:nvSpPr>
        <p:spPr bwMode="auto">
          <a:xfrm>
            <a:off x="8088288" y="4386670"/>
            <a:ext cx="685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1" name="Line 127"/>
          <p:cNvSpPr>
            <a:spLocks noChangeShapeType="1"/>
          </p:cNvSpPr>
          <p:nvPr/>
        </p:nvSpPr>
        <p:spPr bwMode="auto">
          <a:xfrm>
            <a:off x="8088288" y="4945470"/>
            <a:ext cx="685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2" name="Line 128"/>
          <p:cNvSpPr>
            <a:spLocks noChangeShapeType="1"/>
          </p:cNvSpPr>
          <p:nvPr/>
        </p:nvSpPr>
        <p:spPr bwMode="auto">
          <a:xfrm>
            <a:off x="8088288" y="5745570"/>
            <a:ext cx="685800"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3" name="Oval 130"/>
          <p:cNvSpPr>
            <a:spLocks noChangeArrowheads="1"/>
          </p:cNvSpPr>
          <p:nvPr/>
        </p:nvSpPr>
        <p:spPr bwMode="auto">
          <a:xfrm>
            <a:off x="8012088" y="3777070"/>
            <a:ext cx="76200" cy="76200"/>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34" name="Oval 131"/>
          <p:cNvSpPr>
            <a:spLocks noChangeArrowheads="1"/>
          </p:cNvSpPr>
          <p:nvPr/>
        </p:nvSpPr>
        <p:spPr bwMode="auto">
          <a:xfrm>
            <a:off x="8012088" y="4348570"/>
            <a:ext cx="76200" cy="76200"/>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35" name="Oval 132"/>
          <p:cNvSpPr>
            <a:spLocks noChangeArrowheads="1"/>
          </p:cNvSpPr>
          <p:nvPr/>
        </p:nvSpPr>
        <p:spPr bwMode="auto">
          <a:xfrm>
            <a:off x="8012088" y="4907370"/>
            <a:ext cx="76200" cy="76200"/>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36" name="Oval 133"/>
          <p:cNvSpPr>
            <a:spLocks noChangeArrowheads="1"/>
          </p:cNvSpPr>
          <p:nvPr/>
        </p:nvSpPr>
        <p:spPr bwMode="auto">
          <a:xfrm>
            <a:off x="8012088" y="5707470"/>
            <a:ext cx="76200" cy="76200"/>
          </a:xfrm>
          <a:prstGeom prst="ellipse">
            <a:avLst/>
          </a:prstGeom>
          <a:solidFill>
            <a:srgbClr val="FFFF00"/>
          </a:solidFill>
          <a:ln w="12700">
            <a:solidFill>
              <a:srgbClr val="0000FF"/>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37" name="Line 134"/>
          <p:cNvSpPr>
            <a:spLocks noChangeShapeType="1"/>
          </p:cNvSpPr>
          <p:nvPr/>
        </p:nvSpPr>
        <p:spPr bwMode="auto">
          <a:xfrm flipV="1">
            <a:off x="7719988" y="3599270"/>
            <a:ext cx="304800" cy="228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8" name="Line 135"/>
          <p:cNvSpPr>
            <a:spLocks noChangeShapeType="1"/>
          </p:cNvSpPr>
          <p:nvPr/>
        </p:nvSpPr>
        <p:spPr bwMode="auto">
          <a:xfrm flipV="1">
            <a:off x="7707288" y="4158070"/>
            <a:ext cx="304800" cy="228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39" name="Line 136"/>
          <p:cNvSpPr>
            <a:spLocks noChangeShapeType="1"/>
          </p:cNvSpPr>
          <p:nvPr/>
        </p:nvSpPr>
        <p:spPr bwMode="auto">
          <a:xfrm flipV="1">
            <a:off x="7707288" y="4742270"/>
            <a:ext cx="304800" cy="228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40" name="Line 137"/>
          <p:cNvSpPr>
            <a:spLocks noChangeShapeType="1"/>
          </p:cNvSpPr>
          <p:nvPr/>
        </p:nvSpPr>
        <p:spPr bwMode="auto">
          <a:xfrm flipV="1">
            <a:off x="7707288" y="5529670"/>
            <a:ext cx="304800" cy="22860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50000"/>
              </a:spcBef>
            </a:pPr>
            <a:endParaRPr lang="zh-CN" altLang="en-US">
              <a:solidFill>
                <a:srgbClr val="FFFFFF"/>
              </a:solidFill>
              <a:latin typeface="Arial" charset="0"/>
            </a:endParaRPr>
          </a:p>
        </p:txBody>
      </p:sp>
      <p:sp>
        <p:nvSpPr>
          <p:cNvPr id="141" name="Text Box 138"/>
          <p:cNvSpPr txBox="1">
            <a:spLocks noChangeArrowheads="1"/>
          </p:cNvSpPr>
          <p:nvPr/>
        </p:nvSpPr>
        <p:spPr bwMode="auto">
          <a:xfrm>
            <a:off x="8926488" y="4110446"/>
            <a:ext cx="457200" cy="1190625"/>
          </a:xfrm>
          <a:prstGeom prst="rect">
            <a:avLst/>
          </a:prstGeom>
          <a:noFill/>
          <a:ln w="12700">
            <a:no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a:solidFill>
                  <a:srgbClr val="C00000"/>
                </a:solidFill>
                <a:ea typeface="仿宋_GB2312" pitchFamily="49" charset="-122"/>
              </a:rPr>
              <a:t>公用线路</a:t>
            </a:r>
          </a:p>
        </p:txBody>
      </p:sp>
      <p:sp>
        <p:nvSpPr>
          <p:cNvPr id="142" name="Text Box 139"/>
          <p:cNvSpPr txBox="1">
            <a:spLocks noChangeArrowheads="1"/>
          </p:cNvSpPr>
          <p:nvPr/>
        </p:nvSpPr>
        <p:spPr bwMode="auto">
          <a:xfrm>
            <a:off x="3516288" y="5986126"/>
            <a:ext cx="1752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C00000"/>
                </a:solidFill>
                <a:ea typeface="仿宋_GB2312" pitchFamily="49" charset="-122"/>
              </a:rPr>
              <a:t>空分</a:t>
            </a:r>
          </a:p>
        </p:txBody>
      </p:sp>
      <p:sp>
        <p:nvSpPr>
          <p:cNvPr id="143" name="Text Box 140"/>
          <p:cNvSpPr txBox="1">
            <a:spLocks noChangeArrowheads="1"/>
          </p:cNvSpPr>
          <p:nvPr/>
        </p:nvSpPr>
        <p:spPr bwMode="auto">
          <a:xfrm>
            <a:off x="7021488" y="5986126"/>
            <a:ext cx="1752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000" b="1">
                <a:solidFill>
                  <a:srgbClr val="C00000"/>
                </a:solidFill>
                <a:ea typeface="仿宋_GB2312" pitchFamily="49" charset="-122"/>
              </a:rPr>
              <a:t>时分</a:t>
            </a:r>
          </a:p>
        </p:txBody>
      </p:sp>
      <p:sp>
        <p:nvSpPr>
          <p:cNvPr id="144" name="AutoShape 141"/>
          <p:cNvSpPr>
            <a:spLocks/>
          </p:cNvSpPr>
          <p:nvPr/>
        </p:nvSpPr>
        <p:spPr bwMode="auto">
          <a:xfrm>
            <a:off x="3810000" y="1476534"/>
            <a:ext cx="76200" cy="1219200"/>
          </a:xfrm>
          <a:prstGeom prst="leftBrace">
            <a:avLst>
              <a:gd name="adj1" fmla="val 133333"/>
              <a:gd name="adj2" fmla="val 50000"/>
            </a:avLst>
          </a:prstGeom>
          <a:noFill/>
          <a:ln w="12700">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a:solidFill>
                <a:srgbClr val="000000"/>
              </a:solidFill>
            </a:endParaRPr>
          </a:p>
        </p:txBody>
      </p:sp>
      <p:sp>
        <p:nvSpPr>
          <p:cNvPr id="145" name="Text Box 142"/>
          <p:cNvSpPr txBox="1">
            <a:spLocks noChangeArrowheads="1"/>
          </p:cNvSpPr>
          <p:nvPr/>
        </p:nvSpPr>
        <p:spPr bwMode="auto">
          <a:xfrm>
            <a:off x="2667000" y="1882935"/>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a:solidFill>
                  <a:srgbClr val="0000FF"/>
                </a:solidFill>
                <a:ea typeface="仿宋_GB2312" pitchFamily="49" charset="-122"/>
              </a:rPr>
              <a:t>电路交换</a:t>
            </a:r>
          </a:p>
        </p:txBody>
      </p:sp>
      <p:pic>
        <p:nvPicPr>
          <p:cNvPr id="146" name="Picture 28" descr="015">
            <a:extLst>
              <a:ext uri="{FF2B5EF4-FFF2-40B4-BE49-F238E27FC236}">
                <a16:creationId xmlns:a16="http://schemas.microsoft.com/office/drawing/2014/main" id="{B1C8259C-C401-461E-8843-3260574E78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4398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344613" y="415132"/>
            <a:ext cx="8001000" cy="755650"/>
          </a:xfrm>
        </p:spPr>
        <p:txBody>
          <a:bodyPr/>
          <a:lstStyle/>
          <a:p>
            <a:pPr eaLnBrk="1" hangingPunct="1"/>
            <a:r>
              <a:rPr lang="zh-CN" altLang="en-US" dirty="0"/>
              <a:t>电路交换举例</a:t>
            </a:r>
          </a:p>
        </p:txBody>
      </p:sp>
      <p:sp>
        <p:nvSpPr>
          <p:cNvPr id="73731" name="Rectangle 3"/>
          <p:cNvSpPr>
            <a:spLocks noGrp="1" noChangeArrowheads="1"/>
          </p:cNvSpPr>
          <p:nvPr>
            <p:ph type="body" idx="1"/>
          </p:nvPr>
        </p:nvSpPr>
        <p:spPr>
          <a:xfrm>
            <a:off x="2566988" y="1773238"/>
            <a:ext cx="7772400" cy="4679950"/>
          </a:xfrm>
        </p:spPr>
        <p:txBody>
          <a:bodyPr/>
          <a:lstStyle/>
          <a:p>
            <a:pPr eaLnBrk="1" hangingPunct="1"/>
            <a:r>
              <a:rPr lang="en-US" altLang="zh-CN" sz="2600"/>
              <a:t>A </a:t>
            </a:r>
            <a:r>
              <a:rPr lang="zh-CN" altLang="en-US" sz="2600"/>
              <a:t>和 </a:t>
            </a:r>
            <a:r>
              <a:rPr lang="en-US" altLang="zh-CN" sz="2600"/>
              <a:t>B </a:t>
            </a:r>
            <a:r>
              <a:rPr lang="zh-CN" altLang="en-US" sz="2600"/>
              <a:t>通话经过四个交换机</a:t>
            </a:r>
          </a:p>
          <a:p>
            <a:pPr eaLnBrk="1" hangingPunct="1"/>
            <a:r>
              <a:rPr lang="zh-CN" altLang="en-US" sz="2600"/>
              <a:t>通话在 </a:t>
            </a:r>
            <a:r>
              <a:rPr lang="en-US" altLang="zh-CN" sz="2600"/>
              <a:t>A </a:t>
            </a:r>
            <a:r>
              <a:rPr lang="zh-CN" altLang="en-US" sz="2600"/>
              <a:t>到 </a:t>
            </a:r>
            <a:r>
              <a:rPr lang="en-US" altLang="zh-CN" sz="2600"/>
              <a:t>B </a:t>
            </a:r>
            <a:r>
              <a:rPr lang="zh-CN" altLang="en-US" sz="2600"/>
              <a:t>的连接上进行</a:t>
            </a:r>
          </a:p>
          <a:p>
            <a:pPr eaLnBrk="1" hangingPunct="1"/>
            <a:endParaRPr lang="zh-CN" altLang="en-US" sz="2600"/>
          </a:p>
          <a:p>
            <a:pPr eaLnBrk="1" hangingPunct="1"/>
            <a:endParaRPr lang="zh-CN" altLang="en-US" sz="2600"/>
          </a:p>
          <a:p>
            <a:pPr eaLnBrk="1" hangingPunct="1"/>
            <a:endParaRPr lang="zh-CN" altLang="en-US" sz="2600"/>
          </a:p>
          <a:p>
            <a:pPr eaLnBrk="1" hangingPunct="1"/>
            <a:endParaRPr lang="zh-CN" altLang="en-US" sz="2600"/>
          </a:p>
          <a:p>
            <a:pPr eaLnBrk="1" hangingPunct="1"/>
            <a:endParaRPr lang="zh-CN" altLang="en-US" sz="2600"/>
          </a:p>
          <a:p>
            <a:pPr eaLnBrk="1" hangingPunct="1"/>
            <a:endParaRPr lang="zh-CN" altLang="en-US" sz="2600"/>
          </a:p>
          <a:p>
            <a:pPr eaLnBrk="1" hangingPunct="1"/>
            <a:r>
              <a:rPr lang="zh-CN" altLang="en-US" sz="2600"/>
              <a:t>在通话期间</a:t>
            </a:r>
            <a:r>
              <a:rPr lang="en-US" altLang="zh-CN" sz="2600"/>
              <a:t>,A</a:t>
            </a:r>
            <a:r>
              <a:rPr lang="zh-CN" altLang="en-US" sz="2600"/>
              <a:t>和</a:t>
            </a:r>
            <a:r>
              <a:rPr lang="en-US" altLang="zh-CN" sz="2600"/>
              <a:t>B</a:t>
            </a:r>
            <a:r>
              <a:rPr lang="zh-CN" altLang="en-US" sz="2600"/>
              <a:t>始终占用端到端的传输带宽</a:t>
            </a:r>
          </a:p>
        </p:txBody>
      </p:sp>
      <p:sp>
        <p:nvSpPr>
          <p:cNvPr id="73732" name="Line 4"/>
          <p:cNvSpPr>
            <a:spLocks noChangeShapeType="1"/>
          </p:cNvSpPr>
          <p:nvPr/>
        </p:nvSpPr>
        <p:spPr bwMode="auto">
          <a:xfrm flipV="1">
            <a:off x="2397125" y="5006975"/>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3" name="Line 5"/>
          <p:cNvSpPr>
            <a:spLocks noChangeShapeType="1"/>
          </p:cNvSpPr>
          <p:nvPr/>
        </p:nvSpPr>
        <p:spPr bwMode="auto">
          <a:xfrm flipV="1">
            <a:off x="2401888" y="4684713"/>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4" name="Line 6"/>
          <p:cNvSpPr>
            <a:spLocks noChangeShapeType="1"/>
          </p:cNvSpPr>
          <p:nvPr/>
        </p:nvSpPr>
        <p:spPr bwMode="auto">
          <a:xfrm flipV="1">
            <a:off x="8997950" y="4291013"/>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5" name="Line 7"/>
          <p:cNvSpPr>
            <a:spLocks noChangeShapeType="1"/>
          </p:cNvSpPr>
          <p:nvPr/>
        </p:nvSpPr>
        <p:spPr bwMode="auto">
          <a:xfrm>
            <a:off x="2255839" y="4176713"/>
            <a:ext cx="847725" cy="169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6" name="Rectangle 8"/>
          <p:cNvSpPr>
            <a:spLocks noChangeArrowheads="1"/>
          </p:cNvSpPr>
          <p:nvPr/>
        </p:nvSpPr>
        <p:spPr bwMode="auto">
          <a:xfrm>
            <a:off x="3151188" y="4159250"/>
            <a:ext cx="754062" cy="10429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37" name="Oval 9"/>
          <p:cNvSpPr>
            <a:spLocks noChangeArrowheads="1"/>
          </p:cNvSpPr>
          <p:nvPr/>
        </p:nvSpPr>
        <p:spPr bwMode="auto">
          <a:xfrm>
            <a:off x="3057526" y="4289426"/>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38" name="Oval 10"/>
          <p:cNvSpPr>
            <a:spLocks noChangeArrowheads="1"/>
          </p:cNvSpPr>
          <p:nvPr/>
        </p:nvSpPr>
        <p:spPr bwMode="auto">
          <a:xfrm>
            <a:off x="3057526" y="4457701"/>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39" name="Oval 11"/>
          <p:cNvSpPr>
            <a:spLocks noChangeArrowheads="1"/>
          </p:cNvSpPr>
          <p:nvPr/>
        </p:nvSpPr>
        <p:spPr bwMode="auto">
          <a:xfrm>
            <a:off x="3057526" y="463391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0" name="Oval 12"/>
          <p:cNvSpPr>
            <a:spLocks noChangeArrowheads="1"/>
          </p:cNvSpPr>
          <p:nvPr/>
        </p:nvSpPr>
        <p:spPr bwMode="auto">
          <a:xfrm>
            <a:off x="3057526" y="4791075"/>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1" name="Oval 13"/>
          <p:cNvSpPr>
            <a:spLocks noChangeArrowheads="1"/>
          </p:cNvSpPr>
          <p:nvPr/>
        </p:nvSpPr>
        <p:spPr bwMode="auto">
          <a:xfrm>
            <a:off x="3057526" y="4959350"/>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2" name="Oval 14"/>
          <p:cNvSpPr>
            <a:spLocks noChangeArrowheads="1"/>
          </p:cNvSpPr>
          <p:nvPr/>
        </p:nvSpPr>
        <p:spPr bwMode="auto">
          <a:xfrm>
            <a:off x="3905251" y="4289426"/>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3" name="Oval 15"/>
          <p:cNvSpPr>
            <a:spLocks noChangeArrowheads="1"/>
          </p:cNvSpPr>
          <p:nvPr/>
        </p:nvSpPr>
        <p:spPr bwMode="auto">
          <a:xfrm>
            <a:off x="3905251" y="4457701"/>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4" name="Oval 16"/>
          <p:cNvSpPr>
            <a:spLocks noChangeArrowheads="1"/>
          </p:cNvSpPr>
          <p:nvPr/>
        </p:nvSpPr>
        <p:spPr bwMode="auto">
          <a:xfrm>
            <a:off x="3905251" y="463391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5" name="Oval 17"/>
          <p:cNvSpPr>
            <a:spLocks noChangeArrowheads="1"/>
          </p:cNvSpPr>
          <p:nvPr/>
        </p:nvSpPr>
        <p:spPr bwMode="auto">
          <a:xfrm>
            <a:off x="3905251" y="4791075"/>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6" name="Oval 18"/>
          <p:cNvSpPr>
            <a:spLocks noChangeArrowheads="1"/>
          </p:cNvSpPr>
          <p:nvPr/>
        </p:nvSpPr>
        <p:spPr bwMode="auto">
          <a:xfrm>
            <a:off x="3905251" y="4959350"/>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7" name="Rectangle 19"/>
          <p:cNvSpPr>
            <a:spLocks noChangeArrowheads="1"/>
          </p:cNvSpPr>
          <p:nvPr/>
        </p:nvSpPr>
        <p:spPr bwMode="auto">
          <a:xfrm>
            <a:off x="4960939" y="3262314"/>
            <a:ext cx="752475" cy="1044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8" name="Oval 20"/>
          <p:cNvSpPr>
            <a:spLocks noChangeArrowheads="1"/>
          </p:cNvSpPr>
          <p:nvPr/>
        </p:nvSpPr>
        <p:spPr bwMode="auto">
          <a:xfrm>
            <a:off x="4865688" y="3394076"/>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49" name="Oval 21"/>
          <p:cNvSpPr>
            <a:spLocks noChangeArrowheads="1"/>
          </p:cNvSpPr>
          <p:nvPr/>
        </p:nvSpPr>
        <p:spPr bwMode="auto">
          <a:xfrm>
            <a:off x="4865688" y="3562351"/>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0" name="Oval 22"/>
          <p:cNvSpPr>
            <a:spLocks noChangeArrowheads="1"/>
          </p:cNvSpPr>
          <p:nvPr/>
        </p:nvSpPr>
        <p:spPr bwMode="auto">
          <a:xfrm>
            <a:off x="4865688" y="38973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1" name="Oval 23"/>
          <p:cNvSpPr>
            <a:spLocks noChangeArrowheads="1"/>
          </p:cNvSpPr>
          <p:nvPr/>
        </p:nvSpPr>
        <p:spPr bwMode="auto">
          <a:xfrm>
            <a:off x="4865688" y="40655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2" name="Oval 24"/>
          <p:cNvSpPr>
            <a:spLocks noChangeArrowheads="1"/>
          </p:cNvSpPr>
          <p:nvPr/>
        </p:nvSpPr>
        <p:spPr bwMode="auto">
          <a:xfrm>
            <a:off x="5713413" y="3394076"/>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3" name="Oval 25"/>
          <p:cNvSpPr>
            <a:spLocks noChangeArrowheads="1"/>
          </p:cNvSpPr>
          <p:nvPr/>
        </p:nvSpPr>
        <p:spPr bwMode="auto">
          <a:xfrm>
            <a:off x="5713413" y="3562351"/>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4" name="Oval 26"/>
          <p:cNvSpPr>
            <a:spLocks noChangeArrowheads="1"/>
          </p:cNvSpPr>
          <p:nvPr/>
        </p:nvSpPr>
        <p:spPr bwMode="auto">
          <a:xfrm>
            <a:off x="5713413" y="3740151"/>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5" name="Oval 27"/>
          <p:cNvSpPr>
            <a:spLocks noChangeArrowheads="1"/>
          </p:cNvSpPr>
          <p:nvPr/>
        </p:nvSpPr>
        <p:spPr bwMode="auto">
          <a:xfrm>
            <a:off x="5713413" y="38973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6" name="Oval 28"/>
          <p:cNvSpPr>
            <a:spLocks noChangeArrowheads="1"/>
          </p:cNvSpPr>
          <p:nvPr/>
        </p:nvSpPr>
        <p:spPr bwMode="auto">
          <a:xfrm>
            <a:off x="5713413" y="40655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7" name="Rectangle 29"/>
          <p:cNvSpPr>
            <a:spLocks noChangeArrowheads="1"/>
          </p:cNvSpPr>
          <p:nvPr/>
        </p:nvSpPr>
        <p:spPr bwMode="auto">
          <a:xfrm>
            <a:off x="6543676" y="4606925"/>
            <a:ext cx="754063" cy="10429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8" name="Oval 30"/>
          <p:cNvSpPr>
            <a:spLocks noChangeArrowheads="1"/>
          </p:cNvSpPr>
          <p:nvPr/>
        </p:nvSpPr>
        <p:spPr bwMode="auto">
          <a:xfrm>
            <a:off x="6448425" y="4737101"/>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59" name="Oval 31"/>
          <p:cNvSpPr>
            <a:spLocks noChangeArrowheads="1"/>
          </p:cNvSpPr>
          <p:nvPr/>
        </p:nvSpPr>
        <p:spPr bwMode="auto">
          <a:xfrm>
            <a:off x="6448425" y="49037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0" name="Oval 32"/>
          <p:cNvSpPr>
            <a:spLocks noChangeArrowheads="1"/>
          </p:cNvSpPr>
          <p:nvPr/>
        </p:nvSpPr>
        <p:spPr bwMode="auto">
          <a:xfrm>
            <a:off x="6448425" y="5081589"/>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1" name="Oval 33"/>
          <p:cNvSpPr>
            <a:spLocks noChangeArrowheads="1"/>
          </p:cNvSpPr>
          <p:nvPr/>
        </p:nvSpPr>
        <p:spPr bwMode="auto">
          <a:xfrm>
            <a:off x="6448425" y="5238750"/>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2" name="Oval 34"/>
          <p:cNvSpPr>
            <a:spLocks noChangeArrowheads="1"/>
          </p:cNvSpPr>
          <p:nvPr/>
        </p:nvSpPr>
        <p:spPr bwMode="auto">
          <a:xfrm>
            <a:off x="6448425" y="5407025"/>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3" name="Oval 35"/>
          <p:cNvSpPr>
            <a:spLocks noChangeArrowheads="1"/>
          </p:cNvSpPr>
          <p:nvPr/>
        </p:nvSpPr>
        <p:spPr bwMode="auto">
          <a:xfrm>
            <a:off x="7297738" y="4737101"/>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4" name="Oval 36"/>
          <p:cNvSpPr>
            <a:spLocks noChangeArrowheads="1"/>
          </p:cNvSpPr>
          <p:nvPr/>
        </p:nvSpPr>
        <p:spPr bwMode="auto">
          <a:xfrm>
            <a:off x="7297738" y="4903788"/>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5" name="Oval 37"/>
          <p:cNvSpPr>
            <a:spLocks noChangeArrowheads="1"/>
          </p:cNvSpPr>
          <p:nvPr/>
        </p:nvSpPr>
        <p:spPr bwMode="auto">
          <a:xfrm>
            <a:off x="7297738" y="5081589"/>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6" name="Oval 38"/>
          <p:cNvSpPr>
            <a:spLocks noChangeArrowheads="1"/>
          </p:cNvSpPr>
          <p:nvPr/>
        </p:nvSpPr>
        <p:spPr bwMode="auto">
          <a:xfrm>
            <a:off x="7297738" y="5238750"/>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7" name="Oval 39"/>
          <p:cNvSpPr>
            <a:spLocks noChangeArrowheads="1"/>
          </p:cNvSpPr>
          <p:nvPr/>
        </p:nvSpPr>
        <p:spPr bwMode="auto">
          <a:xfrm>
            <a:off x="7297738" y="5407025"/>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68" name="Text Box 40"/>
          <p:cNvSpPr txBox="1">
            <a:spLocks noChangeArrowheads="1"/>
          </p:cNvSpPr>
          <p:nvPr/>
        </p:nvSpPr>
        <p:spPr bwMode="auto">
          <a:xfrm>
            <a:off x="1849439" y="37099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4400">
                <a:solidFill>
                  <a:schemeClr val="tx1"/>
                </a:solidFill>
                <a:latin typeface="Wingdings" panose="05000000000000000000" pitchFamily="2" charset="2"/>
              </a:rPr>
              <a:t>(</a:t>
            </a:r>
          </a:p>
        </p:txBody>
      </p:sp>
      <p:sp>
        <p:nvSpPr>
          <p:cNvPr id="73769" name="Text Box 41"/>
          <p:cNvSpPr txBox="1">
            <a:spLocks noChangeArrowheads="1"/>
          </p:cNvSpPr>
          <p:nvPr/>
        </p:nvSpPr>
        <p:spPr bwMode="auto">
          <a:xfrm>
            <a:off x="9693276" y="3786189"/>
            <a:ext cx="79701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4400">
                <a:solidFill>
                  <a:schemeClr val="tx1"/>
                </a:solidFill>
                <a:latin typeface="Wingdings" panose="05000000000000000000" pitchFamily="2" charset="2"/>
              </a:rPr>
              <a:t>(</a:t>
            </a:r>
          </a:p>
        </p:txBody>
      </p:sp>
      <p:sp>
        <p:nvSpPr>
          <p:cNvPr id="73770" name="Rectangle 42"/>
          <p:cNvSpPr>
            <a:spLocks noChangeArrowheads="1"/>
          </p:cNvSpPr>
          <p:nvPr/>
        </p:nvSpPr>
        <p:spPr bwMode="auto">
          <a:xfrm>
            <a:off x="8202613" y="3709989"/>
            <a:ext cx="754062" cy="1044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1" name="Oval 43"/>
          <p:cNvSpPr>
            <a:spLocks noChangeArrowheads="1"/>
          </p:cNvSpPr>
          <p:nvPr/>
        </p:nvSpPr>
        <p:spPr bwMode="auto">
          <a:xfrm>
            <a:off x="8107363" y="3841751"/>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2" name="Oval 44"/>
          <p:cNvSpPr>
            <a:spLocks noChangeArrowheads="1"/>
          </p:cNvSpPr>
          <p:nvPr/>
        </p:nvSpPr>
        <p:spPr bwMode="auto">
          <a:xfrm>
            <a:off x="8107363" y="4010026"/>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3" name="Oval 45"/>
          <p:cNvSpPr>
            <a:spLocks noChangeArrowheads="1"/>
          </p:cNvSpPr>
          <p:nvPr/>
        </p:nvSpPr>
        <p:spPr bwMode="auto">
          <a:xfrm>
            <a:off x="8107363" y="4187826"/>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4" name="Oval 46"/>
          <p:cNvSpPr>
            <a:spLocks noChangeArrowheads="1"/>
          </p:cNvSpPr>
          <p:nvPr/>
        </p:nvSpPr>
        <p:spPr bwMode="auto">
          <a:xfrm>
            <a:off x="8107363" y="43449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5" name="Oval 47"/>
          <p:cNvSpPr>
            <a:spLocks noChangeArrowheads="1"/>
          </p:cNvSpPr>
          <p:nvPr/>
        </p:nvSpPr>
        <p:spPr bwMode="auto">
          <a:xfrm>
            <a:off x="8107363" y="451326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6" name="Oval 48"/>
          <p:cNvSpPr>
            <a:spLocks noChangeArrowheads="1"/>
          </p:cNvSpPr>
          <p:nvPr/>
        </p:nvSpPr>
        <p:spPr bwMode="auto">
          <a:xfrm>
            <a:off x="8956676" y="3841751"/>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7" name="Oval 49"/>
          <p:cNvSpPr>
            <a:spLocks noChangeArrowheads="1"/>
          </p:cNvSpPr>
          <p:nvPr/>
        </p:nvSpPr>
        <p:spPr bwMode="auto">
          <a:xfrm>
            <a:off x="8956676" y="4010026"/>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8" name="Oval 50"/>
          <p:cNvSpPr>
            <a:spLocks noChangeArrowheads="1"/>
          </p:cNvSpPr>
          <p:nvPr/>
        </p:nvSpPr>
        <p:spPr bwMode="auto">
          <a:xfrm>
            <a:off x="8956676" y="4187826"/>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79" name="Oval 51"/>
          <p:cNvSpPr>
            <a:spLocks noChangeArrowheads="1"/>
          </p:cNvSpPr>
          <p:nvPr/>
        </p:nvSpPr>
        <p:spPr bwMode="auto">
          <a:xfrm>
            <a:off x="8956676" y="434498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80" name="Oval 52"/>
          <p:cNvSpPr>
            <a:spLocks noChangeArrowheads="1"/>
          </p:cNvSpPr>
          <p:nvPr/>
        </p:nvSpPr>
        <p:spPr bwMode="auto">
          <a:xfrm>
            <a:off x="8956676" y="451326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73781" name="Line 53"/>
          <p:cNvSpPr>
            <a:spLocks noChangeShapeType="1"/>
          </p:cNvSpPr>
          <p:nvPr/>
        </p:nvSpPr>
        <p:spPr bwMode="auto">
          <a:xfrm flipH="1">
            <a:off x="2744788" y="3721101"/>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2" name="Line 54"/>
          <p:cNvSpPr>
            <a:spLocks noChangeShapeType="1"/>
          </p:cNvSpPr>
          <p:nvPr/>
        </p:nvSpPr>
        <p:spPr bwMode="auto">
          <a:xfrm flipH="1" flipV="1">
            <a:off x="9464675" y="4457700"/>
            <a:ext cx="184150" cy="484188"/>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3" name="Line 55"/>
          <p:cNvSpPr>
            <a:spLocks noChangeShapeType="1"/>
          </p:cNvSpPr>
          <p:nvPr/>
        </p:nvSpPr>
        <p:spPr bwMode="auto">
          <a:xfrm flipH="1">
            <a:off x="6223001" y="3786188"/>
            <a:ext cx="677863"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4" name="Line 56"/>
          <p:cNvSpPr>
            <a:spLocks noChangeShapeType="1"/>
          </p:cNvSpPr>
          <p:nvPr/>
        </p:nvSpPr>
        <p:spPr bwMode="auto">
          <a:xfrm>
            <a:off x="7278688" y="3786189"/>
            <a:ext cx="468312"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5" name="Line 57"/>
          <p:cNvSpPr>
            <a:spLocks noChangeShapeType="1"/>
          </p:cNvSpPr>
          <p:nvPr/>
        </p:nvSpPr>
        <p:spPr bwMode="auto">
          <a:xfrm>
            <a:off x="4187826" y="3413126"/>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86" name="Text Box 58"/>
          <p:cNvSpPr txBox="1">
            <a:spLocks noChangeArrowheads="1"/>
          </p:cNvSpPr>
          <p:nvPr/>
        </p:nvSpPr>
        <p:spPr bwMode="auto">
          <a:xfrm>
            <a:off x="1973264" y="43068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4400">
                <a:solidFill>
                  <a:schemeClr val="tx1"/>
                </a:solidFill>
                <a:latin typeface="Wingdings" panose="05000000000000000000" pitchFamily="2" charset="2"/>
              </a:rPr>
              <a:t>(</a:t>
            </a:r>
          </a:p>
        </p:txBody>
      </p:sp>
      <p:sp>
        <p:nvSpPr>
          <p:cNvPr id="73787" name="Text Box 59"/>
          <p:cNvSpPr txBox="1">
            <a:spLocks noChangeArrowheads="1"/>
          </p:cNvSpPr>
          <p:nvPr/>
        </p:nvSpPr>
        <p:spPr bwMode="auto">
          <a:xfrm>
            <a:off x="1973264" y="49799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4400">
                <a:solidFill>
                  <a:schemeClr val="tx1"/>
                </a:solidFill>
                <a:latin typeface="Wingdings" panose="05000000000000000000" pitchFamily="2" charset="2"/>
              </a:rPr>
              <a:t>(</a:t>
            </a:r>
          </a:p>
        </p:txBody>
      </p:sp>
      <p:sp>
        <p:nvSpPr>
          <p:cNvPr id="73788" name="Text Box 60"/>
          <p:cNvSpPr txBox="1">
            <a:spLocks noChangeArrowheads="1"/>
          </p:cNvSpPr>
          <p:nvPr/>
        </p:nvSpPr>
        <p:spPr bwMode="auto">
          <a:xfrm>
            <a:off x="3079750" y="3733801"/>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交换机</a:t>
            </a:r>
          </a:p>
        </p:txBody>
      </p:sp>
      <p:sp>
        <p:nvSpPr>
          <p:cNvPr id="73789" name="Text Box 61"/>
          <p:cNvSpPr txBox="1">
            <a:spLocks noChangeArrowheads="1"/>
          </p:cNvSpPr>
          <p:nvPr/>
        </p:nvSpPr>
        <p:spPr bwMode="auto">
          <a:xfrm>
            <a:off x="4872038" y="2852739"/>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交换机</a:t>
            </a:r>
          </a:p>
        </p:txBody>
      </p:sp>
      <p:sp>
        <p:nvSpPr>
          <p:cNvPr id="73790" name="Text Box 62"/>
          <p:cNvSpPr txBox="1">
            <a:spLocks noChangeArrowheads="1"/>
          </p:cNvSpPr>
          <p:nvPr/>
        </p:nvSpPr>
        <p:spPr bwMode="auto">
          <a:xfrm>
            <a:off x="6473825" y="4192589"/>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交换机</a:t>
            </a:r>
          </a:p>
        </p:txBody>
      </p:sp>
      <p:sp>
        <p:nvSpPr>
          <p:cNvPr id="73791" name="Text Box 63"/>
          <p:cNvSpPr txBox="1">
            <a:spLocks noChangeArrowheads="1"/>
          </p:cNvSpPr>
          <p:nvPr/>
        </p:nvSpPr>
        <p:spPr bwMode="auto">
          <a:xfrm>
            <a:off x="8078788" y="3281364"/>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交换机</a:t>
            </a:r>
          </a:p>
        </p:txBody>
      </p:sp>
      <p:sp>
        <p:nvSpPr>
          <p:cNvPr id="73792" name="Text Box 64"/>
          <p:cNvSpPr txBox="1">
            <a:spLocks noChangeArrowheads="1"/>
          </p:cNvSpPr>
          <p:nvPr/>
        </p:nvSpPr>
        <p:spPr bwMode="auto">
          <a:xfrm>
            <a:off x="2501900" y="3327401"/>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用户线</a:t>
            </a:r>
          </a:p>
        </p:txBody>
      </p:sp>
      <p:sp>
        <p:nvSpPr>
          <p:cNvPr id="73793" name="Text Box 65"/>
          <p:cNvSpPr txBox="1">
            <a:spLocks noChangeArrowheads="1"/>
          </p:cNvSpPr>
          <p:nvPr/>
        </p:nvSpPr>
        <p:spPr bwMode="auto">
          <a:xfrm>
            <a:off x="9240838" y="4876801"/>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用户线</a:t>
            </a:r>
          </a:p>
        </p:txBody>
      </p:sp>
      <p:sp>
        <p:nvSpPr>
          <p:cNvPr id="73794" name="Text Box 66"/>
          <p:cNvSpPr txBox="1">
            <a:spLocks noChangeArrowheads="1"/>
          </p:cNvSpPr>
          <p:nvPr/>
        </p:nvSpPr>
        <p:spPr bwMode="auto">
          <a:xfrm>
            <a:off x="6751638" y="3386139"/>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中继线</a:t>
            </a:r>
          </a:p>
        </p:txBody>
      </p:sp>
      <p:sp>
        <p:nvSpPr>
          <p:cNvPr id="73795" name="Text Box 67"/>
          <p:cNvSpPr txBox="1">
            <a:spLocks noChangeArrowheads="1"/>
          </p:cNvSpPr>
          <p:nvPr/>
        </p:nvSpPr>
        <p:spPr bwMode="auto">
          <a:xfrm>
            <a:off x="3735388" y="3014664"/>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中继线</a:t>
            </a:r>
          </a:p>
        </p:txBody>
      </p:sp>
      <p:sp>
        <p:nvSpPr>
          <p:cNvPr id="73796" name="Text Box 68"/>
          <p:cNvSpPr txBox="1">
            <a:spLocks noChangeArrowheads="1"/>
          </p:cNvSpPr>
          <p:nvPr/>
        </p:nvSpPr>
        <p:spPr bwMode="auto">
          <a:xfrm>
            <a:off x="9886951" y="3549651"/>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B</a:t>
            </a:r>
          </a:p>
        </p:txBody>
      </p:sp>
      <p:sp>
        <p:nvSpPr>
          <p:cNvPr id="73797" name="Text Box 69"/>
          <p:cNvSpPr txBox="1">
            <a:spLocks noChangeArrowheads="1"/>
          </p:cNvSpPr>
          <p:nvPr/>
        </p:nvSpPr>
        <p:spPr bwMode="auto">
          <a:xfrm>
            <a:off x="1806575" y="5119689"/>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D</a:t>
            </a:r>
          </a:p>
        </p:txBody>
      </p:sp>
      <p:sp>
        <p:nvSpPr>
          <p:cNvPr id="73798" name="Text Box 70"/>
          <p:cNvSpPr txBox="1">
            <a:spLocks noChangeArrowheads="1"/>
          </p:cNvSpPr>
          <p:nvPr/>
        </p:nvSpPr>
        <p:spPr bwMode="auto">
          <a:xfrm>
            <a:off x="1774825" y="4422776"/>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C</a:t>
            </a:r>
          </a:p>
        </p:txBody>
      </p:sp>
      <p:sp>
        <p:nvSpPr>
          <p:cNvPr id="73799" name="Text Box 71"/>
          <p:cNvSpPr txBox="1">
            <a:spLocks noChangeArrowheads="1"/>
          </p:cNvSpPr>
          <p:nvPr/>
        </p:nvSpPr>
        <p:spPr bwMode="auto">
          <a:xfrm>
            <a:off x="2098676" y="3476626"/>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A</a:t>
            </a:r>
          </a:p>
        </p:txBody>
      </p:sp>
      <p:sp>
        <p:nvSpPr>
          <p:cNvPr id="73800" name="Line 72"/>
          <p:cNvSpPr>
            <a:spLocks noChangeShapeType="1"/>
          </p:cNvSpPr>
          <p:nvPr/>
        </p:nvSpPr>
        <p:spPr bwMode="auto">
          <a:xfrm flipV="1">
            <a:off x="3949701" y="3609975"/>
            <a:ext cx="936625" cy="10810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1" name="Line 73"/>
          <p:cNvSpPr>
            <a:spLocks noChangeShapeType="1"/>
          </p:cNvSpPr>
          <p:nvPr/>
        </p:nvSpPr>
        <p:spPr bwMode="auto">
          <a:xfrm>
            <a:off x="5757864" y="3929063"/>
            <a:ext cx="757237" cy="8763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2" name="Line 74"/>
          <p:cNvSpPr>
            <a:spLocks noChangeShapeType="1"/>
          </p:cNvSpPr>
          <p:nvPr/>
        </p:nvSpPr>
        <p:spPr bwMode="auto">
          <a:xfrm flipV="1">
            <a:off x="7319963" y="4373563"/>
            <a:ext cx="863600" cy="7921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87" name="Group 75"/>
          <p:cNvGrpSpPr>
            <a:grpSpLocks/>
          </p:cNvGrpSpPr>
          <p:nvPr/>
        </p:nvGrpSpPr>
        <p:grpSpPr bwMode="auto">
          <a:xfrm>
            <a:off x="3143251" y="3573464"/>
            <a:ext cx="5832475" cy="1512887"/>
            <a:chOff x="1020" y="2432"/>
            <a:chExt cx="3674" cy="953"/>
          </a:xfrm>
        </p:grpSpPr>
        <p:sp>
          <p:nvSpPr>
            <p:cNvPr id="73805" name="Line 76"/>
            <p:cNvSpPr>
              <a:spLocks noChangeShapeType="1"/>
            </p:cNvSpPr>
            <p:nvPr/>
          </p:nvSpPr>
          <p:spPr bwMode="auto">
            <a:xfrm>
              <a:off x="1020" y="2931"/>
              <a:ext cx="499" cy="18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6" name="Line 77"/>
            <p:cNvSpPr>
              <a:spLocks noChangeShapeType="1"/>
            </p:cNvSpPr>
            <p:nvPr/>
          </p:nvSpPr>
          <p:spPr bwMode="auto">
            <a:xfrm>
              <a:off x="2154" y="2432"/>
              <a:ext cx="499" cy="227"/>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7" name="Line 78"/>
            <p:cNvSpPr>
              <a:spLocks noChangeShapeType="1"/>
            </p:cNvSpPr>
            <p:nvPr/>
          </p:nvSpPr>
          <p:spPr bwMode="auto">
            <a:xfrm>
              <a:off x="3152" y="3203"/>
              <a:ext cx="499" cy="182"/>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08" name="Line 79"/>
            <p:cNvSpPr>
              <a:spLocks noChangeShapeType="1"/>
            </p:cNvSpPr>
            <p:nvPr/>
          </p:nvSpPr>
          <p:spPr bwMode="auto">
            <a:xfrm>
              <a:off x="4195" y="2931"/>
              <a:ext cx="499" cy="136"/>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804" name="Oval 80"/>
          <p:cNvSpPr>
            <a:spLocks noChangeArrowheads="1"/>
          </p:cNvSpPr>
          <p:nvPr/>
        </p:nvSpPr>
        <p:spPr bwMode="auto">
          <a:xfrm>
            <a:off x="4872038" y="372586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pic>
        <p:nvPicPr>
          <p:cNvPr id="81" name="Picture 28" descr="015">
            <a:extLst>
              <a:ext uri="{FF2B5EF4-FFF2-40B4-BE49-F238E27FC236}">
                <a16:creationId xmlns:a16="http://schemas.microsoft.com/office/drawing/2014/main" id="{43AA9E6F-9573-4416-8747-72617C8D5D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18220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587"/>
                                        </p:tgtEl>
                                        <p:attrNameLst>
                                          <p:attrName>style.visibility</p:attrName>
                                        </p:attrNameLst>
                                      </p:cBhvr>
                                      <p:to>
                                        <p:strVal val="visible"/>
                                      </p:to>
                                    </p:set>
                                    <p:animEffect transition="in" filter="blinds(horizontal)">
                                      <p:cBhvr>
                                        <p:cTn id="7" dur="500"/>
                                        <p:tgtEl>
                                          <p:spTgt spid="64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237935" y="365126"/>
            <a:ext cx="8731014" cy="879086"/>
          </a:xfrm>
        </p:spPr>
        <p:txBody>
          <a:bodyPr>
            <a:normAutofit fontScale="90000"/>
          </a:bodyPr>
          <a:lstStyle/>
          <a:p>
            <a:r>
              <a:rPr kumimoji="1" lang="zh-CN" altLang="en-US" dirty="0"/>
              <a:t>交换网络：</a:t>
            </a:r>
            <a:r>
              <a:rPr lang="zh-CN" altLang="en-US" dirty="0"/>
              <a:t>报文交换</a:t>
            </a:r>
            <a:r>
              <a:rPr lang="en-US" altLang="zh-CN" dirty="0"/>
              <a:t>(Message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10694504" cy="4937453"/>
          </a:xfrm>
        </p:spPr>
        <p:txBody>
          <a:bodyPr anchor="t" anchorCtr="0">
            <a:normAutofit/>
          </a:bodyPr>
          <a:lstStyle/>
          <a:p>
            <a:r>
              <a:rPr lang="zh-CN" altLang="en-US" sz="2400" dirty="0"/>
              <a:t>把要传送的信息整体作为一个报文</a:t>
            </a:r>
          </a:p>
          <a:p>
            <a:r>
              <a:rPr lang="zh-CN" altLang="en-US" sz="2400" dirty="0"/>
              <a:t>报文中有目的地址</a:t>
            </a:r>
          </a:p>
          <a:p>
            <a:r>
              <a:rPr lang="zh-CN" altLang="en-US" sz="2400" dirty="0"/>
              <a:t>存储</a:t>
            </a:r>
            <a:r>
              <a:rPr lang="en-US" altLang="zh-CN" sz="2400" dirty="0"/>
              <a:t>-</a:t>
            </a:r>
            <a:r>
              <a:rPr lang="zh-CN" altLang="en-US" sz="2400" dirty="0"/>
              <a:t>转发方式</a:t>
            </a:r>
          </a:p>
          <a:p>
            <a:r>
              <a:rPr lang="zh-CN" altLang="en-US" sz="2400" dirty="0"/>
              <a:t>报文大小无限制，交换局要有大容量磁盘</a:t>
            </a:r>
          </a:p>
          <a:p>
            <a:r>
              <a:rPr lang="zh-CN" altLang="en-US" sz="2400" dirty="0"/>
              <a:t>时延相当长</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pic>
        <p:nvPicPr>
          <p:cNvPr id="6" name="Picture 28" descr="015">
            <a:extLst>
              <a:ext uri="{FF2B5EF4-FFF2-40B4-BE49-F238E27FC236}">
                <a16:creationId xmlns:a16="http://schemas.microsoft.com/office/drawing/2014/main" id="{CC701395-DB3F-49EA-8F2F-538A8D06FD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1115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237935" y="365126"/>
            <a:ext cx="8731014" cy="879086"/>
          </a:xfrm>
        </p:spPr>
        <p:txBody>
          <a:bodyPr>
            <a:normAutofit fontScale="90000"/>
          </a:bodyPr>
          <a:lstStyle/>
          <a:p>
            <a:r>
              <a:rPr kumimoji="1" lang="zh-CN" altLang="en-US" dirty="0"/>
              <a:t>交换网络：</a:t>
            </a:r>
            <a:r>
              <a:rPr lang="zh-CN" altLang="en-US" dirty="0"/>
              <a:t>报文交换</a:t>
            </a:r>
            <a:r>
              <a:rPr lang="en-US" altLang="zh-CN" dirty="0"/>
              <a:t>(Message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10694504" cy="4937453"/>
          </a:xfrm>
        </p:spPr>
        <p:txBody>
          <a:bodyPr anchor="t" anchorCtr="0">
            <a:normAutofit/>
          </a:bodyPr>
          <a:lstStyle/>
          <a:p>
            <a:r>
              <a:rPr lang="zh-CN" altLang="en-US" dirty="0">
                <a:latin typeface="仿宋_GB2312" pitchFamily="49" charset="-122"/>
                <a:ea typeface="仿宋_GB2312" pitchFamily="49" charset="-122"/>
              </a:rPr>
              <a:t>整个报文作为一个整体一起发送。</a:t>
            </a:r>
          </a:p>
          <a:p>
            <a:r>
              <a:rPr lang="zh-CN" altLang="en-US" dirty="0">
                <a:latin typeface="仿宋_GB2312" pitchFamily="49" charset="-122"/>
                <a:ea typeface="仿宋_GB2312" pitchFamily="49" charset="-122"/>
              </a:rPr>
              <a:t>在交换过程中，交换设备将接收到的报文先存储，待信道空闲时再转发出去，一级一级中转，直到目的地。</a:t>
            </a:r>
            <a:endParaRPr lang="zh-CN" altLang="en-US" sz="2000" dirty="0">
              <a:latin typeface="仿宋_GB2312" pitchFamily="49" charset="-122"/>
              <a:ea typeface="仿宋_GB2312" pitchFamily="49" charset="-122"/>
            </a:endParaRPr>
          </a:p>
          <a:p>
            <a:r>
              <a:rPr lang="zh-CN" altLang="en-US" dirty="0">
                <a:latin typeface="仿宋_GB2312" pitchFamily="49" charset="-122"/>
                <a:ea typeface="仿宋_GB2312" pitchFamily="49" charset="-122"/>
              </a:rPr>
              <a:t>报文交换技术也被称为</a:t>
            </a:r>
            <a:r>
              <a:rPr lang="zh-CN" altLang="en-US" sz="3600" b="1" dirty="0">
                <a:solidFill>
                  <a:srgbClr val="C00000"/>
                </a:solidFill>
                <a:latin typeface="仿宋_GB2312" pitchFamily="49" charset="-122"/>
                <a:ea typeface="仿宋_GB2312" pitchFamily="49" charset="-122"/>
              </a:rPr>
              <a:t>存储</a:t>
            </a:r>
            <a:r>
              <a:rPr lang="en-US" altLang="zh-CN" sz="3600" b="1" dirty="0">
                <a:solidFill>
                  <a:srgbClr val="C00000"/>
                </a:solidFill>
                <a:latin typeface="仿宋_GB2312" pitchFamily="49" charset="-122"/>
                <a:ea typeface="仿宋_GB2312" pitchFamily="49" charset="-122"/>
              </a:rPr>
              <a:t>-</a:t>
            </a:r>
            <a:r>
              <a:rPr lang="zh-CN" altLang="en-US" sz="3600" b="1" dirty="0">
                <a:solidFill>
                  <a:srgbClr val="C00000"/>
                </a:solidFill>
                <a:latin typeface="仿宋_GB2312" pitchFamily="49" charset="-122"/>
                <a:ea typeface="仿宋_GB2312" pitchFamily="49" charset="-122"/>
              </a:rPr>
              <a:t>转发</a:t>
            </a:r>
            <a:r>
              <a:rPr lang="zh-CN" altLang="en-US" dirty="0">
                <a:latin typeface="仿宋_GB2312" pitchFamily="49" charset="-122"/>
                <a:ea typeface="仿宋_GB2312" pitchFamily="49" charset="-122"/>
              </a:rPr>
              <a:t>技术</a:t>
            </a:r>
            <a:r>
              <a:rPr lang="zh-CN" altLang="en-US" sz="2000" dirty="0">
                <a:latin typeface="仿宋_GB2312" pitchFamily="49" charset="-122"/>
                <a:ea typeface="仿宋_GB2312" pitchFamily="49" charset="-122"/>
              </a:rPr>
              <a:t>。</a:t>
            </a:r>
          </a:p>
          <a:p>
            <a:r>
              <a:rPr lang="zh-CN" altLang="en-US" dirty="0">
                <a:latin typeface="仿宋_GB2312" pitchFamily="49" charset="-122"/>
                <a:ea typeface="仿宋_GB2312" pitchFamily="49" charset="-122"/>
              </a:rPr>
              <a:t>缺点：</a:t>
            </a:r>
            <a:endParaRPr lang="zh-CN" altLang="en-US" dirty="0"/>
          </a:p>
          <a:p>
            <a:pPr lvl="1"/>
            <a:r>
              <a:rPr lang="zh-CN" altLang="en-US" dirty="0">
                <a:solidFill>
                  <a:srgbClr val="0000FF"/>
                </a:solidFill>
                <a:latin typeface="Arial" charset="0"/>
                <a:ea typeface="黑体" pitchFamily="49" charset="-122"/>
              </a:rPr>
              <a:t>报文大小不一，造成缓冲区管理复杂。</a:t>
            </a:r>
          </a:p>
          <a:p>
            <a:pPr lvl="1"/>
            <a:r>
              <a:rPr lang="zh-CN" altLang="en-US" dirty="0">
                <a:solidFill>
                  <a:srgbClr val="0000FF"/>
                </a:solidFill>
                <a:latin typeface="Arial" charset="0"/>
                <a:ea typeface="黑体" pitchFamily="49" charset="-122"/>
              </a:rPr>
              <a:t>大报文造成存储转发的延时过长；</a:t>
            </a:r>
          </a:p>
          <a:p>
            <a:pPr lvl="1"/>
            <a:r>
              <a:rPr lang="zh-CN" altLang="en-US" dirty="0">
                <a:solidFill>
                  <a:srgbClr val="0000FF"/>
                </a:solidFill>
                <a:latin typeface="Arial" charset="0"/>
                <a:ea typeface="黑体" pitchFamily="49" charset="-122"/>
              </a:rPr>
              <a:t>出错后整个报文全部重发。</a:t>
            </a:r>
            <a:endParaRPr lang="en-US" altLang="zh-CN" dirty="0">
              <a:solidFill>
                <a:srgbClr val="0000FF"/>
              </a:solidFill>
              <a:latin typeface="Arial" charset="0"/>
              <a:ea typeface="黑体" pitchFamily="49" charset="-122"/>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pic>
        <p:nvPicPr>
          <p:cNvPr id="6" name="Picture 28" descr="015">
            <a:extLst>
              <a:ext uri="{FF2B5EF4-FFF2-40B4-BE49-F238E27FC236}">
                <a16:creationId xmlns:a16="http://schemas.microsoft.com/office/drawing/2014/main" id="{5A80392D-BE5E-4C13-8A6A-86187A6656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9058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237935" y="365126"/>
            <a:ext cx="8731014" cy="879086"/>
          </a:xfrm>
        </p:spPr>
        <p:txBody>
          <a:bodyPr>
            <a:normAutofit fontScale="90000"/>
          </a:bodyPr>
          <a:lstStyle/>
          <a:p>
            <a:r>
              <a:rPr kumimoji="1" lang="zh-CN" altLang="en-US" dirty="0"/>
              <a:t>交换网络：</a:t>
            </a:r>
            <a:r>
              <a:rPr lang="zh-CN" altLang="en-US" dirty="0"/>
              <a:t>分组交换</a:t>
            </a:r>
            <a:r>
              <a:rPr lang="en-US" altLang="zh-CN" dirty="0"/>
              <a:t>(Packet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4532584" cy="4937453"/>
          </a:xfrm>
        </p:spPr>
        <p:txBody>
          <a:bodyPr anchor="t" anchorCtr="0">
            <a:normAutofit/>
          </a:bodyPr>
          <a:lstStyle/>
          <a:p>
            <a:r>
              <a:rPr lang="zh-CN" altLang="en-US" dirty="0"/>
              <a:t>在发送端，先把较长的报文划分成较短的、固定长度的数据段，加上首部构成分组（包）。</a:t>
            </a:r>
          </a:p>
          <a:p>
            <a:r>
              <a:rPr lang="zh-CN" altLang="en-US" dirty="0"/>
              <a:t>采用存储</a:t>
            </a:r>
            <a:r>
              <a:rPr lang="en-US" altLang="zh-CN" dirty="0"/>
              <a:t>-</a:t>
            </a:r>
            <a:r>
              <a:rPr lang="zh-CN" altLang="en-US" dirty="0"/>
              <a:t>转发技术，以分组为单位传送 </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grpSp>
        <p:nvGrpSpPr>
          <p:cNvPr id="6" name="组合 5"/>
          <p:cNvGrpSpPr/>
          <p:nvPr/>
        </p:nvGrpSpPr>
        <p:grpSpPr>
          <a:xfrm>
            <a:off x="5746745" y="2205593"/>
            <a:ext cx="5761038" cy="3524250"/>
            <a:chOff x="1403350" y="2801938"/>
            <a:chExt cx="5761038" cy="3524250"/>
          </a:xfrm>
        </p:grpSpPr>
        <p:sp>
          <p:nvSpPr>
            <p:cNvPr id="7" name="Rectangle 4"/>
            <p:cNvSpPr>
              <a:spLocks noChangeArrowheads="1"/>
            </p:cNvSpPr>
            <p:nvPr/>
          </p:nvSpPr>
          <p:spPr bwMode="auto">
            <a:xfrm>
              <a:off x="1979613" y="3257550"/>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1</a:t>
              </a:r>
            </a:p>
          </p:txBody>
        </p:sp>
        <p:sp>
          <p:nvSpPr>
            <p:cNvPr id="8" name="Rectangle 5"/>
            <p:cNvSpPr>
              <a:spLocks noChangeArrowheads="1"/>
            </p:cNvSpPr>
            <p:nvPr/>
          </p:nvSpPr>
          <p:spPr bwMode="auto">
            <a:xfrm>
              <a:off x="3708400" y="3257550"/>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2</a:t>
              </a:r>
            </a:p>
          </p:txBody>
        </p:sp>
        <p:sp>
          <p:nvSpPr>
            <p:cNvPr id="9" name="Rectangle 6"/>
            <p:cNvSpPr>
              <a:spLocks noChangeArrowheads="1"/>
            </p:cNvSpPr>
            <p:nvPr/>
          </p:nvSpPr>
          <p:spPr bwMode="auto">
            <a:xfrm>
              <a:off x="5437188" y="3257550"/>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3</a:t>
              </a:r>
            </a:p>
          </p:txBody>
        </p:sp>
        <p:grpSp>
          <p:nvGrpSpPr>
            <p:cNvPr id="10" name="Group 7"/>
            <p:cNvGrpSpPr>
              <a:grpSpLocks/>
            </p:cNvGrpSpPr>
            <p:nvPr/>
          </p:nvGrpSpPr>
          <p:grpSpPr bwMode="auto">
            <a:xfrm>
              <a:off x="1979613" y="2801938"/>
              <a:ext cx="5184775" cy="396875"/>
              <a:chOff x="1247" y="1737"/>
              <a:chExt cx="3266" cy="250"/>
            </a:xfrm>
          </p:grpSpPr>
          <p:sp>
            <p:nvSpPr>
              <p:cNvPr id="29" name="Line 8"/>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Text Box 9"/>
              <p:cNvSpPr txBox="1">
                <a:spLocks noChangeArrowheads="1"/>
              </p:cNvSpPr>
              <p:nvPr/>
            </p:nvSpPr>
            <p:spPr bwMode="auto">
              <a:xfrm>
                <a:off x="2699" y="1737"/>
                <a:ext cx="43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chemeClr val="tx1"/>
                    </a:solidFill>
                    <a:latin typeface="Times New Roman" panose="02020603050405020304" pitchFamily="18" charset="0"/>
                    <a:ea typeface="黑体" panose="02010609060101010101" pitchFamily="49" charset="-122"/>
                  </a:rPr>
                  <a:t>报文</a:t>
                </a:r>
              </a:p>
            </p:txBody>
          </p:sp>
        </p:grpSp>
        <p:grpSp>
          <p:nvGrpSpPr>
            <p:cNvPr id="11" name="Group 10"/>
            <p:cNvGrpSpPr>
              <a:grpSpLocks/>
            </p:cNvGrpSpPr>
            <p:nvPr/>
          </p:nvGrpSpPr>
          <p:grpSpPr bwMode="auto">
            <a:xfrm>
              <a:off x="1403350" y="3689350"/>
              <a:ext cx="2305050" cy="993775"/>
              <a:chOff x="884" y="2078"/>
              <a:chExt cx="1452" cy="626"/>
            </a:xfrm>
          </p:grpSpPr>
          <p:sp>
            <p:nvSpPr>
              <p:cNvPr id="24" name="Rectangle 11"/>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1</a:t>
                </a:r>
              </a:p>
            </p:txBody>
          </p:sp>
          <p:sp>
            <p:nvSpPr>
              <p:cNvPr id="25" name="Rectangle 12"/>
              <p:cNvSpPr>
                <a:spLocks noChangeArrowheads="1"/>
              </p:cNvSpPr>
              <p:nvPr/>
            </p:nvSpPr>
            <p:spPr bwMode="auto">
              <a:xfrm>
                <a:off x="884" y="2432"/>
                <a:ext cx="363" cy="272"/>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首部</a:t>
                </a:r>
              </a:p>
            </p:txBody>
          </p:sp>
          <p:grpSp>
            <p:nvGrpSpPr>
              <p:cNvPr id="26" name="Group 13"/>
              <p:cNvGrpSpPr>
                <a:grpSpLocks/>
              </p:cNvGrpSpPr>
              <p:nvPr/>
            </p:nvGrpSpPr>
            <p:grpSpPr bwMode="auto">
              <a:xfrm>
                <a:off x="885" y="2078"/>
                <a:ext cx="1451" cy="308"/>
                <a:chOff x="1973" y="2532"/>
                <a:chExt cx="1451" cy="308"/>
              </a:xfrm>
            </p:grpSpPr>
            <p:sp>
              <p:nvSpPr>
                <p:cNvPr id="27"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28" name="Text Box 15"/>
                <p:cNvSpPr txBox="1">
                  <a:spLocks noChangeArrowheads="1"/>
                </p:cNvSpPr>
                <p:nvPr/>
              </p:nvSpPr>
              <p:spPr bwMode="auto">
                <a:xfrm>
                  <a:off x="2489" y="2532"/>
                  <a:ext cx="5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lang="zh-CN" altLang="en-US" sz="2000">
                      <a:solidFill>
                        <a:schemeClr val="tx1"/>
                      </a:solidFill>
                      <a:latin typeface="Tahoma" panose="020B0604030504040204" pitchFamily="34" charset="0"/>
                      <a:ea typeface="黑体" panose="02010609060101010101" pitchFamily="49" charset="-122"/>
                    </a:rPr>
                    <a:t>分组</a:t>
                  </a:r>
                  <a:r>
                    <a:rPr lang="zh-CN" altLang="en-US" sz="1400">
                      <a:solidFill>
                        <a:schemeClr val="tx1"/>
                      </a:solidFill>
                      <a:latin typeface="Tahoma" panose="020B0604030504040204" pitchFamily="34" charset="0"/>
                      <a:ea typeface="黑体" panose="02010609060101010101" pitchFamily="49" charset="-122"/>
                    </a:rPr>
                    <a:t> </a:t>
                  </a:r>
                  <a:r>
                    <a:rPr lang="en-US" altLang="zh-CN" sz="2000">
                      <a:solidFill>
                        <a:schemeClr val="tx1"/>
                      </a:solidFill>
                      <a:latin typeface="Arial" panose="020B0604020202020204" pitchFamily="34" charset="0"/>
                      <a:ea typeface="黑体" panose="02010609060101010101" pitchFamily="49" charset="-122"/>
                    </a:rPr>
                    <a:t>1</a:t>
                  </a:r>
                </a:p>
              </p:txBody>
            </p:sp>
          </p:grpSp>
        </p:grpSp>
        <p:grpSp>
          <p:nvGrpSpPr>
            <p:cNvPr id="12" name="Group 16"/>
            <p:cNvGrpSpPr>
              <a:grpSpLocks/>
            </p:cNvGrpSpPr>
            <p:nvPr/>
          </p:nvGrpSpPr>
          <p:grpSpPr bwMode="auto">
            <a:xfrm>
              <a:off x="3132138" y="4481513"/>
              <a:ext cx="2303462" cy="993775"/>
              <a:chOff x="1973" y="2623"/>
              <a:chExt cx="1451" cy="626"/>
            </a:xfrm>
          </p:grpSpPr>
          <p:sp>
            <p:nvSpPr>
              <p:cNvPr id="19" name="Rectangle 17"/>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2</a:t>
                </a:r>
              </a:p>
            </p:txBody>
          </p:sp>
          <p:sp>
            <p:nvSpPr>
              <p:cNvPr id="20" name="Rectangle 18"/>
              <p:cNvSpPr>
                <a:spLocks noChangeArrowheads="1"/>
              </p:cNvSpPr>
              <p:nvPr/>
            </p:nvSpPr>
            <p:spPr bwMode="auto">
              <a:xfrm>
                <a:off x="1973" y="2977"/>
                <a:ext cx="363" cy="272"/>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首部</a:t>
                </a:r>
              </a:p>
            </p:txBody>
          </p:sp>
          <p:grpSp>
            <p:nvGrpSpPr>
              <p:cNvPr id="21" name="Group 19"/>
              <p:cNvGrpSpPr>
                <a:grpSpLocks/>
              </p:cNvGrpSpPr>
              <p:nvPr/>
            </p:nvGrpSpPr>
            <p:grpSpPr bwMode="auto">
              <a:xfrm>
                <a:off x="1973" y="2623"/>
                <a:ext cx="1451" cy="308"/>
                <a:chOff x="1973" y="2532"/>
                <a:chExt cx="1451" cy="308"/>
              </a:xfrm>
            </p:grpSpPr>
            <p:sp>
              <p:nvSpPr>
                <p:cNvPr id="22" name="AutoShape 2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23" name="Text Box 21"/>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lang="zh-CN" altLang="en-US" sz="2000">
                      <a:solidFill>
                        <a:schemeClr val="tx1"/>
                      </a:solidFill>
                      <a:latin typeface="Tahoma" panose="020B0604030504040204" pitchFamily="34" charset="0"/>
                      <a:ea typeface="黑体" panose="02010609060101010101" pitchFamily="49" charset="-122"/>
                    </a:rPr>
                    <a:t>分组</a:t>
                  </a:r>
                  <a:r>
                    <a:rPr lang="zh-CN" altLang="en-US" sz="1000">
                      <a:solidFill>
                        <a:schemeClr val="tx1"/>
                      </a:solidFill>
                      <a:latin typeface="Arial" panose="020B0604020202020204" pitchFamily="34" charset="0"/>
                      <a:ea typeface="黑体" panose="02010609060101010101" pitchFamily="49" charset="-122"/>
                    </a:rPr>
                    <a:t> </a:t>
                  </a:r>
                  <a:r>
                    <a:rPr lang="en-US" altLang="zh-CN" sz="2000">
                      <a:solidFill>
                        <a:schemeClr val="tx1"/>
                      </a:solidFill>
                      <a:latin typeface="Arial" panose="020B0604020202020204" pitchFamily="34" charset="0"/>
                      <a:ea typeface="黑体" panose="02010609060101010101" pitchFamily="49" charset="-122"/>
                    </a:rPr>
                    <a:t>2</a:t>
                  </a:r>
                </a:p>
              </p:txBody>
            </p:sp>
          </p:grpSp>
        </p:grpSp>
        <p:grpSp>
          <p:nvGrpSpPr>
            <p:cNvPr id="13" name="Group 22"/>
            <p:cNvGrpSpPr>
              <a:grpSpLocks/>
            </p:cNvGrpSpPr>
            <p:nvPr/>
          </p:nvGrpSpPr>
          <p:grpSpPr bwMode="auto">
            <a:xfrm>
              <a:off x="4859338" y="5346700"/>
              <a:ext cx="2303462" cy="979488"/>
              <a:chOff x="3061" y="3167"/>
              <a:chExt cx="1451" cy="617"/>
            </a:xfrm>
          </p:grpSpPr>
          <p:sp>
            <p:nvSpPr>
              <p:cNvPr id="14" name="Rectangle 23"/>
              <p:cNvSpPr>
                <a:spLocks noChangeArrowheads="1"/>
              </p:cNvSpPr>
              <p:nvPr/>
            </p:nvSpPr>
            <p:spPr bwMode="auto">
              <a:xfrm>
                <a:off x="3419" y="3513"/>
                <a:ext cx="1088" cy="271"/>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3</a:t>
                </a:r>
              </a:p>
            </p:txBody>
          </p:sp>
          <p:sp>
            <p:nvSpPr>
              <p:cNvPr id="15" name="Rectangle 24"/>
              <p:cNvSpPr>
                <a:spLocks noChangeArrowheads="1"/>
              </p:cNvSpPr>
              <p:nvPr/>
            </p:nvSpPr>
            <p:spPr bwMode="auto">
              <a:xfrm>
                <a:off x="3061" y="3512"/>
                <a:ext cx="363" cy="272"/>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首部</a:t>
                </a:r>
              </a:p>
            </p:txBody>
          </p:sp>
          <p:grpSp>
            <p:nvGrpSpPr>
              <p:cNvPr id="16" name="Group 25"/>
              <p:cNvGrpSpPr>
                <a:grpSpLocks/>
              </p:cNvGrpSpPr>
              <p:nvPr/>
            </p:nvGrpSpPr>
            <p:grpSpPr bwMode="auto">
              <a:xfrm>
                <a:off x="3061" y="3167"/>
                <a:ext cx="1451" cy="308"/>
                <a:chOff x="1973" y="2532"/>
                <a:chExt cx="1451" cy="308"/>
              </a:xfrm>
            </p:grpSpPr>
            <p:sp>
              <p:nvSpPr>
                <p:cNvPr id="17" name="AutoShape 26"/>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18" name="Text Box 27"/>
                <p:cNvSpPr txBox="1">
                  <a:spLocks noChangeArrowheads="1"/>
                </p:cNvSpPr>
                <p:nvPr/>
              </p:nvSpPr>
              <p:spPr bwMode="auto">
                <a:xfrm>
                  <a:off x="2489" y="2532"/>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lang="zh-CN" altLang="en-US" sz="2000">
                      <a:solidFill>
                        <a:schemeClr val="tx1"/>
                      </a:solidFill>
                      <a:latin typeface="Tahoma" panose="020B0604030504040204" pitchFamily="34" charset="0"/>
                      <a:ea typeface="黑体" panose="02010609060101010101" pitchFamily="49" charset="-122"/>
                    </a:rPr>
                    <a:t>分组</a:t>
                  </a:r>
                  <a:r>
                    <a:rPr lang="zh-CN" altLang="en-US" sz="1200">
                      <a:solidFill>
                        <a:schemeClr val="tx1"/>
                      </a:solidFill>
                      <a:latin typeface="Arial" panose="020B0604020202020204" pitchFamily="34" charset="0"/>
                      <a:ea typeface="黑体" panose="02010609060101010101" pitchFamily="49" charset="-122"/>
                    </a:rPr>
                    <a:t> </a:t>
                  </a:r>
                  <a:r>
                    <a:rPr lang="en-US" altLang="zh-CN" sz="2000">
                      <a:solidFill>
                        <a:schemeClr val="tx1"/>
                      </a:solidFill>
                      <a:latin typeface="Arial" panose="020B0604020202020204" pitchFamily="34" charset="0"/>
                      <a:ea typeface="黑体" panose="02010609060101010101" pitchFamily="49" charset="-122"/>
                    </a:rPr>
                    <a:t>3</a:t>
                  </a:r>
                </a:p>
              </p:txBody>
            </p:sp>
          </p:grpSp>
        </p:grpSp>
      </p:grpSp>
      <p:pic>
        <p:nvPicPr>
          <p:cNvPr id="31" name="Picture 28" descr="015">
            <a:extLst>
              <a:ext uri="{FF2B5EF4-FFF2-40B4-BE49-F238E27FC236}">
                <a16:creationId xmlns:a16="http://schemas.microsoft.com/office/drawing/2014/main" id="{1F020595-6D05-41A1-857D-AC32D6A8FA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96907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237935" y="365126"/>
            <a:ext cx="8731014" cy="879086"/>
          </a:xfrm>
        </p:spPr>
        <p:txBody>
          <a:bodyPr>
            <a:normAutofit fontScale="90000"/>
          </a:bodyPr>
          <a:lstStyle/>
          <a:p>
            <a:r>
              <a:rPr kumimoji="1" lang="zh-CN" altLang="en-US" dirty="0"/>
              <a:t>交换网络：</a:t>
            </a:r>
            <a:r>
              <a:rPr lang="zh-CN" altLang="en-US" dirty="0"/>
              <a:t>分组交换</a:t>
            </a:r>
            <a:r>
              <a:rPr lang="en-US" altLang="zh-CN" dirty="0"/>
              <a:t>(Packet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10605052" cy="4937453"/>
          </a:xfrm>
        </p:spPr>
        <p:txBody>
          <a:bodyPr anchor="t" anchorCtr="0">
            <a:normAutofit/>
          </a:bodyPr>
          <a:lstStyle/>
          <a:p>
            <a:r>
              <a:rPr lang="zh-CN" altLang="en-US" dirty="0">
                <a:latin typeface="仿宋_GB2312" pitchFamily="49" charset="-122"/>
                <a:ea typeface="仿宋_GB2312" pitchFamily="49" charset="-122"/>
              </a:rPr>
              <a:t>将报文划分为若干个大小相等的分组</a:t>
            </a:r>
            <a:r>
              <a:rPr lang="en-US" altLang="zh-CN" dirty="0">
                <a:latin typeface="仿宋_GB2312" pitchFamily="49" charset="-122"/>
                <a:ea typeface="仿宋_GB2312" pitchFamily="49" charset="-122"/>
              </a:rPr>
              <a:t>(Packet)</a:t>
            </a:r>
            <a:r>
              <a:rPr lang="zh-CN" altLang="en-US" dirty="0">
                <a:latin typeface="仿宋_GB2312" pitchFamily="49" charset="-122"/>
                <a:ea typeface="仿宋_GB2312" pitchFamily="49" charset="-122"/>
              </a:rPr>
              <a:t>进行存储转发，又称</a:t>
            </a:r>
            <a:r>
              <a:rPr lang="zh-CN" altLang="en-US" dirty="0">
                <a:solidFill>
                  <a:srgbClr val="FF0000"/>
                </a:solidFill>
                <a:latin typeface="仿宋_GB2312" pitchFamily="49" charset="-122"/>
                <a:ea typeface="仿宋_GB2312" pitchFamily="49" charset="-122"/>
              </a:rPr>
              <a:t>包交换</a:t>
            </a:r>
            <a:r>
              <a:rPr lang="zh-CN" altLang="en-US" dirty="0">
                <a:latin typeface="仿宋_GB2312" pitchFamily="49" charset="-122"/>
                <a:ea typeface="仿宋_GB2312" pitchFamily="49" charset="-122"/>
              </a:rPr>
              <a:t>。</a:t>
            </a:r>
          </a:p>
          <a:p>
            <a:r>
              <a:rPr lang="zh-CN" altLang="en-US" dirty="0">
                <a:latin typeface="仿宋_GB2312" pitchFamily="49" charset="-122"/>
                <a:ea typeface="仿宋_GB2312" pitchFamily="49" charset="-122"/>
              </a:rPr>
              <a:t>优点：</a:t>
            </a:r>
            <a:endParaRPr lang="zh-CN" altLang="en-US" dirty="0"/>
          </a:p>
          <a:p>
            <a:pPr lvl="1"/>
            <a:r>
              <a:rPr lang="zh-CN" altLang="en-US" dirty="0">
                <a:solidFill>
                  <a:srgbClr val="0000FF"/>
                </a:solidFill>
                <a:latin typeface="Arial" charset="0"/>
                <a:ea typeface="黑体" pitchFamily="49" charset="-122"/>
              </a:rPr>
              <a:t>存储量要求较小，可以用内存来缓冲分组</a:t>
            </a:r>
            <a:r>
              <a:rPr lang="en-US" altLang="zh-CN" dirty="0">
                <a:solidFill>
                  <a:srgbClr val="0000FF"/>
                </a:solidFill>
                <a:latin typeface="Arial" charset="0"/>
                <a:ea typeface="黑体" pitchFamily="49" charset="-122"/>
              </a:rPr>
              <a:t>——</a:t>
            </a:r>
            <a:r>
              <a:rPr lang="zh-CN" altLang="en-US" dirty="0">
                <a:solidFill>
                  <a:srgbClr val="0000FF"/>
                </a:solidFill>
                <a:latin typeface="Arial" charset="0"/>
                <a:ea typeface="黑体" pitchFamily="49" charset="-122"/>
              </a:rPr>
              <a:t>速度快；</a:t>
            </a:r>
          </a:p>
          <a:p>
            <a:pPr lvl="1"/>
            <a:r>
              <a:rPr lang="zh-CN" altLang="en-US" dirty="0">
                <a:solidFill>
                  <a:srgbClr val="0000FF"/>
                </a:solidFill>
                <a:latin typeface="Arial" charset="0"/>
                <a:ea typeface="黑体" pitchFamily="49" charset="-122"/>
              </a:rPr>
              <a:t>转发延时小</a:t>
            </a:r>
            <a:r>
              <a:rPr lang="en-US" altLang="zh-CN" dirty="0">
                <a:solidFill>
                  <a:srgbClr val="0000FF"/>
                </a:solidFill>
                <a:latin typeface="Arial" charset="0"/>
                <a:ea typeface="黑体" pitchFamily="49" charset="-122"/>
              </a:rPr>
              <a:t>——</a:t>
            </a:r>
            <a:r>
              <a:rPr lang="zh-CN" altLang="en-US" dirty="0">
                <a:solidFill>
                  <a:srgbClr val="0000FF"/>
                </a:solidFill>
                <a:latin typeface="Arial" charset="0"/>
                <a:ea typeface="黑体" pitchFamily="49" charset="-122"/>
              </a:rPr>
              <a:t>适用于交互式通信；</a:t>
            </a:r>
          </a:p>
          <a:p>
            <a:pPr lvl="1"/>
            <a:r>
              <a:rPr lang="zh-CN" altLang="en-US" dirty="0">
                <a:solidFill>
                  <a:srgbClr val="0000FF"/>
                </a:solidFill>
                <a:latin typeface="Arial" charset="0"/>
                <a:ea typeface="黑体" pitchFamily="49" charset="-122"/>
              </a:rPr>
              <a:t>某个分组出错仅重发该分组</a:t>
            </a:r>
            <a:r>
              <a:rPr lang="en-US" altLang="zh-CN" dirty="0">
                <a:solidFill>
                  <a:srgbClr val="0000FF"/>
                </a:solidFill>
                <a:latin typeface="Arial" charset="0"/>
                <a:ea typeface="黑体" pitchFamily="49" charset="-122"/>
              </a:rPr>
              <a:t>——</a:t>
            </a:r>
            <a:r>
              <a:rPr lang="zh-CN" altLang="en-US" dirty="0">
                <a:solidFill>
                  <a:srgbClr val="0000FF"/>
                </a:solidFill>
                <a:latin typeface="Arial" charset="0"/>
                <a:ea typeface="黑体" pitchFamily="49" charset="-122"/>
              </a:rPr>
              <a:t>效率高。</a:t>
            </a:r>
          </a:p>
          <a:p>
            <a:r>
              <a:rPr lang="zh-CN" altLang="en-US" dirty="0">
                <a:latin typeface="仿宋_GB2312" pitchFamily="49" charset="-122"/>
                <a:ea typeface="仿宋_GB2312" pitchFamily="49" charset="-122"/>
              </a:rPr>
              <a:t>特点：</a:t>
            </a:r>
            <a:endParaRPr lang="zh-CN" altLang="en-US" dirty="0"/>
          </a:p>
          <a:p>
            <a:pPr lvl="1"/>
            <a:r>
              <a:rPr lang="zh-CN" altLang="en-US" dirty="0">
                <a:solidFill>
                  <a:srgbClr val="0000FF"/>
                </a:solidFill>
                <a:latin typeface="Arial" charset="0"/>
                <a:ea typeface="黑体" pitchFamily="49" charset="-122"/>
              </a:rPr>
              <a:t>数据传输前不需要建立一条端到端的通路。</a:t>
            </a:r>
          </a:p>
          <a:p>
            <a:pPr lvl="1"/>
            <a:r>
              <a:rPr lang="zh-CN" altLang="en-US" dirty="0">
                <a:solidFill>
                  <a:srgbClr val="0000FF"/>
                </a:solidFill>
                <a:latin typeface="Arial" charset="0"/>
                <a:ea typeface="黑体" pitchFamily="49" charset="-122"/>
              </a:rPr>
              <a:t>有强大的纠错机制、流量控制和路由选择功能。</a:t>
            </a:r>
            <a:endParaRPr lang="en-US" altLang="zh-CN" dirty="0">
              <a:solidFill>
                <a:srgbClr val="0000FF"/>
              </a:solidFill>
              <a:latin typeface="Arial" charset="0"/>
              <a:ea typeface="黑体" pitchFamily="49" charset="-122"/>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pic>
        <p:nvPicPr>
          <p:cNvPr id="6" name="Picture 28" descr="015">
            <a:extLst>
              <a:ext uri="{FF2B5EF4-FFF2-40B4-BE49-F238E27FC236}">
                <a16:creationId xmlns:a16="http://schemas.microsoft.com/office/drawing/2014/main" id="{4D45E3A2-823A-47DF-A815-FEF0EE7FEC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83216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237935" y="365126"/>
            <a:ext cx="8731014" cy="879086"/>
          </a:xfrm>
        </p:spPr>
        <p:txBody>
          <a:bodyPr>
            <a:normAutofit fontScale="90000"/>
          </a:bodyPr>
          <a:lstStyle/>
          <a:p>
            <a:r>
              <a:rPr kumimoji="1" lang="zh-CN" altLang="en-US" dirty="0"/>
              <a:t>交换网络：</a:t>
            </a:r>
            <a:r>
              <a:rPr lang="zh-CN" altLang="en-US" dirty="0"/>
              <a:t>分组交换</a:t>
            </a:r>
            <a:r>
              <a:rPr lang="en-US" altLang="zh-CN" dirty="0"/>
              <a:t>(Packet Switching)</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55374" y="1418897"/>
            <a:ext cx="4333803" cy="4937453"/>
          </a:xfrm>
        </p:spPr>
        <p:txBody>
          <a:bodyPr anchor="t" anchorCtr="0">
            <a:normAutofit/>
          </a:bodyPr>
          <a:lstStyle/>
          <a:p>
            <a:r>
              <a:rPr lang="zh-CN" altLang="en-US" sz="2400" dirty="0"/>
              <a:t>分组首部的重要性</a:t>
            </a:r>
            <a:endParaRPr lang="en-US" altLang="zh-CN" sz="2400" dirty="0"/>
          </a:p>
          <a:p>
            <a:pPr lvl="1"/>
            <a:r>
              <a:rPr lang="zh-CN" altLang="en-US" sz="2000" dirty="0"/>
              <a:t>每一个分组的首部都含有地址等控制信息。</a:t>
            </a:r>
          </a:p>
          <a:p>
            <a:pPr lvl="1"/>
            <a:r>
              <a:rPr lang="zh-CN" altLang="en-US" sz="2000" dirty="0"/>
              <a:t>分组交换网中的结点交换机根据收到的分组的首部中的地址信息，把分组转发到下一个结点交换机。</a:t>
            </a:r>
          </a:p>
          <a:p>
            <a:pPr lvl="1"/>
            <a:r>
              <a:rPr lang="zh-CN" altLang="en-US" sz="2000" dirty="0"/>
              <a:t>用这样的存储转发方式，最后分组就能到达最终目的地。</a:t>
            </a:r>
            <a:endParaRPr lang="en-US" altLang="zh-CN" sz="2000" dirty="0"/>
          </a:p>
          <a:p>
            <a:r>
              <a:rPr lang="zh-CN" altLang="en-US" sz="2400" dirty="0"/>
              <a:t>接收端收到分组后剥去首部还原成报文。</a:t>
            </a:r>
            <a:endParaRPr lang="en-US" altLang="zh-CN" sz="2400" dirty="0"/>
          </a:p>
          <a:p>
            <a:pPr marL="0" indent="0">
              <a:buNone/>
            </a:pPr>
            <a:endParaRPr lang="en-US" altLang="zh-CN" dirty="0">
              <a:solidFill>
                <a:srgbClr val="0000FF"/>
              </a:solidFill>
              <a:latin typeface="Arial" charset="0"/>
              <a:ea typeface="黑体" pitchFamily="49" charset="-122"/>
            </a:endParaRP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2670981"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网络分类：交换网络</a:t>
            </a:r>
          </a:p>
        </p:txBody>
      </p:sp>
      <p:grpSp>
        <p:nvGrpSpPr>
          <p:cNvPr id="6" name="组合 5"/>
          <p:cNvGrpSpPr/>
          <p:nvPr/>
        </p:nvGrpSpPr>
        <p:grpSpPr>
          <a:xfrm>
            <a:off x="4263784" y="2386359"/>
            <a:ext cx="7298696" cy="3467100"/>
            <a:chOff x="360363" y="2133600"/>
            <a:chExt cx="7524750" cy="3467100"/>
          </a:xfrm>
        </p:grpSpPr>
        <p:sp>
          <p:nvSpPr>
            <p:cNvPr id="7" name="Rectangle 3"/>
            <p:cNvSpPr>
              <a:spLocks noChangeArrowheads="1"/>
            </p:cNvSpPr>
            <p:nvPr/>
          </p:nvSpPr>
          <p:spPr bwMode="auto">
            <a:xfrm>
              <a:off x="2695575" y="2695575"/>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1</a:t>
              </a:r>
            </a:p>
          </p:txBody>
        </p:sp>
        <p:sp>
          <p:nvSpPr>
            <p:cNvPr id="8" name="Rectangle 4"/>
            <p:cNvSpPr>
              <a:spLocks noChangeArrowheads="1"/>
            </p:cNvSpPr>
            <p:nvPr/>
          </p:nvSpPr>
          <p:spPr bwMode="auto">
            <a:xfrm>
              <a:off x="1908175" y="2695575"/>
              <a:ext cx="576263" cy="4318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首部</a:t>
              </a:r>
            </a:p>
          </p:txBody>
        </p:sp>
        <p:grpSp>
          <p:nvGrpSpPr>
            <p:cNvPr id="9" name="Group 5"/>
            <p:cNvGrpSpPr>
              <a:grpSpLocks/>
            </p:cNvGrpSpPr>
            <p:nvPr/>
          </p:nvGrpSpPr>
          <p:grpSpPr bwMode="auto">
            <a:xfrm>
              <a:off x="2120900" y="2133600"/>
              <a:ext cx="2303463" cy="488950"/>
              <a:chOff x="1973" y="2532"/>
              <a:chExt cx="1451" cy="308"/>
            </a:xfrm>
          </p:grpSpPr>
          <p:sp>
            <p:nvSpPr>
              <p:cNvPr id="27" name="AutoShape 6"/>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28" name="Text Box 7"/>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lang="zh-CN" altLang="en-US" sz="2000">
                    <a:solidFill>
                      <a:schemeClr val="tx1"/>
                    </a:solidFill>
                    <a:latin typeface="Tahoma" panose="020B0604030504040204" pitchFamily="34" charset="0"/>
                    <a:ea typeface="黑体" panose="02010609060101010101" pitchFamily="49" charset="-122"/>
                  </a:rPr>
                  <a:t>分组</a:t>
                </a:r>
                <a:r>
                  <a:rPr lang="zh-CN" altLang="en-US" sz="1000">
                    <a:solidFill>
                      <a:schemeClr val="tx1"/>
                    </a:solidFill>
                    <a:latin typeface="Arial" panose="020B0604020202020204" pitchFamily="34" charset="0"/>
                    <a:ea typeface="黑体" panose="02010609060101010101" pitchFamily="49" charset="-122"/>
                  </a:rPr>
                  <a:t> </a:t>
                </a:r>
                <a:r>
                  <a:rPr lang="en-US" altLang="zh-CN" sz="2000">
                    <a:solidFill>
                      <a:schemeClr val="tx1"/>
                    </a:solidFill>
                    <a:latin typeface="Arial" panose="020B0604020202020204" pitchFamily="34" charset="0"/>
                    <a:ea typeface="黑体" panose="02010609060101010101" pitchFamily="49" charset="-122"/>
                  </a:rPr>
                  <a:t>1</a:t>
                </a:r>
              </a:p>
            </p:txBody>
          </p:sp>
        </p:grpSp>
        <p:sp>
          <p:nvSpPr>
            <p:cNvPr id="10" name="Rectangle 8"/>
            <p:cNvSpPr>
              <a:spLocks noChangeArrowheads="1"/>
            </p:cNvSpPr>
            <p:nvPr/>
          </p:nvSpPr>
          <p:spPr bwMode="auto">
            <a:xfrm>
              <a:off x="4424363" y="3560763"/>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2</a:t>
              </a:r>
            </a:p>
          </p:txBody>
        </p:sp>
        <p:sp>
          <p:nvSpPr>
            <p:cNvPr id="11" name="Rectangle 9"/>
            <p:cNvSpPr>
              <a:spLocks noChangeArrowheads="1"/>
            </p:cNvSpPr>
            <p:nvPr/>
          </p:nvSpPr>
          <p:spPr bwMode="auto">
            <a:xfrm>
              <a:off x="3635375" y="3560763"/>
              <a:ext cx="576263" cy="4318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首部</a:t>
              </a:r>
            </a:p>
          </p:txBody>
        </p:sp>
        <p:grpSp>
          <p:nvGrpSpPr>
            <p:cNvPr id="12" name="Group 10"/>
            <p:cNvGrpSpPr>
              <a:grpSpLocks/>
            </p:cNvGrpSpPr>
            <p:nvPr/>
          </p:nvGrpSpPr>
          <p:grpSpPr bwMode="auto">
            <a:xfrm>
              <a:off x="3848100" y="2998788"/>
              <a:ext cx="2303463" cy="488950"/>
              <a:chOff x="1973" y="2532"/>
              <a:chExt cx="1451" cy="308"/>
            </a:xfrm>
          </p:grpSpPr>
          <p:sp>
            <p:nvSpPr>
              <p:cNvPr id="25" name="AutoShape 11"/>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26" name="Text Box 12"/>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lang="zh-CN" altLang="en-US" sz="2000">
                    <a:solidFill>
                      <a:schemeClr val="tx1"/>
                    </a:solidFill>
                    <a:latin typeface="Tahoma" panose="020B0604030504040204" pitchFamily="34" charset="0"/>
                    <a:ea typeface="黑体" panose="02010609060101010101" pitchFamily="49" charset="-122"/>
                  </a:rPr>
                  <a:t>分组</a:t>
                </a:r>
                <a:r>
                  <a:rPr lang="zh-CN" altLang="en-US" sz="1000">
                    <a:solidFill>
                      <a:schemeClr val="tx1"/>
                    </a:solidFill>
                    <a:latin typeface="Arial" panose="020B0604020202020204" pitchFamily="34" charset="0"/>
                    <a:ea typeface="黑体" panose="02010609060101010101" pitchFamily="49" charset="-122"/>
                  </a:rPr>
                  <a:t> </a:t>
                </a:r>
                <a:r>
                  <a:rPr lang="en-US" altLang="zh-CN" sz="2000">
                    <a:solidFill>
                      <a:schemeClr val="tx1"/>
                    </a:solidFill>
                    <a:latin typeface="Arial" panose="020B0604020202020204" pitchFamily="34" charset="0"/>
                    <a:ea typeface="黑体" panose="02010609060101010101" pitchFamily="49" charset="-122"/>
                  </a:rPr>
                  <a:t>2</a:t>
                </a:r>
              </a:p>
            </p:txBody>
          </p:sp>
        </p:grpSp>
        <p:sp>
          <p:nvSpPr>
            <p:cNvPr id="13" name="Rectangle 13"/>
            <p:cNvSpPr>
              <a:spLocks noChangeArrowheads="1"/>
            </p:cNvSpPr>
            <p:nvPr/>
          </p:nvSpPr>
          <p:spPr bwMode="auto">
            <a:xfrm>
              <a:off x="6157913" y="4411663"/>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3</a:t>
              </a:r>
            </a:p>
          </p:txBody>
        </p:sp>
        <p:sp>
          <p:nvSpPr>
            <p:cNvPr id="14" name="Rectangle 14"/>
            <p:cNvSpPr>
              <a:spLocks noChangeArrowheads="1"/>
            </p:cNvSpPr>
            <p:nvPr/>
          </p:nvSpPr>
          <p:spPr bwMode="auto">
            <a:xfrm>
              <a:off x="5219700" y="4410075"/>
              <a:ext cx="576263" cy="43180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首部</a:t>
              </a:r>
            </a:p>
          </p:txBody>
        </p:sp>
        <p:grpSp>
          <p:nvGrpSpPr>
            <p:cNvPr id="15" name="Group 15"/>
            <p:cNvGrpSpPr>
              <a:grpSpLocks/>
            </p:cNvGrpSpPr>
            <p:nvPr/>
          </p:nvGrpSpPr>
          <p:grpSpPr bwMode="auto">
            <a:xfrm>
              <a:off x="5575300" y="3862388"/>
              <a:ext cx="2303463" cy="488950"/>
              <a:chOff x="3061" y="2668"/>
              <a:chExt cx="1451" cy="308"/>
            </a:xfrm>
          </p:grpSpPr>
          <p:sp>
            <p:nvSpPr>
              <p:cNvPr id="23" name="AutoShape 16"/>
              <p:cNvSpPr>
                <a:spLocks/>
              </p:cNvSpPr>
              <p:nvPr/>
            </p:nvSpPr>
            <p:spPr bwMode="auto">
              <a:xfrm rot="5400000">
                <a:off x="3742" y="2205"/>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24" name="Text Box 17"/>
              <p:cNvSpPr txBox="1">
                <a:spLocks noChangeArrowheads="1"/>
              </p:cNvSpPr>
              <p:nvPr/>
            </p:nvSpPr>
            <p:spPr bwMode="auto">
              <a:xfrm>
                <a:off x="3577" y="2668"/>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lang="zh-CN" altLang="en-US" sz="2000">
                    <a:solidFill>
                      <a:schemeClr val="tx1"/>
                    </a:solidFill>
                    <a:latin typeface="Tahoma" panose="020B0604030504040204" pitchFamily="34" charset="0"/>
                    <a:ea typeface="黑体" panose="02010609060101010101" pitchFamily="49" charset="-122"/>
                  </a:rPr>
                  <a:t>分组</a:t>
                </a:r>
                <a:r>
                  <a:rPr lang="zh-CN" altLang="en-US" sz="1000">
                    <a:solidFill>
                      <a:schemeClr val="tx1"/>
                    </a:solidFill>
                    <a:latin typeface="Arial" panose="020B0604020202020204" pitchFamily="34" charset="0"/>
                    <a:ea typeface="黑体" panose="02010609060101010101" pitchFamily="49" charset="-122"/>
                  </a:rPr>
                  <a:t> </a:t>
                </a:r>
                <a:r>
                  <a:rPr lang="en-US" altLang="zh-CN" sz="2000">
                    <a:solidFill>
                      <a:schemeClr val="tx1"/>
                    </a:solidFill>
                    <a:latin typeface="Arial" panose="020B0604020202020204" pitchFamily="34" charset="0"/>
                    <a:ea typeface="黑体" panose="02010609060101010101" pitchFamily="49" charset="-122"/>
                  </a:rPr>
                  <a:t>3</a:t>
                </a:r>
              </a:p>
            </p:txBody>
          </p:sp>
        </p:grpSp>
        <p:sp>
          <p:nvSpPr>
            <p:cNvPr id="16" name="Rectangle 18"/>
            <p:cNvSpPr>
              <a:spLocks noChangeArrowheads="1"/>
            </p:cNvSpPr>
            <p:nvPr/>
          </p:nvSpPr>
          <p:spPr bwMode="auto">
            <a:xfrm>
              <a:off x="2700338" y="5143500"/>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1</a:t>
              </a:r>
            </a:p>
          </p:txBody>
        </p:sp>
        <p:sp>
          <p:nvSpPr>
            <p:cNvPr id="17" name="Rectangle 19"/>
            <p:cNvSpPr>
              <a:spLocks noChangeArrowheads="1"/>
            </p:cNvSpPr>
            <p:nvPr/>
          </p:nvSpPr>
          <p:spPr bwMode="auto">
            <a:xfrm>
              <a:off x="4427538" y="5143500"/>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2</a:t>
              </a:r>
            </a:p>
          </p:txBody>
        </p:sp>
        <p:sp>
          <p:nvSpPr>
            <p:cNvPr id="18" name="Rectangle 20"/>
            <p:cNvSpPr>
              <a:spLocks noChangeArrowheads="1"/>
            </p:cNvSpPr>
            <p:nvPr/>
          </p:nvSpPr>
          <p:spPr bwMode="auto">
            <a:xfrm>
              <a:off x="6156325" y="5143500"/>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zh-CN" altLang="en-US" sz="2000">
                  <a:solidFill>
                    <a:schemeClr val="tx1"/>
                  </a:solidFill>
                  <a:latin typeface="Tahoma" panose="020B0604030504040204" pitchFamily="34" charset="0"/>
                  <a:ea typeface="黑体" panose="02010609060101010101" pitchFamily="49" charset="-122"/>
                </a:rPr>
                <a:t>数     据    </a:t>
              </a:r>
              <a:r>
                <a:rPr lang="en-US" altLang="zh-CN" sz="2000">
                  <a:solidFill>
                    <a:schemeClr val="tx1"/>
                  </a:solidFill>
                  <a:latin typeface="Tahoma" panose="020B0604030504040204" pitchFamily="34" charset="0"/>
                  <a:ea typeface="黑体" panose="02010609060101010101" pitchFamily="49" charset="-122"/>
                </a:rPr>
                <a:t>3</a:t>
              </a:r>
            </a:p>
          </p:txBody>
        </p:sp>
        <p:sp>
          <p:nvSpPr>
            <p:cNvPr id="19" name="Line 21"/>
            <p:cNvSpPr>
              <a:spLocks noChangeShapeType="1"/>
            </p:cNvSpPr>
            <p:nvPr/>
          </p:nvSpPr>
          <p:spPr bwMode="auto">
            <a:xfrm>
              <a:off x="3419475" y="3200400"/>
              <a:ext cx="0" cy="1871663"/>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2"/>
            <p:cNvSpPr>
              <a:spLocks noChangeShapeType="1"/>
            </p:cNvSpPr>
            <p:nvPr/>
          </p:nvSpPr>
          <p:spPr bwMode="auto">
            <a:xfrm>
              <a:off x="5003800" y="3992563"/>
              <a:ext cx="0" cy="107950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3"/>
            <p:cNvSpPr>
              <a:spLocks noChangeShapeType="1"/>
            </p:cNvSpPr>
            <p:nvPr/>
          </p:nvSpPr>
          <p:spPr bwMode="auto">
            <a:xfrm>
              <a:off x="6948488" y="4856163"/>
              <a:ext cx="0" cy="287337"/>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24"/>
            <p:cNvSpPr txBox="1">
              <a:spLocks noChangeArrowheads="1"/>
            </p:cNvSpPr>
            <p:nvPr/>
          </p:nvSpPr>
          <p:spPr bwMode="auto">
            <a:xfrm>
              <a:off x="360363" y="5143500"/>
              <a:ext cx="2051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2400">
                  <a:solidFill>
                    <a:schemeClr val="tx1"/>
                  </a:solidFill>
                  <a:latin typeface="Tahoma" panose="020B0604030504040204" pitchFamily="34" charset="0"/>
                  <a:ea typeface="黑体" panose="02010609060101010101" pitchFamily="49" charset="-122"/>
                </a:rPr>
                <a:t>原始报文</a:t>
              </a:r>
            </a:p>
          </p:txBody>
        </p:sp>
      </p:grpSp>
      <p:pic>
        <p:nvPicPr>
          <p:cNvPr id="29" name="Picture 28" descr="015">
            <a:extLst>
              <a:ext uri="{FF2B5EF4-FFF2-40B4-BE49-F238E27FC236}">
                <a16:creationId xmlns:a16="http://schemas.microsoft.com/office/drawing/2014/main" id="{125E3583-484F-4040-93BC-9FE2700AF4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0467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253849" y="462584"/>
            <a:ext cx="8001000" cy="711200"/>
          </a:xfrm>
        </p:spPr>
        <p:txBody>
          <a:bodyPr/>
          <a:lstStyle/>
          <a:p>
            <a:pPr eaLnBrk="1" hangingPunct="1"/>
            <a:r>
              <a:rPr lang="zh-CN" altLang="en-US" dirty="0"/>
              <a:t>分组交换：两种方法</a:t>
            </a:r>
          </a:p>
        </p:txBody>
      </p:sp>
      <p:sp>
        <p:nvSpPr>
          <p:cNvPr id="79875" name="Rectangle 3"/>
          <p:cNvSpPr>
            <a:spLocks noGrp="1" noChangeArrowheads="1"/>
          </p:cNvSpPr>
          <p:nvPr>
            <p:ph type="body" idx="1"/>
          </p:nvPr>
        </p:nvSpPr>
        <p:spPr>
          <a:xfrm>
            <a:off x="2063750" y="1728789"/>
            <a:ext cx="8001000" cy="2663825"/>
          </a:xfrm>
        </p:spPr>
        <p:txBody>
          <a:bodyPr>
            <a:normAutofit fontScale="92500" lnSpcReduction="10000"/>
          </a:bodyPr>
          <a:lstStyle/>
          <a:p>
            <a:pPr eaLnBrk="1" hangingPunct="1"/>
            <a:r>
              <a:rPr lang="zh-CN" altLang="en-US" dirty="0">
                <a:solidFill>
                  <a:srgbClr val="C00000"/>
                </a:solidFill>
              </a:rPr>
              <a:t>数据报</a:t>
            </a:r>
            <a:r>
              <a:rPr lang="zh-CN" altLang="en-US" dirty="0"/>
              <a:t>（</a:t>
            </a:r>
            <a:r>
              <a:rPr lang="en-US" altLang="zh-CN" dirty="0"/>
              <a:t>Datagram</a:t>
            </a:r>
            <a:r>
              <a:rPr lang="zh-CN" altLang="en-US" dirty="0"/>
              <a:t>）</a:t>
            </a:r>
          </a:p>
          <a:p>
            <a:pPr eaLnBrk="1" hangingPunct="1">
              <a:buFont typeface="Wingdings" panose="05000000000000000000" pitchFamily="2" charset="2"/>
              <a:buNone/>
            </a:pPr>
            <a:r>
              <a:rPr lang="zh-CN" altLang="en-US" dirty="0"/>
              <a:t>   每个分组独立的寻找路径</a:t>
            </a:r>
          </a:p>
          <a:p>
            <a:pPr eaLnBrk="1" hangingPunct="1">
              <a:buFont typeface="Wingdings" panose="05000000000000000000" pitchFamily="2" charset="2"/>
              <a:buNone/>
            </a:pPr>
            <a:endParaRPr lang="zh-CN" altLang="en-US" dirty="0"/>
          </a:p>
          <a:p>
            <a:pPr eaLnBrk="1" hangingPunct="1"/>
            <a:r>
              <a:rPr lang="zh-CN" altLang="en-US" dirty="0">
                <a:solidFill>
                  <a:srgbClr val="C00000"/>
                </a:solidFill>
              </a:rPr>
              <a:t>虚电路</a:t>
            </a:r>
            <a:r>
              <a:rPr lang="zh-CN" altLang="en-US" dirty="0"/>
              <a:t>（</a:t>
            </a:r>
            <a:r>
              <a:rPr lang="en-US" altLang="zh-CN" dirty="0"/>
              <a:t>Virtual Circuit</a:t>
            </a:r>
            <a:r>
              <a:rPr lang="zh-CN" altLang="en-US" dirty="0"/>
              <a:t>）</a:t>
            </a:r>
          </a:p>
          <a:p>
            <a:pPr eaLnBrk="1" hangingPunct="1">
              <a:buFont typeface="Wingdings" panose="05000000000000000000" pitchFamily="2" charset="2"/>
              <a:buNone/>
            </a:pPr>
            <a:r>
              <a:rPr lang="zh-CN" altLang="en-US" dirty="0"/>
              <a:t>   任何分组发送前，建立一条逻辑连接，预先计划好路径</a:t>
            </a:r>
          </a:p>
        </p:txBody>
      </p:sp>
      <p:pic>
        <p:nvPicPr>
          <p:cNvPr id="4" name="Picture 28" descr="015">
            <a:extLst>
              <a:ext uri="{FF2B5EF4-FFF2-40B4-BE49-F238E27FC236}">
                <a16:creationId xmlns:a16="http://schemas.microsoft.com/office/drawing/2014/main" id="{FA97BBD7-DC77-401F-830E-6482B110F1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98394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340645" y="438150"/>
            <a:ext cx="7793037" cy="749300"/>
          </a:xfrm>
        </p:spPr>
        <p:txBody>
          <a:bodyPr/>
          <a:lstStyle/>
          <a:p>
            <a:r>
              <a:rPr lang="zh-CN" altLang="en-US" dirty="0"/>
              <a:t>分组交换：数据报</a:t>
            </a:r>
          </a:p>
        </p:txBody>
      </p:sp>
      <p:grpSp>
        <p:nvGrpSpPr>
          <p:cNvPr id="80899" name="Group 3"/>
          <p:cNvGrpSpPr>
            <a:grpSpLocks/>
          </p:cNvGrpSpPr>
          <p:nvPr/>
        </p:nvGrpSpPr>
        <p:grpSpPr bwMode="auto">
          <a:xfrm>
            <a:off x="3071814" y="1968501"/>
            <a:ext cx="4090987" cy="3667125"/>
            <a:chOff x="2256" y="2386"/>
            <a:chExt cx="2147" cy="1919"/>
          </a:xfrm>
        </p:grpSpPr>
        <p:sp>
          <p:nvSpPr>
            <p:cNvPr id="80956"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57"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58"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59" name="Oval 7"/>
            <p:cNvSpPr>
              <a:spLocks noChangeArrowheads="1"/>
            </p:cNvSpPr>
            <p:nvPr/>
          </p:nvSpPr>
          <p:spPr bwMode="auto">
            <a:xfrm rot="-3234972">
              <a:off x="3754" y="3108"/>
              <a:ext cx="687" cy="610"/>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60"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61"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62"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63" name="Oval 11"/>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64" name="Freeform 12"/>
            <p:cNvSpPr>
              <a:spLocks/>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0900" name="Line 13"/>
          <p:cNvSpPr>
            <a:spLocks noChangeShapeType="1"/>
          </p:cNvSpPr>
          <p:nvPr/>
        </p:nvSpPr>
        <p:spPr bwMode="auto">
          <a:xfrm flipV="1">
            <a:off x="4184651" y="2222501"/>
            <a:ext cx="1281113" cy="555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1" name="Line 14"/>
          <p:cNvSpPr>
            <a:spLocks noChangeShapeType="1"/>
          </p:cNvSpPr>
          <p:nvPr/>
        </p:nvSpPr>
        <p:spPr bwMode="auto">
          <a:xfrm>
            <a:off x="5622925" y="2297114"/>
            <a:ext cx="757238" cy="1398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2" name="Line 15"/>
          <p:cNvSpPr>
            <a:spLocks noChangeShapeType="1"/>
          </p:cNvSpPr>
          <p:nvPr/>
        </p:nvSpPr>
        <p:spPr bwMode="auto">
          <a:xfrm flipH="1">
            <a:off x="3429001" y="2870201"/>
            <a:ext cx="665163" cy="12557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3" name="Line 16"/>
          <p:cNvSpPr>
            <a:spLocks noChangeShapeType="1"/>
          </p:cNvSpPr>
          <p:nvPr/>
        </p:nvSpPr>
        <p:spPr bwMode="auto">
          <a:xfrm>
            <a:off x="3470276" y="4303713"/>
            <a:ext cx="1520825" cy="8826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4" name="Line 17"/>
          <p:cNvSpPr>
            <a:spLocks noChangeShapeType="1"/>
          </p:cNvSpPr>
          <p:nvPr/>
        </p:nvSpPr>
        <p:spPr bwMode="auto">
          <a:xfrm flipV="1">
            <a:off x="5054601" y="3971926"/>
            <a:ext cx="1325563" cy="1306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5" name="Line 18"/>
          <p:cNvSpPr>
            <a:spLocks noChangeShapeType="1"/>
          </p:cNvSpPr>
          <p:nvPr/>
        </p:nvSpPr>
        <p:spPr bwMode="auto">
          <a:xfrm>
            <a:off x="4237038" y="2876550"/>
            <a:ext cx="2125662" cy="9461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6" name="Line 19"/>
          <p:cNvSpPr>
            <a:spLocks noChangeShapeType="1"/>
          </p:cNvSpPr>
          <p:nvPr/>
        </p:nvSpPr>
        <p:spPr bwMode="auto">
          <a:xfrm>
            <a:off x="4135439" y="2713039"/>
            <a:ext cx="1000125" cy="24717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7" name="Line 20"/>
          <p:cNvSpPr>
            <a:spLocks noChangeShapeType="1"/>
          </p:cNvSpPr>
          <p:nvPr/>
        </p:nvSpPr>
        <p:spPr bwMode="auto">
          <a:xfrm flipV="1">
            <a:off x="4459288" y="5256214"/>
            <a:ext cx="639762" cy="549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8" name="Line 21"/>
          <p:cNvSpPr>
            <a:spLocks noChangeShapeType="1"/>
          </p:cNvSpPr>
          <p:nvPr/>
        </p:nvSpPr>
        <p:spPr bwMode="auto">
          <a:xfrm rot="-5400000">
            <a:off x="5383213" y="1906588"/>
            <a:ext cx="3365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9" name="Line 22"/>
          <p:cNvSpPr>
            <a:spLocks noChangeShapeType="1"/>
          </p:cNvSpPr>
          <p:nvPr/>
        </p:nvSpPr>
        <p:spPr bwMode="auto">
          <a:xfrm>
            <a:off x="6472238" y="3971926"/>
            <a:ext cx="639762" cy="1008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0" name="Line 23"/>
          <p:cNvSpPr>
            <a:spLocks noChangeShapeType="1"/>
          </p:cNvSpPr>
          <p:nvPr/>
        </p:nvSpPr>
        <p:spPr bwMode="auto">
          <a:xfrm flipV="1">
            <a:off x="2551114" y="4229100"/>
            <a:ext cx="6445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1" name="Line 24"/>
          <p:cNvSpPr>
            <a:spLocks noChangeShapeType="1"/>
          </p:cNvSpPr>
          <p:nvPr/>
        </p:nvSpPr>
        <p:spPr bwMode="auto">
          <a:xfrm rot="5400000" flipH="1">
            <a:off x="3708401" y="2338389"/>
            <a:ext cx="773113"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2" name="Text Box 25"/>
          <p:cNvSpPr txBox="1">
            <a:spLocks noChangeArrowheads="1"/>
          </p:cNvSpPr>
          <p:nvPr/>
        </p:nvSpPr>
        <p:spPr bwMode="auto">
          <a:xfrm>
            <a:off x="2206625" y="3594100"/>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1</a:t>
            </a:r>
            <a:endParaRPr kumimoji="1" lang="en-US" altLang="zh-CN" sz="2000">
              <a:solidFill>
                <a:srgbClr val="333399"/>
              </a:solidFill>
              <a:latin typeface="Arial" panose="020B0604020202020204" pitchFamily="34" charset="0"/>
            </a:endParaRPr>
          </a:p>
        </p:txBody>
      </p:sp>
      <p:sp>
        <p:nvSpPr>
          <p:cNvPr id="80913" name="Oval 26"/>
          <p:cNvSpPr>
            <a:spLocks noChangeArrowheads="1"/>
          </p:cNvSpPr>
          <p:nvPr/>
        </p:nvSpPr>
        <p:spPr bwMode="auto">
          <a:xfrm>
            <a:off x="3179763" y="3971925"/>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A</a:t>
            </a:r>
          </a:p>
        </p:txBody>
      </p:sp>
      <p:sp>
        <p:nvSpPr>
          <p:cNvPr id="80914" name="Line 27"/>
          <p:cNvSpPr>
            <a:spLocks noChangeShapeType="1"/>
          </p:cNvSpPr>
          <p:nvPr/>
        </p:nvSpPr>
        <p:spPr bwMode="auto">
          <a:xfrm flipV="1">
            <a:off x="6472238" y="3375025"/>
            <a:ext cx="806450" cy="4127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5" name="AutoShape 28"/>
          <p:cNvSpPr>
            <a:spLocks noChangeArrowheads="1"/>
          </p:cNvSpPr>
          <p:nvPr/>
        </p:nvSpPr>
        <p:spPr bwMode="auto">
          <a:xfrm flipV="1">
            <a:off x="6024563" y="5622925"/>
            <a:ext cx="1655762" cy="425450"/>
          </a:xfrm>
          <a:prstGeom prst="wedgeRoundRectCallout">
            <a:avLst>
              <a:gd name="adj1" fmla="val -60356"/>
              <a:gd name="adj2" fmla="val 11567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endParaRPr kumimoji="1" lang="zh-CN" altLang="en-US" sz="2400">
              <a:solidFill>
                <a:schemeClr val="tx1"/>
              </a:solidFill>
              <a:latin typeface="Times New Roman" panose="02020603050405020304" pitchFamily="18" charset="0"/>
            </a:endParaRPr>
          </a:p>
        </p:txBody>
      </p:sp>
      <p:sp>
        <p:nvSpPr>
          <p:cNvPr id="80916" name="Text Box 29"/>
          <p:cNvSpPr txBox="1">
            <a:spLocks noChangeArrowheads="1"/>
          </p:cNvSpPr>
          <p:nvPr/>
        </p:nvSpPr>
        <p:spPr bwMode="auto">
          <a:xfrm>
            <a:off x="6127750" y="5651501"/>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分组交换网</a:t>
            </a:r>
          </a:p>
        </p:txBody>
      </p:sp>
      <p:pic>
        <p:nvPicPr>
          <p:cNvPr id="80917" name="Picture 3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7164" y="1295401"/>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918"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4389" y="3009901"/>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919"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4164" y="5715001"/>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80920"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9439" y="4797426"/>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921"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9526" y="1493838"/>
            <a:ext cx="587375"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922" name="Oval 35"/>
          <p:cNvSpPr>
            <a:spLocks noChangeArrowheads="1"/>
          </p:cNvSpPr>
          <p:nvPr/>
        </p:nvSpPr>
        <p:spPr bwMode="auto">
          <a:xfrm>
            <a:off x="3903663" y="2605089"/>
            <a:ext cx="457200" cy="4587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B</a:t>
            </a:r>
          </a:p>
        </p:txBody>
      </p:sp>
      <p:sp>
        <p:nvSpPr>
          <p:cNvPr id="80923" name="Oval 36"/>
          <p:cNvSpPr>
            <a:spLocks noChangeArrowheads="1"/>
          </p:cNvSpPr>
          <p:nvPr/>
        </p:nvSpPr>
        <p:spPr bwMode="auto">
          <a:xfrm>
            <a:off x="5324475" y="1993900"/>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D</a:t>
            </a:r>
          </a:p>
        </p:txBody>
      </p:sp>
      <p:sp>
        <p:nvSpPr>
          <p:cNvPr id="80924" name="Oval 37"/>
          <p:cNvSpPr>
            <a:spLocks noChangeArrowheads="1"/>
          </p:cNvSpPr>
          <p:nvPr/>
        </p:nvSpPr>
        <p:spPr bwMode="auto">
          <a:xfrm>
            <a:off x="6178550" y="3622675"/>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E</a:t>
            </a:r>
          </a:p>
        </p:txBody>
      </p:sp>
      <p:sp>
        <p:nvSpPr>
          <p:cNvPr id="80925" name="Oval 38"/>
          <p:cNvSpPr>
            <a:spLocks noChangeArrowheads="1"/>
          </p:cNvSpPr>
          <p:nvPr/>
        </p:nvSpPr>
        <p:spPr bwMode="auto">
          <a:xfrm>
            <a:off x="4870450" y="4941889"/>
            <a:ext cx="457200" cy="4587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C</a:t>
            </a:r>
          </a:p>
        </p:txBody>
      </p:sp>
      <p:sp>
        <p:nvSpPr>
          <p:cNvPr id="80926" name="Text Box 39"/>
          <p:cNvSpPr txBox="1">
            <a:spLocks noChangeArrowheads="1"/>
          </p:cNvSpPr>
          <p:nvPr/>
        </p:nvSpPr>
        <p:spPr bwMode="auto">
          <a:xfrm>
            <a:off x="6600825" y="475138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5</a:t>
            </a:r>
            <a:endParaRPr kumimoji="1" lang="en-US" altLang="zh-CN" sz="2000">
              <a:solidFill>
                <a:srgbClr val="333399"/>
              </a:solidFill>
              <a:latin typeface="Arial" panose="020B0604020202020204" pitchFamily="34" charset="0"/>
            </a:endParaRPr>
          </a:p>
        </p:txBody>
      </p:sp>
      <p:sp>
        <p:nvSpPr>
          <p:cNvPr id="80927" name="Text Box 40"/>
          <p:cNvSpPr txBox="1">
            <a:spLocks noChangeArrowheads="1"/>
          </p:cNvSpPr>
          <p:nvPr/>
        </p:nvSpPr>
        <p:spPr bwMode="auto">
          <a:xfrm>
            <a:off x="7608888" y="2951163"/>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6</a:t>
            </a:r>
            <a:endParaRPr kumimoji="1" lang="en-US" altLang="zh-CN" sz="2000">
              <a:solidFill>
                <a:srgbClr val="333399"/>
              </a:solidFill>
              <a:latin typeface="Arial" panose="020B0604020202020204" pitchFamily="34" charset="0"/>
            </a:endParaRPr>
          </a:p>
        </p:txBody>
      </p:sp>
      <p:sp>
        <p:nvSpPr>
          <p:cNvPr id="80928" name="Text Box 41"/>
          <p:cNvSpPr txBox="1">
            <a:spLocks noChangeArrowheads="1"/>
          </p:cNvSpPr>
          <p:nvPr/>
        </p:nvSpPr>
        <p:spPr bwMode="auto">
          <a:xfrm>
            <a:off x="4872038" y="1295400"/>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4</a:t>
            </a:r>
            <a:endParaRPr kumimoji="1" lang="en-US" altLang="zh-CN" sz="2000">
              <a:solidFill>
                <a:srgbClr val="333399"/>
              </a:solidFill>
              <a:latin typeface="Arial" panose="020B0604020202020204" pitchFamily="34" charset="0"/>
            </a:endParaRPr>
          </a:p>
        </p:txBody>
      </p:sp>
      <p:sp>
        <p:nvSpPr>
          <p:cNvPr id="80929" name="Text Box 42"/>
          <p:cNvSpPr txBox="1">
            <a:spLocks noChangeArrowheads="1"/>
          </p:cNvSpPr>
          <p:nvPr/>
        </p:nvSpPr>
        <p:spPr bwMode="auto">
          <a:xfrm>
            <a:off x="3503613" y="1439863"/>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2</a:t>
            </a:r>
            <a:endParaRPr kumimoji="1" lang="en-US" altLang="zh-CN" sz="2000">
              <a:solidFill>
                <a:srgbClr val="333399"/>
              </a:solidFill>
              <a:latin typeface="Arial" panose="020B0604020202020204" pitchFamily="34" charset="0"/>
            </a:endParaRPr>
          </a:p>
        </p:txBody>
      </p:sp>
      <p:sp>
        <p:nvSpPr>
          <p:cNvPr id="80930" name="Text Box 43"/>
          <p:cNvSpPr txBox="1">
            <a:spLocks noChangeArrowheads="1"/>
          </p:cNvSpPr>
          <p:nvPr/>
        </p:nvSpPr>
        <p:spPr bwMode="auto">
          <a:xfrm>
            <a:off x="3719513" y="5688013"/>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3</a:t>
            </a:r>
            <a:endParaRPr kumimoji="1" lang="en-US" altLang="zh-CN" sz="2000">
              <a:solidFill>
                <a:srgbClr val="333399"/>
              </a:solidFill>
              <a:latin typeface="Arial" panose="020B0604020202020204" pitchFamily="34" charset="0"/>
            </a:endParaRPr>
          </a:p>
        </p:txBody>
      </p:sp>
      <p:sp>
        <p:nvSpPr>
          <p:cNvPr id="80931" name="Rectangle 44"/>
          <p:cNvSpPr>
            <a:spLocks noChangeArrowheads="1"/>
          </p:cNvSpPr>
          <p:nvPr/>
        </p:nvSpPr>
        <p:spPr bwMode="auto">
          <a:xfrm>
            <a:off x="4008439" y="1655764"/>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pic>
        <p:nvPicPr>
          <p:cNvPr id="80932" name="Picture 4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5189" y="3971926"/>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933" name="Text Box 46"/>
          <p:cNvSpPr txBox="1">
            <a:spLocks noChangeArrowheads="1"/>
          </p:cNvSpPr>
          <p:nvPr/>
        </p:nvSpPr>
        <p:spPr bwMode="auto">
          <a:xfrm>
            <a:off x="7751763" y="4608514"/>
            <a:ext cx="2609850" cy="466725"/>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400">
                <a:solidFill>
                  <a:schemeClr val="hlink"/>
                </a:solidFill>
                <a:latin typeface="Arial" panose="020B0604020202020204" pitchFamily="34" charset="0"/>
              </a:rPr>
              <a:t>H</a:t>
            </a:r>
            <a:r>
              <a:rPr kumimoji="1" lang="en-US" altLang="zh-CN" sz="2400" baseline="-25000">
                <a:solidFill>
                  <a:schemeClr val="hlink"/>
                </a:solidFill>
                <a:latin typeface="Arial" panose="020B0604020202020204" pitchFamily="34" charset="0"/>
              </a:rPr>
              <a:t>1 </a:t>
            </a:r>
            <a:r>
              <a:rPr kumimoji="1" lang="zh-CN" altLang="en-US" sz="2400">
                <a:solidFill>
                  <a:schemeClr val="hlink"/>
                </a:solidFill>
                <a:latin typeface="Arial" panose="020B0604020202020204" pitchFamily="34" charset="0"/>
                <a:ea typeface="黑体" panose="02010609060101010101" pitchFamily="49" charset="-122"/>
              </a:rPr>
              <a:t>向 </a:t>
            </a:r>
            <a:r>
              <a:rPr kumimoji="1" lang="en-US" altLang="zh-CN" sz="2400">
                <a:solidFill>
                  <a:schemeClr val="hlink"/>
                </a:solidFill>
                <a:latin typeface="Arial" panose="020B0604020202020204" pitchFamily="34" charset="0"/>
                <a:ea typeface="黑体" panose="02010609060101010101" pitchFamily="49" charset="-122"/>
              </a:rPr>
              <a:t>H</a:t>
            </a:r>
            <a:r>
              <a:rPr kumimoji="1" lang="en-US" altLang="zh-CN" sz="2400" baseline="-25000">
                <a:solidFill>
                  <a:schemeClr val="hlink"/>
                </a:solidFill>
                <a:latin typeface="Arial" panose="020B0604020202020204" pitchFamily="34" charset="0"/>
                <a:ea typeface="黑体" panose="02010609060101010101" pitchFamily="49" charset="-122"/>
              </a:rPr>
              <a:t>5</a:t>
            </a:r>
            <a:r>
              <a:rPr kumimoji="1" lang="en-US" altLang="zh-CN" sz="2400">
                <a:solidFill>
                  <a:schemeClr val="hlink"/>
                </a:solidFill>
                <a:latin typeface="Arial" panose="020B0604020202020204" pitchFamily="34" charset="0"/>
                <a:ea typeface="黑体" panose="02010609060101010101" pitchFamily="49" charset="-122"/>
              </a:rPr>
              <a:t> </a:t>
            </a:r>
            <a:r>
              <a:rPr kumimoji="1" lang="zh-CN" altLang="en-US" sz="2400">
                <a:solidFill>
                  <a:schemeClr val="hlink"/>
                </a:solidFill>
                <a:latin typeface="Arial" panose="020B0604020202020204" pitchFamily="34" charset="0"/>
                <a:ea typeface="黑体" panose="02010609060101010101" pitchFamily="49" charset="-122"/>
              </a:rPr>
              <a:t>发送分组</a:t>
            </a:r>
          </a:p>
        </p:txBody>
      </p:sp>
      <p:sp>
        <p:nvSpPr>
          <p:cNvPr id="80934" name="Text Box 47"/>
          <p:cNvSpPr txBox="1">
            <a:spLocks noChangeArrowheads="1"/>
          </p:cNvSpPr>
          <p:nvPr/>
        </p:nvSpPr>
        <p:spPr bwMode="auto">
          <a:xfrm>
            <a:off x="7751763" y="3743326"/>
            <a:ext cx="2525712" cy="466725"/>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400">
                <a:solidFill>
                  <a:srgbClr val="333399"/>
                </a:solidFill>
                <a:latin typeface="Arial" panose="020B0604020202020204" pitchFamily="34" charset="0"/>
              </a:rPr>
              <a:t>H</a:t>
            </a:r>
            <a:r>
              <a:rPr kumimoji="1" lang="en-US" altLang="zh-CN" sz="2400" baseline="-25000">
                <a:solidFill>
                  <a:srgbClr val="333399"/>
                </a:solidFill>
                <a:latin typeface="Arial" panose="020B0604020202020204" pitchFamily="34" charset="0"/>
              </a:rPr>
              <a:t>2 </a:t>
            </a:r>
            <a:r>
              <a:rPr kumimoji="1" lang="zh-CN" altLang="en-US" sz="2400">
                <a:solidFill>
                  <a:srgbClr val="333399"/>
                </a:solidFill>
                <a:latin typeface="Arial" panose="020B0604020202020204" pitchFamily="34" charset="0"/>
                <a:ea typeface="黑体" panose="02010609060101010101" pitchFamily="49" charset="-122"/>
              </a:rPr>
              <a:t>向 </a:t>
            </a:r>
            <a:r>
              <a:rPr kumimoji="1" lang="en-US" altLang="zh-CN" sz="2400">
                <a:solidFill>
                  <a:srgbClr val="333399"/>
                </a:solidFill>
                <a:latin typeface="Arial" panose="020B0604020202020204" pitchFamily="34" charset="0"/>
                <a:ea typeface="黑体" panose="02010609060101010101" pitchFamily="49" charset="-122"/>
              </a:rPr>
              <a:t>H</a:t>
            </a:r>
            <a:r>
              <a:rPr kumimoji="1" lang="en-US" altLang="zh-CN" sz="2400" baseline="-25000">
                <a:solidFill>
                  <a:srgbClr val="333399"/>
                </a:solidFill>
                <a:latin typeface="Arial" panose="020B0604020202020204" pitchFamily="34" charset="0"/>
                <a:ea typeface="黑体" panose="02010609060101010101" pitchFamily="49" charset="-122"/>
              </a:rPr>
              <a:t>5</a:t>
            </a:r>
            <a:r>
              <a:rPr kumimoji="1" lang="zh-CN" altLang="en-US" sz="2400">
                <a:solidFill>
                  <a:srgbClr val="333399"/>
                </a:solidFill>
                <a:latin typeface="Arial" panose="020B0604020202020204" pitchFamily="34" charset="0"/>
                <a:ea typeface="黑体" panose="02010609060101010101" pitchFamily="49" charset="-122"/>
              </a:rPr>
              <a:t>发送分组</a:t>
            </a:r>
          </a:p>
        </p:txBody>
      </p:sp>
      <p:sp>
        <p:nvSpPr>
          <p:cNvPr id="72752" name="Rectangle 48"/>
          <p:cNvSpPr>
            <a:spLocks noChangeArrowheads="1"/>
          </p:cNvSpPr>
          <p:nvPr/>
        </p:nvSpPr>
        <p:spPr bwMode="auto">
          <a:xfrm>
            <a:off x="2424113" y="3671889"/>
            <a:ext cx="360362" cy="504825"/>
          </a:xfrm>
          <a:prstGeom prst="rect">
            <a:avLst/>
          </a:prstGeom>
          <a:solidFill>
            <a:schemeClr val="accent1"/>
          </a:solidFill>
          <a:ln w="9525">
            <a:solidFill>
              <a:srgbClr val="00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a:solidFill>
                  <a:schemeClr val="tx1"/>
                </a:solidFill>
                <a:latin typeface="Tahoma" panose="020B0604030504040204" pitchFamily="34" charset="0"/>
              </a:rPr>
              <a:t>2</a:t>
            </a:r>
          </a:p>
        </p:txBody>
      </p:sp>
      <p:sp>
        <p:nvSpPr>
          <p:cNvPr id="80936" name="Rectangle 49"/>
          <p:cNvSpPr>
            <a:spLocks noChangeArrowheads="1"/>
          </p:cNvSpPr>
          <p:nvPr/>
        </p:nvSpPr>
        <p:spPr bwMode="auto">
          <a:xfrm>
            <a:off x="4008439" y="1655764"/>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37" name="Rectangle 50"/>
          <p:cNvSpPr>
            <a:spLocks noChangeArrowheads="1"/>
          </p:cNvSpPr>
          <p:nvPr/>
        </p:nvSpPr>
        <p:spPr bwMode="auto">
          <a:xfrm>
            <a:off x="2424113" y="4344988"/>
            <a:ext cx="360362" cy="43180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a:solidFill>
                  <a:schemeClr val="tx1"/>
                </a:solidFill>
                <a:latin typeface="Tahoma" panose="020B0604030504040204" pitchFamily="34" charset="0"/>
              </a:rPr>
              <a:t>1</a:t>
            </a:r>
          </a:p>
        </p:txBody>
      </p:sp>
      <p:sp>
        <p:nvSpPr>
          <p:cNvPr id="80938" name="Rectangle 51"/>
          <p:cNvSpPr>
            <a:spLocks noChangeArrowheads="1"/>
          </p:cNvSpPr>
          <p:nvPr/>
        </p:nvSpPr>
        <p:spPr bwMode="auto">
          <a:xfrm>
            <a:off x="4008439" y="1655764"/>
            <a:ext cx="287337" cy="28733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0939" name="Text Box 52"/>
          <p:cNvSpPr txBox="1">
            <a:spLocks noChangeArrowheads="1"/>
          </p:cNvSpPr>
          <p:nvPr/>
        </p:nvSpPr>
        <p:spPr bwMode="auto">
          <a:xfrm>
            <a:off x="1774825" y="2303464"/>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结点交换机</a:t>
            </a:r>
          </a:p>
        </p:txBody>
      </p:sp>
      <p:sp>
        <p:nvSpPr>
          <p:cNvPr id="80940" name="Text Box 53"/>
          <p:cNvSpPr txBox="1">
            <a:spLocks noChangeArrowheads="1"/>
          </p:cNvSpPr>
          <p:nvPr/>
        </p:nvSpPr>
        <p:spPr bwMode="auto">
          <a:xfrm>
            <a:off x="1524000" y="3095626"/>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主机</a:t>
            </a:r>
          </a:p>
        </p:txBody>
      </p:sp>
      <p:sp>
        <p:nvSpPr>
          <p:cNvPr id="80941" name="Line 54"/>
          <p:cNvSpPr>
            <a:spLocks noChangeShapeType="1"/>
          </p:cNvSpPr>
          <p:nvPr/>
        </p:nvSpPr>
        <p:spPr bwMode="auto">
          <a:xfrm>
            <a:off x="3143251" y="2519363"/>
            <a:ext cx="792163" cy="2159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42" name="Line 55"/>
          <p:cNvSpPr>
            <a:spLocks noChangeShapeType="1"/>
          </p:cNvSpPr>
          <p:nvPr/>
        </p:nvSpPr>
        <p:spPr bwMode="auto">
          <a:xfrm>
            <a:off x="1919288" y="3455988"/>
            <a:ext cx="360362" cy="5762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0" name="Line 56"/>
          <p:cNvSpPr>
            <a:spLocks noChangeShapeType="1"/>
          </p:cNvSpPr>
          <p:nvPr/>
        </p:nvSpPr>
        <p:spPr bwMode="auto">
          <a:xfrm>
            <a:off x="2782889" y="4416425"/>
            <a:ext cx="433387" cy="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1" name="Line 57"/>
          <p:cNvSpPr>
            <a:spLocks noChangeShapeType="1"/>
          </p:cNvSpPr>
          <p:nvPr/>
        </p:nvSpPr>
        <p:spPr bwMode="auto">
          <a:xfrm>
            <a:off x="3216276" y="4416425"/>
            <a:ext cx="1800225" cy="10795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2" name="Line 58"/>
          <p:cNvSpPr>
            <a:spLocks noChangeShapeType="1"/>
          </p:cNvSpPr>
          <p:nvPr/>
        </p:nvSpPr>
        <p:spPr bwMode="auto">
          <a:xfrm flipV="1">
            <a:off x="5016500" y="4200525"/>
            <a:ext cx="1295400" cy="12954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3" name="Line 59"/>
          <p:cNvSpPr>
            <a:spLocks noChangeShapeType="1"/>
          </p:cNvSpPr>
          <p:nvPr/>
        </p:nvSpPr>
        <p:spPr bwMode="auto">
          <a:xfrm>
            <a:off x="6311900" y="4200525"/>
            <a:ext cx="433388" cy="719138"/>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4" name="Line 60"/>
          <p:cNvSpPr>
            <a:spLocks noChangeShapeType="1"/>
          </p:cNvSpPr>
          <p:nvPr/>
        </p:nvSpPr>
        <p:spPr bwMode="auto">
          <a:xfrm>
            <a:off x="4224338" y="1968501"/>
            <a:ext cx="0" cy="576263"/>
          </a:xfrm>
          <a:prstGeom prst="line">
            <a:avLst/>
          </a:prstGeom>
          <a:noFill/>
          <a:ln w="76200">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5" name="Line 61"/>
          <p:cNvSpPr>
            <a:spLocks noChangeShapeType="1"/>
          </p:cNvSpPr>
          <p:nvPr/>
        </p:nvSpPr>
        <p:spPr bwMode="auto">
          <a:xfrm>
            <a:off x="4224338" y="2544764"/>
            <a:ext cx="2305050" cy="1081087"/>
          </a:xfrm>
          <a:prstGeom prst="line">
            <a:avLst/>
          </a:prstGeom>
          <a:noFill/>
          <a:ln w="76200">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6" name="Line 62"/>
          <p:cNvSpPr>
            <a:spLocks noChangeShapeType="1"/>
          </p:cNvSpPr>
          <p:nvPr/>
        </p:nvSpPr>
        <p:spPr bwMode="auto">
          <a:xfrm>
            <a:off x="6527800" y="3625850"/>
            <a:ext cx="647700" cy="1079500"/>
          </a:xfrm>
          <a:prstGeom prst="line">
            <a:avLst/>
          </a:prstGeom>
          <a:noFill/>
          <a:ln w="76200">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767" name="Group 63"/>
          <p:cNvGrpSpPr>
            <a:grpSpLocks/>
          </p:cNvGrpSpPr>
          <p:nvPr/>
        </p:nvGrpSpPr>
        <p:grpSpPr bwMode="auto">
          <a:xfrm>
            <a:off x="2782889" y="2951163"/>
            <a:ext cx="4105275" cy="1911350"/>
            <a:chOff x="793" y="2205"/>
            <a:chExt cx="2586" cy="1204"/>
          </a:xfrm>
        </p:grpSpPr>
        <p:sp>
          <p:nvSpPr>
            <p:cNvPr id="80951" name="Line 64"/>
            <p:cNvSpPr>
              <a:spLocks noChangeShapeType="1"/>
            </p:cNvSpPr>
            <p:nvPr/>
          </p:nvSpPr>
          <p:spPr bwMode="auto">
            <a:xfrm>
              <a:off x="793" y="2840"/>
              <a:ext cx="363" cy="0"/>
            </a:xfrm>
            <a:prstGeom prst="line">
              <a:avLst/>
            </a:prstGeom>
            <a:noFill/>
            <a:ln w="76200">
              <a:solidFill>
                <a:srgbClr val="00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0952" name="Group 65"/>
            <p:cNvGrpSpPr>
              <a:grpSpLocks/>
            </p:cNvGrpSpPr>
            <p:nvPr/>
          </p:nvGrpSpPr>
          <p:grpSpPr bwMode="auto">
            <a:xfrm>
              <a:off x="1156" y="2205"/>
              <a:ext cx="2223" cy="1204"/>
              <a:chOff x="1156" y="2205"/>
              <a:chExt cx="2223" cy="1204"/>
            </a:xfrm>
          </p:grpSpPr>
          <p:sp>
            <p:nvSpPr>
              <p:cNvPr id="80953" name="Line 66"/>
              <p:cNvSpPr>
                <a:spLocks noChangeShapeType="1"/>
              </p:cNvSpPr>
              <p:nvPr/>
            </p:nvSpPr>
            <p:spPr bwMode="auto">
              <a:xfrm flipV="1">
                <a:off x="1156" y="2205"/>
                <a:ext cx="363" cy="635"/>
              </a:xfrm>
              <a:prstGeom prst="line">
                <a:avLst/>
              </a:prstGeom>
              <a:noFill/>
              <a:ln w="76200">
                <a:solidFill>
                  <a:srgbClr val="00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4" name="Line 67"/>
              <p:cNvSpPr>
                <a:spLocks noChangeShapeType="1"/>
              </p:cNvSpPr>
              <p:nvPr/>
            </p:nvSpPr>
            <p:spPr bwMode="auto">
              <a:xfrm>
                <a:off x="1519" y="2205"/>
                <a:ext cx="1542" cy="726"/>
              </a:xfrm>
              <a:prstGeom prst="line">
                <a:avLst/>
              </a:prstGeom>
              <a:noFill/>
              <a:ln w="76200">
                <a:solidFill>
                  <a:srgbClr val="00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5" name="Line 68"/>
              <p:cNvSpPr>
                <a:spLocks noChangeShapeType="1"/>
              </p:cNvSpPr>
              <p:nvPr/>
            </p:nvSpPr>
            <p:spPr bwMode="auto">
              <a:xfrm>
                <a:off x="3061" y="2910"/>
                <a:ext cx="318" cy="499"/>
              </a:xfrm>
              <a:prstGeom prst="line">
                <a:avLst/>
              </a:prstGeom>
              <a:noFill/>
              <a:ln w="76200">
                <a:solidFill>
                  <a:srgbClr val="00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69" name="Picture 28" descr="015">
            <a:extLst>
              <a:ext uri="{FF2B5EF4-FFF2-40B4-BE49-F238E27FC236}">
                <a16:creationId xmlns:a16="http://schemas.microsoft.com/office/drawing/2014/main" id="{4C10FD07-498C-4719-9A2E-3C958453CF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3752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760"/>
                                        </p:tgtEl>
                                        <p:attrNameLst>
                                          <p:attrName>style.visibility</p:attrName>
                                        </p:attrNameLst>
                                      </p:cBhvr>
                                      <p:to>
                                        <p:strVal val="visible"/>
                                      </p:to>
                                    </p:set>
                                    <p:animEffect transition="in" filter="blinds(horizontal)">
                                      <p:cBhvr>
                                        <p:cTn id="7" dur="500"/>
                                        <p:tgtEl>
                                          <p:spTgt spid="727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764"/>
                                        </p:tgtEl>
                                        <p:attrNameLst>
                                          <p:attrName>style.visibility</p:attrName>
                                        </p:attrNameLst>
                                      </p:cBhvr>
                                      <p:to>
                                        <p:strVal val="visible"/>
                                      </p:to>
                                    </p:set>
                                    <p:animEffect transition="in" filter="blinds(horizontal)">
                                      <p:cBhvr>
                                        <p:cTn id="12" dur="500"/>
                                        <p:tgtEl>
                                          <p:spTgt spid="727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761"/>
                                        </p:tgtEl>
                                        <p:attrNameLst>
                                          <p:attrName>style.visibility</p:attrName>
                                        </p:attrNameLst>
                                      </p:cBhvr>
                                      <p:to>
                                        <p:strVal val="visible"/>
                                      </p:to>
                                    </p:set>
                                    <p:animEffect transition="in" filter="blinds(horizontal)">
                                      <p:cBhvr>
                                        <p:cTn id="17" dur="500"/>
                                        <p:tgtEl>
                                          <p:spTgt spid="727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2765"/>
                                        </p:tgtEl>
                                        <p:attrNameLst>
                                          <p:attrName>style.visibility</p:attrName>
                                        </p:attrNameLst>
                                      </p:cBhvr>
                                      <p:to>
                                        <p:strVal val="visible"/>
                                      </p:to>
                                    </p:set>
                                    <p:animEffect transition="in" filter="blinds(horizontal)">
                                      <p:cBhvr>
                                        <p:cTn id="22" dur="500"/>
                                        <p:tgtEl>
                                          <p:spTgt spid="727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2762"/>
                                        </p:tgtEl>
                                        <p:attrNameLst>
                                          <p:attrName>style.visibility</p:attrName>
                                        </p:attrNameLst>
                                      </p:cBhvr>
                                      <p:to>
                                        <p:strVal val="visible"/>
                                      </p:to>
                                    </p:set>
                                    <p:animEffect transition="in" filter="blinds(horizontal)">
                                      <p:cBhvr>
                                        <p:cTn id="27" dur="500"/>
                                        <p:tgtEl>
                                          <p:spTgt spid="727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2766"/>
                                        </p:tgtEl>
                                        <p:attrNameLst>
                                          <p:attrName>style.visibility</p:attrName>
                                        </p:attrNameLst>
                                      </p:cBhvr>
                                      <p:to>
                                        <p:strVal val="visible"/>
                                      </p:to>
                                    </p:set>
                                    <p:animEffect transition="in" filter="blinds(horizontal)">
                                      <p:cBhvr>
                                        <p:cTn id="32" dur="500"/>
                                        <p:tgtEl>
                                          <p:spTgt spid="7276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2763"/>
                                        </p:tgtEl>
                                        <p:attrNameLst>
                                          <p:attrName>style.visibility</p:attrName>
                                        </p:attrNameLst>
                                      </p:cBhvr>
                                      <p:to>
                                        <p:strVal val="visible"/>
                                      </p:to>
                                    </p:set>
                                    <p:animEffect transition="in" filter="blinds(horizontal)">
                                      <p:cBhvr>
                                        <p:cTn id="37" dur="500"/>
                                        <p:tgtEl>
                                          <p:spTgt spid="727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2767"/>
                                        </p:tgtEl>
                                        <p:attrNameLst>
                                          <p:attrName>style.visibility</p:attrName>
                                        </p:attrNameLst>
                                      </p:cBhvr>
                                      <p:to>
                                        <p:strVal val="visible"/>
                                      </p:to>
                                    </p:set>
                                    <p:animEffect transition="in" filter="blinds(horizontal)">
                                      <p:cBhvr>
                                        <p:cTn id="42" dur="500"/>
                                        <p:tgtEl>
                                          <p:spTgt spid="7276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72752"/>
                                        </p:tgtEl>
                                        <p:attrNameLst>
                                          <p:attrName>style.visibility</p:attrName>
                                        </p:attrNameLst>
                                      </p:cBhvr>
                                      <p:to>
                                        <p:strVal val="visible"/>
                                      </p:to>
                                    </p:set>
                                    <p:animEffect transition="in" filter="blinds(horizontal)">
                                      <p:cBhvr>
                                        <p:cTn id="45" dur="500"/>
                                        <p:tgtEl>
                                          <p:spTgt spid="72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52" grpId="0" animBg="1"/>
      <p:bldP spid="72760" grpId="0" animBg="1"/>
      <p:bldP spid="72761" grpId="0" animBg="1"/>
      <p:bldP spid="72762" grpId="0" animBg="1"/>
      <p:bldP spid="72763" grpId="0" animBg="1"/>
      <p:bldP spid="72764" grpId="0" animBg="1"/>
      <p:bldP spid="72765" grpId="0" animBg="1"/>
      <p:bldP spid="7276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324769" y="500339"/>
            <a:ext cx="8001000" cy="711200"/>
          </a:xfrm>
        </p:spPr>
        <p:txBody>
          <a:bodyPr/>
          <a:lstStyle/>
          <a:p>
            <a:r>
              <a:rPr lang="zh-CN" altLang="en-US" dirty="0"/>
              <a:t>分组交换：数据报方式的特点</a:t>
            </a:r>
          </a:p>
        </p:txBody>
      </p:sp>
      <p:sp>
        <p:nvSpPr>
          <p:cNvPr id="81923" name="Rectangle 3"/>
          <p:cNvSpPr>
            <a:spLocks noGrp="1" noChangeArrowheads="1"/>
          </p:cNvSpPr>
          <p:nvPr>
            <p:ph type="body" idx="1"/>
          </p:nvPr>
        </p:nvSpPr>
        <p:spPr>
          <a:xfrm>
            <a:off x="1020142" y="1600200"/>
            <a:ext cx="7438058" cy="2991678"/>
          </a:xfrm>
        </p:spPr>
        <p:txBody>
          <a:bodyPr>
            <a:normAutofit/>
          </a:bodyPr>
          <a:lstStyle/>
          <a:p>
            <a:pPr eaLnBrk="1" hangingPunct="1">
              <a:lnSpc>
                <a:spcPct val="90000"/>
              </a:lnSpc>
            </a:pPr>
            <a:r>
              <a:rPr lang="zh-CN" altLang="en-US" dirty="0"/>
              <a:t>用户间通信不必建立连接</a:t>
            </a:r>
          </a:p>
          <a:p>
            <a:pPr eaLnBrk="1" hangingPunct="1">
              <a:lnSpc>
                <a:spcPct val="90000"/>
              </a:lnSpc>
            </a:pPr>
            <a:r>
              <a:rPr lang="zh-CN" altLang="en-US" dirty="0"/>
              <a:t>每个分组独立寻找路径</a:t>
            </a:r>
          </a:p>
          <a:p>
            <a:pPr eaLnBrk="1" hangingPunct="1">
              <a:lnSpc>
                <a:spcPct val="90000"/>
              </a:lnSpc>
            </a:pPr>
            <a:r>
              <a:rPr lang="zh-CN" altLang="en-US" dirty="0"/>
              <a:t>分组不一定按序到达</a:t>
            </a:r>
          </a:p>
          <a:p>
            <a:pPr eaLnBrk="1" hangingPunct="1">
              <a:lnSpc>
                <a:spcPct val="90000"/>
              </a:lnSpc>
            </a:pPr>
            <a:r>
              <a:rPr lang="zh-CN" altLang="en-US" dirty="0"/>
              <a:t>资源利用率高</a:t>
            </a:r>
          </a:p>
          <a:p>
            <a:pPr eaLnBrk="1" hangingPunct="1">
              <a:lnSpc>
                <a:spcPct val="90000"/>
              </a:lnSpc>
            </a:pPr>
            <a:r>
              <a:rPr lang="zh-CN" altLang="en-US" dirty="0"/>
              <a:t>对故障适应力强</a:t>
            </a:r>
          </a:p>
          <a:p>
            <a:pPr eaLnBrk="1" hangingPunct="1">
              <a:lnSpc>
                <a:spcPct val="90000"/>
              </a:lnSpc>
            </a:pPr>
            <a:r>
              <a:rPr lang="zh-CN" altLang="en-US" dirty="0"/>
              <a:t>时延较大</a:t>
            </a:r>
          </a:p>
        </p:txBody>
      </p:sp>
      <p:pic>
        <p:nvPicPr>
          <p:cNvPr id="4" name="Picture 28" descr="015">
            <a:extLst>
              <a:ext uri="{FF2B5EF4-FFF2-40B4-BE49-F238E27FC236}">
                <a16:creationId xmlns:a16="http://schemas.microsoft.com/office/drawing/2014/main" id="{A1D83286-40EA-4C81-8907-7D567F4FE5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0223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236664" y="482709"/>
            <a:ext cx="8001000" cy="738188"/>
          </a:xfrm>
        </p:spPr>
        <p:txBody>
          <a:bodyPr/>
          <a:lstStyle/>
          <a:p>
            <a:r>
              <a:rPr lang="zh-CN" altLang="en-US" dirty="0"/>
              <a:t>分组交换：虚电路</a:t>
            </a:r>
          </a:p>
        </p:txBody>
      </p:sp>
      <p:grpSp>
        <p:nvGrpSpPr>
          <p:cNvPr id="82947" name="Group 3"/>
          <p:cNvGrpSpPr>
            <a:grpSpLocks/>
          </p:cNvGrpSpPr>
          <p:nvPr/>
        </p:nvGrpSpPr>
        <p:grpSpPr bwMode="auto">
          <a:xfrm>
            <a:off x="3052764" y="1987551"/>
            <a:ext cx="4090987" cy="3667125"/>
            <a:chOff x="2256" y="2386"/>
            <a:chExt cx="2147" cy="1919"/>
          </a:xfrm>
        </p:grpSpPr>
        <p:sp>
          <p:nvSpPr>
            <p:cNvPr id="82998"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2999"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0"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1" name="Oval 7"/>
            <p:cNvSpPr>
              <a:spLocks noChangeArrowheads="1"/>
            </p:cNvSpPr>
            <p:nvPr/>
          </p:nvSpPr>
          <p:spPr bwMode="auto">
            <a:xfrm rot="-3234972">
              <a:off x="3754" y="3108"/>
              <a:ext cx="687" cy="610"/>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2"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3"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4"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5" name="Oval 11"/>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3006" name="Freeform 12"/>
            <p:cNvSpPr>
              <a:spLocks/>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948" name="Line 13"/>
          <p:cNvSpPr>
            <a:spLocks noChangeShapeType="1"/>
          </p:cNvSpPr>
          <p:nvPr/>
        </p:nvSpPr>
        <p:spPr bwMode="auto">
          <a:xfrm flipV="1">
            <a:off x="4184651" y="2222501"/>
            <a:ext cx="1281113" cy="555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9" name="Line 14"/>
          <p:cNvSpPr>
            <a:spLocks noChangeShapeType="1"/>
          </p:cNvSpPr>
          <p:nvPr/>
        </p:nvSpPr>
        <p:spPr bwMode="auto">
          <a:xfrm>
            <a:off x="5622925" y="2297114"/>
            <a:ext cx="757238" cy="1398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0" name="Line 15"/>
          <p:cNvSpPr>
            <a:spLocks noChangeShapeType="1"/>
          </p:cNvSpPr>
          <p:nvPr/>
        </p:nvSpPr>
        <p:spPr bwMode="auto">
          <a:xfrm flipH="1">
            <a:off x="3429001" y="2870201"/>
            <a:ext cx="665163" cy="12557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1" name="Line 16"/>
          <p:cNvSpPr>
            <a:spLocks noChangeShapeType="1"/>
          </p:cNvSpPr>
          <p:nvPr/>
        </p:nvSpPr>
        <p:spPr bwMode="auto">
          <a:xfrm>
            <a:off x="3470276" y="4303713"/>
            <a:ext cx="1520825" cy="8826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2" name="Line 17"/>
          <p:cNvSpPr>
            <a:spLocks noChangeShapeType="1"/>
          </p:cNvSpPr>
          <p:nvPr/>
        </p:nvSpPr>
        <p:spPr bwMode="auto">
          <a:xfrm flipV="1">
            <a:off x="5054601" y="3971926"/>
            <a:ext cx="1325563" cy="1306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3" name="Line 18"/>
          <p:cNvSpPr>
            <a:spLocks noChangeShapeType="1"/>
          </p:cNvSpPr>
          <p:nvPr/>
        </p:nvSpPr>
        <p:spPr bwMode="auto">
          <a:xfrm>
            <a:off x="4237038" y="2876550"/>
            <a:ext cx="2125662" cy="9461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4" name="Line 19"/>
          <p:cNvSpPr>
            <a:spLocks noChangeShapeType="1"/>
          </p:cNvSpPr>
          <p:nvPr/>
        </p:nvSpPr>
        <p:spPr bwMode="auto">
          <a:xfrm>
            <a:off x="4135439" y="2713039"/>
            <a:ext cx="1000125" cy="24717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5" name="Line 20"/>
          <p:cNvSpPr>
            <a:spLocks noChangeShapeType="1"/>
          </p:cNvSpPr>
          <p:nvPr/>
        </p:nvSpPr>
        <p:spPr bwMode="auto">
          <a:xfrm flipV="1">
            <a:off x="4459288" y="5256214"/>
            <a:ext cx="639762" cy="549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6" name="Line 21"/>
          <p:cNvSpPr>
            <a:spLocks noChangeShapeType="1"/>
          </p:cNvSpPr>
          <p:nvPr/>
        </p:nvSpPr>
        <p:spPr bwMode="auto">
          <a:xfrm rot="-5400000">
            <a:off x="5383213" y="1906588"/>
            <a:ext cx="3365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7" name="Line 22"/>
          <p:cNvSpPr>
            <a:spLocks noChangeShapeType="1"/>
          </p:cNvSpPr>
          <p:nvPr/>
        </p:nvSpPr>
        <p:spPr bwMode="auto">
          <a:xfrm>
            <a:off x="6472238" y="3971926"/>
            <a:ext cx="639762" cy="1008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8" name="Line 23"/>
          <p:cNvSpPr>
            <a:spLocks noChangeShapeType="1"/>
          </p:cNvSpPr>
          <p:nvPr/>
        </p:nvSpPr>
        <p:spPr bwMode="auto">
          <a:xfrm flipV="1">
            <a:off x="2551114" y="4229100"/>
            <a:ext cx="6445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9" name="Line 24"/>
          <p:cNvSpPr>
            <a:spLocks noChangeShapeType="1"/>
          </p:cNvSpPr>
          <p:nvPr/>
        </p:nvSpPr>
        <p:spPr bwMode="auto">
          <a:xfrm rot="5400000" flipH="1">
            <a:off x="3708401" y="2338389"/>
            <a:ext cx="773113"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0" name="Text Box 25"/>
          <p:cNvSpPr txBox="1">
            <a:spLocks noChangeArrowheads="1"/>
          </p:cNvSpPr>
          <p:nvPr/>
        </p:nvSpPr>
        <p:spPr bwMode="auto">
          <a:xfrm>
            <a:off x="2206625" y="3594100"/>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1</a:t>
            </a:r>
            <a:endParaRPr kumimoji="1" lang="en-US" altLang="zh-CN" sz="2000">
              <a:solidFill>
                <a:srgbClr val="333399"/>
              </a:solidFill>
              <a:latin typeface="Arial" panose="020B0604020202020204" pitchFamily="34" charset="0"/>
            </a:endParaRPr>
          </a:p>
        </p:txBody>
      </p:sp>
      <p:sp>
        <p:nvSpPr>
          <p:cNvPr id="82961" name="Oval 26"/>
          <p:cNvSpPr>
            <a:spLocks noChangeArrowheads="1"/>
          </p:cNvSpPr>
          <p:nvPr/>
        </p:nvSpPr>
        <p:spPr bwMode="auto">
          <a:xfrm>
            <a:off x="3179763" y="3971925"/>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A</a:t>
            </a:r>
          </a:p>
        </p:txBody>
      </p:sp>
      <p:sp>
        <p:nvSpPr>
          <p:cNvPr id="82962" name="Line 27"/>
          <p:cNvSpPr>
            <a:spLocks noChangeShapeType="1"/>
          </p:cNvSpPr>
          <p:nvPr/>
        </p:nvSpPr>
        <p:spPr bwMode="auto">
          <a:xfrm flipV="1">
            <a:off x="6472238" y="3375025"/>
            <a:ext cx="806450" cy="4127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3" name="AutoShape 28"/>
          <p:cNvSpPr>
            <a:spLocks noChangeArrowheads="1"/>
          </p:cNvSpPr>
          <p:nvPr/>
        </p:nvSpPr>
        <p:spPr bwMode="auto">
          <a:xfrm flipV="1">
            <a:off x="6024563" y="5622925"/>
            <a:ext cx="1655762" cy="425450"/>
          </a:xfrm>
          <a:prstGeom prst="wedgeRoundRectCallout">
            <a:avLst>
              <a:gd name="adj1" fmla="val -60356"/>
              <a:gd name="adj2" fmla="val 115671"/>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endParaRPr kumimoji="1" lang="zh-CN" altLang="en-US" sz="2400">
              <a:solidFill>
                <a:schemeClr val="tx1"/>
              </a:solidFill>
              <a:latin typeface="Times New Roman" panose="02020603050405020304" pitchFamily="18" charset="0"/>
            </a:endParaRPr>
          </a:p>
        </p:txBody>
      </p:sp>
      <p:sp>
        <p:nvSpPr>
          <p:cNvPr id="82964" name="Text Box 29"/>
          <p:cNvSpPr txBox="1">
            <a:spLocks noChangeArrowheads="1"/>
          </p:cNvSpPr>
          <p:nvPr/>
        </p:nvSpPr>
        <p:spPr bwMode="auto">
          <a:xfrm>
            <a:off x="6127750" y="5651501"/>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分组交换网</a:t>
            </a:r>
          </a:p>
        </p:txBody>
      </p:sp>
      <p:pic>
        <p:nvPicPr>
          <p:cNvPr id="82965" name="Picture 3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7164" y="1295401"/>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966"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4389" y="3009901"/>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967"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4164" y="5715001"/>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82968"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9439" y="4797426"/>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969"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9526" y="1493838"/>
            <a:ext cx="587375"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70" name="Oval 35"/>
          <p:cNvSpPr>
            <a:spLocks noChangeArrowheads="1"/>
          </p:cNvSpPr>
          <p:nvPr/>
        </p:nvSpPr>
        <p:spPr bwMode="auto">
          <a:xfrm>
            <a:off x="3903663" y="2605089"/>
            <a:ext cx="457200" cy="4587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B</a:t>
            </a:r>
          </a:p>
        </p:txBody>
      </p:sp>
      <p:sp>
        <p:nvSpPr>
          <p:cNvPr id="82971" name="Oval 36"/>
          <p:cNvSpPr>
            <a:spLocks noChangeArrowheads="1"/>
          </p:cNvSpPr>
          <p:nvPr/>
        </p:nvSpPr>
        <p:spPr bwMode="auto">
          <a:xfrm>
            <a:off x="5324475" y="1993900"/>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D</a:t>
            </a:r>
          </a:p>
        </p:txBody>
      </p:sp>
      <p:sp>
        <p:nvSpPr>
          <p:cNvPr id="82972" name="Oval 37"/>
          <p:cNvSpPr>
            <a:spLocks noChangeArrowheads="1"/>
          </p:cNvSpPr>
          <p:nvPr/>
        </p:nvSpPr>
        <p:spPr bwMode="auto">
          <a:xfrm>
            <a:off x="6178550" y="3622675"/>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E</a:t>
            </a:r>
          </a:p>
        </p:txBody>
      </p:sp>
      <p:sp>
        <p:nvSpPr>
          <p:cNvPr id="82973" name="Oval 38"/>
          <p:cNvSpPr>
            <a:spLocks noChangeArrowheads="1"/>
          </p:cNvSpPr>
          <p:nvPr/>
        </p:nvSpPr>
        <p:spPr bwMode="auto">
          <a:xfrm>
            <a:off x="4870450" y="4941889"/>
            <a:ext cx="457200" cy="4587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tx1"/>
                </a:solidFill>
                <a:latin typeface="Arial" panose="020B0604020202020204" pitchFamily="34" charset="0"/>
              </a:rPr>
              <a:t>C</a:t>
            </a:r>
          </a:p>
        </p:txBody>
      </p:sp>
      <p:sp>
        <p:nvSpPr>
          <p:cNvPr id="82974" name="Text Box 39"/>
          <p:cNvSpPr txBox="1">
            <a:spLocks noChangeArrowheads="1"/>
          </p:cNvSpPr>
          <p:nvPr/>
        </p:nvSpPr>
        <p:spPr bwMode="auto">
          <a:xfrm>
            <a:off x="6600825" y="475138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5</a:t>
            </a:r>
            <a:endParaRPr kumimoji="1" lang="en-US" altLang="zh-CN" sz="2000">
              <a:solidFill>
                <a:srgbClr val="333399"/>
              </a:solidFill>
              <a:latin typeface="Arial" panose="020B0604020202020204" pitchFamily="34" charset="0"/>
            </a:endParaRPr>
          </a:p>
        </p:txBody>
      </p:sp>
      <p:sp>
        <p:nvSpPr>
          <p:cNvPr id="82975" name="Text Box 40"/>
          <p:cNvSpPr txBox="1">
            <a:spLocks noChangeArrowheads="1"/>
          </p:cNvSpPr>
          <p:nvPr/>
        </p:nvSpPr>
        <p:spPr bwMode="auto">
          <a:xfrm>
            <a:off x="7608888" y="2951163"/>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6</a:t>
            </a:r>
            <a:endParaRPr kumimoji="1" lang="en-US" altLang="zh-CN" sz="2000">
              <a:solidFill>
                <a:srgbClr val="333399"/>
              </a:solidFill>
              <a:latin typeface="Arial" panose="020B0604020202020204" pitchFamily="34" charset="0"/>
            </a:endParaRPr>
          </a:p>
        </p:txBody>
      </p:sp>
      <p:sp>
        <p:nvSpPr>
          <p:cNvPr id="82976" name="Text Box 41"/>
          <p:cNvSpPr txBox="1">
            <a:spLocks noChangeArrowheads="1"/>
          </p:cNvSpPr>
          <p:nvPr/>
        </p:nvSpPr>
        <p:spPr bwMode="auto">
          <a:xfrm>
            <a:off x="4872038" y="1295400"/>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4</a:t>
            </a:r>
            <a:endParaRPr kumimoji="1" lang="en-US" altLang="zh-CN" sz="2000">
              <a:solidFill>
                <a:srgbClr val="333399"/>
              </a:solidFill>
              <a:latin typeface="Arial" panose="020B0604020202020204" pitchFamily="34" charset="0"/>
            </a:endParaRPr>
          </a:p>
        </p:txBody>
      </p:sp>
      <p:sp>
        <p:nvSpPr>
          <p:cNvPr id="82977" name="Text Box 42"/>
          <p:cNvSpPr txBox="1">
            <a:spLocks noChangeArrowheads="1"/>
          </p:cNvSpPr>
          <p:nvPr/>
        </p:nvSpPr>
        <p:spPr bwMode="auto">
          <a:xfrm>
            <a:off x="3503613" y="1439863"/>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2</a:t>
            </a:r>
            <a:endParaRPr kumimoji="1" lang="en-US" altLang="zh-CN" sz="2000">
              <a:solidFill>
                <a:srgbClr val="333399"/>
              </a:solidFill>
              <a:latin typeface="Arial" panose="020B0604020202020204" pitchFamily="34" charset="0"/>
            </a:endParaRPr>
          </a:p>
        </p:txBody>
      </p:sp>
      <p:sp>
        <p:nvSpPr>
          <p:cNvPr id="82978" name="Text Box 43"/>
          <p:cNvSpPr txBox="1">
            <a:spLocks noChangeArrowheads="1"/>
          </p:cNvSpPr>
          <p:nvPr/>
        </p:nvSpPr>
        <p:spPr bwMode="auto">
          <a:xfrm>
            <a:off x="3719513" y="5688013"/>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000">
                <a:solidFill>
                  <a:srgbClr val="333399"/>
                </a:solidFill>
                <a:latin typeface="Arial" panose="020B0604020202020204" pitchFamily="34" charset="0"/>
              </a:rPr>
              <a:t>H</a:t>
            </a:r>
            <a:r>
              <a:rPr kumimoji="1" lang="en-US" altLang="zh-CN" sz="2000" baseline="-25000">
                <a:solidFill>
                  <a:srgbClr val="333399"/>
                </a:solidFill>
                <a:latin typeface="Arial" panose="020B0604020202020204" pitchFamily="34" charset="0"/>
              </a:rPr>
              <a:t>3</a:t>
            </a:r>
            <a:endParaRPr kumimoji="1" lang="en-US" altLang="zh-CN" sz="2000">
              <a:solidFill>
                <a:srgbClr val="333399"/>
              </a:solidFill>
              <a:latin typeface="Arial" panose="020B0604020202020204" pitchFamily="34" charset="0"/>
            </a:endParaRPr>
          </a:p>
        </p:txBody>
      </p:sp>
      <p:sp>
        <p:nvSpPr>
          <p:cNvPr id="82979" name="Rectangle 44"/>
          <p:cNvSpPr>
            <a:spLocks noChangeArrowheads="1"/>
          </p:cNvSpPr>
          <p:nvPr/>
        </p:nvSpPr>
        <p:spPr bwMode="auto">
          <a:xfrm>
            <a:off x="4008439" y="1655764"/>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pic>
        <p:nvPicPr>
          <p:cNvPr id="82980" name="Picture 4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5189" y="3971926"/>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81" name="Text Box 46"/>
          <p:cNvSpPr txBox="1">
            <a:spLocks noChangeArrowheads="1"/>
          </p:cNvSpPr>
          <p:nvPr/>
        </p:nvSpPr>
        <p:spPr bwMode="auto">
          <a:xfrm>
            <a:off x="7751763" y="4608514"/>
            <a:ext cx="2609850" cy="466725"/>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400">
                <a:solidFill>
                  <a:schemeClr val="hlink"/>
                </a:solidFill>
                <a:latin typeface="Arial" panose="020B0604020202020204" pitchFamily="34" charset="0"/>
              </a:rPr>
              <a:t>H</a:t>
            </a:r>
            <a:r>
              <a:rPr kumimoji="1" lang="en-US" altLang="zh-CN" sz="2400" baseline="-25000">
                <a:solidFill>
                  <a:schemeClr val="hlink"/>
                </a:solidFill>
                <a:latin typeface="Arial" panose="020B0604020202020204" pitchFamily="34" charset="0"/>
              </a:rPr>
              <a:t>1 </a:t>
            </a:r>
            <a:r>
              <a:rPr kumimoji="1" lang="zh-CN" altLang="en-US" sz="2400">
                <a:solidFill>
                  <a:schemeClr val="hlink"/>
                </a:solidFill>
                <a:latin typeface="Arial" panose="020B0604020202020204" pitchFamily="34" charset="0"/>
                <a:ea typeface="黑体" panose="02010609060101010101" pitchFamily="49" charset="-122"/>
              </a:rPr>
              <a:t>向 </a:t>
            </a:r>
            <a:r>
              <a:rPr kumimoji="1" lang="en-US" altLang="zh-CN" sz="2400">
                <a:solidFill>
                  <a:schemeClr val="hlink"/>
                </a:solidFill>
                <a:latin typeface="Arial" panose="020B0604020202020204" pitchFamily="34" charset="0"/>
                <a:ea typeface="黑体" panose="02010609060101010101" pitchFamily="49" charset="-122"/>
              </a:rPr>
              <a:t>H</a:t>
            </a:r>
            <a:r>
              <a:rPr kumimoji="1" lang="en-US" altLang="zh-CN" sz="2400" baseline="-25000">
                <a:solidFill>
                  <a:schemeClr val="hlink"/>
                </a:solidFill>
                <a:latin typeface="Arial" panose="020B0604020202020204" pitchFamily="34" charset="0"/>
                <a:ea typeface="黑体" panose="02010609060101010101" pitchFamily="49" charset="-122"/>
              </a:rPr>
              <a:t>5</a:t>
            </a:r>
            <a:r>
              <a:rPr kumimoji="1" lang="en-US" altLang="zh-CN" sz="2400">
                <a:solidFill>
                  <a:schemeClr val="hlink"/>
                </a:solidFill>
                <a:latin typeface="Arial" panose="020B0604020202020204" pitchFamily="34" charset="0"/>
                <a:ea typeface="黑体" panose="02010609060101010101" pitchFamily="49" charset="-122"/>
              </a:rPr>
              <a:t> </a:t>
            </a:r>
            <a:r>
              <a:rPr kumimoji="1" lang="zh-CN" altLang="en-US" sz="2400">
                <a:solidFill>
                  <a:schemeClr val="hlink"/>
                </a:solidFill>
                <a:latin typeface="Arial" panose="020B0604020202020204" pitchFamily="34" charset="0"/>
                <a:ea typeface="黑体" panose="02010609060101010101" pitchFamily="49" charset="-122"/>
              </a:rPr>
              <a:t>发送分组</a:t>
            </a:r>
          </a:p>
        </p:txBody>
      </p:sp>
      <p:sp>
        <p:nvSpPr>
          <p:cNvPr id="82982" name="Text Box 47"/>
          <p:cNvSpPr txBox="1">
            <a:spLocks noChangeArrowheads="1"/>
          </p:cNvSpPr>
          <p:nvPr/>
        </p:nvSpPr>
        <p:spPr bwMode="auto">
          <a:xfrm>
            <a:off x="7751763" y="3743326"/>
            <a:ext cx="2525712" cy="466725"/>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2400">
                <a:solidFill>
                  <a:srgbClr val="333399"/>
                </a:solidFill>
                <a:latin typeface="Arial" panose="020B0604020202020204" pitchFamily="34" charset="0"/>
              </a:rPr>
              <a:t>H</a:t>
            </a:r>
            <a:r>
              <a:rPr kumimoji="1" lang="en-US" altLang="zh-CN" sz="2400" baseline="-25000">
                <a:solidFill>
                  <a:srgbClr val="333399"/>
                </a:solidFill>
                <a:latin typeface="Arial" panose="020B0604020202020204" pitchFamily="34" charset="0"/>
              </a:rPr>
              <a:t>2 </a:t>
            </a:r>
            <a:r>
              <a:rPr kumimoji="1" lang="zh-CN" altLang="en-US" sz="2400">
                <a:solidFill>
                  <a:srgbClr val="333399"/>
                </a:solidFill>
                <a:latin typeface="Arial" panose="020B0604020202020204" pitchFamily="34" charset="0"/>
                <a:ea typeface="黑体" panose="02010609060101010101" pitchFamily="49" charset="-122"/>
              </a:rPr>
              <a:t>向 </a:t>
            </a:r>
            <a:r>
              <a:rPr kumimoji="1" lang="en-US" altLang="zh-CN" sz="2400">
                <a:solidFill>
                  <a:srgbClr val="333399"/>
                </a:solidFill>
                <a:latin typeface="Arial" panose="020B0604020202020204" pitchFamily="34" charset="0"/>
                <a:ea typeface="黑体" panose="02010609060101010101" pitchFamily="49" charset="-122"/>
              </a:rPr>
              <a:t>H</a:t>
            </a:r>
            <a:r>
              <a:rPr kumimoji="1" lang="en-US" altLang="zh-CN" sz="2400" baseline="-25000">
                <a:solidFill>
                  <a:srgbClr val="333399"/>
                </a:solidFill>
                <a:latin typeface="Arial" panose="020B0604020202020204" pitchFamily="34" charset="0"/>
                <a:ea typeface="黑体" panose="02010609060101010101" pitchFamily="49" charset="-122"/>
              </a:rPr>
              <a:t>5</a:t>
            </a:r>
            <a:r>
              <a:rPr kumimoji="1" lang="zh-CN" altLang="en-US" sz="2400">
                <a:solidFill>
                  <a:srgbClr val="333399"/>
                </a:solidFill>
                <a:latin typeface="Arial" panose="020B0604020202020204" pitchFamily="34" charset="0"/>
                <a:ea typeface="黑体" panose="02010609060101010101" pitchFamily="49" charset="-122"/>
              </a:rPr>
              <a:t>发送分组</a:t>
            </a:r>
          </a:p>
        </p:txBody>
      </p:sp>
      <p:sp>
        <p:nvSpPr>
          <p:cNvPr id="74800" name="Rectangle 48"/>
          <p:cNvSpPr>
            <a:spLocks noChangeArrowheads="1"/>
          </p:cNvSpPr>
          <p:nvPr/>
        </p:nvSpPr>
        <p:spPr bwMode="auto">
          <a:xfrm>
            <a:off x="1919288" y="4273551"/>
            <a:ext cx="360362" cy="504825"/>
          </a:xfrm>
          <a:prstGeom prst="rect">
            <a:avLst/>
          </a:prstGeom>
          <a:solidFill>
            <a:schemeClr val="accent1"/>
          </a:solidFill>
          <a:ln w="9525">
            <a:solidFill>
              <a:srgbClr val="00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a:solidFill>
                  <a:schemeClr val="tx1"/>
                </a:solidFill>
                <a:latin typeface="Tahoma" panose="020B0604030504040204" pitchFamily="34" charset="0"/>
              </a:rPr>
              <a:t>2</a:t>
            </a:r>
          </a:p>
        </p:txBody>
      </p:sp>
      <p:sp>
        <p:nvSpPr>
          <p:cNvPr id="82984" name="Rectangle 49"/>
          <p:cNvSpPr>
            <a:spLocks noChangeArrowheads="1"/>
          </p:cNvSpPr>
          <p:nvPr/>
        </p:nvSpPr>
        <p:spPr bwMode="auto">
          <a:xfrm>
            <a:off x="4008439" y="1655764"/>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2985" name="Rectangle 50"/>
          <p:cNvSpPr>
            <a:spLocks noChangeArrowheads="1"/>
          </p:cNvSpPr>
          <p:nvPr/>
        </p:nvSpPr>
        <p:spPr bwMode="auto">
          <a:xfrm>
            <a:off x="2424113" y="4319588"/>
            <a:ext cx="360362" cy="43180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eaLnBrk="1" hangingPunct="1"/>
            <a:r>
              <a:rPr lang="en-US" altLang="zh-CN">
                <a:solidFill>
                  <a:schemeClr val="tx1"/>
                </a:solidFill>
                <a:latin typeface="Tahoma" panose="020B0604030504040204" pitchFamily="34" charset="0"/>
              </a:rPr>
              <a:t>1</a:t>
            </a:r>
          </a:p>
        </p:txBody>
      </p:sp>
      <p:sp>
        <p:nvSpPr>
          <p:cNvPr id="82986" name="Rectangle 51"/>
          <p:cNvSpPr>
            <a:spLocks noChangeArrowheads="1"/>
          </p:cNvSpPr>
          <p:nvPr/>
        </p:nvSpPr>
        <p:spPr bwMode="auto">
          <a:xfrm>
            <a:off x="4008439" y="1655764"/>
            <a:ext cx="287337" cy="28733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2987" name="Text Box 52"/>
          <p:cNvSpPr txBox="1">
            <a:spLocks noChangeArrowheads="1"/>
          </p:cNvSpPr>
          <p:nvPr/>
        </p:nvSpPr>
        <p:spPr bwMode="auto">
          <a:xfrm>
            <a:off x="1524000" y="3095626"/>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2000">
                <a:solidFill>
                  <a:srgbClr val="333399"/>
                </a:solidFill>
                <a:latin typeface="Times New Roman" panose="02020603050405020304" pitchFamily="18" charset="0"/>
                <a:ea typeface="黑体" panose="02010609060101010101" pitchFamily="49" charset="-122"/>
              </a:rPr>
              <a:t>主机</a:t>
            </a:r>
          </a:p>
        </p:txBody>
      </p:sp>
      <p:sp>
        <p:nvSpPr>
          <p:cNvPr id="82988" name="Line 53"/>
          <p:cNvSpPr>
            <a:spLocks noChangeShapeType="1"/>
          </p:cNvSpPr>
          <p:nvPr/>
        </p:nvSpPr>
        <p:spPr bwMode="auto">
          <a:xfrm>
            <a:off x="1919288" y="3455988"/>
            <a:ext cx="360362" cy="5762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806" name="Group 54"/>
          <p:cNvGrpSpPr>
            <a:grpSpLocks/>
          </p:cNvGrpSpPr>
          <p:nvPr/>
        </p:nvGrpSpPr>
        <p:grpSpPr bwMode="auto">
          <a:xfrm>
            <a:off x="2782889" y="4229100"/>
            <a:ext cx="3957637" cy="1314450"/>
            <a:chOff x="793" y="3010"/>
            <a:chExt cx="2493" cy="828"/>
          </a:xfrm>
        </p:grpSpPr>
        <p:sp>
          <p:nvSpPr>
            <p:cNvPr id="82994" name="Line 55"/>
            <p:cNvSpPr>
              <a:spLocks noChangeShapeType="1"/>
            </p:cNvSpPr>
            <p:nvPr/>
          </p:nvSpPr>
          <p:spPr bwMode="auto">
            <a:xfrm>
              <a:off x="793" y="3158"/>
              <a:ext cx="273" cy="0"/>
            </a:xfrm>
            <a:prstGeom prst="line">
              <a:avLst/>
            </a:prstGeom>
            <a:noFill/>
            <a:ln w="7620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5" name="Line 56"/>
            <p:cNvSpPr>
              <a:spLocks noChangeShapeType="1"/>
            </p:cNvSpPr>
            <p:nvPr/>
          </p:nvSpPr>
          <p:spPr bwMode="auto">
            <a:xfrm>
              <a:off x="1066" y="3158"/>
              <a:ext cx="1134" cy="680"/>
            </a:xfrm>
            <a:prstGeom prst="line">
              <a:avLst/>
            </a:prstGeom>
            <a:noFill/>
            <a:ln w="7620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6" name="Line 57"/>
            <p:cNvSpPr>
              <a:spLocks noChangeShapeType="1"/>
            </p:cNvSpPr>
            <p:nvPr/>
          </p:nvSpPr>
          <p:spPr bwMode="auto">
            <a:xfrm flipV="1">
              <a:off x="2200" y="3022"/>
              <a:ext cx="816" cy="816"/>
            </a:xfrm>
            <a:prstGeom prst="line">
              <a:avLst/>
            </a:prstGeom>
            <a:noFill/>
            <a:ln w="7620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7" name="Line 58"/>
            <p:cNvSpPr>
              <a:spLocks noChangeShapeType="1"/>
            </p:cNvSpPr>
            <p:nvPr/>
          </p:nvSpPr>
          <p:spPr bwMode="auto">
            <a:xfrm>
              <a:off x="3013" y="3010"/>
              <a:ext cx="273" cy="453"/>
            </a:xfrm>
            <a:prstGeom prst="line">
              <a:avLst/>
            </a:prstGeom>
            <a:noFill/>
            <a:ln w="76200">
              <a:solidFill>
                <a:schemeClr va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4811" name="Group 59"/>
          <p:cNvGrpSpPr>
            <a:grpSpLocks/>
          </p:cNvGrpSpPr>
          <p:nvPr/>
        </p:nvGrpSpPr>
        <p:grpSpPr bwMode="auto">
          <a:xfrm>
            <a:off x="4219576" y="1943100"/>
            <a:ext cx="2955925" cy="2736850"/>
            <a:chOff x="1698" y="1570"/>
            <a:chExt cx="1862" cy="1724"/>
          </a:xfrm>
        </p:grpSpPr>
        <p:sp>
          <p:nvSpPr>
            <p:cNvPr id="82991" name="Line 60"/>
            <p:cNvSpPr>
              <a:spLocks noChangeShapeType="1"/>
            </p:cNvSpPr>
            <p:nvPr/>
          </p:nvSpPr>
          <p:spPr bwMode="auto">
            <a:xfrm>
              <a:off x="1701" y="1570"/>
              <a:ext cx="0" cy="363"/>
            </a:xfrm>
            <a:prstGeom prst="line">
              <a:avLst/>
            </a:prstGeom>
            <a:noFill/>
            <a:ln w="762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2" name="Line 61"/>
            <p:cNvSpPr>
              <a:spLocks noChangeShapeType="1"/>
            </p:cNvSpPr>
            <p:nvPr/>
          </p:nvSpPr>
          <p:spPr bwMode="auto">
            <a:xfrm>
              <a:off x="1698" y="1933"/>
              <a:ext cx="1452" cy="681"/>
            </a:xfrm>
            <a:prstGeom prst="line">
              <a:avLst/>
            </a:prstGeom>
            <a:noFill/>
            <a:ln w="7620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93" name="Line 62"/>
            <p:cNvSpPr>
              <a:spLocks noChangeShapeType="1"/>
            </p:cNvSpPr>
            <p:nvPr/>
          </p:nvSpPr>
          <p:spPr bwMode="auto">
            <a:xfrm>
              <a:off x="3152" y="2614"/>
              <a:ext cx="408" cy="680"/>
            </a:xfrm>
            <a:prstGeom prst="line">
              <a:avLst/>
            </a:prstGeom>
            <a:noFill/>
            <a:ln w="76200">
              <a:solidFill>
                <a:srgbClr val="333399"/>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63" name="Picture 28" descr="015">
            <a:extLst>
              <a:ext uri="{FF2B5EF4-FFF2-40B4-BE49-F238E27FC236}">
                <a16:creationId xmlns:a16="http://schemas.microsoft.com/office/drawing/2014/main" id="{79EBADA7-A025-4862-B09F-6D0ECD46F1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02941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806"/>
                                        </p:tgtEl>
                                        <p:attrNameLst>
                                          <p:attrName>style.visibility</p:attrName>
                                        </p:attrNameLst>
                                      </p:cBhvr>
                                      <p:to>
                                        <p:strVal val="visible"/>
                                      </p:to>
                                    </p:set>
                                    <p:animEffect transition="in" filter="blinds(horizontal)">
                                      <p:cBhvr>
                                        <p:cTn id="7" dur="500"/>
                                        <p:tgtEl>
                                          <p:spTgt spid="748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4811"/>
                                        </p:tgtEl>
                                        <p:attrNameLst>
                                          <p:attrName>style.visibility</p:attrName>
                                        </p:attrNameLst>
                                      </p:cBhvr>
                                      <p:to>
                                        <p:strVal val="visible"/>
                                      </p:to>
                                    </p:set>
                                    <p:animEffect transition="in" filter="blinds(horizontal)">
                                      <p:cBhvr>
                                        <p:cTn id="12" dur="500"/>
                                        <p:tgtEl>
                                          <p:spTgt spid="748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4800"/>
                                        </p:tgtEl>
                                        <p:attrNameLst>
                                          <p:attrName>style.visibility</p:attrName>
                                        </p:attrNameLst>
                                      </p:cBhvr>
                                      <p:to>
                                        <p:strVal val="visible"/>
                                      </p:to>
                                    </p:set>
                                    <p:animEffect transition="in" filter="blinds(horizontal)">
                                      <p:cBhvr>
                                        <p:cTn id="17" dur="500"/>
                                        <p:tgtEl>
                                          <p:spTgt spid="74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0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313483" y="563839"/>
            <a:ext cx="8001000" cy="639762"/>
          </a:xfrm>
        </p:spPr>
        <p:txBody>
          <a:bodyPr>
            <a:normAutofit fontScale="90000"/>
          </a:bodyPr>
          <a:lstStyle/>
          <a:p>
            <a:r>
              <a:rPr lang="zh-CN" altLang="en-US" dirty="0"/>
              <a:t>分组交换：虚电路方式的特点</a:t>
            </a:r>
          </a:p>
        </p:txBody>
      </p:sp>
      <p:sp>
        <p:nvSpPr>
          <p:cNvPr id="83971" name="Rectangle 3"/>
          <p:cNvSpPr>
            <a:spLocks noGrp="1" noChangeArrowheads="1"/>
          </p:cNvSpPr>
          <p:nvPr>
            <p:ph type="body" idx="1"/>
          </p:nvPr>
        </p:nvSpPr>
        <p:spPr>
          <a:xfrm>
            <a:off x="1235144" y="1496322"/>
            <a:ext cx="7772400" cy="4114800"/>
          </a:xfrm>
        </p:spPr>
        <p:txBody>
          <a:bodyPr/>
          <a:lstStyle/>
          <a:p>
            <a:pPr eaLnBrk="1" hangingPunct="1"/>
            <a:r>
              <a:rPr lang="zh-CN" altLang="en-US" dirty="0"/>
              <a:t>用户间通信必须建立连接</a:t>
            </a:r>
          </a:p>
          <a:p>
            <a:pPr eaLnBrk="1" hangingPunct="1"/>
            <a:r>
              <a:rPr lang="zh-CN" altLang="en-US" dirty="0"/>
              <a:t>分组按序到达</a:t>
            </a:r>
          </a:p>
          <a:p>
            <a:pPr eaLnBrk="1" hangingPunct="1"/>
            <a:r>
              <a:rPr lang="zh-CN" altLang="en-US" dirty="0"/>
              <a:t>资源利用率高</a:t>
            </a:r>
          </a:p>
          <a:p>
            <a:pPr eaLnBrk="1" hangingPunct="1"/>
            <a:r>
              <a:rPr lang="zh-CN" altLang="en-US" dirty="0"/>
              <a:t>时延较小</a:t>
            </a:r>
          </a:p>
        </p:txBody>
      </p:sp>
      <p:pic>
        <p:nvPicPr>
          <p:cNvPr id="4" name="Picture 28" descr="015">
            <a:extLst>
              <a:ext uri="{FF2B5EF4-FFF2-40B4-BE49-F238E27FC236}">
                <a16:creationId xmlns:a16="http://schemas.microsoft.com/office/drawing/2014/main" id="{D9624929-5E28-4CF9-A19F-8EAFC11D67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48221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273728" y="470523"/>
            <a:ext cx="8001000" cy="784225"/>
          </a:xfrm>
        </p:spPr>
        <p:txBody>
          <a:bodyPr/>
          <a:lstStyle/>
          <a:p>
            <a:pPr eaLnBrk="1" hangingPunct="1"/>
            <a:r>
              <a:rPr lang="zh-CN" altLang="en-US" dirty="0"/>
              <a:t>分组交换带来的问题</a:t>
            </a:r>
          </a:p>
        </p:txBody>
      </p:sp>
      <p:sp>
        <p:nvSpPr>
          <p:cNvPr id="84995" name="Rectangle 3"/>
          <p:cNvSpPr>
            <a:spLocks noGrp="1" noChangeArrowheads="1"/>
          </p:cNvSpPr>
          <p:nvPr>
            <p:ph type="body" idx="1"/>
          </p:nvPr>
        </p:nvSpPr>
        <p:spPr>
          <a:xfrm>
            <a:off x="1036362" y="1530764"/>
            <a:ext cx="10274368" cy="4750766"/>
          </a:xfrm>
        </p:spPr>
        <p:txBody>
          <a:bodyPr/>
          <a:lstStyle/>
          <a:p>
            <a:pPr eaLnBrk="1" hangingPunct="1"/>
            <a:r>
              <a:rPr lang="zh-CN" altLang="en-US" dirty="0"/>
              <a:t>分组在各结点存储转发时需要</a:t>
            </a:r>
            <a:r>
              <a:rPr lang="zh-CN" altLang="en-US" dirty="0">
                <a:solidFill>
                  <a:srgbClr val="FF0000"/>
                </a:solidFill>
              </a:rPr>
              <a:t>排队</a:t>
            </a:r>
            <a:r>
              <a:rPr lang="zh-CN" altLang="en-US" dirty="0"/>
              <a:t>，这就会造成一定的</a:t>
            </a:r>
            <a:r>
              <a:rPr lang="zh-CN" altLang="en-US" dirty="0">
                <a:solidFill>
                  <a:srgbClr val="FF0000"/>
                </a:solidFill>
              </a:rPr>
              <a:t>时延</a:t>
            </a:r>
            <a:r>
              <a:rPr lang="zh-CN" altLang="en-US" dirty="0"/>
              <a:t>。 </a:t>
            </a:r>
          </a:p>
          <a:p>
            <a:pPr eaLnBrk="1" hangingPunct="1"/>
            <a:r>
              <a:rPr lang="zh-CN" altLang="en-US" dirty="0"/>
              <a:t>分组必须携带的首部（里面有必不可少的控制信息）也造成了一定的</a:t>
            </a:r>
            <a:r>
              <a:rPr lang="zh-CN" altLang="en-US" dirty="0">
                <a:solidFill>
                  <a:srgbClr val="FF0000"/>
                </a:solidFill>
              </a:rPr>
              <a:t>开销</a:t>
            </a:r>
            <a:r>
              <a:rPr lang="zh-CN" altLang="en-US" dirty="0"/>
              <a:t>。 </a:t>
            </a:r>
          </a:p>
        </p:txBody>
      </p:sp>
      <p:pic>
        <p:nvPicPr>
          <p:cNvPr id="4" name="Picture 28" descr="015">
            <a:extLst>
              <a:ext uri="{FF2B5EF4-FFF2-40B4-BE49-F238E27FC236}">
                <a16:creationId xmlns:a16="http://schemas.microsoft.com/office/drawing/2014/main" id="{7A414CC7-D731-4152-946D-726F629458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61792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310934" y="453783"/>
            <a:ext cx="8001000" cy="715962"/>
          </a:xfrm>
        </p:spPr>
        <p:txBody>
          <a:bodyPr/>
          <a:lstStyle/>
          <a:p>
            <a:pPr eaLnBrk="1" hangingPunct="1"/>
            <a:r>
              <a:rPr lang="zh-CN" altLang="en-US" dirty="0"/>
              <a:t>三种交换的比较 </a:t>
            </a:r>
          </a:p>
        </p:txBody>
      </p:sp>
      <p:grpSp>
        <p:nvGrpSpPr>
          <p:cNvPr id="86019" name="Group 3"/>
          <p:cNvGrpSpPr>
            <a:grpSpLocks/>
          </p:cNvGrpSpPr>
          <p:nvPr/>
        </p:nvGrpSpPr>
        <p:grpSpPr bwMode="auto">
          <a:xfrm>
            <a:off x="1703389" y="1149351"/>
            <a:ext cx="8526463" cy="4185323"/>
            <a:chOff x="113" y="1177"/>
            <a:chExt cx="5371" cy="2862"/>
          </a:xfrm>
        </p:grpSpPr>
        <p:grpSp>
          <p:nvGrpSpPr>
            <p:cNvPr id="86059" name="Group 4"/>
            <p:cNvGrpSpPr>
              <a:grpSpLocks/>
            </p:cNvGrpSpPr>
            <p:nvPr/>
          </p:nvGrpSpPr>
          <p:grpSpPr bwMode="auto">
            <a:xfrm>
              <a:off x="4653" y="1620"/>
              <a:ext cx="366" cy="244"/>
              <a:chOff x="4653" y="1620"/>
              <a:chExt cx="366" cy="244"/>
            </a:xfrm>
          </p:grpSpPr>
          <p:sp>
            <p:nvSpPr>
              <p:cNvPr id="86191" name="AutoShape 5"/>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92" name="Text Box 6"/>
              <p:cNvSpPr txBox="1">
                <a:spLocks noChangeArrowheads="1"/>
              </p:cNvSpPr>
              <p:nvPr/>
            </p:nvSpPr>
            <p:spPr bwMode="auto">
              <a:xfrm rot="626605">
                <a:off x="4662" y="1620"/>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1</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93" name="Line 7"/>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94" name="Line 8"/>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95" name="AutoShape 9"/>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0" name="Group 10"/>
            <p:cNvGrpSpPr>
              <a:grpSpLocks/>
            </p:cNvGrpSpPr>
            <p:nvPr/>
          </p:nvGrpSpPr>
          <p:grpSpPr bwMode="auto">
            <a:xfrm>
              <a:off x="4648" y="1799"/>
              <a:ext cx="367" cy="244"/>
              <a:chOff x="4648" y="1799"/>
              <a:chExt cx="367" cy="244"/>
            </a:xfrm>
          </p:grpSpPr>
          <p:sp>
            <p:nvSpPr>
              <p:cNvPr id="86186" name="AutoShape 11"/>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87" name="Text Box 12"/>
              <p:cNvSpPr txBox="1">
                <a:spLocks noChangeArrowheads="1"/>
              </p:cNvSpPr>
              <p:nvPr/>
            </p:nvSpPr>
            <p:spPr bwMode="auto">
              <a:xfrm rot="626605">
                <a:off x="4651" y="1799"/>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2</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88" name="Line 13"/>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89" name="Line 14"/>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90" name="AutoShape 15"/>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1" name="Group 16"/>
            <p:cNvGrpSpPr>
              <a:grpSpLocks/>
            </p:cNvGrpSpPr>
            <p:nvPr/>
          </p:nvGrpSpPr>
          <p:grpSpPr bwMode="auto">
            <a:xfrm>
              <a:off x="4652" y="1981"/>
              <a:ext cx="366" cy="238"/>
              <a:chOff x="4652" y="1981"/>
              <a:chExt cx="366" cy="238"/>
            </a:xfrm>
          </p:grpSpPr>
          <p:sp>
            <p:nvSpPr>
              <p:cNvPr id="86181" name="AutoShape 17"/>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82" name="Text Box 18"/>
              <p:cNvSpPr txBox="1">
                <a:spLocks noChangeArrowheads="1"/>
              </p:cNvSpPr>
              <p:nvPr/>
            </p:nvSpPr>
            <p:spPr bwMode="auto">
              <a:xfrm rot="626605">
                <a:off x="4655" y="1981"/>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3</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83" name="Line 19"/>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84" name="Line 20"/>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85" name="AutoShape 21"/>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2" name="Group 22"/>
            <p:cNvGrpSpPr>
              <a:grpSpLocks/>
            </p:cNvGrpSpPr>
            <p:nvPr/>
          </p:nvGrpSpPr>
          <p:grpSpPr bwMode="auto">
            <a:xfrm>
              <a:off x="4656" y="2151"/>
              <a:ext cx="366" cy="243"/>
              <a:chOff x="4656" y="2151"/>
              <a:chExt cx="366" cy="243"/>
            </a:xfrm>
          </p:grpSpPr>
          <p:sp>
            <p:nvSpPr>
              <p:cNvPr id="86176" name="AutoShape 23"/>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77" name="Text Box 24"/>
              <p:cNvSpPr txBox="1">
                <a:spLocks noChangeArrowheads="1"/>
              </p:cNvSpPr>
              <p:nvPr/>
            </p:nvSpPr>
            <p:spPr bwMode="auto">
              <a:xfrm rot="626605">
                <a:off x="4659" y="2151"/>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4</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78" name="Line 25"/>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79" name="Line 26"/>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80" name="AutoShape 27"/>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3" name="Group 28"/>
            <p:cNvGrpSpPr>
              <a:grpSpLocks/>
            </p:cNvGrpSpPr>
            <p:nvPr/>
          </p:nvGrpSpPr>
          <p:grpSpPr bwMode="auto">
            <a:xfrm>
              <a:off x="5012" y="1869"/>
              <a:ext cx="369" cy="237"/>
              <a:chOff x="5012" y="1869"/>
              <a:chExt cx="369" cy="237"/>
            </a:xfrm>
          </p:grpSpPr>
          <p:sp>
            <p:nvSpPr>
              <p:cNvPr id="86171" name="AutoShape 29"/>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72" name="Text Box 30"/>
              <p:cNvSpPr txBox="1">
                <a:spLocks noChangeArrowheads="1"/>
              </p:cNvSpPr>
              <p:nvPr/>
            </p:nvSpPr>
            <p:spPr bwMode="auto">
              <a:xfrm rot="626605">
                <a:off x="5012" y="1869"/>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1</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73" name="Line 31"/>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74" name="Line 32"/>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75" name="AutoShape 33"/>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4" name="Group 34"/>
            <p:cNvGrpSpPr>
              <a:grpSpLocks/>
            </p:cNvGrpSpPr>
            <p:nvPr/>
          </p:nvGrpSpPr>
          <p:grpSpPr bwMode="auto">
            <a:xfrm>
              <a:off x="5007" y="2036"/>
              <a:ext cx="369" cy="249"/>
              <a:chOff x="5007" y="2036"/>
              <a:chExt cx="369" cy="249"/>
            </a:xfrm>
          </p:grpSpPr>
          <p:sp>
            <p:nvSpPr>
              <p:cNvPr id="86166" name="AutoShape 35"/>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67" name="Text Box 36"/>
              <p:cNvSpPr txBox="1">
                <a:spLocks noChangeArrowheads="1"/>
              </p:cNvSpPr>
              <p:nvPr/>
            </p:nvSpPr>
            <p:spPr bwMode="auto">
              <a:xfrm rot="626605">
                <a:off x="5007" y="2036"/>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2</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68" name="Line 37"/>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69" name="Line 38"/>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70" name="AutoShape 39"/>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5" name="Group 40"/>
            <p:cNvGrpSpPr>
              <a:grpSpLocks/>
            </p:cNvGrpSpPr>
            <p:nvPr/>
          </p:nvGrpSpPr>
          <p:grpSpPr bwMode="auto">
            <a:xfrm>
              <a:off x="5014" y="2217"/>
              <a:ext cx="366" cy="244"/>
              <a:chOff x="5014" y="2217"/>
              <a:chExt cx="366" cy="244"/>
            </a:xfrm>
          </p:grpSpPr>
          <p:sp>
            <p:nvSpPr>
              <p:cNvPr id="86161" name="AutoShape 41"/>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62" name="Text Box 42"/>
              <p:cNvSpPr txBox="1">
                <a:spLocks noChangeArrowheads="1"/>
              </p:cNvSpPr>
              <p:nvPr/>
            </p:nvSpPr>
            <p:spPr bwMode="auto">
              <a:xfrm rot="626605">
                <a:off x="5017" y="2217"/>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3</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63" name="Line 43"/>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64" name="Line 44"/>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65" name="AutoShape 45"/>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6" name="Group 46"/>
            <p:cNvGrpSpPr>
              <a:grpSpLocks/>
            </p:cNvGrpSpPr>
            <p:nvPr/>
          </p:nvGrpSpPr>
          <p:grpSpPr bwMode="auto">
            <a:xfrm>
              <a:off x="5014" y="2387"/>
              <a:ext cx="370" cy="250"/>
              <a:chOff x="5014" y="2387"/>
              <a:chExt cx="370" cy="250"/>
            </a:xfrm>
          </p:grpSpPr>
          <p:sp>
            <p:nvSpPr>
              <p:cNvPr id="86156" name="AutoShape 47"/>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57" name="Text Box 48"/>
              <p:cNvSpPr txBox="1">
                <a:spLocks noChangeArrowheads="1"/>
              </p:cNvSpPr>
              <p:nvPr/>
            </p:nvSpPr>
            <p:spPr bwMode="auto">
              <a:xfrm rot="626605">
                <a:off x="5014" y="2387"/>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4</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58" name="Line 49"/>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59" name="Line 50"/>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60" name="AutoShape 51"/>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7" name="Group 52"/>
            <p:cNvGrpSpPr>
              <a:grpSpLocks/>
            </p:cNvGrpSpPr>
            <p:nvPr/>
          </p:nvGrpSpPr>
          <p:grpSpPr bwMode="auto">
            <a:xfrm>
              <a:off x="4287" y="1733"/>
              <a:ext cx="369" cy="243"/>
              <a:chOff x="4287" y="1733"/>
              <a:chExt cx="369" cy="243"/>
            </a:xfrm>
          </p:grpSpPr>
          <p:sp>
            <p:nvSpPr>
              <p:cNvPr id="86151" name="AutoShape 53"/>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52" name="Text Box 54"/>
              <p:cNvSpPr txBox="1">
                <a:spLocks noChangeArrowheads="1"/>
              </p:cNvSpPr>
              <p:nvPr/>
            </p:nvSpPr>
            <p:spPr bwMode="auto">
              <a:xfrm rot="626605">
                <a:off x="4287" y="1733"/>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3</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53" name="Line 55"/>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54" name="Line 56"/>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55" name="AutoShape 57"/>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8" name="Group 58"/>
            <p:cNvGrpSpPr>
              <a:grpSpLocks/>
            </p:cNvGrpSpPr>
            <p:nvPr/>
          </p:nvGrpSpPr>
          <p:grpSpPr bwMode="auto">
            <a:xfrm>
              <a:off x="4286" y="1923"/>
              <a:ext cx="366" cy="244"/>
              <a:chOff x="4294" y="1908"/>
              <a:chExt cx="366" cy="244"/>
            </a:xfrm>
          </p:grpSpPr>
          <p:sp>
            <p:nvSpPr>
              <p:cNvPr id="86146" name="AutoShape 59"/>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47" name="Text Box 60"/>
              <p:cNvSpPr txBox="1">
                <a:spLocks noChangeArrowheads="1"/>
              </p:cNvSpPr>
              <p:nvPr/>
            </p:nvSpPr>
            <p:spPr bwMode="auto">
              <a:xfrm rot="626605">
                <a:off x="4297" y="1908"/>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4</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48" name="Line 61"/>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49" name="Line 62"/>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50" name="AutoShape 63"/>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grpSp>
          <p:nvGrpSpPr>
            <p:cNvPr id="86069" name="Group 64"/>
            <p:cNvGrpSpPr>
              <a:grpSpLocks/>
            </p:cNvGrpSpPr>
            <p:nvPr/>
          </p:nvGrpSpPr>
          <p:grpSpPr bwMode="auto">
            <a:xfrm>
              <a:off x="2876" y="2191"/>
              <a:ext cx="367" cy="674"/>
              <a:chOff x="2876" y="2191"/>
              <a:chExt cx="367" cy="674"/>
            </a:xfrm>
          </p:grpSpPr>
          <p:sp>
            <p:nvSpPr>
              <p:cNvPr id="86141" name="AutoShape 65"/>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42" name="AutoShape 66"/>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43" name="Text Box 67"/>
              <p:cNvSpPr txBox="1">
                <a:spLocks noChangeArrowheads="1"/>
              </p:cNvSpPr>
              <p:nvPr/>
            </p:nvSpPr>
            <p:spPr bwMode="auto">
              <a:xfrm>
                <a:off x="2919" y="2313"/>
                <a:ext cx="246"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lnSpc>
                    <a:spcPct val="80000"/>
                  </a:lnSpc>
                </a:pPr>
                <a:r>
                  <a:rPr kumimoji="1" lang="zh-CN" altLang="en-US" sz="1600">
                    <a:solidFill>
                      <a:schemeClr val="tx1"/>
                    </a:solidFill>
                    <a:latin typeface="Arial" panose="020B0604020202020204" pitchFamily="34" charset="0"/>
                    <a:ea typeface="黑体" panose="02010609060101010101" pitchFamily="49" charset="-122"/>
                  </a:rPr>
                  <a:t>报</a:t>
                </a:r>
              </a:p>
              <a:p>
                <a:pPr eaLnBrk="1" hangingPunct="1">
                  <a:lnSpc>
                    <a:spcPct val="80000"/>
                  </a:lnSpc>
                </a:pPr>
                <a:r>
                  <a:rPr kumimoji="1" lang="zh-CN" altLang="en-US" sz="1600">
                    <a:solidFill>
                      <a:schemeClr val="tx1"/>
                    </a:solidFill>
                    <a:latin typeface="Arial" panose="020B0604020202020204" pitchFamily="34" charset="0"/>
                    <a:ea typeface="黑体" panose="02010609060101010101" pitchFamily="49" charset="-122"/>
                  </a:rPr>
                  <a:t>文</a:t>
                </a:r>
              </a:p>
            </p:txBody>
          </p:sp>
          <p:sp>
            <p:nvSpPr>
              <p:cNvPr id="86144" name="Line 68"/>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45" name="Line 69"/>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70" name="Group 70"/>
            <p:cNvGrpSpPr>
              <a:grpSpLocks/>
            </p:cNvGrpSpPr>
            <p:nvPr/>
          </p:nvGrpSpPr>
          <p:grpSpPr bwMode="auto">
            <a:xfrm>
              <a:off x="3251" y="3033"/>
              <a:ext cx="366" cy="675"/>
              <a:chOff x="3251" y="3033"/>
              <a:chExt cx="366" cy="675"/>
            </a:xfrm>
          </p:grpSpPr>
          <p:sp>
            <p:nvSpPr>
              <p:cNvPr id="86136" name="AutoShape 71"/>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37" name="AutoShape 72"/>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38" name="Text Box 73"/>
              <p:cNvSpPr txBox="1">
                <a:spLocks noChangeArrowheads="1"/>
              </p:cNvSpPr>
              <p:nvPr/>
            </p:nvSpPr>
            <p:spPr bwMode="auto">
              <a:xfrm>
                <a:off x="3293" y="3156"/>
                <a:ext cx="246"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lnSpc>
                    <a:spcPct val="80000"/>
                  </a:lnSpc>
                </a:pPr>
                <a:r>
                  <a:rPr kumimoji="1" lang="zh-CN" altLang="en-US" sz="1600">
                    <a:solidFill>
                      <a:schemeClr val="tx1"/>
                    </a:solidFill>
                    <a:latin typeface="Arial" panose="020B0604020202020204" pitchFamily="34" charset="0"/>
                    <a:ea typeface="黑体" panose="02010609060101010101" pitchFamily="49" charset="-122"/>
                  </a:rPr>
                  <a:t>报</a:t>
                </a:r>
              </a:p>
              <a:p>
                <a:pPr eaLnBrk="1" hangingPunct="1">
                  <a:lnSpc>
                    <a:spcPct val="80000"/>
                  </a:lnSpc>
                </a:pPr>
                <a:r>
                  <a:rPr kumimoji="1" lang="zh-CN" altLang="en-US" sz="1600">
                    <a:solidFill>
                      <a:schemeClr val="tx1"/>
                    </a:solidFill>
                    <a:latin typeface="Arial" panose="020B0604020202020204" pitchFamily="34" charset="0"/>
                    <a:ea typeface="黑体" panose="02010609060101010101" pitchFamily="49" charset="-122"/>
                  </a:rPr>
                  <a:t>文</a:t>
                </a:r>
              </a:p>
            </p:txBody>
          </p:sp>
          <p:sp>
            <p:nvSpPr>
              <p:cNvPr id="86139" name="Line 74"/>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40" name="Line 75"/>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71" name="Group 76"/>
            <p:cNvGrpSpPr>
              <a:grpSpLocks/>
            </p:cNvGrpSpPr>
            <p:nvPr/>
          </p:nvGrpSpPr>
          <p:grpSpPr bwMode="auto">
            <a:xfrm>
              <a:off x="2519" y="1390"/>
              <a:ext cx="361" cy="674"/>
              <a:chOff x="2519" y="1390"/>
              <a:chExt cx="361" cy="674"/>
            </a:xfrm>
          </p:grpSpPr>
          <p:sp>
            <p:nvSpPr>
              <p:cNvPr id="86131" name="AutoShape 77"/>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32" name="AutoShape 78"/>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33" name="Text Box 79"/>
              <p:cNvSpPr txBox="1">
                <a:spLocks noChangeArrowheads="1"/>
              </p:cNvSpPr>
              <p:nvPr/>
            </p:nvSpPr>
            <p:spPr bwMode="auto">
              <a:xfrm>
                <a:off x="2567" y="1513"/>
                <a:ext cx="246"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lnSpc>
                    <a:spcPct val="80000"/>
                  </a:lnSpc>
                </a:pPr>
                <a:r>
                  <a:rPr kumimoji="1" lang="zh-CN" altLang="en-US" sz="1600">
                    <a:solidFill>
                      <a:schemeClr val="tx1"/>
                    </a:solidFill>
                    <a:latin typeface="Arial" panose="020B0604020202020204" pitchFamily="34" charset="0"/>
                    <a:ea typeface="黑体" panose="02010609060101010101" pitchFamily="49" charset="-122"/>
                  </a:rPr>
                  <a:t>报</a:t>
                </a:r>
              </a:p>
              <a:p>
                <a:pPr eaLnBrk="1" hangingPunct="1">
                  <a:lnSpc>
                    <a:spcPct val="80000"/>
                  </a:lnSpc>
                </a:pPr>
                <a:r>
                  <a:rPr kumimoji="1" lang="zh-CN" altLang="en-US" sz="1600">
                    <a:solidFill>
                      <a:schemeClr val="tx1"/>
                    </a:solidFill>
                    <a:latin typeface="Arial" panose="020B0604020202020204" pitchFamily="34" charset="0"/>
                    <a:ea typeface="黑体" panose="02010609060101010101" pitchFamily="49" charset="-122"/>
                  </a:rPr>
                  <a:t>文</a:t>
                </a:r>
              </a:p>
            </p:txBody>
          </p:sp>
          <p:sp>
            <p:nvSpPr>
              <p:cNvPr id="86134" name="Line 80"/>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35" name="Line 81"/>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6072" name="Line 82"/>
            <p:cNvSpPr>
              <a:spLocks noChangeShapeType="1"/>
            </p:cNvSpPr>
            <p:nvPr/>
          </p:nvSpPr>
          <p:spPr bwMode="auto">
            <a:xfrm>
              <a:off x="1189" y="1390"/>
              <a:ext cx="0" cy="24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3" name="Line 83"/>
            <p:cNvSpPr>
              <a:spLocks noChangeShapeType="1"/>
            </p:cNvSpPr>
            <p:nvPr/>
          </p:nvSpPr>
          <p:spPr bwMode="auto">
            <a:xfrm>
              <a:off x="1552" y="1390"/>
              <a:ext cx="0" cy="24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4" name="Text Box 84"/>
            <p:cNvSpPr txBox="1">
              <a:spLocks noChangeArrowheads="1"/>
            </p:cNvSpPr>
            <p:nvPr/>
          </p:nvSpPr>
          <p:spPr bwMode="auto">
            <a:xfrm>
              <a:off x="730" y="3807"/>
              <a:ext cx="133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A        B       C        D </a:t>
              </a:r>
            </a:p>
          </p:txBody>
        </p:sp>
        <p:sp>
          <p:nvSpPr>
            <p:cNvPr id="86075" name="Text Box 85"/>
            <p:cNvSpPr txBox="1">
              <a:spLocks noChangeArrowheads="1"/>
            </p:cNvSpPr>
            <p:nvPr/>
          </p:nvSpPr>
          <p:spPr bwMode="auto">
            <a:xfrm>
              <a:off x="2412" y="3807"/>
              <a:ext cx="133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A        B        C        D</a:t>
              </a:r>
            </a:p>
          </p:txBody>
        </p:sp>
        <p:sp>
          <p:nvSpPr>
            <p:cNvPr id="86076" name="Text Box 86"/>
            <p:cNvSpPr txBox="1">
              <a:spLocks noChangeArrowheads="1"/>
            </p:cNvSpPr>
            <p:nvPr/>
          </p:nvSpPr>
          <p:spPr bwMode="auto">
            <a:xfrm>
              <a:off x="4181" y="3807"/>
              <a:ext cx="130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A        B       C        D</a:t>
              </a:r>
            </a:p>
          </p:txBody>
        </p:sp>
        <p:sp>
          <p:nvSpPr>
            <p:cNvPr id="86077" name="Line 87"/>
            <p:cNvSpPr>
              <a:spLocks noChangeShapeType="1"/>
            </p:cNvSpPr>
            <p:nvPr/>
          </p:nvSpPr>
          <p:spPr bwMode="auto">
            <a:xfrm>
              <a:off x="826" y="1474"/>
              <a:ext cx="363" cy="42"/>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8" name="Line 88"/>
            <p:cNvSpPr>
              <a:spLocks noChangeShapeType="1"/>
            </p:cNvSpPr>
            <p:nvPr/>
          </p:nvSpPr>
          <p:spPr bwMode="auto">
            <a:xfrm>
              <a:off x="1189" y="1643"/>
              <a:ext cx="363" cy="42"/>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9" name="Line 89"/>
            <p:cNvSpPr>
              <a:spLocks noChangeShapeType="1"/>
            </p:cNvSpPr>
            <p:nvPr/>
          </p:nvSpPr>
          <p:spPr bwMode="auto">
            <a:xfrm>
              <a:off x="1552" y="1811"/>
              <a:ext cx="362" cy="42"/>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0" name="Line 90"/>
            <p:cNvSpPr>
              <a:spLocks noChangeShapeType="1"/>
            </p:cNvSpPr>
            <p:nvPr/>
          </p:nvSpPr>
          <p:spPr bwMode="auto">
            <a:xfrm flipH="1">
              <a:off x="826" y="2064"/>
              <a:ext cx="1088" cy="169"/>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1" name="Text Box 91"/>
            <p:cNvSpPr txBox="1">
              <a:spLocks noChangeArrowheads="1"/>
            </p:cNvSpPr>
            <p:nvPr/>
          </p:nvSpPr>
          <p:spPr bwMode="auto">
            <a:xfrm>
              <a:off x="2766" y="1177"/>
              <a:ext cx="63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1600">
                  <a:solidFill>
                    <a:schemeClr val="tx1"/>
                  </a:solidFill>
                  <a:latin typeface="Arial" panose="020B0604020202020204" pitchFamily="34" charset="0"/>
                  <a:ea typeface="黑体" panose="02010609060101010101" pitchFamily="49" charset="-122"/>
                </a:rPr>
                <a:t>报文交换</a:t>
              </a:r>
            </a:p>
          </p:txBody>
        </p:sp>
        <p:sp>
          <p:nvSpPr>
            <p:cNvPr id="86082" name="Text Box 92"/>
            <p:cNvSpPr txBox="1">
              <a:spLocks noChangeArrowheads="1"/>
            </p:cNvSpPr>
            <p:nvPr/>
          </p:nvSpPr>
          <p:spPr bwMode="auto">
            <a:xfrm>
              <a:off x="1028" y="1177"/>
              <a:ext cx="63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1600">
                  <a:solidFill>
                    <a:schemeClr val="tx1"/>
                  </a:solidFill>
                  <a:latin typeface="Arial" panose="020B0604020202020204" pitchFamily="34" charset="0"/>
                  <a:ea typeface="黑体" panose="02010609060101010101" pitchFamily="49" charset="-122"/>
                </a:rPr>
                <a:t>电路交换</a:t>
              </a:r>
            </a:p>
          </p:txBody>
        </p:sp>
        <p:sp>
          <p:nvSpPr>
            <p:cNvPr id="86083" name="Text Box 93"/>
            <p:cNvSpPr txBox="1">
              <a:spLocks noChangeArrowheads="1"/>
            </p:cNvSpPr>
            <p:nvPr/>
          </p:nvSpPr>
          <p:spPr bwMode="auto">
            <a:xfrm>
              <a:off x="4499" y="1177"/>
              <a:ext cx="63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1600">
                  <a:solidFill>
                    <a:schemeClr val="tx1"/>
                  </a:solidFill>
                  <a:latin typeface="Arial" panose="020B0604020202020204" pitchFamily="34" charset="0"/>
                  <a:ea typeface="黑体" panose="02010609060101010101" pitchFamily="49" charset="-122"/>
                </a:rPr>
                <a:t>分组交换</a:t>
              </a:r>
            </a:p>
          </p:txBody>
        </p:sp>
        <p:sp>
          <p:nvSpPr>
            <p:cNvPr id="86084" name="Line 94"/>
            <p:cNvSpPr>
              <a:spLocks noChangeShapeType="1"/>
            </p:cNvSpPr>
            <p:nvPr/>
          </p:nvSpPr>
          <p:spPr bwMode="auto">
            <a:xfrm>
              <a:off x="2212" y="1685"/>
              <a:ext cx="0" cy="1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5" name="Text Box 95"/>
            <p:cNvSpPr txBox="1">
              <a:spLocks noChangeArrowheads="1"/>
            </p:cNvSpPr>
            <p:nvPr/>
          </p:nvSpPr>
          <p:spPr bwMode="auto">
            <a:xfrm>
              <a:off x="2148" y="3438"/>
              <a:ext cx="15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t</a:t>
              </a:r>
            </a:p>
          </p:txBody>
        </p:sp>
        <p:grpSp>
          <p:nvGrpSpPr>
            <p:cNvPr id="86086" name="Group 96"/>
            <p:cNvGrpSpPr>
              <a:grpSpLocks/>
            </p:cNvGrpSpPr>
            <p:nvPr/>
          </p:nvGrpSpPr>
          <p:grpSpPr bwMode="auto">
            <a:xfrm>
              <a:off x="113" y="1476"/>
              <a:ext cx="699" cy="775"/>
              <a:chOff x="113" y="1473"/>
              <a:chExt cx="699" cy="775"/>
            </a:xfrm>
          </p:grpSpPr>
          <p:sp>
            <p:nvSpPr>
              <p:cNvPr id="86127" name="Line 97"/>
              <p:cNvSpPr>
                <a:spLocks noChangeShapeType="1"/>
              </p:cNvSpPr>
              <p:nvPr/>
            </p:nvSpPr>
            <p:spPr bwMode="auto">
              <a:xfrm>
                <a:off x="630" y="1474"/>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28" name="Line 98"/>
              <p:cNvSpPr>
                <a:spLocks noChangeShapeType="1"/>
              </p:cNvSpPr>
              <p:nvPr/>
            </p:nvSpPr>
            <p:spPr bwMode="auto">
              <a:xfrm>
                <a:off x="622" y="2248"/>
                <a:ext cx="181"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29" name="Text Box 99"/>
              <p:cNvSpPr txBox="1">
                <a:spLocks noChangeArrowheads="1"/>
              </p:cNvSpPr>
              <p:nvPr/>
            </p:nvSpPr>
            <p:spPr bwMode="auto">
              <a:xfrm>
                <a:off x="113" y="1748"/>
                <a:ext cx="633"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lnSpc>
                    <a:spcPct val="90000"/>
                  </a:lnSpc>
                </a:pPr>
                <a:r>
                  <a:rPr kumimoji="1" lang="zh-CN" altLang="en-US" sz="1600">
                    <a:solidFill>
                      <a:schemeClr val="tx1"/>
                    </a:solidFill>
                    <a:latin typeface="Arial" panose="020B0604020202020204" pitchFamily="34" charset="0"/>
                    <a:ea typeface="黑体" panose="02010609060101010101" pitchFamily="49" charset="-122"/>
                  </a:rPr>
                  <a:t>连接建立</a:t>
                </a:r>
              </a:p>
            </p:txBody>
          </p:sp>
          <p:sp>
            <p:nvSpPr>
              <p:cNvPr id="86130" name="Line 100"/>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87" name="Group 101"/>
            <p:cNvGrpSpPr>
              <a:grpSpLocks/>
            </p:cNvGrpSpPr>
            <p:nvPr/>
          </p:nvGrpSpPr>
          <p:grpSpPr bwMode="auto">
            <a:xfrm>
              <a:off x="113" y="2246"/>
              <a:ext cx="699" cy="637"/>
              <a:chOff x="113" y="2246"/>
              <a:chExt cx="699" cy="637"/>
            </a:xfrm>
          </p:grpSpPr>
          <p:sp>
            <p:nvSpPr>
              <p:cNvPr id="86124" name="Line 102"/>
              <p:cNvSpPr>
                <a:spLocks noChangeShapeType="1"/>
              </p:cNvSpPr>
              <p:nvPr/>
            </p:nvSpPr>
            <p:spPr bwMode="auto">
              <a:xfrm>
                <a:off x="630" y="2881"/>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25" name="Text Box 103"/>
              <p:cNvSpPr txBox="1">
                <a:spLocks noChangeArrowheads="1"/>
              </p:cNvSpPr>
              <p:nvPr/>
            </p:nvSpPr>
            <p:spPr bwMode="auto">
              <a:xfrm>
                <a:off x="113" y="2420"/>
                <a:ext cx="633"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lnSpc>
                    <a:spcPct val="90000"/>
                  </a:lnSpc>
                </a:pPr>
                <a:r>
                  <a:rPr kumimoji="1" lang="zh-CN" altLang="en-US" sz="1600">
                    <a:solidFill>
                      <a:schemeClr val="tx1"/>
                    </a:solidFill>
                    <a:latin typeface="Arial" panose="020B0604020202020204" pitchFamily="34" charset="0"/>
                    <a:ea typeface="黑体" panose="02010609060101010101" pitchFamily="49" charset="-122"/>
                  </a:rPr>
                  <a:t>数据传送</a:t>
                </a:r>
              </a:p>
            </p:txBody>
          </p:sp>
          <p:sp>
            <p:nvSpPr>
              <p:cNvPr id="86126" name="Line 104"/>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6088" name="Freeform 105"/>
            <p:cNvSpPr>
              <a:spLocks/>
            </p:cNvSpPr>
            <p:nvPr/>
          </p:nvSpPr>
          <p:spPr bwMode="auto">
            <a:xfrm>
              <a:off x="823" y="1390"/>
              <a:ext cx="3" cy="2407"/>
            </a:xfrm>
            <a:custGeom>
              <a:avLst/>
              <a:gdLst>
                <a:gd name="T0" fmla="*/ 3 w 3"/>
                <a:gd name="T1" fmla="*/ 0 h 2742"/>
                <a:gd name="T2" fmla="*/ 0 w 3"/>
                <a:gd name="T3" fmla="*/ 1628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9" name="Freeform 106"/>
            <p:cNvSpPr>
              <a:spLocks/>
            </p:cNvSpPr>
            <p:nvPr/>
          </p:nvSpPr>
          <p:spPr bwMode="auto">
            <a:xfrm>
              <a:off x="3614" y="1376"/>
              <a:ext cx="3" cy="2402"/>
            </a:xfrm>
            <a:custGeom>
              <a:avLst/>
              <a:gdLst>
                <a:gd name="T0" fmla="*/ 3 w 3"/>
                <a:gd name="T1" fmla="*/ 0 h 2736"/>
                <a:gd name="T2" fmla="*/ 0 w 3"/>
                <a:gd name="T3" fmla="*/ 162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90" name="Line 107"/>
            <p:cNvSpPr>
              <a:spLocks noChangeShapeType="1"/>
            </p:cNvSpPr>
            <p:nvPr/>
          </p:nvSpPr>
          <p:spPr bwMode="auto">
            <a:xfrm>
              <a:off x="5379" y="1407"/>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91" name="Line 108"/>
            <p:cNvSpPr>
              <a:spLocks noChangeShapeType="1"/>
            </p:cNvSpPr>
            <p:nvPr/>
          </p:nvSpPr>
          <p:spPr bwMode="auto">
            <a:xfrm>
              <a:off x="5015" y="1398"/>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92" name="Line 109"/>
            <p:cNvSpPr>
              <a:spLocks noChangeShapeType="1"/>
            </p:cNvSpPr>
            <p:nvPr/>
          </p:nvSpPr>
          <p:spPr bwMode="auto">
            <a:xfrm>
              <a:off x="4657" y="1390"/>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93" name="Line 110"/>
            <p:cNvSpPr>
              <a:spLocks noChangeShapeType="1"/>
            </p:cNvSpPr>
            <p:nvPr/>
          </p:nvSpPr>
          <p:spPr bwMode="auto">
            <a:xfrm>
              <a:off x="2517" y="1376"/>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94" name="Line 111"/>
            <p:cNvSpPr>
              <a:spLocks noChangeShapeType="1"/>
            </p:cNvSpPr>
            <p:nvPr/>
          </p:nvSpPr>
          <p:spPr bwMode="auto">
            <a:xfrm>
              <a:off x="2876" y="1376"/>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95" name="Line 112"/>
            <p:cNvSpPr>
              <a:spLocks noChangeShapeType="1"/>
            </p:cNvSpPr>
            <p:nvPr/>
          </p:nvSpPr>
          <p:spPr bwMode="auto">
            <a:xfrm>
              <a:off x="3250" y="1376"/>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096" name="Group 113"/>
            <p:cNvGrpSpPr>
              <a:grpSpLocks/>
            </p:cNvGrpSpPr>
            <p:nvPr/>
          </p:nvGrpSpPr>
          <p:grpSpPr bwMode="auto">
            <a:xfrm>
              <a:off x="817" y="2238"/>
              <a:ext cx="1113" cy="806"/>
              <a:chOff x="817" y="2238"/>
              <a:chExt cx="1113" cy="806"/>
            </a:xfrm>
          </p:grpSpPr>
          <p:sp>
            <p:nvSpPr>
              <p:cNvPr id="86118" name="Line 114"/>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19" name="AutoShape 115"/>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20" name="Text Box 116"/>
              <p:cNvSpPr txBox="1">
                <a:spLocks noChangeArrowheads="1"/>
              </p:cNvSpPr>
              <p:nvPr/>
            </p:nvSpPr>
            <p:spPr bwMode="auto">
              <a:xfrm>
                <a:off x="1113" y="2446"/>
                <a:ext cx="375"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zh-CN" altLang="en-US" sz="1600">
                    <a:solidFill>
                      <a:schemeClr val="tx1"/>
                    </a:solidFill>
                    <a:latin typeface="Arial" panose="020B0604020202020204" pitchFamily="34" charset="0"/>
                    <a:ea typeface="黑体" panose="02010609060101010101" pitchFamily="49" charset="-122"/>
                  </a:rPr>
                  <a:t>报文</a:t>
                </a:r>
              </a:p>
            </p:txBody>
          </p:sp>
          <p:sp>
            <p:nvSpPr>
              <p:cNvPr id="86121" name="AutoShape 117"/>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22" name="Line 118"/>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23" name="Line 119"/>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97" name="Group 120"/>
            <p:cNvGrpSpPr>
              <a:grpSpLocks/>
            </p:cNvGrpSpPr>
            <p:nvPr/>
          </p:nvGrpSpPr>
          <p:grpSpPr bwMode="auto">
            <a:xfrm>
              <a:off x="4286" y="1563"/>
              <a:ext cx="367" cy="238"/>
              <a:chOff x="4286" y="1563"/>
              <a:chExt cx="367" cy="238"/>
            </a:xfrm>
          </p:grpSpPr>
          <p:sp>
            <p:nvSpPr>
              <p:cNvPr id="86113" name="AutoShape 121"/>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14" name="Text Box 122"/>
              <p:cNvSpPr txBox="1">
                <a:spLocks noChangeArrowheads="1"/>
              </p:cNvSpPr>
              <p:nvPr/>
            </p:nvSpPr>
            <p:spPr bwMode="auto">
              <a:xfrm rot="626605">
                <a:off x="4295" y="1563"/>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2</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15" name="Line 123"/>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16" name="AutoShape 124"/>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17" name="Line 125"/>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98" name="Group 126"/>
            <p:cNvGrpSpPr>
              <a:grpSpLocks/>
            </p:cNvGrpSpPr>
            <p:nvPr/>
          </p:nvGrpSpPr>
          <p:grpSpPr bwMode="auto">
            <a:xfrm>
              <a:off x="4291" y="1378"/>
              <a:ext cx="366" cy="244"/>
              <a:chOff x="4291" y="1378"/>
              <a:chExt cx="366" cy="244"/>
            </a:xfrm>
          </p:grpSpPr>
          <p:sp>
            <p:nvSpPr>
              <p:cNvPr id="86108" name="AutoShape 127"/>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sp>
            <p:nvSpPr>
              <p:cNvPr id="86109" name="Text Box 128"/>
              <p:cNvSpPr txBox="1">
                <a:spLocks noChangeArrowheads="1"/>
              </p:cNvSpPr>
              <p:nvPr/>
            </p:nvSpPr>
            <p:spPr bwMode="auto">
              <a:xfrm rot="626605">
                <a:off x="4294" y="1378"/>
                <a:ext cx="250" cy="23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r>
                  <a:rPr kumimoji="1" lang="en-US" altLang="zh-CN" sz="1600">
                    <a:solidFill>
                      <a:schemeClr val="tx1"/>
                    </a:solidFill>
                    <a:latin typeface="Arial" panose="020B0604020202020204" pitchFamily="34" charset="0"/>
                    <a:ea typeface="黑体" panose="02010609060101010101" pitchFamily="49" charset="-122"/>
                  </a:rPr>
                  <a:t>P</a:t>
                </a:r>
                <a:r>
                  <a:rPr kumimoji="1" lang="en-US" altLang="zh-CN" sz="1600" baseline="-25000">
                    <a:solidFill>
                      <a:schemeClr val="tx1"/>
                    </a:solidFill>
                    <a:latin typeface="Arial" panose="020B0604020202020204" pitchFamily="34" charset="0"/>
                    <a:ea typeface="黑体" panose="02010609060101010101" pitchFamily="49" charset="-122"/>
                  </a:rPr>
                  <a:t>1</a:t>
                </a:r>
                <a:endParaRPr kumimoji="1" lang="en-US" altLang="zh-CN" sz="1600">
                  <a:solidFill>
                    <a:schemeClr val="tx1"/>
                  </a:solidFill>
                  <a:latin typeface="Arial" panose="020B0604020202020204" pitchFamily="34" charset="0"/>
                  <a:ea typeface="黑体" panose="02010609060101010101" pitchFamily="49" charset="-122"/>
                </a:endParaRPr>
              </a:p>
            </p:txBody>
          </p:sp>
          <p:sp>
            <p:nvSpPr>
              <p:cNvPr id="86110" name="Line 129"/>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11" name="Line 130"/>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12" name="AutoShape 131"/>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spcBef>
                    <a:spcPct val="50000"/>
                  </a:spcBef>
                </a:pPr>
                <a:endParaRPr lang="zh-CN" altLang="en-US"/>
              </a:p>
            </p:txBody>
          </p:sp>
        </p:grpSp>
        <p:sp>
          <p:nvSpPr>
            <p:cNvPr id="86099" name="Line 132"/>
            <p:cNvSpPr>
              <a:spLocks noChangeShapeType="1"/>
            </p:cNvSpPr>
            <p:nvPr/>
          </p:nvSpPr>
          <p:spPr bwMode="auto">
            <a:xfrm>
              <a:off x="4289" y="1382"/>
              <a:ext cx="0" cy="2402"/>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00" name="Line 133"/>
            <p:cNvSpPr>
              <a:spLocks noChangeShapeType="1"/>
            </p:cNvSpPr>
            <p:nvPr/>
          </p:nvSpPr>
          <p:spPr bwMode="auto">
            <a:xfrm>
              <a:off x="823" y="2935"/>
              <a:ext cx="363" cy="6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01" name="Line 134"/>
            <p:cNvSpPr>
              <a:spLocks noChangeShapeType="1"/>
            </p:cNvSpPr>
            <p:nvPr/>
          </p:nvSpPr>
          <p:spPr bwMode="auto">
            <a:xfrm>
              <a:off x="1192" y="3049"/>
              <a:ext cx="357" cy="6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02" name="Line 135"/>
            <p:cNvSpPr>
              <a:spLocks noChangeShapeType="1"/>
            </p:cNvSpPr>
            <p:nvPr/>
          </p:nvSpPr>
          <p:spPr bwMode="auto">
            <a:xfrm>
              <a:off x="1549" y="3169"/>
              <a:ext cx="362" cy="54"/>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103" name="Group 136"/>
            <p:cNvGrpSpPr>
              <a:grpSpLocks/>
            </p:cNvGrpSpPr>
            <p:nvPr/>
          </p:nvGrpSpPr>
          <p:grpSpPr bwMode="auto">
            <a:xfrm>
              <a:off x="113" y="2869"/>
              <a:ext cx="684" cy="373"/>
              <a:chOff x="113" y="2869"/>
              <a:chExt cx="684" cy="373"/>
            </a:xfrm>
          </p:grpSpPr>
          <p:sp>
            <p:nvSpPr>
              <p:cNvPr id="86105" name="Line 137"/>
              <p:cNvSpPr>
                <a:spLocks noChangeShapeType="1"/>
              </p:cNvSpPr>
              <p:nvPr/>
            </p:nvSpPr>
            <p:spPr bwMode="auto">
              <a:xfrm>
                <a:off x="615" y="3241"/>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06" name="Line 138"/>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107" name="Text Box 139"/>
              <p:cNvSpPr txBox="1">
                <a:spLocks noChangeArrowheads="1"/>
              </p:cNvSpPr>
              <p:nvPr/>
            </p:nvSpPr>
            <p:spPr bwMode="auto">
              <a:xfrm>
                <a:off x="113" y="2948"/>
                <a:ext cx="633"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eaLnBrk="1" hangingPunct="1">
                  <a:lnSpc>
                    <a:spcPct val="90000"/>
                  </a:lnSpc>
                </a:pPr>
                <a:r>
                  <a:rPr kumimoji="1" lang="zh-CN" altLang="en-US" sz="1600">
                    <a:solidFill>
                      <a:schemeClr val="tx1"/>
                    </a:solidFill>
                    <a:latin typeface="Arial" panose="020B0604020202020204" pitchFamily="34" charset="0"/>
                    <a:ea typeface="黑体" panose="02010609060101010101" pitchFamily="49" charset="-122"/>
                  </a:rPr>
                  <a:t>连接释放</a:t>
                </a:r>
              </a:p>
            </p:txBody>
          </p:sp>
        </p:grpSp>
        <p:sp>
          <p:nvSpPr>
            <p:cNvPr id="86104" name="Freeform 140"/>
            <p:cNvSpPr>
              <a:spLocks/>
            </p:cNvSpPr>
            <p:nvPr/>
          </p:nvSpPr>
          <p:spPr bwMode="auto">
            <a:xfrm>
              <a:off x="1915" y="1404"/>
              <a:ext cx="3" cy="2402"/>
            </a:xfrm>
            <a:custGeom>
              <a:avLst/>
              <a:gdLst>
                <a:gd name="T0" fmla="*/ 3 w 3"/>
                <a:gd name="T1" fmla="*/ 0 h 2736"/>
                <a:gd name="T2" fmla="*/ 0 w 3"/>
                <a:gd name="T3" fmla="*/ 1626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20" name="组合 1"/>
          <p:cNvGrpSpPr>
            <a:grpSpLocks/>
          </p:cNvGrpSpPr>
          <p:nvPr/>
        </p:nvGrpSpPr>
        <p:grpSpPr bwMode="auto">
          <a:xfrm>
            <a:off x="1595438" y="5373690"/>
            <a:ext cx="8843962" cy="1383667"/>
            <a:chOff x="71438" y="5341938"/>
            <a:chExt cx="8843962" cy="1530619"/>
          </a:xfrm>
        </p:grpSpPr>
        <p:sp>
          <p:nvSpPr>
            <p:cNvPr id="86021" name="AutoShape 143"/>
            <p:cNvSpPr>
              <a:spLocks noChangeArrowheads="1"/>
            </p:cNvSpPr>
            <p:nvPr/>
          </p:nvSpPr>
          <p:spPr bwMode="auto">
            <a:xfrm>
              <a:off x="71438" y="5365750"/>
              <a:ext cx="8843962" cy="1447800"/>
            </a:xfrm>
            <a:prstGeom prst="roundRect">
              <a:avLst>
                <a:gd name="adj" fmla="val 16667"/>
              </a:avLst>
            </a:prstGeom>
            <a:noFill/>
            <a:ln w="9525">
              <a:solidFill>
                <a:schemeClr val="tx1"/>
              </a:solidFill>
              <a:round/>
              <a:headEnd type="none" w="sm" len="lg"/>
              <a:tailEnd type="none" w="sm" len="lg"/>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22" name="Line 144"/>
            <p:cNvSpPr>
              <a:spLocks noChangeShapeType="1"/>
            </p:cNvSpPr>
            <p:nvPr/>
          </p:nvSpPr>
          <p:spPr bwMode="auto">
            <a:xfrm>
              <a:off x="6781800" y="6203950"/>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23" name="Line 145"/>
            <p:cNvSpPr>
              <a:spLocks noChangeShapeType="1"/>
            </p:cNvSpPr>
            <p:nvPr/>
          </p:nvSpPr>
          <p:spPr bwMode="auto">
            <a:xfrm>
              <a:off x="3962400" y="6203950"/>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24" name="Line 146"/>
            <p:cNvSpPr>
              <a:spLocks noChangeShapeType="1"/>
            </p:cNvSpPr>
            <p:nvPr/>
          </p:nvSpPr>
          <p:spPr bwMode="auto">
            <a:xfrm>
              <a:off x="1295400" y="6203950"/>
              <a:ext cx="16764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6025" name="Group 147"/>
            <p:cNvGrpSpPr>
              <a:grpSpLocks/>
            </p:cNvGrpSpPr>
            <p:nvPr/>
          </p:nvGrpSpPr>
          <p:grpSpPr bwMode="auto">
            <a:xfrm>
              <a:off x="1219200" y="6051550"/>
              <a:ext cx="1905000" cy="228600"/>
              <a:chOff x="768" y="2544"/>
              <a:chExt cx="1200" cy="144"/>
            </a:xfrm>
          </p:grpSpPr>
          <p:sp>
            <p:nvSpPr>
              <p:cNvPr id="86055"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6"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7"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8"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grpSp>
        <p:grpSp>
          <p:nvGrpSpPr>
            <p:cNvPr id="86026" name="Group 152"/>
            <p:cNvGrpSpPr>
              <a:grpSpLocks/>
            </p:cNvGrpSpPr>
            <p:nvPr/>
          </p:nvGrpSpPr>
          <p:grpSpPr bwMode="auto">
            <a:xfrm>
              <a:off x="3886200" y="6051550"/>
              <a:ext cx="1905000" cy="228600"/>
              <a:chOff x="768" y="2544"/>
              <a:chExt cx="1200" cy="144"/>
            </a:xfrm>
          </p:grpSpPr>
          <p:sp>
            <p:nvSpPr>
              <p:cNvPr id="86051"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2"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3"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4"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grpSp>
        <p:grpSp>
          <p:nvGrpSpPr>
            <p:cNvPr id="86027" name="Group 157"/>
            <p:cNvGrpSpPr>
              <a:grpSpLocks/>
            </p:cNvGrpSpPr>
            <p:nvPr/>
          </p:nvGrpSpPr>
          <p:grpSpPr bwMode="auto">
            <a:xfrm>
              <a:off x="6705600" y="6051550"/>
              <a:ext cx="1905000" cy="228600"/>
              <a:chOff x="768" y="2544"/>
              <a:chExt cx="1200" cy="144"/>
            </a:xfrm>
          </p:grpSpPr>
          <p:sp>
            <p:nvSpPr>
              <p:cNvPr id="86047" name="AutoShape 15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48" name="AutoShape 15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49" name="AutoShape 16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50" name="AutoShape 16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grpSp>
        <p:sp>
          <p:nvSpPr>
            <p:cNvPr id="86028" name="AutoShape 162"/>
            <p:cNvSpPr>
              <a:spLocks noChangeArrowheads="1"/>
            </p:cNvSpPr>
            <p:nvPr/>
          </p:nvSpPr>
          <p:spPr bwMode="auto">
            <a:xfrm>
              <a:off x="388620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29" name="AutoShape 163"/>
            <p:cNvSpPr>
              <a:spLocks noChangeArrowheads="1"/>
            </p:cNvSpPr>
            <p:nvPr/>
          </p:nvSpPr>
          <p:spPr bwMode="auto">
            <a:xfrm>
              <a:off x="453390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30" name="AutoShape 164"/>
            <p:cNvSpPr>
              <a:spLocks noChangeArrowheads="1"/>
            </p:cNvSpPr>
            <p:nvPr/>
          </p:nvSpPr>
          <p:spPr bwMode="auto">
            <a:xfrm>
              <a:off x="518160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31" name="AutoShape 165"/>
            <p:cNvSpPr>
              <a:spLocks noChangeArrowheads="1"/>
            </p:cNvSpPr>
            <p:nvPr/>
          </p:nvSpPr>
          <p:spPr bwMode="auto">
            <a:xfrm>
              <a:off x="1295400" y="5746750"/>
              <a:ext cx="1905000" cy="3048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32" name="AutoShape 166"/>
            <p:cNvSpPr>
              <a:spLocks noChangeArrowheads="1"/>
            </p:cNvSpPr>
            <p:nvPr/>
          </p:nvSpPr>
          <p:spPr bwMode="auto">
            <a:xfrm>
              <a:off x="670560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33" name="AutoShape 167"/>
            <p:cNvSpPr>
              <a:spLocks noChangeArrowheads="1"/>
            </p:cNvSpPr>
            <p:nvPr/>
          </p:nvSpPr>
          <p:spPr bwMode="auto">
            <a:xfrm>
              <a:off x="731520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34" name="AutoShape 168"/>
            <p:cNvSpPr>
              <a:spLocks noChangeArrowheads="1"/>
            </p:cNvSpPr>
            <p:nvPr/>
          </p:nvSpPr>
          <p:spPr bwMode="auto">
            <a:xfrm>
              <a:off x="792480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endParaRPr lang="zh-CN" altLang="en-US">
                <a:solidFill>
                  <a:schemeClr val="tx1"/>
                </a:solidFill>
              </a:endParaRPr>
            </a:p>
          </p:txBody>
        </p:sp>
        <p:sp>
          <p:nvSpPr>
            <p:cNvPr id="86035" name="Text Box 169"/>
            <p:cNvSpPr txBox="1">
              <a:spLocks noChangeArrowheads="1"/>
            </p:cNvSpPr>
            <p:nvPr/>
          </p:nvSpPr>
          <p:spPr bwMode="auto">
            <a:xfrm>
              <a:off x="96877" y="5721350"/>
              <a:ext cx="1107996" cy="653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gn="ctr">
                <a:lnSpc>
                  <a:spcPct val="90000"/>
                </a:lnSpc>
              </a:pPr>
              <a:r>
                <a:rPr kumimoji="1" lang="zh-CN" altLang="en-US">
                  <a:solidFill>
                    <a:schemeClr val="tx1"/>
                  </a:solidFill>
                  <a:latin typeface="Times New Roman" panose="02020603050405020304" pitchFamily="18" charset="0"/>
                </a:rPr>
                <a:t>数据传送</a:t>
              </a:r>
            </a:p>
            <a:p>
              <a:pPr algn="ctr">
                <a:lnSpc>
                  <a:spcPct val="90000"/>
                </a:lnSpc>
              </a:pPr>
              <a:r>
                <a:rPr kumimoji="1" lang="zh-CN" altLang="en-US">
                  <a:solidFill>
                    <a:schemeClr val="tx1"/>
                  </a:solidFill>
                  <a:latin typeface="Times New Roman" panose="02020603050405020304" pitchFamily="18" charset="0"/>
                </a:rPr>
                <a:t>的特点</a:t>
              </a:r>
            </a:p>
          </p:txBody>
        </p:sp>
        <p:sp>
          <p:nvSpPr>
            <p:cNvPr id="86036" name="Text Box 170"/>
            <p:cNvSpPr txBox="1">
              <a:spLocks noChangeArrowheads="1"/>
            </p:cNvSpPr>
            <p:nvPr/>
          </p:nvSpPr>
          <p:spPr bwMode="auto">
            <a:xfrm>
              <a:off x="1258888" y="5465763"/>
              <a:ext cx="1800493"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比特流直达终点</a:t>
              </a:r>
            </a:p>
          </p:txBody>
        </p:sp>
        <p:sp>
          <p:nvSpPr>
            <p:cNvPr id="86037" name="Text Box 171"/>
            <p:cNvSpPr txBox="1">
              <a:spLocks noChangeArrowheads="1"/>
            </p:cNvSpPr>
            <p:nvPr/>
          </p:nvSpPr>
          <p:spPr bwMode="auto">
            <a:xfrm>
              <a:off x="3886200" y="5341938"/>
              <a:ext cx="646331"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报文</a:t>
              </a:r>
            </a:p>
          </p:txBody>
        </p:sp>
        <p:sp>
          <p:nvSpPr>
            <p:cNvPr id="86038" name="Text Box 172"/>
            <p:cNvSpPr txBox="1">
              <a:spLocks noChangeArrowheads="1"/>
            </p:cNvSpPr>
            <p:nvPr/>
          </p:nvSpPr>
          <p:spPr bwMode="auto">
            <a:xfrm>
              <a:off x="4543425" y="5341938"/>
              <a:ext cx="646331"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报文</a:t>
              </a:r>
            </a:p>
          </p:txBody>
        </p:sp>
        <p:sp>
          <p:nvSpPr>
            <p:cNvPr id="86039" name="Text Box 173"/>
            <p:cNvSpPr txBox="1">
              <a:spLocks noChangeArrowheads="1"/>
            </p:cNvSpPr>
            <p:nvPr/>
          </p:nvSpPr>
          <p:spPr bwMode="auto">
            <a:xfrm>
              <a:off x="5200650" y="5341938"/>
              <a:ext cx="646331"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报文</a:t>
              </a:r>
            </a:p>
          </p:txBody>
        </p:sp>
        <p:sp>
          <p:nvSpPr>
            <p:cNvPr id="86040" name="Text Box 174"/>
            <p:cNvSpPr txBox="1">
              <a:spLocks noChangeArrowheads="1"/>
            </p:cNvSpPr>
            <p:nvPr/>
          </p:nvSpPr>
          <p:spPr bwMode="auto">
            <a:xfrm>
              <a:off x="6705600" y="5341938"/>
              <a:ext cx="646331"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分组</a:t>
              </a:r>
            </a:p>
          </p:txBody>
        </p:sp>
        <p:sp>
          <p:nvSpPr>
            <p:cNvPr id="86041" name="Text Box 175"/>
            <p:cNvSpPr txBox="1">
              <a:spLocks noChangeArrowheads="1"/>
            </p:cNvSpPr>
            <p:nvPr/>
          </p:nvSpPr>
          <p:spPr bwMode="auto">
            <a:xfrm>
              <a:off x="7324725" y="5341938"/>
              <a:ext cx="646331"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分组</a:t>
              </a:r>
            </a:p>
          </p:txBody>
        </p:sp>
        <p:sp>
          <p:nvSpPr>
            <p:cNvPr id="86042" name="Text Box 176"/>
            <p:cNvSpPr txBox="1">
              <a:spLocks noChangeArrowheads="1"/>
            </p:cNvSpPr>
            <p:nvPr/>
          </p:nvSpPr>
          <p:spPr bwMode="auto">
            <a:xfrm>
              <a:off x="7943850" y="5341938"/>
              <a:ext cx="646331" cy="377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a:solidFill>
                    <a:schemeClr val="tx1"/>
                  </a:solidFill>
                  <a:latin typeface="Times New Roman" panose="02020603050405020304" pitchFamily="18" charset="0"/>
                </a:rPr>
                <a:t>分组</a:t>
              </a:r>
            </a:p>
          </p:txBody>
        </p:sp>
        <p:sp>
          <p:nvSpPr>
            <p:cNvPr id="86043" name="Text Box 177"/>
            <p:cNvSpPr txBox="1">
              <a:spLocks noChangeArrowheads="1"/>
            </p:cNvSpPr>
            <p:nvPr/>
          </p:nvSpPr>
          <p:spPr bwMode="auto">
            <a:xfrm>
              <a:off x="4237038" y="6280150"/>
              <a:ext cx="595035" cy="592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sz="1600">
                  <a:solidFill>
                    <a:schemeClr val="tx1"/>
                  </a:solidFill>
                  <a:latin typeface="Times New Roman" panose="02020603050405020304" pitchFamily="18" charset="0"/>
                </a:rPr>
                <a:t>存储</a:t>
              </a:r>
            </a:p>
            <a:p>
              <a:pPr>
                <a:lnSpc>
                  <a:spcPct val="90000"/>
                </a:lnSpc>
              </a:pPr>
              <a:r>
                <a:rPr kumimoji="1" lang="zh-CN" altLang="en-US" sz="1600">
                  <a:solidFill>
                    <a:schemeClr val="tx1"/>
                  </a:solidFill>
                  <a:latin typeface="Times New Roman" panose="02020603050405020304" pitchFamily="18" charset="0"/>
                </a:rPr>
                <a:t>转发</a:t>
              </a:r>
            </a:p>
          </p:txBody>
        </p:sp>
        <p:sp>
          <p:nvSpPr>
            <p:cNvPr id="86044" name="Text Box 178"/>
            <p:cNvSpPr txBox="1">
              <a:spLocks noChangeArrowheads="1"/>
            </p:cNvSpPr>
            <p:nvPr/>
          </p:nvSpPr>
          <p:spPr bwMode="auto">
            <a:xfrm>
              <a:off x="4819650" y="6280150"/>
              <a:ext cx="595035" cy="592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sz="1600">
                  <a:solidFill>
                    <a:schemeClr val="tx1"/>
                  </a:solidFill>
                  <a:latin typeface="Times New Roman" panose="02020603050405020304" pitchFamily="18" charset="0"/>
                </a:rPr>
                <a:t>存储</a:t>
              </a:r>
            </a:p>
            <a:p>
              <a:pPr>
                <a:lnSpc>
                  <a:spcPct val="90000"/>
                </a:lnSpc>
              </a:pPr>
              <a:r>
                <a:rPr kumimoji="1" lang="zh-CN" altLang="en-US" sz="1600">
                  <a:solidFill>
                    <a:schemeClr val="tx1"/>
                  </a:solidFill>
                  <a:latin typeface="Times New Roman" panose="02020603050405020304" pitchFamily="18" charset="0"/>
                </a:rPr>
                <a:t>转发</a:t>
              </a:r>
            </a:p>
          </p:txBody>
        </p:sp>
        <p:sp>
          <p:nvSpPr>
            <p:cNvPr id="86045" name="Text Box 179"/>
            <p:cNvSpPr txBox="1">
              <a:spLocks noChangeArrowheads="1"/>
            </p:cNvSpPr>
            <p:nvPr/>
          </p:nvSpPr>
          <p:spPr bwMode="auto">
            <a:xfrm>
              <a:off x="7073900" y="6267450"/>
              <a:ext cx="595035" cy="592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sz="1600">
                  <a:solidFill>
                    <a:schemeClr val="tx1"/>
                  </a:solidFill>
                  <a:latin typeface="Times New Roman" panose="02020603050405020304" pitchFamily="18" charset="0"/>
                </a:rPr>
                <a:t>存储</a:t>
              </a:r>
            </a:p>
            <a:p>
              <a:pPr>
                <a:lnSpc>
                  <a:spcPct val="90000"/>
                </a:lnSpc>
              </a:pPr>
              <a:r>
                <a:rPr kumimoji="1" lang="zh-CN" altLang="en-US" sz="1600">
                  <a:solidFill>
                    <a:schemeClr val="tx1"/>
                  </a:solidFill>
                  <a:latin typeface="Times New Roman" panose="02020603050405020304" pitchFamily="18" charset="0"/>
                </a:rPr>
                <a:t>转发</a:t>
              </a:r>
            </a:p>
          </p:txBody>
        </p:sp>
        <p:sp>
          <p:nvSpPr>
            <p:cNvPr id="86046" name="Text Box 180"/>
            <p:cNvSpPr txBox="1">
              <a:spLocks noChangeArrowheads="1"/>
            </p:cNvSpPr>
            <p:nvPr/>
          </p:nvSpPr>
          <p:spPr bwMode="auto">
            <a:xfrm>
              <a:off x="7639050" y="6280150"/>
              <a:ext cx="595035" cy="592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bg1"/>
                  </a:solidFill>
                  <a:latin typeface="Verdana" panose="020B0604030504040204" pitchFamily="34" charset="0"/>
                  <a:ea typeface="宋体" panose="02010600030101010101" pitchFamily="2" charset="-122"/>
                </a:defRPr>
              </a:lvl1pPr>
              <a:lvl2pPr marL="742950" indent="-285750">
                <a:defRPr>
                  <a:solidFill>
                    <a:schemeClr val="bg1"/>
                  </a:solidFill>
                  <a:latin typeface="Verdana" panose="020B0604030504040204" pitchFamily="34" charset="0"/>
                  <a:ea typeface="宋体" panose="02010600030101010101" pitchFamily="2" charset="-122"/>
                </a:defRPr>
              </a:lvl2pPr>
              <a:lvl3pPr marL="1143000" indent="-228600">
                <a:defRPr>
                  <a:solidFill>
                    <a:schemeClr val="bg1"/>
                  </a:solidFill>
                  <a:latin typeface="Verdana" panose="020B0604030504040204" pitchFamily="34" charset="0"/>
                  <a:ea typeface="宋体" panose="02010600030101010101" pitchFamily="2" charset="-122"/>
                </a:defRPr>
              </a:lvl3pPr>
              <a:lvl4pPr marL="1600200" indent="-228600">
                <a:defRPr>
                  <a:solidFill>
                    <a:schemeClr val="bg1"/>
                  </a:solidFill>
                  <a:latin typeface="Verdana" panose="020B0604030504040204" pitchFamily="34" charset="0"/>
                  <a:ea typeface="宋体" panose="02010600030101010101" pitchFamily="2" charset="-122"/>
                </a:defRPr>
              </a:lvl4pPr>
              <a:lvl5pPr marL="2057400" indent="-228600">
                <a:defRPr>
                  <a:solidFill>
                    <a:schemeClr val="bg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Verdana" panose="020B0604030504040204" pitchFamily="34" charset="0"/>
                  <a:ea typeface="宋体" panose="02010600030101010101" pitchFamily="2" charset="-122"/>
                </a:defRPr>
              </a:lvl9pPr>
            </a:lstStyle>
            <a:p>
              <a:pPr>
                <a:lnSpc>
                  <a:spcPct val="90000"/>
                </a:lnSpc>
              </a:pPr>
              <a:r>
                <a:rPr kumimoji="1" lang="zh-CN" altLang="en-US" sz="1600">
                  <a:solidFill>
                    <a:schemeClr val="tx1"/>
                  </a:solidFill>
                  <a:latin typeface="Times New Roman" panose="02020603050405020304" pitchFamily="18" charset="0"/>
                </a:rPr>
                <a:t>存储</a:t>
              </a:r>
            </a:p>
            <a:p>
              <a:pPr>
                <a:lnSpc>
                  <a:spcPct val="90000"/>
                </a:lnSpc>
              </a:pPr>
              <a:r>
                <a:rPr kumimoji="1" lang="zh-CN" altLang="en-US" sz="1600">
                  <a:solidFill>
                    <a:schemeClr val="tx1"/>
                  </a:solidFill>
                  <a:latin typeface="Times New Roman" panose="02020603050405020304" pitchFamily="18" charset="0"/>
                </a:rPr>
                <a:t>转发</a:t>
              </a:r>
            </a:p>
          </p:txBody>
        </p:sp>
      </p:grpSp>
      <p:pic>
        <p:nvPicPr>
          <p:cNvPr id="180" name="Picture 28" descr="015">
            <a:extLst>
              <a:ext uri="{FF2B5EF4-FFF2-40B4-BE49-F238E27FC236}">
                <a16:creationId xmlns:a16="http://schemas.microsoft.com/office/drawing/2014/main" id="{AAED0338-7656-45C0-B0C3-75B21C365B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2546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a:t>
            </a:r>
            <a:r>
              <a:rPr lang="zh-CN" altLang="en-US" dirty="0"/>
              <a:t>分类方式汇总</a:t>
            </a:r>
            <a:r>
              <a:rPr kumimoji="1" lang="zh-CN" altLang="en-US" dirty="0"/>
              <a:t>）</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z="1800" smtClean="0"/>
              <a:t>48</a:t>
            </a:fld>
            <a:endParaRPr kumimoji="1" lang="zh-CN" altLang="en-US" sz="1800"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grpSp>
        <p:nvGrpSpPr>
          <p:cNvPr id="6" name="Group 25"/>
          <p:cNvGrpSpPr>
            <a:grpSpLocks/>
          </p:cNvGrpSpPr>
          <p:nvPr/>
        </p:nvGrpSpPr>
        <p:grpSpPr bwMode="auto">
          <a:xfrm>
            <a:off x="171798" y="3317053"/>
            <a:ext cx="9855779" cy="1131887"/>
            <a:chOff x="288" y="1632"/>
            <a:chExt cx="5181" cy="713"/>
          </a:xfrm>
        </p:grpSpPr>
        <p:sp>
          <p:nvSpPr>
            <p:cNvPr id="7" name="Text Box 14"/>
            <p:cNvSpPr txBox="1">
              <a:spLocks noChangeArrowheads="1"/>
            </p:cNvSpPr>
            <p:nvPr/>
          </p:nvSpPr>
          <p:spPr bwMode="auto">
            <a:xfrm>
              <a:off x="288" y="1856"/>
              <a:ext cx="13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1800" b="1" dirty="0">
                  <a:solidFill>
                    <a:srgbClr val="C00000"/>
                  </a:solidFill>
                  <a:latin typeface="+mn-ea"/>
                  <a:ea typeface="仿宋_GB2312"/>
                </a:rPr>
                <a:t>按通信介质划分</a:t>
              </a:r>
            </a:p>
          </p:txBody>
        </p:sp>
        <p:sp>
          <p:nvSpPr>
            <p:cNvPr id="8" name="Text Box 15"/>
            <p:cNvSpPr txBox="1">
              <a:spLocks noChangeArrowheads="1"/>
            </p:cNvSpPr>
            <p:nvPr/>
          </p:nvSpPr>
          <p:spPr bwMode="auto">
            <a:xfrm>
              <a:off x="1584" y="1632"/>
              <a:ext cx="38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1800" dirty="0">
                  <a:latin typeface="+mn-ea"/>
                  <a:ea typeface="仿宋_GB2312"/>
                </a:rPr>
                <a:t>有线网</a:t>
              </a:r>
              <a:r>
                <a:rPr lang="en-US" altLang="zh-CN" sz="1800" dirty="0">
                  <a:latin typeface="+mn-ea"/>
                  <a:ea typeface="仿宋_GB2312"/>
                </a:rPr>
                <a:t>——</a:t>
              </a:r>
              <a:r>
                <a:rPr lang="zh-CN" altLang="en-US" sz="1800" dirty="0">
                  <a:latin typeface="+mn-ea"/>
                  <a:ea typeface="仿宋_GB2312"/>
                </a:rPr>
                <a:t>采用同轴电缆、双绞线、光纤等物理介质来传输数据的网络</a:t>
              </a:r>
            </a:p>
          </p:txBody>
        </p:sp>
        <p:sp>
          <p:nvSpPr>
            <p:cNvPr id="9" name="Text Box 17"/>
            <p:cNvSpPr txBox="1">
              <a:spLocks noChangeArrowheads="1"/>
            </p:cNvSpPr>
            <p:nvPr/>
          </p:nvSpPr>
          <p:spPr bwMode="auto">
            <a:xfrm>
              <a:off x="1584" y="2112"/>
              <a:ext cx="35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1800">
                  <a:latin typeface="+mn-ea"/>
                  <a:ea typeface="仿宋_GB2312"/>
                </a:rPr>
                <a:t>无线网</a:t>
              </a:r>
              <a:r>
                <a:rPr lang="en-US" altLang="zh-CN" sz="1800">
                  <a:latin typeface="+mn-ea"/>
                  <a:ea typeface="仿宋_GB2312"/>
                </a:rPr>
                <a:t>——</a:t>
              </a:r>
              <a:r>
                <a:rPr lang="zh-CN" altLang="en-US" sz="1800">
                  <a:latin typeface="+mn-ea"/>
                  <a:ea typeface="仿宋_GB2312"/>
                </a:rPr>
                <a:t>采用卫星、微波等无线形式来传输数据的网络</a:t>
              </a:r>
            </a:p>
          </p:txBody>
        </p:sp>
        <p:sp>
          <p:nvSpPr>
            <p:cNvPr id="10" name="AutoShape 18"/>
            <p:cNvSpPr>
              <a:spLocks/>
            </p:cNvSpPr>
            <p:nvPr/>
          </p:nvSpPr>
          <p:spPr bwMode="auto">
            <a:xfrm>
              <a:off x="1488" y="1685"/>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1800">
                <a:latin typeface="+mn-ea"/>
                <a:ea typeface="仿宋_GB2312"/>
              </a:endParaRPr>
            </a:p>
          </p:txBody>
        </p:sp>
      </p:grpSp>
      <p:grpSp>
        <p:nvGrpSpPr>
          <p:cNvPr id="11" name="Group 50"/>
          <p:cNvGrpSpPr>
            <a:grpSpLocks/>
          </p:cNvGrpSpPr>
          <p:nvPr/>
        </p:nvGrpSpPr>
        <p:grpSpPr bwMode="auto">
          <a:xfrm>
            <a:off x="7391889" y="1515874"/>
            <a:ext cx="4004447" cy="1436688"/>
            <a:chOff x="431" y="3072"/>
            <a:chExt cx="2260" cy="905"/>
          </a:xfrm>
        </p:grpSpPr>
        <p:sp>
          <p:nvSpPr>
            <p:cNvPr id="12" name="Text Box 44"/>
            <p:cNvSpPr txBox="1">
              <a:spLocks noChangeArrowheads="1"/>
            </p:cNvSpPr>
            <p:nvPr/>
          </p:nvSpPr>
          <p:spPr bwMode="auto">
            <a:xfrm>
              <a:off x="431" y="3430"/>
              <a:ext cx="10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800" b="1" dirty="0">
                  <a:solidFill>
                    <a:srgbClr val="C00000"/>
                  </a:solidFill>
                  <a:latin typeface="Times New Roman" panose="02020603050405020304" pitchFamily="18" charset="0"/>
                  <a:ea typeface="仿宋_GB2312" pitchFamily="49" charset="-122"/>
                </a:rPr>
                <a:t>按交换方式划分</a:t>
              </a:r>
            </a:p>
          </p:txBody>
        </p:sp>
        <p:sp>
          <p:nvSpPr>
            <p:cNvPr id="13" name="Text Box 45"/>
            <p:cNvSpPr txBox="1">
              <a:spLocks noChangeArrowheads="1"/>
            </p:cNvSpPr>
            <p:nvPr/>
          </p:nvSpPr>
          <p:spPr bwMode="auto">
            <a:xfrm>
              <a:off x="1584" y="3072"/>
              <a:ext cx="8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dirty="0">
                  <a:latin typeface="Times New Roman" panose="02020603050405020304" pitchFamily="18" charset="0"/>
                  <a:ea typeface="仿宋_GB2312" pitchFamily="49" charset="-122"/>
                </a:rPr>
                <a:t>电路交换网</a:t>
              </a:r>
            </a:p>
          </p:txBody>
        </p:sp>
        <p:sp>
          <p:nvSpPr>
            <p:cNvPr id="14" name="Text Box 46"/>
            <p:cNvSpPr txBox="1">
              <a:spLocks noChangeArrowheads="1"/>
            </p:cNvSpPr>
            <p:nvPr/>
          </p:nvSpPr>
          <p:spPr bwMode="auto">
            <a:xfrm>
              <a:off x="1584" y="3296"/>
              <a:ext cx="9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dirty="0">
                  <a:latin typeface="Times New Roman" panose="02020603050405020304" pitchFamily="18" charset="0"/>
                  <a:ea typeface="仿宋_GB2312" pitchFamily="49" charset="-122"/>
                </a:rPr>
                <a:t>报文交换网</a:t>
              </a:r>
            </a:p>
          </p:txBody>
        </p:sp>
        <p:sp>
          <p:nvSpPr>
            <p:cNvPr id="15" name="Text Box 47"/>
            <p:cNvSpPr txBox="1">
              <a:spLocks noChangeArrowheads="1"/>
            </p:cNvSpPr>
            <p:nvPr/>
          </p:nvSpPr>
          <p:spPr bwMode="auto">
            <a:xfrm>
              <a:off x="1584" y="3520"/>
              <a:ext cx="110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dirty="0">
                  <a:latin typeface="Times New Roman" panose="02020603050405020304" pitchFamily="18" charset="0"/>
                  <a:ea typeface="仿宋_GB2312" pitchFamily="49" charset="-122"/>
                </a:rPr>
                <a:t>分组交换网</a:t>
              </a:r>
            </a:p>
          </p:txBody>
        </p:sp>
        <p:sp>
          <p:nvSpPr>
            <p:cNvPr id="16" name="AutoShape 48"/>
            <p:cNvSpPr>
              <a:spLocks/>
            </p:cNvSpPr>
            <p:nvPr/>
          </p:nvSpPr>
          <p:spPr bwMode="auto">
            <a:xfrm>
              <a:off x="1488" y="3168"/>
              <a:ext cx="48" cy="720"/>
            </a:xfrm>
            <a:prstGeom prst="leftBrace">
              <a:avLst>
                <a:gd name="adj1" fmla="val 125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800">
                <a:latin typeface="Times New Roman" panose="02020603050405020304" pitchFamily="18" charset="0"/>
              </a:endParaRPr>
            </a:p>
          </p:txBody>
        </p:sp>
        <p:sp>
          <p:nvSpPr>
            <p:cNvPr id="17" name="Text Box 49"/>
            <p:cNvSpPr txBox="1">
              <a:spLocks noChangeArrowheads="1"/>
            </p:cNvSpPr>
            <p:nvPr/>
          </p:nvSpPr>
          <p:spPr bwMode="auto">
            <a:xfrm>
              <a:off x="1584" y="3744"/>
              <a:ext cx="8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dirty="0">
                  <a:latin typeface="Times New Roman" panose="02020603050405020304" pitchFamily="18" charset="0"/>
                  <a:ea typeface="仿宋_GB2312" pitchFamily="49" charset="-122"/>
                </a:rPr>
                <a:t>混合交换网</a:t>
              </a:r>
            </a:p>
          </p:txBody>
        </p:sp>
      </p:grpSp>
      <p:grpSp>
        <p:nvGrpSpPr>
          <p:cNvPr id="18" name="Group 24"/>
          <p:cNvGrpSpPr>
            <a:grpSpLocks/>
          </p:cNvGrpSpPr>
          <p:nvPr/>
        </p:nvGrpSpPr>
        <p:grpSpPr bwMode="auto">
          <a:xfrm>
            <a:off x="575354" y="1704509"/>
            <a:ext cx="7763288" cy="1131887"/>
            <a:chOff x="576" y="768"/>
            <a:chExt cx="4704" cy="713"/>
          </a:xfrm>
        </p:grpSpPr>
        <p:sp>
          <p:nvSpPr>
            <p:cNvPr id="19" name="Text Box 6"/>
            <p:cNvSpPr txBox="1">
              <a:spLocks noChangeArrowheads="1"/>
            </p:cNvSpPr>
            <p:nvPr/>
          </p:nvSpPr>
          <p:spPr bwMode="auto">
            <a:xfrm>
              <a:off x="576" y="1016"/>
              <a:ext cx="8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800" b="1" dirty="0">
                  <a:solidFill>
                    <a:srgbClr val="C00000"/>
                  </a:solidFill>
                  <a:latin typeface="Times New Roman" panose="02020603050405020304" pitchFamily="18" charset="0"/>
                  <a:ea typeface="仿宋_GB2312" pitchFamily="49" charset="-122"/>
                </a:rPr>
                <a:t>按距离划分</a:t>
              </a:r>
            </a:p>
          </p:txBody>
        </p:sp>
        <p:sp>
          <p:nvSpPr>
            <p:cNvPr id="20" name="Text Box 7"/>
            <p:cNvSpPr txBox="1">
              <a:spLocks noChangeArrowheads="1"/>
            </p:cNvSpPr>
            <p:nvPr/>
          </p:nvSpPr>
          <p:spPr bwMode="auto">
            <a:xfrm>
              <a:off x="1584" y="768"/>
              <a:ext cx="36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a:latin typeface="Times New Roman" panose="02020603050405020304" pitchFamily="18" charset="0"/>
                  <a:ea typeface="仿宋_GB2312" pitchFamily="49" charset="-122"/>
                </a:rPr>
                <a:t>广域网</a:t>
              </a:r>
              <a:r>
                <a:rPr kumimoji="1" lang="en-US" altLang="zh-CN" sz="1800">
                  <a:latin typeface="Times New Roman" panose="02020603050405020304" pitchFamily="18" charset="0"/>
                  <a:ea typeface="仿宋_GB2312" pitchFamily="49" charset="-122"/>
                </a:rPr>
                <a:t>——</a:t>
              </a:r>
              <a:r>
                <a:rPr kumimoji="1" lang="zh-CN" altLang="en-US" sz="1800">
                  <a:latin typeface="Times New Roman" panose="02020603050405020304" pitchFamily="18" charset="0"/>
                  <a:ea typeface="仿宋_GB2312" pitchFamily="49" charset="-122"/>
                </a:rPr>
                <a:t>网络覆盖范围为几十至几千公里</a:t>
              </a:r>
            </a:p>
          </p:txBody>
        </p:sp>
        <p:sp>
          <p:nvSpPr>
            <p:cNvPr id="21" name="Text Box 8"/>
            <p:cNvSpPr txBox="1">
              <a:spLocks noChangeArrowheads="1"/>
            </p:cNvSpPr>
            <p:nvPr/>
          </p:nvSpPr>
          <p:spPr bwMode="auto">
            <a:xfrm>
              <a:off x="1584" y="1008"/>
              <a:ext cx="36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a:latin typeface="Times New Roman" panose="02020603050405020304" pitchFamily="18" charset="0"/>
                  <a:ea typeface="仿宋_GB2312" pitchFamily="49" charset="-122"/>
                </a:rPr>
                <a:t>城域网</a:t>
              </a:r>
              <a:r>
                <a:rPr kumimoji="1" lang="en-US" altLang="zh-CN" sz="1800">
                  <a:latin typeface="Times New Roman" panose="02020603050405020304" pitchFamily="18" charset="0"/>
                  <a:ea typeface="仿宋_GB2312" pitchFamily="49" charset="-122"/>
                </a:rPr>
                <a:t>——</a:t>
              </a:r>
              <a:r>
                <a:rPr kumimoji="1" lang="zh-CN" altLang="en-US" sz="1800">
                  <a:latin typeface="Times New Roman" panose="02020603050405020304" pitchFamily="18" charset="0"/>
                  <a:ea typeface="仿宋_GB2312" pitchFamily="49" charset="-122"/>
                </a:rPr>
                <a:t>介于广域网和城域网之间的网络</a:t>
              </a:r>
            </a:p>
          </p:txBody>
        </p:sp>
        <p:sp>
          <p:nvSpPr>
            <p:cNvPr id="22" name="Text Box 9"/>
            <p:cNvSpPr txBox="1">
              <a:spLocks noChangeArrowheads="1"/>
            </p:cNvSpPr>
            <p:nvPr/>
          </p:nvSpPr>
          <p:spPr bwMode="auto">
            <a:xfrm>
              <a:off x="1584" y="1248"/>
              <a:ext cx="35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dirty="0">
                  <a:latin typeface="Times New Roman" panose="02020603050405020304" pitchFamily="18" charset="0"/>
                  <a:ea typeface="仿宋_GB2312" pitchFamily="49" charset="-122"/>
                </a:rPr>
                <a:t>局域网</a:t>
              </a:r>
              <a:r>
                <a:rPr kumimoji="1" lang="en-US" altLang="zh-CN" sz="1800" dirty="0">
                  <a:latin typeface="Times New Roman" panose="02020603050405020304" pitchFamily="18" charset="0"/>
                  <a:ea typeface="仿宋_GB2312" pitchFamily="49" charset="-122"/>
                </a:rPr>
                <a:t>——</a:t>
              </a:r>
              <a:r>
                <a:rPr kumimoji="1" lang="zh-CN" altLang="en-US" sz="1800" dirty="0">
                  <a:latin typeface="Times New Roman" panose="02020603050405020304" pitchFamily="18" charset="0"/>
                  <a:ea typeface="仿宋_GB2312" pitchFamily="49" charset="-122"/>
                </a:rPr>
                <a:t>网络覆盖范围为几米至几十公里</a:t>
              </a:r>
            </a:p>
          </p:txBody>
        </p:sp>
        <p:sp>
          <p:nvSpPr>
            <p:cNvPr id="23" name="AutoShape 10"/>
            <p:cNvSpPr>
              <a:spLocks/>
            </p:cNvSpPr>
            <p:nvPr/>
          </p:nvSpPr>
          <p:spPr bwMode="auto">
            <a:xfrm>
              <a:off x="1488" y="816"/>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800">
                <a:latin typeface="Times New Roman" panose="02020603050405020304" pitchFamily="18" charset="0"/>
              </a:endParaRPr>
            </a:p>
          </p:txBody>
        </p:sp>
      </p:grpSp>
      <p:grpSp>
        <p:nvGrpSpPr>
          <p:cNvPr id="24" name="Group 26"/>
          <p:cNvGrpSpPr>
            <a:grpSpLocks/>
          </p:cNvGrpSpPr>
          <p:nvPr/>
        </p:nvGrpSpPr>
        <p:grpSpPr bwMode="auto">
          <a:xfrm>
            <a:off x="507771" y="4671100"/>
            <a:ext cx="9961595" cy="1420813"/>
            <a:chOff x="161" y="2496"/>
            <a:chExt cx="5407" cy="895"/>
          </a:xfrm>
        </p:grpSpPr>
        <p:sp>
          <p:nvSpPr>
            <p:cNvPr id="25" name="Text Box 20"/>
            <p:cNvSpPr txBox="1">
              <a:spLocks noChangeArrowheads="1"/>
            </p:cNvSpPr>
            <p:nvPr/>
          </p:nvSpPr>
          <p:spPr bwMode="auto">
            <a:xfrm>
              <a:off x="161" y="2736"/>
              <a:ext cx="13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800" b="1" dirty="0">
                  <a:solidFill>
                    <a:srgbClr val="C00000"/>
                  </a:solidFill>
                  <a:latin typeface="Times New Roman" panose="02020603050405020304" pitchFamily="18" charset="0"/>
                  <a:ea typeface="仿宋_GB2312" pitchFamily="49" charset="-122"/>
                </a:rPr>
                <a:t>按通信传播方式划分</a:t>
              </a:r>
            </a:p>
          </p:txBody>
        </p:sp>
        <p:sp>
          <p:nvSpPr>
            <p:cNvPr id="26" name="Text Box 21"/>
            <p:cNvSpPr txBox="1">
              <a:spLocks noChangeArrowheads="1"/>
            </p:cNvSpPr>
            <p:nvPr/>
          </p:nvSpPr>
          <p:spPr bwMode="auto">
            <a:xfrm>
              <a:off x="1584" y="2496"/>
              <a:ext cx="3696"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dirty="0">
                  <a:latin typeface="Times New Roman" panose="02020603050405020304" pitchFamily="18" charset="0"/>
                  <a:ea typeface="仿宋_GB2312" pitchFamily="49" charset="-122"/>
                </a:rPr>
                <a:t>点对点传播网络</a:t>
              </a:r>
              <a:r>
                <a:rPr kumimoji="1" lang="en-US" altLang="zh-CN" sz="1800" dirty="0">
                  <a:latin typeface="Times New Roman" panose="02020603050405020304" pitchFamily="18" charset="0"/>
                  <a:ea typeface="仿宋_GB2312" pitchFamily="49" charset="-122"/>
                </a:rPr>
                <a:t>——</a:t>
              </a:r>
              <a:r>
                <a:rPr kumimoji="1" lang="zh-CN" altLang="en-US" sz="1800" dirty="0">
                  <a:latin typeface="Times New Roman" panose="02020603050405020304" pitchFamily="18" charset="0"/>
                  <a:ea typeface="仿宋_GB2312" pitchFamily="49" charset="-122"/>
                </a:rPr>
                <a:t>网络中节点之间通过特定的连接来传递数据</a:t>
              </a:r>
            </a:p>
          </p:txBody>
        </p:sp>
        <p:sp>
          <p:nvSpPr>
            <p:cNvPr id="27" name="Text Box 22"/>
            <p:cNvSpPr txBox="1">
              <a:spLocks noChangeArrowheads="1"/>
            </p:cNvSpPr>
            <p:nvPr/>
          </p:nvSpPr>
          <p:spPr bwMode="auto">
            <a:xfrm>
              <a:off x="1584" y="2984"/>
              <a:ext cx="398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a:latin typeface="Times New Roman" panose="02020603050405020304" pitchFamily="18" charset="0"/>
                  <a:ea typeface="仿宋_GB2312" pitchFamily="49" charset="-122"/>
                </a:rPr>
                <a:t>广播式传播网络</a:t>
              </a:r>
              <a:r>
                <a:rPr kumimoji="1" lang="en-US" altLang="zh-CN" sz="1800">
                  <a:latin typeface="Times New Roman" panose="02020603050405020304" pitchFamily="18" charset="0"/>
                  <a:ea typeface="仿宋_GB2312" pitchFamily="49" charset="-122"/>
                </a:rPr>
                <a:t>——</a:t>
              </a:r>
              <a:r>
                <a:rPr kumimoji="1" lang="zh-CN" altLang="en-US" sz="1800">
                  <a:latin typeface="Times New Roman" panose="02020603050405020304" pitchFamily="18" charset="0"/>
                  <a:ea typeface="仿宋_GB2312" pitchFamily="49" charset="-122"/>
                </a:rPr>
                <a:t>网络中节点共享传播介质，数据以广播方式传播</a:t>
              </a:r>
            </a:p>
          </p:txBody>
        </p:sp>
        <p:sp>
          <p:nvSpPr>
            <p:cNvPr id="28" name="AutoShape 23"/>
            <p:cNvSpPr>
              <a:spLocks/>
            </p:cNvSpPr>
            <p:nvPr/>
          </p:nvSpPr>
          <p:spPr bwMode="auto">
            <a:xfrm>
              <a:off x="1488" y="2544"/>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800">
                <a:latin typeface="Times New Roman" panose="02020603050405020304" pitchFamily="18" charset="0"/>
              </a:endParaRPr>
            </a:p>
          </p:txBody>
        </p:sp>
      </p:grpSp>
    </p:spTree>
    <p:extLst>
      <p:ext uri="{BB962C8B-B14F-4D97-AF65-F5344CB8AC3E}">
        <p14:creationId xmlns:p14="http://schemas.microsoft.com/office/powerpoint/2010/main" val="2996742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1.2 </a:t>
            </a:r>
            <a:r>
              <a:rPr kumimoji="1" lang="zh-CN" altLang="en-US" dirty="0"/>
              <a:t>网络分类（</a:t>
            </a:r>
            <a:r>
              <a:rPr lang="zh-CN" altLang="en-US" dirty="0"/>
              <a:t>分类方式汇总</a:t>
            </a:r>
            <a:r>
              <a:rPr kumimoji="1" lang="zh-CN" altLang="en-US" dirty="0"/>
              <a:t>）</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z="1800" smtClean="0"/>
              <a:t>49</a:t>
            </a:fld>
            <a:endParaRPr kumimoji="1" lang="zh-CN" altLang="en-US" sz="1800"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网络分类</a:t>
            </a:r>
          </a:p>
        </p:txBody>
      </p:sp>
      <p:grpSp>
        <p:nvGrpSpPr>
          <p:cNvPr id="29" name="Group 15"/>
          <p:cNvGrpSpPr>
            <a:grpSpLocks/>
          </p:cNvGrpSpPr>
          <p:nvPr/>
        </p:nvGrpSpPr>
        <p:grpSpPr bwMode="auto">
          <a:xfrm>
            <a:off x="2114551" y="1301196"/>
            <a:ext cx="7597775" cy="1100138"/>
            <a:chOff x="494" y="144"/>
            <a:chExt cx="4786" cy="693"/>
          </a:xfrm>
        </p:grpSpPr>
        <p:sp>
          <p:nvSpPr>
            <p:cNvPr id="30" name="Text Box 5"/>
            <p:cNvSpPr txBox="1">
              <a:spLocks noChangeArrowheads="1"/>
            </p:cNvSpPr>
            <p:nvPr/>
          </p:nvSpPr>
          <p:spPr bwMode="auto">
            <a:xfrm>
              <a:off x="494" y="393"/>
              <a:ext cx="105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600" b="1" dirty="0">
                  <a:solidFill>
                    <a:srgbClr val="C00000"/>
                  </a:solidFill>
                  <a:latin typeface="Times New Roman" panose="02020603050405020304" pitchFamily="18" charset="0"/>
                  <a:ea typeface="仿宋_GB2312" pitchFamily="49" charset="-122"/>
                </a:rPr>
                <a:t>按通信速率划分</a:t>
              </a:r>
            </a:p>
          </p:txBody>
        </p:sp>
        <p:sp>
          <p:nvSpPr>
            <p:cNvPr id="31" name="Text Box 6"/>
            <p:cNvSpPr txBox="1">
              <a:spLocks noChangeArrowheads="1"/>
            </p:cNvSpPr>
            <p:nvPr/>
          </p:nvSpPr>
          <p:spPr bwMode="auto">
            <a:xfrm>
              <a:off x="1584" y="144"/>
              <a:ext cx="369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低速网</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传输速率在</a:t>
              </a:r>
              <a:r>
                <a:rPr kumimoji="1" lang="en-US" altLang="zh-CN" sz="1600">
                  <a:latin typeface="Times New Roman" panose="02020603050405020304" pitchFamily="18" charset="0"/>
                  <a:ea typeface="仿宋_GB2312" pitchFamily="49" charset="-122"/>
                </a:rPr>
                <a:t>300bps</a:t>
              </a:r>
              <a:r>
                <a:rPr kumimoji="1" lang="zh-CN" altLang="en-US" sz="1600">
                  <a:latin typeface="Times New Roman" panose="02020603050405020304" pitchFamily="18" charset="0"/>
                  <a:ea typeface="仿宋_GB2312" pitchFamily="49" charset="-122"/>
                </a:rPr>
                <a:t>～</a:t>
              </a:r>
              <a:r>
                <a:rPr kumimoji="1" lang="en-US" altLang="zh-CN" sz="1600">
                  <a:latin typeface="Times New Roman" panose="02020603050405020304" pitchFamily="18" charset="0"/>
                  <a:ea typeface="仿宋_GB2312" pitchFamily="49" charset="-122"/>
                </a:rPr>
                <a:t>1.4Mbps</a:t>
              </a:r>
              <a:r>
                <a:rPr kumimoji="1" lang="zh-CN" altLang="en-US" sz="1600">
                  <a:latin typeface="Times New Roman" panose="02020603050405020304" pitchFamily="18" charset="0"/>
                  <a:ea typeface="仿宋_GB2312" pitchFamily="49" charset="-122"/>
                </a:rPr>
                <a:t>之间的网络系统</a:t>
              </a:r>
            </a:p>
          </p:txBody>
        </p:sp>
        <p:sp>
          <p:nvSpPr>
            <p:cNvPr id="32" name="Text Box 7"/>
            <p:cNvSpPr txBox="1">
              <a:spLocks noChangeArrowheads="1"/>
            </p:cNvSpPr>
            <p:nvPr/>
          </p:nvSpPr>
          <p:spPr bwMode="auto">
            <a:xfrm>
              <a:off x="1584" y="384"/>
              <a:ext cx="364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中速网</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传输速率在</a:t>
              </a:r>
              <a:r>
                <a:rPr kumimoji="1" lang="en-US" altLang="zh-CN" sz="1600">
                  <a:latin typeface="Times New Roman" panose="02020603050405020304" pitchFamily="18" charset="0"/>
                  <a:ea typeface="仿宋_GB2312" pitchFamily="49" charset="-122"/>
                </a:rPr>
                <a:t>1.5Mbps</a:t>
              </a:r>
              <a:r>
                <a:rPr kumimoji="1" lang="zh-CN" altLang="en-US" sz="1600">
                  <a:latin typeface="Times New Roman" panose="02020603050405020304" pitchFamily="18" charset="0"/>
                  <a:ea typeface="仿宋_GB2312" pitchFamily="49" charset="-122"/>
                </a:rPr>
                <a:t>～</a:t>
              </a:r>
              <a:r>
                <a:rPr kumimoji="1" lang="en-US" altLang="zh-CN" sz="1600">
                  <a:latin typeface="Times New Roman" panose="02020603050405020304" pitchFamily="18" charset="0"/>
                  <a:ea typeface="仿宋_GB2312" pitchFamily="49" charset="-122"/>
                </a:rPr>
                <a:t>45Mbps</a:t>
              </a:r>
              <a:r>
                <a:rPr kumimoji="1" lang="zh-CN" altLang="en-US" sz="1600">
                  <a:latin typeface="Times New Roman" panose="02020603050405020304" pitchFamily="18" charset="0"/>
                  <a:ea typeface="仿宋_GB2312" pitchFamily="49" charset="-122"/>
                </a:rPr>
                <a:t>之间的网络系统</a:t>
              </a:r>
            </a:p>
          </p:txBody>
        </p:sp>
        <p:sp>
          <p:nvSpPr>
            <p:cNvPr id="33" name="Text Box 8"/>
            <p:cNvSpPr txBox="1">
              <a:spLocks noChangeArrowheads="1"/>
            </p:cNvSpPr>
            <p:nvPr/>
          </p:nvSpPr>
          <p:spPr bwMode="auto">
            <a:xfrm>
              <a:off x="1584" y="624"/>
              <a:ext cx="3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高速网</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传输速率在</a:t>
              </a:r>
              <a:r>
                <a:rPr kumimoji="1" lang="en-US" altLang="zh-CN" sz="1600">
                  <a:latin typeface="Times New Roman" panose="02020603050405020304" pitchFamily="18" charset="0"/>
                  <a:ea typeface="仿宋_GB2312" pitchFamily="49" charset="-122"/>
                </a:rPr>
                <a:t>50Mbps</a:t>
              </a:r>
              <a:r>
                <a:rPr kumimoji="1" lang="zh-CN" altLang="en-US" sz="1600">
                  <a:latin typeface="Times New Roman" panose="02020603050405020304" pitchFamily="18" charset="0"/>
                  <a:ea typeface="仿宋_GB2312" pitchFamily="49" charset="-122"/>
                </a:rPr>
                <a:t>～</a:t>
              </a:r>
              <a:r>
                <a:rPr kumimoji="1" lang="en-US" altLang="zh-CN" sz="1600">
                  <a:latin typeface="Times New Roman" panose="02020603050405020304" pitchFamily="18" charset="0"/>
                  <a:ea typeface="仿宋_GB2312" pitchFamily="49" charset="-122"/>
                </a:rPr>
                <a:t>750Mbps</a:t>
              </a:r>
              <a:r>
                <a:rPr kumimoji="1" lang="zh-CN" altLang="en-US" sz="1600">
                  <a:latin typeface="Times New Roman" panose="02020603050405020304" pitchFamily="18" charset="0"/>
                  <a:ea typeface="仿宋_GB2312" pitchFamily="49" charset="-122"/>
                </a:rPr>
                <a:t>之间的网络系统</a:t>
              </a:r>
            </a:p>
          </p:txBody>
        </p:sp>
        <p:sp>
          <p:nvSpPr>
            <p:cNvPr id="34" name="AutoShape 9"/>
            <p:cNvSpPr>
              <a:spLocks/>
            </p:cNvSpPr>
            <p:nvPr/>
          </p:nvSpPr>
          <p:spPr bwMode="auto">
            <a:xfrm>
              <a:off x="1488" y="192"/>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600">
                <a:latin typeface="Times New Roman" panose="02020603050405020304" pitchFamily="18" charset="0"/>
              </a:endParaRPr>
            </a:p>
          </p:txBody>
        </p:sp>
      </p:grpSp>
      <p:grpSp>
        <p:nvGrpSpPr>
          <p:cNvPr id="35" name="Group 16"/>
          <p:cNvGrpSpPr>
            <a:grpSpLocks/>
          </p:cNvGrpSpPr>
          <p:nvPr/>
        </p:nvGrpSpPr>
        <p:grpSpPr bwMode="auto">
          <a:xfrm>
            <a:off x="2016125" y="2582309"/>
            <a:ext cx="7696200" cy="963612"/>
            <a:chOff x="432" y="1191"/>
            <a:chExt cx="4848" cy="607"/>
          </a:xfrm>
        </p:grpSpPr>
        <p:sp>
          <p:nvSpPr>
            <p:cNvPr id="36" name="Text Box 10"/>
            <p:cNvSpPr txBox="1">
              <a:spLocks noChangeArrowheads="1"/>
            </p:cNvSpPr>
            <p:nvPr/>
          </p:nvSpPr>
          <p:spPr bwMode="auto">
            <a:xfrm>
              <a:off x="432" y="1392"/>
              <a:ext cx="116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600" b="1" dirty="0">
                  <a:solidFill>
                    <a:srgbClr val="C00000"/>
                  </a:solidFill>
                  <a:latin typeface="Times New Roman" panose="02020603050405020304" pitchFamily="18" charset="0"/>
                  <a:ea typeface="仿宋_GB2312" pitchFamily="49" charset="-122"/>
                </a:rPr>
                <a:t>按使用范围划分</a:t>
              </a:r>
            </a:p>
          </p:txBody>
        </p:sp>
        <p:sp>
          <p:nvSpPr>
            <p:cNvPr id="37" name="Text Box 11"/>
            <p:cNvSpPr txBox="1">
              <a:spLocks noChangeArrowheads="1"/>
            </p:cNvSpPr>
            <p:nvPr/>
          </p:nvSpPr>
          <p:spPr bwMode="auto">
            <a:xfrm>
              <a:off x="1584" y="1191"/>
              <a:ext cx="369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公众网</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又被称为公众网，面向全社会用户提供服务的网络</a:t>
              </a:r>
            </a:p>
          </p:txBody>
        </p:sp>
        <p:sp>
          <p:nvSpPr>
            <p:cNvPr id="38" name="Text Box 13"/>
            <p:cNvSpPr txBox="1">
              <a:spLocks noChangeArrowheads="1"/>
            </p:cNvSpPr>
            <p:nvPr/>
          </p:nvSpPr>
          <p:spPr bwMode="auto">
            <a:xfrm>
              <a:off x="1584" y="1585"/>
              <a:ext cx="355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专用网</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为特殊群体提供特殊服务的网络</a:t>
              </a:r>
            </a:p>
          </p:txBody>
        </p:sp>
        <p:sp>
          <p:nvSpPr>
            <p:cNvPr id="39" name="AutoShape 14"/>
            <p:cNvSpPr>
              <a:spLocks/>
            </p:cNvSpPr>
            <p:nvPr/>
          </p:nvSpPr>
          <p:spPr bwMode="auto">
            <a:xfrm>
              <a:off x="1488" y="1200"/>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600">
                <a:latin typeface="Times New Roman" panose="02020603050405020304" pitchFamily="18" charset="0"/>
              </a:endParaRPr>
            </a:p>
          </p:txBody>
        </p:sp>
      </p:grpSp>
      <p:grpSp>
        <p:nvGrpSpPr>
          <p:cNvPr id="40" name="Group 28"/>
          <p:cNvGrpSpPr>
            <a:grpSpLocks/>
          </p:cNvGrpSpPr>
          <p:nvPr/>
        </p:nvGrpSpPr>
        <p:grpSpPr bwMode="auto">
          <a:xfrm>
            <a:off x="1644650" y="3815797"/>
            <a:ext cx="8555038" cy="1592263"/>
            <a:chOff x="198" y="1728"/>
            <a:chExt cx="5389" cy="1003"/>
          </a:xfrm>
        </p:grpSpPr>
        <p:sp>
          <p:nvSpPr>
            <p:cNvPr id="41" name="Text Box 18"/>
            <p:cNvSpPr txBox="1">
              <a:spLocks noChangeArrowheads="1"/>
            </p:cNvSpPr>
            <p:nvPr/>
          </p:nvSpPr>
          <p:spPr bwMode="auto">
            <a:xfrm>
              <a:off x="198" y="1944"/>
              <a:ext cx="139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600" b="1" dirty="0">
                  <a:solidFill>
                    <a:srgbClr val="C00000"/>
                  </a:solidFill>
                  <a:latin typeface="Times New Roman" panose="02020603050405020304" pitchFamily="18" charset="0"/>
                  <a:ea typeface="仿宋_GB2312" pitchFamily="49" charset="-122"/>
                </a:rPr>
                <a:t>按网络控制方式划分</a:t>
              </a:r>
            </a:p>
          </p:txBody>
        </p:sp>
        <p:sp>
          <p:nvSpPr>
            <p:cNvPr id="42" name="Text Box 19"/>
            <p:cNvSpPr txBox="1">
              <a:spLocks noChangeArrowheads="1"/>
            </p:cNvSpPr>
            <p:nvPr/>
          </p:nvSpPr>
          <p:spPr bwMode="auto">
            <a:xfrm>
              <a:off x="1584" y="1728"/>
              <a:ext cx="369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集中式网络</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网络处理的控制功能高度集中在一个或少数几个节点上，所有的信息流都必须经过这些节点之一。</a:t>
              </a:r>
            </a:p>
          </p:txBody>
        </p:sp>
        <p:sp>
          <p:nvSpPr>
            <p:cNvPr id="43" name="Text Box 20"/>
            <p:cNvSpPr txBox="1">
              <a:spLocks noChangeArrowheads="1"/>
            </p:cNvSpPr>
            <p:nvPr/>
          </p:nvSpPr>
          <p:spPr bwMode="auto">
            <a:xfrm>
              <a:off x="1584" y="2208"/>
              <a:ext cx="400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分布式网络</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网络中不存在一个处理的控制中心，网络中的任一节点都至少和另外两个节点连接，信息从一个节点到达另一个节点时，可能存在多条路径。</a:t>
              </a:r>
            </a:p>
          </p:txBody>
        </p:sp>
        <p:sp>
          <p:nvSpPr>
            <p:cNvPr id="44" name="AutoShape 21"/>
            <p:cNvSpPr>
              <a:spLocks/>
            </p:cNvSpPr>
            <p:nvPr/>
          </p:nvSpPr>
          <p:spPr bwMode="auto">
            <a:xfrm>
              <a:off x="1488" y="1776"/>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600">
                <a:latin typeface="Times New Roman" panose="02020603050405020304" pitchFamily="18" charset="0"/>
              </a:endParaRPr>
            </a:p>
          </p:txBody>
        </p:sp>
      </p:grpSp>
      <p:grpSp>
        <p:nvGrpSpPr>
          <p:cNvPr id="45" name="Group 29"/>
          <p:cNvGrpSpPr>
            <a:grpSpLocks/>
          </p:cNvGrpSpPr>
          <p:nvPr/>
        </p:nvGrpSpPr>
        <p:grpSpPr bwMode="auto">
          <a:xfrm>
            <a:off x="2063751" y="5492196"/>
            <a:ext cx="8518525" cy="1100138"/>
            <a:chOff x="462" y="2784"/>
            <a:chExt cx="5366" cy="693"/>
          </a:xfrm>
        </p:grpSpPr>
        <p:sp>
          <p:nvSpPr>
            <p:cNvPr id="46" name="Text Box 23"/>
            <p:cNvSpPr txBox="1">
              <a:spLocks noChangeArrowheads="1"/>
            </p:cNvSpPr>
            <p:nvPr/>
          </p:nvSpPr>
          <p:spPr bwMode="auto">
            <a:xfrm>
              <a:off x="462" y="3024"/>
              <a:ext cx="111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buClrTx/>
                <a:buFontTx/>
                <a:buNone/>
              </a:pPr>
              <a:r>
                <a:rPr kumimoji="1" lang="zh-CN" altLang="en-US" sz="1600" b="1" dirty="0">
                  <a:solidFill>
                    <a:srgbClr val="C00000"/>
                  </a:solidFill>
                  <a:latin typeface="Times New Roman" panose="02020603050405020304" pitchFamily="18" charset="0"/>
                  <a:ea typeface="仿宋_GB2312" pitchFamily="49" charset="-122"/>
                </a:rPr>
                <a:t>按网络环境划分</a:t>
              </a:r>
            </a:p>
          </p:txBody>
        </p:sp>
        <p:sp>
          <p:nvSpPr>
            <p:cNvPr id="47" name="Text Box 24"/>
            <p:cNvSpPr txBox="1">
              <a:spLocks noChangeArrowheads="1"/>
            </p:cNvSpPr>
            <p:nvPr/>
          </p:nvSpPr>
          <p:spPr bwMode="auto">
            <a:xfrm>
              <a:off x="1584" y="2784"/>
              <a:ext cx="369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部门网络</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局限于一个部门内部的网络，通常是局域网络</a:t>
              </a:r>
            </a:p>
          </p:txBody>
        </p:sp>
        <p:sp>
          <p:nvSpPr>
            <p:cNvPr id="48" name="Text Box 25"/>
            <p:cNvSpPr txBox="1">
              <a:spLocks noChangeArrowheads="1"/>
            </p:cNvSpPr>
            <p:nvPr/>
          </p:nvSpPr>
          <p:spPr bwMode="auto">
            <a:xfrm>
              <a:off x="1584" y="3024"/>
              <a:ext cx="364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企业网络</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存在一个企业中，能覆盖整个企业的计算机网络</a:t>
              </a:r>
            </a:p>
          </p:txBody>
        </p:sp>
        <p:sp>
          <p:nvSpPr>
            <p:cNvPr id="49" name="Text Box 26"/>
            <p:cNvSpPr txBox="1">
              <a:spLocks noChangeArrowheads="1"/>
            </p:cNvSpPr>
            <p:nvPr/>
          </p:nvSpPr>
          <p:spPr bwMode="auto">
            <a:xfrm>
              <a:off x="1584" y="3264"/>
              <a:ext cx="424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ea typeface="仿宋_GB2312" pitchFamily="49" charset="-122"/>
                </a:rPr>
                <a:t>园区网络</a:t>
              </a:r>
              <a:r>
                <a:rPr kumimoji="1" lang="en-US" altLang="zh-CN" sz="1600">
                  <a:latin typeface="Times New Roman" panose="02020603050405020304" pitchFamily="18" charset="0"/>
                  <a:ea typeface="仿宋_GB2312" pitchFamily="49" charset="-122"/>
                </a:rPr>
                <a:t>——</a:t>
              </a:r>
              <a:r>
                <a:rPr kumimoji="1" lang="zh-CN" altLang="en-US" sz="1600">
                  <a:latin typeface="Times New Roman" panose="02020603050405020304" pitchFamily="18" charset="0"/>
                  <a:ea typeface="仿宋_GB2312" pitchFamily="49" charset="-122"/>
                </a:rPr>
                <a:t>存在一个范围较大的园区内部，为园区提供服务的网络</a:t>
              </a:r>
            </a:p>
          </p:txBody>
        </p:sp>
        <p:sp>
          <p:nvSpPr>
            <p:cNvPr id="50" name="AutoShape 27"/>
            <p:cNvSpPr>
              <a:spLocks/>
            </p:cNvSpPr>
            <p:nvPr/>
          </p:nvSpPr>
          <p:spPr bwMode="auto">
            <a:xfrm>
              <a:off x="1488" y="2832"/>
              <a:ext cx="48" cy="576"/>
            </a:xfrm>
            <a:prstGeom prst="leftBrace">
              <a:avLst>
                <a:gd name="adj1" fmla="val 1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1600">
                <a:latin typeface="Times New Roman" panose="02020603050405020304" pitchFamily="18" charset="0"/>
              </a:endParaRPr>
            </a:p>
          </p:txBody>
        </p:sp>
      </p:grpSp>
    </p:spTree>
    <p:extLst>
      <p:ext uri="{BB962C8B-B14F-4D97-AF65-F5344CB8AC3E}">
        <p14:creationId xmlns:p14="http://schemas.microsoft.com/office/powerpoint/2010/main" val="2175172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t>1.2 </a:t>
            </a:r>
            <a:r>
              <a:rPr kumimoji="1" lang="zh-CN" altLang="en-US" dirty="0"/>
              <a:t>网络的分类</a:t>
            </a:r>
            <a:endParaRPr kumimoji="1" lang="en-US" altLang="zh-CN" dirty="0"/>
          </a:p>
          <a:p>
            <a:pPr marL="0" indent="0">
              <a:lnSpc>
                <a:spcPct val="130000"/>
              </a:lnSpc>
              <a:buNone/>
            </a:pPr>
            <a:r>
              <a:rPr kumimoji="1" lang="en-US" altLang="zh-CN" dirty="0">
                <a:solidFill>
                  <a:srgbClr val="FF0000"/>
                </a:solidFill>
              </a:rPr>
              <a:t>1.3 </a:t>
            </a:r>
            <a:r>
              <a:rPr kumimoji="1" lang="zh-CN" altLang="en-US" dirty="0">
                <a:solidFill>
                  <a:srgbClr val="FF0000"/>
                </a:solidFill>
              </a:rPr>
              <a:t>网络实例</a:t>
            </a:r>
            <a:endParaRPr kumimoji="1" lang="en-US" altLang="zh-CN" dirty="0">
              <a:solidFill>
                <a:srgbClr val="FF0000"/>
              </a:solidFill>
            </a:endParaRPr>
          </a:p>
          <a:p>
            <a:pPr marL="0" indent="0">
              <a:lnSpc>
                <a:spcPct val="130000"/>
              </a:lnSpc>
              <a:buNone/>
            </a:pPr>
            <a:r>
              <a:rPr kumimoji="1" lang="en-US" altLang="zh-CN" dirty="0"/>
              <a:t>1.4 </a:t>
            </a:r>
            <a:r>
              <a:rPr kumimoji="1" lang="zh-CN" altLang="en-US" dirty="0"/>
              <a:t>协议与分层结构</a:t>
            </a:r>
            <a:endParaRPr kumimoji="1" lang="en-US" altLang="zh-CN" dirty="0"/>
          </a:p>
          <a:p>
            <a:pPr marL="0" indent="0">
              <a:lnSpc>
                <a:spcPct val="130000"/>
              </a:lnSpc>
              <a:buNone/>
            </a:pPr>
            <a:r>
              <a:rPr kumimoji="1" lang="en-US" altLang="zh-CN" dirty="0"/>
              <a:t>1.5 </a:t>
            </a:r>
            <a:r>
              <a:rPr kumimoji="1" lang="zh-CN" altLang="en-US" dirty="0"/>
              <a:t>参考模型</a:t>
            </a:r>
            <a:endParaRPr kumimoji="1" lang="en-US" altLang="zh-CN" dirty="0"/>
          </a:p>
          <a:p>
            <a:pPr marL="0" indent="0">
              <a:lnSpc>
                <a:spcPct val="130000"/>
              </a:lnSpc>
              <a:buNone/>
            </a:pPr>
            <a:r>
              <a:rPr kumimoji="1" lang="en-US" altLang="zh-CN" dirty="0"/>
              <a:t>1.6 </a:t>
            </a:r>
            <a:r>
              <a:rPr kumimoji="1" lang="zh-CN" altLang="en-US" dirty="0"/>
              <a:t>计算机网络度量单位</a:t>
            </a: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713539" y="2395506"/>
            <a:ext cx="3814781" cy="1808746"/>
          </a:xfrm>
          <a:prstGeom prst="wedgeRectCallout">
            <a:avLst>
              <a:gd name="adj1" fmla="val -80689"/>
              <a:gd name="adj2" fmla="val -1413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Internet</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移动网络</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无线网络（</a:t>
            </a:r>
            <a:r>
              <a:rPr kumimoji="1" lang="en-US" altLang="zh-CN" sz="2400" dirty="0" err="1">
                <a:solidFill>
                  <a:prstClr val="black"/>
                </a:solidFill>
                <a:latin typeface="Microsoft YaHei" panose="020B0503020204020204" pitchFamily="34" charset="-122"/>
                <a:ea typeface="Microsoft YaHei" panose="020B0503020204020204" pitchFamily="34" charset="-122"/>
              </a:rPr>
              <a:t>WiFi</a:t>
            </a:r>
            <a:r>
              <a:rPr kumimoji="1" lang="zh-CN" altLang="en-US" sz="2400" dirty="0">
                <a:solidFill>
                  <a:prstClr val="black"/>
                </a:solidFill>
                <a:latin typeface="Microsoft YaHei" panose="020B0503020204020204" pitchFamily="34" charset="-122"/>
                <a:ea typeface="Microsoft YaHei" panose="020B0503020204020204" pitchFamily="34" charset="-122"/>
              </a:rPr>
              <a:t>）</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1787603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Oval 242"/>
          <p:cNvSpPr>
            <a:spLocks noChangeArrowheads="1"/>
          </p:cNvSpPr>
          <p:nvPr/>
        </p:nvSpPr>
        <p:spPr bwMode="auto">
          <a:xfrm>
            <a:off x="8482694" y="5115397"/>
            <a:ext cx="760772" cy="539790"/>
          </a:xfrm>
          <a:prstGeom prst="ellipse">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grpSp>
        <p:nvGrpSpPr>
          <p:cNvPr id="4" name="组合 3">
            <a:extLst>
              <a:ext uri="{FF2B5EF4-FFF2-40B4-BE49-F238E27FC236}">
                <a16:creationId xmlns:a16="http://schemas.microsoft.com/office/drawing/2014/main" id="{F3CFE4E7-D789-4A51-BD4C-F966668EF323}"/>
              </a:ext>
            </a:extLst>
          </p:cNvPr>
          <p:cNvGrpSpPr/>
          <p:nvPr/>
        </p:nvGrpSpPr>
        <p:grpSpPr>
          <a:xfrm>
            <a:off x="3306152" y="1336872"/>
            <a:ext cx="8757149" cy="4401359"/>
            <a:chOff x="1207518" y="1920367"/>
            <a:chExt cx="6596729" cy="2860675"/>
          </a:xfrm>
        </p:grpSpPr>
        <p:cxnSp>
          <p:nvCxnSpPr>
            <p:cNvPr id="5" name="AutoShape 252"/>
            <p:cNvCxnSpPr>
              <a:cxnSpLocks noChangeShapeType="1"/>
              <a:stCxn id="76" idx="7"/>
              <a:endCxn id="74" idx="2"/>
            </p:cNvCxnSpPr>
            <p:nvPr/>
          </p:nvCxnSpPr>
          <p:spPr bwMode="auto">
            <a:xfrm flipV="1">
              <a:off x="3061701" y="2095786"/>
              <a:ext cx="1011505" cy="214099"/>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AutoShape 253"/>
            <p:cNvCxnSpPr>
              <a:cxnSpLocks noChangeShapeType="1"/>
              <a:endCxn id="78" idx="1"/>
            </p:cNvCxnSpPr>
            <p:nvPr/>
          </p:nvCxnSpPr>
          <p:spPr bwMode="auto">
            <a:xfrm>
              <a:off x="5030788" y="2096581"/>
              <a:ext cx="844550" cy="21272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254"/>
            <p:cNvCxnSpPr>
              <a:cxnSpLocks noChangeShapeType="1"/>
              <a:stCxn id="76" idx="6"/>
            </p:cNvCxnSpPr>
            <p:nvPr/>
          </p:nvCxnSpPr>
          <p:spPr bwMode="auto">
            <a:xfrm>
              <a:off x="3178176" y="2434717"/>
              <a:ext cx="2593975" cy="0"/>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255"/>
            <p:cNvCxnSpPr>
              <a:cxnSpLocks noChangeShapeType="1"/>
              <a:endCxn id="65" idx="7"/>
            </p:cNvCxnSpPr>
            <p:nvPr/>
          </p:nvCxnSpPr>
          <p:spPr bwMode="auto">
            <a:xfrm flipH="1">
              <a:off x="2103438" y="2553781"/>
              <a:ext cx="685800" cy="331787"/>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256"/>
            <p:cNvCxnSpPr>
              <a:cxnSpLocks noChangeShapeType="1"/>
              <a:endCxn id="67" idx="1"/>
            </p:cNvCxnSpPr>
            <p:nvPr/>
          </p:nvCxnSpPr>
          <p:spPr bwMode="auto">
            <a:xfrm>
              <a:off x="2789238" y="2553781"/>
              <a:ext cx="544512" cy="331787"/>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257"/>
            <p:cNvCxnSpPr>
              <a:cxnSpLocks noChangeShapeType="1"/>
              <a:endCxn id="69" idx="7"/>
            </p:cNvCxnSpPr>
            <p:nvPr/>
          </p:nvCxnSpPr>
          <p:spPr bwMode="auto">
            <a:xfrm flipH="1">
              <a:off x="5656263" y="2553781"/>
              <a:ext cx="512762" cy="331787"/>
            </a:xfrm>
            <a:prstGeom prst="straightConnector1">
              <a:avLst/>
            </a:prstGeom>
            <a:noFill/>
            <a:ln w="19050">
              <a:solidFill>
                <a:srgbClr val="85D1F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258"/>
            <p:cNvCxnSpPr>
              <a:cxnSpLocks noChangeShapeType="1"/>
              <a:endCxn id="71" idx="1"/>
            </p:cNvCxnSpPr>
            <p:nvPr/>
          </p:nvCxnSpPr>
          <p:spPr bwMode="auto">
            <a:xfrm>
              <a:off x="6165851" y="2553781"/>
              <a:ext cx="492125" cy="331787"/>
            </a:xfrm>
            <a:prstGeom prst="straightConnector1">
              <a:avLst/>
            </a:prstGeom>
            <a:noFill/>
            <a:ln w="19050">
              <a:solidFill>
                <a:srgbClr val="85D1F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259"/>
            <p:cNvCxnSpPr>
              <a:cxnSpLocks noChangeShapeType="1"/>
            </p:cNvCxnSpPr>
            <p:nvPr/>
          </p:nvCxnSpPr>
          <p:spPr bwMode="auto">
            <a:xfrm flipH="1">
              <a:off x="1531938" y="3130043"/>
              <a:ext cx="298450" cy="51752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260"/>
            <p:cNvCxnSpPr>
              <a:cxnSpLocks noChangeShapeType="1"/>
              <a:endCxn id="33" idx="0"/>
            </p:cNvCxnSpPr>
            <p:nvPr/>
          </p:nvCxnSpPr>
          <p:spPr bwMode="auto">
            <a:xfrm>
              <a:off x="3174681" y="3960793"/>
              <a:ext cx="308767" cy="546102"/>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261"/>
            <p:cNvCxnSpPr>
              <a:cxnSpLocks noChangeShapeType="1"/>
            </p:cNvCxnSpPr>
            <p:nvPr/>
          </p:nvCxnSpPr>
          <p:spPr bwMode="auto">
            <a:xfrm flipH="1">
              <a:off x="3182938" y="3130043"/>
              <a:ext cx="438150" cy="500063"/>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262"/>
            <p:cNvCxnSpPr>
              <a:cxnSpLocks noChangeShapeType="1"/>
              <a:endCxn id="55" idx="0"/>
            </p:cNvCxnSpPr>
            <p:nvPr/>
          </p:nvCxnSpPr>
          <p:spPr bwMode="auto">
            <a:xfrm flipH="1">
              <a:off x="4932364" y="3130043"/>
              <a:ext cx="377825" cy="500063"/>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263"/>
            <p:cNvCxnSpPr>
              <a:cxnSpLocks noChangeShapeType="1"/>
            </p:cNvCxnSpPr>
            <p:nvPr/>
          </p:nvCxnSpPr>
          <p:spPr bwMode="auto">
            <a:xfrm flipH="1">
              <a:off x="6554788" y="3130043"/>
              <a:ext cx="366712" cy="500063"/>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264"/>
            <p:cNvCxnSpPr>
              <a:cxnSpLocks noChangeShapeType="1"/>
              <a:endCxn id="57" idx="0"/>
            </p:cNvCxnSpPr>
            <p:nvPr/>
          </p:nvCxnSpPr>
          <p:spPr bwMode="auto">
            <a:xfrm>
              <a:off x="5310189" y="3130043"/>
              <a:ext cx="465137" cy="500063"/>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65"/>
            <p:cNvCxnSpPr>
              <a:cxnSpLocks noChangeShapeType="1"/>
            </p:cNvCxnSpPr>
            <p:nvPr/>
          </p:nvCxnSpPr>
          <p:spPr bwMode="auto">
            <a:xfrm>
              <a:off x="3638551" y="3130042"/>
              <a:ext cx="346075" cy="495300"/>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66"/>
            <p:cNvCxnSpPr>
              <a:cxnSpLocks noChangeShapeType="1"/>
            </p:cNvCxnSpPr>
            <p:nvPr/>
          </p:nvCxnSpPr>
          <p:spPr bwMode="auto">
            <a:xfrm>
              <a:off x="6904039" y="3130042"/>
              <a:ext cx="433387" cy="495300"/>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67"/>
            <p:cNvCxnSpPr>
              <a:cxnSpLocks noChangeShapeType="1"/>
              <a:endCxn id="35" idx="0"/>
            </p:cNvCxnSpPr>
            <p:nvPr/>
          </p:nvCxnSpPr>
          <p:spPr bwMode="auto">
            <a:xfrm flipH="1">
              <a:off x="2736994" y="3944155"/>
              <a:ext cx="423068" cy="56832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68"/>
            <p:cNvCxnSpPr>
              <a:cxnSpLocks noChangeShapeType="1"/>
            </p:cNvCxnSpPr>
            <p:nvPr/>
          </p:nvCxnSpPr>
          <p:spPr bwMode="auto">
            <a:xfrm flipH="1">
              <a:off x="5565776" y="3973006"/>
              <a:ext cx="119063" cy="30797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269"/>
            <p:cNvCxnSpPr>
              <a:cxnSpLocks noChangeShapeType="1"/>
            </p:cNvCxnSpPr>
            <p:nvPr/>
          </p:nvCxnSpPr>
          <p:spPr bwMode="auto">
            <a:xfrm>
              <a:off x="4900614" y="3925381"/>
              <a:ext cx="9525" cy="363537"/>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270"/>
            <p:cNvCxnSpPr>
              <a:cxnSpLocks noChangeShapeType="1"/>
            </p:cNvCxnSpPr>
            <p:nvPr/>
          </p:nvCxnSpPr>
          <p:spPr bwMode="auto">
            <a:xfrm>
              <a:off x="4900614" y="3925380"/>
              <a:ext cx="547687" cy="450850"/>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83"/>
            <p:cNvCxnSpPr>
              <a:cxnSpLocks noChangeShapeType="1"/>
            </p:cNvCxnSpPr>
            <p:nvPr/>
          </p:nvCxnSpPr>
          <p:spPr bwMode="auto">
            <a:xfrm>
              <a:off x="5915025" y="3947606"/>
              <a:ext cx="101600" cy="30797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84"/>
            <p:cNvCxnSpPr>
              <a:cxnSpLocks noChangeShapeType="1"/>
            </p:cNvCxnSpPr>
            <p:nvPr/>
          </p:nvCxnSpPr>
          <p:spPr bwMode="auto">
            <a:xfrm flipH="1">
              <a:off x="6324601" y="3973006"/>
              <a:ext cx="119063" cy="30797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85"/>
            <p:cNvCxnSpPr>
              <a:cxnSpLocks noChangeShapeType="1"/>
            </p:cNvCxnSpPr>
            <p:nvPr/>
          </p:nvCxnSpPr>
          <p:spPr bwMode="auto">
            <a:xfrm>
              <a:off x="6673850" y="3947606"/>
              <a:ext cx="101600" cy="30797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287"/>
            <p:cNvCxnSpPr>
              <a:cxnSpLocks noChangeShapeType="1"/>
            </p:cNvCxnSpPr>
            <p:nvPr/>
          </p:nvCxnSpPr>
          <p:spPr bwMode="auto">
            <a:xfrm>
              <a:off x="1585404" y="3813439"/>
              <a:ext cx="545592" cy="0"/>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AutoShape 289"/>
            <p:cNvCxnSpPr>
              <a:cxnSpLocks noChangeShapeType="1"/>
            </p:cNvCxnSpPr>
            <p:nvPr/>
          </p:nvCxnSpPr>
          <p:spPr bwMode="auto">
            <a:xfrm>
              <a:off x="7378700" y="3947606"/>
              <a:ext cx="101600" cy="30797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Line 271"/>
            <p:cNvSpPr>
              <a:spLocks noChangeShapeType="1"/>
            </p:cNvSpPr>
            <p:nvPr/>
          </p:nvSpPr>
          <p:spPr bwMode="auto">
            <a:xfrm>
              <a:off x="5684839" y="3017330"/>
              <a:ext cx="9731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grpSp>
          <p:nvGrpSpPr>
            <p:cNvPr id="32" name="Group 213"/>
            <p:cNvGrpSpPr>
              <a:grpSpLocks/>
            </p:cNvGrpSpPr>
            <p:nvPr/>
          </p:nvGrpSpPr>
          <p:grpSpPr bwMode="auto">
            <a:xfrm>
              <a:off x="3160713" y="4431792"/>
              <a:ext cx="628650" cy="349250"/>
              <a:chOff x="2569" y="3268"/>
              <a:chExt cx="542" cy="300"/>
            </a:xfrm>
          </p:grpSpPr>
          <p:sp>
            <p:nvSpPr>
              <p:cNvPr id="92" name="Oval 1429"/>
              <p:cNvSpPr>
                <a:spLocks noChangeArrowheads="1"/>
              </p:cNvSpPr>
              <p:nvPr/>
            </p:nvSpPr>
            <p:spPr bwMode="auto">
              <a:xfrm>
                <a:off x="2695" y="3268"/>
                <a:ext cx="235" cy="81"/>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3" name="Oval 1430"/>
              <p:cNvSpPr>
                <a:spLocks noChangeArrowheads="1"/>
              </p:cNvSpPr>
              <p:nvPr/>
            </p:nvSpPr>
            <p:spPr bwMode="auto">
              <a:xfrm rot="900000">
                <a:off x="2893" y="3296"/>
                <a:ext cx="159" cy="66"/>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4" name="Oval 1431"/>
              <p:cNvSpPr>
                <a:spLocks noChangeArrowheads="1"/>
              </p:cNvSpPr>
              <p:nvPr/>
            </p:nvSpPr>
            <p:spPr bwMode="auto">
              <a:xfrm rot="1500000">
                <a:off x="2973" y="3363"/>
                <a:ext cx="138" cy="77"/>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5" name="Oval 1432"/>
              <p:cNvSpPr>
                <a:spLocks noChangeArrowheads="1"/>
              </p:cNvSpPr>
              <p:nvPr/>
            </p:nvSpPr>
            <p:spPr bwMode="auto">
              <a:xfrm rot="-1560000">
                <a:off x="2928" y="3439"/>
                <a:ext cx="168" cy="95"/>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6" name="Oval 1433"/>
              <p:cNvSpPr>
                <a:spLocks noChangeArrowheads="1"/>
              </p:cNvSpPr>
              <p:nvPr/>
            </p:nvSpPr>
            <p:spPr bwMode="auto">
              <a:xfrm>
                <a:off x="2723" y="3448"/>
                <a:ext cx="271" cy="120"/>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7" name="Oval 1434"/>
              <p:cNvSpPr>
                <a:spLocks noChangeArrowheads="1"/>
              </p:cNvSpPr>
              <p:nvPr/>
            </p:nvSpPr>
            <p:spPr bwMode="auto">
              <a:xfrm rot="1080000">
                <a:off x="2612" y="3448"/>
                <a:ext cx="152" cy="78"/>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8" name="Oval 1435"/>
              <p:cNvSpPr>
                <a:spLocks noChangeArrowheads="1"/>
              </p:cNvSpPr>
              <p:nvPr/>
            </p:nvSpPr>
            <p:spPr bwMode="auto">
              <a:xfrm>
                <a:off x="2569" y="3386"/>
                <a:ext cx="125" cy="79"/>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99" name="Oval 1436"/>
              <p:cNvSpPr>
                <a:spLocks noChangeArrowheads="1"/>
              </p:cNvSpPr>
              <p:nvPr/>
            </p:nvSpPr>
            <p:spPr bwMode="auto">
              <a:xfrm rot="-1860000">
                <a:off x="2589" y="3325"/>
                <a:ext cx="170" cy="78"/>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100" name="Freeform 1437"/>
              <p:cNvSpPr>
                <a:spLocks/>
              </p:cNvSpPr>
              <p:nvPr/>
            </p:nvSpPr>
            <p:spPr bwMode="auto">
              <a:xfrm>
                <a:off x="2628" y="3320"/>
                <a:ext cx="425" cy="204"/>
              </a:xfrm>
              <a:custGeom>
                <a:avLst/>
                <a:gdLst>
                  <a:gd name="T0" fmla="*/ 62 w 738"/>
                  <a:gd name="T1" fmla="*/ 41 h 407"/>
                  <a:gd name="T2" fmla="*/ 84 w 738"/>
                  <a:gd name="T3" fmla="*/ 39 h 407"/>
                  <a:gd name="T4" fmla="*/ 105 w 738"/>
                  <a:gd name="T5" fmla="*/ 36 h 407"/>
                  <a:gd name="T6" fmla="*/ 124 w 738"/>
                  <a:gd name="T7" fmla="*/ 34 h 407"/>
                  <a:gd name="T8" fmla="*/ 136 w 738"/>
                  <a:gd name="T9" fmla="*/ 23 h 407"/>
                  <a:gd name="T10" fmla="*/ 117 w 738"/>
                  <a:gd name="T11" fmla="*/ 21 h 407"/>
                  <a:gd name="T12" fmla="*/ 99 w 738"/>
                  <a:gd name="T13" fmla="*/ 23 h 407"/>
                  <a:gd name="T14" fmla="*/ 90 w 738"/>
                  <a:gd name="T15" fmla="*/ 23 h 407"/>
                  <a:gd name="T16" fmla="*/ 108 w 738"/>
                  <a:gd name="T17" fmla="*/ 13 h 407"/>
                  <a:gd name="T18" fmla="*/ 130 w 738"/>
                  <a:gd name="T19" fmla="*/ 8 h 407"/>
                  <a:gd name="T20" fmla="*/ 149 w 738"/>
                  <a:gd name="T21" fmla="*/ 5 h 407"/>
                  <a:gd name="T22" fmla="*/ 167 w 738"/>
                  <a:gd name="T23" fmla="*/ 3 h 407"/>
                  <a:gd name="T24" fmla="*/ 186 w 738"/>
                  <a:gd name="T25" fmla="*/ 0 h 407"/>
                  <a:gd name="T26" fmla="*/ 204 w 738"/>
                  <a:gd name="T27" fmla="*/ 0 h 407"/>
                  <a:gd name="T28" fmla="*/ 223 w 738"/>
                  <a:gd name="T29" fmla="*/ 0 h 407"/>
                  <a:gd name="T30" fmla="*/ 267 w 738"/>
                  <a:gd name="T31" fmla="*/ 0 h 407"/>
                  <a:gd name="T32" fmla="*/ 291 w 738"/>
                  <a:gd name="T33" fmla="*/ 0 h 407"/>
                  <a:gd name="T34" fmla="*/ 313 w 738"/>
                  <a:gd name="T35" fmla="*/ 8 h 407"/>
                  <a:gd name="T36" fmla="*/ 328 w 738"/>
                  <a:gd name="T37" fmla="*/ 18 h 407"/>
                  <a:gd name="T38" fmla="*/ 347 w 738"/>
                  <a:gd name="T39" fmla="*/ 26 h 407"/>
                  <a:gd name="T40" fmla="*/ 366 w 738"/>
                  <a:gd name="T41" fmla="*/ 29 h 407"/>
                  <a:gd name="T42" fmla="*/ 384 w 738"/>
                  <a:gd name="T43" fmla="*/ 39 h 407"/>
                  <a:gd name="T44" fmla="*/ 400 w 738"/>
                  <a:gd name="T45" fmla="*/ 49 h 407"/>
                  <a:gd name="T46" fmla="*/ 412 w 738"/>
                  <a:gd name="T47" fmla="*/ 64 h 407"/>
                  <a:gd name="T48" fmla="*/ 415 w 738"/>
                  <a:gd name="T49" fmla="*/ 82 h 407"/>
                  <a:gd name="T50" fmla="*/ 418 w 738"/>
                  <a:gd name="T51" fmla="*/ 98 h 407"/>
                  <a:gd name="T52" fmla="*/ 418 w 738"/>
                  <a:gd name="T53" fmla="*/ 113 h 407"/>
                  <a:gd name="T54" fmla="*/ 418 w 738"/>
                  <a:gd name="T55" fmla="*/ 129 h 407"/>
                  <a:gd name="T56" fmla="*/ 424 w 738"/>
                  <a:gd name="T57" fmla="*/ 144 h 407"/>
                  <a:gd name="T58" fmla="*/ 424 w 738"/>
                  <a:gd name="T59" fmla="*/ 160 h 407"/>
                  <a:gd name="T60" fmla="*/ 412 w 738"/>
                  <a:gd name="T61" fmla="*/ 175 h 407"/>
                  <a:gd name="T62" fmla="*/ 390 w 738"/>
                  <a:gd name="T63" fmla="*/ 183 h 407"/>
                  <a:gd name="T64" fmla="*/ 372 w 738"/>
                  <a:gd name="T65" fmla="*/ 190 h 407"/>
                  <a:gd name="T66" fmla="*/ 353 w 738"/>
                  <a:gd name="T67" fmla="*/ 198 h 407"/>
                  <a:gd name="T68" fmla="*/ 335 w 738"/>
                  <a:gd name="T69" fmla="*/ 201 h 407"/>
                  <a:gd name="T70" fmla="*/ 310 w 738"/>
                  <a:gd name="T71" fmla="*/ 203 h 407"/>
                  <a:gd name="T72" fmla="*/ 288 w 738"/>
                  <a:gd name="T73" fmla="*/ 203 h 407"/>
                  <a:gd name="T74" fmla="*/ 270 w 738"/>
                  <a:gd name="T75" fmla="*/ 203 h 407"/>
                  <a:gd name="T76" fmla="*/ 251 w 738"/>
                  <a:gd name="T77" fmla="*/ 203 h 407"/>
                  <a:gd name="T78" fmla="*/ 232 w 738"/>
                  <a:gd name="T79" fmla="*/ 203 h 407"/>
                  <a:gd name="T80" fmla="*/ 214 w 738"/>
                  <a:gd name="T81" fmla="*/ 203 h 407"/>
                  <a:gd name="T82" fmla="*/ 195 w 738"/>
                  <a:gd name="T83" fmla="*/ 203 h 407"/>
                  <a:gd name="T84" fmla="*/ 177 w 738"/>
                  <a:gd name="T85" fmla="*/ 203 h 407"/>
                  <a:gd name="T86" fmla="*/ 155 w 738"/>
                  <a:gd name="T87" fmla="*/ 203 h 407"/>
                  <a:gd name="T88" fmla="*/ 136 w 738"/>
                  <a:gd name="T89" fmla="*/ 203 h 407"/>
                  <a:gd name="T90" fmla="*/ 117 w 738"/>
                  <a:gd name="T91" fmla="*/ 203 h 407"/>
                  <a:gd name="T92" fmla="*/ 99 w 738"/>
                  <a:gd name="T93" fmla="*/ 196 h 407"/>
                  <a:gd name="T94" fmla="*/ 81 w 738"/>
                  <a:gd name="T95" fmla="*/ 190 h 407"/>
                  <a:gd name="T96" fmla="*/ 62 w 738"/>
                  <a:gd name="T97" fmla="*/ 183 h 407"/>
                  <a:gd name="T98" fmla="*/ 47 w 738"/>
                  <a:gd name="T99" fmla="*/ 170 h 407"/>
                  <a:gd name="T100" fmla="*/ 34 w 738"/>
                  <a:gd name="T101" fmla="*/ 160 h 407"/>
                  <a:gd name="T102" fmla="*/ 22 w 738"/>
                  <a:gd name="T103" fmla="*/ 144 h 407"/>
                  <a:gd name="T104" fmla="*/ 9 w 738"/>
                  <a:gd name="T105" fmla="*/ 126 h 407"/>
                  <a:gd name="T106" fmla="*/ 0 w 738"/>
                  <a:gd name="T107" fmla="*/ 108 h 407"/>
                  <a:gd name="T108" fmla="*/ 0 w 738"/>
                  <a:gd name="T109" fmla="*/ 93 h 407"/>
                  <a:gd name="T110" fmla="*/ 3 w 738"/>
                  <a:gd name="T111" fmla="*/ 75 h 407"/>
                  <a:gd name="T112" fmla="*/ 16 w 738"/>
                  <a:gd name="T113" fmla="*/ 62 h 407"/>
                  <a:gd name="T114" fmla="*/ 31 w 738"/>
                  <a:gd name="T115" fmla="*/ 54 h 407"/>
                  <a:gd name="T116" fmla="*/ 50 w 738"/>
                  <a:gd name="T117" fmla="*/ 49 h 407"/>
                  <a:gd name="T118" fmla="*/ 65 w 738"/>
                  <a:gd name="T119" fmla="*/ 41 h 407"/>
                  <a:gd name="T120" fmla="*/ 74 w 738"/>
                  <a:gd name="T121" fmla="*/ 49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101" name="Freeform 1438"/>
              <p:cNvSpPr>
                <a:spLocks/>
              </p:cNvSpPr>
              <p:nvPr/>
            </p:nvSpPr>
            <p:spPr bwMode="auto">
              <a:xfrm>
                <a:off x="2710" y="3305"/>
                <a:ext cx="67" cy="59"/>
              </a:xfrm>
              <a:custGeom>
                <a:avLst/>
                <a:gdLst>
                  <a:gd name="T0" fmla="*/ 3 w 117"/>
                  <a:gd name="T1" fmla="*/ 33 h 118"/>
                  <a:gd name="T2" fmla="*/ 0 w 117"/>
                  <a:gd name="T3" fmla="*/ 26 h 118"/>
                  <a:gd name="T4" fmla="*/ 0 w 117"/>
                  <a:gd name="T5" fmla="*/ 18 h 118"/>
                  <a:gd name="T6" fmla="*/ 9 w 117"/>
                  <a:gd name="T7" fmla="*/ 13 h 118"/>
                  <a:gd name="T8" fmla="*/ 18 w 117"/>
                  <a:gd name="T9" fmla="*/ 8 h 118"/>
                  <a:gd name="T10" fmla="*/ 27 w 117"/>
                  <a:gd name="T11" fmla="*/ 0 h 118"/>
                  <a:gd name="T12" fmla="*/ 36 w 117"/>
                  <a:gd name="T13" fmla="*/ 0 h 118"/>
                  <a:gd name="T14" fmla="*/ 45 w 117"/>
                  <a:gd name="T15" fmla="*/ 0 h 118"/>
                  <a:gd name="T16" fmla="*/ 48 w 117"/>
                  <a:gd name="T17" fmla="*/ 8 h 118"/>
                  <a:gd name="T18" fmla="*/ 54 w 117"/>
                  <a:gd name="T19" fmla="*/ 16 h 118"/>
                  <a:gd name="T20" fmla="*/ 60 w 117"/>
                  <a:gd name="T21" fmla="*/ 23 h 118"/>
                  <a:gd name="T22" fmla="*/ 64 w 117"/>
                  <a:gd name="T23" fmla="*/ 31 h 118"/>
                  <a:gd name="T24" fmla="*/ 66 w 117"/>
                  <a:gd name="T25" fmla="*/ 38 h 118"/>
                  <a:gd name="T26" fmla="*/ 66 w 117"/>
                  <a:gd name="T27" fmla="*/ 46 h 118"/>
                  <a:gd name="T28" fmla="*/ 66 w 117"/>
                  <a:gd name="T29" fmla="*/ 54 h 118"/>
                  <a:gd name="T30" fmla="*/ 57 w 117"/>
                  <a:gd name="T31" fmla="*/ 59 h 118"/>
                  <a:gd name="T32" fmla="*/ 48 w 117"/>
                  <a:gd name="T33" fmla="*/ 59 h 118"/>
                  <a:gd name="T34" fmla="*/ 40 w 117"/>
                  <a:gd name="T35" fmla="*/ 59 h 118"/>
                  <a:gd name="T36" fmla="*/ 30 w 117"/>
                  <a:gd name="T37" fmla="*/ 59 h 118"/>
                  <a:gd name="T38" fmla="*/ 21 w 117"/>
                  <a:gd name="T39" fmla="*/ 56 h 118"/>
                  <a:gd name="T40" fmla="*/ 12 w 117"/>
                  <a:gd name="T41" fmla="*/ 51 h 118"/>
                  <a:gd name="T42" fmla="*/ 6 w 117"/>
                  <a:gd name="T43" fmla="*/ 43 h 118"/>
                  <a:gd name="T44" fmla="*/ 3 w 117"/>
                  <a:gd name="T45" fmla="*/ 36 h 118"/>
                  <a:gd name="T46" fmla="*/ 3 w 117"/>
                  <a:gd name="T47" fmla="*/ 3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102" name="Freeform 1439"/>
              <p:cNvSpPr>
                <a:spLocks/>
              </p:cNvSpPr>
              <p:nvPr/>
            </p:nvSpPr>
            <p:spPr bwMode="auto">
              <a:xfrm>
                <a:off x="2869" y="3290"/>
                <a:ext cx="47" cy="43"/>
              </a:xfrm>
              <a:custGeom>
                <a:avLst/>
                <a:gdLst>
                  <a:gd name="T0" fmla="*/ 0 w 82"/>
                  <a:gd name="T1" fmla="*/ 0 h 87"/>
                  <a:gd name="T2" fmla="*/ 9 w 82"/>
                  <a:gd name="T3" fmla="*/ 5 h 87"/>
                  <a:gd name="T4" fmla="*/ 18 w 82"/>
                  <a:gd name="T5" fmla="*/ 10 h 87"/>
                  <a:gd name="T6" fmla="*/ 28 w 82"/>
                  <a:gd name="T7" fmla="*/ 10 h 87"/>
                  <a:gd name="T8" fmla="*/ 37 w 82"/>
                  <a:gd name="T9" fmla="*/ 15 h 87"/>
                  <a:gd name="T10" fmla="*/ 44 w 82"/>
                  <a:gd name="T11" fmla="*/ 23 h 87"/>
                  <a:gd name="T12" fmla="*/ 46 w 82"/>
                  <a:gd name="T13" fmla="*/ 30 h 87"/>
                  <a:gd name="T14" fmla="*/ 46 w 82"/>
                  <a:gd name="T15" fmla="*/ 38 h 87"/>
                  <a:gd name="T16" fmla="*/ 37 w 82"/>
                  <a:gd name="T17" fmla="*/ 43 h 87"/>
                  <a:gd name="T18" fmla="*/ 28 w 82"/>
                  <a:gd name="T19" fmla="*/ 43 h 87"/>
                  <a:gd name="T20" fmla="*/ 15 w 82"/>
                  <a:gd name="T21" fmla="*/ 40 h 87"/>
                  <a:gd name="T22" fmla="*/ 6 w 82"/>
                  <a:gd name="T23" fmla="*/ 35 h 87"/>
                  <a:gd name="T24" fmla="*/ 3 w 82"/>
                  <a:gd name="T25" fmla="*/ 28 h 87"/>
                  <a:gd name="T26" fmla="*/ 0 w 82"/>
                  <a:gd name="T27" fmla="*/ 20 h 87"/>
                  <a:gd name="T28" fmla="*/ 0 w 82"/>
                  <a:gd name="T29" fmla="*/ 12 h 87"/>
                  <a:gd name="T30" fmla="*/ 6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grpSp>
        <p:sp>
          <p:nvSpPr>
            <p:cNvPr id="33" name="Text Box 1524"/>
            <p:cNvSpPr txBox="1">
              <a:spLocks noChangeArrowheads="1"/>
            </p:cNvSpPr>
            <p:nvPr/>
          </p:nvSpPr>
          <p:spPr bwMode="auto">
            <a:xfrm>
              <a:off x="3168329" y="4506895"/>
              <a:ext cx="630238"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校园网</a:t>
              </a:r>
            </a:p>
          </p:txBody>
        </p:sp>
        <p:grpSp>
          <p:nvGrpSpPr>
            <p:cNvPr id="34" name="Group 228"/>
            <p:cNvGrpSpPr>
              <a:grpSpLocks/>
            </p:cNvGrpSpPr>
            <p:nvPr/>
          </p:nvGrpSpPr>
          <p:grpSpPr bwMode="auto">
            <a:xfrm>
              <a:off x="2427289" y="4431792"/>
              <a:ext cx="630237" cy="349250"/>
              <a:chOff x="2569" y="3268"/>
              <a:chExt cx="542" cy="300"/>
            </a:xfrm>
          </p:grpSpPr>
          <p:sp>
            <p:nvSpPr>
              <p:cNvPr id="81" name="Oval 1429"/>
              <p:cNvSpPr>
                <a:spLocks noChangeArrowheads="1"/>
              </p:cNvSpPr>
              <p:nvPr/>
            </p:nvSpPr>
            <p:spPr bwMode="auto">
              <a:xfrm>
                <a:off x="2695" y="3268"/>
                <a:ext cx="235" cy="81"/>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2" name="Oval 1430"/>
              <p:cNvSpPr>
                <a:spLocks noChangeArrowheads="1"/>
              </p:cNvSpPr>
              <p:nvPr/>
            </p:nvSpPr>
            <p:spPr bwMode="auto">
              <a:xfrm rot="900000">
                <a:off x="2893" y="3296"/>
                <a:ext cx="159" cy="66"/>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3" name="Oval 1431"/>
              <p:cNvSpPr>
                <a:spLocks noChangeArrowheads="1"/>
              </p:cNvSpPr>
              <p:nvPr/>
            </p:nvSpPr>
            <p:spPr bwMode="auto">
              <a:xfrm rot="1500000">
                <a:off x="2973" y="3363"/>
                <a:ext cx="138" cy="77"/>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4" name="Oval 1432"/>
              <p:cNvSpPr>
                <a:spLocks noChangeArrowheads="1"/>
              </p:cNvSpPr>
              <p:nvPr/>
            </p:nvSpPr>
            <p:spPr bwMode="auto">
              <a:xfrm rot="-1560000">
                <a:off x="2928" y="3439"/>
                <a:ext cx="168" cy="95"/>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5" name="Oval 1433"/>
              <p:cNvSpPr>
                <a:spLocks noChangeArrowheads="1"/>
              </p:cNvSpPr>
              <p:nvPr/>
            </p:nvSpPr>
            <p:spPr bwMode="auto">
              <a:xfrm>
                <a:off x="2723" y="3448"/>
                <a:ext cx="271" cy="120"/>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6" name="Oval 1434"/>
              <p:cNvSpPr>
                <a:spLocks noChangeArrowheads="1"/>
              </p:cNvSpPr>
              <p:nvPr/>
            </p:nvSpPr>
            <p:spPr bwMode="auto">
              <a:xfrm rot="1080000">
                <a:off x="2612" y="3448"/>
                <a:ext cx="152" cy="78"/>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7" name="Oval 1435"/>
              <p:cNvSpPr>
                <a:spLocks noChangeArrowheads="1"/>
              </p:cNvSpPr>
              <p:nvPr/>
            </p:nvSpPr>
            <p:spPr bwMode="auto">
              <a:xfrm>
                <a:off x="2569" y="3386"/>
                <a:ext cx="125" cy="79"/>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8" name="Oval 1436"/>
              <p:cNvSpPr>
                <a:spLocks noChangeArrowheads="1"/>
              </p:cNvSpPr>
              <p:nvPr/>
            </p:nvSpPr>
            <p:spPr bwMode="auto">
              <a:xfrm rot="-1860000">
                <a:off x="2589" y="3325"/>
                <a:ext cx="170" cy="78"/>
              </a:xfrm>
              <a:prstGeom prst="ellipse">
                <a:avLst/>
              </a:prstGeom>
              <a:solidFill>
                <a:srgbClr val="C5E5FB"/>
              </a:solid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hangingPunct="0"/>
                <a:endParaRPr lang="zh-CN" altLang="en-US" sz="1600">
                  <a:latin typeface="Microsoft YaHei" panose="020B0503020204020204" pitchFamily="34" charset="-122"/>
                  <a:ea typeface="Microsoft YaHei" panose="020B0503020204020204" pitchFamily="34" charset="-122"/>
                </a:endParaRPr>
              </a:p>
            </p:txBody>
          </p:sp>
          <p:sp>
            <p:nvSpPr>
              <p:cNvPr id="89" name="Freeform 1437"/>
              <p:cNvSpPr>
                <a:spLocks/>
              </p:cNvSpPr>
              <p:nvPr/>
            </p:nvSpPr>
            <p:spPr bwMode="auto">
              <a:xfrm>
                <a:off x="2628" y="3320"/>
                <a:ext cx="425" cy="204"/>
              </a:xfrm>
              <a:custGeom>
                <a:avLst/>
                <a:gdLst>
                  <a:gd name="T0" fmla="*/ 62 w 738"/>
                  <a:gd name="T1" fmla="*/ 41 h 407"/>
                  <a:gd name="T2" fmla="*/ 84 w 738"/>
                  <a:gd name="T3" fmla="*/ 39 h 407"/>
                  <a:gd name="T4" fmla="*/ 105 w 738"/>
                  <a:gd name="T5" fmla="*/ 36 h 407"/>
                  <a:gd name="T6" fmla="*/ 124 w 738"/>
                  <a:gd name="T7" fmla="*/ 34 h 407"/>
                  <a:gd name="T8" fmla="*/ 136 w 738"/>
                  <a:gd name="T9" fmla="*/ 23 h 407"/>
                  <a:gd name="T10" fmla="*/ 117 w 738"/>
                  <a:gd name="T11" fmla="*/ 21 h 407"/>
                  <a:gd name="T12" fmla="*/ 99 w 738"/>
                  <a:gd name="T13" fmla="*/ 23 h 407"/>
                  <a:gd name="T14" fmla="*/ 90 w 738"/>
                  <a:gd name="T15" fmla="*/ 23 h 407"/>
                  <a:gd name="T16" fmla="*/ 108 w 738"/>
                  <a:gd name="T17" fmla="*/ 13 h 407"/>
                  <a:gd name="T18" fmla="*/ 130 w 738"/>
                  <a:gd name="T19" fmla="*/ 8 h 407"/>
                  <a:gd name="T20" fmla="*/ 149 w 738"/>
                  <a:gd name="T21" fmla="*/ 5 h 407"/>
                  <a:gd name="T22" fmla="*/ 167 w 738"/>
                  <a:gd name="T23" fmla="*/ 3 h 407"/>
                  <a:gd name="T24" fmla="*/ 186 w 738"/>
                  <a:gd name="T25" fmla="*/ 0 h 407"/>
                  <a:gd name="T26" fmla="*/ 204 w 738"/>
                  <a:gd name="T27" fmla="*/ 0 h 407"/>
                  <a:gd name="T28" fmla="*/ 223 w 738"/>
                  <a:gd name="T29" fmla="*/ 0 h 407"/>
                  <a:gd name="T30" fmla="*/ 267 w 738"/>
                  <a:gd name="T31" fmla="*/ 0 h 407"/>
                  <a:gd name="T32" fmla="*/ 291 w 738"/>
                  <a:gd name="T33" fmla="*/ 0 h 407"/>
                  <a:gd name="T34" fmla="*/ 313 w 738"/>
                  <a:gd name="T35" fmla="*/ 8 h 407"/>
                  <a:gd name="T36" fmla="*/ 328 w 738"/>
                  <a:gd name="T37" fmla="*/ 18 h 407"/>
                  <a:gd name="T38" fmla="*/ 347 w 738"/>
                  <a:gd name="T39" fmla="*/ 26 h 407"/>
                  <a:gd name="T40" fmla="*/ 366 w 738"/>
                  <a:gd name="T41" fmla="*/ 29 h 407"/>
                  <a:gd name="T42" fmla="*/ 384 w 738"/>
                  <a:gd name="T43" fmla="*/ 39 h 407"/>
                  <a:gd name="T44" fmla="*/ 400 w 738"/>
                  <a:gd name="T45" fmla="*/ 49 h 407"/>
                  <a:gd name="T46" fmla="*/ 412 w 738"/>
                  <a:gd name="T47" fmla="*/ 64 h 407"/>
                  <a:gd name="T48" fmla="*/ 415 w 738"/>
                  <a:gd name="T49" fmla="*/ 82 h 407"/>
                  <a:gd name="T50" fmla="*/ 418 w 738"/>
                  <a:gd name="T51" fmla="*/ 98 h 407"/>
                  <a:gd name="T52" fmla="*/ 418 w 738"/>
                  <a:gd name="T53" fmla="*/ 113 h 407"/>
                  <a:gd name="T54" fmla="*/ 418 w 738"/>
                  <a:gd name="T55" fmla="*/ 129 h 407"/>
                  <a:gd name="T56" fmla="*/ 424 w 738"/>
                  <a:gd name="T57" fmla="*/ 144 h 407"/>
                  <a:gd name="T58" fmla="*/ 424 w 738"/>
                  <a:gd name="T59" fmla="*/ 160 h 407"/>
                  <a:gd name="T60" fmla="*/ 412 w 738"/>
                  <a:gd name="T61" fmla="*/ 175 h 407"/>
                  <a:gd name="T62" fmla="*/ 390 w 738"/>
                  <a:gd name="T63" fmla="*/ 183 h 407"/>
                  <a:gd name="T64" fmla="*/ 372 w 738"/>
                  <a:gd name="T65" fmla="*/ 190 h 407"/>
                  <a:gd name="T66" fmla="*/ 353 w 738"/>
                  <a:gd name="T67" fmla="*/ 198 h 407"/>
                  <a:gd name="T68" fmla="*/ 335 w 738"/>
                  <a:gd name="T69" fmla="*/ 201 h 407"/>
                  <a:gd name="T70" fmla="*/ 310 w 738"/>
                  <a:gd name="T71" fmla="*/ 203 h 407"/>
                  <a:gd name="T72" fmla="*/ 288 w 738"/>
                  <a:gd name="T73" fmla="*/ 203 h 407"/>
                  <a:gd name="T74" fmla="*/ 270 w 738"/>
                  <a:gd name="T75" fmla="*/ 203 h 407"/>
                  <a:gd name="T76" fmla="*/ 251 w 738"/>
                  <a:gd name="T77" fmla="*/ 203 h 407"/>
                  <a:gd name="T78" fmla="*/ 232 w 738"/>
                  <a:gd name="T79" fmla="*/ 203 h 407"/>
                  <a:gd name="T80" fmla="*/ 214 w 738"/>
                  <a:gd name="T81" fmla="*/ 203 h 407"/>
                  <a:gd name="T82" fmla="*/ 195 w 738"/>
                  <a:gd name="T83" fmla="*/ 203 h 407"/>
                  <a:gd name="T84" fmla="*/ 177 w 738"/>
                  <a:gd name="T85" fmla="*/ 203 h 407"/>
                  <a:gd name="T86" fmla="*/ 155 w 738"/>
                  <a:gd name="T87" fmla="*/ 203 h 407"/>
                  <a:gd name="T88" fmla="*/ 136 w 738"/>
                  <a:gd name="T89" fmla="*/ 203 h 407"/>
                  <a:gd name="T90" fmla="*/ 117 w 738"/>
                  <a:gd name="T91" fmla="*/ 203 h 407"/>
                  <a:gd name="T92" fmla="*/ 99 w 738"/>
                  <a:gd name="T93" fmla="*/ 196 h 407"/>
                  <a:gd name="T94" fmla="*/ 81 w 738"/>
                  <a:gd name="T95" fmla="*/ 190 h 407"/>
                  <a:gd name="T96" fmla="*/ 62 w 738"/>
                  <a:gd name="T97" fmla="*/ 183 h 407"/>
                  <a:gd name="T98" fmla="*/ 47 w 738"/>
                  <a:gd name="T99" fmla="*/ 170 h 407"/>
                  <a:gd name="T100" fmla="*/ 34 w 738"/>
                  <a:gd name="T101" fmla="*/ 160 h 407"/>
                  <a:gd name="T102" fmla="*/ 22 w 738"/>
                  <a:gd name="T103" fmla="*/ 144 h 407"/>
                  <a:gd name="T104" fmla="*/ 9 w 738"/>
                  <a:gd name="T105" fmla="*/ 126 h 407"/>
                  <a:gd name="T106" fmla="*/ 0 w 738"/>
                  <a:gd name="T107" fmla="*/ 108 h 407"/>
                  <a:gd name="T108" fmla="*/ 0 w 738"/>
                  <a:gd name="T109" fmla="*/ 93 h 407"/>
                  <a:gd name="T110" fmla="*/ 3 w 738"/>
                  <a:gd name="T111" fmla="*/ 75 h 407"/>
                  <a:gd name="T112" fmla="*/ 16 w 738"/>
                  <a:gd name="T113" fmla="*/ 62 h 407"/>
                  <a:gd name="T114" fmla="*/ 31 w 738"/>
                  <a:gd name="T115" fmla="*/ 54 h 407"/>
                  <a:gd name="T116" fmla="*/ 50 w 738"/>
                  <a:gd name="T117" fmla="*/ 49 h 407"/>
                  <a:gd name="T118" fmla="*/ 65 w 738"/>
                  <a:gd name="T119" fmla="*/ 41 h 407"/>
                  <a:gd name="T120" fmla="*/ 74 w 738"/>
                  <a:gd name="T121" fmla="*/ 49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5E5F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90" name="Freeform 1438"/>
              <p:cNvSpPr>
                <a:spLocks/>
              </p:cNvSpPr>
              <p:nvPr/>
            </p:nvSpPr>
            <p:spPr bwMode="auto">
              <a:xfrm>
                <a:off x="2710" y="3305"/>
                <a:ext cx="67" cy="59"/>
              </a:xfrm>
              <a:custGeom>
                <a:avLst/>
                <a:gdLst>
                  <a:gd name="T0" fmla="*/ 3 w 117"/>
                  <a:gd name="T1" fmla="*/ 33 h 118"/>
                  <a:gd name="T2" fmla="*/ 0 w 117"/>
                  <a:gd name="T3" fmla="*/ 26 h 118"/>
                  <a:gd name="T4" fmla="*/ 0 w 117"/>
                  <a:gd name="T5" fmla="*/ 18 h 118"/>
                  <a:gd name="T6" fmla="*/ 9 w 117"/>
                  <a:gd name="T7" fmla="*/ 13 h 118"/>
                  <a:gd name="T8" fmla="*/ 18 w 117"/>
                  <a:gd name="T9" fmla="*/ 8 h 118"/>
                  <a:gd name="T10" fmla="*/ 27 w 117"/>
                  <a:gd name="T11" fmla="*/ 0 h 118"/>
                  <a:gd name="T12" fmla="*/ 36 w 117"/>
                  <a:gd name="T13" fmla="*/ 0 h 118"/>
                  <a:gd name="T14" fmla="*/ 45 w 117"/>
                  <a:gd name="T15" fmla="*/ 0 h 118"/>
                  <a:gd name="T16" fmla="*/ 48 w 117"/>
                  <a:gd name="T17" fmla="*/ 8 h 118"/>
                  <a:gd name="T18" fmla="*/ 54 w 117"/>
                  <a:gd name="T19" fmla="*/ 16 h 118"/>
                  <a:gd name="T20" fmla="*/ 60 w 117"/>
                  <a:gd name="T21" fmla="*/ 23 h 118"/>
                  <a:gd name="T22" fmla="*/ 64 w 117"/>
                  <a:gd name="T23" fmla="*/ 31 h 118"/>
                  <a:gd name="T24" fmla="*/ 66 w 117"/>
                  <a:gd name="T25" fmla="*/ 38 h 118"/>
                  <a:gd name="T26" fmla="*/ 66 w 117"/>
                  <a:gd name="T27" fmla="*/ 46 h 118"/>
                  <a:gd name="T28" fmla="*/ 66 w 117"/>
                  <a:gd name="T29" fmla="*/ 54 h 118"/>
                  <a:gd name="T30" fmla="*/ 57 w 117"/>
                  <a:gd name="T31" fmla="*/ 59 h 118"/>
                  <a:gd name="T32" fmla="*/ 48 w 117"/>
                  <a:gd name="T33" fmla="*/ 59 h 118"/>
                  <a:gd name="T34" fmla="*/ 40 w 117"/>
                  <a:gd name="T35" fmla="*/ 59 h 118"/>
                  <a:gd name="T36" fmla="*/ 30 w 117"/>
                  <a:gd name="T37" fmla="*/ 59 h 118"/>
                  <a:gd name="T38" fmla="*/ 21 w 117"/>
                  <a:gd name="T39" fmla="*/ 56 h 118"/>
                  <a:gd name="T40" fmla="*/ 12 w 117"/>
                  <a:gd name="T41" fmla="*/ 51 h 118"/>
                  <a:gd name="T42" fmla="*/ 6 w 117"/>
                  <a:gd name="T43" fmla="*/ 43 h 118"/>
                  <a:gd name="T44" fmla="*/ 3 w 117"/>
                  <a:gd name="T45" fmla="*/ 36 h 118"/>
                  <a:gd name="T46" fmla="*/ 3 w 117"/>
                  <a:gd name="T47" fmla="*/ 33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5E5F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91" name="Freeform 1439"/>
              <p:cNvSpPr>
                <a:spLocks/>
              </p:cNvSpPr>
              <p:nvPr/>
            </p:nvSpPr>
            <p:spPr bwMode="auto">
              <a:xfrm>
                <a:off x="2869" y="3290"/>
                <a:ext cx="47" cy="43"/>
              </a:xfrm>
              <a:custGeom>
                <a:avLst/>
                <a:gdLst>
                  <a:gd name="T0" fmla="*/ 0 w 82"/>
                  <a:gd name="T1" fmla="*/ 0 h 87"/>
                  <a:gd name="T2" fmla="*/ 9 w 82"/>
                  <a:gd name="T3" fmla="*/ 5 h 87"/>
                  <a:gd name="T4" fmla="*/ 18 w 82"/>
                  <a:gd name="T5" fmla="*/ 10 h 87"/>
                  <a:gd name="T6" fmla="*/ 28 w 82"/>
                  <a:gd name="T7" fmla="*/ 10 h 87"/>
                  <a:gd name="T8" fmla="*/ 37 w 82"/>
                  <a:gd name="T9" fmla="*/ 15 h 87"/>
                  <a:gd name="T10" fmla="*/ 44 w 82"/>
                  <a:gd name="T11" fmla="*/ 23 h 87"/>
                  <a:gd name="T12" fmla="*/ 46 w 82"/>
                  <a:gd name="T13" fmla="*/ 30 h 87"/>
                  <a:gd name="T14" fmla="*/ 46 w 82"/>
                  <a:gd name="T15" fmla="*/ 38 h 87"/>
                  <a:gd name="T16" fmla="*/ 37 w 82"/>
                  <a:gd name="T17" fmla="*/ 43 h 87"/>
                  <a:gd name="T18" fmla="*/ 28 w 82"/>
                  <a:gd name="T19" fmla="*/ 43 h 87"/>
                  <a:gd name="T20" fmla="*/ 15 w 82"/>
                  <a:gd name="T21" fmla="*/ 40 h 87"/>
                  <a:gd name="T22" fmla="*/ 6 w 82"/>
                  <a:gd name="T23" fmla="*/ 35 h 87"/>
                  <a:gd name="T24" fmla="*/ 3 w 82"/>
                  <a:gd name="T25" fmla="*/ 28 h 87"/>
                  <a:gd name="T26" fmla="*/ 0 w 82"/>
                  <a:gd name="T27" fmla="*/ 20 h 87"/>
                  <a:gd name="T28" fmla="*/ 0 w 82"/>
                  <a:gd name="T29" fmla="*/ 12 h 87"/>
                  <a:gd name="T30" fmla="*/ 6 w 82"/>
                  <a:gd name="T31" fmla="*/ 5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5E5F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grpSp>
        <p:sp>
          <p:nvSpPr>
            <p:cNvPr id="35" name="Text Box 1524"/>
            <p:cNvSpPr txBox="1">
              <a:spLocks noChangeArrowheads="1"/>
            </p:cNvSpPr>
            <p:nvPr/>
          </p:nvSpPr>
          <p:spPr bwMode="auto">
            <a:xfrm>
              <a:off x="2434576" y="4512480"/>
              <a:ext cx="604837"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校园网</a:t>
              </a:r>
            </a:p>
          </p:txBody>
        </p:sp>
        <p:sp>
          <p:nvSpPr>
            <p:cNvPr id="36" name="Oval 242"/>
            <p:cNvSpPr>
              <a:spLocks noChangeArrowheads="1"/>
            </p:cNvSpPr>
            <p:nvPr/>
          </p:nvSpPr>
          <p:spPr bwMode="auto">
            <a:xfrm>
              <a:off x="4008439" y="4393692"/>
              <a:ext cx="573087" cy="350838"/>
            </a:xfrm>
            <a:prstGeom prst="ellipse">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37" name="Text Box 1524"/>
            <p:cNvSpPr txBox="1">
              <a:spLocks noChangeArrowheads="1"/>
            </p:cNvSpPr>
            <p:nvPr/>
          </p:nvSpPr>
          <p:spPr bwMode="auto">
            <a:xfrm>
              <a:off x="4073206" y="4470487"/>
              <a:ext cx="448238" cy="220044"/>
            </a:xfrm>
            <a:prstGeom prst="rect">
              <a:avLst/>
            </a:prstGeom>
            <a:noFill/>
            <a:ln>
              <a:noFill/>
            </a:ln>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defRPr/>
              </a:pPr>
              <a:r>
                <a:rPr kumimoji="1" lang="zh-CN" altLang="en-US" sz="1600" dirty="0">
                  <a:solidFill>
                    <a:schemeClr val="bg1"/>
                  </a:solidFill>
                  <a:latin typeface="Microsoft YaHei" panose="020B0503020204020204" pitchFamily="34" charset="-122"/>
                  <a:ea typeface="Microsoft YaHei" panose="020B0503020204020204" pitchFamily="34" charset="-122"/>
                </a:rPr>
                <a:t>公司</a:t>
              </a:r>
              <a:endParaRPr kumimoji="1" lang="en-US" altLang="zh-CN" sz="1600" dirty="0">
                <a:solidFill>
                  <a:schemeClr val="bg1"/>
                </a:solidFill>
                <a:latin typeface="Microsoft YaHei" panose="020B0503020204020204" pitchFamily="34" charset="-122"/>
                <a:ea typeface="Microsoft YaHei" panose="020B0503020204020204" pitchFamily="34" charset="-122"/>
              </a:endParaRPr>
            </a:p>
          </p:txBody>
        </p:sp>
        <p:sp>
          <p:nvSpPr>
            <p:cNvPr id="42" name="Oval 273"/>
            <p:cNvSpPr>
              <a:spLocks noChangeArrowheads="1"/>
            </p:cNvSpPr>
            <p:nvPr/>
          </p:nvSpPr>
          <p:spPr bwMode="auto">
            <a:xfrm>
              <a:off x="5976939" y="2896681"/>
              <a:ext cx="369887" cy="225425"/>
            </a:xfrm>
            <a:prstGeom prst="ellipse">
              <a:avLst/>
            </a:prstGeom>
            <a:solidFill>
              <a:srgbClr val="FFC000"/>
            </a:solidFill>
            <a:ln w="9525">
              <a:solidFill>
                <a:srgbClr val="368AD6"/>
              </a:solidFill>
              <a:round/>
              <a:headEnd/>
              <a:tailEnd/>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43" name="Text Box 1524"/>
            <p:cNvSpPr txBox="1">
              <a:spLocks noChangeArrowheads="1"/>
            </p:cNvSpPr>
            <p:nvPr/>
          </p:nvSpPr>
          <p:spPr bwMode="auto">
            <a:xfrm>
              <a:off x="5980114" y="2880806"/>
              <a:ext cx="379408"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en-US" altLang="zh-CN" sz="1600" dirty="0">
                  <a:latin typeface="Microsoft YaHei" panose="020B0503020204020204" pitchFamily="34" charset="-122"/>
                  <a:ea typeface="Microsoft YaHei" panose="020B0503020204020204" pitchFamily="34" charset="-122"/>
                </a:rPr>
                <a:t>IXP</a:t>
              </a:r>
            </a:p>
          </p:txBody>
        </p:sp>
        <p:sp>
          <p:nvSpPr>
            <p:cNvPr id="44" name="Line 278"/>
            <p:cNvSpPr>
              <a:spLocks noChangeShapeType="1"/>
            </p:cNvSpPr>
            <p:nvPr/>
          </p:nvSpPr>
          <p:spPr bwMode="auto">
            <a:xfrm>
              <a:off x="2503488" y="3026855"/>
              <a:ext cx="531812" cy="0"/>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45" name="Line 279"/>
            <p:cNvSpPr>
              <a:spLocks noChangeShapeType="1"/>
            </p:cNvSpPr>
            <p:nvPr/>
          </p:nvSpPr>
          <p:spPr bwMode="auto">
            <a:xfrm>
              <a:off x="4271963" y="3026855"/>
              <a:ext cx="514350" cy="0"/>
            </a:xfrm>
            <a:prstGeom prst="line">
              <a:avLst/>
            </a:prstGeom>
            <a:noFill/>
            <a:ln w="28575">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49" name="Oval 186"/>
            <p:cNvSpPr>
              <a:spLocks noChangeArrowheads="1"/>
            </p:cNvSpPr>
            <p:nvPr/>
          </p:nvSpPr>
          <p:spPr bwMode="auto">
            <a:xfrm>
              <a:off x="2085975" y="3647935"/>
              <a:ext cx="573088"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50" name="Text Box 1524"/>
            <p:cNvSpPr txBox="1">
              <a:spLocks noChangeArrowheads="1"/>
            </p:cNvSpPr>
            <p:nvPr/>
          </p:nvSpPr>
          <p:spPr bwMode="auto">
            <a:xfrm>
              <a:off x="2020267" y="3711800"/>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51" name="Oval 191"/>
            <p:cNvSpPr>
              <a:spLocks noChangeArrowheads="1"/>
            </p:cNvSpPr>
            <p:nvPr/>
          </p:nvSpPr>
          <p:spPr bwMode="auto">
            <a:xfrm>
              <a:off x="2906714" y="3630106"/>
              <a:ext cx="574675"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52" name="Text Box 1524"/>
            <p:cNvSpPr txBox="1">
              <a:spLocks noChangeArrowheads="1"/>
            </p:cNvSpPr>
            <p:nvPr/>
          </p:nvSpPr>
          <p:spPr bwMode="auto">
            <a:xfrm>
              <a:off x="2852971" y="37034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53" name="Oval 194"/>
            <p:cNvSpPr>
              <a:spLocks noChangeArrowheads="1"/>
            </p:cNvSpPr>
            <p:nvPr/>
          </p:nvSpPr>
          <p:spPr bwMode="auto">
            <a:xfrm>
              <a:off x="3749676" y="3630106"/>
              <a:ext cx="574675"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54" name="Text Box 1524"/>
            <p:cNvSpPr txBox="1">
              <a:spLocks noChangeArrowheads="1"/>
            </p:cNvSpPr>
            <p:nvPr/>
          </p:nvSpPr>
          <p:spPr bwMode="auto">
            <a:xfrm>
              <a:off x="3684857" y="37034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55" name="Oval 197"/>
            <p:cNvSpPr>
              <a:spLocks noChangeArrowheads="1"/>
            </p:cNvSpPr>
            <p:nvPr/>
          </p:nvSpPr>
          <p:spPr bwMode="auto">
            <a:xfrm>
              <a:off x="4645025" y="3630106"/>
              <a:ext cx="573088"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56" name="Text Box 1524"/>
            <p:cNvSpPr txBox="1">
              <a:spLocks noChangeArrowheads="1"/>
            </p:cNvSpPr>
            <p:nvPr/>
          </p:nvSpPr>
          <p:spPr bwMode="auto">
            <a:xfrm>
              <a:off x="4548360" y="3710634"/>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57" name="Oval 200"/>
            <p:cNvSpPr>
              <a:spLocks noChangeArrowheads="1"/>
            </p:cNvSpPr>
            <p:nvPr/>
          </p:nvSpPr>
          <p:spPr bwMode="auto">
            <a:xfrm>
              <a:off x="5487989" y="3630106"/>
              <a:ext cx="573087"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58" name="Text Box 1524"/>
            <p:cNvSpPr txBox="1">
              <a:spLocks noChangeArrowheads="1"/>
            </p:cNvSpPr>
            <p:nvPr/>
          </p:nvSpPr>
          <p:spPr bwMode="auto">
            <a:xfrm>
              <a:off x="5437522" y="3710634"/>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59" name="Oval 203"/>
            <p:cNvSpPr>
              <a:spLocks noChangeArrowheads="1"/>
            </p:cNvSpPr>
            <p:nvPr/>
          </p:nvSpPr>
          <p:spPr bwMode="auto">
            <a:xfrm>
              <a:off x="6265864" y="3630106"/>
              <a:ext cx="573087"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60" name="Text Box 1524"/>
            <p:cNvSpPr txBox="1">
              <a:spLocks noChangeArrowheads="1"/>
            </p:cNvSpPr>
            <p:nvPr/>
          </p:nvSpPr>
          <p:spPr bwMode="auto">
            <a:xfrm>
              <a:off x="6199451" y="3717050"/>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61" name="Oval 206"/>
            <p:cNvSpPr>
              <a:spLocks noChangeArrowheads="1"/>
            </p:cNvSpPr>
            <p:nvPr/>
          </p:nvSpPr>
          <p:spPr bwMode="auto">
            <a:xfrm>
              <a:off x="7129464" y="3630106"/>
              <a:ext cx="573087" cy="350837"/>
            </a:xfrm>
            <a:prstGeom prst="ellipse">
              <a:avLst/>
            </a:prstGeom>
            <a:solidFill>
              <a:schemeClr val="bg1">
                <a:lumMod val="75000"/>
              </a:schemeClr>
            </a:solidFill>
            <a:ln>
              <a:noFill/>
            </a:ln>
            <a:effec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62" name="Text Box 1524"/>
            <p:cNvSpPr txBox="1">
              <a:spLocks noChangeArrowheads="1"/>
            </p:cNvSpPr>
            <p:nvPr/>
          </p:nvSpPr>
          <p:spPr bwMode="auto">
            <a:xfrm>
              <a:off x="7080691" y="3691323"/>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本地 </a:t>
              </a:r>
              <a:r>
                <a:rPr kumimoji="1" lang="en-US" altLang="zh-CN" sz="1600" dirty="0">
                  <a:latin typeface="Microsoft YaHei" panose="020B0503020204020204" pitchFamily="34" charset="-122"/>
                  <a:ea typeface="Microsoft YaHei" panose="020B0503020204020204" pitchFamily="34" charset="-122"/>
                </a:rPr>
                <a:t>ISP</a:t>
              </a:r>
            </a:p>
          </p:txBody>
        </p:sp>
        <p:sp>
          <p:nvSpPr>
            <p:cNvPr id="63" name="Oval 209"/>
            <p:cNvSpPr>
              <a:spLocks noChangeArrowheads="1"/>
            </p:cNvSpPr>
            <p:nvPr/>
          </p:nvSpPr>
          <p:spPr bwMode="auto">
            <a:xfrm>
              <a:off x="1222375" y="3630106"/>
              <a:ext cx="573088" cy="350837"/>
            </a:xfrm>
            <a:prstGeom prst="ellipse">
              <a:avLst/>
            </a:prstGeom>
            <a:solidFill>
              <a:srgbClr val="0089FA"/>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64" name="Text Box 1524"/>
            <p:cNvSpPr txBox="1">
              <a:spLocks noChangeArrowheads="1"/>
            </p:cNvSpPr>
            <p:nvPr/>
          </p:nvSpPr>
          <p:spPr bwMode="auto">
            <a:xfrm>
              <a:off x="1207518" y="3680905"/>
              <a:ext cx="602802"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a:solidFill>
                    <a:schemeClr val="bg1"/>
                  </a:solidFill>
                  <a:latin typeface="Microsoft YaHei" panose="020B0503020204020204" pitchFamily="34" charset="-122"/>
                  <a:ea typeface="Microsoft YaHei" panose="020B0503020204020204" pitchFamily="34" charset="-122"/>
                </a:rPr>
                <a:t>大公司</a:t>
              </a:r>
              <a:endParaRPr kumimoji="1" lang="en-US" altLang="zh-CN" sz="1600">
                <a:solidFill>
                  <a:schemeClr val="bg1"/>
                </a:solidFill>
                <a:latin typeface="Microsoft YaHei" panose="020B0503020204020204" pitchFamily="34" charset="-122"/>
                <a:ea typeface="Microsoft YaHei" panose="020B0503020204020204" pitchFamily="34" charset="-122"/>
              </a:endParaRPr>
            </a:p>
          </p:txBody>
        </p:sp>
        <p:sp>
          <p:nvSpPr>
            <p:cNvPr id="65" name="Oval 170"/>
            <p:cNvSpPr>
              <a:spLocks noChangeArrowheads="1"/>
            </p:cNvSpPr>
            <p:nvPr/>
          </p:nvSpPr>
          <p:spPr bwMode="auto">
            <a:xfrm>
              <a:off x="1423989"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66" name="Text Box 1524"/>
            <p:cNvSpPr txBox="1">
              <a:spLocks noChangeArrowheads="1"/>
            </p:cNvSpPr>
            <p:nvPr/>
          </p:nvSpPr>
          <p:spPr bwMode="auto">
            <a:xfrm>
              <a:off x="1447180"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地区 </a:t>
              </a:r>
              <a:r>
                <a:rPr kumimoji="1" lang="en-US" altLang="zh-CN" sz="1600" dirty="0">
                  <a:latin typeface="Microsoft YaHei" panose="020B0503020204020204" pitchFamily="34" charset="-122"/>
                  <a:ea typeface="Microsoft YaHei" panose="020B0503020204020204" pitchFamily="34" charset="-122"/>
                </a:rPr>
                <a:t>ISP</a:t>
              </a:r>
            </a:p>
          </p:txBody>
        </p:sp>
        <p:sp>
          <p:nvSpPr>
            <p:cNvPr id="67" name="Oval 177"/>
            <p:cNvSpPr>
              <a:spLocks noChangeArrowheads="1"/>
            </p:cNvSpPr>
            <p:nvPr/>
          </p:nvSpPr>
          <p:spPr bwMode="auto">
            <a:xfrm>
              <a:off x="3217864"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68" name="Text Box 1524"/>
            <p:cNvSpPr txBox="1">
              <a:spLocks noChangeArrowheads="1"/>
            </p:cNvSpPr>
            <p:nvPr/>
          </p:nvSpPr>
          <p:spPr bwMode="auto">
            <a:xfrm>
              <a:off x="3262486"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地区 </a:t>
              </a:r>
              <a:r>
                <a:rPr kumimoji="1" lang="en-US" altLang="zh-CN" sz="1600" dirty="0">
                  <a:latin typeface="Microsoft YaHei" panose="020B0503020204020204" pitchFamily="34" charset="-122"/>
                  <a:ea typeface="Microsoft YaHei" panose="020B0503020204020204" pitchFamily="34" charset="-122"/>
                </a:rPr>
                <a:t>ISP</a:t>
              </a:r>
            </a:p>
          </p:txBody>
        </p:sp>
        <p:sp>
          <p:nvSpPr>
            <p:cNvPr id="69" name="Oval 180"/>
            <p:cNvSpPr>
              <a:spLocks noChangeArrowheads="1"/>
            </p:cNvSpPr>
            <p:nvPr/>
          </p:nvSpPr>
          <p:spPr bwMode="auto">
            <a:xfrm>
              <a:off x="4976814" y="2834767"/>
              <a:ext cx="795337"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70" name="Text Box 1524"/>
            <p:cNvSpPr txBox="1">
              <a:spLocks noChangeArrowheads="1"/>
            </p:cNvSpPr>
            <p:nvPr/>
          </p:nvSpPr>
          <p:spPr bwMode="auto">
            <a:xfrm>
              <a:off x="4928567"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地区 </a:t>
              </a:r>
              <a:r>
                <a:rPr kumimoji="1" lang="en-US" altLang="zh-CN" sz="1600" dirty="0">
                  <a:latin typeface="Microsoft YaHei" panose="020B0503020204020204" pitchFamily="34" charset="-122"/>
                  <a:ea typeface="Microsoft YaHei" panose="020B0503020204020204" pitchFamily="34" charset="-122"/>
                </a:rPr>
                <a:t>ISP</a:t>
              </a:r>
            </a:p>
          </p:txBody>
        </p:sp>
        <p:sp>
          <p:nvSpPr>
            <p:cNvPr id="71" name="Oval 183"/>
            <p:cNvSpPr>
              <a:spLocks noChangeArrowheads="1"/>
            </p:cNvSpPr>
            <p:nvPr/>
          </p:nvSpPr>
          <p:spPr bwMode="auto">
            <a:xfrm>
              <a:off x="6540501" y="2834767"/>
              <a:ext cx="796925" cy="350838"/>
            </a:xfrm>
            <a:prstGeom prst="ellipse">
              <a:avLst/>
            </a:prstGeom>
            <a:solidFill>
              <a:srgbClr val="C5E5FB"/>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72" name="Text Box 1524"/>
            <p:cNvSpPr txBox="1">
              <a:spLocks noChangeArrowheads="1"/>
            </p:cNvSpPr>
            <p:nvPr/>
          </p:nvSpPr>
          <p:spPr bwMode="auto">
            <a:xfrm>
              <a:off x="6689105" y="289191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地区 </a:t>
              </a:r>
              <a:r>
                <a:rPr kumimoji="1" lang="en-US" altLang="zh-CN" sz="1600" dirty="0">
                  <a:latin typeface="Microsoft YaHei" panose="020B0503020204020204" pitchFamily="34" charset="-122"/>
                  <a:ea typeface="Microsoft YaHei" panose="020B0503020204020204" pitchFamily="34" charset="-122"/>
                </a:rPr>
                <a:t>ISP</a:t>
              </a:r>
            </a:p>
          </p:txBody>
        </p:sp>
        <p:sp>
          <p:nvSpPr>
            <p:cNvPr id="73" name="Line 276"/>
            <p:cNvSpPr>
              <a:spLocks noChangeShapeType="1"/>
            </p:cNvSpPr>
            <p:nvPr/>
          </p:nvSpPr>
          <p:spPr bwMode="auto">
            <a:xfrm>
              <a:off x="5640389" y="3203067"/>
              <a:ext cx="1093787" cy="0"/>
            </a:xfrm>
            <a:prstGeom prst="line">
              <a:avLst/>
            </a:prstGeom>
            <a:noFill/>
            <a:ln w="38100">
              <a:solidFill>
                <a:srgbClr val="C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Microsoft YaHei" panose="020B0503020204020204" pitchFamily="34" charset="-122"/>
                <a:ea typeface="Microsoft YaHei" panose="020B0503020204020204" pitchFamily="34" charset="-122"/>
              </a:endParaRPr>
            </a:p>
          </p:txBody>
        </p:sp>
        <p:sp>
          <p:nvSpPr>
            <p:cNvPr id="74" name="Oval 158"/>
            <p:cNvSpPr>
              <a:spLocks noChangeArrowheads="1"/>
            </p:cNvSpPr>
            <p:nvPr/>
          </p:nvSpPr>
          <p:spPr bwMode="auto">
            <a:xfrm>
              <a:off x="4073207" y="1920367"/>
              <a:ext cx="957583" cy="350838"/>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75" name="Text Box 1524"/>
            <p:cNvSpPr txBox="1">
              <a:spLocks noChangeArrowheads="1"/>
            </p:cNvSpPr>
            <p:nvPr/>
          </p:nvSpPr>
          <p:spPr bwMode="auto">
            <a:xfrm>
              <a:off x="4043803" y="1979536"/>
              <a:ext cx="1045969"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en-US" altLang="zh-CN" sz="1600" dirty="0">
                  <a:latin typeface="Microsoft YaHei" panose="020B0503020204020204" pitchFamily="34" charset="-122"/>
                  <a:ea typeface="Microsoft YaHei" panose="020B0503020204020204" pitchFamily="34" charset="-122"/>
                </a:rPr>
                <a:t>Tier</a:t>
              </a:r>
              <a:r>
                <a:rPr kumimoji="1" lang="zh-CN" altLang="en-US" sz="1600" dirty="0">
                  <a:latin typeface="Microsoft YaHei" panose="020B0503020204020204" pitchFamily="34" charset="-122"/>
                  <a:ea typeface="Microsoft YaHei" panose="020B0503020204020204" pitchFamily="34" charset="-122"/>
                </a:rPr>
                <a:t> </a:t>
              </a:r>
              <a:r>
                <a:rPr kumimoji="1" lang="en-US" altLang="zh-CN" sz="1600" dirty="0">
                  <a:latin typeface="Microsoft YaHei" panose="020B0503020204020204" pitchFamily="34" charset="-122"/>
                  <a:ea typeface="Microsoft YaHei" panose="020B0503020204020204" pitchFamily="34" charset="-122"/>
                </a:rPr>
                <a:t>One</a:t>
              </a:r>
              <a:r>
                <a:rPr kumimoji="1" lang="zh-CN" altLang="en-US" sz="1600" dirty="0">
                  <a:latin typeface="Microsoft YaHei" panose="020B0503020204020204" pitchFamily="34" charset="-122"/>
                  <a:ea typeface="Microsoft YaHei" panose="020B0503020204020204" pitchFamily="34" charset="-122"/>
                </a:rPr>
                <a:t> </a:t>
              </a:r>
              <a:r>
                <a:rPr kumimoji="1" lang="en-US" altLang="zh-CN" sz="1600" dirty="0">
                  <a:latin typeface="Microsoft YaHei" panose="020B0503020204020204" pitchFamily="34" charset="-122"/>
                  <a:ea typeface="Microsoft YaHei" panose="020B0503020204020204" pitchFamily="34" charset="-122"/>
                </a:rPr>
                <a:t>ISP</a:t>
              </a:r>
            </a:p>
          </p:txBody>
        </p:sp>
        <p:sp>
          <p:nvSpPr>
            <p:cNvPr id="76" name="Oval 167"/>
            <p:cNvSpPr>
              <a:spLocks noChangeArrowheads="1"/>
            </p:cNvSpPr>
            <p:nvPr/>
          </p:nvSpPr>
          <p:spPr bwMode="auto">
            <a:xfrm>
              <a:off x="2382839" y="2258506"/>
              <a:ext cx="795337" cy="350837"/>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77" name="Text Box 1524"/>
            <p:cNvSpPr txBox="1">
              <a:spLocks noChangeArrowheads="1"/>
            </p:cNvSpPr>
            <p:nvPr/>
          </p:nvSpPr>
          <p:spPr bwMode="auto">
            <a:xfrm>
              <a:off x="2420317" y="230136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主干 </a:t>
              </a:r>
              <a:r>
                <a:rPr kumimoji="1" lang="en-US" altLang="zh-CN" sz="1600" dirty="0">
                  <a:latin typeface="Microsoft YaHei" panose="020B0503020204020204" pitchFamily="34" charset="-122"/>
                  <a:ea typeface="Microsoft YaHei" panose="020B0503020204020204" pitchFamily="34" charset="-122"/>
                </a:rPr>
                <a:t>ISP</a:t>
              </a:r>
            </a:p>
          </p:txBody>
        </p:sp>
        <p:sp>
          <p:nvSpPr>
            <p:cNvPr id="78" name="Oval 173"/>
            <p:cNvSpPr>
              <a:spLocks noChangeArrowheads="1"/>
            </p:cNvSpPr>
            <p:nvPr/>
          </p:nvSpPr>
          <p:spPr bwMode="auto">
            <a:xfrm>
              <a:off x="5759450" y="2258506"/>
              <a:ext cx="795338" cy="350837"/>
            </a:xfrm>
            <a:prstGeom prst="ellipse">
              <a:avLst/>
            </a:prstGeom>
            <a:solidFill>
              <a:srgbClr val="CDF3C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Microsoft YaHei" panose="020B0503020204020204" pitchFamily="34" charset="-122"/>
                <a:ea typeface="Microsoft YaHei" panose="020B0503020204020204" pitchFamily="34" charset="-122"/>
              </a:endParaRPr>
            </a:p>
          </p:txBody>
        </p:sp>
        <p:sp>
          <p:nvSpPr>
            <p:cNvPr id="79" name="Text Box 1524"/>
            <p:cNvSpPr txBox="1">
              <a:spLocks noChangeArrowheads="1"/>
            </p:cNvSpPr>
            <p:nvPr/>
          </p:nvSpPr>
          <p:spPr bwMode="auto">
            <a:xfrm>
              <a:off x="5796930" y="2301367"/>
              <a:ext cx="723556" cy="220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600" dirty="0">
                  <a:latin typeface="Microsoft YaHei" panose="020B0503020204020204" pitchFamily="34" charset="-122"/>
                  <a:ea typeface="Microsoft YaHei" panose="020B0503020204020204" pitchFamily="34" charset="-122"/>
                </a:rPr>
                <a:t>主干 </a:t>
              </a:r>
              <a:r>
                <a:rPr kumimoji="1" lang="en-US" altLang="zh-CN" sz="1600" dirty="0">
                  <a:latin typeface="Microsoft YaHei" panose="020B0503020204020204" pitchFamily="34" charset="-122"/>
                  <a:ea typeface="Microsoft YaHei" panose="020B0503020204020204" pitchFamily="34" charset="-122"/>
                </a:rPr>
                <a:t>ISP</a:t>
              </a:r>
            </a:p>
          </p:txBody>
        </p:sp>
      </p:grpSp>
      <p:sp>
        <p:nvSpPr>
          <p:cNvPr id="103" name="Text Box 1524"/>
          <p:cNvSpPr txBox="1">
            <a:spLocks noChangeArrowheads="1"/>
          </p:cNvSpPr>
          <p:nvPr/>
        </p:nvSpPr>
        <p:spPr bwMode="auto">
          <a:xfrm>
            <a:off x="8553421" y="5235080"/>
            <a:ext cx="595035" cy="338554"/>
          </a:xfrm>
          <a:prstGeom prst="rect">
            <a:avLst/>
          </a:prstGeom>
          <a:noFill/>
          <a:ln>
            <a:noFill/>
          </a:ln>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defRPr/>
            </a:pPr>
            <a:r>
              <a:rPr kumimoji="1" lang="zh-CN" altLang="en-US" sz="1600" dirty="0">
                <a:solidFill>
                  <a:schemeClr val="bg1"/>
                </a:solidFill>
                <a:latin typeface="Microsoft YaHei" panose="020B0503020204020204" pitchFamily="34" charset="-122"/>
                <a:ea typeface="Microsoft YaHei" panose="020B0503020204020204" pitchFamily="34" charset="-122"/>
              </a:rPr>
              <a:t>公司</a:t>
            </a:r>
            <a:endParaRPr kumimoji="1" lang="en-US" altLang="zh-CN" sz="1600" dirty="0">
              <a:solidFill>
                <a:schemeClr val="bg1"/>
              </a:solidFill>
              <a:latin typeface="Microsoft YaHei" panose="020B0503020204020204" pitchFamily="34" charset="-122"/>
              <a:ea typeface="Microsoft YaHei" panose="020B0503020204020204" pitchFamily="34" charset="-122"/>
            </a:endParaRPr>
          </a:p>
        </p:txBody>
      </p:sp>
      <p:sp>
        <p:nvSpPr>
          <p:cNvPr id="105" name="Text Box 1524"/>
          <p:cNvSpPr txBox="1">
            <a:spLocks noChangeArrowheads="1"/>
          </p:cNvSpPr>
          <p:nvPr/>
        </p:nvSpPr>
        <p:spPr bwMode="auto">
          <a:xfrm>
            <a:off x="9091734" y="1388282"/>
            <a:ext cx="2854220" cy="369332"/>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b="1" dirty="0">
                <a:solidFill>
                  <a:srgbClr val="7030A0"/>
                </a:solidFill>
                <a:latin typeface="Microsoft YaHei" panose="020B0503020204020204" pitchFamily="34" charset="-122"/>
                <a:ea typeface="Microsoft YaHei" panose="020B0503020204020204" pitchFamily="34" charset="-122"/>
              </a:rPr>
              <a:t>IXP</a:t>
            </a:r>
            <a:r>
              <a:rPr lang="zh-CN" altLang="en-US" b="1" dirty="0">
                <a:solidFill>
                  <a:srgbClr val="7030A0"/>
                </a:solidFill>
                <a:latin typeface="Microsoft YaHei" panose="020B0503020204020204" pitchFamily="34" charset="-122"/>
                <a:ea typeface="Microsoft YaHei" panose="020B0503020204020204" pitchFamily="34" charset="-122"/>
              </a:rPr>
              <a:t>或</a:t>
            </a:r>
            <a:r>
              <a:rPr lang="en-US" altLang="zh-CN" b="1" dirty="0">
                <a:solidFill>
                  <a:srgbClr val="7030A0"/>
                </a:solidFill>
                <a:latin typeface="Microsoft YaHei" panose="020B0503020204020204" pitchFamily="34" charset="-122"/>
                <a:ea typeface="Microsoft YaHei" panose="020B0503020204020204" pitchFamily="34" charset="-122"/>
              </a:rPr>
              <a:t>IX</a:t>
            </a:r>
            <a:r>
              <a:rPr lang="zh-CN" altLang="en-US" b="1" dirty="0">
                <a:solidFill>
                  <a:srgbClr val="7030A0"/>
                </a:solidFill>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互联网交换点</a:t>
            </a:r>
            <a:r>
              <a:rPr lang="en-US" altLang="zh-CN" dirty="0">
                <a:latin typeface="Microsoft YaHei" panose="020B0503020204020204" pitchFamily="34" charset="-122"/>
                <a:ea typeface="Microsoft YaHei" panose="020B0503020204020204" pitchFamily="34" charset="-122"/>
              </a:rPr>
              <a:t> </a:t>
            </a:r>
            <a:endParaRPr kumimoji="1" lang="en-US" altLang="zh-CN" dirty="0">
              <a:latin typeface="Microsoft YaHei" panose="020B0503020204020204" pitchFamily="34" charset="-122"/>
              <a:ea typeface="Microsoft YaHei" panose="020B0503020204020204" pitchFamily="34" charset="-122"/>
            </a:endParaRPr>
          </a:p>
        </p:txBody>
      </p:sp>
      <p:cxnSp>
        <p:nvCxnSpPr>
          <p:cNvPr id="107" name="AutoShape 261"/>
          <p:cNvCxnSpPr>
            <a:cxnSpLocks noChangeShapeType="1"/>
            <a:stCxn id="65" idx="5"/>
            <a:endCxn id="49" idx="0"/>
          </p:cNvCxnSpPr>
          <p:nvPr/>
        </p:nvCxnSpPr>
        <p:spPr bwMode="auto">
          <a:xfrm>
            <a:off x="4494705" y="3204483"/>
            <a:ext cx="357984" cy="790378"/>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AutoShape 254"/>
          <p:cNvCxnSpPr>
            <a:cxnSpLocks noChangeShapeType="1"/>
            <a:stCxn id="56" idx="3"/>
            <a:endCxn id="58" idx="1"/>
          </p:cNvCxnSpPr>
          <p:nvPr/>
        </p:nvCxnSpPr>
        <p:spPr bwMode="auto">
          <a:xfrm>
            <a:off x="8701635" y="4260607"/>
            <a:ext cx="219842" cy="0"/>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AutoShape 287"/>
          <p:cNvCxnSpPr>
            <a:cxnSpLocks noChangeShapeType="1"/>
            <a:stCxn id="55" idx="3"/>
            <a:endCxn id="36" idx="0"/>
          </p:cNvCxnSpPr>
          <p:nvPr/>
        </p:nvCxnSpPr>
        <p:spPr bwMode="auto">
          <a:xfrm flipH="1">
            <a:off x="7404756" y="4428170"/>
            <a:ext cx="576094" cy="714095"/>
          </a:xfrm>
          <a:prstGeom prst="straightConnector1">
            <a:avLst/>
          </a:prstGeom>
          <a:noFill/>
          <a:ln w="19050">
            <a:solidFill>
              <a:srgbClr val="0089F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标题 1">
            <a:extLst>
              <a:ext uri="{FF2B5EF4-FFF2-40B4-BE49-F238E27FC236}">
                <a16:creationId xmlns:a16="http://schemas.microsoft.com/office/drawing/2014/main" id="{CC8E6A5B-5303-3B48-8DC9-FB52411D5E4F}"/>
              </a:ext>
            </a:extLst>
          </p:cNvPr>
          <p:cNvSpPr>
            <a:spLocks noGrp="1"/>
          </p:cNvSpPr>
          <p:nvPr>
            <p:ph type="title"/>
          </p:nvPr>
        </p:nvSpPr>
        <p:spPr/>
        <p:txBody>
          <a:bodyPr>
            <a:normAutofit/>
          </a:bodyPr>
          <a:lstStyle/>
          <a:p>
            <a:r>
              <a:rPr kumimoji="1" lang="en-US" altLang="zh-CN" dirty="0"/>
              <a:t>1.3.1 Internet</a:t>
            </a:r>
            <a:r>
              <a:rPr kumimoji="1" lang="zh-CN" altLang="en-US" dirty="0"/>
              <a:t>互联网（层级结构）</a:t>
            </a:r>
            <a:endParaRPr lang="zh-CN" altLang="en-US" b="1" dirty="0">
              <a:latin typeface="Microsoft YaHei" panose="020B0503020204020204" pitchFamily="34" charset="-122"/>
              <a:ea typeface="Microsoft YaHei" panose="020B0503020204020204" pitchFamily="34" charset="-122"/>
            </a:endParaRPr>
          </a:p>
        </p:txBody>
      </p:sp>
      <p:sp>
        <p:nvSpPr>
          <p:cNvPr id="46" name="内容占位符 45">
            <a:extLst>
              <a:ext uri="{FF2B5EF4-FFF2-40B4-BE49-F238E27FC236}">
                <a16:creationId xmlns:a16="http://schemas.microsoft.com/office/drawing/2014/main" id="{692A52C3-AC13-2541-AC7D-4F0CCF206343}"/>
              </a:ext>
            </a:extLst>
          </p:cNvPr>
          <p:cNvSpPr>
            <a:spLocks noGrp="1"/>
          </p:cNvSpPr>
          <p:nvPr>
            <p:ph idx="1"/>
          </p:nvPr>
        </p:nvSpPr>
        <p:spPr>
          <a:xfrm>
            <a:off x="359540" y="1357710"/>
            <a:ext cx="4976254" cy="5297733"/>
          </a:xfrm>
        </p:spPr>
        <p:txBody>
          <a:bodyPr>
            <a:normAutofit lnSpcReduction="10000"/>
          </a:bodyPr>
          <a:lstStyle/>
          <a:p>
            <a:r>
              <a:rPr lang="en-US" altLang="zh-CN" sz="2400" dirty="0"/>
              <a:t>Tier-1</a:t>
            </a:r>
            <a:r>
              <a:rPr lang="zh-CN" altLang="en-US" sz="2400" dirty="0"/>
              <a:t> </a:t>
            </a:r>
            <a:r>
              <a:rPr lang="en-US" altLang="zh-CN" sz="2400" dirty="0"/>
              <a:t>ISP</a:t>
            </a:r>
          </a:p>
          <a:p>
            <a:pPr lvl="1"/>
            <a:r>
              <a:rPr lang="zh-CN" altLang="en-US" sz="2000" dirty="0"/>
              <a:t>全球最高级别</a:t>
            </a:r>
            <a:r>
              <a:rPr lang="en-US" altLang="zh-CN" sz="2000" dirty="0"/>
              <a:t>ISP</a:t>
            </a:r>
            <a:r>
              <a:rPr lang="zh-CN" altLang="en-US" sz="2000" dirty="0"/>
              <a:t>，互不结算</a:t>
            </a:r>
            <a:endParaRPr lang="en-US" altLang="zh-CN" sz="2000" dirty="0"/>
          </a:p>
          <a:p>
            <a:pPr lvl="1"/>
            <a:r>
              <a:rPr lang="zh-CN" altLang="en-US" sz="2000" dirty="0"/>
              <a:t>中国电信、中国联通</a:t>
            </a:r>
            <a:endParaRPr lang="en-US" altLang="zh-CN" sz="2000" dirty="0"/>
          </a:p>
          <a:p>
            <a:pPr lvl="1"/>
            <a:r>
              <a:rPr lang="zh-CN" altLang="en-US" sz="2000" dirty="0"/>
              <a:t>美国</a:t>
            </a:r>
            <a:r>
              <a:rPr lang="en-US" altLang="zh-CN" sz="2000" dirty="0"/>
              <a:t>AT&amp;T</a:t>
            </a:r>
          </a:p>
          <a:p>
            <a:pPr lvl="1"/>
            <a:r>
              <a:rPr lang="zh-CN" altLang="en-US" sz="2000" dirty="0"/>
              <a:t>美国</a:t>
            </a:r>
            <a:r>
              <a:rPr lang="en-US" altLang="zh-CN" sz="2000" dirty="0"/>
              <a:t>Verizon</a:t>
            </a:r>
          </a:p>
          <a:p>
            <a:pPr lvl="1"/>
            <a:r>
              <a:rPr lang="zh-CN" altLang="en-US" sz="2000" dirty="0"/>
              <a:t>美国</a:t>
            </a:r>
            <a:r>
              <a:rPr lang="en-US" altLang="zh-CN" sz="2000" dirty="0"/>
              <a:t>Sprint</a:t>
            </a:r>
          </a:p>
          <a:p>
            <a:pPr lvl="1"/>
            <a:r>
              <a:rPr lang="zh-CN" altLang="en-US" sz="2000" dirty="0"/>
              <a:t>日本</a:t>
            </a:r>
            <a:r>
              <a:rPr lang="en-US" altLang="zh-CN" sz="2000" dirty="0"/>
              <a:t>NTT</a:t>
            </a:r>
          </a:p>
          <a:p>
            <a:pPr lvl="1"/>
            <a:r>
              <a:rPr lang="zh-CN" altLang="en-US" sz="2000" dirty="0"/>
              <a:t>日本</a:t>
            </a:r>
            <a:r>
              <a:rPr lang="en-US" altLang="zh-CN" sz="2000" dirty="0"/>
              <a:t>KDDI</a:t>
            </a:r>
          </a:p>
          <a:p>
            <a:pPr lvl="1"/>
            <a:r>
              <a:rPr lang="zh-CN" altLang="en-US" sz="2000" dirty="0"/>
              <a:t>新加坡</a:t>
            </a:r>
            <a:r>
              <a:rPr lang="en-US" altLang="zh-CN" sz="2000" dirty="0"/>
              <a:t>SingTel</a:t>
            </a:r>
          </a:p>
          <a:p>
            <a:pPr lvl="1"/>
            <a:r>
              <a:rPr lang="zh-CN" altLang="en-US" sz="2000" dirty="0"/>
              <a:t>英国</a:t>
            </a:r>
            <a:r>
              <a:rPr lang="en-US" altLang="zh-CN" sz="2000" dirty="0"/>
              <a:t>British Telecom</a:t>
            </a:r>
          </a:p>
          <a:p>
            <a:pPr lvl="1"/>
            <a:r>
              <a:rPr lang="zh-CN" altLang="en-US" sz="2000" dirty="0"/>
              <a:t>德国</a:t>
            </a:r>
            <a:r>
              <a:rPr lang="en-US" altLang="zh-CN" sz="2000" dirty="0"/>
              <a:t>Deutsche Telekom</a:t>
            </a:r>
          </a:p>
          <a:p>
            <a:r>
              <a:rPr lang="en-US" altLang="zh-CN" sz="2400" dirty="0"/>
              <a:t>Tier-2 ISP</a:t>
            </a:r>
          </a:p>
          <a:p>
            <a:pPr lvl="1"/>
            <a:r>
              <a:rPr lang="zh-CN" altLang="en-US" sz="2000" dirty="0"/>
              <a:t>教育网、中国移动</a:t>
            </a:r>
            <a:endParaRPr lang="en-US" altLang="zh-CN" sz="2000" dirty="0"/>
          </a:p>
          <a:p>
            <a:pPr lvl="1"/>
            <a:r>
              <a:rPr lang="zh-CN" altLang="en-US" sz="2000" dirty="0"/>
              <a:t>往往需要向更高级别</a:t>
            </a:r>
            <a:r>
              <a:rPr lang="en-US" altLang="zh-CN" sz="2000" dirty="0"/>
              <a:t>ISP</a:t>
            </a:r>
            <a:r>
              <a:rPr lang="zh-CN" altLang="en-US" sz="2000" dirty="0"/>
              <a:t>交流量费</a:t>
            </a:r>
          </a:p>
        </p:txBody>
      </p:sp>
      <p:sp>
        <p:nvSpPr>
          <p:cNvPr id="9" name="矩形 8">
            <a:extLst>
              <a:ext uri="{FF2B5EF4-FFF2-40B4-BE49-F238E27FC236}">
                <a16:creationId xmlns:a16="http://schemas.microsoft.com/office/drawing/2014/main" id="{508CDD53-1C61-FA41-9476-30CE744353E7}"/>
              </a:ext>
            </a:extLst>
          </p:cNvPr>
          <p:cNvSpPr/>
          <p:nvPr/>
        </p:nvSpPr>
        <p:spPr>
          <a:xfrm>
            <a:off x="5845344" y="5823260"/>
            <a:ext cx="4411785" cy="707886"/>
          </a:xfrm>
          <a:prstGeom prst="rect">
            <a:avLst/>
          </a:prstGeom>
        </p:spPr>
        <p:txBody>
          <a:bodyPr wrap="none">
            <a:spAutoFit/>
          </a:bodyPr>
          <a:lstStyle/>
          <a:p>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网络服务提供商（</a:t>
            </a:r>
            <a:r>
              <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ISP</a:t>
            </a: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）及层次化结构</a:t>
            </a:r>
            <a:endPar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endParaRPr>
          </a:p>
          <a:p>
            <a:pPr algn="ctr"/>
            <a:r>
              <a:rPr lang="zh-CN" altLang="en-US"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（实际网络结构要复杂得多）</a:t>
            </a:r>
          </a:p>
        </p:txBody>
      </p:sp>
      <p:sp>
        <p:nvSpPr>
          <p:cNvPr id="3" name="灯片编号占位符 2">
            <a:extLst>
              <a:ext uri="{FF2B5EF4-FFF2-40B4-BE49-F238E27FC236}">
                <a16:creationId xmlns:a16="http://schemas.microsoft.com/office/drawing/2014/main" id="{BC256632-2014-6C41-9686-E33EFA3CE6D7}"/>
              </a:ext>
            </a:extLst>
          </p:cNvPr>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110" name="矩形 109">
            <a:extLst>
              <a:ext uri="{FF2B5EF4-FFF2-40B4-BE49-F238E27FC236}">
                <a16:creationId xmlns:a16="http://schemas.microsoft.com/office/drawing/2014/main" id="{6D03C045-00C7-6140-B3BB-276AA5CF02CB}"/>
              </a:ext>
            </a:extLst>
          </p:cNvPr>
          <p:cNvSpPr/>
          <p:nvPr/>
        </p:nvSpPr>
        <p:spPr>
          <a:xfrm>
            <a:off x="4265919" y="6518067"/>
            <a:ext cx="3262432" cy="338554"/>
          </a:xfrm>
          <a:prstGeom prst="rect">
            <a:avLst/>
          </a:prstGeom>
        </p:spPr>
        <p:txBody>
          <a:bodyPr wrap="none">
            <a:spAutoFit/>
          </a:bodyPr>
          <a:lstStyle/>
          <a:p>
            <a:r>
              <a:rPr lang="zh-CN" altLang="en-US" sz="1600" dirty="0">
                <a:solidFill>
                  <a:schemeClr val="bg1">
                    <a:lumMod val="65000"/>
                  </a:schemeClr>
                </a:solidFill>
                <a:latin typeface="Microsoft YaHei" panose="020B0503020204020204" pitchFamily="34" charset="-122"/>
                <a:ea typeface="Microsoft YaHei" panose="020B0503020204020204" pitchFamily="34" charset="-122"/>
              </a:rPr>
              <a:t>引自：</a:t>
            </a:r>
            <a:r>
              <a:rPr lang="en-US" altLang="zh-CN" sz="1600" dirty="0">
                <a:solidFill>
                  <a:schemeClr val="bg1">
                    <a:lumMod val="65000"/>
                  </a:schemeClr>
                </a:solidFill>
                <a:latin typeface="Microsoft YaHei" panose="020B0503020204020204" pitchFamily="34" charset="-122"/>
                <a:ea typeface="Microsoft YaHei" panose="020B0503020204020204" pitchFamily="34" charset="-122"/>
              </a:rPr>
              <a:t>《</a:t>
            </a:r>
            <a:r>
              <a:rPr lang="zh-CN" altLang="en-US" sz="1600" dirty="0">
                <a:solidFill>
                  <a:schemeClr val="bg1">
                    <a:lumMod val="65000"/>
                  </a:schemeClr>
                </a:solidFill>
                <a:latin typeface="Microsoft YaHei" panose="020B0503020204020204" pitchFamily="34" charset="-122"/>
                <a:ea typeface="Microsoft YaHei" panose="020B0503020204020204" pitchFamily="34" charset="-122"/>
              </a:rPr>
              <a:t>计算机网络</a:t>
            </a:r>
            <a:r>
              <a:rPr lang="en-US" altLang="zh-CN" sz="1600" dirty="0">
                <a:solidFill>
                  <a:schemeClr val="bg1">
                    <a:lumMod val="65000"/>
                  </a:schemeClr>
                </a:solidFill>
                <a:latin typeface="Microsoft YaHei" panose="020B0503020204020204" pitchFamily="34" charset="-122"/>
                <a:ea typeface="Microsoft YaHei" panose="020B0503020204020204" pitchFamily="34" charset="-122"/>
              </a:rPr>
              <a:t>》</a:t>
            </a:r>
            <a:r>
              <a:rPr lang="zh-CN" altLang="en-US" sz="1600" dirty="0">
                <a:solidFill>
                  <a:schemeClr val="bg1">
                    <a:lumMod val="65000"/>
                  </a:schemeClr>
                </a:solidFill>
                <a:latin typeface="Microsoft YaHei" panose="020B0503020204020204" pitchFamily="34" charset="-122"/>
                <a:ea typeface="Microsoft YaHei" panose="020B0503020204020204" pitchFamily="34" charset="-122"/>
              </a:rPr>
              <a:t>，徐敬东等</a:t>
            </a:r>
            <a:endParaRPr lang="zh-CN" altLang="en-US" sz="1600" dirty="0">
              <a:solidFill>
                <a:schemeClr val="bg1">
                  <a:lumMod val="65000"/>
                </a:schemeClr>
              </a:solidFill>
            </a:endParaRPr>
          </a:p>
        </p:txBody>
      </p:sp>
      <p:sp>
        <p:nvSpPr>
          <p:cNvPr id="111" name="文本框 110">
            <a:extLst>
              <a:ext uri="{FF2B5EF4-FFF2-40B4-BE49-F238E27FC236}">
                <a16:creationId xmlns:a16="http://schemas.microsoft.com/office/drawing/2014/main" id="{819248C5-4236-7A48-8494-0D3F01345AEE}"/>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1.3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spTree>
    <p:extLst>
      <p:ext uri="{BB962C8B-B14F-4D97-AF65-F5344CB8AC3E}">
        <p14:creationId xmlns:p14="http://schemas.microsoft.com/office/powerpoint/2010/main" val="2877039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kumimoji="1" lang="en-US" altLang="zh-CN" dirty="0"/>
              <a:t>1.3.1 Internet</a:t>
            </a:r>
            <a:r>
              <a:rPr kumimoji="1" lang="zh-CN" altLang="en-US" dirty="0"/>
              <a:t>互联网</a:t>
            </a:r>
            <a:r>
              <a:rPr kumimoji="1" lang="en-US" altLang="zh-CN" dirty="0"/>
              <a:t>(</a:t>
            </a:r>
            <a:r>
              <a:rPr kumimoji="1" lang="zh-CN" altLang="en-US" dirty="0"/>
              <a:t>构成</a:t>
            </a:r>
            <a:r>
              <a:rPr kumimoji="1" lang="en-US" altLang="zh-CN" dirty="0"/>
              <a:t>)</a:t>
            </a:r>
            <a:endParaRPr kumimoji="1" lang="zh-CN" altLang="en-US" dirty="0"/>
          </a:p>
        </p:txBody>
      </p:sp>
      <p:grpSp>
        <p:nvGrpSpPr>
          <p:cNvPr id="6" name="Group 800">
            <a:extLst>
              <a:ext uri="{FF2B5EF4-FFF2-40B4-BE49-F238E27FC236}">
                <a16:creationId xmlns:a16="http://schemas.microsoft.com/office/drawing/2014/main" id="{7B7BA698-21A4-324A-9F53-B84E0F933686}"/>
              </a:ext>
            </a:extLst>
          </p:cNvPr>
          <p:cNvGrpSpPr/>
          <p:nvPr/>
        </p:nvGrpSpPr>
        <p:grpSpPr>
          <a:xfrm>
            <a:off x="6576935" y="1317389"/>
            <a:ext cx="5395871" cy="4750089"/>
            <a:chOff x="7211070" y="1381732"/>
            <a:chExt cx="4716352" cy="4906833"/>
          </a:xfrm>
        </p:grpSpPr>
        <p:sp>
          <p:nvSpPr>
            <p:cNvPr id="421" name="Freeform 370">
              <a:extLst>
                <a:ext uri="{FF2B5EF4-FFF2-40B4-BE49-F238E27FC236}">
                  <a16:creationId xmlns:a16="http://schemas.microsoft.com/office/drawing/2014/main" id="{A20A324A-44E7-034D-8D27-11459F8F59B6}"/>
                </a:ext>
              </a:extLst>
            </p:cNvPr>
            <p:cNvSpPr/>
            <p:nvPr/>
          </p:nvSpPr>
          <p:spPr>
            <a:xfrm>
              <a:off x="9048399" y="3278377"/>
              <a:ext cx="1124807" cy="1077683"/>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1" fmla="*/ 434989 w 1537226"/>
                <a:gd name="connsiteY0-2" fmla="*/ 253346 h 1763594"/>
                <a:gd name="connsiteX1-3" fmla="*/ 488 w 1537226"/>
                <a:gd name="connsiteY1-4" fmla="*/ 921706 h 1763594"/>
                <a:gd name="connsiteX2-5" fmla="*/ 368142 w 1537226"/>
                <a:gd name="connsiteY2-6" fmla="*/ 1489812 h 1763594"/>
                <a:gd name="connsiteX3-7" fmla="*/ 1187008 w 1537226"/>
                <a:gd name="connsiteY3-8" fmla="*/ 1757156 h 1763594"/>
                <a:gd name="connsiteX4-9" fmla="*/ 1521239 w 1537226"/>
                <a:gd name="connsiteY4-10" fmla="*/ 1239177 h 1763594"/>
                <a:gd name="connsiteX5-11" fmla="*/ 1468998 w 1537226"/>
                <a:gd name="connsiteY5-12" fmla="*/ 654362 h 1763594"/>
                <a:gd name="connsiteX6-13" fmla="*/ 1337412 w 1537226"/>
                <a:gd name="connsiteY6-14" fmla="*/ 136383 h 1763594"/>
                <a:gd name="connsiteX7-15" fmla="*/ 1086739 w 1537226"/>
                <a:gd name="connsiteY7-16" fmla="*/ 2711 h 1763594"/>
                <a:gd name="connsiteX8-17" fmla="*/ 434989 w 1537226"/>
                <a:gd name="connsiteY8-18" fmla="*/ 253346 h 1763594"/>
                <a:gd name="connsiteX0-19" fmla="*/ 434989 w 1537226"/>
                <a:gd name="connsiteY0-20" fmla="*/ 253346 h 1763594"/>
                <a:gd name="connsiteX1-21" fmla="*/ 488 w 1537226"/>
                <a:gd name="connsiteY1-22" fmla="*/ 921706 h 1763594"/>
                <a:gd name="connsiteX2-23" fmla="*/ 368142 w 1537226"/>
                <a:gd name="connsiteY2-24" fmla="*/ 1489812 h 1763594"/>
                <a:gd name="connsiteX3-25" fmla="*/ 1187008 w 1537226"/>
                <a:gd name="connsiteY3-26" fmla="*/ 1757156 h 1763594"/>
                <a:gd name="connsiteX4-27" fmla="*/ 1521239 w 1537226"/>
                <a:gd name="connsiteY4-28" fmla="*/ 1239177 h 1763594"/>
                <a:gd name="connsiteX5-29" fmla="*/ 1468998 w 1537226"/>
                <a:gd name="connsiteY5-30" fmla="*/ 654362 h 1763594"/>
                <a:gd name="connsiteX6-31" fmla="*/ 1337412 w 1537226"/>
                <a:gd name="connsiteY6-32" fmla="*/ 136383 h 1763594"/>
                <a:gd name="connsiteX7-33" fmla="*/ 839572 w 1537226"/>
                <a:gd name="connsiteY7-34" fmla="*/ 2711 h 1763594"/>
                <a:gd name="connsiteX8-35" fmla="*/ 434989 w 1537226"/>
                <a:gd name="connsiteY8-36" fmla="*/ 253346 h 1763594"/>
                <a:gd name="connsiteX0-37" fmla="*/ 360357 w 1536743"/>
                <a:gd name="connsiteY0-38" fmla="*/ 534641 h 1782088"/>
                <a:gd name="connsiteX1-39" fmla="*/ 5 w 1536743"/>
                <a:gd name="connsiteY1-40" fmla="*/ 940200 h 1782088"/>
                <a:gd name="connsiteX2-41" fmla="*/ 367659 w 1536743"/>
                <a:gd name="connsiteY2-42" fmla="*/ 1508306 h 1782088"/>
                <a:gd name="connsiteX3-43" fmla="*/ 1186525 w 1536743"/>
                <a:gd name="connsiteY3-44" fmla="*/ 1775650 h 1782088"/>
                <a:gd name="connsiteX4-45" fmla="*/ 1520756 w 1536743"/>
                <a:gd name="connsiteY4-46" fmla="*/ 1257671 h 1782088"/>
                <a:gd name="connsiteX5-47" fmla="*/ 1468515 w 1536743"/>
                <a:gd name="connsiteY5-48" fmla="*/ 672856 h 1782088"/>
                <a:gd name="connsiteX6-49" fmla="*/ 1336929 w 1536743"/>
                <a:gd name="connsiteY6-50" fmla="*/ 154877 h 1782088"/>
                <a:gd name="connsiteX7-51" fmla="*/ 839089 w 1536743"/>
                <a:gd name="connsiteY7-52" fmla="*/ 21205 h 1782088"/>
                <a:gd name="connsiteX8-53" fmla="*/ 360357 w 1536743"/>
                <a:gd name="connsiteY8-54" fmla="*/ 534641 h 1782088"/>
                <a:gd name="connsiteX0-55" fmla="*/ 360355 w 1536741"/>
                <a:gd name="connsiteY0-56" fmla="*/ 534641 h 1782088"/>
                <a:gd name="connsiteX1-57" fmla="*/ 3 w 1536741"/>
                <a:gd name="connsiteY1-58" fmla="*/ 940200 h 1782088"/>
                <a:gd name="connsiteX2-59" fmla="*/ 367657 w 1536741"/>
                <a:gd name="connsiteY2-60" fmla="*/ 1508306 h 1782088"/>
                <a:gd name="connsiteX3-61" fmla="*/ 1186523 w 1536741"/>
                <a:gd name="connsiteY3-62" fmla="*/ 1775650 h 1782088"/>
                <a:gd name="connsiteX4-63" fmla="*/ 1520754 w 1536741"/>
                <a:gd name="connsiteY4-64" fmla="*/ 1257671 h 1782088"/>
                <a:gd name="connsiteX5-65" fmla="*/ 1468513 w 1536741"/>
                <a:gd name="connsiteY5-66" fmla="*/ 672856 h 1782088"/>
                <a:gd name="connsiteX6-67" fmla="*/ 1336927 w 1536741"/>
                <a:gd name="connsiteY6-68" fmla="*/ 154877 h 1782088"/>
                <a:gd name="connsiteX7-69" fmla="*/ 839087 w 1536741"/>
                <a:gd name="connsiteY7-70" fmla="*/ 21205 h 1782088"/>
                <a:gd name="connsiteX8-71" fmla="*/ 360355 w 1536741"/>
                <a:gd name="connsiteY8-72" fmla="*/ 534641 h 1782088"/>
                <a:gd name="connsiteX0-73" fmla="*/ 382604 w 1558990"/>
                <a:gd name="connsiteY0-74" fmla="*/ 534641 h 1810599"/>
                <a:gd name="connsiteX1-75" fmla="*/ 22252 w 1558990"/>
                <a:gd name="connsiteY1-76" fmla="*/ 940200 h 1810599"/>
                <a:gd name="connsiteX2-77" fmla="*/ 167457 w 1558990"/>
                <a:gd name="connsiteY2-78" fmla="*/ 1672556 h 1810599"/>
                <a:gd name="connsiteX3-79" fmla="*/ 1208772 w 1558990"/>
                <a:gd name="connsiteY3-80" fmla="*/ 1775650 h 1810599"/>
                <a:gd name="connsiteX4-81" fmla="*/ 1543003 w 1558990"/>
                <a:gd name="connsiteY4-82" fmla="*/ 1257671 h 1810599"/>
                <a:gd name="connsiteX5-83" fmla="*/ 1490762 w 1558990"/>
                <a:gd name="connsiteY5-84" fmla="*/ 672856 h 1810599"/>
                <a:gd name="connsiteX6-85" fmla="*/ 1359176 w 1558990"/>
                <a:gd name="connsiteY6-86" fmla="*/ 154877 h 1810599"/>
                <a:gd name="connsiteX7-87" fmla="*/ 861336 w 1558990"/>
                <a:gd name="connsiteY7-88" fmla="*/ 21205 h 1810599"/>
                <a:gd name="connsiteX8-89" fmla="*/ 382604 w 1558990"/>
                <a:gd name="connsiteY8-90" fmla="*/ 534641 h 1810599"/>
                <a:gd name="connsiteX0-91" fmla="*/ 393458 w 1593840"/>
                <a:gd name="connsiteY0-92" fmla="*/ 534641 h 1793264"/>
                <a:gd name="connsiteX1-93" fmla="*/ 33106 w 1593840"/>
                <a:gd name="connsiteY1-94" fmla="*/ 940200 h 1793264"/>
                <a:gd name="connsiteX2-95" fmla="*/ 178311 w 1593840"/>
                <a:gd name="connsiteY2-96" fmla="*/ 1672556 h 1793264"/>
                <a:gd name="connsiteX3-97" fmla="*/ 1464139 w 1593840"/>
                <a:gd name="connsiteY3-98" fmla="*/ 1752440 h 1793264"/>
                <a:gd name="connsiteX4-99" fmla="*/ 1553857 w 1593840"/>
                <a:gd name="connsiteY4-100" fmla="*/ 1257671 h 1793264"/>
                <a:gd name="connsiteX5-101" fmla="*/ 1501616 w 1593840"/>
                <a:gd name="connsiteY5-102" fmla="*/ 672856 h 1793264"/>
                <a:gd name="connsiteX6-103" fmla="*/ 1370030 w 1593840"/>
                <a:gd name="connsiteY6-104" fmla="*/ 154877 h 1793264"/>
                <a:gd name="connsiteX7-105" fmla="*/ 872190 w 1593840"/>
                <a:gd name="connsiteY7-106" fmla="*/ 21205 h 1793264"/>
                <a:gd name="connsiteX8-107" fmla="*/ 393458 w 1593840"/>
                <a:gd name="connsiteY8-108" fmla="*/ 534641 h 1793264"/>
                <a:gd name="connsiteX0-109" fmla="*/ 393458 w 1566550"/>
                <a:gd name="connsiteY0-110" fmla="*/ 534641 h 1840341"/>
                <a:gd name="connsiteX1-111" fmla="*/ 33106 w 1566550"/>
                <a:gd name="connsiteY1-112" fmla="*/ 940200 h 1840341"/>
                <a:gd name="connsiteX2-113" fmla="*/ 178311 w 1566550"/>
                <a:gd name="connsiteY2-114" fmla="*/ 1672556 h 1840341"/>
                <a:gd name="connsiteX3-115" fmla="*/ 1464139 w 1566550"/>
                <a:gd name="connsiteY3-116" fmla="*/ 1752440 h 1840341"/>
                <a:gd name="connsiteX4-117" fmla="*/ 1553857 w 1566550"/>
                <a:gd name="connsiteY4-118" fmla="*/ 1257671 h 1840341"/>
                <a:gd name="connsiteX5-119" fmla="*/ 1501616 w 1566550"/>
                <a:gd name="connsiteY5-120" fmla="*/ 672856 h 1840341"/>
                <a:gd name="connsiteX6-121" fmla="*/ 1370030 w 1566550"/>
                <a:gd name="connsiteY6-122" fmla="*/ 154877 h 1840341"/>
                <a:gd name="connsiteX7-123" fmla="*/ 872190 w 1566550"/>
                <a:gd name="connsiteY7-124" fmla="*/ 21205 h 1840341"/>
                <a:gd name="connsiteX8-125" fmla="*/ 393458 w 1566550"/>
                <a:gd name="connsiteY8-126" fmla="*/ 534641 h 1840341"/>
                <a:gd name="connsiteX0-127" fmla="*/ 393458 w 1555557"/>
                <a:gd name="connsiteY0-128" fmla="*/ 534641 h 1787187"/>
                <a:gd name="connsiteX1-129" fmla="*/ 33106 w 1555557"/>
                <a:gd name="connsiteY1-130" fmla="*/ 940200 h 1787187"/>
                <a:gd name="connsiteX2-131" fmla="*/ 178311 w 1555557"/>
                <a:gd name="connsiteY2-132" fmla="*/ 1672556 h 1787187"/>
                <a:gd name="connsiteX3-133" fmla="*/ 1464139 w 1555557"/>
                <a:gd name="connsiteY3-134" fmla="*/ 1752440 h 1787187"/>
                <a:gd name="connsiteX4-135" fmla="*/ 1553857 w 1555557"/>
                <a:gd name="connsiteY4-136" fmla="*/ 1257671 h 1787187"/>
                <a:gd name="connsiteX5-137" fmla="*/ 1501616 w 1555557"/>
                <a:gd name="connsiteY5-138" fmla="*/ 672856 h 1787187"/>
                <a:gd name="connsiteX6-139" fmla="*/ 1370030 w 1555557"/>
                <a:gd name="connsiteY6-140" fmla="*/ 154877 h 1787187"/>
                <a:gd name="connsiteX7-141" fmla="*/ 872190 w 1555557"/>
                <a:gd name="connsiteY7-142" fmla="*/ 21205 h 1787187"/>
                <a:gd name="connsiteX8-143" fmla="*/ 393458 w 1555557"/>
                <a:gd name="connsiteY8-144" fmla="*/ 534641 h 1787187"/>
                <a:gd name="connsiteX0-145" fmla="*/ 401126 w 1664928"/>
                <a:gd name="connsiteY0-146" fmla="*/ 534641 h 1783934"/>
                <a:gd name="connsiteX1-147" fmla="*/ 40774 w 1664928"/>
                <a:gd name="connsiteY1-148" fmla="*/ 940200 h 1783934"/>
                <a:gd name="connsiteX2-149" fmla="*/ 185979 w 1664928"/>
                <a:gd name="connsiteY2-150" fmla="*/ 1672556 h 1783934"/>
                <a:gd name="connsiteX3-151" fmla="*/ 1618513 w 1664928"/>
                <a:gd name="connsiteY3-152" fmla="*/ 1747798 h 1783934"/>
                <a:gd name="connsiteX4-153" fmla="*/ 1561525 w 1664928"/>
                <a:gd name="connsiteY4-154" fmla="*/ 1257671 h 1783934"/>
                <a:gd name="connsiteX5-155" fmla="*/ 1509284 w 1664928"/>
                <a:gd name="connsiteY5-156" fmla="*/ 672856 h 1783934"/>
                <a:gd name="connsiteX6-157" fmla="*/ 1377698 w 1664928"/>
                <a:gd name="connsiteY6-158" fmla="*/ 154877 h 1783934"/>
                <a:gd name="connsiteX7-159" fmla="*/ 879858 w 1664928"/>
                <a:gd name="connsiteY7-160" fmla="*/ 21205 h 1783934"/>
                <a:gd name="connsiteX8-161" fmla="*/ 401126 w 1664928"/>
                <a:gd name="connsiteY8-162" fmla="*/ 534641 h 1783934"/>
                <a:gd name="connsiteX0-163" fmla="*/ 408119 w 1718774"/>
                <a:gd name="connsiteY0-164" fmla="*/ 534641 h 1826522"/>
                <a:gd name="connsiteX1-165" fmla="*/ 47767 w 1718774"/>
                <a:gd name="connsiteY1-166" fmla="*/ 940200 h 1826522"/>
                <a:gd name="connsiteX2-167" fmla="*/ 179001 w 1718774"/>
                <a:gd name="connsiteY2-168" fmla="*/ 1742186 h 1826522"/>
                <a:gd name="connsiteX3-169" fmla="*/ 1625506 w 1718774"/>
                <a:gd name="connsiteY3-170" fmla="*/ 1747798 h 1826522"/>
                <a:gd name="connsiteX4-171" fmla="*/ 1568518 w 1718774"/>
                <a:gd name="connsiteY4-172" fmla="*/ 1257671 h 1826522"/>
                <a:gd name="connsiteX5-173" fmla="*/ 1516277 w 1718774"/>
                <a:gd name="connsiteY5-174" fmla="*/ 672856 h 1826522"/>
                <a:gd name="connsiteX6-175" fmla="*/ 1384691 w 1718774"/>
                <a:gd name="connsiteY6-176" fmla="*/ 154877 h 1826522"/>
                <a:gd name="connsiteX7-177" fmla="*/ 886851 w 1718774"/>
                <a:gd name="connsiteY7-178" fmla="*/ 21205 h 1826522"/>
                <a:gd name="connsiteX8-179" fmla="*/ 408119 w 1718774"/>
                <a:gd name="connsiteY8-180" fmla="*/ 534641 h 1826522"/>
                <a:gd name="connsiteX0-181" fmla="*/ 477759 w 1796623"/>
                <a:gd name="connsiteY0-182" fmla="*/ 534641 h 1818043"/>
                <a:gd name="connsiteX1-183" fmla="*/ 117407 w 1796623"/>
                <a:gd name="connsiteY1-184" fmla="*/ 940200 h 1818043"/>
                <a:gd name="connsiteX2-185" fmla="*/ 136864 w 1796623"/>
                <a:gd name="connsiteY2-186" fmla="*/ 1728260 h 1818043"/>
                <a:gd name="connsiteX3-187" fmla="*/ 1695146 w 1796623"/>
                <a:gd name="connsiteY3-188" fmla="*/ 1747798 h 1818043"/>
                <a:gd name="connsiteX4-189" fmla="*/ 1638158 w 1796623"/>
                <a:gd name="connsiteY4-190" fmla="*/ 1257671 h 1818043"/>
                <a:gd name="connsiteX5-191" fmla="*/ 1585917 w 1796623"/>
                <a:gd name="connsiteY5-192" fmla="*/ 672856 h 1818043"/>
                <a:gd name="connsiteX6-193" fmla="*/ 1454331 w 1796623"/>
                <a:gd name="connsiteY6-194" fmla="*/ 154877 h 1818043"/>
                <a:gd name="connsiteX7-195" fmla="*/ 956491 w 1796623"/>
                <a:gd name="connsiteY7-196" fmla="*/ 21205 h 1818043"/>
                <a:gd name="connsiteX8-197" fmla="*/ 477759 w 1796623"/>
                <a:gd name="connsiteY8-198" fmla="*/ 534641 h 1818043"/>
                <a:gd name="connsiteX0-199" fmla="*/ 396783 w 1688820"/>
                <a:gd name="connsiteY0-200" fmla="*/ 534641 h 1815615"/>
                <a:gd name="connsiteX1-201" fmla="*/ 36431 w 1688820"/>
                <a:gd name="connsiteY1-202" fmla="*/ 940200 h 1815615"/>
                <a:gd name="connsiteX2-203" fmla="*/ 55888 w 1688820"/>
                <a:gd name="connsiteY2-204" fmla="*/ 1728260 h 1815615"/>
                <a:gd name="connsiteX3-205" fmla="*/ 421834 w 1688820"/>
                <a:gd name="connsiteY3-206" fmla="*/ 1798118 h 1815615"/>
                <a:gd name="connsiteX4-207" fmla="*/ 1614170 w 1688820"/>
                <a:gd name="connsiteY4-208" fmla="*/ 1747798 h 1815615"/>
                <a:gd name="connsiteX5-209" fmla="*/ 1557182 w 1688820"/>
                <a:gd name="connsiteY5-210" fmla="*/ 1257671 h 1815615"/>
                <a:gd name="connsiteX6-211" fmla="*/ 1504941 w 1688820"/>
                <a:gd name="connsiteY6-212" fmla="*/ 672856 h 1815615"/>
                <a:gd name="connsiteX7-213" fmla="*/ 1373355 w 1688820"/>
                <a:gd name="connsiteY7-214" fmla="*/ 154877 h 1815615"/>
                <a:gd name="connsiteX8-215" fmla="*/ 875515 w 1688820"/>
                <a:gd name="connsiteY8-216" fmla="*/ 21205 h 1815615"/>
                <a:gd name="connsiteX9" fmla="*/ 396783 w 1688820"/>
                <a:gd name="connsiteY9" fmla="*/ 534641 h 1815615"/>
                <a:gd name="connsiteX0-217" fmla="*/ 394951 w 1689541"/>
                <a:gd name="connsiteY0-218" fmla="*/ 534641 h 1877271"/>
                <a:gd name="connsiteX1-219" fmla="*/ 34599 w 1689541"/>
                <a:gd name="connsiteY1-220" fmla="*/ 940200 h 1877271"/>
                <a:gd name="connsiteX2-221" fmla="*/ 54056 w 1689541"/>
                <a:gd name="connsiteY2-222" fmla="*/ 1728260 h 1877271"/>
                <a:gd name="connsiteX3-223" fmla="*/ 385071 w 1689541"/>
                <a:gd name="connsiteY3-224" fmla="*/ 1877032 h 1877271"/>
                <a:gd name="connsiteX4-225" fmla="*/ 1612338 w 1689541"/>
                <a:gd name="connsiteY4-226" fmla="*/ 1747798 h 1877271"/>
                <a:gd name="connsiteX5-227" fmla="*/ 1555350 w 1689541"/>
                <a:gd name="connsiteY5-228" fmla="*/ 1257671 h 1877271"/>
                <a:gd name="connsiteX6-229" fmla="*/ 1503109 w 1689541"/>
                <a:gd name="connsiteY6-230" fmla="*/ 672856 h 1877271"/>
                <a:gd name="connsiteX7-231" fmla="*/ 1371523 w 1689541"/>
                <a:gd name="connsiteY7-232" fmla="*/ 154877 h 1877271"/>
                <a:gd name="connsiteX8-233" fmla="*/ 873683 w 1689541"/>
                <a:gd name="connsiteY8-234" fmla="*/ 21205 h 1877271"/>
                <a:gd name="connsiteX9-235" fmla="*/ 394951 w 1689541"/>
                <a:gd name="connsiteY9-236" fmla="*/ 534641 h 1877271"/>
                <a:gd name="connsiteX0-237" fmla="*/ 394949 w 1689541"/>
                <a:gd name="connsiteY0-238" fmla="*/ 534641 h 1877032"/>
                <a:gd name="connsiteX1-239" fmla="*/ 34597 w 1689541"/>
                <a:gd name="connsiteY1-240" fmla="*/ 940200 h 1877032"/>
                <a:gd name="connsiteX2-241" fmla="*/ 54054 w 1689541"/>
                <a:gd name="connsiteY2-242" fmla="*/ 1728260 h 1877032"/>
                <a:gd name="connsiteX3-243" fmla="*/ 385069 w 1689541"/>
                <a:gd name="connsiteY3-244" fmla="*/ 1877032 h 1877032"/>
                <a:gd name="connsiteX4-245" fmla="*/ 1612336 w 1689541"/>
                <a:gd name="connsiteY4-246" fmla="*/ 1747798 h 1877032"/>
                <a:gd name="connsiteX5-247" fmla="*/ 1555348 w 1689541"/>
                <a:gd name="connsiteY5-248" fmla="*/ 1257671 h 1877032"/>
                <a:gd name="connsiteX6-249" fmla="*/ 1503107 w 1689541"/>
                <a:gd name="connsiteY6-250" fmla="*/ 672856 h 1877032"/>
                <a:gd name="connsiteX7-251" fmla="*/ 1371521 w 1689541"/>
                <a:gd name="connsiteY7-252" fmla="*/ 154877 h 1877032"/>
                <a:gd name="connsiteX8-253" fmla="*/ 873681 w 1689541"/>
                <a:gd name="connsiteY8-254" fmla="*/ 21205 h 1877032"/>
                <a:gd name="connsiteX9-255" fmla="*/ 394949 w 1689541"/>
                <a:gd name="connsiteY9-256" fmla="*/ 534641 h 1877032"/>
                <a:gd name="connsiteX0-257" fmla="*/ 394949 w 1683795"/>
                <a:gd name="connsiteY0-258" fmla="*/ 534641 h 1877032"/>
                <a:gd name="connsiteX1-259" fmla="*/ 34597 w 1683795"/>
                <a:gd name="connsiteY1-260" fmla="*/ 940200 h 1877032"/>
                <a:gd name="connsiteX2-261" fmla="*/ 54054 w 1683795"/>
                <a:gd name="connsiteY2-262" fmla="*/ 1728260 h 1877032"/>
                <a:gd name="connsiteX3-263" fmla="*/ 385069 w 1683795"/>
                <a:gd name="connsiteY3-264" fmla="*/ 1877032 h 1877032"/>
                <a:gd name="connsiteX4-265" fmla="*/ 1605349 w 1683795"/>
                <a:gd name="connsiteY4-266" fmla="*/ 1798860 h 1877032"/>
                <a:gd name="connsiteX5-267" fmla="*/ 1555348 w 1683795"/>
                <a:gd name="connsiteY5-268" fmla="*/ 1257671 h 1877032"/>
                <a:gd name="connsiteX6-269" fmla="*/ 1503107 w 1683795"/>
                <a:gd name="connsiteY6-270" fmla="*/ 672856 h 1877032"/>
                <a:gd name="connsiteX7-271" fmla="*/ 1371521 w 1683795"/>
                <a:gd name="connsiteY7-272" fmla="*/ 154877 h 1877032"/>
                <a:gd name="connsiteX8-273" fmla="*/ 873681 w 1683795"/>
                <a:gd name="connsiteY8-274" fmla="*/ 21205 h 1877032"/>
                <a:gd name="connsiteX9-275" fmla="*/ 394949 w 1683795"/>
                <a:gd name="connsiteY9-276" fmla="*/ 534641 h 1877032"/>
                <a:gd name="connsiteX0-277" fmla="*/ 394949 w 1720794"/>
                <a:gd name="connsiteY0-278" fmla="*/ 534641 h 1877032"/>
                <a:gd name="connsiteX1-279" fmla="*/ 34597 w 1720794"/>
                <a:gd name="connsiteY1-280" fmla="*/ 940200 h 1877032"/>
                <a:gd name="connsiteX2-281" fmla="*/ 54054 w 1720794"/>
                <a:gd name="connsiteY2-282" fmla="*/ 1728260 h 1877032"/>
                <a:gd name="connsiteX3-283" fmla="*/ 385069 w 1720794"/>
                <a:gd name="connsiteY3-284" fmla="*/ 1877032 h 1877032"/>
                <a:gd name="connsiteX4-285" fmla="*/ 1605349 w 1720794"/>
                <a:gd name="connsiteY4-286" fmla="*/ 1798860 h 1877032"/>
                <a:gd name="connsiteX5-287" fmla="*/ 1555348 w 1720794"/>
                <a:gd name="connsiteY5-288" fmla="*/ 1257671 h 1877032"/>
                <a:gd name="connsiteX6-289" fmla="*/ 1503107 w 1720794"/>
                <a:gd name="connsiteY6-290" fmla="*/ 672856 h 1877032"/>
                <a:gd name="connsiteX7-291" fmla="*/ 1371521 w 1720794"/>
                <a:gd name="connsiteY7-292" fmla="*/ 154877 h 1877032"/>
                <a:gd name="connsiteX8-293" fmla="*/ 873681 w 1720794"/>
                <a:gd name="connsiteY8-294" fmla="*/ 21205 h 1877032"/>
                <a:gd name="connsiteX9-295" fmla="*/ 394949 w 1720794"/>
                <a:gd name="connsiteY9-296" fmla="*/ 534641 h 1877032"/>
                <a:gd name="connsiteX0-297" fmla="*/ 394949 w 1720794"/>
                <a:gd name="connsiteY0-298" fmla="*/ 534641 h 1877032"/>
                <a:gd name="connsiteX1-299" fmla="*/ 34597 w 1720794"/>
                <a:gd name="connsiteY1-300" fmla="*/ 940200 h 1877032"/>
                <a:gd name="connsiteX2-301" fmla="*/ 54054 w 1720794"/>
                <a:gd name="connsiteY2-302" fmla="*/ 1728260 h 1877032"/>
                <a:gd name="connsiteX3-303" fmla="*/ 385069 w 1720794"/>
                <a:gd name="connsiteY3-304" fmla="*/ 1877032 h 1877032"/>
                <a:gd name="connsiteX4-305" fmla="*/ 1605349 w 1720794"/>
                <a:gd name="connsiteY4-306" fmla="*/ 1798860 h 1877032"/>
                <a:gd name="connsiteX5-307" fmla="*/ 1555348 w 1720794"/>
                <a:gd name="connsiteY5-308" fmla="*/ 1257671 h 1877032"/>
                <a:gd name="connsiteX6-309" fmla="*/ 1503107 w 1720794"/>
                <a:gd name="connsiteY6-310" fmla="*/ 672856 h 1877032"/>
                <a:gd name="connsiteX7-311" fmla="*/ 1371521 w 1720794"/>
                <a:gd name="connsiteY7-312" fmla="*/ 154877 h 1877032"/>
                <a:gd name="connsiteX8-313" fmla="*/ 873681 w 1720794"/>
                <a:gd name="connsiteY8-314" fmla="*/ 21205 h 1877032"/>
                <a:gd name="connsiteX9-315" fmla="*/ 394949 w 1720794"/>
                <a:gd name="connsiteY9-316" fmla="*/ 534641 h 1877032"/>
                <a:gd name="connsiteX0-317" fmla="*/ 394949 w 1671512"/>
                <a:gd name="connsiteY0-318" fmla="*/ 534641 h 1877032"/>
                <a:gd name="connsiteX1-319" fmla="*/ 34597 w 1671512"/>
                <a:gd name="connsiteY1-320" fmla="*/ 940200 h 1877032"/>
                <a:gd name="connsiteX2-321" fmla="*/ 54054 w 1671512"/>
                <a:gd name="connsiteY2-322" fmla="*/ 1728260 h 1877032"/>
                <a:gd name="connsiteX3-323" fmla="*/ 385069 w 1671512"/>
                <a:gd name="connsiteY3-324" fmla="*/ 1877032 h 1877032"/>
                <a:gd name="connsiteX4-325" fmla="*/ 1605349 w 1671512"/>
                <a:gd name="connsiteY4-326" fmla="*/ 1798860 h 1877032"/>
                <a:gd name="connsiteX5-327" fmla="*/ 1555348 w 1671512"/>
                <a:gd name="connsiteY5-328" fmla="*/ 1257671 h 1877032"/>
                <a:gd name="connsiteX6-329" fmla="*/ 1503107 w 1671512"/>
                <a:gd name="connsiteY6-330" fmla="*/ 672856 h 1877032"/>
                <a:gd name="connsiteX7-331" fmla="*/ 1371521 w 1671512"/>
                <a:gd name="connsiteY7-332" fmla="*/ 154877 h 1877032"/>
                <a:gd name="connsiteX8-333" fmla="*/ 873681 w 1671512"/>
                <a:gd name="connsiteY8-334" fmla="*/ 21205 h 1877032"/>
                <a:gd name="connsiteX9-335" fmla="*/ 394949 w 1671512"/>
                <a:gd name="connsiteY9-336" fmla="*/ 534641 h 1877032"/>
                <a:gd name="connsiteX0-337" fmla="*/ 394949 w 1677296"/>
                <a:gd name="connsiteY0-338" fmla="*/ 534641 h 1877032"/>
                <a:gd name="connsiteX1-339" fmla="*/ 34597 w 1677296"/>
                <a:gd name="connsiteY1-340" fmla="*/ 940200 h 1877032"/>
                <a:gd name="connsiteX2-341" fmla="*/ 54054 w 1677296"/>
                <a:gd name="connsiteY2-342" fmla="*/ 1728260 h 1877032"/>
                <a:gd name="connsiteX3-343" fmla="*/ 385069 w 1677296"/>
                <a:gd name="connsiteY3-344" fmla="*/ 1877032 h 1877032"/>
                <a:gd name="connsiteX4-345" fmla="*/ 1612334 w 1677296"/>
                <a:gd name="connsiteY4-346" fmla="*/ 1840637 h 1877032"/>
                <a:gd name="connsiteX5-347" fmla="*/ 1555348 w 1677296"/>
                <a:gd name="connsiteY5-348" fmla="*/ 1257671 h 1877032"/>
                <a:gd name="connsiteX6-349" fmla="*/ 1503107 w 1677296"/>
                <a:gd name="connsiteY6-350" fmla="*/ 672856 h 1877032"/>
                <a:gd name="connsiteX7-351" fmla="*/ 1371521 w 1677296"/>
                <a:gd name="connsiteY7-352" fmla="*/ 154877 h 1877032"/>
                <a:gd name="connsiteX8-353" fmla="*/ 873681 w 1677296"/>
                <a:gd name="connsiteY8-354" fmla="*/ 21205 h 1877032"/>
                <a:gd name="connsiteX9-355" fmla="*/ 394949 w 1677296"/>
                <a:gd name="connsiteY9-356" fmla="*/ 534641 h 1877032"/>
                <a:gd name="connsiteX0-357" fmla="*/ 394949 w 1677298"/>
                <a:gd name="connsiteY0-358" fmla="*/ 534641 h 1877032"/>
                <a:gd name="connsiteX1-359" fmla="*/ 34597 w 1677298"/>
                <a:gd name="connsiteY1-360" fmla="*/ 940200 h 1877032"/>
                <a:gd name="connsiteX2-361" fmla="*/ 54054 w 1677298"/>
                <a:gd name="connsiteY2-362" fmla="*/ 1728260 h 1877032"/>
                <a:gd name="connsiteX3-363" fmla="*/ 385069 w 1677298"/>
                <a:gd name="connsiteY3-364" fmla="*/ 1877032 h 1877032"/>
                <a:gd name="connsiteX4-365" fmla="*/ 1612334 w 1677298"/>
                <a:gd name="connsiteY4-366" fmla="*/ 1840637 h 1877032"/>
                <a:gd name="connsiteX5-367" fmla="*/ 1555348 w 1677298"/>
                <a:gd name="connsiteY5-368" fmla="*/ 1257671 h 1877032"/>
                <a:gd name="connsiteX6-369" fmla="*/ 1503107 w 1677298"/>
                <a:gd name="connsiteY6-370" fmla="*/ 672856 h 1877032"/>
                <a:gd name="connsiteX7-371" fmla="*/ 1371521 w 1677298"/>
                <a:gd name="connsiteY7-372" fmla="*/ 154877 h 1877032"/>
                <a:gd name="connsiteX8-373" fmla="*/ 873681 w 1677298"/>
                <a:gd name="connsiteY8-374" fmla="*/ 21205 h 1877032"/>
                <a:gd name="connsiteX9-375" fmla="*/ 394949 w 1677298"/>
                <a:gd name="connsiteY9-376" fmla="*/ 534641 h 1877032"/>
                <a:gd name="connsiteX0-377" fmla="*/ 394949 w 1677296"/>
                <a:gd name="connsiteY0-378" fmla="*/ 534641 h 1904936"/>
                <a:gd name="connsiteX1-379" fmla="*/ 34597 w 1677296"/>
                <a:gd name="connsiteY1-380" fmla="*/ 940200 h 1904936"/>
                <a:gd name="connsiteX2-381" fmla="*/ 54054 w 1677296"/>
                <a:gd name="connsiteY2-382" fmla="*/ 1728260 h 1904936"/>
                <a:gd name="connsiteX3-383" fmla="*/ 385069 w 1677296"/>
                <a:gd name="connsiteY3-384" fmla="*/ 1877032 h 1904936"/>
                <a:gd name="connsiteX4-385" fmla="*/ 1612334 w 1677296"/>
                <a:gd name="connsiteY4-386" fmla="*/ 1840637 h 1904936"/>
                <a:gd name="connsiteX5-387" fmla="*/ 1555348 w 1677296"/>
                <a:gd name="connsiteY5-388" fmla="*/ 1257671 h 1904936"/>
                <a:gd name="connsiteX6-389" fmla="*/ 1503107 w 1677296"/>
                <a:gd name="connsiteY6-390" fmla="*/ 672856 h 1904936"/>
                <a:gd name="connsiteX7-391" fmla="*/ 1371521 w 1677296"/>
                <a:gd name="connsiteY7-392" fmla="*/ 154877 h 1904936"/>
                <a:gd name="connsiteX8-393" fmla="*/ 873681 w 1677296"/>
                <a:gd name="connsiteY8-394" fmla="*/ 21205 h 1904936"/>
                <a:gd name="connsiteX9-395" fmla="*/ 394949 w 1677296"/>
                <a:gd name="connsiteY9-396" fmla="*/ 534641 h 1904936"/>
                <a:gd name="connsiteX0-397" fmla="*/ 461539 w 1743887"/>
                <a:gd name="connsiteY0-398" fmla="*/ 534641 h 1904936"/>
                <a:gd name="connsiteX1-399" fmla="*/ 101187 w 1743887"/>
                <a:gd name="connsiteY1-400" fmla="*/ 940200 h 1904936"/>
                <a:gd name="connsiteX2-401" fmla="*/ 22840 w 1743887"/>
                <a:gd name="connsiteY2-402" fmla="*/ 1737812 h 1904936"/>
                <a:gd name="connsiteX3-403" fmla="*/ 451659 w 1743887"/>
                <a:gd name="connsiteY3-404" fmla="*/ 1877032 h 1904936"/>
                <a:gd name="connsiteX4-405" fmla="*/ 1678924 w 1743887"/>
                <a:gd name="connsiteY4-406" fmla="*/ 1840637 h 1904936"/>
                <a:gd name="connsiteX5-407" fmla="*/ 1621938 w 1743887"/>
                <a:gd name="connsiteY5-408" fmla="*/ 1257671 h 1904936"/>
                <a:gd name="connsiteX6-409" fmla="*/ 1569697 w 1743887"/>
                <a:gd name="connsiteY6-410" fmla="*/ 672856 h 1904936"/>
                <a:gd name="connsiteX7-411" fmla="*/ 1438111 w 1743887"/>
                <a:gd name="connsiteY7-412" fmla="*/ 154877 h 1904936"/>
                <a:gd name="connsiteX8-413" fmla="*/ 940271 w 1743887"/>
                <a:gd name="connsiteY8-414" fmla="*/ 21205 h 1904936"/>
                <a:gd name="connsiteX9-415" fmla="*/ 461539 w 1743887"/>
                <a:gd name="connsiteY9-416" fmla="*/ 534641 h 1904936"/>
                <a:gd name="connsiteX0-417" fmla="*/ 452050 w 1756359"/>
                <a:gd name="connsiteY0-418" fmla="*/ 534641 h 1891359"/>
                <a:gd name="connsiteX1-419" fmla="*/ 91698 w 1756359"/>
                <a:gd name="connsiteY1-420" fmla="*/ 940200 h 1891359"/>
                <a:gd name="connsiteX2-421" fmla="*/ 13351 w 1756359"/>
                <a:gd name="connsiteY2-422" fmla="*/ 1737812 h 1891359"/>
                <a:gd name="connsiteX3-423" fmla="*/ 309435 w 1756359"/>
                <a:gd name="connsiteY3-424" fmla="*/ 1891359 h 1891359"/>
                <a:gd name="connsiteX4-425" fmla="*/ 1669435 w 1756359"/>
                <a:gd name="connsiteY4-426" fmla="*/ 1840637 h 1891359"/>
                <a:gd name="connsiteX5-427" fmla="*/ 1612449 w 1756359"/>
                <a:gd name="connsiteY5-428" fmla="*/ 1257671 h 1891359"/>
                <a:gd name="connsiteX6-429" fmla="*/ 1560208 w 1756359"/>
                <a:gd name="connsiteY6-430" fmla="*/ 672856 h 1891359"/>
                <a:gd name="connsiteX7-431" fmla="*/ 1428622 w 1756359"/>
                <a:gd name="connsiteY7-432" fmla="*/ 154877 h 1891359"/>
                <a:gd name="connsiteX8-433" fmla="*/ 930782 w 1756359"/>
                <a:gd name="connsiteY8-434" fmla="*/ 21205 h 1891359"/>
                <a:gd name="connsiteX9-435" fmla="*/ 452050 w 1756359"/>
                <a:gd name="connsiteY9-436" fmla="*/ 534641 h 1891359"/>
                <a:gd name="connsiteX0-437" fmla="*/ 452050 w 1756257"/>
                <a:gd name="connsiteY0-438" fmla="*/ 534641 h 1891359"/>
                <a:gd name="connsiteX1-439" fmla="*/ 91698 w 1756257"/>
                <a:gd name="connsiteY1-440" fmla="*/ 940200 h 1891359"/>
                <a:gd name="connsiteX2-441" fmla="*/ 13351 w 1756257"/>
                <a:gd name="connsiteY2-442" fmla="*/ 1737812 h 1891359"/>
                <a:gd name="connsiteX3-443" fmla="*/ 309435 w 1756257"/>
                <a:gd name="connsiteY3-444" fmla="*/ 1891359 h 1891359"/>
                <a:gd name="connsiteX4-445" fmla="*/ 1669435 w 1756257"/>
                <a:gd name="connsiteY4-446" fmla="*/ 1840637 h 1891359"/>
                <a:gd name="connsiteX5-447" fmla="*/ 1612449 w 1756257"/>
                <a:gd name="connsiteY5-448" fmla="*/ 1257671 h 1891359"/>
                <a:gd name="connsiteX6-449" fmla="*/ 1563496 w 1756257"/>
                <a:gd name="connsiteY6-450" fmla="*/ 959631 h 1891359"/>
                <a:gd name="connsiteX7-451" fmla="*/ 1560208 w 1756257"/>
                <a:gd name="connsiteY7-452" fmla="*/ 672856 h 1891359"/>
                <a:gd name="connsiteX8-453" fmla="*/ 1428622 w 1756257"/>
                <a:gd name="connsiteY8-454" fmla="*/ 154877 h 1891359"/>
                <a:gd name="connsiteX9-455" fmla="*/ 930782 w 1756257"/>
                <a:gd name="connsiteY9-456" fmla="*/ 21205 h 1891359"/>
                <a:gd name="connsiteX10" fmla="*/ 452050 w 1756257"/>
                <a:gd name="connsiteY10" fmla="*/ 534641 h 1891359"/>
                <a:gd name="connsiteX0-457" fmla="*/ 452050 w 1764590"/>
                <a:gd name="connsiteY0-458" fmla="*/ 534641 h 1891359"/>
                <a:gd name="connsiteX1-459" fmla="*/ 91698 w 1764590"/>
                <a:gd name="connsiteY1-460" fmla="*/ 940200 h 1891359"/>
                <a:gd name="connsiteX2-461" fmla="*/ 13351 w 1764590"/>
                <a:gd name="connsiteY2-462" fmla="*/ 1737812 h 1891359"/>
                <a:gd name="connsiteX3-463" fmla="*/ 309435 w 1764590"/>
                <a:gd name="connsiteY3-464" fmla="*/ 1891359 h 1891359"/>
                <a:gd name="connsiteX4-465" fmla="*/ 1669435 w 1764590"/>
                <a:gd name="connsiteY4-466" fmla="*/ 1840637 h 1891359"/>
                <a:gd name="connsiteX5-467" fmla="*/ 1612449 w 1764590"/>
                <a:gd name="connsiteY5-468" fmla="*/ 1257671 h 1891359"/>
                <a:gd name="connsiteX6-469" fmla="*/ 1309780 w 1764590"/>
                <a:gd name="connsiteY6-470" fmla="*/ 1046341 h 1891359"/>
                <a:gd name="connsiteX7-471" fmla="*/ 1560208 w 1764590"/>
                <a:gd name="connsiteY7-472" fmla="*/ 672856 h 1891359"/>
                <a:gd name="connsiteX8-473" fmla="*/ 1428622 w 1764590"/>
                <a:gd name="connsiteY8-474" fmla="*/ 154877 h 1891359"/>
                <a:gd name="connsiteX9-475" fmla="*/ 930782 w 1764590"/>
                <a:gd name="connsiteY9-476" fmla="*/ 21205 h 1891359"/>
                <a:gd name="connsiteX10-477" fmla="*/ 452050 w 1764590"/>
                <a:gd name="connsiteY10-478" fmla="*/ 534641 h 1891359"/>
                <a:gd name="connsiteX0-479" fmla="*/ 452050 w 1764592"/>
                <a:gd name="connsiteY0-480" fmla="*/ 534641 h 1891359"/>
                <a:gd name="connsiteX1-481" fmla="*/ 91698 w 1764592"/>
                <a:gd name="connsiteY1-482" fmla="*/ 940200 h 1891359"/>
                <a:gd name="connsiteX2-483" fmla="*/ 13351 w 1764592"/>
                <a:gd name="connsiteY2-484" fmla="*/ 1737812 h 1891359"/>
                <a:gd name="connsiteX3-485" fmla="*/ 309435 w 1764592"/>
                <a:gd name="connsiteY3-486" fmla="*/ 1891359 h 1891359"/>
                <a:gd name="connsiteX4-487" fmla="*/ 1669435 w 1764592"/>
                <a:gd name="connsiteY4-488" fmla="*/ 1840637 h 1891359"/>
                <a:gd name="connsiteX5-489" fmla="*/ 1612449 w 1764592"/>
                <a:gd name="connsiteY5-490" fmla="*/ 1257671 h 1891359"/>
                <a:gd name="connsiteX6-491" fmla="*/ 1309780 w 1764592"/>
                <a:gd name="connsiteY6-492" fmla="*/ 1046341 h 1891359"/>
                <a:gd name="connsiteX7-493" fmla="*/ 1560208 w 1764592"/>
                <a:gd name="connsiteY7-494" fmla="*/ 672856 h 1891359"/>
                <a:gd name="connsiteX8-495" fmla="*/ 1428622 w 1764592"/>
                <a:gd name="connsiteY8-496" fmla="*/ 154877 h 1891359"/>
                <a:gd name="connsiteX9-497" fmla="*/ 930782 w 1764592"/>
                <a:gd name="connsiteY9-498" fmla="*/ 21205 h 1891359"/>
                <a:gd name="connsiteX10-499" fmla="*/ 452050 w 1764592"/>
                <a:gd name="connsiteY10-500" fmla="*/ 534641 h 1891359"/>
                <a:gd name="connsiteX0-501" fmla="*/ 452050 w 1764590"/>
                <a:gd name="connsiteY0-502" fmla="*/ 534641 h 1891359"/>
                <a:gd name="connsiteX1-503" fmla="*/ 91698 w 1764590"/>
                <a:gd name="connsiteY1-504" fmla="*/ 940200 h 1891359"/>
                <a:gd name="connsiteX2-505" fmla="*/ 13351 w 1764590"/>
                <a:gd name="connsiteY2-506" fmla="*/ 1737812 h 1891359"/>
                <a:gd name="connsiteX3-507" fmla="*/ 309435 w 1764590"/>
                <a:gd name="connsiteY3-508" fmla="*/ 1891359 h 1891359"/>
                <a:gd name="connsiteX4-509" fmla="*/ 1669435 w 1764590"/>
                <a:gd name="connsiteY4-510" fmla="*/ 1840637 h 1891359"/>
                <a:gd name="connsiteX5-511" fmla="*/ 1612449 w 1764590"/>
                <a:gd name="connsiteY5-512" fmla="*/ 1257671 h 1891359"/>
                <a:gd name="connsiteX6-513" fmla="*/ 1309780 w 1764590"/>
                <a:gd name="connsiteY6-514" fmla="*/ 1046341 h 1891359"/>
                <a:gd name="connsiteX7-515" fmla="*/ 1560208 w 1764590"/>
                <a:gd name="connsiteY7-516" fmla="*/ 672856 h 1891359"/>
                <a:gd name="connsiteX8-517" fmla="*/ 1428622 w 1764590"/>
                <a:gd name="connsiteY8-518" fmla="*/ 154877 h 1891359"/>
                <a:gd name="connsiteX9-519" fmla="*/ 930782 w 1764590"/>
                <a:gd name="connsiteY9-520" fmla="*/ 21205 h 1891359"/>
                <a:gd name="connsiteX10-521" fmla="*/ 452050 w 1764590"/>
                <a:gd name="connsiteY10-522" fmla="*/ 534641 h 1891359"/>
                <a:gd name="connsiteX0-523" fmla="*/ 452050 w 1792731"/>
                <a:gd name="connsiteY0-524" fmla="*/ 534641 h 1891359"/>
                <a:gd name="connsiteX1-525" fmla="*/ 91698 w 1792731"/>
                <a:gd name="connsiteY1-526" fmla="*/ 940200 h 1891359"/>
                <a:gd name="connsiteX2-527" fmla="*/ 13351 w 1792731"/>
                <a:gd name="connsiteY2-528" fmla="*/ 1737812 h 1891359"/>
                <a:gd name="connsiteX3-529" fmla="*/ 309435 w 1792731"/>
                <a:gd name="connsiteY3-530" fmla="*/ 1891359 h 1891359"/>
                <a:gd name="connsiteX4-531" fmla="*/ 1669435 w 1792731"/>
                <a:gd name="connsiteY4-532" fmla="*/ 1840637 h 1891359"/>
                <a:gd name="connsiteX5-533" fmla="*/ 1688563 w 1792731"/>
                <a:gd name="connsiteY5-534" fmla="*/ 1292355 h 1891359"/>
                <a:gd name="connsiteX6-535" fmla="*/ 1309780 w 1792731"/>
                <a:gd name="connsiteY6-536" fmla="*/ 1046341 h 1891359"/>
                <a:gd name="connsiteX7-537" fmla="*/ 1560208 w 1792731"/>
                <a:gd name="connsiteY7-538" fmla="*/ 672856 h 1891359"/>
                <a:gd name="connsiteX8-539" fmla="*/ 1428622 w 1792731"/>
                <a:gd name="connsiteY8-540" fmla="*/ 154877 h 1891359"/>
                <a:gd name="connsiteX9-541" fmla="*/ 930782 w 1792731"/>
                <a:gd name="connsiteY9-542" fmla="*/ 21205 h 1891359"/>
                <a:gd name="connsiteX10-543" fmla="*/ 452050 w 1792731"/>
                <a:gd name="connsiteY10-544" fmla="*/ 534641 h 1891359"/>
                <a:gd name="connsiteX0-545" fmla="*/ 452050 w 1814809"/>
                <a:gd name="connsiteY0-546" fmla="*/ 534641 h 1891359"/>
                <a:gd name="connsiteX1-547" fmla="*/ 91698 w 1814809"/>
                <a:gd name="connsiteY1-548" fmla="*/ 940200 h 1891359"/>
                <a:gd name="connsiteX2-549" fmla="*/ 13351 w 1814809"/>
                <a:gd name="connsiteY2-550" fmla="*/ 1737812 h 1891359"/>
                <a:gd name="connsiteX3-551" fmla="*/ 309435 w 1814809"/>
                <a:gd name="connsiteY3-552" fmla="*/ 1891359 h 1891359"/>
                <a:gd name="connsiteX4-553" fmla="*/ 1669435 w 1814809"/>
                <a:gd name="connsiteY4-554" fmla="*/ 1840637 h 1891359"/>
                <a:gd name="connsiteX5-555" fmla="*/ 1688563 w 1814809"/>
                <a:gd name="connsiteY5-556" fmla="*/ 1292355 h 1891359"/>
                <a:gd name="connsiteX6-557" fmla="*/ 1309780 w 1814809"/>
                <a:gd name="connsiteY6-558" fmla="*/ 1046341 h 1891359"/>
                <a:gd name="connsiteX7-559" fmla="*/ 1560208 w 1814809"/>
                <a:gd name="connsiteY7-560" fmla="*/ 672856 h 1891359"/>
                <a:gd name="connsiteX8-561" fmla="*/ 1428622 w 1814809"/>
                <a:gd name="connsiteY8-562" fmla="*/ 154877 h 1891359"/>
                <a:gd name="connsiteX9-563" fmla="*/ 930782 w 1814809"/>
                <a:gd name="connsiteY9-564" fmla="*/ 21205 h 1891359"/>
                <a:gd name="connsiteX10-565" fmla="*/ 452050 w 1814809"/>
                <a:gd name="connsiteY10-566" fmla="*/ 534641 h 1891359"/>
                <a:gd name="connsiteX0-567" fmla="*/ 452050 w 1814809"/>
                <a:gd name="connsiteY0-568" fmla="*/ 534641 h 1891359"/>
                <a:gd name="connsiteX1-569" fmla="*/ 91698 w 1814809"/>
                <a:gd name="connsiteY1-570" fmla="*/ 940200 h 1891359"/>
                <a:gd name="connsiteX2-571" fmla="*/ 13351 w 1814809"/>
                <a:gd name="connsiteY2-572" fmla="*/ 1737812 h 1891359"/>
                <a:gd name="connsiteX3-573" fmla="*/ 309435 w 1814809"/>
                <a:gd name="connsiteY3-574" fmla="*/ 1891359 h 1891359"/>
                <a:gd name="connsiteX4-575" fmla="*/ 1669435 w 1814809"/>
                <a:gd name="connsiteY4-576" fmla="*/ 1840637 h 1891359"/>
                <a:gd name="connsiteX5-577" fmla="*/ 1688563 w 1814809"/>
                <a:gd name="connsiteY5-578" fmla="*/ 1292355 h 1891359"/>
                <a:gd name="connsiteX6-579" fmla="*/ 1309780 w 1814809"/>
                <a:gd name="connsiteY6-580" fmla="*/ 1046341 h 1891359"/>
                <a:gd name="connsiteX7-581" fmla="*/ 1619996 w 1814809"/>
                <a:gd name="connsiteY7-582" fmla="*/ 526399 h 1891359"/>
                <a:gd name="connsiteX8-583" fmla="*/ 1428622 w 1814809"/>
                <a:gd name="connsiteY8-584" fmla="*/ 154877 h 1891359"/>
                <a:gd name="connsiteX9-585" fmla="*/ 930782 w 1814809"/>
                <a:gd name="connsiteY9-586" fmla="*/ 21205 h 1891359"/>
                <a:gd name="connsiteX10-587" fmla="*/ 452050 w 1814809"/>
                <a:gd name="connsiteY10-588" fmla="*/ 534641 h 1891359"/>
                <a:gd name="connsiteX0-589" fmla="*/ 452050 w 1814809"/>
                <a:gd name="connsiteY0-590" fmla="*/ 542872 h 1899590"/>
                <a:gd name="connsiteX1-591" fmla="*/ 91698 w 1814809"/>
                <a:gd name="connsiteY1-592" fmla="*/ 948431 h 1899590"/>
                <a:gd name="connsiteX2-593" fmla="*/ 13351 w 1814809"/>
                <a:gd name="connsiteY2-594" fmla="*/ 1746043 h 1899590"/>
                <a:gd name="connsiteX3-595" fmla="*/ 309435 w 1814809"/>
                <a:gd name="connsiteY3-596" fmla="*/ 1899590 h 1899590"/>
                <a:gd name="connsiteX4-597" fmla="*/ 1669435 w 1814809"/>
                <a:gd name="connsiteY4-598" fmla="*/ 1848868 h 1899590"/>
                <a:gd name="connsiteX5-599" fmla="*/ 1688563 w 1814809"/>
                <a:gd name="connsiteY5-600" fmla="*/ 1300586 h 1899590"/>
                <a:gd name="connsiteX6-601" fmla="*/ 1309780 w 1814809"/>
                <a:gd name="connsiteY6-602" fmla="*/ 1054572 h 1899590"/>
                <a:gd name="connsiteX7-603" fmla="*/ 1619996 w 1814809"/>
                <a:gd name="connsiteY7-604" fmla="*/ 534630 h 1899590"/>
                <a:gd name="connsiteX8-605" fmla="*/ 1488411 w 1814809"/>
                <a:gd name="connsiteY8-606" fmla="*/ 129049 h 1899590"/>
                <a:gd name="connsiteX9-607" fmla="*/ 930782 w 1814809"/>
                <a:gd name="connsiteY9-608" fmla="*/ 29436 h 1899590"/>
                <a:gd name="connsiteX10-609" fmla="*/ 452050 w 1814809"/>
                <a:gd name="connsiteY10-610" fmla="*/ 542872 h 1899590"/>
                <a:gd name="connsiteX0-611" fmla="*/ 452050 w 1814809"/>
                <a:gd name="connsiteY0-612" fmla="*/ 540513 h 1897231"/>
                <a:gd name="connsiteX1-613" fmla="*/ 91698 w 1814809"/>
                <a:gd name="connsiteY1-614" fmla="*/ 946072 h 1897231"/>
                <a:gd name="connsiteX2-615" fmla="*/ 13351 w 1814809"/>
                <a:gd name="connsiteY2-616" fmla="*/ 1743684 h 1897231"/>
                <a:gd name="connsiteX3-617" fmla="*/ 309435 w 1814809"/>
                <a:gd name="connsiteY3-618" fmla="*/ 1897231 h 1897231"/>
                <a:gd name="connsiteX4-619" fmla="*/ 1669435 w 1814809"/>
                <a:gd name="connsiteY4-620" fmla="*/ 1846509 h 1897231"/>
                <a:gd name="connsiteX5-621" fmla="*/ 1688563 w 1814809"/>
                <a:gd name="connsiteY5-622" fmla="*/ 1298227 h 1897231"/>
                <a:gd name="connsiteX6-623" fmla="*/ 1309780 w 1814809"/>
                <a:gd name="connsiteY6-624" fmla="*/ 1052213 h 1897231"/>
                <a:gd name="connsiteX7-625" fmla="*/ 1619996 w 1814809"/>
                <a:gd name="connsiteY7-626" fmla="*/ 532271 h 1897231"/>
                <a:gd name="connsiteX8-627" fmla="*/ 1488411 w 1814809"/>
                <a:gd name="connsiteY8-628" fmla="*/ 126690 h 1897231"/>
                <a:gd name="connsiteX9-629" fmla="*/ 930782 w 1814809"/>
                <a:gd name="connsiteY9-630" fmla="*/ 27077 h 1897231"/>
                <a:gd name="connsiteX10-631" fmla="*/ 452050 w 1814809"/>
                <a:gd name="connsiteY10-632" fmla="*/ 540513 h 1897231"/>
                <a:gd name="connsiteX0-633" fmla="*/ 452050 w 1814809"/>
                <a:gd name="connsiteY0-634" fmla="*/ 540513 h 1897231"/>
                <a:gd name="connsiteX1-635" fmla="*/ 91698 w 1814809"/>
                <a:gd name="connsiteY1-636" fmla="*/ 946072 h 1897231"/>
                <a:gd name="connsiteX2-637" fmla="*/ 13351 w 1814809"/>
                <a:gd name="connsiteY2-638" fmla="*/ 1743684 h 1897231"/>
                <a:gd name="connsiteX3-639" fmla="*/ 309435 w 1814809"/>
                <a:gd name="connsiteY3-640" fmla="*/ 1897231 h 1897231"/>
                <a:gd name="connsiteX4-641" fmla="*/ 1669435 w 1814809"/>
                <a:gd name="connsiteY4-642" fmla="*/ 1846509 h 1897231"/>
                <a:gd name="connsiteX5-643" fmla="*/ 1688563 w 1814809"/>
                <a:gd name="connsiteY5-644" fmla="*/ 1298227 h 1897231"/>
                <a:gd name="connsiteX6-645" fmla="*/ 1309780 w 1814809"/>
                <a:gd name="connsiteY6-646" fmla="*/ 1052213 h 1897231"/>
                <a:gd name="connsiteX7-647" fmla="*/ 1619996 w 1814809"/>
                <a:gd name="connsiteY7-648" fmla="*/ 532271 h 1897231"/>
                <a:gd name="connsiteX8-649" fmla="*/ 1488411 w 1814809"/>
                <a:gd name="connsiteY8-650" fmla="*/ 126690 h 1897231"/>
                <a:gd name="connsiteX9-651" fmla="*/ 930782 w 1814809"/>
                <a:gd name="connsiteY9-652" fmla="*/ 27077 h 1897231"/>
                <a:gd name="connsiteX10-653" fmla="*/ 452050 w 1814809"/>
                <a:gd name="connsiteY10-654" fmla="*/ 540513 h 1897231"/>
                <a:gd name="connsiteX0-655" fmla="*/ 288567 w 1811701"/>
                <a:gd name="connsiteY0-656" fmla="*/ 555674 h 1898251"/>
                <a:gd name="connsiteX1-657" fmla="*/ 88590 w 1811701"/>
                <a:gd name="connsiteY1-658" fmla="*/ 947092 h 1898251"/>
                <a:gd name="connsiteX2-659" fmla="*/ 10243 w 1811701"/>
                <a:gd name="connsiteY2-660" fmla="*/ 1744704 h 1898251"/>
                <a:gd name="connsiteX3-661" fmla="*/ 306327 w 1811701"/>
                <a:gd name="connsiteY3-662" fmla="*/ 1898251 h 1898251"/>
                <a:gd name="connsiteX4-663" fmla="*/ 1666327 w 1811701"/>
                <a:gd name="connsiteY4-664" fmla="*/ 1847529 h 1898251"/>
                <a:gd name="connsiteX5-665" fmla="*/ 1685455 w 1811701"/>
                <a:gd name="connsiteY5-666" fmla="*/ 1299247 h 1898251"/>
                <a:gd name="connsiteX6-667" fmla="*/ 1306672 w 1811701"/>
                <a:gd name="connsiteY6-668" fmla="*/ 1053233 h 1898251"/>
                <a:gd name="connsiteX7-669" fmla="*/ 1616888 w 1811701"/>
                <a:gd name="connsiteY7-670" fmla="*/ 533291 h 1898251"/>
                <a:gd name="connsiteX8-671" fmla="*/ 1485303 w 1811701"/>
                <a:gd name="connsiteY8-672" fmla="*/ 127710 h 1898251"/>
                <a:gd name="connsiteX9-673" fmla="*/ 927674 w 1811701"/>
                <a:gd name="connsiteY9-674" fmla="*/ 28097 h 1898251"/>
                <a:gd name="connsiteX10-675" fmla="*/ 288567 w 1811701"/>
                <a:gd name="connsiteY10-676" fmla="*/ 555674 h 1898251"/>
                <a:gd name="connsiteX0-677" fmla="*/ 288567 w 1811701"/>
                <a:gd name="connsiteY0-678" fmla="*/ 479828 h 1822405"/>
                <a:gd name="connsiteX1-679" fmla="*/ 88590 w 1811701"/>
                <a:gd name="connsiteY1-680" fmla="*/ 871246 h 1822405"/>
                <a:gd name="connsiteX2-681" fmla="*/ 10243 w 1811701"/>
                <a:gd name="connsiteY2-682" fmla="*/ 1668858 h 1822405"/>
                <a:gd name="connsiteX3-683" fmla="*/ 306327 w 1811701"/>
                <a:gd name="connsiteY3-684" fmla="*/ 1822405 h 1822405"/>
                <a:gd name="connsiteX4-685" fmla="*/ 1666327 w 1811701"/>
                <a:gd name="connsiteY4-686" fmla="*/ 1771683 h 1822405"/>
                <a:gd name="connsiteX5-687" fmla="*/ 1685455 w 1811701"/>
                <a:gd name="connsiteY5-688" fmla="*/ 1223401 h 1822405"/>
                <a:gd name="connsiteX6-689" fmla="*/ 1306672 w 1811701"/>
                <a:gd name="connsiteY6-690" fmla="*/ 977387 h 1822405"/>
                <a:gd name="connsiteX7-691" fmla="*/ 1616888 w 1811701"/>
                <a:gd name="connsiteY7-692" fmla="*/ 457445 h 1822405"/>
                <a:gd name="connsiteX8-693" fmla="*/ 1485303 w 1811701"/>
                <a:gd name="connsiteY8-694" fmla="*/ 51864 h 1822405"/>
                <a:gd name="connsiteX9-695" fmla="*/ 895599 w 1811701"/>
                <a:gd name="connsiteY9-696" fmla="*/ 79530 h 1822405"/>
                <a:gd name="connsiteX10-697" fmla="*/ 288567 w 1811701"/>
                <a:gd name="connsiteY10-698" fmla="*/ 479828 h 1822405"/>
                <a:gd name="connsiteX0-699" fmla="*/ 288567 w 1811701"/>
                <a:gd name="connsiteY0-700" fmla="*/ 419258 h 1761835"/>
                <a:gd name="connsiteX1-701" fmla="*/ 88590 w 1811701"/>
                <a:gd name="connsiteY1-702" fmla="*/ 810676 h 1761835"/>
                <a:gd name="connsiteX2-703" fmla="*/ 10243 w 1811701"/>
                <a:gd name="connsiteY2-704" fmla="*/ 1608288 h 1761835"/>
                <a:gd name="connsiteX3-705" fmla="*/ 306327 w 1811701"/>
                <a:gd name="connsiteY3-706" fmla="*/ 1761835 h 1761835"/>
                <a:gd name="connsiteX4-707" fmla="*/ 1666327 w 1811701"/>
                <a:gd name="connsiteY4-708" fmla="*/ 1711113 h 1761835"/>
                <a:gd name="connsiteX5-709" fmla="*/ 1685455 w 1811701"/>
                <a:gd name="connsiteY5-710" fmla="*/ 1162831 h 1761835"/>
                <a:gd name="connsiteX6-711" fmla="*/ 1306672 w 1811701"/>
                <a:gd name="connsiteY6-712" fmla="*/ 916817 h 1761835"/>
                <a:gd name="connsiteX7-713" fmla="*/ 1616888 w 1811701"/>
                <a:gd name="connsiteY7-714" fmla="*/ 396875 h 1761835"/>
                <a:gd name="connsiteX8-715" fmla="*/ 1373040 w 1811701"/>
                <a:gd name="connsiteY8-716" fmla="*/ 118574 h 1761835"/>
                <a:gd name="connsiteX9-717" fmla="*/ 895599 w 1811701"/>
                <a:gd name="connsiteY9-718" fmla="*/ 18960 h 1761835"/>
                <a:gd name="connsiteX10-719" fmla="*/ 288567 w 1811701"/>
                <a:gd name="connsiteY10-720" fmla="*/ 419258 h 1761835"/>
                <a:gd name="connsiteX0-721" fmla="*/ 288567 w 1811701"/>
                <a:gd name="connsiteY0-722" fmla="*/ 419258 h 1761835"/>
                <a:gd name="connsiteX1-723" fmla="*/ 88590 w 1811701"/>
                <a:gd name="connsiteY1-724" fmla="*/ 810676 h 1761835"/>
                <a:gd name="connsiteX2-725" fmla="*/ 10243 w 1811701"/>
                <a:gd name="connsiteY2-726" fmla="*/ 1608288 h 1761835"/>
                <a:gd name="connsiteX3-727" fmla="*/ 306327 w 1811701"/>
                <a:gd name="connsiteY3-728" fmla="*/ 1761835 h 1761835"/>
                <a:gd name="connsiteX4-729" fmla="*/ 1666327 w 1811701"/>
                <a:gd name="connsiteY4-730" fmla="*/ 1711113 h 1761835"/>
                <a:gd name="connsiteX5-731" fmla="*/ 1685455 w 1811701"/>
                <a:gd name="connsiteY5-732" fmla="*/ 1162831 h 1761835"/>
                <a:gd name="connsiteX6-733" fmla="*/ 1306672 w 1811701"/>
                <a:gd name="connsiteY6-734" fmla="*/ 916817 h 1761835"/>
                <a:gd name="connsiteX7-735" fmla="*/ 1584814 w 1811701"/>
                <a:gd name="connsiteY7-736" fmla="*/ 510012 h 1761835"/>
                <a:gd name="connsiteX8-737" fmla="*/ 1373040 w 1811701"/>
                <a:gd name="connsiteY8-738" fmla="*/ 118574 h 1761835"/>
                <a:gd name="connsiteX9-739" fmla="*/ 895599 w 1811701"/>
                <a:gd name="connsiteY9-740" fmla="*/ 18960 h 1761835"/>
                <a:gd name="connsiteX10-741" fmla="*/ 288567 w 1811701"/>
                <a:gd name="connsiteY10-742" fmla="*/ 419258 h 1761835"/>
                <a:gd name="connsiteX0-743" fmla="*/ 288567 w 1770444"/>
                <a:gd name="connsiteY0-744" fmla="*/ 419258 h 1761835"/>
                <a:gd name="connsiteX1-745" fmla="*/ 88590 w 1770444"/>
                <a:gd name="connsiteY1-746" fmla="*/ 810676 h 1761835"/>
                <a:gd name="connsiteX2-747" fmla="*/ 10243 w 1770444"/>
                <a:gd name="connsiteY2-748" fmla="*/ 1608288 h 1761835"/>
                <a:gd name="connsiteX3-749" fmla="*/ 306327 w 1770444"/>
                <a:gd name="connsiteY3-750" fmla="*/ 1761835 h 1761835"/>
                <a:gd name="connsiteX4-751" fmla="*/ 1666327 w 1770444"/>
                <a:gd name="connsiteY4-752" fmla="*/ 1711113 h 1761835"/>
                <a:gd name="connsiteX5-753" fmla="*/ 1589229 w 1770444"/>
                <a:gd name="connsiteY5-754" fmla="*/ 1176973 h 1761835"/>
                <a:gd name="connsiteX6-755" fmla="*/ 1306672 w 1770444"/>
                <a:gd name="connsiteY6-756" fmla="*/ 916817 h 1761835"/>
                <a:gd name="connsiteX7-757" fmla="*/ 1584814 w 1770444"/>
                <a:gd name="connsiteY7-758" fmla="*/ 510012 h 1761835"/>
                <a:gd name="connsiteX8-759" fmla="*/ 1373040 w 1770444"/>
                <a:gd name="connsiteY8-760" fmla="*/ 118574 h 1761835"/>
                <a:gd name="connsiteX9-761" fmla="*/ 895599 w 1770444"/>
                <a:gd name="connsiteY9-762" fmla="*/ 18960 h 1761835"/>
                <a:gd name="connsiteX10-763" fmla="*/ 288567 w 1770444"/>
                <a:gd name="connsiteY10-764" fmla="*/ 419258 h 1761835"/>
                <a:gd name="connsiteX0-765" fmla="*/ 288567 w 1592514"/>
                <a:gd name="connsiteY0-766" fmla="*/ 419258 h 1863058"/>
                <a:gd name="connsiteX1-767" fmla="*/ 88590 w 1592514"/>
                <a:gd name="connsiteY1-768" fmla="*/ 810676 h 1863058"/>
                <a:gd name="connsiteX2-769" fmla="*/ 10243 w 1592514"/>
                <a:gd name="connsiteY2-770" fmla="*/ 1608288 h 1863058"/>
                <a:gd name="connsiteX3-771" fmla="*/ 306327 w 1592514"/>
                <a:gd name="connsiteY3-772" fmla="*/ 1761835 h 1863058"/>
                <a:gd name="connsiteX4-773" fmla="*/ 1377650 w 1592514"/>
                <a:gd name="connsiteY4-774" fmla="*/ 1838393 h 1863058"/>
                <a:gd name="connsiteX5-775" fmla="*/ 1589229 w 1592514"/>
                <a:gd name="connsiteY5-776" fmla="*/ 1176973 h 1863058"/>
                <a:gd name="connsiteX6-777" fmla="*/ 1306672 w 1592514"/>
                <a:gd name="connsiteY6-778" fmla="*/ 916817 h 1863058"/>
                <a:gd name="connsiteX7-779" fmla="*/ 1584814 w 1592514"/>
                <a:gd name="connsiteY7-780" fmla="*/ 510012 h 1863058"/>
                <a:gd name="connsiteX8-781" fmla="*/ 1373040 w 1592514"/>
                <a:gd name="connsiteY8-782" fmla="*/ 118574 h 1863058"/>
                <a:gd name="connsiteX9-783" fmla="*/ 895599 w 1592514"/>
                <a:gd name="connsiteY9-784" fmla="*/ 18960 h 1863058"/>
                <a:gd name="connsiteX10-785" fmla="*/ 288567 w 1592514"/>
                <a:gd name="connsiteY10-786" fmla="*/ 419258 h 1863058"/>
                <a:gd name="connsiteX0-787" fmla="*/ 421322 w 1594935"/>
                <a:gd name="connsiteY0-788" fmla="*/ 616342 h 1876292"/>
                <a:gd name="connsiteX1-789" fmla="*/ 91011 w 1594935"/>
                <a:gd name="connsiteY1-790" fmla="*/ 823910 h 1876292"/>
                <a:gd name="connsiteX2-791" fmla="*/ 12664 w 1594935"/>
                <a:gd name="connsiteY2-792" fmla="*/ 1621522 h 1876292"/>
                <a:gd name="connsiteX3-793" fmla="*/ 308748 w 1594935"/>
                <a:gd name="connsiteY3-794" fmla="*/ 1775069 h 1876292"/>
                <a:gd name="connsiteX4-795" fmla="*/ 1380071 w 1594935"/>
                <a:gd name="connsiteY4-796" fmla="*/ 1851627 h 1876292"/>
                <a:gd name="connsiteX5-797" fmla="*/ 1591650 w 1594935"/>
                <a:gd name="connsiteY5-798" fmla="*/ 1190207 h 1876292"/>
                <a:gd name="connsiteX6-799" fmla="*/ 1309093 w 1594935"/>
                <a:gd name="connsiteY6-800" fmla="*/ 930051 h 1876292"/>
                <a:gd name="connsiteX7-801" fmla="*/ 1587235 w 1594935"/>
                <a:gd name="connsiteY7-802" fmla="*/ 523246 h 1876292"/>
                <a:gd name="connsiteX8-803" fmla="*/ 1375461 w 1594935"/>
                <a:gd name="connsiteY8-804" fmla="*/ 131808 h 1876292"/>
                <a:gd name="connsiteX9-805" fmla="*/ 898020 w 1594935"/>
                <a:gd name="connsiteY9-806" fmla="*/ 32194 h 1876292"/>
                <a:gd name="connsiteX10-807" fmla="*/ 421322 w 1594935"/>
                <a:gd name="connsiteY10-808" fmla="*/ 616342 h 1876292"/>
                <a:gd name="connsiteX0-809" fmla="*/ 413257 w 1586870"/>
                <a:gd name="connsiteY0-810" fmla="*/ 616342 h 1876292"/>
                <a:gd name="connsiteX1-811" fmla="*/ 140873 w 1586870"/>
                <a:gd name="connsiteY1-812" fmla="*/ 993617 h 1876292"/>
                <a:gd name="connsiteX2-813" fmla="*/ 4599 w 1586870"/>
                <a:gd name="connsiteY2-814" fmla="*/ 1621522 h 1876292"/>
                <a:gd name="connsiteX3-815" fmla="*/ 300683 w 1586870"/>
                <a:gd name="connsiteY3-816" fmla="*/ 1775069 h 1876292"/>
                <a:gd name="connsiteX4-817" fmla="*/ 1372006 w 1586870"/>
                <a:gd name="connsiteY4-818" fmla="*/ 1851627 h 1876292"/>
                <a:gd name="connsiteX5-819" fmla="*/ 1583585 w 1586870"/>
                <a:gd name="connsiteY5-820" fmla="*/ 1190207 h 1876292"/>
                <a:gd name="connsiteX6-821" fmla="*/ 1301028 w 1586870"/>
                <a:gd name="connsiteY6-822" fmla="*/ 930051 h 1876292"/>
                <a:gd name="connsiteX7-823" fmla="*/ 1579170 w 1586870"/>
                <a:gd name="connsiteY7-824" fmla="*/ 523246 h 1876292"/>
                <a:gd name="connsiteX8-825" fmla="*/ 1367396 w 1586870"/>
                <a:gd name="connsiteY8-826" fmla="*/ 131808 h 1876292"/>
                <a:gd name="connsiteX9-827" fmla="*/ 889955 w 1586870"/>
                <a:gd name="connsiteY9-828" fmla="*/ 32194 h 1876292"/>
                <a:gd name="connsiteX10-829" fmla="*/ 413257 w 1586870"/>
                <a:gd name="connsiteY10-830" fmla="*/ 616342 h 1876292"/>
                <a:gd name="connsiteX0-831" fmla="*/ 284962 w 1458575"/>
                <a:gd name="connsiteY0-832" fmla="*/ 616342 h 1908017"/>
                <a:gd name="connsiteX1-833" fmla="*/ 12578 w 1458575"/>
                <a:gd name="connsiteY1-834" fmla="*/ 993617 h 1908017"/>
                <a:gd name="connsiteX2-835" fmla="*/ 172388 w 1458575"/>
                <a:gd name="connsiteY2-836" fmla="*/ 1775069 h 1908017"/>
                <a:gd name="connsiteX3-837" fmla="*/ 1243711 w 1458575"/>
                <a:gd name="connsiteY3-838" fmla="*/ 1851627 h 1908017"/>
                <a:gd name="connsiteX4-839" fmla="*/ 1455290 w 1458575"/>
                <a:gd name="connsiteY4-840" fmla="*/ 1190207 h 1908017"/>
                <a:gd name="connsiteX5-841" fmla="*/ 1172733 w 1458575"/>
                <a:gd name="connsiteY5-842" fmla="*/ 930051 h 1908017"/>
                <a:gd name="connsiteX6-843" fmla="*/ 1450875 w 1458575"/>
                <a:gd name="connsiteY6-844" fmla="*/ 523246 h 1908017"/>
                <a:gd name="connsiteX7-845" fmla="*/ 1239101 w 1458575"/>
                <a:gd name="connsiteY7-846" fmla="*/ 131808 h 1908017"/>
                <a:gd name="connsiteX8-847" fmla="*/ 761660 w 1458575"/>
                <a:gd name="connsiteY8-848" fmla="*/ 32194 h 1908017"/>
                <a:gd name="connsiteX9-849" fmla="*/ 284962 w 1458575"/>
                <a:gd name="connsiteY9-850" fmla="*/ 616342 h 1908017"/>
                <a:gd name="connsiteX0-851" fmla="*/ 343858 w 1519131"/>
                <a:gd name="connsiteY0-852" fmla="*/ 616342 h 1885036"/>
                <a:gd name="connsiteX1-853" fmla="*/ 71474 w 1519131"/>
                <a:gd name="connsiteY1-854" fmla="*/ 993617 h 1885036"/>
                <a:gd name="connsiteX2-855" fmla="*/ 115432 w 1519131"/>
                <a:gd name="connsiteY2-856" fmla="*/ 1704358 h 1885036"/>
                <a:gd name="connsiteX3-857" fmla="*/ 1302607 w 1519131"/>
                <a:gd name="connsiteY3-858" fmla="*/ 1851627 h 1885036"/>
                <a:gd name="connsiteX4-859" fmla="*/ 1514186 w 1519131"/>
                <a:gd name="connsiteY4-860" fmla="*/ 1190207 h 1885036"/>
                <a:gd name="connsiteX5-861" fmla="*/ 1231629 w 1519131"/>
                <a:gd name="connsiteY5-862" fmla="*/ 930051 h 1885036"/>
                <a:gd name="connsiteX6-863" fmla="*/ 1509771 w 1519131"/>
                <a:gd name="connsiteY6-864" fmla="*/ 523246 h 1885036"/>
                <a:gd name="connsiteX7-865" fmla="*/ 1297997 w 1519131"/>
                <a:gd name="connsiteY7-866" fmla="*/ 131808 h 1885036"/>
                <a:gd name="connsiteX8-867" fmla="*/ 820556 w 1519131"/>
                <a:gd name="connsiteY8-868" fmla="*/ 32194 h 1885036"/>
                <a:gd name="connsiteX9-869" fmla="*/ 343858 w 1519131"/>
                <a:gd name="connsiteY9-870" fmla="*/ 616342 h 1885036"/>
                <a:gd name="connsiteX0-871" fmla="*/ 343858 w 1549812"/>
                <a:gd name="connsiteY0-872" fmla="*/ 616342 h 1800235"/>
                <a:gd name="connsiteX1-873" fmla="*/ 71474 w 1549812"/>
                <a:gd name="connsiteY1-874" fmla="*/ 993617 h 1800235"/>
                <a:gd name="connsiteX2-875" fmla="*/ 115432 w 1549812"/>
                <a:gd name="connsiteY2-876" fmla="*/ 1704358 h 1800235"/>
                <a:gd name="connsiteX3-877" fmla="*/ 1389496 w 1549812"/>
                <a:gd name="connsiteY3-878" fmla="*/ 1724347 h 1800235"/>
                <a:gd name="connsiteX4-879" fmla="*/ 1514186 w 1549812"/>
                <a:gd name="connsiteY4-880" fmla="*/ 1190207 h 1800235"/>
                <a:gd name="connsiteX5-881" fmla="*/ 1231629 w 1549812"/>
                <a:gd name="connsiteY5-882" fmla="*/ 930051 h 1800235"/>
                <a:gd name="connsiteX6-883" fmla="*/ 1509771 w 1549812"/>
                <a:gd name="connsiteY6-884" fmla="*/ 523246 h 1800235"/>
                <a:gd name="connsiteX7-885" fmla="*/ 1297997 w 1549812"/>
                <a:gd name="connsiteY7-886" fmla="*/ 131808 h 1800235"/>
                <a:gd name="connsiteX8-887" fmla="*/ 820556 w 1549812"/>
                <a:gd name="connsiteY8-888" fmla="*/ 32194 h 1800235"/>
                <a:gd name="connsiteX9-889" fmla="*/ 343858 w 1549812"/>
                <a:gd name="connsiteY9-890" fmla="*/ 616342 h 180023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235" y="connsiteY9-236"/>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22" name="Freeform 417">
              <a:extLst>
                <a:ext uri="{FF2B5EF4-FFF2-40B4-BE49-F238E27FC236}">
                  <a16:creationId xmlns:a16="http://schemas.microsoft.com/office/drawing/2014/main" id="{102C1FE7-41DB-2A49-8D36-AF0F236F5B10}"/>
                </a:ext>
              </a:extLst>
            </p:cNvPr>
            <p:cNvSpPr/>
            <p:nvPr/>
          </p:nvSpPr>
          <p:spPr bwMode="auto">
            <a:xfrm>
              <a:off x="7211070" y="1782787"/>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C4F0FF"/>
            </a:solidFill>
            <a:ln>
              <a:noFill/>
            </a:ln>
          </p:spPr>
          <p:txBody>
            <a:bodyPr/>
            <a:lstStyle/>
            <a:p>
              <a:endParaRPr lang="en-US" dirty="0"/>
            </a:p>
          </p:txBody>
        </p:sp>
        <p:grpSp>
          <p:nvGrpSpPr>
            <p:cNvPr id="423" name="Group 418">
              <a:extLst>
                <a:ext uri="{FF2B5EF4-FFF2-40B4-BE49-F238E27FC236}">
                  <a16:creationId xmlns:a16="http://schemas.microsoft.com/office/drawing/2014/main" id="{BE84A7A2-3D25-D142-899E-FB3C9AD5DC1A}"/>
                </a:ext>
              </a:extLst>
            </p:cNvPr>
            <p:cNvGrpSpPr/>
            <p:nvPr/>
          </p:nvGrpSpPr>
          <p:grpSpPr bwMode="auto">
            <a:xfrm>
              <a:off x="7268561" y="3259155"/>
              <a:ext cx="1458912" cy="933450"/>
              <a:chOff x="2889" y="1631"/>
              <a:chExt cx="980" cy="743"/>
            </a:xfrm>
          </p:grpSpPr>
          <p:sp>
            <p:nvSpPr>
              <p:cNvPr id="453" name="Rectangle 419">
                <a:extLst>
                  <a:ext uri="{FF2B5EF4-FFF2-40B4-BE49-F238E27FC236}">
                    <a16:creationId xmlns:a16="http://schemas.microsoft.com/office/drawing/2014/main" id="{BAA9A3AD-B129-A040-A980-7B221732C4F9}"/>
                  </a:ext>
                </a:extLst>
              </p:cNvPr>
              <p:cNvSpPr>
                <a:spLocks noChangeArrowheads="1"/>
              </p:cNvSpPr>
              <p:nvPr/>
            </p:nvSpPr>
            <p:spPr bwMode="auto">
              <a:xfrm>
                <a:off x="3046" y="1841"/>
                <a:ext cx="663" cy="533"/>
              </a:xfrm>
              <a:prstGeom prst="rect">
                <a:avLst/>
              </a:prstGeom>
              <a:solidFill>
                <a:srgbClr val="C4F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454" name="AutoShape 420">
                <a:extLst>
                  <a:ext uri="{FF2B5EF4-FFF2-40B4-BE49-F238E27FC236}">
                    <a16:creationId xmlns:a16="http://schemas.microsoft.com/office/drawing/2014/main" id="{C1D4391B-E932-344E-BF67-97CDD879E2A1}"/>
                  </a:ext>
                </a:extLst>
              </p:cNvPr>
              <p:cNvSpPr>
                <a:spLocks noChangeArrowheads="1"/>
              </p:cNvSpPr>
              <p:nvPr/>
            </p:nvSpPr>
            <p:spPr bwMode="auto">
              <a:xfrm>
                <a:off x="2889" y="1631"/>
                <a:ext cx="980" cy="253"/>
              </a:xfrm>
              <a:prstGeom prst="triangle">
                <a:avLst>
                  <a:gd name="adj" fmla="val 50000"/>
                </a:avLst>
              </a:prstGeom>
              <a:solidFill>
                <a:srgbClr val="C4F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endParaRPr lang="en-US" altLang="en-US" sz="2400" dirty="0">
                  <a:solidFill>
                    <a:srgbClr val="00CCFF"/>
                  </a:solidFill>
                  <a:latin typeface="Arial" panose="020B0604020202020204" pitchFamily="34" charset="0"/>
                </a:endParaRPr>
              </a:p>
            </p:txBody>
          </p:sp>
        </p:grpSp>
        <p:sp>
          <p:nvSpPr>
            <p:cNvPr id="424" name="Freeform 427">
              <a:extLst>
                <a:ext uri="{FF2B5EF4-FFF2-40B4-BE49-F238E27FC236}">
                  <a16:creationId xmlns:a16="http://schemas.microsoft.com/office/drawing/2014/main" id="{785B3AAA-9B75-5649-8F91-49FFB4AB6EAA}"/>
                </a:ext>
              </a:extLst>
            </p:cNvPr>
            <p:cNvSpPr/>
            <p:nvPr/>
          </p:nvSpPr>
          <p:spPr bwMode="auto">
            <a:xfrm>
              <a:off x="7852271" y="4648236"/>
              <a:ext cx="2705712" cy="1608445"/>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C4F0FF"/>
            </a:solidFill>
            <a:ln>
              <a:noFill/>
            </a:ln>
          </p:spPr>
          <p:txBody>
            <a:bodyPr/>
            <a:lstStyle/>
            <a:p>
              <a:endParaRPr lang="en-US" dirty="0"/>
            </a:p>
          </p:txBody>
        </p:sp>
        <p:sp>
          <p:nvSpPr>
            <p:cNvPr id="425" name="Text Box 580">
              <a:extLst>
                <a:ext uri="{FF2B5EF4-FFF2-40B4-BE49-F238E27FC236}">
                  <a16:creationId xmlns:a16="http://schemas.microsoft.com/office/drawing/2014/main" id="{9DA8B369-E65B-CF40-816C-5C32A03F2A50}"/>
                </a:ext>
              </a:extLst>
            </p:cNvPr>
            <p:cNvSpPr txBox="1">
              <a:spLocks noChangeArrowheads="1"/>
            </p:cNvSpPr>
            <p:nvPr/>
          </p:nvSpPr>
          <p:spPr bwMode="auto">
            <a:xfrm>
              <a:off x="7555447" y="1456963"/>
              <a:ext cx="1339406" cy="41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移动网络</a:t>
              </a:r>
            </a:p>
          </p:txBody>
        </p:sp>
        <p:sp>
          <p:nvSpPr>
            <p:cNvPr id="426" name="Text Box 580">
              <a:extLst>
                <a:ext uri="{FF2B5EF4-FFF2-40B4-BE49-F238E27FC236}">
                  <a16:creationId xmlns:a16="http://schemas.microsoft.com/office/drawing/2014/main" id="{A67C9426-3EF0-AB42-A692-FD01893DF819}"/>
                </a:ext>
              </a:extLst>
            </p:cNvPr>
            <p:cNvSpPr txBox="1">
              <a:spLocks noChangeArrowheads="1"/>
            </p:cNvSpPr>
            <p:nvPr/>
          </p:nvSpPr>
          <p:spPr bwMode="auto">
            <a:xfrm>
              <a:off x="7552739" y="4182263"/>
              <a:ext cx="1075422" cy="35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家庭网络</a:t>
              </a:r>
              <a:endParaRPr lang="zh-CN" altLang="en-US" sz="1400" dirty="0">
                <a:latin typeface="+mn-lt"/>
                <a:ea typeface="宋体" panose="02010600030101010101" pitchFamily="2" charset="-122"/>
              </a:endParaRPr>
            </a:p>
          </p:txBody>
        </p:sp>
        <p:sp>
          <p:nvSpPr>
            <p:cNvPr id="427" name="Text Box 580">
              <a:extLst>
                <a:ext uri="{FF2B5EF4-FFF2-40B4-BE49-F238E27FC236}">
                  <a16:creationId xmlns:a16="http://schemas.microsoft.com/office/drawing/2014/main" id="{72956B71-05E6-8A40-A0BD-53EB75DB6D62}"/>
                </a:ext>
              </a:extLst>
            </p:cNvPr>
            <p:cNvSpPr txBox="1">
              <a:spLocks noChangeArrowheads="1"/>
            </p:cNvSpPr>
            <p:nvPr/>
          </p:nvSpPr>
          <p:spPr bwMode="auto">
            <a:xfrm>
              <a:off x="7487273" y="5938839"/>
              <a:ext cx="1671522" cy="349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企业网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校园网</a:t>
              </a:r>
            </a:p>
          </p:txBody>
        </p:sp>
        <p:sp>
          <p:nvSpPr>
            <p:cNvPr id="428" name="Freeform 371">
              <a:extLst>
                <a:ext uri="{FF2B5EF4-FFF2-40B4-BE49-F238E27FC236}">
                  <a16:creationId xmlns:a16="http://schemas.microsoft.com/office/drawing/2014/main" id="{C2304B32-A3DF-924D-8773-D8AADDCF8031}"/>
                </a:ext>
              </a:extLst>
            </p:cNvPr>
            <p:cNvSpPr/>
            <p:nvPr/>
          </p:nvSpPr>
          <p:spPr>
            <a:xfrm>
              <a:off x="10285357" y="3149444"/>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1" fmla="*/ 434989 w 1537226"/>
                <a:gd name="connsiteY0-2" fmla="*/ 253346 h 1763594"/>
                <a:gd name="connsiteX1-3" fmla="*/ 488 w 1537226"/>
                <a:gd name="connsiteY1-4" fmla="*/ 921706 h 1763594"/>
                <a:gd name="connsiteX2-5" fmla="*/ 368142 w 1537226"/>
                <a:gd name="connsiteY2-6" fmla="*/ 1489812 h 1763594"/>
                <a:gd name="connsiteX3-7" fmla="*/ 1187008 w 1537226"/>
                <a:gd name="connsiteY3-8" fmla="*/ 1757156 h 1763594"/>
                <a:gd name="connsiteX4-9" fmla="*/ 1521239 w 1537226"/>
                <a:gd name="connsiteY4-10" fmla="*/ 1239177 h 1763594"/>
                <a:gd name="connsiteX5-11" fmla="*/ 1468998 w 1537226"/>
                <a:gd name="connsiteY5-12" fmla="*/ 654362 h 1763594"/>
                <a:gd name="connsiteX6-13" fmla="*/ 1337412 w 1537226"/>
                <a:gd name="connsiteY6-14" fmla="*/ 136383 h 1763594"/>
                <a:gd name="connsiteX7-15" fmla="*/ 1086739 w 1537226"/>
                <a:gd name="connsiteY7-16" fmla="*/ 2711 h 1763594"/>
                <a:gd name="connsiteX8-17" fmla="*/ 434989 w 1537226"/>
                <a:gd name="connsiteY8-18" fmla="*/ 253346 h 1763594"/>
                <a:gd name="connsiteX0-19" fmla="*/ 434989 w 1537226"/>
                <a:gd name="connsiteY0-20" fmla="*/ 253346 h 1763594"/>
                <a:gd name="connsiteX1-21" fmla="*/ 488 w 1537226"/>
                <a:gd name="connsiteY1-22" fmla="*/ 921706 h 1763594"/>
                <a:gd name="connsiteX2-23" fmla="*/ 368142 w 1537226"/>
                <a:gd name="connsiteY2-24" fmla="*/ 1489812 h 1763594"/>
                <a:gd name="connsiteX3-25" fmla="*/ 1187008 w 1537226"/>
                <a:gd name="connsiteY3-26" fmla="*/ 1757156 h 1763594"/>
                <a:gd name="connsiteX4-27" fmla="*/ 1521239 w 1537226"/>
                <a:gd name="connsiteY4-28" fmla="*/ 1239177 h 1763594"/>
                <a:gd name="connsiteX5-29" fmla="*/ 1468998 w 1537226"/>
                <a:gd name="connsiteY5-30" fmla="*/ 654362 h 1763594"/>
                <a:gd name="connsiteX6-31" fmla="*/ 1337412 w 1537226"/>
                <a:gd name="connsiteY6-32" fmla="*/ 136383 h 1763594"/>
                <a:gd name="connsiteX7-33" fmla="*/ 839572 w 1537226"/>
                <a:gd name="connsiteY7-34" fmla="*/ 2711 h 1763594"/>
                <a:gd name="connsiteX8-35" fmla="*/ 434989 w 1537226"/>
                <a:gd name="connsiteY8-36" fmla="*/ 253346 h 1763594"/>
                <a:gd name="connsiteX0-37" fmla="*/ 360357 w 1536743"/>
                <a:gd name="connsiteY0-38" fmla="*/ 534641 h 1782088"/>
                <a:gd name="connsiteX1-39" fmla="*/ 5 w 1536743"/>
                <a:gd name="connsiteY1-40" fmla="*/ 940200 h 1782088"/>
                <a:gd name="connsiteX2-41" fmla="*/ 367659 w 1536743"/>
                <a:gd name="connsiteY2-42" fmla="*/ 1508306 h 1782088"/>
                <a:gd name="connsiteX3-43" fmla="*/ 1186525 w 1536743"/>
                <a:gd name="connsiteY3-44" fmla="*/ 1775650 h 1782088"/>
                <a:gd name="connsiteX4-45" fmla="*/ 1520756 w 1536743"/>
                <a:gd name="connsiteY4-46" fmla="*/ 1257671 h 1782088"/>
                <a:gd name="connsiteX5-47" fmla="*/ 1468515 w 1536743"/>
                <a:gd name="connsiteY5-48" fmla="*/ 672856 h 1782088"/>
                <a:gd name="connsiteX6-49" fmla="*/ 1336929 w 1536743"/>
                <a:gd name="connsiteY6-50" fmla="*/ 154877 h 1782088"/>
                <a:gd name="connsiteX7-51" fmla="*/ 839089 w 1536743"/>
                <a:gd name="connsiteY7-52" fmla="*/ 21205 h 1782088"/>
                <a:gd name="connsiteX8-53" fmla="*/ 360357 w 1536743"/>
                <a:gd name="connsiteY8-54" fmla="*/ 534641 h 1782088"/>
                <a:gd name="connsiteX0-55" fmla="*/ 360355 w 1536741"/>
                <a:gd name="connsiteY0-56" fmla="*/ 534641 h 1782088"/>
                <a:gd name="connsiteX1-57" fmla="*/ 3 w 1536741"/>
                <a:gd name="connsiteY1-58" fmla="*/ 940200 h 1782088"/>
                <a:gd name="connsiteX2-59" fmla="*/ 367657 w 1536741"/>
                <a:gd name="connsiteY2-60" fmla="*/ 1508306 h 1782088"/>
                <a:gd name="connsiteX3-61" fmla="*/ 1186523 w 1536741"/>
                <a:gd name="connsiteY3-62" fmla="*/ 1775650 h 1782088"/>
                <a:gd name="connsiteX4-63" fmla="*/ 1520754 w 1536741"/>
                <a:gd name="connsiteY4-64" fmla="*/ 1257671 h 1782088"/>
                <a:gd name="connsiteX5-65" fmla="*/ 1468513 w 1536741"/>
                <a:gd name="connsiteY5-66" fmla="*/ 672856 h 1782088"/>
                <a:gd name="connsiteX6-67" fmla="*/ 1336927 w 1536741"/>
                <a:gd name="connsiteY6-68" fmla="*/ 154877 h 1782088"/>
                <a:gd name="connsiteX7-69" fmla="*/ 839087 w 1536741"/>
                <a:gd name="connsiteY7-70" fmla="*/ 21205 h 1782088"/>
                <a:gd name="connsiteX8-71" fmla="*/ 360355 w 1536741"/>
                <a:gd name="connsiteY8-72" fmla="*/ 534641 h 1782088"/>
                <a:gd name="connsiteX0-73" fmla="*/ 360355 w 1534770"/>
                <a:gd name="connsiteY0-74" fmla="*/ 553225 h 1800672"/>
                <a:gd name="connsiteX1-75" fmla="*/ 3 w 1534770"/>
                <a:gd name="connsiteY1-76" fmla="*/ 958784 h 1800672"/>
                <a:gd name="connsiteX2-77" fmla="*/ 367657 w 1534770"/>
                <a:gd name="connsiteY2-78" fmla="*/ 1526890 h 1800672"/>
                <a:gd name="connsiteX3-79" fmla="*/ 1186523 w 1534770"/>
                <a:gd name="connsiteY3-80" fmla="*/ 1794234 h 1800672"/>
                <a:gd name="connsiteX4-81" fmla="*/ 1520754 w 1534770"/>
                <a:gd name="connsiteY4-82" fmla="*/ 1276255 h 1800672"/>
                <a:gd name="connsiteX5-83" fmla="*/ 1468513 w 1534770"/>
                <a:gd name="connsiteY5-84" fmla="*/ 691440 h 1800672"/>
                <a:gd name="connsiteX6-85" fmla="*/ 1435794 w 1534770"/>
                <a:gd name="connsiteY6-86" fmla="*/ 107761 h 1800672"/>
                <a:gd name="connsiteX7-87" fmla="*/ 839087 w 1534770"/>
                <a:gd name="connsiteY7-88" fmla="*/ 39789 h 1800672"/>
                <a:gd name="connsiteX8-89" fmla="*/ 360355 w 1534770"/>
                <a:gd name="connsiteY8-90" fmla="*/ 553225 h 1800672"/>
                <a:gd name="connsiteX0-91" fmla="*/ 360355 w 1580585"/>
                <a:gd name="connsiteY0-92" fmla="*/ 553225 h 1880420"/>
                <a:gd name="connsiteX1-93" fmla="*/ 3 w 1580585"/>
                <a:gd name="connsiteY1-94" fmla="*/ 958784 h 1880420"/>
                <a:gd name="connsiteX2-95" fmla="*/ 367657 w 1580585"/>
                <a:gd name="connsiteY2-96" fmla="*/ 1526890 h 1880420"/>
                <a:gd name="connsiteX3-97" fmla="*/ 1186523 w 1580585"/>
                <a:gd name="connsiteY3-98" fmla="*/ 1794234 h 1880420"/>
                <a:gd name="connsiteX4-99" fmla="*/ 1570188 w 1580585"/>
                <a:gd name="connsiteY4-100" fmla="*/ 1785433 h 1880420"/>
                <a:gd name="connsiteX5-101" fmla="*/ 1468513 w 1580585"/>
                <a:gd name="connsiteY5-102" fmla="*/ 691440 h 1880420"/>
                <a:gd name="connsiteX6-103" fmla="*/ 1435794 w 1580585"/>
                <a:gd name="connsiteY6-104" fmla="*/ 107761 h 1880420"/>
                <a:gd name="connsiteX7-105" fmla="*/ 839087 w 1580585"/>
                <a:gd name="connsiteY7-106" fmla="*/ 39789 h 1880420"/>
                <a:gd name="connsiteX8-107" fmla="*/ 360355 w 1580585"/>
                <a:gd name="connsiteY8-108" fmla="*/ 553225 h 1880420"/>
                <a:gd name="connsiteX0-109" fmla="*/ 316588 w 1580732"/>
                <a:gd name="connsiteY0-110" fmla="*/ 359285 h 1867156"/>
                <a:gd name="connsiteX1-111" fmla="*/ 150 w 1580732"/>
                <a:gd name="connsiteY1-112" fmla="*/ 945520 h 1867156"/>
                <a:gd name="connsiteX2-113" fmla="*/ 367804 w 1580732"/>
                <a:gd name="connsiteY2-114" fmla="*/ 1513626 h 1867156"/>
                <a:gd name="connsiteX3-115" fmla="*/ 1186670 w 1580732"/>
                <a:gd name="connsiteY3-116" fmla="*/ 1780970 h 1867156"/>
                <a:gd name="connsiteX4-117" fmla="*/ 1570335 w 1580732"/>
                <a:gd name="connsiteY4-118" fmla="*/ 1772169 h 1867156"/>
                <a:gd name="connsiteX5-119" fmla="*/ 1468660 w 1580732"/>
                <a:gd name="connsiteY5-120" fmla="*/ 678176 h 1867156"/>
                <a:gd name="connsiteX6-121" fmla="*/ 1435941 w 1580732"/>
                <a:gd name="connsiteY6-122" fmla="*/ 94497 h 1867156"/>
                <a:gd name="connsiteX7-123" fmla="*/ 839234 w 1580732"/>
                <a:gd name="connsiteY7-124" fmla="*/ 26525 h 1867156"/>
                <a:gd name="connsiteX8-125" fmla="*/ 316588 w 1580732"/>
                <a:gd name="connsiteY8-126" fmla="*/ 359285 h 1867156"/>
                <a:gd name="connsiteX0-127" fmla="*/ 163575 w 1427719"/>
                <a:gd name="connsiteY0-128" fmla="*/ 359285 h 1867156"/>
                <a:gd name="connsiteX1-129" fmla="*/ 836 w 1427719"/>
                <a:gd name="connsiteY1-130" fmla="*/ 1076921 h 1867156"/>
                <a:gd name="connsiteX2-131" fmla="*/ 214791 w 1427719"/>
                <a:gd name="connsiteY2-132" fmla="*/ 1513626 h 1867156"/>
                <a:gd name="connsiteX3-133" fmla="*/ 1033657 w 1427719"/>
                <a:gd name="connsiteY3-134" fmla="*/ 1780970 h 1867156"/>
                <a:gd name="connsiteX4-135" fmla="*/ 1417322 w 1427719"/>
                <a:gd name="connsiteY4-136" fmla="*/ 1772169 h 1867156"/>
                <a:gd name="connsiteX5-137" fmla="*/ 1315647 w 1427719"/>
                <a:gd name="connsiteY5-138" fmla="*/ 678176 h 1867156"/>
                <a:gd name="connsiteX6-139" fmla="*/ 1282928 w 1427719"/>
                <a:gd name="connsiteY6-140" fmla="*/ 94497 h 1867156"/>
                <a:gd name="connsiteX7-141" fmla="*/ 686221 w 1427719"/>
                <a:gd name="connsiteY7-142" fmla="*/ 26525 h 1867156"/>
                <a:gd name="connsiteX8-143" fmla="*/ 163575 w 1427719"/>
                <a:gd name="connsiteY8-144" fmla="*/ 359285 h 1867156"/>
                <a:gd name="connsiteX0-145" fmla="*/ 163575 w 1426632"/>
                <a:gd name="connsiteY0-146" fmla="*/ 394322 h 1902193"/>
                <a:gd name="connsiteX1-147" fmla="*/ 836 w 1426632"/>
                <a:gd name="connsiteY1-148" fmla="*/ 1111958 h 1902193"/>
                <a:gd name="connsiteX2-149" fmla="*/ 214791 w 1426632"/>
                <a:gd name="connsiteY2-150" fmla="*/ 1548663 h 1902193"/>
                <a:gd name="connsiteX3-151" fmla="*/ 1033657 w 1426632"/>
                <a:gd name="connsiteY3-152" fmla="*/ 1816007 h 1902193"/>
                <a:gd name="connsiteX4-153" fmla="*/ 1417322 w 1426632"/>
                <a:gd name="connsiteY4-154" fmla="*/ 1807206 h 1902193"/>
                <a:gd name="connsiteX5-155" fmla="*/ 1315647 w 1426632"/>
                <a:gd name="connsiteY5-156" fmla="*/ 713213 h 1902193"/>
                <a:gd name="connsiteX6-157" fmla="*/ 1401843 w 1426632"/>
                <a:gd name="connsiteY6-158" fmla="*/ 63834 h 1902193"/>
                <a:gd name="connsiteX7-159" fmla="*/ 686221 w 1426632"/>
                <a:gd name="connsiteY7-160" fmla="*/ 61562 h 1902193"/>
                <a:gd name="connsiteX8-161" fmla="*/ 163575 w 1426632"/>
                <a:gd name="connsiteY8-162" fmla="*/ 394322 h 1902193"/>
                <a:gd name="connsiteX0-163" fmla="*/ 163575 w 1435249"/>
                <a:gd name="connsiteY0-164" fmla="*/ 394322 h 1885560"/>
                <a:gd name="connsiteX1-165" fmla="*/ 836 w 1435249"/>
                <a:gd name="connsiteY1-166" fmla="*/ 1111958 h 1885560"/>
                <a:gd name="connsiteX2-167" fmla="*/ 214791 w 1435249"/>
                <a:gd name="connsiteY2-168" fmla="*/ 1548663 h 1885560"/>
                <a:gd name="connsiteX3-169" fmla="*/ 1033657 w 1435249"/>
                <a:gd name="connsiteY3-170" fmla="*/ 1816007 h 1885560"/>
                <a:gd name="connsiteX4-171" fmla="*/ 1417322 w 1435249"/>
                <a:gd name="connsiteY4-172" fmla="*/ 1807206 h 1885560"/>
                <a:gd name="connsiteX5-173" fmla="*/ 1375103 w 1435249"/>
                <a:gd name="connsiteY5-174" fmla="*/ 943164 h 1885560"/>
                <a:gd name="connsiteX6-175" fmla="*/ 1401843 w 1435249"/>
                <a:gd name="connsiteY6-176" fmla="*/ 63834 h 1885560"/>
                <a:gd name="connsiteX7-177" fmla="*/ 686221 w 1435249"/>
                <a:gd name="connsiteY7-178" fmla="*/ 61562 h 1885560"/>
                <a:gd name="connsiteX8-179" fmla="*/ 163575 w 1435249"/>
                <a:gd name="connsiteY8-180" fmla="*/ 394322 h 1885560"/>
                <a:gd name="connsiteX0-181" fmla="*/ 128947 w 1438213"/>
                <a:gd name="connsiteY0-182" fmla="*/ 345176 h 1883146"/>
                <a:gd name="connsiteX1-183" fmla="*/ 3802 w 1438213"/>
                <a:gd name="connsiteY1-184" fmla="*/ 1109544 h 1883146"/>
                <a:gd name="connsiteX2-185" fmla="*/ 217757 w 1438213"/>
                <a:gd name="connsiteY2-186" fmla="*/ 1546249 h 1883146"/>
                <a:gd name="connsiteX3-187" fmla="*/ 1036623 w 1438213"/>
                <a:gd name="connsiteY3-188" fmla="*/ 1813593 h 1883146"/>
                <a:gd name="connsiteX4-189" fmla="*/ 1420288 w 1438213"/>
                <a:gd name="connsiteY4-190" fmla="*/ 1804792 h 1883146"/>
                <a:gd name="connsiteX5-191" fmla="*/ 1378069 w 1438213"/>
                <a:gd name="connsiteY5-192" fmla="*/ 940750 h 1883146"/>
                <a:gd name="connsiteX6-193" fmla="*/ 1404809 w 1438213"/>
                <a:gd name="connsiteY6-194" fmla="*/ 61420 h 1883146"/>
                <a:gd name="connsiteX7-195" fmla="*/ 689187 w 1438213"/>
                <a:gd name="connsiteY7-196" fmla="*/ 59148 h 1883146"/>
                <a:gd name="connsiteX8-197" fmla="*/ 128947 w 1438213"/>
                <a:gd name="connsiteY8-198" fmla="*/ 345176 h 1883146"/>
                <a:gd name="connsiteX0-199" fmla="*/ 126587 w 1435854"/>
                <a:gd name="connsiteY0-200" fmla="*/ 353278 h 1891248"/>
                <a:gd name="connsiteX1-201" fmla="*/ 1442 w 1435854"/>
                <a:gd name="connsiteY1-202" fmla="*/ 1117646 h 1891248"/>
                <a:gd name="connsiteX2-203" fmla="*/ 215397 w 1435854"/>
                <a:gd name="connsiteY2-204" fmla="*/ 1554351 h 1891248"/>
                <a:gd name="connsiteX3-205" fmla="*/ 1034263 w 1435854"/>
                <a:gd name="connsiteY3-206" fmla="*/ 1821695 h 1891248"/>
                <a:gd name="connsiteX4-207" fmla="*/ 1417928 w 1435854"/>
                <a:gd name="connsiteY4-208" fmla="*/ 1812894 h 1891248"/>
                <a:gd name="connsiteX5-209" fmla="*/ 1375709 w 1435854"/>
                <a:gd name="connsiteY5-210" fmla="*/ 948852 h 1891248"/>
                <a:gd name="connsiteX6-211" fmla="*/ 1402449 w 1435854"/>
                <a:gd name="connsiteY6-212" fmla="*/ 69522 h 1891248"/>
                <a:gd name="connsiteX7-213" fmla="*/ 221605 w 1435854"/>
                <a:gd name="connsiteY7-214" fmla="*/ 47778 h 1891248"/>
                <a:gd name="connsiteX8-215" fmla="*/ 126587 w 1435854"/>
                <a:gd name="connsiteY8-216" fmla="*/ 353278 h 1891248"/>
                <a:gd name="connsiteX0-217" fmla="*/ 35803 w 1453152"/>
                <a:gd name="connsiteY0-218" fmla="*/ 439993 h 1896181"/>
                <a:gd name="connsiteX1-219" fmla="*/ 18740 w 1453152"/>
                <a:gd name="connsiteY1-220" fmla="*/ 1122579 h 1896181"/>
                <a:gd name="connsiteX2-221" fmla="*/ 232695 w 1453152"/>
                <a:gd name="connsiteY2-222" fmla="*/ 1559284 h 1896181"/>
                <a:gd name="connsiteX3-223" fmla="*/ 1051561 w 1453152"/>
                <a:gd name="connsiteY3-224" fmla="*/ 1826628 h 1896181"/>
                <a:gd name="connsiteX4-225" fmla="*/ 1435226 w 1453152"/>
                <a:gd name="connsiteY4-226" fmla="*/ 1817827 h 1896181"/>
                <a:gd name="connsiteX5-227" fmla="*/ 1393007 w 1453152"/>
                <a:gd name="connsiteY5-228" fmla="*/ 953785 h 1896181"/>
                <a:gd name="connsiteX6-229" fmla="*/ 1419747 w 1453152"/>
                <a:gd name="connsiteY6-230" fmla="*/ 74455 h 1896181"/>
                <a:gd name="connsiteX7-231" fmla="*/ 238903 w 1453152"/>
                <a:gd name="connsiteY7-232" fmla="*/ 52711 h 1896181"/>
                <a:gd name="connsiteX8-233" fmla="*/ 35803 w 1453152"/>
                <a:gd name="connsiteY8-234" fmla="*/ 439993 h 1896181"/>
                <a:gd name="connsiteX0-235" fmla="*/ 35803 w 1447873"/>
                <a:gd name="connsiteY0-236" fmla="*/ 439993 h 1952840"/>
                <a:gd name="connsiteX1-237" fmla="*/ 18740 w 1447873"/>
                <a:gd name="connsiteY1-238" fmla="*/ 1122579 h 1952840"/>
                <a:gd name="connsiteX2-239" fmla="*/ 232695 w 1447873"/>
                <a:gd name="connsiteY2-240" fmla="*/ 1559284 h 1952840"/>
                <a:gd name="connsiteX3-241" fmla="*/ 1130848 w 1447873"/>
                <a:gd name="connsiteY3-242" fmla="*/ 1925181 h 1952840"/>
                <a:gd name="connsiteX4-243" fmla="*/ 1435226 w 1447873"/>
                <a:gd name="connsiteY4-244" fmla="*/ 1817827 h 1952840"/>
                <a:gd name="connsiteX5-245" fmla="*/ 1393007 w 1447873"/>
                <a:gd name="connsiteY5-246" fmla="*/ 953785 h 1952840"/>
                <a:gd name="connsiteX6-247" fmla="*/ 1419747 w 1447873"/>
                <a:gd name="connsiteY6-248" fmla="*/ 74455 h 1952840"/>
                <a:gd name="connsiteX7-249" fmla="*/ 238903 w 1447873"/>
                <a:gd name="connsiteY7-250" fmla="*/ 52711 h 1952840"/>
                <a:gd name="connsiteX8-251" fmla="*/ 35803 w 1447873"/>
                <a:gd name="connsiteY8-252" fmla="*/ 439993 h 19528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grpSp>
          <p:nvGrpSpPr>
            <p:cNvPr id="429" name="Group 373">
              <a:extLst>
                <a:ext uri="{FF2B5EF4-FFF2-40B4-BE49-F238E27FC236}">
                  <a16:creationId xmlns:a16="http://schemas.microsoft.com/office/drawing/2014/main" id="{087BBB73-B2A2-E246-82F7-E63CBF0BB249}"/>
                </a:ext>
              </a:extLst>
            </p:cNvPr>
            <p:cNvGrpSpPr/>
            <p:nvPr/>
          </p:nvGrpSpPr>
          <p:grpSpPr>
            <a:xfrm>
              <a:off x="10900911" y="3897954"/>
              <a:ext cx="687393" cy="721548"/>
              <a:chOff x="5203089" y="1751190"/>
              <a:chExt cx="858331" cy="662414"/>
            </a:xfrm>
          </p:grpSpPr>
          <p:sp>
            <p:nvSpPr>
              <p:cNvPr id="445" name="Freeform 381">
                <a:extLst>
                  <a:ext uri="{FF2B5EF4-FFF2-40B4-BE49-F238E27FC236}">
                    <a16:creationId xmlns:a16="http://schemas.microsoft.com/office/drawing/2014/main" id="{C658AD45-0194-3C45-A157-251A392EE944}"/>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1" fmla="*/ 3618 w 651290"/>
                  <a:gd name="connsiteY0-2" fmla="*/ 593378 h 593378"/>
                  <a:gd name="connsiteX1-3" fmla="*/ 0 w 651290"/>
                  <a:gd name="connsiteY1-4" fmla="*/ 242416 h 593378"/>
                  <a:gd name="connsiteX2-5" fmla="*/ 423338 w 651290"/>
                  <a:gd name="connsiteY2-6" fmla="*/ 101308 h 593378"/>
                  <a:gd name="connsiteX3-7" fmla="*/ 647672 w 651290"/>
                  <a:gd name="connsiteY3-8" fmla="*/ 0 h 593378"/>
                  <a:gd name="connsiteX4-9" fmla="*/ 651290 w 651290"/>
                  <a:gd name="connsiteY4-10" fmla="*/ 593378 h 593378"/>
                  <a:gd name="connsiteX5-11" fmla="*/ 3618 w 651290"/>
                  <a:gd name="connsiteY5-12" fmla="*/ 593378 h 593378"/>
                  <a:gd name="connsiteX0-13" fmla="*/ 3618 w 651290"/>
                  <a:gd name="connsiteY0-14" fmla="*/ 662124 h 662124"/>
                  <a:gd name="connsiteX1-15" fmla="*/ 0 w 651290"/>
                  <a:gd name="connsiteY1-16" fmla="*/ 311162 h 662124"/>
                  <a:gd name="connsiteX2-17" fmla="*/ 376300 w 651290"/>
                  <a:gd name="connsiteY2-18" fmla="*/ 0 h 662124"/>
                  <a:gd name="connsiteX3-19" fmla="*/ 647672 w 651290"/>
                  <a:gd name="connsiteY3-20" fmla="*/ 68746 h 662124"/>
                  <a:gd name="connsiteX4-21" fmla="*/ 651290 w 651290"/>
                  <a:gd name="connsiteY4-22" fmla="*/ 662124 h 662124"/>
                  <a:gd name="connsiteX5-23" fmla="*/ 3618 w 651290"/>
                  <a:gd name="connsiteY5-24" fmla="*/ 662124 h 662124"/>
                  <a:gd name="connsiteX0-25" fmla="*/ 0 w 647672"/>
                  <a:gd name="connsiteY0-26" fmla="*/ 662124 h 662124"/>
                  <a:gd name="connsiteX1-27" fmla="*/ 123021 w 647672"/>
                  <a:gd name="connsiteY1-28" fmla="*/ 83217 h 662124"/>
                  <a:gd name="connsiteX2-29" fmla="*/ 372682 w 647672"/>
                  <a:gd name="connsiteY2-30" fmla="*/ 0 h 662124"/>
                  <a:gd name="connsiteX3-31" fmla="*/ 644054 w 647672"/>
                  <a:gd name="connsiteY3-32" fmla="*/ 68746 h 662124"/>
                  <a:gd name="connsiteX4-33" fmla="*/ 647672 w 647672"/>
                  <a:gd name="connsiteY4-34" fmla="*/ 662124 h 662124"/>
                  <a:gd name="connsiteX5-35" fmla="*/ 0 w 647672"/>
                  <a:gd name="connsiteY5-36" fmla="*/ 662124 h 662124"/>
                  <a:gd name="connsiteX0-37" fmla="*/ 7238 w 524651"/>
                  <a:gd name="connsiteY0-38" fmla="*/ 669360 h 669360"/>
                  <a:gd name="connsiteX1-39" fmla="*/ 0 w 524651"/>
                  <a:gd name="connsiteY1-40" fmla="*/ 83217 h 669360"/>
                  <a:gd name="connsiteX2-41" fmla="*/ 249661 w 524651"/>
                  <a:gd name="connsiteY2-42" fmla="*/ 0 h 669360"/>
                  <a:gd name="connsiteX3-43" fmla="*/ 521033 w 524651"/>
                  <a:gd name="connsiteY3-44" fmla="*/ 68746 h 669360"/>
                  <a:gd name="connsiteX4-45" fmla="*/ 524651 w 524651"/>
                  <a:gd name="connsiteY4-46" fmla="*/ 662124 h 669360"/>
                  <a:gd name="connsiteX5-47" fmla="*/ 7238 w 524651"/>
                  <a:gd name="connsiteY5-48" fmla="*/ 669360 h 669360"/>
                  <a:gd name="connsiteX0-49" fmla="*/ 438 w 528706"/>
                  <a:gd name="connsiteY0-50" fmla="*/ 665742 h 665742"/>
                  <a:gd name="connsiteX1-51" fmla="*/ 4055 w 528706"/>
                  <a:gd name="connsiteY1-52" fmla="*/ 83217 h 665742"/>
                  <a:gd name="connsiteX2-53" fmla="*/ 253716 w 528706"/>
                  <a:gd name="connsiteY2-54" fmla="*/ 0 h 665742"/>
                  <a:gd name="connsiteX3-55" fmla="*/ 525088 w 528706"/>
                  <a:gd name="connsiteY3-56" fmla="*/ 68746 h 665742"/>
                  <a:gd name="connsiteX4-57" fmla="*/ 528706 w 528706"/>
                  <a:gd name="connsiteY4-58" fmla="*/ 662124 h 665742"/>
                  <a:gd name="connsiteX5-59" fmla="*/ 438 w 528706"/>
                  <a:gd name="connsiteY5-60" fmla="*/ 665742 h 665742"/>
                  <a:gd name="connsiteX0-61" fmla="*/ 155 w 546514"/>
                  <a:gd name="connsiteY0-62" fmla="*/ 662124 h 662124"/>
                  <a:gd name="connsiteX1-63" fmla="*/ 21863 w 546514"/>
                  <a:gd name="connsiteY1-64" fmla="*/ 83217 h 662124"/>
                  <a:gd name="connsiteX2-65" fmla="*/ 271524 w 546514"/>
                  <a:gd name="connsiteY2-66" fmla="*/ 0 h 662124"/>
                  <a:gd name="connsiteX3-67" fmla="*/ 542896 w 546514"/>
                  <a:gd name="connsiteY3-68" fmla="*/ 68746 h 662124"/>
                  <a:gd name="connsiteX4-69" fmla="*/ 546514 w 546514"/>
                  <a:gd name="connsiteY4-70" fmla="*/ 662124 h 662124"/>
                  <a:gd name="connsiteX5-71" fmla="*/ 155 w 546514"/>
                  <a:gd name="connsiteY5-72" fmla="*/ 662124 h 662124"/>
                  <a:gd name="connsiteX0-73" fmla="*/ 10856 w 524651"/>
                  <a:gd name="connsiteY0-74" fmla="*/ 658506 h 662124"/>
                  <a:gd name="connsiteX1-75" fmla="*/ 0 w 524651"/>
                  <a:gd name="connsiteY1-76" fmla="*/ 83217 h 662124"/>
                  <a:gd name="connsiteX2-77" fmla="*/ 249661 w 524651"/>
                  <a:gd name="connsiteY2-78" fmla="*/ 0 h 662124"/>
                  <a:gd name="connsiteX3-79" fmla="*/ 521033 w 524651"/>
                  <a:gd name="connsiteY3-80" fmla="*/ 68746 h 662124"/>
                  <a:gd name="connsiteX4-81" fmla="*/ 524651 w 524651"/>
                  <a:gd name="connsiteY4-82" fmla="*/ 662124 h 662124"/>
                  <a:gd name="connsiteX5-83" fmla="*/ 10856 w 524651"/>
                  <a:gd name="connsiteY5-84" fmla="*/ 658506 h 66212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46" name="Freeform 382">
                <a:extLst>
                  <a:ext uri="{FF2B5EF4-FFF2-40B4-BE49-F238E27FC236}">
                    <a16:creationId xmlns:a16="http://schemas.microsoft.com/office/drawing/2014/main" id="{8083729F-7EB9-4741-BAF6-B58DC99317A5}"/>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cxnSp>
            <p:nvCxnSpPr>
              <p:cNvPr id="447" name="Straight Connector 383">
                <a:extLst>
                  <a:ext uri="{FF2B5EF4-FFF2-40B4-BE49-F238E27FC236}">
                    <a16:creationId xmlns:a16="http://schemas.microsoft.com/office/drawing/2014/main" id="{9ED36586-1C0E-E048-8451-CD50CC5B7C33}"/>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8" name="Straight Connector 384">
                <a:extLst>
                  <a:ext uri="{FF2B5EF4-FFF2-40B4-BE49-F238E27FC236}">
                    <a16:creationId xmlns:a16="http://schemas.microsoft.com/office/drawing/2014/main" id="{786A2DB1-27AC-3441-9015-7A88C9DE2C00}"/>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9" name="Straight Connector 385">
                <a:extLst>
                  <a:ext uri="{FF2B5EF4-FFF2-40B4-BE49-F238E27FC236}">
                    <a16:creationId xmlns:a16="http://schemas.microsoft.com/office/drawing/2014/main" id="{FCFBED8C-BBFB-7146-B615-F044B34EDA0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0" name="Straight Connector 386">
                <a:extLst>
                  <a:ext uri="{FF2B5EF4-FFF2-40B4-BE49-F238E27FC236}">
                    <a16:creationId xmlns:a16="http://schemas.microsoft.com/office/drawing/2014/main" id="{FE225A92-2E0D-CC43-86FA-76D72A99BD1C}"/>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51" name="Straight Connector 387">
                <a:extLst>
                  <a:ext uri="{FF2B5EF4-FFF2-40B4-BE49-F238E27FC236}">
                    <a16:creationId xmlns:a16="http://schemas.microsoft.com/office/drawing/2014/main" id="{811257BC-A134-484C-AC49-53E3EDAADF1C}"/>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52" name="Straight Connector 388">
                <a:extLst>
                  <a:ext uri="{FF2B5EF4-FFF2-40B4-BE49-F238E27FC236}">
                    <a16:creationId xmlns:a16="http://schemas.microsoft.com/office/drawing/2014/main" id="{30F19A9D-11DF-A34F-90D9-CF15679702C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430" name="Group 390">
              <a:extLst>
                <a:ext uri="{FF2B5EF4-FFF2-40B4-BE49-F238E27FC236}">
                  <a16:creationId xmlns:a16="http://schemas.microsoft.com/office/drawing/2014/main" id="{419A9DB3-63CE-3045-9926-8F75F743C32D}"/>
                </a:ext>
              </a:extLst>
            </p:cNvPr>
            <p:cNvGrpSpPr/>
            <p:nvPr/>
          </p:nvGrpSpPr>
          <p:grpSpPr>
            <a:xfrm>
              <a:off x="10834382" y="3164075"/>
              <a:ext cx="594613" cy="648336"/>
              <a:chOff x="5203089" y="1751190"/>
              <a:chExt cx="858331" cy="662414"/>
            </a:xfrm>
          </p:grpSpPr>
          <p:sp>
            <p:nvSpPr>
              <p:cNvPr id="437" name="Freeform 398">
                <a:extLst>
                  <a:ext uri="{FF2B5EF4-FFF2-40B4-BE49-F238E27FC236}">
                    <a16:creationId xmlns:a16="http://schemas.microsoft.com/office/drawing/2014/main" id="{8ACB3CB7-431D-9F42-B533-A441F51B72E4}"/>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1" fmla="*/ 3618 w 651290"/>
                  <a:gd name="connsiteY0-2" fmla="*/ 593378 h 593378"/>
                  <a:gd name="connsiteX1-3" fmla="*/ 0 w 651290"/>
                  <a:gd name="connsiteY1-4" fmla="*/ 242416 h 593378"/>
                  <a:gd name="connsiteX2-5" fmla="*/ 423338 w 651290"/>
                  <a:gd name="connsiteY2-6" fmla="*/ 101308 h 593378"/>
                  <a:gd name="connsiteX3-7" fmla="*/ 647672 w 651290"/>
                  <a:gd name="connsiteY3-8" fmla="*/ 0 h 593378"/>
                  <a:gd name="connsiteX4-9" fmla="*/ 651290 w 651290"/>
                  <a:gd name="connsiteY4-10" fmla="*/ 593378 h 593378"/>
                  <a:gd name="connsiteX5-11" fmla="*/ 3618 w 651290"/>
                  <a:gd name="connsiteY5-12" fmla="*/ 593378 h 593378"/>
                  <a:gd name="connsiteX0-13" fmla="*/ 3618 w 651290"/>
                  <a:gd name="connsiteY0-14" fmla="*/ 662124 h 662124"/>
                  <a:gd name="connsiteX1-15" fmla="*/ 0 w 651290"/>
                  <a:gd name="connsiteY1-16" fmla="*/ 311162 h 662124"/>
                  <a:gd name="connsiteX2-17" fmla="*/ 376300 w 651290"/>
                  <a:gd name="connsiteY2-18" fmla="*/ 0 h 662124"/>
                  <a:gd name="connsiteX3-19" fmla="*/ 647672 w 651290"/>
                  <a:gd name="connsiteY3-20" fmla="*/ 68746 h 662124"/>
                  <a:gd name="connsiteX4-21" fmla="*/ 651290 w 651290"/>
                  <a:gd name="connsiteY4-22" fmla="*/ 662124 h 662124"/>
                  <a:gd name="connsiteX5-23" fmla="*/ 3618 w 651290"/>
                  <a:gd name="connsiteY5-24" fmla="*/ 662124 h 662124"/>
                  <a:gd name="connsiteX0-25" fmla="*/ 0 w 647672"/>
                  <a:gd name="connsiteY0-26" fmla="*/ 662124 h 662124"/>
                  <a:gd name="connsiteX1-27" fmla="*/ 123021 w 647672"/>
                  <a:gd name="connsiteY1-28" fmla="*/ 83217 h 662124"/>
                  <a:gd name="connsiteX2-29" fmla="*/ 372682 w 647672"/>
                  <a:gd name="connsiteY2-30" fmla="*/ 0 h 662124"/>
                  <a:gd name="connsiteX3-31" fmla="*/ 644054 w 647672"/>
                  <a:gd name="connsiteY3-32" fmla="*/ 68746 h 662124"/>
                  <a:gd name="connsiteX4-33" fmla="*/ 647672 w 647672"/>
                  <a:gd name="connsiteY4-34" fmla="*/ 662124 h 662124"/>
                  <a:gd name="connsiteX5-35" fmla="*/ 0 w 647672"/>
                  <a:gd name="connsiteY5-36" fmla="*/ 662124 h 662124"/>
                  <a:gd name="connsiteX0-37" fmla="*/ 7238 w 524651"/>
                  <a:gd name="connsiteY0-38" fmla="*/ 669360 h 669360"/>
                  <a:gd name="connsiteX1-39" fmla="*/ 0 w 524651"/>
                  <a:gd name="connsiteY1-40" fmla="*/ 83217 h 669360"/>
                  <a:gd name="connsiteX2-41" fmla="*/ 249661 w 524651"/>
                  <a:gd name="connsiteY2-42" fmla="*/ 0 h 669360"/>
                  <a:gd name="connsiteX3-43" fmla="*/ 521033 w 524651"/>
                  <a:gd name="connsiteY3-44" fmla="*/ 68746 h 669360"/>
                  <a:gd name="connsiteX4-45" fmla="*/ 524651 w 524651"/>
                  <a:gd name="connsiteY4-46" fmla="*/ 662124 h 669360"/>
                  <a:gd name="connsiteX5-47" fmla="*/ 7238 w 524651"/>
                  <a:gd name="connsiteY5-48" fmla="*/ 669360 h 669360"/>
                  <a:gd name="connsiteX0-49" fmla="*/ 438 w 528706"/>
                  <a:gd name="connsiteY0-50" fmla="*/ 665742 h 665742"/>
                  <a:gd name="connsiteX1-51" fmla="*/ 4055 w 528706"/>
                  <a:gd name="connsiteY1-52" fmla="*/ 83217 h 665742"/>
                  <a:gd name="connsiteX2-53" fmla="*/ 253716 w 528706"/>
                  <a:gd name="connsiteY2-54" fmla="*/ 0 h 665742"/>
                  <a:gd name="connsiteX3-55" fmla="*/ 525088 w 528706"/>
                  <a:gd name="connsiteY3-56" fmla="*/ 68746 h 665742"/>
                  <a:gd name="connsiteX4-57" fmla="*/ 528706 w 528706"/>
                  <a:gd name="connsiteY4-58" fmla="*/ 662124 h 665742"/>
                  <a:gd name="connsiteX5-59" fmla="*/ 438 w 528706"/>
                  <a:gd name="connsiteY5-60" fmla="*/ 665742 h 665742"/>
                  <a:gd name="connsiteX0-61" fmla="*/ 155 w 546514"/>
                  <a:gd name="connsiteY0-62" fmla="*/ 662124 h 662124"/>
                  <a:gd name="connsiteX1-63" fmla="*/ 21863 w 546514"/>
                  <a:gd name="connsiteY1-64" fmla="*/ 83217 h 662124"/>
                  <a:gd name="connsiteX2-65" fmla="*/ 271524 w 546514"/>
                  <a:gd name="connsiteY2-66" fmla="*/ 0 h 662124"/>
                  <a:gd name="connsiteX3-67" fmla="*/ 542896 w 546514"/>
                  <a:gd name="connsiteY3-68" fmla="*/ 68746 h 662124"/>
                  <a:gd name="connsiteX4-69" fmla="*/ 546514 w 546514"/>
                  <a:gd name="connsiteY4-70" fmla="*/ 662124 h 662124"/>
                  <a:gd name="connsiteX5-71" fmla="*/ 155 w 546514"/>
                  <a:gd name="connsiteY5-72" fmla="*/ 662124 h 662124"/>
                  <a:gd name="connsiteX0-73" fmla="*/ 10856 w 524651"/>
                  <a:gd name="connsiteY0-74" fmla="*/ 658506 h 662124"/>
                  <a:gd name="connsiteX1-75" fmla="*/ 0 w 524651"/>
                  <a:gd name="connsiteY1-76" fmla="*/ 83217 h 662124"/>
                  <a:gd name="connsiteX2-77" fmla="*/ 249661 w 524651"/>
                  <a:gd name="connsiteY2-78" fmla="*/ 0 h 662124"/>
                  <a:gd name="connsiteX3-79" fmla="*/ 521033 w 524651"/>
                  <a:gd name="connsiteY3-80" fmla="*/ 68746 h 662124"/>
                  <a:gd name="connsiteX4-81" fmla="*/ 524651 w 524651"/>
                  <a:gd name="connsiteY4-82" fmla="*/ 662124 h 662124"/>
                  <a:gd name="connsiteX5-83" fmla="*/ 10856 w 524651"/>
                  <a:gd name="connsiteY5-84" fmla="*/ 658506 h 66212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38" name="Freeform 399">
                <a:extLst>
                  <a:ext uri="{FF2B5EF4-FFF2-40B4-BE49-F238E27FC236}">
                    <a16:creationId xmlns:a16="http://schemas.microsoft.com/office/drawing/2014/main" id="{581D5597-33F7-BE4C-B9E5-32CAA1782E9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cxnSp>
            <p:nvCxnSpPr>
              <p:cNvPr id="439" name="Straight Connector 400">
                <a:extLst>
                  <a:ext uri="{FF2B5EF4-FFF2-40B4-BE49-F238E27FC236}">
                    <a16:creationId xmlns:a16="http://schemas.microsoft.com/office/drawing/2014/main" id="{8B233599-A13D-9E44-B410-9502629783D0}"/>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0" name="Straight Connector 401">
                <a:extLst>
                  <a:ext uri="{FF2B5EF4-FFF2-40B4-BE49-F238E27FC236}">
                    <a16:creationId xmlns:a16="http://schemas.microsoft.com/office/drawing/2014/main" id="{9AB09D9A-4B1A-DB4E-B22A-D5C5A5810C2E}"/>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1" name="Straight Connector 402">
                <a:extLst>
                  <a:ext uri="{FF2B5EF4-FFF2-40B4-BE49-F238E27FC236}">
                    <a16:creationId xmlns:a16="http://schemas.microsoft.com/office/drawing/2014/main" id="{263EE3D4-9070-D243-88CF-80F39190DEC9}"/>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2" name="Straight Connector 403">
                <a:extLst>
                  <a:ext uri="{FF2B5EF4-FFF2-40B4-BE49-F238E27FC236}">
                    <a16:creationId xmlns:a16="http://schemas.microsoft.com/office/drawing/2014/main" id="{C769E00A-896F-974E-AEED-B8D4A339CB29}"/>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43" name="Straight Connector 404">
                <a:extLst>
                  <a:ext uri="{FF2B5EF4-FFF2-40B4-BE49-F238E27FC236}">
                    <a16:creationId xmlns:a16="http://schemas.microsoft.com/office/drawing/2014/main" id="{9AD2BB7A-0FCA-6642-AD18-DB1A5109D2E0}"/>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44" name="Straight Connector 405">
                <a:extLst>
                  <a:ext uri="{FF2B5EF4-FFF2-40B4-BE49-F238E27FC236}">
                    <a16:creationId xmlns:a16="http://schemas.microsoft.com/office/drawing/2014/main" id="{1D49D6A9-B1A3-224B-825D-16A0C1D81E4B}"/>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431" name="Freeform 561">
              <a:extLst>
                <a:ext uri="{FF2B5EF4-FFF2-40B4-BE49-F238E27FC236}">
                  <a16:creationId xmlns:a16="http://schemas.microsoft.com/office/drawing/2014/main" id="{A7E3E1BE-8E76-1E48-B937-46AADF88E48A}"/>
                </a:ext>
              </a:extLst>
            </p:cNvPr>
            <p:cNvSpPr/>
            <p:nvPr/>
          </p:nvSpPr>
          <p:spPr>
            <a:xfrm>
              <a:off x="9749097" y="1798401"/>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1" fmla="*/ 434989 w 1537226"/>
                <a:gd name="connsiteY0-2" fmla="*/ 253346 h 1763594"/>
                <a:gd name="connsiteX1-3" fmla="*/ 488 w 1537226"/>
                <a:gd name="connsiteY1-4" fmla="*/ 921706 h 1763594"/>
                <a:gd name="connsiteX2-5" fmla="*/ 368142 w 1537226"/>
                <a:gd name="connsiteY2-6" fmla="*/ 1489812 h 1763594"/>
                <a:gd name="connsiteX3-7" fmla="*/ 1187008 w 1537226"/>
                <a:gd name="connsiteY3-8" fmla="*/ 1757156 h 1763594"/>
                <a:gd name="connsiteX4-9" fmla="*/ 1521239 w 1537226"/>
                <a:gd name="connsiteY4-10" fmla="*/ 1239177 h 1763594"/>
                <a:gd name="connsiteX5-11" fmla="*/ 1468998 w 1537226"/>
                <a:gd name="connsiteY5-12" fmla="*/ 654362 h 1763594"/>
                <a:gd name="connsiteX6-13" fmla="*/ 1337412 w 1537226"/>
                <a:gd name="connsiteY6-14" fmla="*/ 136383 h 1763594"/>
                <a:gd name="connsiteX7-15" fmla="*/ 1086739 w 1537226"/>
                <a:gd name="connsiteY7-16" fmla="*/ 2711 h 1763594"/>
                <a:gd name="connsiteX8-17" fmla="*/ 434989 w 1537226"/>
                <a:gd name="connsiteY8-18" fmla="*/ 253346 h 1763594"/>
                <a:gd name="connsiteX0-19" fmla="*/ 434989 w 1537226"/>
                <a:gd name="connsiteY0-20" fmla="*/ 253346 h 1763594"/>
                <a:gd name="connsiteX1-21" fmla="*/ 488 w 1537226"/>
                <a:gd name="connsiteY1-22" fmla="*/ 921706 h 1763594"/>
                <a:gd name="connsiteX2-23" fmla="*/ 368142 w 1537226"/>
                <a:gd name="connsiteY2-24" fmla="*/ 1489812 h 1763594"/>
                <a:gd name="connsiteX3-25" fmla="*/ 1187008 w 1537226"/>
                <a:gd name="connsiteY3-26" fmla="*/ 1757156 h 1763594"/>
                <a:gd name="connsiteX4-27" fmla="*/ 1521239 w 1537226"/>
                <a:gd name="connsiteY4-28" fmla="*/ 1239177 h 1763594"/>
                <a:gd name="connsiteX5-29" fmla="*/ 1468998 w 1537226"/>
                <a:gd name="connsiteY5-30" fmla="*/ 654362 h 1763594"/>
                <a:gd name="connsiteX6-31" fmla="*/ 1337412 w 1537226"/>
                <a:gd name="connsiteY6-32" fmla="*/ 136383 h 1763594"/>
                <a:gd name="connsiteX7-33" fmla="*/ 839572 w 1537226"/>
                <a:gd name="connsiteY7-34" fmla="*/ 2711 h 1763594"/>
                <a:gd name="connsiteX8-35" fmla="*/ 434989 w 1537226"/>
                <a:gd name="connsiteY8-36" fmla="*/ 253346 h 1763594"/>
                <a:gd name="connsiteX0-37" fmla="*/ 360357 w 1536743"/>
                <a:gd name="connsiteY0-38" fmla="*/ 534641 h 1782088"/>
                <a:gd name="connsiteX1-39" fmla="*/ 5 w 1536743"/>
                <a:gd name="connsiteY1-40" fmla="*/ 940200 h 1782088"/>
                <a:gd name="connsiteX2-41" fmla="*/ 367659 w 1536743"/>
                <a:gd name="connsiteY2-42" fmla="*/ 1508306 h 1782088"/>
                <a:gd name="connsiteX3-43" fmla="*/ 1186525 w 1536743"/>
                <a:gd name="connsiteY3-44" fmla="*/ 1775650 h 1782088"/>
                <a:gd name="connsiteX4-45" fmla="*/ 1520756 w 1536743"/>
                <a:gd name="connsiteY4-46" fmla="*/ 1257671 h 1782088"/>
                <a:gd name="connsiteX5-47" fmla="*/ 1468515 w 1536743"/>
                <a:gd name="connsiteY5-48" fmla="*/ 672856 h 1782088"/>
                <a:gd name="connsiteX6-49" fmla="*/ 1336929 w 1536743"/>
                <a:gd name="connsiteY6-50" fmla="*/ 154877 h 1782088"/>
                <a:gd name="connsiteX7-51" fmla="*/ 839089 w 1536743"/>
                <a:gd name="connsiteY7-52" fmla="*/ 21205 h 1782088"/>
                <a:gd name="connsiteX8-53" fmla="*/ 360357 w 1536743"/>
                <a:gd name="connsiteY8-54" fmla="*/ 534641 h 1782088"/>
                <a:gd name="connsiteX0-55" fmla="*/ 360355 w 1536741"/>
                <a:gd name="connsiteY0-56" fmla="*/ 534641 h 1782088"/>
                <a:gd name="connsiteX1-57" fmla="*/ 3 w 1536741"/>
                <a:gd name="connsiteY1-58" fmla="*/ 940200 h 1782088"/>
                <a:gd name="connsiteX2-59" fmla="*/ 367657 w 1536741"/>
                <a:gd name="connsiteY2-60" fmla="*/ 1508306 h 1782088"/>
                <a:gd name="connsiteX3-61" fmla="*/ 1186523 w 1536741"/>
                <a:gd name="connsiteY3-62" fmla="*/ 1775650 h 1782088"/>
                <a:gd name="connsiteX4-63" fmla="*/ 1520754 w 1536741"/>
                <a:gd name="connsiteY4-64" fmla="*/ 1257671 h 1782088"/>
                <a:gd name="connsiteX5-65" fmla="*/ 1468513 w 1536741"/>
                <a:gd name="connsiteY5-66" fmla="*/ 672856 h 1782088"/>
                <a:gd name="connsiteX6-67" fmla="*/ 1336927 w 1536741"/>
                <a:gd name="connsiteY6-68" fmla="*/ 154877 h 1782088"/>
                <a:gd name="connsiteX7-69" fmla="*/ 839087 w 1536741"/>
                <a:gd name="connsiteY7-70" fmla="*/ 21205 h 1782088"/>
                <a:gd name="connsiteX8-71" fmla="*/ 360355 w 1536741"/>
                <a:gd name="connsiteY8-72" fmla="*/ 534641 h 1782088"/>
                <a:gd name="connsiteX0-73" fmla="*/ 360355 w 1494463"/>
                <a:gd name="connsiteY0-74" fmla="*/ 534641 h 1775651"/>
                <a:gd name="connsiteX1-75" fmla="*/ 3 w 1494463"/>
                <a:gd name="connsiteY1-76" fmla="*/ 940200 h 1775651"/>
                <a:gd name="connsiteX2-77" fmla="*/ 367657 w 1494463"/>
                <a:gd name="connsiteY2-78" fmla="*/ 1508306 h 1775651"/>
                <a:gd name="connsiteX3-79" fmla="*/ 1186523 w 1494463"/>
                <a:gd name="connsiteY3-80" fmla="*/ 1775650 h 1775651"/>
                <a:gd name="connsiteX4-81" fmla="*/ 1467465 w 1494463"/>
                <a:gd name="connsiteY4-82" fmla="*/ 1510813 h 1775651"/>
                <a:gd name="connsiteX5-83" fmla="*/ 1468513 w 1494463"/>
                <a:gd name="connsiteY5-84" fmla="*/ 672856 h 1775651"/>
                <a:gd name="connsiteX6-85" fmla="*/ 1336927 w 1494463"/>
                <a:gd name="connsiteY6-86" fmla="*/ 154877 h 1775651"/>
                <a:gd name="connsiteX7-87" fmla="*/ 839087 w 1494463"/>
                <a:gd name="connsiteY7-88" fmla="*/ 21205 h 1775651"/>
                <a:gd name="connsiteX8-89" fmla="*/ 360355 w 1494463"/>
                <a:gd name="connsiteY8-90" fmla="*/ 534641 h 1775651"/>
                <a:gd name="connsiteX0-91" fmla="*/ 360355 w 1491064"/>
                <a:gd name="connsiteY0-92" fmla="*/ 552327 h 1793337"/>
                <a:gd name="connsiteX1-93" fmla="*/ 3 w 1491064"/>
                <a:gd name="connsiteY1-94" fmla="*/ 957886 h 1793337"/>
                <a:gd name="connsiteX2-95" fmla="*/ 367657 w 1491064"/>
                <a:gd name="connsiteY2-96" fmla="*/ 1525992 h 1793337"/>
                <a:gd name="connsiteX3-97" fmla="*/ 1186523 w 1491064"/>
                <a:gd name="connsiteY3-98" fmla="*/ 1793336 h 1793337"/>
                <a:gd name="connsiteX4-99" fmla="*/ 1467465 w 1491064"/>
                <a:gd name="connsiteY4-100" fmla="*/ 1528499 h 1793337"/>
                <a:gd name="connsiteX5-101" fmla="*/ 1468513 w 1491064"/>
                <a:gd name="connsiteY5-102" fmla="*/ 690542 h 1793337"/>
                <a:gd name="connsiteX6-103" fmla="*/ 1407977 w 1491064"/>
                <a:gd name="connsiteY6-104" fmla="*/ 109278 h 1793337"/>
                <a:gd name="connsiteX7-105" fmla="*/ 839087 w 1491064"/>
                <a:gd name="connsiteY7-106" fmla="*/ 38891 h 1793337"/>
                <a:gd name="connsiteX8-107" fmla="*/ 360355 w 1491064"/>
                <a:gd name="connsiteY8-108" fmla="*/ 552327 h 1793337"/>
                <a:gd name="connsiteX0-109" fmla="*/ 360355 w 1502818"/>
                <a:gd name="connsiteY0-110" fmla="*/ 552327 h 1612281"/>
                <a:gd name="connsiteX1-111" fmla="*/ 3 w 1502818"/>
                <a:gd name="connsiteY1-112" fmla="*/ 957886 h 1612281"/>
                <a:gd name="connsiteX2-113" fmla="*/ 367657 w 1502818"/>
                <a:gd name="connsiteY2-114" fmla="*/ 1525992 h 1612281"/>
                <a:gd name="connsiteX3-115" fmla="*/ 1026659 w 1502818"/>
                <a:gd name="connsiteY3-116" fmla="*/ 1582385 h 1612281"/>
                <a:gd name="connsiteX4-117" fmla="*/ 1467465 w 1502818"/>
                <a:gd name="connsiteY4-118" fmla="*/ 1528499 h 1612281"/>
                <a:gd name="connsiteX5-119" fmla="*/ 1468513 w 1502818"/>
                <a:gd name="connsiteY5-120" fmla="*/ 690542 h 1612281"/>
                <a:gd name="connsiteX6-121" fmla="*/ 1407977 w 1502818"/>
                <a:gd name="connsiteY6-122" fmla="*/ 109278 h 1612281"/>
                <a:gd name="connsiteX7-123" fmla="*/ 839087 w 1502818"/>
                <a:gd name="connsiteY7-124" fmla="*/ 38891 h 1612281"/>
                <a:gd name="connsiteX8-125" fmla="*/ 360355 w 1502818"/>
                <a:gd name="connsiteY8-126" fmla="*/ 552327 h 1612281"/>
                <a:gd name="connsiteX0-127" fmla="*/ 360384 w 1502847"/>
                <a:gd name="connsiteY0-128" fmla="*/ 552327 h 1803602"/>
                <a:gd name="connsiteX1-129" fmla="*/ 32 w 1502847"/>
                <a:gd name="connsiteY1-130" fmla="*/ 957886 h 1803602"/>
                <a:gd name="connsiteX2-131" fmla="*/ 385448 w 1502847"/>
                <a:gd name="connsiteY2-132" fmla="*/ 1779134 h 1803602"/>
                <a:gd name="connsiteX3-133" fmla="*/ 1026688 w 1502847"/>
                <a:gd name="connsiteY3-134" fmla="*/ 1582385 h 1803602"/>
                <a:gd name="connsiteX4-135" fmla="*/ 1467494 w 1502847"/>
                <a:gd name="connsiteY4-136" fmla="*/ 1528499 h 1803602"/>
                <a:gd name="connsiteX5-137" fmla="*/ 1468542 w 1502847"/>
                <a:gd name="connsiteY5-138" fmla="*/ 690542 h 1803602"/>
                <a:gd name="connsiteX6-139" fmla="*/ 1408006 w 1502847"/>
                <a:gd name="connsiteY6-140" fmla="*/ 109278 h 1803602"/>
                <a:gd name="connsiteX7-141" fmla="*/ 839116 w 1502847"/>
                <a:gd name="connsiteY7-142" fmla="*/ 38891 h 1803602"/>
                <a:gd name="connsiteX8-143" fmla="*/ 360384 w 1502847"/>
                <a:gd name="connsiteY8-144" fmla="*/ 552327 h 1803602"/>
                <a:gd name="connsiteX0-145" fmla="*/ 360384 w 1502847"/>
                <a:gd name="connsiteY0-146" fmla="*/ 552327 h 1826319"/>
                <a:gd name="connsiteX1-147" fmla="*/ 32 w 1502847"/>
                <a:gd name="connsiteY1-148" fmla="*/ 957886 h 1826319"/>
                <a:gd name="connsiteX2-149" fmla="*/ 385448 w 1502847"/>
                <a:gd name="connsiteY2-150" fmla="*/ 1779134 h 1826319"/>
                <a:gd name="connsiteX3-151" fmla="*/ 1026688 w 1502847"/>
                <a:gd name="connsiteY3-152" fmla="*/ 1582385 h 1826319"/>
                <a:gd name="connsiteX4-153" fmla="*/ 1467494 w 1502847"/>
                <a:gd name="connsiteY4-154" fmla="*/ 1528499 h 1826319"/>
                <a:gd name="connsiteX5-155" fmla="*/ 1468542 w 1502847"/>
                <a:gd name="connsiteY5-156" fmla="*/ 690542 h 1826319"/>
                <a:gd name="connsiteX6-157" fmla="*/ 1408006 w 1502847"/>
                <a:gd name="connsiteY6-158" fmla="*/ 109278 h 1826319"/>
                <a:gd name="connsiteX7-159" fmla="*/ 839116 w 1502847"/>
                <a:gd name="connsiteY7-160" fmla="*/ 38891 h 1826319"/>
                <a:gd name="connsiteX8-161" fmla="*/ 360384 w 1502847"/>
                <a:gd name="connsiteY8-162" fmla="*/ 552327 h 1826319"/>
                <a:gd name="connsiteX0-163" fmla="*/ 289852 w 1503366"/>
                <a:gd name="connsiteY0-164" fmla="*/ 461730 h 1820101"/>
                <a:gd name="connsiteX1-165" fmla="*/ 551 w 1503366"/>
                <a:gd name="connsiteY1-166" fmla="*/ 951668 h 1820101"/>
                <a:gd name="connsiteX2-167" fmla="*/ 385967 w 1503366"/>
                <a:gd name="connsiteY2-168" fmla="*/ 1772916 h 1820101"/>
                <a:gd name="connsiteX3-169" fmla="*/ 1027207 w 1503366"/>
                <a:gd name="connsiteY3-170" fmla="*/ 1576167 h 1820101"/>
                <a:gd name="connsiteX4-171" fmla="*/ 1468013 w 1503366"/>
                <a:gd name="connsiteY4-172" fmla="*/ 1522281 h 1820101"/>
                <a:gd name="connsiteX5-173" fmla="*/ 1469061 w 1503366"/>
                <a:gd name="connsiteY5-174" fmla="*/ 684324 h 1820101"/>
                <a:gd name="connsiteX6-175" fmla="*/ 1408525 w 1503366"/>
                <a:gd name="connsiteY6-176" fmla="*/ 103060 h 1820101"/>
                <a:gd name="connsiteX7-177" fmla="*/ 839635 w 1503366"/>
                <a:gd name="connsiteY7-178" fmla="*/ 32673 h 1820101"/>
                <a:gd name="connsiteX8-179" fmla="*/ 289852 w 1503366"/>
                <a:gd name="connsiteY8-180" fmla="*/ 461730 h 1820101"/>
                <a:gd name="connsiteX0-181" fmla="*/ 293376 w 1506890"/>
                <a:gd name="connsiteY0-182" fmla="*/ 461730 h 1820101"/>
                <a:gd name="connsiteX1-183" fmla="*/ 4075 w 1506890"/>
                <a:gd name="connsiteY1-184" fmla="*/ 951668 h 1820101"/>
                <a:gd name="connsiteX2-185" fmla="*/ 389491 w 1506890"/>
                <a:gd name="connsiteY2-186" fmla="*/ 1772916 h 1820101"/>
                <a:gd name="connsiteX3-187" fmla="*/ 1030731 w 1506890"/>
                <a:gd name="connsiteY3-188" fmla="*/ 1576167 h 1820101"/>
                <a:gd name="connsiteX4-189" fmla="*/ 1471537 w 1506890"/>
                <a:gd name="connsiteY4-190" fmla="*/ 1522281 h 1820101"/>
                <a:gd name="connsiteX5-191" fmla="*/ 1472585 w 1506890"/>
                <a:gd name="connsiteY5-192" fmla="*/ 684324 h 1820101"/>
                <a:gd name="connsiteX6-193" fmla="*/ 1412049 w 1506890"/>
                <a:gd name="connsiteY6-194" fmla="*/ 103060 h 1820101"/>
                <a:gd name="connsiteX7-195" fmla="*/ 843159 w 1506890"/>
                <a:gd name="connsiteY7-196" fmla="*/ 32673 h 1820101"/>
                <a:gd name="connsiteX8-197" fmla="*/ 293376 w 1506890"/>
                <a:gd name="connsiteY8-198" fmla="*/ 461730 h 1820101"/>
                <a:gd name="connsiteX0-199" fmla="*/ 203955 w 1545103"/>
                <a:gd name="connsiteY0-200" fmla="*/ 206126 h 1802639"/>
                <a:gd name="connsiteX1-201" fmla="*/ 42288 w 1545103"/>
                <a:gd name="connsiteY1-202" fmla="*/ 934206 h 1802639"/>
                <a:gd name="connsiteX2-203" fmla="*/ 427704 w 1545103"/>
                <a:gd name="connsiteY2-204" fmla="*/ 1755454 h 1802639"/>
                <a:gd name="connsiteX3-205" fmla="*/ 1068944 w 1545103"/>
                <a:gd name="connsiteY3-206" fmla="*/ 1558705 h 1802639"/>
                <a:gd name="connsiteX4-207" fmla="*/ 1509750 w 1545103"/>
                <a:gd name="connsiteY4-208" fmla="*/ 1504819 h 1802639"/>
                <a:gd name="connsiteX5-209" fmla="*/ 1510798 w 1545103"/>
                <a:gd name="connsiteY5-210" fmla="*/ 666862 h 1802639"/>
                <a:gd name="connsiteX6-211" fmla="*/ 1450262 w 1545103"/>
                <a:gd name="connsiteY6-212" fmla="*/ 85598 h 1802639"/>
                <a:gd name="connsiteX7-213" fmla="*/ 881372 w 1545103"/>
                <a:gd name="connsiteY7-214" fmla="*/ 15211 h 1802639"/>
                <a:gd name="connsiteX8-215" fmla="*/ 203955 w 1545103"/>
                <a:gd name="connsiteY8-216" fmla="*/ 206126 h 1802639"/>
                <a:gd name="connsiteX0-217" fmla="*/ 147252 w 1634267"/>
                <a:gd name="connsiteY0-218" fmla="*/ 113266 h 1796376"/>
                <a:gd name="connsiteX1-219" fmla="*/ 131452 w 1634267"/>
                <a:gd name="connsiteY1-220" fmla="*/ 927943 h 1796376"/>
                <a:gd name="connsiteX2-221" fmla="*/ 516868 w 1634267"/>
                <a:gd name="connsiteY2-222" fmla="*/ 1749191 h 1796376"/>
                <a:gd name="connsiteX3-223" fmla="*/ 1158108 w 1634267"/>
                <a:gd name="connsiteY3-224" fmla="*/ 1552442 h 1796376"/>
                <a:gd name="connsiteX4-225" fmla="*/ 1598914 w 1634267"/>
                <a:gd name="connsiteY4-226" fmla="*/ 1498556 h 1796376"/>
                <a:gd name="connsiteX5-227" fmla="*/ 1599962 w 1634267"/>
                <a:gd name="connsiteY5-228" fmla="*/ 660599 h 1796376"/>
                <a:gd name="connsiteX6-229" fmla="*/ 1539426 w 1634267"/>
                <a:gd name="connsiteY6-230" fmla="*/ 79335 h 1796376"/>
                <a:gd name="connsiteX7-231" fmla="*/ 970536 w 1634267"/>
                <a:gd name="connsiteY7-232" fmla="*/ 8948 h 1796376"/>
                <a:gd name="connsiteX8-233" fmla="*/ 147252 w 1634267"/>
                <a:gd name="connsiteY8-234" fmla="*/ 113266 h 17963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432" name="TextBox 572">
              <a:extLst>
                <a:ext uri="{FF2B5EF4-FFF2-40B4-BE49-F238E27FC236}">
                  <a16:creationId xmlns:a16="http://schemas.microsoft.com/office/drawing/2014/main" id="{7A3C8C4A-7C29-B542-9108-FFC5AFE599DB}"/>
                </a:ext>
              </a:extLst>
            </p:cNvPr>
            <p:cNvSpPr txBox="1"/>
            <p:nvPr/>
          </p:nvSpPr>
          <p:spPr>
            <a:xfrm>
              <a:off x="9688571" y="1381732"/>
              <a:ext cx="1725088" cy="380453"/>
            </a:xfrm>
            <a:prstGeom prst="rect">
              <a:avLst/>
            </a:prstGeom>
            <a:noFill/>
          </p:spPr>
          <p:txBody>
            <a:bodyPr wrap="square" rtlCol="0">
              <a:spAutoFit/>
            </a:bodyPr>
            <a:lstStyle/>
            <a:p>
              <a:pPr>
                <a:lnSpc>
                  <a:spcPct val="90000"/>
                </a:lnSpc>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国家或全球ISP</a:t>
              </a:r>
            </a:p>
          </p:txBody>
        </p:sp>
        <p:sp>
          <p:nvSpPr>
            <p:cNvPr id="433" name="Rectangle 654">
              <a:extLst>
                <a:ext uri="{FF2B5EF4-FFF2-40B4-BE49-F238E27FC236}">
                  <a16:creationId xmlns:a16="http://schemas.microsoft.com/office/drawing/2014/main" id="{761465BC-FCDB-F74C-B68F-79C3291C2995}"/>
                </a:ext>
              </a:extLst>
            </p:cNvPr>
            <p:cNvSpPr/>
            <p:nvPr/>
          </p:nvSpPr>
          <p:spPr>
            <a:xfrm>
              <a:off x="9342279" y="3647812"/>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4" name="TextBox 652">
              <a:extLst>
                <a:ext uri="{FF2B5EF4-FFF2-40B4-BE49-F238E27FC236}">
                  <a16:creationId xmlns:a16="http://schemas.microsoft.com/office/drawing/2014/main" id="{CC320813-F765-3C4E-8F0E-D8A093244AA2}"/>
                </a:ext>
              </a:extLst>
            </p:cNvPr>
            <p:cNvSpPr txBox="1"/>
            <p:nvPr/>
          </p:nvSpPr>
          <p:spPr>
            <a:xfrm>
              <a:off x="8712332" y="3162722"/>
              <a:ext cx="954956" cy="381519"/>
            </a:xfrm>
            <a:prstGeom prst="rect">
              <a:avLst/>
            </a:prstGeom>
            <a:noFill/>
          </p:spPr>
          <p:txBody>
            <a:bodyPr wrap="square" rtlCol="0">
              <a:spAutoFit/>
            </a:bodyPr>
            <a:lstStyle/>
            <a:p>
              <a:pPr>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地区IS</a:t>
              </a:r>
              <a:r>
                <a:rPr lang="en-US" sz="2000" dirty="0">
                  <a:latin typeface="微软雅黑" panose="020B0503020204020204" pitchFamily="34" charset="-122"/>
                  <a:ea typeface="微软雅黑" panose="020B0503020204020204" pitchFamily="34" charset="-122"/>
                  <a:cs typeface="微软雅黑" panose="020B0503020204020204" pitchFamily="34" charset="-122"/>
                </a:rPr>
                <a:t>P</a:t>
              </a:r>
            </a:p>
          </p:txBody>
        </p:sp>
        <p:sp>
          <p:nvSpPr>
            <p:cNvPr id="436" name="TextBox 657">
              <a:extLst>
                <a:ext uri="{FF2B5EF4-FFF2-40B4-BE49-F238E27FC236}">
                  <a16:creationId xmlns:a16="http://schemas.microsoft.com/office/drawing/2014/main" id="{CCFED12F-4D41-C847-A9CF-850BAC75FFAF}"/>
                </a:ext>
              </a:extLst>
            </p:cNvPr>
            <p:cNvSpPr txBox="1"/>
            <p:nvPr/>
          </p:nvSpPr>
          <p:spPr>
            <a:xfrm>
              <a:off x="10557286" y="4964442"/>
              <a:ext cx="1370136" cy="639045"/>
            </a:xfrm>
            <a:prstGeom prst="rect">
              <a:avLst/>
            </a:prstGeom>
            <a:noFill/>
          </p:spPr>
          <p:txBody>
            <a:bodyPr wrap="square" rtlCol="0">
              <a:spAutoFit/>
            </a:bodyPr>
            <a:lstStyle/>
            <a:p>
              <a:pPr algn="ctr">
                <a:lnSpc>
                  <a:spcPct val="90000"/>
                </a:lnSpc>
              </a:pPr>
              <a:r>
                <a:rPr lang="en-US" sz="2000" dirty="0" err="1">
                  <a:latin typeface="微软雅黑" panose="020B0503020204020204" pitchFamily="34" charset="-122"/>
                  <a:ea typeface="微软雅黑" panose="020B0503020204020204" pitchFamily="34" charset="-122"/>
                </a:rPr>
                <a:t>内容提供商</a:t>
              </a:r>
              <a:br>
                <a:rPr lang="en-US" sz="2000" dirty="0">
                  <a:latin typeface="微软雅黑" panose="020B0503020204020204" pitchFamily="34" charset="-122"/>
                  <a:ea typeface="微软雅黑" panose="020B0503020204020204" pitchFamily="34" charset="-122"/>
                </a:rPr>
              </a:br>
              <a:r>
                <a:rPr lang="en-US" altLang="zh-CN" dirty="0" err="1">
                  <a:latin typeface="微软雅黑" panose="020B0503020204020204" pitchFamily="34" charset="-122"/>
                  <a:ea typeface="微软雅黑" panose="020B0503020204020204" pitchFamily="34" charset="-122"/>
                </a:rPr>
                <a:t>数据中心网络</a:t>
              </a:r>
              <a:endParaRPr lang="en-US" altLang="zh-CN" sz="2000" dirty="0">
                <a:latin typeface="微软雅黑" panose="020B0503020204020204" pitchFamily="34" charset="-122"/>
                <a:ea typeface="微软雅黑" panose="020B0503020204020204" pitchFamily="34" charset="-122"/>
              </a:endParaRPr>
            </a:p>
          </p:txBody>
        </p:sp>
      </p:grpSp>
      <p:cxnSp>
        <p:nvCxnSpPr>
          <p:cNvPr id="380" name="Straight Connector 829">
            <a:extLst>
              <a:ext uri="{FF2B5EF4-FFF2-40B4-BE49-F238E27FC236}">
                <a16:creationId xmlns:a16="http://schemas.microsoft.com/office/drawing/2014/main" id="{EDD091F5-528D-674C-B02F-D6FC65E729AD}"/>
              </a:ext>
            </a:extLst>
          </p:cNvPr>
          <p:cNvCxnSpPr/>
          <p:nvPr/>
        </p:nvCxnSpPr>
        <p:spPr>
          <a:xfrm flipH="1" flipV="1">
            <a:off x="10480495" y="3422625"/>
            <a:ext cx="472436" cy="616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1" name="Straight Connector 826">
            <a:extLst>
              <a:ext uri="{FF2B5EF4-FFF2-40B4-BE49-F238E27FC236}">
                <a16:creationId xmlns:a16="http://schemas.microsoft.com/office/drawing/2014/main" id="{14B3C3F5-FE23-6440-89F6-6DDC9BAFEE63}"/>
              </a:ext>
            </a:extLst>
          </p:cNvPr>
          <p:cNvCxnSpPr/>
          <p:nvPr/>
        </p:nvCxnSpPr>
        <p:spPr>
          <a:xfrm flipH="1" flipV="1">
            <a:off x="10595943" y="3481256"/>
            <a:ext cx="395675" cy="71544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2" name="Straight Connector 824">
            <a:extLst>
              <a:ext uri="{FF2B5EF4-FFF2-40B4-BE49-F238E27FC236}">
                <a16:creationId xmlns:a16="http://schemas.microsoft.com/office/drawing/2014/main" id="{7E13592B-B7ED-464F-8A4E-F1EDC1613C2B}"/>
              </a:ext>
            </a:extLst>
          </p:cNvPr>
          <p:cNvCxnSpPr/>
          <p:nvPr/>
        </p:nvCxnSpPr>
        <p:spPr>
          <a:xfrm flipV="1">
            <a:off x="10568557" y="3474224"/>
            <a:ext cx="384374" cy="38275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3" name="Straight Connector 822">
            <a:extLst>
              <a:ext uri="{FF2B5EF4-FFF2-40B4-BE49-F238E27FC236}">
                <a16:creationId xmlns:a16="http://schemas.microsoft.com/office/drawing/2014/main" id="{BBB94798-BC34-4E47-ACF2-7789D278C576}"/>
              </a:ext>
            </a:extLst>
          </p:cNvPr>
          <p:cNvCxnSpPr/>
          <p:nvPr/>
        </p:nvCxnSpPr>
        <p:spPr>
          <a:xfrm flipH="1" flipV="1">
            <a:off x="10492912" y="3436926"/>
            <a:ext cx="1" cy="47028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4" name="Straight Connector 818">
            <a:extLst>
              <a:ext uri="{FF2B5EF4-FFF2-40B4-BE49-F238E27FC236}">
                <a16:creationId xmlns:a16="http://schemas.microsoft.com/office/drawing/2014/main" id="{FCE7FA08-F840-F540-A0E0-9E0B5CF426A1}"/>
              </a:ext>
            </a:extLst>
          </p:cNvPr>
          <p:cNvCxnSpPr/>
          <p:nvPr/>
        </p:nvCxnSpPr>
        <p:spPr>
          <a:xfrm flipH="1" flipV="1">
            <a:off x="10469855" y="3898494"/>
            <a:ext cx="581780" cy="33754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5" name="Straight Connector 817">
            <a:extLst>
              <a:ext uri="{FF2B5EF4-FFF2-40B4-BE49-F238E27FC236}">
                <a16:creationId xmlns:a16="http://schemas.microsoft.com/office/drawing/2014/main" id="{E74BC9C0-21A5-8645-8172-51B1C6EFFD4A}"/>
              </a:ext>
            </a:extLst>
          </p:cNvPr>
          <p:cNvCxnSpPr/>
          <p:nvPr/>
        </p:nvCxnSpPr>
        <p:spPr>
          <a:xfrm flipH="1">
            <a:off x="9720040" y="3914081"/>
            <a:ext cx="74981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6" name="Straight Connector 815">
            <a:extLst>
              <a:ext uri="{FF2B5EF4-FFF2-40B4-BE49-F238E27FC236}">
                <a16:creationId xmlns:a16="http://schemas.microsoft.com/office/drawing/2014/main" id="{3212AA9C-5DC9-FB48-B647-70F19CF4F640}"/>
              </a:ext>
            </a:extLst>
          </p:cNvPr>
          <p:cNvCxnSpPr/>
          <p:nvPr/>
        </p:nvCxnSpPr>
        <p:spPr>
          <a:xfrm flipH="1">
            <a:off x="8947169" y="3914081"/>
            <a:ext cx="74981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7" name="Straight Connector 812">
            <a:extLst>
              <a:ext uri="{FF2B5EF4-FFF2-40B4-BE49-F238E27FC236}">
                <a16:creationId xmlns:a16="http://schemas.microsoft.com/office/drawing/2014/main" id="{59EDC5CD-BE33-044F-8F77-D4C4BCF469E4}"/>
              </a:ext>
            </a:extLst>
          </p:cNvPr>
          <p:cNvCxnSpPr/>
          <p:nvPr/>
        </p:nvCxnSpPr>
        <p:spPr>
          <a:xfrm flipH="1">
            <a:off x="9012666" y="3352479"/>
            <a:ext cx="437498" cy="50058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8" name="Straight Connector 810">
            <a:extLst>
              <a:ext uri="{FF2B5EF4-FFF2-40B4-BE49-F238E27FC236}">
                <a16:creationId xmlns:a16="http://schemas.microsoft.com/office/drawing/2014/main" id="{40500FBD-4976-7F4B-825E-0F524C548F01}"/>
              </a:ext>
            </a:extLst>
          </p:cNvPr>
          <p:cNvCxnSpPr/>
          <p:nvPr/>
        </p:nvCxnSpPr>
        <p:spPr>
          <a:xfrm>
            <a:off x="9534566" y="3352479"/>
            <a:ext cx="0" cy="52309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9" name="Straight Connector 807">
            <a:extLst>
              <a:ext uri="{FF2B5EF4-FFF2-40B4-BE49-F238E27FC236}">
                <a16:creationId xmlns:a16="http://schemas.microsoft.com/office/drawing/2014/main" id="{8979CA59-B582-BA44-A4B6-14F60755C82C}"/>
              </a:ext>
            </a:extLst>
          </p:cNvPr>
          <p:cNvCxnSpPr/>
          <p:nvPr/>
        </p:nvCxnSpPr>
        <p:spPr>
          <a:xfrm>
            <a:off x="9997433" y="2623471"/>
            <a:ext cx="558478" cy="81261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0" name="Straight Connector 562">
            <a:extLst>
              <a:ext uri="{FF2B5EF4-FFF2-40B4-BE49-F238E27FC236}">
                <a16:creationId xmlns:a16="http://schemas.microsoft.com/office/drawing/2014/main" id="{9BBB1B16-3257-9B4C-BD93-63D123AF849A}"/>
              </a:ext>
            </a:extLst>
          </p:cNvPr>
          <p:cNvCxnSpPr/>
          <p:nvPr/>
        </p:nvCxnSpPr>
        <p:spPr>
          <a:xfrm flipH="1">
            <a:off x="9609670" y="2565692"/>
            <a:ext cx="435219" cy="672686"/>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grpSp>
        <p:nvGrpSpPr>
          <p:cNvPr id="391" name="Group 802">
            <a:extLst>
              <a:ext uri="{FF2B5EF4-FFF2-40B4-BE49-F238E27FC236}">
                <a16:creationId xmlns:a16="http://schemas.microsoft.com/office/drawing/2014/main" id="{4CEE53F5-3ABE-D544-B828-FE275ADB136F}"/>
              </a:ext>
            </a:extLst>
          </p:cNvPr>
          <p:cNvGrpSpPr/>
          <p:nvPr/>
        </p:nvGrpSpPr>
        <p:grpSpPr>
          <a:xfrm>
            <a:off x="7051106" y="2016078"/>
            <a:ext cx="4094272" cy="3524387"/>
            <a:chOff x="7562238" y="2127325"/>
            <a:chExt cx="3578867" cy="3640283"/>
          </a:xfrm>
        </p:grpSpPr>
        <p:grpSp>
          <p:nvGrpSpPr>
            <p:cNvPr id="392" name="Group 799">
              <a:extLst>
                <a:ext uri="{FF2B5EF4-FFF2-40B4-BE49-F238E27FC236}">
                  <a16:creationId xmlns:a16="http://schemas.microsoft.com/office/drawing/2014/main" id="{2735D18B-C586-AF4D-A390-24842FE90E14}"/>
                </a:ext>
              </a:extLst>
            </p:cNvPr>
            <p:cNvGrpSpPr/>
            <p:nvPr/>
          </p:nvGrpSpPr>
          <p:grpSpPr>
            <a:xfrm>
              <a:off x="7857253" y="2127325"/>
              <a:ext cx="3283852" cy="3640283"/>
              <a:chOff x="7881336" y="2104198"/>
              <a:chExt cx="3283852" cy="3640283"/>
            </a:xfrm>
          </p:grpSpPr>
          <p:sp>
            <p:nvSpPr>
              <p:cNvPr id="397" name="Line 428">
                <a:extLst>
                  <a:ext uri="{FF2B5EF4-FFF2-40B4-BE49-F238E27FC236}">
                    <a16:creationId xmlns:a16="http://schemas.microsoft.com/office/drawing/2014/main" id="{3EE48E39-F279-F74D-BB35-CB2459DD1185}"/>
                  </a:ext>
                </a:extLst>
              </p:cNvPr>
              <p:cNvSpPr>
                <a:spLocks noChangeShapeType="1"/>
              </p:cNvSpPr>
              <p:nvPr/>
            </p:nvSpPr>
            <p:spPr bwMode="auto">
              <a:xfrm rot="16200000" flipV="1">
                <a:off x="9813692" y="5228612"/>
                <a:ext cx="388062" cy="75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398" name="Line 430">
                <a:extLst>
                  <a:ext uri="{FF2B5EF4-FFF2-40B4-BE49-F238E27FC236}">
                    <a16:creationId xmlns:a16="http://schemas.microsoft.com/office/drawing/2014/main" id="{291DBDD7-669E-5D47-9749-AA7A9BBC48B0}"/>
                  </a:ext>
                </a:extLst>
              </p:cNvPr>
              <p:cNvSpPr>
                <a:spLocks noChangeShapeType="1"/>
              </p:cNvSpPr>
              <p:nvPr/>
            </p:nvSpPr>
            <p:spPr bwMode="auto">
              <a:xfrm rot="16200000">
                <a:off x="10234009" y="5382159"/>
                <a:ext cx="0" cy="11430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399" name="Line 431">
                <a:extLst>
                  <a:ext uri="{FF2B5EF4-FFF2-40B4-BE49-F238E27FC236}">
                    <a16:creationId xmlns:a16="http://schemas.microsoft.com/office/drawing/2014/main" id="{6A7EE1F3-16BF-8E42-86C2-FC46C8A3F204}"/>
                  </a:ext>
                </a:extLst>
              </p:cNvPr>
              <p:cNvSpPr>
                <a:spLocks noChangeShapeType="1"/>
              </p:cNvSpPr>
              <p:nvPr/>
            </p:nvSpPr>
            <p:spPr bwMode="auto">
              <a:xfrm>
                <a:off x="9457042" y="4815390"/>
                <a:ext cx="524483" cy="261537"/>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00" name="Line 432">
                <a:extLst>
                  <a:ext uri="{FF2B5EF4-FFF2-40B4-BE49-F238E27FC236}">
                    <a16:creationId xmlns:a16="http://schemas.microsoft.com/office/drawing/2014/main" id="{22C588A4-AC47-5448-A776-97644AF9481D}"/>
                  </a:ext>
                </a:extLst>
              </p:cNvPr>
              <p:cNvSpPr>
                <a:spLocks noChangeShapeType="1"/>
              </p:cNvSpPr>
              <p:nvPr/>
            </p:nvSpPr>
            <p:spPr bwMode="auto">
              <a:xfrm flipV="1">
                <a:off x="8874149" y="4815390"/>
                <a:ext cx="569255" cy="246266"/>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01" name="Line 433">
                <a:extLst>
                  <a:ext uri="{FF2B5EF4-FFF2-40B4-BE49-F238E27FC236}">
                    <a16:creationId xmlns:a16="http://schemas.microsoft.com/office/drawing/2014/main" id="{FD5F8F2E-B95C-D947-9EE2-864D9DDC3969}"/>
                  </a:ext>
                </a:extLst>
              </p:cNvPr>
              <p:cNvSpPr>
                <a:spLocks noChangeShapeType="1"/>
              </p:cNvSpPr>
              <p:nvPr/>
            </p:nvSpPr>
            <p:spPr bwMode="auto">
              <a:xfrm flipV="1">
                <a:off x="8845827" y="5085749"/>
                <a:ext cx="1030502" cy="0"/>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02" name="Line 435">
                <a:extLst>
                  <a:ext uri="{FF2B5EF4-FFF2-40B4-BE49-F238E27FC236}">
                    <a16:creationId xmlns:a16="http://schemas.microsoft.com/office/drawing/2014/main" id="{C7FE4820-08A9-B14A-B882-D949B8E46A04}"/>
                  </a:ext>
                </a:extLst>
              </p:cNvPr>
              <p:cNvSpPr>
                <a:spLocks noChangeShapeType="1"/>
              </p:cNvSpPr>
              <p:nvPr/>
            </p:nvSpPr>
            <p:spPr bwMode="auto">
              <a:xfrm>
                <a:off x="8234290" y="5094207"/>
                <a:ext cx="226800" cy="12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3" name="Line 436">
                <a:extLst>
                  <a:ext uri="{FF2B5EF4-FFF2-40B4-BE49-F238E27FC236}">
                    <a16:creationId xmlns:a16="http://schemas.microsoft.com/office/drawing/2014/main" id="{F3B860B5-A725-EF4F-A550-4811F3AAB695}"/>
                  </a:ext>
                </a:extLst>
              </p:cNvPr>
              <p:cNvSpPr>
                <a:spLocks noChangeShapeType="1"/>
              </p:cNvSpPr>
              <p:nvPr/>
            </p:nvSpPr>
            <p:spPr bwMode="auto">
              <a:xfrm flipV="1">
                <a:off x="7972450" y="5267343"/>
                <a:ext cx="412750" cy="12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4" name="Line 439">
                <a:extLst>
                  <a:ext uri="{FF2B5EF4-FFF2-40B4-BE49-F238E27FC236}">
                    <a16:creationId xmlns:a16="http://schemas.microsoft.com/office/drawing/2014/main" id="{A03CC3A2-6297-7E42-B057-6F998ACA9C64}"/>
                  </a:ext>
                </a:extLst>
              </p:cNvPr>
              <p:cNvSpPr>
                <a:spLocks noChangeShapeType="1"/>
              </p:cNvSpPr>
              <p:nvPr/>
            </p:nvSpPr>
            <p:spPr bwMode="auto">
              <a:xfrm flipH="1">
                <a:off x="8397900" y="5259125"/>
                <a:ext cx="68080" cy="2939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5" name="Line 440">
                <a:extLst>
                  <a:ext uri="{FF2B5EF4-FFF2-40B4-BE49-F238E27FC236}">
                    <a16:creationId xmlns:a16="http://schemas.microsoft.com/office/drawing/2014/main" id="{68B40718-8BAA-8B43-8CD3-A37CFAA7379B}"/>
                  </a:ext>
                </a:extLst>
              </p:cNvPr>
              <p:cNvSpPr>
                <a:spLocks noChangeShapeType="1"/>
              </p:cNvSpPr>
              <p:nvPr/>
            </p:nvSpPr>
            <p:spPr bwMode="auto">
              <a:xfrm flipH="1" flipV="1">
                <a:off x="8512814" y="5284804"/>
                <a:ext cx="280374" cy="2698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6" name="Line 441">
                <a:extLst>
                  <a:ext uri="{FF2B5EF4-FFF2-40B4-BE49-F238E27FC236}">
                    <a16:creationId xmlns:a16="http://schemas.microsoft.com/office/drawing/2014/main" id="{D8AC568A-1D84-764A-987F-08876886601C}"/>
                  </a:ext>
                </a:extLst>
              </p:cNvPr>
              <p:cNvSpPr>
                <a:spLocks noChangeShapeType="1"/>
              </p:cNvSpPr>
              <p:nvPr/>
            </p:nvSpPr>
            <p:spPr bwMode="auto">
              <a:xfrm>
                <a:off x="8512814" y="5234921"/>
                <a:ext cx="914184" cy="4686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7" name="Line 443">
                <a:extLst>
                  <a:ext uri="{FF2B5EF4-FFF2-40B4-BE49-F238E27FC236}">
                    <a16:creationId xmlns:a16="http://schemas.microsoft.com/office/drawing/2014/main" id="{CE0CAF7F-7FE6-6F4C-84A1-0B811548F27D}"/>
                  </a:ext>
                </a:extLst>
              </p:cNvPr>
              <p:cNvSpPr>
                <a:spLocks noChangeShapeType="1"/>
              </p:cNvSpPr>
              <p:nvPr/>
            </p:nvSpPr>
            <p:spPr bwMode="auto">
              <a:xfrm>
                <a:off x="8271861" y="3806843"/>
                <a:ext cx="0" cy="13176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8" name="Line 449">
                <a:extLst>
                  <a:ext uri="{FF2B5EF4-FFF2-40B4-BE49-F238E27FC236}">
                    <a16:creationId xmlns:a16="http://schemas.microsoft.com/office/drawing/2014/main" id="{8226FD4F-53FA-284C-84D7-B85A7A8E3B73}"/>
                  </a:ext>
                </a:extLst>
              </p:cNvPr>
              <p:cNvSpPr>
                <a:spLocks noChangeShapeType="1"/>
              </p:cNvSpPr>
              <p:nvPr/>
            </p:nvSpPr>
            <p:spPr bwMode="auto">
              <a:xfrm flipV="1">
                <a:off x="7881336" y="4017980"/>
                <a:ext cx="168275" cy="31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sp>
            <p:nvSpPr>
              <p:cNvPr id="409" name="Line 428">
                <a:extLst>
                  <a:ext uri="{FF2B5EF4-FFF2-40B4-BE49-F238E27FC236}">
                    <a16:creationId xmlns:a16="http://schemas.microsoft.com/office/drawing/2014/main" id="{07ED8E17-0955-7148-92E8-15840FB823F0}"/>
                  </a:ext>
                </a:extLst>
              </p:cNvPr>
              <p:cNvSpPr>
                <a:spLocks noChangeShapeType="1"/>
              </p:cNvSpPr>
              <p:nvPr/>
            </p:nvSpPr>
            <p:spPr bwMode="auto">
              <a:xfrm rot="16200000" flipV="1">
                <a:off x="9909628" y="5560344"/>
                <a:ext cx="366793" cy="148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410" name="Line 440">
                <a:extLst>
                  <a:ext uri="{FF2B5EF4-FFF2-40B4-BE49-F238E27FC236}">
                    <a16:creationId xmlns:a16="http://schemas.microsoft.com/office/drawing/2014/main" id="{D663CBCA-0383-684B-9F7E-EE198D28D2C3}"/>
                  </a:ext>
                </a:extLst>
              </p:cNvPr>
              <p:cNvSpPr>
                <a:spLocks noChangeShapeType="1"/>
              </p:cNvSpPr>
              <p:nvPr/>
            </p:nvSpPr>
            <p:spPr bwMode="auto">
              <a:xfrm flipV="1">
                <a:off x="8483508" y="5013435"/>
                <a:ext cx="404236" cy="20777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cxnSp>
            <p:nvCxnSpPr>
              <p:cNvPr id="411" name="Straight Connector 563">
                <a:extLst>
                  <a:ext uri="{FF2B5EF4-FFF2-40B4-BE49-F238E27FC236}">
                    <a16:creationId xmlns:a16="http://schemas.microsoft.com/office/drawing/2014/main" id="{BDE46952-BBE4-D547-B381-722594BDFE47}"/>
                  </a:ext>
                </a:extLst>
              </p:cNvPr>
              <p:cNvCxnSpPr/>
              <p:nvPr/>
            </p:nvCxnSpPr>
            <p:spPr>
              <a:xfrm flipH="1">
                <a:off x="10124718" y="2146305"/>
                <a:ext cx="761467" cy="577355"/>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2" name="Straight Connector 564">
                <a:extLst>
                  <a:ext uri="{FF2B5EF4-FFF2-40B4-BE49-F238E27FC236}">
                    <a16:creationId xmlns:a16="http://schemas.microsoft.com/office/drawing/2014/main" id="{7A15A3C1-F5AF-8445-9BF3-493A20FB204E}"/>
                  </a:ext>
                </a:extLst>
              </p:cNvPr>
              <p:cNvCxnSpPr/>
              <p:nvPr/>
            </p:nvCxnSpPr>
            <p:spPr>
              <a:xfrm flipH="1">
                <a:off x="10124718" y="2245186"/>
                <a:ext cx="3970" cy="518461"/>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3" name="Straight Connector 565">
                <a:extLst>
                  <a:ext uri="{FF2B5EF4-FFF2-40B4-BE49-F238E27FC236}">
                    <a16:creationId xmlns:a16="http://schemas.microsoft.com/office/drawing/2014/main" id="{171E42FC-9FEE-9E4A-9E5C-1943ECD4018E}"/>
                  </a:ext>
                </a:extLst>
              </p:cNvPr>
              <p:cNvCxnSpPr/>
              <p:nvPr/>
            </p:nvCxnSpPr>
            <p:spPr>
              <a:xfrm flipH="1">
                <a:off x="10696218" y="2177379"/>
                <a:ext cx="149360" cy="518461"/>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4" name="Straight Connector 566">
                <a:extLst>
                  <a:ext uri="{FF2B5EF4-FFF2-40B4-BE49-F238E27FC236}">
                    <a16:creationId xmlns:a16="http://schemas.microsoft.com/office/drawing/2014/main" id="{C9C2C87D-5EE8-F54A-AF88-7E23C50F5AC9}"/>
                  </a:ext>
                </a:extLst>
              </p:cNvPr>
              <p:cNvCxnSpPr/>
              <p:nvPr/>
            </p:nvCxnSpPr>
            <p:spPr>
              <a:xfrm flipH="1">
                <a:off x="10166249" y="2695840"/>
                <a:ext cx="574283" cy="27820"/>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5" name="Straight Connector 567">
                <a:extLst>
                  <a:ext uri="{FF2B5EF4-FFF2-40B4-BE49-F238E27FC236}">
                    <a16:creationId xmlns:a16="http://schemas.microsoft.com/office/drawing/2014/main" id="{00D08555-F77E-2242-87F9-098DB6541FC7}"/>
                  </a:ext>
                </a:extLst>
              </p:cNvPr>
              <p:cNvCxnSpPr/>
              <p:nvPr/>
            </p:nvCxnSpPr>
            <p:spPr>
              <a:xfrm flipH="1">
                <a:off x="10093625" y="2146305"/>
                <a:ext cx="788589" cy="98881"/>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416" name="Straight Connector 568">
                <a:extLst>
                  <a:ext uri="{FF2B5EF4-FFF2-40B4-BE49-F238E27FC236}">
                    <a16:creationId xmlns:a16="http://schemas.microsoft.com/office/drawing/2014/main" id="{9BF9C176-FE3E-5D49-855C-A1045A92E84E}"/>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7" name="Straight Connector 569">
                <a:extLst>
                  <a:ext uri="{FF2B5EF4-FFF2-40B4-BE49-F238E27FC236}">
                    <a16:creationId xmlns:a16="http://schemas.microsoft.com/office/drawing/2014/main" id="{E0F3AC05-6305-3C41-8F6B-0061E3A12B78}"/>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8" name="Straight Connector 573">
                <a:extLst>
                  <a:ext uri="{FF2B5EF4-FFF2-40B4-BE49-F238E27FC236}">
                    <a16:creationId xmlns:a16="http://schemas.microsoft.com/office/drawing/2014/main" id="{0B93DACB-526F-894A-9785-4DC922683D16}"/>
                  </a:ext>
                </a:extLst>
              </p:cNvPr>
              <p:cNvCxnSpPr/>
              <p:nvPr/>
            </p:nvCxnSpPr>
            <p:spPr>
              <a:xfrm flipH="1">
                <a:off x="8793306" y="2245186"/>
                <a:ext cx="1300319" cy="606622"/>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419" name="Line 541">
                <a:extLst>
                  <a:ext uri="{FF2B5EF4-FFF2-40B4-BE49-F238E27FC236}">
                    <a16:creationId xmlns:a16="http://schemas.microsoft.com/office/drawing/2014/main" id="{BB55B30A-920B-1D40-B5B5-E2B3C5B35272}"/>
                  </a:ext>
                </a:extLst>
              </p:cNvPr>
              <p:cNvSpPr>
                <a:spLocks noChangeShapeType="1"/>
              </p:cNvSpPr>
              <p:nvPr/>
            </p:nvSpPr>
            <p:spPr bwMode="auto">
              <a:xfrm flipV="1">
                <a:off x="9402788" y="4090252"/>
                <a:ext cx="429324" cy="705603"/>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sp>
            <p:nvSpPr>
              <p:cNvPr id="420" name="Line 424">
                <a:extLst>
                  <a:ext uri="{FF2B5EF4-FFF2-40B4-BE49-F238E27FC236}">
                    <a16:creationId xmlns:a16="http://schemas.microsoft.com/office/drawing/2014/main" id="{CAF414A3-5343-A346-82A2-DB86B50D81D8}"/>
                  </a:ext>
                </a:extLst>
              </p:cNvPr>
              <p:cNvSpPr>
                <a:spLocks noChangeShapeType="1"/>
              </p:cNvSpPr>
              <p:nvPr/>
            </p:nvSpPr>
            <p:spPr bwMode="auto">
              <a:xfrm flipV="1">
                <a:off x="8268637" y="4024329"/>
                <a:ext cx="969051" cy="3175"/>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en-US" dirty="0"/>
              </a:p>
            </p:txBody>
          </p:sp>
        </p:grpSp>
        <p:pic>
          <p:nvPicPr>
            <p:cNvPr id="393" name="Picture 778" descr="antenna_radiation_stylized">
              <a:extLst>
                <a:ext uri="{FF2B5EF4-FFF2-40B4-BE49-F238E27FC236}">
                  <a16:creationId xmlns:a16="http://schemas.microsoft.com/office/drawing/2014/main" id="{545A5B6E-CB14-AB47-812E-D574131DC447}"/>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4" name="Picture 781" descr="antenna_radiation_stylized">
              <a:extLst>
                <a:ext uri="{FF2B5EF4-FFF2-40B4-BE49-F238E27FC236}">
                  <a16:creationId xmlns:a16="http://schemas.microsoft.com/office/drawing/2014/main" id="{168631EA-2B08-B44B-8A65-5EFB750C1B9E}"/>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5" name="Picture 799" descr="cell_tower_radiation copy">
              <a:extLst>
                <a:ext uri="{FF2B5EF4-FFF2-40B4-BE49-F238E27FC236}">
                  <a16:creationId xmlns:a16="http://schemas.microsoft.com/office/drawing/2014/main" id="{6E637350-3DE4-4B4A-993C-CF2873152980}"/>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6" name="Oval 800">
              <a:extLst>
                <a:ext uri="{FF2B5EF4-FFF2-40B4-BE49-F238E27FC236}">
                  <a16:creationId xmlns:a16="http://schemas.microsoft.com/office/drawing/2014/main" id="{1FE7124F-B4FF-FF4C-B7E3-60836B4AA470}"/>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pic>
        <p:nvPicPr>
          <p:cNvPr id="378" name="Picture 653" descr="iphone_stylized_small">
            <a:extLst>
              <a:ext uri="{FF2B5EF4-FFF2-40B4-BE49-F238E27FC236}">
                <a16:creationId xmlns:a16="http://schemas.microsoft.com/office/drawing/2014/main" id="{912CC87B-FA36-4847-93D4-744E608BC3E6}"/>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420060" y="1843476"/>
            <a:ext cx="156537" cy="317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 name="Picture 654" descr="antenna_radiation_stylized">
            <a:extLst>
              <a:ext uri="{FF2B5EF4-FFF2-40B4-BE49-F238E27FC236}">
                <a16:creationId xmlns:a16="http://schemas.microsoft.com/office/drawing/2014/main" id="{3695E6C3-F4B3-1A4A-AE31-EF41911B52E9}"/>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7237777" y="1788004"/>
            <a:ext cx="475789" cy="8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 name="Freeform 1039">
            <a:extLst>
              <a:ext uri="{FF2B5EF4-FFF2-40B4-BE49-F238E27FC236}">
                <a16:creationId xmlns:a16="http://schemas.microsoft.com/office/drawing/2014/main" id="{6968B171-80B8-D449-BA23-D8BBD502C69C}"/>
              </a:ext>
            </a:extLst>
          </p:cNvPr>
          <p:cNvSpPr/>
          <p:nvPr/>
        </p:nvSpPr>
        <p:spPr bwMode="auto">
          <a:xfrm flipV="1">
            <a:off x="7254338" y="2570576"/>
            <a:ext cx="135453" cy="71190"/>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349" name="Group 739">
            <a:extLst>
              <a:ext uri="{FF2B5EF4-FFF2-40B4-BE49-F238E27FC236}">
                <a16:creationId xmlns:a16="http://schemas.microsoft.com/office/drawing/2014/main" id="{D9D62056-FF77-C044-95DF-BA03C8D03805}"/>
              </a:ext>
            </a:extLst>
          </p:cNvPr>
          <p:cNvGrpSpPr/>
          <p:nvPr/>
        </p:nvGrpSpPr>
        <p:grpSpPr>
          <a:xfrm>
            <a:off x="8198197" y="2134381"/>
            <a:ext cx="607086" cy="462765"/>
            <a:chOff x="8631407" y="2290407"/>
            <a:chExt cx="530702" cy="478009"/>
          </a:xfrm>
        </p:grpSpPr>
        <p:pic>
          <p:nvPicPr>
            <p:cNvPr id="353" name="Picture 568" descr="light2.png">
              <a:extLst>
                <a:ext uri="{FF2B5EF4-FFF2-40B4-BE49-F238E27FC236}">
                  <a16:creationId xmlns:a16="http://schemas.microsoft.com/office/drawing/2014/main" id="{31D98EA3-0450-2048-97E3-064CE08C5928}"/>
                </a:ext>
              </a:extLst>
            </p:cNvPr>
            <p:cNvPicPr>
              <a:picLocks noChangeAspect="1"/>
            </p:cNvPicPr>
            <p:nvPr/>
          </p:nvPicPr>
          <p:blipFill>
            <a:blip r:embed="rId8">
              <a:extLst>
                <a:ext uri="{28A0092B-C50C-407E-A947-70E740481C1C}">
                  <a14:useLocalDpi xmlns:a14="http://schemas.microsoft.com/office/drawing/2010/main"/>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 name="Picture 1017" descr="antenna_stylized">
              <a:extLst>
                <a:ext uri="{FF2B5EF4-FFF2-40B4-BE49-F238E27FC236}">
                  <a16:creationId xmlns:a16="http://schemas.microsoft.com/office/drawing/2014/main" id="{7D6C4418-7D68-9D48-9021-717AE6EE25F2}"/>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51" name="Picture 603" descr="car_icon_small">
            <a:extLst>
              <a:ext uri="{FF2B5EF4-FFF2-40B4-BE49-F238E27FC236}">
                <a16:creationId xmlns:a16="http://schemas.microsoft.com/office/drawing/2014/main" id="{2394AE3D-DE8E-0040-A9D9-EB2515AB90EF}"/>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7953055" y="1917761"/>
            <a:ext cx="971553" cy="16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2" name="Picture 1017" descr="antenna_stylized">
            <a:extLst>
              <a:ext uri="{FF2B5EF4-FFF2-40B4-BE49-F238E27FC236}">
                <a16:creationId xmlns:a16="http://schemas.microsoft.com/office/drawing/2014/main" id="{27111506-DEBC-3241-BE3E-752A566ABC8A}"/>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8198197" y="1788004"/>
            <a:ext cx="607086" cy="216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7" name="Group 791">
            <a:extLst>
              <a:ext uri="{FF2B5EF4-FFF2-40B4-BE49-F238E27FC236}">
                <a16:creationId xmlns:a16="http://schemas.microsoft.com/office/drawing/2014/main" id="{08B91E60-94BC-294C-935E-12F3175C7B52}"/>
              </a:ext>
            </a:extLst>
          </p:cNvPr>
          <p:cNvGrpSpPr/>
          <p:nvPr/>
        </p:nvGrpSpPr>
        <p:grpSpPr>
          <a:xfrm>
            <a:off x="6967472" y="3305580"/>
            <a:ext cx="401298" cy="295774"/>
            <a:chOff x="7487144" y="3389820"/>
            <a:chExt cx="350807" cy="305517"/>
          </a:xfrm>
        </p:grpSpPr>
        <p:pic>
          <p:nvPicPr>
            <p:cNvPr id="324" name="Picture 1115" descr="antenna_stylized">
              <a:extLst>
                <a:ext uri="{FF2B5EF4-FFF2-40B4-BE49-F238E27FC236}">
                  <a16:creationId xmlns:a16="http://schemas.microsoft.com/office/drawing/2014/main" id="{712FC333-2903-2641-951D-87DE784D7C21}"/>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5" name="Picture 1116" descr="laptop_keyboard">
              <a:extLst>
                <a:ext uri="{FF2B5EF4-FFF2-40B4-BE49-F238E27FC236}">
                  <a16:creationId xmlns:a16="http://schemas.microsoft.com/office/drawing/2014/main" id="{92E07E52-8126-5246-BA51-CB8EA40D5409}"/>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6" name="Freeform 1117">
              <a:extLst>
                <a:ext uri="{FF2B5EF4-FFF2-40B4-BE49-F238E27FC236}">
                  <a16:creationId xmlns:a16="http://schemas.microsoft.com/office/drawing/2014/main" id="{324DD8E2-8FD6-E24C-BC4D-162FA69CEE38}"/>
                </a:ext>
              </a:extLst>
            </p:cNvPr>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327" name="Picture 1118" descr="screen">
              <a:extLst>
                <a:ext uri="{FF2B5EF4-FFF2-40B4-BE49-F238E27FC236}">
                  <a16:creationId xmlns:a16="http://schemas.microsoft.com/office/drawing/2014/main" id="{5E2C0711-2D83-8C46-B46D-2CFAE6F0421D}"/>
                </a:ext>
              </a:extLst>
            </p:cNvPr>
            <p:cNvPicPr>
              <a:picLocks noChangeAspect="1" noChangeArrowheads="1"/>
            </p:cNvPicPr>
            <p:nvPr/>
          </p:nvPicPr>
          <p:blipFill>
            <a:blip r:embed="rId13">
              <a:extLst>
                <a:ext uri="{28A0092B-C50C-407E-A947-70E740481C1C}">
                  <a14:useLocalDpi xmlns:a14="http://schemas.microsoft.com/office/drawing/2010/main"/>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Freeform 1119">
              <a:extLst>
                <a:ext uri="{FF2B5EF4-FFF2-40B4-BE49-F238E27FC236}">
                  <a16:creationId xmlns:a16="http://schemas.microsoft.com/office/drawing/2014/main" id="{E08710F5-BDBE-5748-A64D-82BD1998A803}"/>
                </a:ext>
              </a:extLst>
            </p:cNvPr>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29" name="Freeform 1120">
              <a:extLst>
                <a:ext uri="{FF2B5EF4-FFF2-40B4-BE49-F238E27FC236}">
                  <a16:creationId xmlns:a16="http://schemas.microsoft.com/office/drawing/2014/main" id="{35AEA85F-C402-274C-9D61-55C89719A748}"/>
                </a:ext>
              </a:extLst>
            </p:cNvPr>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0" name="Freeform 1121">
              <a:extLst>
                <a:ext uri="{FF2B5EF4-FFF2-40B4-BE49-F238E27FC236}">
                  <a16:creationId xmlns:a16="http://schemas.microsoft.com/office/drawing/2014/main" id="{DE7328D7-1219-C848-AD4C-D7A610F8D0CF}"/>
                </a:ext>
              </a:extLst>
            </p:cNvPr>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1" name="Freeform 1122">
              <a:extLst>
                <a:ext uri="{FF2B5EF4-FFF2-40B4-BE49-F238E27FC236}">
                  <a16:creationId xmlns:a16="http://schemas.microsoft.com/office/drawing/2014/main" id="{E9CDB942-E159-D840-B51B-5DD0871AC86D}"/>
                </a:ext>
              </a:extLst>
            </p:cNvPr>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2" name="Freeform 1123">
              <a:extLst>
                <a:ext uri="{FF2B5EF4-FFF2-40B4-BE49-F238E27FC236}">
                  <a16:creationId xmlns:a16="http://schemas.microsoft.com/office/drawing/2014/main" id="{784115E6-316F-4D47-A4FC-35701E0B95CD}"/>
                </a:ext>
              </a:extLst>
            </p:cNvPr>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3" name="Freeform 1124">
              <a:extLst>
                <a:ext uri="{FF2B5EF4-FFF2-40B4-BE49-F238E27FC236}">
                  <a16:creationId xmlns:a16="http://schemas.microsoft.com/office/drawing/2014/main" id="{EE6A0A6F-4CB0-DF4F-9CBC-65B35A579341}"/>
                </a:ext>
              </a:extLst>
            </p:cNvPr>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334" name="Group 1125">
              <a:extLst>
                <a:ext uri="{FF2B5EF4-FFF2-40B4-BE49-F238E27FC236}">
                  <a16:creationId xmlns:a16="http://schemas.microsoft.com/office/drawing/2014/main" id="{D8F10838-AC41-2347-A2C0-C059FED77F6D}"/>
                </a:ext>
              </a:extLst>
            </p:cNvPr>
            <p:cNvGrpSpPr/>
            <p:nvPr/>
          </p:nvGrpSpPr>
          <p:grpSpPr bwMode="auto">
            <a:xfrm>
              <a:off x="7593395" y="3625649"/>
              <a:ext cx="64747" cy="27592"/>
              <a:chOff x="1740" y="2642"/>
              <a:chExt cx="752" cy="327"/>
            </a:xfrm>
          </p:grpSpPr>
          <p:sp>
            <p:nvSpPr>
              <p:cNvPr id="341" name="Freeform 1126">
                <a:extLst>
                  <a:ext uri="{FF2B5EF4-FFF2-40B4-BE49-F238E27FC236}">
                    <a16:creationId xmlns:a16="http://schemas.microsoft.com/office/drawing/2014/main" id="{A2A9A43F-9EA1-A541-ABEF-C0ADFC45B56C}"/>
                  </a:ext>
                </a:extLst>
              </p:cNvPr>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2" name="Freeform 1127">
                <a:extLst>
                  <a:ext uri="{FF2B5EF4-FFF2-40B4-BE49-F238E27FC236}">
                    <a16:creationId xmlns:a16="http://schemas.microsoft.com/office/drawing/2014/main" id="{3663CF41-B25F-1E4A-8B6E-4DFFE45B9320}"/>
                  </a:ext>
                </a:extLst>
              </p:cNvPr>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3" name="Freeform 1128">
                <a:extLst>
                  <a:ext uri="{FF2B5EF4-FFF2-40B4-BE49-F238E27FC236}">
                    <a16:creationId xmlns:a16="http://schemas.microsoft.com/office/drawing/2014/main" id="{09170997-4C30-B449-A9CC-6F4D13237C0F}"/>
                  </a:ext>
                </a:extLst>
              </p:cNvPr>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4" name="Freeform 1129">
                <a:extLst>
                  <a:ext uri="{FF2B5EF4-FFF2-40B4-BE49-F238E27FC236}">
                    <a16:creationId xmlns:a16="http://schemas.microsoft.com/office/drawing/2014/main" id="{23D0A56C-42C5-E64A-8D48-CF3D15C49C2D}"/>
                  </a:ext>
                </a:extLst>
              </p:cNvPr>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5" name="Freeform 1130">
                <a:extLst>
                  <a:ext uri="{FF2B5EF4-FFF2-40B4-BE49-F238E27FC236}">
                    <a16:creationId xmlns:a16="http://schemas.microsoft.com/office/drawing/2014/main" id="{D4CA2371-E7EB-1448-A063-1D48550AF343}"/>
                  </a:ext>
                </a:extLst>
              </p:cNvPr>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6" name="Freeform 1131">
                <a:extLst>
                  <a:ext uri="{FF2B5EF4-FFF2-40B4-BE49-F238E27FC236}">
                    <a16:creationId xmlns:a16="http://schemas.microsoft.com/office/drawing/2014/main" id="{19AABE0D-948C-C443-BB9D-F131D98B7A30}"/>
                  </a:ext>
                </a:extLst>
              </p:cNvPr>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335" name="Freeform 1132">
              <a:extLst>
                <a:ext uri="{FF2B5EF4-FFF2-40B4-BE49-F238E27FC236}">
                  <a16:creationId xmlns:a16="http://schemas.microsoft.com/office/drawing/2014/main" id="{F78D74FA-2E4E-0741-8012-A6BC753EF92F}"/>
                </a:ext>
              </a:extLst>
            </p:cNvPr>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6" name="Freeform 1133">
              <a:extLst>
                <a:ext uri="{FF2B5EF4-FFF2-40B4-BE49-F238E27FC236}">
                  <a16:creationId xmlns:a16="http://schemas.microsoft.com/office/drawing/2014/main" id="{F5C0658C-AFE7-B04D-A3AF-B7CC84029B39}"/>
                </a:ext>
              </a:extLst>
            </p:cNvPr>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7" name="Freeform 1134">
              <a:extLst>
                <a:ext uri="{FF2B5EF4-FFF2-40B4-BE49-F238E27FC236}">
                  <a16:creationId xmlns:a16="http://schemas.microsoft.com/office/drawing/2014/main" id="{D60B3892-735A-194C-A4AA-7756978E042D}"/>
                </a:ext>
              </a:extLst>
            </p:cNvPr>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8" name="Freeform 1135">
              <a:extLst>
                <a:ext uri="{FF2B5EF4-FFF2-40B4-BE49-F238E27FC236}">
                  <a16:creationId xmlns:a16="http://schemas.microsoft.com/office/drawing/2014/main" id="{5295252C-C54E-0242-8FCF-35B95F1E79C8}"/>
                </a:ext>
              </a:extLst>
            </p:cNvPr>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39" name="Freeform 1136">
              <a:extLst>
                <a:ext uri="{FF2B5EF4-FFF2-40B4-BE49-F238E27FC236}">
                  <a16:creationId xmlns:a16="http://schemas.microsoft.com/office/drawing/2014/main" id="{4BC4CDB1-E55D-4B4D-9D5C-BA20D6CB2A75}"/>
                </a:ext>
              </a:extLst>
            </p:cNvPr>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340" name="Freeform 1137">
              <a:extLst>
                <a:ext uri="{FF2B5EF4-FFF2-40B4-BE49-F238E27FC236}">
                  <a16:creationId xmlns:a16="http://schemas.microsoft.com/office/drawing/2014/main" id="{2F012617-C213-364A-95DF-786D742D86DB}"/>
                </a:ext>
              </a:extLst>
            </p:cNvPr>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grpSp>
        <p:nvGrpSpPr>
          <p:cNvPr id="318" name="Group 1139">
            <a:extLst>
              <a:ext uri="{FF2B5EF4-FFF2-40B4-BE49-F238E27FC236}">
                <a16:creationId xmlns:a16="http://schemas.microsoft.com/office/drawing/2014/main" id="{1BC1F680-2008-324A-918A-6DCE5293428B}"/>
              </a:ext>
            </a:extLst>
          </p:cNvPr>
          <p:cNvGrpSpPr/>
          <p:nvPr/>
        </p:nvGrpSpPr>
        <p:grpSpPr bwMode="auto">
          <a:xfrm flipH="1">
            <a:off x="7514347" y="3440970"/>
            <a:ext cx="410969" cy="331137"/>
            <a:chOff x="2839" y="3501"/>
            <a:chExt cx="755" cy="803"/>
          </a:xfrm>
        </p:grpSpPr>
        <p:pic>
          <p:nvPicPr>
            <p:cNvPr id="322" name="Picture 1140" descr="desktop_computer_stylized_medium">
              <a:extLst>
                <a:ext uri="{FF2B5EF4-FFF2-40B4-BE49-F238E27FC236}">
                  <a16:creationId xmlns:a16="http://schemas.microsoft.com/office/drawing/2014/main" id="{3A7501DF-69F8-4C46-AA50-5279AC332916}"/>
                </a:ext>
              </a:extLst>
            </p:cNvPr>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3" name="Freeform 1141">
              <a:extLst>
                <a:ext uri="{FF2B5EF4-FFF2-40B4-BE49-F238E27FC236}">
                  <a16:creationId xmlns:a16="http://schemas.microsoft.com/office/drawing/2014/main" id="{B04412EC-15A5-5A49-8F58-2AF54B515FBB}"/>
                </a:ext>
              </a:extLst>
            </p:cNvPr>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319" name="Group 693">
            <a:extLst>
              <a:ext uri="{FF2B5EF4-FFF2-40B4-BE49-F238E27FC236}">
                <a16:creationId xmlns:a16="http://schemas.microsoft.com/office/drawing/2014/main" id="{DC5F5BAD-83FC-8C4E-8428-9EDAAE130A11}"/>
              </a:ext>
            </a:extLst>
          </p:cNvPr>
          <p:cNvGrpSpPr/>
          <p:nvPr/>
        </p:nvGrpSpPr>
        <p:grpSpPr>
          <a:xfrm>
            <a:off x="7298646" y="3206960"/>
            <a:ext cx="398084" cy="383971"/>
            <a:chOff x="7797061" y="3296104"/>
            <a:chExt cx="347997" cy="396620"/>
          </a:xfrm>
        </p:grpSpPr>
        <p:pic>
          <p:nvPicPr>
            <p:cNvPr id="320" name="Picture 571" descr="fridge2.png">
              <a:extLst>
                <a:ext uri="{FF2B5EF4-FFF2-40B4-BE49-F238E27FC236}">
                  <a16:creationId xmlns:a16="http://schemas.microsoft.com/office/drawing/2014/main" id="{A94D8E7D-DD5F-9941-A00A-EC12224FB213}"/>
                </a:ext>
              </a:extLst>
            </p:cNvPr>
            <p:cNvPicPr>
              <a:picLocks noChangeAspect="1"/>
            </p:cNvPicPr>
            <p:nvPr/>
          </p:nvPicPr>
          <p:blipFill>
            <a:blip r:embed="rId15" cstate="print">
              <a:extLst>
                <a:ext uri="{28A0092B-C50C-407E-A947-70E740481C1C}">
                  <a14:useLocalDpi xmlns:a14="http://schemas.microsoft.com/office/drawing/2010/main"/>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1" name="Picture 1115" descr="antenna_stylized">
              <a:extLst>
                <a:ext uri="{FF2B5EF4-FFF2-40B4-BE49-F238E27FC236}">
                  <a16:creationId xmlns:a16="http://schemas.microsoft.com/office/drawing/2014/main" id="{E91F697C-22FB-6740-A6AD-5C286C084A12}"/>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5" name="Group 374">
            <a:extLst>
              <a:ext uri="{FF2B5EF4-FFF2-40B4-BE49-F238E27FC236}">
                <a16:creationId xmlns:a16="http://schemas.microsoft.com/office/drawing/2014/main" id="{CD5D12A1-47EE-F64A-8FC4-7456F305FBD6}"/>
              </a:ext>
            </a:extLst>
          </p:cNvPr>
          <p:cNvGrpSpPr/>
          <p:nvPr/>
        </p:nvGrpSpPr>
        <p:grpSpPr>
          <a:xfrm>
            <a:off x="11062314" y="4042909"/>
            <a:ext cx="560341" cy="437407"/>
            <a:chOff x="5103720" y="2693365"/>
            <a:chExt cx="611650" cy="414788"/>
          </a:xfrm>
        </p:grpSpPr>
        <p:cxnSp>
          <p:nvCxnSpPr>
            <p:cNvPr id="312" name="Straight Connector 375">
              <a:extLst>
                <a:ext uri="{FF2B5EF4-FFF2-40B4-BE49-F238E27FC236}">
                  <a16:creationId xmlns:a16="http://schemas.microsoft.com/office/drawing/2014/main" id="{692371CC-5B71-4C4D-8C16-630C4666E2B9}"/>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3" name="Group 377">
              <a:extLst>
                <a:ext uri="{FF2B5EF4-FFF2-40B4-BE49-F238E27FC236}">
                  <a16:creationId xmlns:a16="http://schemas.microsoft.com/office/drawing/2014/main" id="{23B8EE3E-377C-A14C-A93C-A93E263A787A}"/>
                </a:ext>
              </a:extLst>
            </p:cNvPr>
            <p:cNvGrpSpPr/>
            <p:nvPr/>
          </p:nvGrpSpPr>
          <p:grpSpPr>
            <a:xfrm>
              <a:off x="5275406" y="2693365"/>
              <a:ext cx="439964" cy="414788"/>
              <a:chOff x="5275406" y="2711455"/>
              <a:chExt cx="452949" cy="405518"/>
            </a:xfrm>
          </p:grpSpPr>
          <p:pic>
            <p:nvPicPr>
              <p:cNvPr id="314" name="Picture 378" descr="server_rack.png">
                <a:extLst>
                  <a:ext uri="{FF2B5EF4-FFF2-40B4-BE49-F238E27FC236}">
                    <a16:creationId xmlns:a16="http://schemas.microsoft.com/office/drawing/2014/main" id="{E0E9D7E0-2027-6B49-BCD3-105F250D35F4}"/>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5537367" y="2770786"/>
                <a:ext cx="190988" cy="313366"/>
              </a:xfrm>
              <a:prstGeom prst="rect">
                <a:avLst/>
              </a:prstGeom>
            </p:spPr>
          </p:pic>
          <p:pic>
            <p:nvPicPr>
              <p:cNvPr id="315" name="Picture 379" descr="server_rack.png">
                <a:extLst>
                  <a:ext uri="{FF2B5EF4-FFF2-40B4-BE49-F238E27FC236}">
                    <a16:creationId xmlns:a16="http://schemas.microsoft.com/office/drawing/2014/main" id="{873610FF-D2E1-7C4A-AF76-A89E3BB3261B}"/>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5275406" y="2764002"/>
                <a:ext cx="190988" cy="313366"/>
              </a:xfrm>
              <a:prstGeom prst="rect">
                <a:avLst/>
              </a:prstGeom>
            </p:spPr>
          </p:pic>
          <p:pic>
            <p:nvPicPr>
              <p:cNvPr id="316" name="Picture 380" descr="server_rack.png">
                <a:extLst>
                  <a:ext uri="{FF2B5EF4-FFF2-40B4-BE49-F238E27FC236}">
                    <a16:creationId xmlns:a16="http://schemas.microsoft.com/office/drawing/2014/main" id="{835A4069-8411-1849-8813-0C1AFA960104}"/>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5385676" y="2711455"/>
                <a:ext cx="247152" cy="405518"/>
              </a:xfrm>
              <a:prstGeom prst="rect">
                <a:avLst/>
              </a:prstGeom>
            </p:spPr>
          </p:pic>
        </p:grpSp>
      </p:grpSp>
      <p:grpSp>
        <p:nvGrpSpPr>
          <p:cNvPr id="306" name="Group 391">
            <a:extLst>
              <a:ext uri="{FF2B5EF4-FFF2-40B4-BE49-F238E27FC236}">
                <a16:creationId xmlns:a16="http://schemas.microsoft.com/office/drawing/2014/main" id="{EADBB7F1-CFAC-3449-9495-F1D2425DB846}"/>
              </a:ext>
            </a:extLst>
          </p:cNvPr>
          <p:cNvGrpSpPr/>
          <p:nvPr/>
        </p:nvGrpSpPr>
        <p:grpSpPr>
          <a:xfrm>
            <a:off x="11029587" y="3306734"/>
            <a:ext cx="484710" cy="393026"/>
            <a:chOff x="5103720" y="2693365"/>
            <a:chExt cx="611650" cy="414788"/>
          </a:xfrm>
        </p:grpSpPr>
        <p:cxnSp>
          <p:nvCxnSpPr>
            <p:cNvPr id="307" name="Straight Connector 392">
              <a:extLst>
                <a:ext uri="{FF2B5EF4-FFF2-40B4-BE49-F238E27FC236}">
                  <a16:creationId xmlns:a16="http://schemas.microsoft.com/office/drawing/2014/main" id="{A31AD1C0-38E6-8D4F-A802-D9CB1B18CAF4}"/>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08" name="Group 394">
              <a:extLst>
                <a:ext uri="{FF2B5EF4-FFF2-40B4-BE49-F238E27FC236}">
                  <a16:creationId xmlns:a16="http://schemas.microsoft.com/office/drawing/2014/main" id="{ADA15242-5668-7F4C-8181-3FDBCDA96A0F}"/>
                </a:ext>
              </a:extLst>
            </p:cNvPr>
            <p:cNvGrpSpPr/>
            <p:nvPr/>
          </p:nvGrpSpPr>
          <p:grpSpPr>
            <a:xfrm>
              <a:off x="5275406" y="2693365"/>
              <a:ext cx="439964" cy="414788"/>
              <a:chOff x="5275406" y="2711455"/>
              <a:chExt cx="452949" cy="405518"/>
            </a:xfrm>
          </p:grpSpPr>
          <p:pic>
            <p:nvPicPr>
              <p:cNvPr id="309" name="Picture 395" descr="server_rack.png">
                <a:extLst>
                  <a:ext uri="{FF2B5EF4-FFF2-40B4-BE49-F238E27FC236}">
                    <a16:creationId xmlns:a16="http://schemas.microsoft.com/office/drawing/2014/main" id="{387DE633-4F45-B84A-BEF5-23C704E2DA62}"/>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5537367" y="2770786"/>
                <a:ext cx="190988" cy="313366"/>
              </a:xfrm>
              <a:prstGeom prst="rect">
                <a:avLst/>
              </a:prstGeom>
            </p:spPr>
          </p:pic>
          <p:pic>
            <p:nvPicPr>
              <p:cNvPr id="310" name="Picture 396" descr="server_rack.png">
                <a:extLst>
                  <a:ext uri="{FF2B5EF4-FFF2-40B4-BE49-F238E27FC236}">
                    <a16:creationId xmlns:a16="http://schemas.microsoft.com/office/drawing/2014/main" id="{99B61531-D25C-834F-9ACB-B79AE02D2957}"/>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5275406" y="2764002"/>
                <a:ext cx="190988" cy="313366"/>
              </a:xfrm>
              <a:prstGeom prst="rect">
                <a:avLst/>
              </a:prstGeom>
            </p:spPr>
          </p:pic>
          <p:pic>
            <p:nvPicPr>
              <p:cNvPr id="311" name="Picture 397" descr="server_rack.png">
                <a:extLst>
                  <a:ext uri="{FF2B5EF4-FFF2-40B4-BE49-F238E27FC236}">
                    <a16:creationId xmlns:a16="http://schemas.microsoft.com/office/drawing/2014/main" id="{9C677CC7-8A25-AB44-B825-D79B1AE4DF2E}"/>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5385676" y="2711455"/>
                <a:ext cx="247152" cy="405518"/>
              </a:xfrm>
              <a:prstGeom prst="rect">
                <a:avLst/>
              </a:prstGeom>
            </p:spPr>
          </p:pic>
        </p:grpSp>
      </p:grpSp>
      <p:grpSp>
        <p:nvGrpSpPr>
          <p:cNvPr id="178" name="Group 950">
            <a:extLst>
              <a:ext uri="{FF2B5EF4-FFF2-40B4-BE49-F238E27FC236}">
                <a16:creationId xmlns:a16="http://schemas.microsoft.com/office/drawing/2014/main" id="{2A3A7623-0875-9342-AC79-1B504E60E7E1}"/>
              </a:ext>
            </a:extLst>
          </p:cNvPr>
          <p:cNvGrpSpPr/>
          <p:nvPr/>
        </p:nvGrpSpPr>
        <p:grpSpPr bwMode="auto">
          <a:xfrm>
            <a:off x="10141841" y="5093347"/>
            <a:ext cx="202688" cy="320283"/>
            <a:chOff x="4140" y="429"/>
            <a:chExt cx="1425" cy="2396"/>
          </a:xfrm>
        </p:grpSpPr>
        <p:sp>
          <p:nvSpPr>
            <p:cNvPr id="273" name="Freeform 951">
              <a:extLst>
                <a:ext uri="{FF2B5EF4-FFF2-40B4-BE49-F238E27FC236}">
                  <a16:creationId xmlns:a16="http://schemas.microsoft.com/office/drawing/2014/main" id="{D3F5B58C-C662-0445-814F-ABB864F38AE4}"/>
                </a:ext>
              </a:extLst>
            </p:cNvPr>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4" name="Rectangle 952">
              <a:extLst>
                <a:ext uri="{FF2B5EF4-FFF2-40B4-BE49-F238E27FC236}">
                  <a16:creationId xmlns:a16="http://schemas.microsoft.com/office/drawing/2014/main" id="{2CE947CD-3FB0-E849-AAD2-F6DF8E851431}"/>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75" name="Freeform 953">
              <a:extLst>
                <a:ext uri="{FF2B5EF4-FFF2-40B4-BE49-F238E27FC236}">
                  <a16:creationId xmlns:a16="http://schemas.microsoft.com/office/drawing/2014/main" id="{45053AFE-9DA1-6A48-97B6-8A513F7240CF}"/>
                </a:ext>
              </a:extLst>
            </p:cNvPr>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6" name="Freeform 954">
              <a:extLst>
                <a:ext uri="{FF2B5EF4-FFF2-40B4-BE49-F238E27FC236}">
                  <a16:creationId xmlns:a16="http://schemas.microsoft.com/office/drawing/2014/main" id="{882ACCB6-C7C8-CB4F-BE67-70B7FB62B381}"/>
                </a:ext>
              </a:extLst>
            </p:cNvPr>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7" name="Rectangle 955">
              <a:extLst>
                <a:ext uri="{FF2B5EF4-FFF2-40B4-BE49-F238E27FC236}">
                  <a16:creationId xmlns:a16="http://schemas.microsoft.com/office/drawing/2014/main" id="{9AA2FB9A-00F6-974D-80E8-AE493EB2BE85}"/>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278" name="Group 956">
              <a:extLst>
                <a:ext uri="{FF2B5EF4-FFF2-40B4-BE49-F238E27FC236}">
                  <a16:creationId xmlns:a16="http://schemas.microsoft.com/office/drawing/2014/main" id="{7CFD1127-1612-2C40-9632-B0FDACCBAE3D}"/>
                </a:ext>
              </a:extLst>
            </p:cNvPr>
            <p:cNvGrpSpPr/>
            <p:nvPr/>
          </p:nvGrpSpPr>
          <p:grpSpPr bwMode="auto">
            <a:xfrm>
              <a:off x="4749" y="668"/>
              <a:ext cx="581" cy="145"/>
              <a:chOff x="614" y="2568"/>
              <a:chExt cx="725" cy="139"/>
            </a:xfrm>
          </p:grpSpPr>
          <p:sp>
            <p:nvSpPr>
              <p:cNvPr id="303" name="AutoShape 957">
                <a:extLst>
                  <a:ext uri="{FF2B5EF4-FFF2-40B4-BE49-F238E27FC236}">
                    <a16:creationId xmlns:a16="http://schemas.microsoft.com/office/drawing/2014/main" id="{142697B6-95D7-0A4D-A44C-91AAB764EE3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304" name="AutoShape 958">
                <a:extLst>
                  <a:ext uri="{FF2B5EF4-FFF2-40B4-BE49-F238E27FC236}">
                    <a16:creationId xmlns:a16="http://schemas.microsoft.com/office/drawing/2014/main" id="{E4DAE0E1-681E-664B-BB40-76FE75A7504D}"/>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79" name="Rectangle 959">
              <a:extLst>
                <a:ext uri="{FF2B5EF4-FFF2-40B4-BE49-F238E27FC236}">
                  <a16:creationId xmlns:a16="http://schemas.microsoft.com/office/drawing/2014/main" id="{D99E5BB7-8982-7847-AD05-1CD384C7335E}"/>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280" name="Group 960">
              <a:extLst>
                <a:ext uri="{FF2B5EF4-FFF2-40B4-BE49-F238E27FC236}">
                  <a16:creationId xmlns:a16="http://schemas.microsoft.com/office/drawing/2014/main" id="{02F9E4B9-0D2C-0D47-9DBC-E3FD287C9502}"/>
                </a:ext>
              </a:extLst>
            </p:cNvPr>
            <p:cNvGrpSpPr/>
            <p:nvPr/>
          </p:nvGrpSpPr>
          <p:grpSpPr bwMode="auto">
            <a:xfrm>
              <a:off x="4747" y="994"/>
              <a:ext cx="581" cy="134"/>
              <a:chOff x="614" y="2568"/>
              <a:chExt cx="725" cy="139"/>
            </a:xfrm>
          </p:grpSpPr>
          <p:sp>
            <p:nvSpPr>
              <p:cNvPr id="301" name="AutoShape 961">
                <a:extLst>
                  <a:ext uri="{FF2B5EF4-FFF2-40B4-BE49-F238E27FC236}">
                    <a16:creationId xmlns:a16="http://schemas.microsoft.com/office/drawing/2014/main" id="{EC840353-9C0D-0A4C-AA14-ED3A311A5A24}"/>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302" name="AutoShape 962">
                <a:extLst>
                  <a:ext uri="{FF2B5EF4-FFF2-40B4-BE49-F238E27FC236}">
                    <a16:creationId xmlns:a16="http://schemas.microsoft.com/office/drawing/2014/main" id="{0783178E-F0B4-A348-94AE-B527DB68F5F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81" name="Rectangle 963">
              <a:extLst>
                <a:ext uri="{FF2B5EF4-FFF2-40B4-BE49-F238E27FC236}">
                  <a16:creationId xmlns:a16="http://schemas.microsoft.com/office/drawing/2014/main" id="{CAC78DD2-0BDD-B247-8881-2538129C7912}"/>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82" name="Rectangle 964">
              <a:extLst>
                <a:ext uri="{FF2B5EF4-FFF2-40B4-BE49-F238E27FC236}">
                  <a16:creationId xmlns:a16="http://schemas.microsoft.com/office/drawing/2014/main" id="{2AF5DE15-BCC9-7E44-A26A-E38CC62771E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283" name="Group 965">
              <a:extLst>
                <a:ext uri="{FF2B5EF4-FFF2-40B4-BE49-F238E27FC236}">
                  <a16:creationId xmlns:a16="http://schemas.microsoft.com/office/drawing/2014/main" id="{DF03A9F0-E624-A84C-8130-B591DE5DBED5}"/>
                </a:ext>
              </a:extLst>
            </p:cNvPr>
            <p:cNvGrpSpPr/>
            <p:nvPr/>
          </p:nvGrpSpPr>
          <p:grpSpPr bwMode="auto">
            <a:xfrm>
              <a:off x="4735" y="1627"/>
              <a:ext cx="582" cy="151"/>
              <a:chOff x="614" y="2568"/>
              <a:chExt cx="725" cy="139"/>
            </a:xfrm>
          </p:grpSpPr>
          <p:sp>
            <p:nvSpPr>
              <p:cNvPr id="299" name="AutoShape 966">
                <a:extLst>
                  <a:ext uri="{FF2B5EF4-FFF2-40B4-BE49-F238E27FC236}">
                    <a16:creationId xmlns:a16="http://schemas.microsoft.com/office/drawing/2014/main" id="{8FDFF0B6-7888-9540-A1D5-DE1CD4E1DFB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300" name="AutoShape 967">
                <a:extLst>
                  <a:ext uri="{FF2B5EF4-FFF2-40B4-BE49-F238E27FC236}">
                    <a16:creationId xmlns:a16="http://schemas.microsoft.com/office/drawing/2014/main" id="{53A6E4F1-8674-E647-AFE0-BF0439C47FBA}"/>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84" name="Freeform 968">
              <a:extLst>
                <a:ext uri="{FF2B5EF4-FFF2-40B4-BE49-F238E27FC236}">
                  <a16:creationId xmlns:a16="http://schemas.microsoft.com/office/drawing/2014/main" id="{ADD3F0FE-076E-0A43-8AFD-A58FAA1F391F}"/>
                </a:ext>
              </a:extLst>
            </p:cNvPr>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285" name="Group 969">
              <a:extLst>
                <a:ext uri="{FF2B5EF4-FFF2-40B4-BE49-F238E27FC236}">
                  <a16:creationId xmlns:a16="http://schemas.microsoft.com/office/drawing/2014/main" id="{B763F876-3F34-8243-9388-85D5483CF1F1}"/>
                </a:ext>
              </a:extLst>
            </p:cNvPr>
            <p:cNvGrpSpPr/>
            <p:nvPr/>
          </p:nvGrpSpPr>
          <p:grpSpPr bwMode="auto">
            <a:xfrm>
              <a:off x="4739" y="1327"/>
              <a:ext cx="582" cy="139"/>
              <a:chOff x="614" y="2568"/>
              <a:chExt cx="725" cy="139"/>
            </a:xfrm>
          </p:grpSpPr>
          <p:sp>
            <p:nvSpPr>
              <p:cNvPr id="297" name="AutoShape 970">
                <a:extLst>
                  <a:ext uri="{FF2B5EF4-FFF2-40B4-BE49-F238E27FC236}">
                    <a16:creationId xmlns:a16="http://schemas.microsoft.com/office/drawing/2014/main" id="{9C478D2B-EE5A-764C-9039-8BD04FCF71E6}"/>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8" name="AutoShape 971">
                <a:extLst>
                  <a:ext uri="{FF2B5EF4-FFF2-40B4-BE49-F238E27FC236}">
                    <a16:creationId xmlns:a16="http://schemas.microsoft.com/office/drawing/2014/main" id="{9A7EF3C2-A6D9-3F49-A5BC-2D4188B4FD7F}"/>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286" name="Rectangle 972">
              <a:extLst>
                <a:ext uri="{FF2B5EF4-FFF2-40B4-BE49-F238E27FC236}">
                  <a16:creationId xmlns:a16="http://schemas.microsoft.com/office/drawing/2014/main" id="{6B342BDD-0E36-4E44-BBA6-7CFC69FA9DA6}"/>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87" name="Freeform 973">
              <a:extLst>
                <a:ext uri="{FF2B5EF4-FFF2-40B4-BE49-F238E27FC236}">
                  <a16:creationId xmlns:a16="http://schemas.microsoft.com/office/drawing/2014/main" id="{E79DC8B2-A896-A640-9783-DFC6D2C30BFB}"/>
                </a:ext>
              </a:extLst>
            </p:cNvPr>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88" name="Freeform 974">
              <a:extLst>
                <a:ext uri="{FF2B5EF4-FFF2-40B4-BE49-F238E27FC236}">
                  <a16:creationId xmlns:a16="http://schemas.microsoft.com/office/drawing/2014/main" id="{E506BCD5-6828-2043-B437-1B3DB2064F60}"/>
                </a:ext>
              </a:extLst>
            </p:cNvPr>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89" name="Oval 975">
              <a:extLst>
                <a:ext uri="{FF2B5EF4-FFF2-40B4-BE49-F238E27FC236}">
                  <a16:creationId xmlns:a16="http://schemas.microsoft.com/office/drawing/2014/main" id="{B18CFBA6-91BA-3F47-9B92-8D0AB3F8C5FC}"/>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0" name="Freeform 976">
              <a:extLst>
                <a:ext uri="{FF2B5EF4-FFF2-40B4-BE49-F238E27FC236}">
                  <a16:creationId xmlns:a16="http://schemas.microsoft.com/office/drawing/2014/main" id="{371D1E7A-DA8B-CD4B-9F5B-A1F151C83E58}"/>
                </a:ext>
              </a:extLst>
            </p:cNvPr>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91" name="AutoShape 977">
              <a:extLst>
                <a:ext uri="{FF2B5EF4-FFF2-40B4-BE49-F238E27FC236}">
                  <a16:creationId xmlns:a16="http://schemas.microsoft.com/office/drawing/2014/main" id="{01F679D6-F178-A54C-89A4-27EB1B8AAED9}"/>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2" name="AutoShape 978">
              <a:extLst>
                <a:ext uri="{FF2B5EF4-FFF2-40B4-BE49-F238E27FC236}">
                  <a16:creationId xmlns:a16="http://schemas.microsoft.com/office/drawing/2014/main" id="{0EC131FE-D4B7-6F4F-8DB2-1BADE570240E}"/>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3" name="Oval 979">
              <a:extLst>
                <a:ext uri="{FF2B5EF4-FFF2-40B4-BE49-F238E27FC236}">
                  <a16:creationId xmlns:a16="http://schemas.microsoft.com/office/drawing/2014/main" id="{FDF4BA7B-4D8C-F243-9424-7829416CEFA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4" name="Oval 980">
              <a:extLst>
                <a:ext uri="{FF2B5EF4-FFF2-40B4-BE49-F238E27FC236}">
                  <a16:creationId xmlns:a16="http://schemas.microsoft.com/office/drawing/2014/main" id="{8D202BAB-24F4-5D4B-98D1-4BF6ED06C115}"/>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dirty="0">
                <a:solidFill>
                  <a:srgbClr val="FF0000"/>
                </a:solidFill>
                <a:latin typeface="Arial" panose="020B0604020202020204" pitchFamily="34" charset="0"/>
              </a:endParaRPr>
            </a:p>
          </p:txBody>
        </p:sp>
        <p:sp>
          <p:nvSpPr>
            <p:cNvPr id="295" name="Oval 981">
              <a:extLst>
                <a:ext uri="{FF2B5EF4-FFF2-40B4-BE49-F238E27FC236}">
                  <a16:creationId xmlns:a16="http://schemas.microsoft.com/office/drawing/2014/main" id="{9E467988-9D04-8540-964E-966304A43B99}"/>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96" name="Rectangle 982">
              <a:extLst>
                <a:ext uri="{FF2B5EF4-FFF2-40B4-BE49-F238E27FC236}">
                  <a16:creationId xmlns:a16="http://schemas.microsoft.com/office/drawing/2014/main" id="{C06D79B2-779A-0040-98DE-AC32C7FF7FA3}"/>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grpSp>
        <p:nvGrpSpPr>
          <p:cNvPr id="213" name="Group 590">
            <a:extLst>
              <a:ext uri="{FF2B5EF4-FFF2-40B4-BE49-F238E27FC236}">
                <a16:creationId xmlns:a16="http://schemas.microsoft.com/office/drawing/2014/main" id="{AB299F1F-A073-DC4D-B01C-D3DE97049658}"/>
              </a:ext>
            </a:extLst>
          </p:cNvPr>
          <p:cNvGrpSpPr/>
          <p:nvPr/>
        </p:nvGrpSpPr>
        <p:grpSpPr bwMode="auto">
          <a:xfrm flipH="1">
            <a:off x="7501602" y="4731476"/>
            <a:ext cx="395376" cy="310087"/>
            <a:chOff x="2839" y="3501"/>
            <a:chExt cx="755" cy="803"/>
          </a:xfrm>
        </p:grpSpPr>
        <p:pic>
          <p:nvPicPr>
            <p:cNvPr id="271" name="Picture 591" descr="desktop_computer_stylized_medium">
              <a:extLst>
                <a:ext uri="{FF2B5EF4-FFF2-40B4-BE49-F238E27FC236}">
                  <a16:creationId xmlns:a16="http://schemas.microsoft.com/office/drawing/2014/main" id="{404EAED7-C048-DB43-8F95-8E0A8E7ACEF0}"/>
                </a:ext>
              </a:extLst>
            </p:cNvPr>
            <p:cNvPicPr>
              <a:picLocks noChangeAspect="1" noChangeArrowheads="1"/>
            </p:cNvPicPr>
            <p:nvPr/>
          </p:nvPicPr>
          <p:blipFill>
            <a:blip r:embed="rId20"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Freeform 592">
              <a:extLst>
                <a:ext uri="{FF2B5EF4-FFF2-40B4-BE49-F238E27FC236}">
                  <a16:creationId xmlns:a16="http://schemas.microsoft.com/office/drawing/2014/main" id="{06A55CE6-AA2E-114B-B757-ECD01C06D372}"/>
                </a:ext>
              </a:extLst>
            </p:cNvPr>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4" name="Group 1064">
            <a:extLst>
              <a:ext uri="{FF2B5EF4-FFF2-40B4-BE49-F238E27FC236}">
                <a16:creationId xmlns:a16="http://schemas.microsoft.com/office/drawing/2014/main" id="{B0DDADA2-DA93-F548-8623-5771BF70636E}"/>
              </a:ext>
            </a:extLst>
          </p:cNvPr>
          <p:cNvGrpSpPr/>
          <p:nvPr/>
        </p:nvGrpSpPr>
        <p:grpSpPr bwMode="auto">
          <a:xfrm>
            <a:off x="8898141" y="5653745"/>
            <a:ext cx="354831" cy="297992"/>
            <a:chOff x="877" y="1008"/>
            <a:chExt cx="2747" cy="2591"/>
          </a:xfrm>
        </p:grpSpPr>
        <p:pic>
          <p:nvPicPr>
            <p:cNvPr id="248" name="Picture 1065" descr="antenna_stylized">
              <a:extLst>
                <a:ext uri="{FF2B5EF4-FFF2-40B4-BE49-F238E27FC236}">
                  <a16:creationId xmlns:a16="http://schemas.microsoft.com/office/drawing/2014/main" id="{54C4C2FF-127F-6343-A8AF-7DCF997C63E6}"/>
                </a:ext>
              </a:extLst>
            </p:cNvPr>
            <p:cNvPicPr>
              <a:picLocks noChangeAspect="1" noChangeArrowheads="1"/>
            </p:cNvPicPr>
            <p:nvPr/>
          </p:nvPicPr>
          <p:blipFill>
            <a:blip r:embed="rId21" cstate="print">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9" name="Picture 1066" descr="laptop_keyboard">
              <a:extLst>
                <a:ext uri="{FF2B5EF4-FFF2-40B4-BE49-F238E27FC236}">
                  <a16:creationId xmlns:a16="http://schemas.microsoft.com/office/drawing/2014/main" id="{AFCA7446-CD44-BA48-A4ED-F2EABB9ED46F}"/>
                </a:ext>
              </a:extLst>
            </p:cNvPr>
            <p:cNvPicPr>
              <a:picLocks noChangeAspect="1" noChangeArrowheads="1"/>
            </p:cNvPicPr>
            <p:nvPr/>
          </p:nvPicPr>
          <p:blipFill>
            <a:blip r:embed="rId22" cstate="print">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 name="Freeform 1067">
              <a:extLst>
                <a:ext uri="{FF2B5EF4-FFF2-40B4-BE49-F238E27FC236}">
                  <a16:creationId xmlns:a16="http://schemas.microsoft.com/office/drawing/2014/main" id="{C9AB8759-9477-0E40-AEF8-57B9DCAD30AB}"/>
                </a:ext>
              </a:extLst>
            </p:cNvPr>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251" name="Picture 1068" descr="screen">
              <a:extLst>
                <a:ext uri="{FF2B5EF4-FFF2-40B4-BE49-F238E27FC236}">
                  <a16:creationId xmlns:a16="http://schemas.microsoft.com/office/drawing/2014/main" id="{4F19E5E3-0479-F244-95A1-9282C6838FA5}"/>
                </a:ext>
              </a:extLst>
            </p:cNvPr>
            <p:cNvPicPr>
              <a:picLocks noChangeAspect="1" noChangeArrowheads="1"/>
            </p:cNvPicPr>
            <p:nvPr/>
          </p:nvPicPr>
          <p:blipFill>
            <a:blip r:embed="rId23" cstate="print">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69">
              <a:extLst>
                <a:ext uri="{FF2B5EF4-FFF2-40B4-BE49-F238E27FC236}">
                  <a16:creationId xmlns:a16="http://schemas.microsoft.com/office/drawing/2014/main" id="{DE38AFAB-8E72-D943-967B-56B73822B2C4}"/>
                </a:ext>
              </a:extLst>
            </p:cNvPr>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3" name="Freeform 1070">
              <a:extLst>
                <a:ext uri="{FF2B5EF4-FFF2-40B4-BE49-F238E27FC236}">
                  <a16:creationId xmlns:a16="http://schemas.microsoft.com/office/drawing/2014/main" id="{969D41E4-0032-9047-9384-D2902BD253F3}"/>
                </a:ext>
              </a:extLst>
            </p:cNvPr>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4" name="Freeform 1071">
              <a:extLst>
                <a:ext uri="{FF2B5EF4-FFF2-40B4-BE49-F238E27FC236}">
                  <a16:creationId xmlns:a16="http://schemas.microsoft.com/office/drawing/2014/main" id="{930037C6-6597-5D48-98C3-18D8E973895E}"/>
                </a:ext>
              </a:extLst>
            </p:cNvPr>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5" name="Freeform 1072">
              <a:extLst>
                <a:ext uri="{FF2B5EF4-FFF2-40B4-BE49-F238E27FC236}">
                  <a16:creationId xmlns:a16="http://schemas.microsoft.com/office/drawing/2014/main" id="{C88F93E3-F84D-5340-B25B-301E1AA82F77}"/>
                </a:ext>
              </a:extLst>
            </p:cNvPr>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6" name="Freeform 1073">
              <a:extLst>
                <a:ext uri="{FF2B5EF4-FFF2-40B4-BE49-F238E27FC236}">
                  <a16:creationId xmlns:a16="http://schemas.microsoft.com/office/drawing/2014/main" id="{89E34E6F-CECA-3547-9397-1A4AED9FDEFC}"/>
                </a:ext>
              </a:extLst>
            </p:cNvPr>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57" name="Freeform 1074">
              <a:extLst>
                <a:ext uri="{FF2B5EF4-FFF2-40B4-BE49-F238E27FC236}">
                  <a16:creationId xmlns:a16="http://schemas.microsoft.com/office/drawing/2014/main" id="{5A9C92A7-1C0D-3346-B34F-433CFEE19810}"/>
                </a:ext>
              </a:extLst>
            </p:cNvPr>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258" name="Group 1075">
              <a:extLst>
                <a:ext uri="{FF2B5EF4-FFF2-40B4-BE49-F238E27FC236}">
                  <a16:creationId xmlns:a16="http://schemas.microsoft.com/office/drawing/2014/main" id="{AA2AB613-C768-794E-AF4D-457AA794B890}"/>
                </a:ext>
              </a:extLst>
            </p:cNvPr>
            <p:cNvGrpSpPr/>
            <p:nvPr/>
          </p:nvGrpSpPr>
          <p:grpSpPr bwMode="auto">
            <a:xfrm>
              <a:off x="1709" y="3008"/>
              <a:ext cx="507" cy="234"/>
              <a:chOff x="1740" y="2642"/>
              <a:chExt cx="752" cy="327"/>
            </a:xfrm>
          </p:grpSpPr>
          <p:sp>
            <p:nvSpPr>
              <p:cNvPr id="265" name="Freeform 1076">
                <a:extLst>
                  <a:ext uri="{FF2B5EF4-FFF2-40B4-BE49-F238E27FC236}">
                    <a16:creationId xmlns:a16="http://schemas.microsoft.com/office/drawing/2014/main" id="{57C134A2-5879-8F44-90FA-FB795F302072}"/>
                  </a:ext>
                </a:extLst>
              </p:cNvPr>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6" name="Freeform 1077">
                <a:extLst>
                  <a:ext uri="{FF2B5EF4-FFF2-40B4-BE49-F238E27FC236}">
                    <a16:creationId xmlns:a16="http://schemas.microsoft.com/office/drawing/2014/main" id="{8771281F-382F-F84A-B1FD-07E8E111A328}"/>
                  </a:ext>
                </a:extLst>
              </p:cNvPr>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7" name="Freeform 1078">
                <a:extLst>
                  <a:ext uri="{FF2B5EF4-FFF2-40B4-BE49-F238E27FC236}">
                    <a16:creationId xmlns:a16="http://schemas.microsoft.com/office/drawing/2014/main" id="{CEC796F9-77CE-0649-9667-1CF0CC616D85}"/>
                  </a:ext>
                </a:extLst>
              </p:cNvPr>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8" name="Freeform 1079">
                <a:extLst>
                  <a:ext uri="{FF2B5EF4-FFF2-40B4-BE49-F238E27FC236}">
                    <a16:creationId xmlns:a16="http://schemas.microsoft.com/office/drawing/2014/main" id="{E05E9EC1-76FE-B64D-9ED8-AD562EC974D3}"/>
                  </a:ext>
                </a:extLst>
              </p:cNvPr>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9" name="Freeform 1080">
                <a:extLst>
                  <a:ext uri="{FF2B5EF4-FFF2-40B4-BE49-F238E27FC236}">
                    <a16:creationId xmlns:a16="http://schemas.microsoft.com/office/drawing/2014/main" id="{344E4360-B64F-A049-9A23-2E78551D2028}"/>
                  </a:ext>
                </a:extLst>
              </p:cNvPr>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70" name="Freeform 1081">
                <a:extLst>
                  <a:ext uri="{FF2B5EF4-FFF2-40B4-BE49-F238E27FC236}">
                    <a16:creationId xmlns:a16="http://schemas.microsoft.com/office/drawing/2014/main" id="{1B4A5B0E-AD7B-F94B-B750-932D171047F3}"/>
                  </a:ext>
                </a:extLst>
              </p:cNvPr>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259" name="Freeform 1082">
              <a:extLst>
                <a:ext uri="{FF2B5EF4-FFF2-40B4-BE49-F238E27FC236}">
                  <a16:creationId xmlns:a16="http://schemas.microsoft.com/office/drawing/2014/main" id="{D55F9AD0-5A50-2943-B7E3-B1FE464DC3E0}"/>
                </a:ext>
              </a:extLst>
            </p:cNvPr>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0" name="Freeform 1083">
              <a:extLst>
                <a:ext uri="{FF2B5EF4-FFF2-40B4-BE49-F238E27FC236}">
                  <a16:creationId xmlns:a16="http://schemas.microsoft.com/office/drawing/2014/main" id="{E1817B11-F157-5A4F-A697-07671978F38F}"/>
                </a:ext>
              </a:extLst>
            </p:cNvPr>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1" name="Freeform 1084">
              <a:extLst>
                <a:ext uri="{FF2B5EF4-FFF2-40B4-BE49-F238E27FC236}">
                  <a16:creationId xmlns:a16="http://schemas.microsoft.com/office/drawing/2014/main" id="{70075F64-9A99-3245-B1C1-44278E9E5883}"/>
                </a:ext>
              </a:extLst>
            </p:cNvPr>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2" name="Freeform 1085">
              <a:extLst>
                <a:ext uri="{FF2B5EF4-FFF2-40B4-BE49-F238E27FC236}">
                  <a16:creationId xmlns:a16="http://schemas.microsoft.com/office/drawing/2014/main" id="{5ABE7157-155C-B24E-BBE8-34A3F550E286}"/>
                </a:ext>
              </a:extLst>
            </p:cNvPr>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3" name="Freeform 1086">
              <a:extLst>
                <a:ext uri="{FF2B5EF4-FFF2-40B4-BE49-F238E27FC236}">
                  <a16:creationId xmlns:a16="http://schemas.microsoft.com/office/drawing/2014/main" id="{C4BBB473-D93E-F349-B3E1-ADF3A990EF33}"/>
                </a:ext>
              </a:extLst>
            </p:cNvPr>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64" name="Freeform 1087">
              <a:extLst>
                <a:ext uri="{FF2B5EF4-FFF2-40B4-BE49-F238E27FC236}">
                  <a16:creationId xmlns:a16="http://schemas.microsoft.com/office/drawing/2014/main" id="{EE28ABD7-7BD9-D048-85BB-20086AB8F5ED}"/>
                </a:ext>
              </a:extLst>
            </p:cNvPr>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grpSp>
        <p:nvGrpSpPr>
          <p:cNvPr id="215" name="Group 590">
            <a:extLst>
              <a:ext uri="{FF2B5EF4-FFF2-40B4-BE49-F238E27FC236}">
                <a16:creationId xmlns:a16="http://schemas.microsoft.com/office/drawing/2014/main" id="{83029F57-998A-6241-8D9D-FD5AA2BA0FE9}"/>
              </a:ext>
            </a:extLst>
          </p:cNvPr>
          <p:cNvGrpSpPr/>
          <p:nvPr/>
        </p:nvGrpSpPr>
        <p:grpSpPr bwMode="auto">
          <a:xfrm flipH="1">
            <a:off x="7264951" y="5100231"/>
            <a:ext cx="395376" cy="310087"/>
            <a:chOff x="2839" y="3501"/>
            <a:chExt cx="755" cy="803"/>
          </a:xfrm>
        </p:grpSpPr>
        <p:pic>
          <p:nvPicPr>
            <p:cNvPr id="246" name="Picture 591" descr="desktop_computer_stylized_medium">
              <a:extLst>
                <a:ext uri="{FF2B5EF4-FFF2-40B4-BE49-F238E27FC236}">
                  <a16:creationId xmlns:a16="http://schemas.microsoft.com/office/drawing/2014/main" id="{897649B5-E9D5-BE4A-9CD8-F00FB9E784B8}"/>
                </a:ext>
              </a:extLst>
            </p:cNvPr>
            <p:cNvPicPr>
              <a:picLocks noChangeAspect="1" noChangeArrowheads="1"/>
            </p:cNvPicPr>
            <p:nvPr/>
          </p:nvPicPr>
          <p:blipFill>
            <a:blip r:embed="rId20"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 name="Freeform 592">
              <a:extLst>
                <a:ext uri="{FF2B5EF4-FFF2-40B4-BE49-F238E27FC236}">
                  <a16:creationId xmlns:a16="http://schemas.microsoft.com/office/drawing/2014/main" id="{1DFBD84F-2B84-A947-AF8F-5539AFC5556A}"/>
                </a:ext>
              </a:extLst>
            </p:cNvPr>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6" name="Group 590">
            <a:extLst>
              <a:ext uri="{FF2B5EF4-FFF2-40B4-BE49-F238E27FC236}">
                <a16:creationId xmlns:a16="http://schemas.microsoft.com/office/drawing/2014/main" id="{B22FEB93-506A-BD43-B406-21187EB99855}"/>
              </a:ext>
            </a:extLst>
          </p:cNvPr>
          <p:cNvGrpSpPr/>
          <p:nvPr/>
        </p:nvGrpSpPr>
        <p:grpSpPr bwMode="auto">
          <a:xfrm flipH="1">
            <a:off x="7699562" y="5316696"/>
            <a:ext cx="395376" cy="310087"/>
            <a:chOff x="2839" y="3501"/>
            <a:chExt cx="755" cy="803"/>
          </a:xfrm>
        </p:grpSpPr>
        <p:pic>
          <p:nvPicPr>
            <p:cNvPr id="244" name="Picture 591" descr="desktop_computer_stylized_medium">
              <a:extLst>
                <a:ext uri="{FF2B5EF4-FFF2-40B4-BE49-F238E27FC236}">
                  <a16:creationId xmlns:a16="http://schemas.microsoft.com/office/drawing/2014/main" id="{38299733-3CC8-8F44-8B4C-C321C36CC475}"/>
                </a:ext>
              </a:extLst>
            </p:cNvPr>
            <p:cNvPicPr>
              <a:picLocks noChangeAspect="1" noChangeArrowheads="1"/>
            </p:cNvPicPr>
            <p:nvPr/>
          </p:nvPicPr>
          <p:blipFill>
            <a:blip r:embed="rId20"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 name="Freeform 592">
              <a:extLst>
                <a:ext uri="{FF2B5EF4-FFF2-40B4-BE49-F238E27FC236}">
                  <a16:creationId xmlns:a16="http://schemas.microsoft.com/office/drawing/2014/main" id="{B794F18C-20F8-654C-B730-1331F4E2E8B6}"/>
                </a:ext>
              </a:extLst>
            </p:cNvPr>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7" name="Group 590">
            <a:extLst>
              <a:ext uri="{FF2B5EF4-FFF2-40B4-BE49-F238E27FC236}">
                <a16:creationId xmlns:a16="http://schemas.microsoft.com/office/drawing/2014/main" id="{221546B5-0369-8245-B309-BE44B32A6784}"/>
              </a:ext>
            </a:extLst>
          </p:cNvPr>
          <p:cNvGrpSpPr/>
          <p:nvPr/>
        </p:nvGrpSpPr>
        <p:grpSpPr bwMode="auto">
          <a:xfrm flipH="1">
            <a:off x="8155104" y="5337486"/>
            <a:ext cx="395376" cy="310087"/>
            <a:chOff x="2839" y="3501"/>
            <a:chExt cx="755" cy="803"/>
          </a:xfrm>
        </p:grpSpPr>
        <p:pic>
          <p:nvPicPr>
            <p:cNvPr id="242" name="Picture 591" descr="desktop_computer_stylized_medium">
              <a:extLst>
                <a:ext uri="{FF2B5EF4-FFF2-40B4-BE49-F238E27FC236}">
                  <a16:creationId xmlns:a16="http://schemas.microsoft.com/office/drawing/2014/main" id="{0A990653-1125-3548-9977-FEE4A08A88EA}"/>
                </a:ext>
              </a:extLst>
            </p:cNvPr>
            <p:cNvPicPr>
              <a:picLocks noChangeAspect="1" noChangeArrowheads="1"/>
            </p:cNvPicPr>
            <p:nvPr/>
          </p:nvPicPr>
          <p:blipFill>
            <a:blip r:embed="rId20" cstate="print">
              <a:extLst>
                <a:ext uri="{28A0092B-C50C-407E-A947-70E740481C1C}">
                  <a14:useLocalDpi xmlns:a14="http://schemas.microsoft.com/office/drawing/2010/main"/>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Freeform 592">
              <a:extLst>
                <a:ext uri="{FF2B5EF4-FFF2-40B4-BE49-F238E27FC236}">
                  <a16:creationId xmlns:a16="http://schemas.microsoft.com/office/drawing/2014/main" id="{711DD041-968B-1748-B14F-0F76DBD0D520}"/>
                </a:ext>
              </a:extLst>
            </p:cNvPr>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p>
          </p:txBody>
        </p:sp>
      </p:grpSp>
      <p:grpSp>
        <p:nvGrpSpPr>
          <p:cNvPr id="218" name="Group 1064">
            <a:extLst>
              <a:ext uri="{FF2B5EF4-FFF2-40B4-BE49-F238E27FC236}">
                <a16:creationId xmlns:a16="http://schemas.microsoft.com/office/drawing/2014/main" id="{F7722276-5890-D14F-9D46-A23BF9A132A2}"/>
              </a:ext>
            </a:extLst>
          </p:cNvPr>
          <p:cNvGrpSpPr/>
          <p:nvPr/>
        </p:nvGrpSpPr>
        <p:grpSpPr bwMode="auto">
          <a:xfrm>
            <a:off x="9279156" y="5597907"/>
            <a:ext cx="365216" cy="245298"/>
            <a:chOff x="877" y="1008"/>
            <a:chExt cx="2747" cy="2591"/>
          </a:xfrm>
        </p:grpSpPr>
        <p:pic>
          <p:nvPicPr>
            <p:cNvPr id="219" name="Picture 1065" descr="antenna_stylized">
              <a:extLst>
                <a:ext uri="{FF2B5EF4-FFF2-40B4-BE49-F238E27FC236}">
                  <a16:creationId xmlns:a16="http://schemas.microsoft.com/office/drawing/2014/main" id="{010B6484-A8A1-B24A-97BD-4DD051D3B0F2}"/>
                </a:ext>
              </a:extLst>
            </p:cNvPr>
            <p:cNvPicPr>
              <a:picLocks noChangeAspect="1" noChangeArrowheads="1"/>
            </p:cNvPicPr>
            <p:nvPr/>
          </p:nvPicPr>
          <p:blipFill>
            <a:blip r:embed="rId24" cstate="print">
              <a:extLst>
                <a:ext uri="{28A0092B-C50C-407E-A947-70E740481C1C}">
                  <a14:useLocalDpi xmlns:a14="http://schemas.microsoft.com/office/drawing/2010/main"/>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0" name="Picture 1066" descr="laptop_keyboard">
              <a:extLst>
                <a:ext uri="{FF2B5EF4-FFF2-40B4-BE49-F238E27FC236}">
                  <a16:creationId xmlns:a16="http://schemas.microsoft.com/office/drawing/2014/main" id="{9ABA9293-EA37-0241-BAD6-38B635223729}"/>
                </a:ext>
              </a:extLst>
            </p:cNvPr>
            <p:cNvPicPr>
              <a:picLocks noChangeAspect="1" noChangeArrowheads="1"/>
            </p:cNvPicPr>
            <p:nvPr/>
          </p:nvPicPr>
          <p:blipFill>
            <a:blip r:embed="rId25" cstate="print">
              <a:extLst>
                <a:ext uri="{28A0092B-C50C-407E-A947-70E740481C1C}">
                  <a14:useLocalDpi xmlns:a14="http://schemas.microsoft.com/office/drawing/2010/main"/>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 name="Freeform 1067">
              <a:extLst>
                <a:ext uri="{FF2B5EF4-FFF2-40B4-BE49-F238E27FC236}">
                  <a16:creationId xmlns:a16="http://schemas.microsoft.com/office/drawing/2014/main" id="{191B6A79-6A90-9F49-BC58-56064DCAA5B0}"/>
                </a:ext>
              </a:extLst>
            </p:cNvPr>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222" name="Picture 1068" descr="screen">
              <a:extLst>
                <a:ext uri="{FF2B5EF4-FFF2-40B4-BE49-F238E27FC236}">
                  <a16:creationId xmlns:a16="http://schemas.microsoft.com/office/drawing/2014/main" id="{4667BF4B-9736-2C4D-897C-6974ED7FFE47}"/>
                </a:ext>
              </a:extLst>
            </p:cNvPr>
            <p:cNvPicPr>
              <a:picLocks noChangeAspect="1" noChangeArrowheads="1"/>
            </p:cNvPicPr>
            <p:nvPr/>
          </p:nvPicPr>
          <p:blipFill>
            <a:blip r:embed="rId26" cstate="print">
              <a:extLst>
                <a:ext uri="{28A0092B-C50C-407E-A947-70E740481C1C}">
                  <a14:useLocalDpi xmlns:a14="http://schemas.microsoft.com/office/drawing/2010/main"/>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 name="Freeform 1069">
              <a:extLst>
                <a:ext uri="{FF2B5EF4-FFF2-40B4-BE49-F238E27FC236}">
                  <a16:creationId xmlns:a16="http://schemas.microsoft.com/office/drawing/2014/main" id="{3B673245-55BB-F24E-8ABA-373F0517460C}"/>
                </a:ext>
              </a:extLst>
            </p:cNvPr>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4" name="Freeform 1070">
              <a:extLst>
                <a:ext uri="{FF2B5EF4-FFF2-40B4-BE49-F238E27FC236}">
                  <a16:creationId xmlns:a16="http://schemas.microsoft.com/office/drawing/2014/main" id="{1244DB13-A5F9-D345-AF4E-5A57B46C915D}"/>
                </a:ext>
              </a:extLst>
            </p:cNvPr>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5" name="Freeform 1071">
              <a:extLst>
                <a:ext uri="{FF2B5EF4-FFF2-40B4-BE49-F238E27FC236}">
                  <a16:creationId xmlns:a16="http://schemas.microsoft.com/office/drawing/2014/main" id="{34552C47-FAE5-A24F-B3C9-8F3F9A13EF6D}"/>
                </a:ext>
              </a:extLst>
            </p:cNvPr>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6" name="Freeform 1072">
              <a:extLst>
                <a:ext uri="{FF2B5EF4-FFF2-40B4-BE49-F238E27FC236}">
                  <a16:creationId xmlns:a16="http://schemas.microsoft.com/office/drawing/2014/main" id="{454105FF-E51B-284E-B3D9-E9BFBAB47070}"/>
                </a:ext>
              </a:extLst>
            </p:cNvPr>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7" name="Freeform 1073">
              <a:extLst>
                <a:ext uri="{FF2B5EF4-FFF2-40B4-BE49-F238E27FC236}">
                  <a16:creationId xmlns:a16="http://schemas.microsoft.com/office/drawing/2014/main" id="{9A2E6B03-E5EE-B74C-8269-0AB1A39EFB34}"/>
                </a:ext>
              </a:extLst>
            </p:cNvPr>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28" name="Freeform 1074">
              <a:extLst>
                <a:ext uri="{FF2B5EF4-FFF2-40B4-BE49-F238E27FC236}">
                  <a16:creationId xmlns:a16="http://schemas.microsoft.com/office/drawing/2014/main" id="{F7C0D58E-30C0-C948-B474-8E6B98DE63D0}"/>
                </a:ext>
              </a:extLst>
            </p:cNvPr>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229" name="Group 1075">
              <a:extLst>
                <a:ext uri="{FF2B5EF4-FFF2-40B4-BE49-F238E27FC236}">
                  <a16:creationId xmlns:a16="http://schemas.microsoft.com/office/drawing/2014/main" id="{FB4EC595-82AF-194A-80C9-33D276131CDE}"/>
                </a:ext>
              </a:extLst>
            </p:cNvPr>
            <p:cNvGrpSpPr/>
            <p:nvPr/>
          </p:nvGrpSpPr>
          <p:grpSpPr bwMode="auto">
            <a:xfrm>
              <a:off x="1709" y="3008"/>
              <a:ext cx="507" cy="234"/>
              <a:chOff x="1740" y="2642"/>
              <a:chExt cx="752" cy="327"/>
            </a:xfrm>
          </p:grpSpPr>
          <p:sp>
            <p:nvSpPr>
              <p:cNvPr id="236" name="Freeform 1076">
                <a:extLst>
                  <a:ext uri="{FF2B5EF4-FFF2-40B4-BE49-F238E27FC236}">
                    <a16:creationId xmlns:a16="http://schemas.microsoft.com/office/drawing/2014/main" id="{DE33B0C3-38A1-F14B-8B10-EBC3FE698D3E}"/>
                  </a:ext>
                </a:extLst>
              </p:cNvPr>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7" name="Freeform 1077">
                <a:extLst>
                  <a:ext uri="{FF2B5EF4-FFF2-40B4-BE49-F238E27FC236}">
                    <a16:creationId xmlns:a16="http://schemas.microsoft.com/office/drawing/2014/main" id="{7F14FC8E-EF72-6D4C-987C-3E603DBE1F11}"/>
                  </a:ext>
                </a:extLst>
              </p:cNvPr>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8" name="Freeform 1078">
                <a:extLst>
                  <a:ext uri="{FF2B5EF4-FFF2-40B4-BE49-F238E27FC236}">
                    <a16:creationId xmlns:a16="http://schemas.microsoft.com/office/drawing/2014/main" id="{55D7CDEC-FA51-344A-A5E7-48063E92A6ED}"/>
                  </a:ext>
                </a:extLst>
              </p:cNvPr>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9" name="Freeform 1079">
                <a:extLst>
                  <a:ext uri="{FF2B5EF4-FFF2-40B4-BE49-F238E27FC236}">
                    <a16:creationId xmlns:a16="http://schemas.microsoft.com/office/drawing/2014/main" id="{EF742EAB-9805-D541-903C-CF12F5E8717D}"/>
                  </a:ext>
                </a:extLst>
              </p:cNvPr>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40" name="Freeform 1080">
                <a:extLst>
                  <a:ext uri="{FF2B5EF4-FFF2-40B4-BE49-F238E27FC236}">
                    <a16:creationId xmlns:a16="http://schemas.microsoft.com/office/drawing/2014/main" id="{63DD70DB-CF4F-424A-9D18-709260A724BD}"/>
                  </a:ext>
                </a:extLst>
              </p:cNvPr>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41" name="Freeform 1081">
                <a:extLst>
                  <a:ext uri="{FF2B5EF4-FFF2-40B4-BE49-F238E27FC236}">
                    <a16:creationId xmlns:a16="http://schemas.microsoft.com/office/drawing/2014/main" id="{6FC7EB7B-8794-AE4C-AA75-B3D837855D4C}"/>
                  </a:ext>
                </a:extLst>
              </p:cNvPr>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230" name="Freeform 1082">
              <a:extLst>
                <a:ext uri="{FF2B5EF4-FFF2-40B4-BE49-F238E27FC236}">
                  <a16:creationId xmlns:a16="http://schemas.microsoft.com/office/drawing/2014/main" id="{5A871E3F-1FD7-BD42-9E76-6FE312DAAD7E}"/>
                </a:ext>
              </a:extLst>
            </p:cNvPr>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1" name="Freeform 1083">
              <a:extLst>
                <a:ext uri="{FF2B5EF4-FFF2-40B4-BE49-F238E27FC236}">
                  <a16:creationId xmlns:a16="http://schemas.microsoft.com/office/drawing/2014/main" id="{BDB5FFE7-C2C0-8A41-A291-42C141381787}"/>
                </a:ext>
              </a:extLst>
            </p:cNvPr>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2" name="Freeform 1084">
              <a:extLst>
                <a:ext uri="{FF2B5EF4-FFF2-40B4-BE49-F238E27FC236}">
                  <a16:creationId xmlns:a16="http://schemas.microsoft.com/office/drawing/2014/main" id="{FA314119-AB5C-1C4D-A9B4-2ACD47330EAB}"/>
                </a:ext>
              </a:extLst>
            </p:cNvPr>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3" name="Freeform 1085">
              <a:extLst>
                <a:ext uri="{FF2B5EF4-FFF2-40B4-BE49-F238E27FC236}">
                  <a16:creationId xmlns:a16="http://schemas.microsoft.com/office/drawing/2014/main" id="{EE6E039B-9C30-7F4B-8338-D7BA05451758}"/>
                </a:ext>
              </a:extLst>
            </p:cNvPr>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4" name="Freeform 1086">
              <a:extLst>
                <a:ext uri="{FF2B5EF4-FFF2-40B4-BE49-F238E27FC236}">
                  <a16:creationId xmlns:a16="http://schemas.microsoft.com/office/drawing/2014/main" id="{7FB7AAFD-73CA-2940-ACC7-04BE0BC3C34C}"/>
                </a:ext>
              </a:extLst>
            </p:cNvPr>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235" name="Freeform 1087">
              <a:extLst>
                <a:ext uri="{FF2B5EF4-FFF2-40B4-BE49-F238E27FC236}">
                  <a16:creationId xmlns:a16="http://schemas.microsoft.com/office/drawing/2014/main" id="{23221D2A-E9BD-FA43-B2EA-A5930A6094B3}"/>
                </a:ext>
              </a:extLst>
            </p:cNvPr>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grpSp>
        <p:nvGrpSpPr>
          <p:cNvPr id="180" name="Group 983">
            <a:extLst>
              <a:ext uri="{FF2B5EF4-FFF2-40B4-BE49-F238E27FC236}">
                <a16:creationId xmlns:a16="http://schemas.microsoft.com/office/drawing/2014/main" id="{29D59ABA-0F14-5648-B3FC-0F8899AACA2E}"/>
              </a:ext>
            </a:extLst>
          </p:cNvPr>
          <p:cNvGrpSpPr/>
          <p:nvPr/>
        </p:nvGrpSpPr>
        <p:grpSpPr bwMode="auto">
          <a:xfrm>
            <a:off x="9831839" y="5444224"/>
            <a:ext cx="196136" cy="337817"/>
            <a:chOff x="4140" y="429"/>
            <a:chExt cx="1425" cy="2396"/>
          </a:xfrm>
        </p:grpSpPr>
        <p:sp>
          <p:nvSpPr>
            <p:cNvPr id="181" name="Freeform 984">
              <a:extLst>
                <a:ext uri="{FF2B5EF4-FFF2-40B4-BE49-F238E27FC236}">
                  <a16:creationId xmlns:a16="http://schemas.microsoft.com/office/drawing/2014/main" id="{486E6EDF-FF57-3B4F-9974-E6B90F28EAA0}"/>
                </a:ext>
              </a:extLst>
            </p:cNvPr>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82" name="Rectangle 985">
              <a:extLst>
                <a:ext uri="{FF2B5EF4-FFF2-40B4-BE49-F238E27FC236}">
                  <a16:creationId xmlns:a16="http://schemas.microsoft.com/office/drawing/2014/main" id="{7B0FEDA5-F997-F94C-BE5D-F49ED0D73481}"/>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83" name="Freeform 986">
              <a:extLst>
                <a:ext uri="{FF2B5EF4-FFF2-40B4-BE49-F238E27FC236}">
                  <a16:creationId xmlns:a16="http://schemas.microsoft.com/office/drawing/2014/main" id="{CA0B362C-67C2-9C49-8556-44914DFE3541}"/>
                </a:ext>
              </a:extLst>
            </p:cNvPr>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84" name="Freeform 987">
              <a:extLst>
                <a:ext uri="{FF2B5EF4-FFF2-40B4-BE49-F238E27FC236}">
                  <a16:creationId xmlns:a16="http://schemas.microsoft.com/office/drawing/2014/main" id="{097AF20D-8D16-2D44-A4CD-1BF98B8D6841}"/>
                </a:ext>
              </a:extLst>
            </p:cNvPr>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85" name="Rectangle 988">
              <a:extLst>
                <a:ext uri="{FF2B5EF4-FFF2-40B4-BE49-F238E27FC236}">
                  <a16:creationId xmlns:a16="http://schemas.microsoft.com/office/drawing/2014/main" id="{514F4272-96F6-1745-A53A-A0F6117D50A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186" name="Group 989">
              <a:extLst>
                <a:ext uri="{FF2B5EF4-FFF2-40B4-BE49-F238E27FC236}">
                  <a16:creationId xmlns:a16="http://schemas.microsoft.com/office/drawing/2014/main" id="{FAB6FACA-80D8-6545-99DA-EFD5653E75AA}"/>
                </a:ext>
              </a:extLst>
            </p:cNvPr>
            <p:cNvGrpSpPr/>
            <p:nvPr/>
          </p:nvGrpSpPr>
          <p:grpSpPr bwMode="auto">
            <a:xfrm>
              <a:off x="4749" y="668"/>
              <a:ext cx="581" cy="145"/>
              <a:chOff x="614" y="2568"/>
              <a:chExt cx="725" cy="139"/>
            </a:xfrm>
          </p:grpSpPr>
          <p:sp>
            <p:nvSpPr>
              <p:cNvPr id="211" name="AutoShape 990">
                <a:extLst>
                  <a:ext uri="{FF2B5EF4-FFF2-40B4-BE49-F238E27FC236}">
                    <a16:creationId xmlns:a16="http://schemas.microsoft.com/office/drawing/2014/main" id="{E56E1C93-324E-F44D-B296-533B01D0B729}"/>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12" name="AutoShape 991">
                <a:extLst>
                  <a:ext uri="{FF2B5EF4-FFF2-40B4-BE49-F238E27FC236}">
                    <a16:creationId xmlns:a16="http://schemas.microsoft.com/office/drawing/2014/main" id="{77BFE67C-6A9B-BC49-B9B2-E88D5A697A6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87" name="Rectangle 992">
              <a:extLst>
                <a:ext uri="{FF2B5EF4-FFF2-40B4-BE49-F238E27FC236}">
                  <a16:creationId xmlns:a16="http://schemas.microsoft.com/office/drawing/2014/main" id="{C8D59209-F24F-5A47-8CD3-8B9FB746A8B5}"/>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188" name="Group 993">
              <a:extLst>
                <a:ext uri="{FF2B5EF4-FFF2-40B4-BE49-F238E27FC236}">
                  <a16:creationId xmlns:a16="http://schemas.microsoft.com/office/drawing/2014/main" id="{E58C76A0-B8D1-9142-A465-68259A86B4FE}"/>
                </a:ext>
              </a:extLst>
            </p:cNvPr>
            <p:cNvGrpSpPr/>
            <p:nvPr/>
          </p:nvGrpSpPr>
          <p:grpSpPr bwMode="auto">
            <a:xfrm>
              <a:off x="4747" y="994"/>
              <a:ext cx="581" cy="134"/>
              <a:chOff x="614" y="2568"/>
              <a:chExt cx="725" cy="139"/>
            </a:xfrm>
          </p:grpSpPr>
          <p:sp>
            <p:nvSpPr>
              <p:cNvPr id="209" name="AutoShape 994">
                <a:extLst>
                  <a:ext uri="{FF2B5EF4-FFF2-40B4-BE49-F238E27FC236}">
                    <a16:creationId xmlns:a16="http://schemas.microsoft.com/office/drawing/2014/main" id="{332AE0A3-BBC2-B44A-8D47-E601E40E8210}"/>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10" name="AutoShape 995">
                <a:extLst>
                  <a:ext uri="{FF2B5EF4-FFF2-40B4-BE49-F238E27FC236}">
                    <a16:creationId xmlns:a16="http://schemas.microsoft.com/office/drawing/2014/main" id="{C6B15500-D876-0440-8BD8-DE56AB563DB3}"/>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89" name="Rectangle 996">
              <a:extLst>
                <a:ext uri="{FF2B5EF4-FFF2-40B4-BE49-F238E27FC236}">
                  <a16:creationId xmlns:a16="http://schemas.microsoft.com/office/drawing/2014/main" id="{98BEAAF9-DB7C-884E-9EB6-927C79DA508E}"/>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90" name="Rectangle 997">
              <a:extLst>
                <a:ext uri="{FF2B5EF4-FFF2-40B4-BE49-F238E27FC236}">
                  <a16:creationId xmlns:a16="http://schemas.microsoft.com/office/drawing/2014/main" id="{40C66238-E125-3B49-A867-194DD491ADF5}"/>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nvGrpSpPr>
            <p:cNvPr id="191" name="Group 998">
              <a:extLst>
                <a:ext uri="{FF2B5EF4-FFF2-40B4-BE49-F238E27FC236}">
                  <a16:creationId xmlns:a16="http://schemas.microsoft.com/office/drawing/2014/main" id="{B73218EA-6C82-A347-B220-910B5AB10794}"/>
                </a:ext>
              </a:extLst>
            </p:cNvPr>
            <p:cNvGrpSpPr/>
            <p:nvPr/>
          </p:nvGrpSpPr>
          <p:grpSpPr bwMode="auto">
            <a:xfrm>
              <a:off x="4735" y="1627"/>
              <a:ext cx="582" cy="151"/>
              <a:chOff x="614" y="2568"/>
              <a:chExt cx="725" cy="139"/>
            </a:xfrm>
          </p:grpSpPr>
          <p:sp>
            <p:nvSpPr>
              <p:cNvPr id="207" name="AutoShape 999">
                <a:extLst>
                  <a:ext uri="{FF2B5EF4-FFF2-40B4-BE49-F238E27FC236}">
                    <a16:creationId xmlns:a16="http://schemas.microsoft.com/office/drawing/2014/main" id="{D03C10B2-E9DA-844F-8426-9CF56C91C4A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8" name="AutoShape 1000">
                <a:extLst>
                  <a:ext uri="{FF2B5EF4-FFF2-40B4-BE49-F238E27FC236}">
                    <a16:creationId xmlns:a16="http://schemas.microsoft.com/office/drawing/2014/main" id="{12196D5D-52DD-5748-80F5-42D9D3A9C3A5}"/>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92" name="Freeform 1001">
              <a:extLst>
                <a:ext uri="{FF2B5EF4-FFF2-40B4-BE49-F238E27FC236}">
                  <a16:creationId xmlns:a16="http://schemas.microsoft.com/office/drawing/2014/main" id="{C2EF41D7-B1C8-B649-B961-78F7EE0AC9BA}"/>
                </a:ext>
              </a:extLst>
            </p:cNvPr>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193" name="Group 1002">
              <a:extLst>
                <a:ext uri="{FF2B5EF4-FFF2-40B4-BE49-F238E27FC236}">
                  <a16:creationId xmlns:a16="http://schemas.microsoft.com/office/drawing/2014/main" id="{52BB2FBB-0DCC-EB46-960B-2F292226F072}"/>
                </a:ext>
              </a:extLst>
            </p:cNvPr>
            <p:cNvGrpSpPr/>
            <p:nvPr/>
          </p:nvGrpSpPr>
          <p:grpSpPr bwMode="auto">
            <a:xfrm>
              <a:off x="4739" y="1327"/>
              <a:ext cx="582" cy="139"/>
              <a:chOff x="614" y="2568"/>
              <a:chExt cx="725" cy="139"/>
            </a:xfrm>
          </p:grpSpPr>
          <p:sp>
            <p:nvSpPr>
              <p:cNvPr id="205" name="AutoShape 1003">
                <a:extLst>
                  <a:ext uri="{FF2B5EF4-FFF2-40B4-BE49-F238E27FC236}">
                    <a16:creationId xmlns:a16="http://schemas.microsoft.com/office/drawing/2014/main" id="{27D2EC96-B5E4-B041-8459-5C2C0B186F3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6" name="AutoShape 1004">
                <a:extLst>
                  <a:ext uri="{FF2B5EF4-FFF2-40B4-BE49-F238E27FC236}">
                    <a16:creationId xmlns:a16="http://schemas.microsoft.com/office/drawing/2014/main" id="{8FEBA2A7-2355-1549-B9FC-1A7114BD927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sp>
          <p:nvSpPr>
            <p:cNvPr id="194" name="Rectangle 1005">
              <a:extLst>
                <a:ext uri="{FF2B5EF4-FFF2-40B4-BE49-F238E27FC236}">
                  <a16:creationId xmlns:a16="http://schemas.microsoft.com/office/drawing/2014/main" id="{B702574F-ED6B-E649-B6AC-99A956648730}"/>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95" name="Freeform 1006">
              <a:extLst>
                <a:ext uri="{FF2B5EF4-FFF2-40B4-BE49-F238E27FC236}">
                  <a16:creationId xmlns:a16="http://schemas.microsoft.com/office/drawing/2014/main" id="{B39AEFE8-26FC-334E-81F1-EFD6BB937674}"/>
                </a:ext>
              </a:extLst>
            </p:cNvPr>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96" name="Freeform 1007">
              <a:extLst>
                <a:ext uri="{FF2B5EF4-FFF2-40B4-BE49-F238E27FC236}">
                  <a16:creationId xmlns:a16="http://schemas.microsoft.com/office/drawing/2014/main" id="{500E4445-C19A-8D47-A40A-D54D1C852A3A}"/>
                </a:ext>
              </a:extLst>
            </p:cNvPr>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97" name="Oval 1008">
              <a:extLst>
                <a:ext uri="{FF2B5EF4-FFF2-40B4-BE49-F238E27FC236}">
                  <a16:creationId xmlns:a16="http://schemas.microsoft.com/office/drawing/2014/main" id="{8F901841-C47C-BC4F-B200-23B02EA7EEB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198" name="Freeform 1009">
              <a:extLst>
                <a:ext uri="{FF2B5EF4-FFF2-40B4-BE49-F238E27FC236}">
                  <a16:creationId xmlns:a16="http://schemas.microsoft.com/office/drawing/2014/main" id="{263CE4D2-8EED-A44A-B056-836551B2EBB0}"/>
                </a:ext>
              </a:extLst>
            </p:cNvPr>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199" name="AutoShape 1010">
              <a:extLst>
                <a:ext uri="{FF2B5EF4-FFF2-40B4-BE49-F238E27FC236}">
                  <a16:creationId xmlns:a16="http://schemas.microsoft.com/office/drawing/2014/main" id="{2C5BDFEA-13AF-9048-9C92-5920AA89A549}"/>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0" name="AutoShape 1011">
              <a:extLst>
                <a:ext uri="{FF2B5EF4-FFF2-40B4-BE49-F238E27FC236}">
                  <a16:creationId xmlns:a16="http://schemas.microsoft.com/office/drawing/2014/main" id="{589F3CDE-3B25-B148-993C-F6ECFD477523}"/>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1" name="Oval 1012">
              <a:extLst>
                <a:ext uri="{FF2B5EF4-FFF2-40B4-BE49-F238E27FC236}">
                  <a16:creationId xmlns:a16="http://schemas.microsoft.com/office/drawing/2014/main" id="{41E085E4-62C7-4D43-8541-829D3FE1BD92}"/>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2" name="Oval 1013">
              <a:extLst>
                <a:ext uri="{FF2B5EF4-FFF2-40B4-BE49-F238E27FC236}">
                  <a16:creationId xmlns:a16="http://schemas.microsoft.com/office/drawing/2014/main" id="{D01874EF-910C-DF43-A72C-8B62ADA6AB2D}"/>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dirty="0">
                <a:solidFill>
                  <a:srgbClr val="FF0000"/>
                </a:solidFill>
                <a:latin typeface="Arial" panose="020B0604020202020204" pitchFamily="34" charset="0"/>
              </a:endParaRPr>
            </a:p>
          </p:txBody>
        </p:sp>
        <p:sp>
          <p:nvSpPr>
            <p:cNvPr id="203" name="Oval 1014">
              <a:extLst>
                <a:ext uri="{FF2B5EF4-FFF2-40B4-BE49-F238E27FC236}">
                  <a16:creationId xmlns:a16="http://schemas.microsoft.com/office/drawing/2014/main" id="{35969731-46CF-5E48-A36B-1CF9F959740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sp>
          <p:nvSpPr>
            <p:cNvPr id="204" name="Rectangle 1015">
              <a:extLst>
                <a:ext uri="{FF2B5EF4-FFF2-40B4-BE49-F238E27FC236}">
                  <a16:creationId xmlns:a16="http://schemas.microsoft.com/office/drawing/2014/main" id="{C0052BC9-15FC-9749-95CC-5A5E4C7FA2C1}"/>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dirty="0">
                <a:latin typeface="Arial" panose="020B0604020202020204" pitchFamily="34" charset="0"/>
              </a:endParaRPr>
            </a:p>
          </p:txBody>
        </p:sp>
      </p:grpSp>
      <p:grpSp>
        <p:nvGrpSpPr>
          <p:cNvPr id="9" name="Group 1023">
            <a:extLst>
              <a:ext uri="{FF2B5EF4-FFF2-40B4-BE49-F238E27FC236}">
                <a16:creationId xmlns:a16="http://schemas.microsoft.com/office/drawing/2014/main" id="{0F7CA7AC-5452-5A41-A10F-E4285E2D9E9C}"/>
              </a:ext>
            </a:extLst>
          </p:cNvPr>
          <p:cNvGrpSpPr/>
          <p:nvPr/>
        </p:nvGrpSpPr>
        <p:grpSpPr>
          <a:xfrm>
            <a:off x="7109949" y="1997635"/>
            <a:ext cx="4049958" cy="3614756"/>
            <a:chOff x="7619038" y="2102861"/>
            <a:chExt cx="3540395" cy="3733733"/>
          </a:xfrm>
        </p:grpSpPr>
        <p:sp>
          <p:nvSpPr>
            <p:cNvPr id="11" name="Line 426">
              <a:extLst>
                <a:ext uri="{FF2B5EF4-FFF2-40B4-BE49-F238E27FC236}">
                  <a16:creationId xmlns:a16="http://schemas.microsoft.com/office/drawing/2014/main" id="{409A56A5-F297-A548-9553-68B232270EE0}"/>
                </a:ext>
              </a:extLst>
            </p:cNvPr>
            <p:cNvSpPr>
              <a:spLocks noChangeShapeType="1"/>
            </p:cNvSpPr>
            <p:nvPr/>
          </p:nvSpPr>
          <p:spPr bwMode="auto">
            <a:xfrm>
              <a:off x="8213016" y="2695257"/>
              <a:ext cx="227964" cy="1743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dirty="0"/>
            </a:p>
          </p:txBody>
        </p:sp>
        <p:grpSp>
          <p:nvGrpSpPr>
            <p:cNvPr id="12" name="Group 783">
              <a:extLst>
                <a:ext uri="{FF2B5EF4-FFF2-40B4-BE49-F238E27FC236}">
                  <a16:creationId xmlns:a16="http://schemas.microsoft.com/office/drawing/2014/main" id="{CA20E85D-90AA-FF48-A635-6176C8EF59D7}"/>
                </a:ext>
              </a:extLst>
            </p:cNvPr>
            <p:cNvGrpSpPr/>
            <p:nvPr/>
          </p:nvGrpSpPr>
          <p:grpSpPr bwMode="auto">
            <a:xfrm>
              <a:off x="8055854" y="2304274"/>
              <a:ext cx="298450" cy="464008"/>
              <a:chOff x="3130" y="3288"/>
              <a:chExt cx="410" cy="742"/>
            </a:xfrm>
          </p:grpSpPr>
          <p:sp>
            <p:nvSpPr>
              <p:cNvPr id="159" name="Line 270">
                <a:extLst>
                  <a:ext uri="{FF2B5EF4-FFF2-40B4-BE49-F238E27FC236}">
                    <a16:creationId xmlns:a16="http://schemas.microsoft.com/office/drawing/2014/main" id="{DD70781B-70E2-3B42-9A54-FDE9B4FEE992}"/>
                  </a:ext>
                </a:extLst>
              </p:cNvPr>
              <p:cNvSpPr>
                <a:spLocks noChangeShapeType="1"/>
              </p:cNvSpPr>
              <p:nvPr/>
            </p:nvSpPr>
            <p:spPr bwMode="auto">
              <a:xfrm flipH="1">
                <a:off x="3130" y="3288"/>
                <a:ext cx="205" cy="6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0" name="Line 271">
                <a:extLst>
                  <a:ext uri="{FF2B5EF4-FFF2-40B4-BE49-F238E27FC236}">
                    <a16:creationId xmlns:a16="http://schemas.microsoft.com/office/drawing/2014/main" id="{03AE26B1-CFE9-6B47-A6B5-AB6E324CCD92}"/>
                  </a:ext>
                </a:extLst>
              </p:cNvPr>
              <p:cNvSpPr>
                <a:spLocks noChangeShapeType="1"/>
              </p:cNvSpPr>
              <p:nvPr/>
            </p:nvSpPr>
            <p:spPr bwMode="auto">
              <a:xfrm>
                <a:off x="3335" y="3288"/>
                <a:ext cx="205" cy="6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1" name="Line 272">
                <a:extLst>
                  <a:ext uri="{FF2B5EF4-FFF2-40B4-BE49-F238E27FC236}">
                    <a16:creationId xmlns:a16="http://schemas.microsoft.com/office/drawing/2014/main" id="{3DC4657F-B273-D245-B393-E9FB833E2465}"/>
                  </a:ext>
                </a:extLst>
              </p:cNvPr>
              <p:cNvSpPr>
                <a:spLocks noChangeShapeType="1"/>
              </p:cNvSpPr>
              <p:nvPr/>
            </p:nvSpPr>
            <p:spPr bwMode="auto">
              <a:xfrm>
                <a:off x="3130"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2" name="Line 273">
                <a:extLst>
                  <a:ext uri="{FF2B5EF4-FFF2-40B4-BE49-F238E27FC236}">
                    <a16:creationId xmlns:a16="http://schemas.microsoft.com/office/drawing/2014/main" id="{81AE1CF4-7CFF-9347-BDA0-5FF9481C6CA1}"/>
                  </a:ext>
                </a:extLst>
              </p:cNvPr>
              <p:cNvSpPr>
                <a:spLocks noChangeShapeType="1"/>
              </p:cNvSpPr>
              <p:nvPr/>
            </p:nvSpPr>
            <p:spPr bwMode="auto">
              <a:xfrm flipH="1">
                <a:off x="3335"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3" name="Line 274">
                <a:extLst>
                  <a:ext uri="{FF2B5EF4-FFF2-40B4-BE49-F238E27FC236}">
                    <a16:creationId xmlns:a16="http://schemas.microsoft.com/office/drawing/2014/main" id="{7619B756-A260-034F-93B0-9D5EEE97EE64}"/>
                  </a:ext>
                </a:extLst>
              </p:cNvPr>
              <p:cNvSpPr>
                <a:spLocks noChangeShapeType="1"/>
              </p:cNvSpPr>
              <p:nvPr/>
            </p:nvSpPr>
            <p:spPr bwMode="auto">
              <a:xfrm>
                <a:off x="3335" y="3303"/>
                <a:ext cx="0" cy="7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4" name="Line 275">
                <a:extLst>
                  <a:ext uri="{FF2B5EF4-FFF2-40B4-BE49-F238E27FC236}">
                    <a16:creationId xmlns:a16="http://schemas.microsoft.com/office/drawing/2014/main" id="{E8021944-C950-414C-AC31-E7BC690063D0}"/>
                  </a:ext>
                </a:extLst>
              </p:cNvPr>
              <p:cNvSpPr>
                <a:spLocks noChangeShapeType="1"/>
              </p:cNvSpPr>
              <p:nvPr/>
            </p:nvSpPr>
            <p:spPr bwMode="auto">
              <a:xfrm flipV="1">
                <a:off x="3130" y="3888"/>
                <a:ext cx="205"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5" name="Line 276">
                <a:extLst>
                  <a:ext uri="{FF2B5EF4-FFF2-40B4-BE49-F238E27FC236}">
                    <a16:creationId xmlns:a16="http://schemas.microsoft.com/office/drawing/2014/main" id="{3DD59FDC-54FC-9F45-88D4-1A3698269846}"/>
                  </a:ext>
                </a:extLst>
              </p:cNvPr>
              <p:cNvSpPr>
                <a:spLocks noChangeShapeType="1"/>
              </p:cNvSpPr>
              <p:nvPr/>
            </p:nvSpPr>
            <p:spPr bwMode="auto">
              <a:xfrm flipH="1" flipV="1">
                <a:off x="3335" y="3888"/>
                <a:ext cx="205" cy="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6" name="Line 277">
                <a:extLst>
                  <a:ext uri="{FF2B5EF4-FFF2-40B4-BE49-F238E27FC236}">
                    <a16:creationId xmlns:a16="http://schemas.microsoft.com/office/drawing/2014/main" id="{2E54D04C-B0F2-F049-A460-C7AAB4B0B917}"/>
                  </a:ext>
                </a:extLst>
              </p:cNvPr>
              <p:cNvSpPr>
                <a:spLocks noChangeShapeType="1"/>
              </p:cNvSpPr>
              <p:nvPr/>
            </p:nvSpPr>
            <p:spPr bwMode="auto">
              <a:xfrm>
                <a:off x="3217" y="3668"/>
                <a:ext cx="118"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7" name="Line 278">
                <a:extLst>
                  <a:ext uri="{FF2B5EF4-FFF2-40B4-BE49-F238E27FC236}">
                    <a16:creationId xmlns:a16="http://schemas.microsoft.com/office/drawing/2014/main" id="{D2073FD0-CEFA-4E48-A256-87B397FE5492}"/>
                  </a:ext>
                </a:extLst>
              </p:cNvPr>
              <p:cNvSpPr>
                <a:spLocks noChangeShapeType="1"/>
              </p:cNvSpPr>
              <p:nvPr/>
            </p:nvSpPr>
            <p:spPr bwMode="auto">
              <a:xfrm flipV="1">
                <a:off x="3335" y="3668"/>
                <a:ext cx="124"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8" name="Line 279">
                <a:extLst>
                  <a:ext uri="{FF2B5EF4-FFF2-40B4-BE49-F238E27FC236}">
                    <a16:creationId xmlns:a16="http://schemas.microsoft.com/office/drawing/2014/main" id="{9D5220C9-96A3-D44B-9817-BF83AE292299}"/>
                  </a:ext>
                </a:extLst>
              </p:cNvPr>
              <p:cNvSpPr>
                <a:spLocks noChangeShapeType="1"/>
              </p:cNvSpPr>
              <p:nvPr/>
            </p:nvSpPr>
            <p:spPr bwMode="auto">
              <a:xfrm>
                <a:off x="3178" y="3766"/>
                <a:ext cx="152" cy="7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69" name="Line 280">
                <a:extLst>
                  <a:ext uri="{FF2B5EF4-FFF2-40B4-BE49-F238E27FC236}">
                    <a16:creationId xmlns:a16="http://schemas.microsoft.com/office/drawing/2014/main" id="{22228F51-3693-AE4A-A38E-11B35186117F}"/>
                  </a:ext>
                </a:extLst>
              </p:cNvPr>
              <p:cNvSpPr>
                <a:spLocks noChangeShapeType="1"/>
              </p:cNvSpPr>
              <p:nvPr/>
            </p:nvSpPr>
            <p:spPr bwMode="auto">
              <a:xfrm flipV="1">
                <a:off x="3335" y="3781"/>
                <a:ext cx="153" cy="6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0" name="Line 281">
                <a:extLst>
                  <a:ext uri="{FF2B5EF4-FFF2-40B4-BE49-F238E27FC236}">
                    <a16:creationId xmlns:a16="http://schemas.microsoft.com/office/drawing/2014/main" id="{26EE0D71-C3FF-8642-B684-2FE48C30613C}"/>
                  </a:ext>
                </a:extLst>
              </p:cNvPr>
              <p:cNvSpPr>
                <a:spLocks noChangeShapeType="1"/>
              </p:cNvSpPr>
              <p:nvPr/>
            </p:nvSpPr>
            <p:spPr bwMode="auto">
              <a:xfrm flipV="1">
                <a:off x="3335" y="3567"/>
                <a:ext cx="78"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1" name="Line 282">
                <a:extLst>
                  <a:ext uri="{FF2B5EF4-FFF2-40B4-BE49-F238E27FC236}">
                    <a16:creationId xmlns:a16="http://schemas.microsoft.com/office/drawing/2014/main" id="{058A862E-F8F4-6D4C-91D9-B64499ED9D92}"/>
                  </a:ext>
                </a:extLst>
              </p:cNvPr>
              <p:cNvSpPr>
                <a:spLocks noChangeShapeType="1"/>
              </p:cNvSpPr>
              <p:nvPr/>
            </p:nvSpPr>
            <p:spPr bwMode="auto">
              <a:xfrm flipV="1">
                <a:off x="3335" y="3428"/>
                <a:ext cx="49"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2" name="Line 283">
                <a:extLst>
                  <a:ext uri="{FF2B5EF4-FFF2-40B4-BE49-F238E27FC236}">
                    <a16:creationId xmlns:a16="http://schemas.microsoft.com/office/drawing/2014/main" id="{8964F929-E471-544A-BCB9-3EE252FD0F49}"/>
                  </a:ext>
                </a:extLst>
              </p:cNvPr>
              <p:cNvSpPr>
                <a:spLocks noChangeShapeType="1"/>
              </p:cNvSpPr>
              <p:nvPr/>
            </p:nvSpPr>
            <p:spPr bwMode="auto">
              <a:xfrm>
                <a:off x="3247" y="3558"/>
                <a:ext cx="9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sp>
            <p:nvSpPr>
              <p:cNvPr id="173" name="Line 284">
                <a:extLst>
                  <a:ext uri="{FF2B5EF4-FFF2-40B4-BE49-F238E27FC236}">
                    <a16:creationId xmlns:a16="http://schemas.microsoft.com/office/drawing/2014/main" id="{511CE89F-B7F6-184C-93CE-1700C1529C64}"/>
                  </a:ext>
                </a:extLst>
              </p:cNvPr>
              <p:cNvSpPr>
                <a:spLocks noChangeShapeType="1"/>
              </p:cNvSpPr>
              <p:nvPr/>
            </p:nvSpPr>
            <p:spPr bwMode="auto">
              <a:xfrm>
                <a:off x="3289" y="3422"/>
                <a:ext cx="5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en-US" dirty="0"/>
              </a:p>
            </p:txBody>
          </p:sp>
        </p:grpSp>
        <p:pic>
          <p:nvPicPr>
            <p:cNvPr id="13" name="Picture 777" descr="access_point_stylized_small">
              <a:extLst>
                <a:ext uri="{FF2B5EF4-FFF2-40B4-BE49-F238E27FC236}">
                  <a16:creationId xmlns:a16="http://schemas.microsoft.com/office/drawing/2014/main" id="{979BE142-E39E-854C-913E-B83C55499D65}"/>
                </a:ext>
              </a:extLst>
            </p:cNvPr>
            <p:cNvPicPr>
              <a:picLocks noChangeAspect="1" noChangeArrowheads="1"/>
            </p:cNvPicPr>
            <p:nvPr/>
          </p:nvPicPr>
          <p:blipFill>
            <a:blip r:embed="rId27">
              <a:extLst>
                <a:ext uri="{28A0092B-C50C-407E-A947-70E740481C1C}">
                  <a14:useLocalDpi xmlns:a14="http://schemas.microsoft.com/office/drawing/2010/main"/>
                </a:ext>
              </a:extLst>
            </a:blip>
            <a:srcRect/>
            <a:stretch>
              <a:fillRect/>
            </a:stretch>
          </p:blipFill>
          <p:spPr bwMode="auto">
            <a:xfrm>
              <a:off x="7619038" y="3856797"/>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780" descr="access_point_stylized_small">
              <a:extLst>
                <a:ext uri="{FF2B5EF4-FFF2-40B4-BE49-F238E27FC236}">
                  <a16:creationId xmlns:a16="http://schemas.microsoft.com/office/drawing/2014/main" id="{B22CAD94-3595-AE4C-A474-B76BCA10CD2D}"/>
                </a:ext>
              </a:extLst>
            </p:cNvPr>
            <p:cNvPicPr>
              <a:picLocks noChangeAspect="1" noChangeArrowheads="1"/>
            </p:cNvPicPr>
            <p:nvPr/>
          </p:nvPicPr>
          <p:blipFill>
            <a:blip r:embed="rId27">
              <a:extLst>
                <a:ext uri="{28A0092B-C50C-407E-A947-70E740481C1C}">
                  <a14:useLocalDpi xmlns:a14="http://schemas.microsoft.com/office/drawing/2010/main"/>
                </a:ext>
              </a:extLst>
            </a:blip>
            <a:srcRect/>
            <a:stretch>
              <a:fillRect/>
            </a:stretch>
          </p:blipFill>
          <p:spPr bwMode="auto">
            <a:xfrm>
              <a:off x="9295766" y="5519130"/>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470">
              <a:extLst>
                <a:ext uri="{FF2B5EF4-FFF2-40B4-BE49-F238E27FC236}">
                  <a16:creationId xmlns:a16="http://schemas.microsoft.com/office/drawing/2014/main" id="{F473E9A0-DC5B-3648-84F6-3049E7D0F4CF}"/>
                </a:ext>
              </a:extLst>
            </p:cNvPr>
            <p:cNvGrpSpPr/>
            <p:nvPr/>
          </p:nvGrpSpPr>
          <p:grpSpPr>
            <a:xfrm>
              <a:off x="9788714" y="4984881"/>
              <a:ext cx="393760" cy="218578"/>
              <a:chOff x="7493876" y="2774731"/>
              <a:chExt cx="1481958" cy="894622"/>
            </a:xfrm>
          </p:grpSpPr>
          <p:sp>
            <p:nvSpPr>
              <p:cNvPr id="152" name="Freeform 471">
                <a:extLst>
                  <a:ext uri="{FF2B5EF4-FFF2-40B4-BE49-F238E27FC236}">
                    <a16:creationId xmlns:a16="http://schemas.microsoft.com/office/drawing/2014/main" id="{57FAA76C-8B8B-5E42-9763-33504772A13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53" name="Oval 472">
                <a:extLst>
                  <a:ext uri="{FF2B5EF4-FFF2-40B4-BE49-F238E27FC236}">
                    <a16:creationId xmlns:a16="http://schemas.microsoft.com/office/drawing/2014/main" id="{812499B3-8C37-C648-A1A0-0C0E174FB07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54" name="Group 473">
                <a:extLst>
                  <a:ext uri="{FF2B5EF4-FFF2-40B4-BE49-F238E27FC236}">
                    <a16:creationId xmlns:a16="http://schemas.microsoft.com/office/drawing/2014/main" id="{A26323D5-026F-F144-8449-BBA3F5A00FED}"/>
                  </a:ext>
                </a:extLst>
              </p:cNvPr>
              <p:cNvGrpSpPr/>
              <p:nvPr/>
            </p:nvGrpSpPr>
            <p:grpSpPr>
              <a:xfrm>
                <a:off x="7713663" y="2848339"/>
                <a:ext cx="1042107" cy="425543"/>
                <a:chOff x="7786941" y="2884917"/>
                <a:chExt cx="897649" cy="353919"/>
              </a:xfrm>
            </p:grpSpPr>
            <p:sp>
              <p:nvSpPr>
                <p:cNvPr id="155" name="Freeform 474">
                  <a:extLst>
                    <a:ext uri="{FF2B5EF4-FFF2-40B4-BE49-F238E27FC236}">
                      <a16:creationId xmlns:a16="http://schemas.microsoft.com/office/drawing/2014/main" id="{C474E74C-936D-3048-99F4-983F15DA8C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Freeform 475">
                  <a:extLst>
                    <a:ext uri="{FF2B5EF4-FFF2-40B4-BE49-F238E27FC236}">
                      <a16:creationId xmlns:a16="http://schemas.microsoft.com/office/drawing/2014/main" id="{E1219CD5-1DF8-2C4A-A9D5-F374B3A4595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Freeform 476">
                  <a:extLst>
                    <a:ext uri="{FF2B5EF4-FFF2-40B4-BE49-F238E27FC236}">
                      <a16:creationId xmlns:a16="http://schemas.microsoft.com/office/drawing/2014/main" id="{B9034314-1BCC-2446-B93D-C09F139304F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Freeform 477">
                  <a:extLst>
                    <a:ext uri="{FF2B5EF4-FFF2-40B4-BE49-F238E27FC236}">
                      <a16:creationId xmlns:a16="http://schemas.microsoft.com/office/drawing/2014/main" id="{4BF2263D-A8C9-4344-82C1-18994854D2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6" name="Group 519">
              <a:extLst>
                <a:ext uri="{FF2B5EF4-FFF2-40B4-BE49-F238E27FC236}">
                  <a16:creationId xmlns:a16="http://schemas.microsoft.com/office/drawing/2014/main" id="{CDDA4F81-3C28-5A47-8095-54649BB25E50}"/>
                </a:ext>
              </a:extLst>
            </p:cNvPr>
            <p:cNvGrpSpPr/>
            <p:nvPr/>
          </p:nvGrpSpPr>
          <p:grpSpPr>
            <a:xfrm>
              <a:off x="9854521" y="5333935"/>
              <a:ext cx="309740" cy="190838"/>
              <a:chOff x="3668110" y="2448910"/>
              <a:chExt cx="3794234" cy="2165130"/>
            </a:xfrm>
          </p:grpSpPr>
          <p:sp>
            <p:nvSpPr>
              <p:cNvPr id="145" name="Rectangle 520">
                <a:extLst>
                  <a:ext uri="{FF2B5EF4-FFF2-40B4-BE49-F238E27FC236}">
                    <a16:creationId xmlns:a16="http://schemas.microsoft.com/office/drawing/2014/main" id="{640AD07C-7CFD-6C46-B9E0-CA6807024B7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6" name="Freeform 521">
                <a:extLst>
                  <a:ext uri="{FF2B5EF4-FFF2-40B4-BE49-F238E27FC236}">
                    <a16:creationId xmlns:a16="http://schemas.microsoft.com/office/drawing/2014/main" id="{4F005191-DFC9-EC48-9D41-324FDD42A00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7" name="Group 522">
                <a:extLst>
                  <a:ext uri="{FF2B5EF4-FFF2-40B4-BE49-F238E27FC236}">
                    <a16:creationId xmlns:a16="http://schemas.microsoft.com/office/drawing/2014/main" id="{F57364B0-F096-E34C-B2E1-4A63E05FDF22}"/>
                  </a:ext>
                </a:extLst>
              </p:cNvPr>
              <p:cNvGrpSpPr/>
              <p:nvPr/>
            </p:nvGrpSpPr>
            <p:grpSpPr>
              <a:xfrm>
                <a:off x="3941378" y="2603243"/>
                <a:ext cx="3202061" cy="1066110"/>
                <a:chOff x="7939341" y="3037317"/>
                <a:chExt cx="897649" cy="353919"/>
              </a:xfrm>
            </p:grpSpPr>
            <p:sp>
              <p:nvSpPr>
                <p:cNvPr id="148" name="Freeform 523">
                  <a:extLst>
                    <a:ext uri="{FF2B5EF4-FFF2-40B4-BE49-F238E27FC236}">
                      <a16:creationId xmlns:a16="http://schemas.microsoft.com/office/drawing/2014/main" id="{73EE9423-2C34-EB4C-8CD2-250CD7F5716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9" name="Freeform 524">
                  <a:extLst>
                    <a:ext uri="{FF2B5EF4-FFF2-40B4-BE49-F238E27FC236}">
                      <a16:creationId xmlns:a16="http://schemas.microsoft.com/office/drawing/2014/main" id="{4953AB54-9A71-A449-8AB6-372839D7457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Freeform 525">
                  <a:extLst>
                    <a:ext uri="{FF2B5EF4-FFF2-40B4-BE49-F238E27FC236}">
                      <a16:creationId xmlns:a16="http://schemas.microsoft.com/office/drawing/2014/main" id="{537356D9-0E8E-2644-A84D-7617017CAD76}"/>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Freeform 526">
                  <a:extLst>
                    <a:ext uri="{FF2B5EF4-FFF2-40B4-BE49-F238E27FC236}">
                      <a16:creationId xmlns:a16="http://schemas.microsoft.com/office/drawing/2014/main" id="{F99748B1-3569-4C44-B183-5C09195569D3}"/>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7" name="Group 478">
              <a:extLst>
                <a:ext uri="{FF2B5EF4-FFF2-40B4-BE49-F238E27FC236}">
                  <a16:creationId xmlns:a16="http://schemas.microsoft.com/office/drawing/2014/main" id="{7FD5F341-B86E-E340-8B31-047FA819028E}"/>
                </a:ext>
              </a:extLst>
            </p:cNvPr>
            <p:cNvGrpSpPr/>
            <p:nvPr/>
          </p:nvGrpSpPr>
          <p:grpSpPr>
            <a:xfrm>
              <a:off x="8681775" y="4962318"/>
              <a:ext cx="393760" cy="218578"/>
              <a:chOff x="7493876" y="2774731"/>
              <a:chExt cx="1481958" cy="894622"/>
            </a:xfrm>
          </p:grpSpPr>
          <p:sp>
            <p:nvSpPr>
              <p:cNvPr id="138" name="Freeform 479">
                <a:extLst>
                  <a:ext uri="{FF2B5EF4-FFF2-40B4-BE49-F238E27FC236}">
                    <a16:creationId xmlns:a16="http://schemas.microsoft.com/office/drawing/2014/main" id="{F80F6B0A-38DA-0C48-B848-C957F09DCD1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39" name="Oval 480">
                <a:extLst>
                  <a:ext uri="{FF2B5EF4-FFF2-40B4-BE49-F238E27FC236}">
                    <a16:creationId xmlns:a16="http://schemas.microsoft.com/office/drawing/2014/main" id="{7775A609-59B7-4644-8C28-6B03DF9247DD}"/>
                  </a:ext>
                </a:extLst>
              </p:cNvPr>
              <p:cNvSpPr/>
              <p:nvPr/>
            </p:nvSpPr>
            <p:spPr>
              <a:xfrm>
                <a:off x="7494728" y="2774731"/>
                <a:ext cx="1480162" cy="579139"/>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40" name="Group 481">
                <a:extLst>
                  <a:ext uri="{FF2B5EF4-FFF2-40B4-BE49-F238E27FC236}">
                    <a16:creationId xmlns:a16="http://schemas.microsoft.com/office/drawing/2014/main" id="{89581131-1E55-5C4F-8F73-A747D91E84C6}"/>
                  </a:ext>
                </a:extLst>
              </p:cNvPr>
              <p:cNvGrpSpPr/>
              <p:nvPr/>
            </p:nvGrpSpPr>
            <p:grpSpPr>
              <a:xfrm>
                <a:off x="7713663" y="2848339"/>
                <a:ext cx="1042107" cy="425543"/>
                <a:chOff x="7786941" y="2884917"/>
                <a:chExt cx="897649" cy="353919"/>
              </a:xfrm>
            </p:grpSpPr>
            <p:sp>
              <p:nvSpPr>
                <p:cNvPr id="141" name="Freeform 482">
                  <a:extLst>
                    <a:ext uri="{FF2B5EF4-FFF2-40B4-BE49-F238E27FC236}">
                      <a16:creationId xmlns:a16="http://schemas.microsoft.com/office/drawing/2014/main" id="{C73E4AFD-21F2-9947-BF1E-2A95702A95B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Freeform 483">
                  <a:extLst>
                    <a:ext uri="{FF2B5EF4-FFF2-40B4-BE49-F238E27FC236}">
                      <a16:creationId xmlns:a16="http://schemas.microsoft.com/office/drawing/2014/main" id="{0C2B99A4-CE5F-224D-A96A-FA96873D522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Freeform 484">
                  <a:extLst>
                    <a:ext uri="{FF2B5EF4-FFF2-40B4-BE49-F238E27FC236}">
                      <a16:creationId xmlns:a16="http://schemas.microsoft.com/office/drawing/2014/main" id="{25E76003-73EC-AD47-AF11-71BEE640951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Freeform 485">
                  <a:extLst>
                    <a:ext uri="{FF2B5EF4-FFF2-40B4-BE49-F238E27FC236}">
                      <a16:creationId xmlns:a16="http://schemas.microsoft.com/office/drawing/2014/main" id="{7C24364F-3AD2-3944-9986-F2FA1D959CD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8" name="Group 528">
              <a:extLst>
                <a:ext uri="{FF2B5EF4-FFF2-40B4-BE49-F238E27FC236}">
                  <a16:creationId xmlns:a16="http://schemas.microsoft.com/office/drawing/2014/main" id="{312DF976-9915-4243-AE84-7B0D2A9B1E1A}"/>
                </a:ext>
              </a:extLst>
            </p:cNvPr>
            <p:cNvGrpSpPr/>
            <p:nvPr/>
          </p:nvGrpSpPr>
          <p:grpSpPr>
            <a:xfrm>
              <a:off x="8316676" y="5189331"/>
              <a:ext cx="309740" cy="190838"/>
              <a:chOff x="3668110" y="2448910"/>
              <a:chExt cx="3794234" cy="2165130"/>
            </a:xfrm>
          </p:grpSpPr>
          <p:sp>
            <p:nvSpPr>
              <p:cNvPr id="131" name="Rectangle 529">
                <a:extLst>
                  <a:ext uri="{FF2B5EF4-FFF2-40B4-BE49-F238E27FC236}">
                    <a16:creationId xmlns:a16="http://schemas.microsoft.com/office/drawing/2014/main" id="{A05C4065-01EC-8B42-9985-399B4F577DA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Freeform 530">
                <a:extLst>
                  <a:ext uri="{FF2B5EF4-FFF2-40B4-BE49-F238E27FC236}">
                    <a16:creationId xmlns:a16="http://schemas.microsoft.com/office/drawing/2014/main" id="{AFCE99AD-D878-FB45-8B68-266AEC750B32}"/>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3" name="Group 531">
                <a:extLst>
                  <a:ext uri="{FF2B5EF4-FFF2-40B4-BE49-F238E27FC236}">
                    <a16:creationId xmlns:a16="http://schemas.microsoft.com/office/drawing/2014/main" id="{7755F90D-43BE-BE4A-A763-0E3E440BC580}"/>
                  </a:ext>
                </a:extLst>
              </p:cNvPr>
              <p:cNvGrpSpPr/>
              <p:nvPr/>
            </p:nvGrpSpPr>
            <p:grpSpPr>
              <a:xfrm>
                <a:off x="3941378" y="2603243"/>
                <a:ext cx="3202061" cy="1066110"/>
                <a:chOff x="7939341" y="3037317"/>
                <a:chExt cx="897649" cy="353919"/>
              </a:xfrm>
            </p:grpSpPr>
            <p:sp>
              <p:nvSpPr>
                <p:cNvPr id="134" name="Freeform 532">
                  <a:extLst>
                    <a:ext uri="{FF2B5EF4-FFF2-40B4-BE49-F238E27FC236}">
                      <a16:creationId xmlns:a16="http://schemas.microsoft.com/office/drawing/2014/main" id="{7B52C911-DF96-1F45-99EA-A86C2ECC38B9}"/>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Freeform 533">
                  <a:extLst>
                    <a:ext uri="{FF2B5EF4-FFF2-40B4-BE49-F238E27FC236}">
                      <a16:creationId xmlns:a16="http://schemas.microsoft.com/office/drawing/2014/main" id="{B09BD1E0-C10E-0F4C-8F7B-06E7E5623FE1}"/>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Freeform 534">
                  <a:extLst>
                    <a:ext uri="{FF2B5EF4-FFF2-40B4-BE49-F238E27FC236}">
                      <a16:creationId xmlns:a16="http://schemas.microsoft.com/office/drawing/2014/main" id="{B98C5358-782C-1248-9A01-EA57591CA39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7" name="Freeform 535">
                  <a:extLst>
                    <a:ext uri="{FF2B5EF4-FFF2-40B4-BE49-F238E27FC236}">
                      <a16:creationId xmlns:a16="http://schemas.microsoft.com/office/drawing/2014/main" id="{EC7D41A8-5F8C-1744-B187-019C4B93DD28}"/>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9" name="Group 406">
              <a:extLst>
                <a:ext uri="{FF2B5EF4-FFF2-40B4-BE49-F238E27FC236}">
                  <a16:creationId xmlns:a16="http://schemas.microsoft.com/office/drawing/2014/main" id="{4AC28F9D-47D7-CD4E-B761-F21E71DFCCFD}"/>
                </a:ext>
              </a:extLst>
            </p:cNvPr>
            <p:cNvGrpSpPr/>
            <p:nvPr/>
          </p:nvGrpSpPr>
          <p:grpSpPr>
            <a:xfrm>
              <a:off x="8444981" y="2810143"/>
              <a:ext cx="354091" cy="165341"/>
              <a:chOff x="7493876" y="2790332"/>
              <a:chExt cx="1483690" cy="879021"/>
            </a:xfrm>
          </p:grpSpPr>
          <p:sp>
            <p:nvSpPr>
              <p:cNvPr id="124" name="Freeform 407">
                <a:extLst>
                  <a:ext uri="{FF2B5EF4-FFF2-40B4-BE49-F238E27FC236}">
                    <a16:creationId xmlns:a16="http://schemas.microsoft.com/office/drawing/2014/main" id="{8DF46974-F7AE-0A47-AB13-8EAFE5EF27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25" name="Oval 408">
                <a:extLst>
                  <a:ext uri="{FF2B5EF4-FFF2-40B4-BE49-F238E27FC236}">
                    <a16:creationId xmlns:a16="http://schemas.microsoft.com/office/drawing/2014/main" id="{AE7F3CDD-BD54-8944-9A7B-88002AD636C9}"/>
                  </a:ext>
                </a:extLst>
              </p:cNvPr>
              <p:cNvSpPr/>
              <p:nvPr/>
            </p:nvSpPr>
            <p:spPr>
              <a:xfrm>
                <a:off x="7497403" y="2790332"/>
                <a:ext cx="1480163" cy="579141"/>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26" name="Group 409">
                <a:extLst>
                  <a:ext uri="{FF2B5EF4-FFF2-40B4-BE49-F238E27FC236}">
                    <a16:creationId xmlns:a16="http://schemas.microsoft.com/office/drawing/2014/main" id="{248B0BF5-ABB7-F94A-ACC2-BB8D42B136E9}"/>
                  </a:ext>
                </a:extLst>
              </p:cNvPr>
              <p:cNvGrpSpPr/>
              <p:nvPr/>
            </p:nvGrpSpPr>
            <p:grpSpPr>
              <a:xfrm>
                <a:off x="7713663" y="2848339"/>
                <a:ext cx="1042107" cy="425543"/>
                <a:chOff x="7786941" y="2884917"/>
                <a:chExt cx="897649" cy="353919"/>
              </a:xfrm>
            </p:grpSpPr>
            <p:sp>
              <p:nvSpPr>
                <p:cNvPr id="127" name="Freeform 410">
                  <a:extLst>
                    <a:ext uri="{FF2B5EF4-FFF2-40B4-BE49-F238E27FC236}">
                      <a16:creationId xmlns:a16="http://schemas.microsoft.com/office/drawing/2014/main" id="{E97162DB-3B6B-8A41-9594-4C82C63DB0B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Freeform 411">
                  <a:extLst>
                    <a:ext uri="{FF2B5EF4-FFF2-40B4-BE49-F238E27FC236}">
                      <a16:creationId xmlns:a16="http://schemas.microsoft.com/office/drawing/2014/main" id="{948E4471-2F34-974C-BF5F-47596A43D61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Freeform 412">
                  <a:extLst>
                    <a:ext uri="{FF2B5EF4-FFF2-40B4-BE49-F238E27FC236}">
                      <a16:creationId xmlns:a16="http://schemas.microsoft.com/office/drawing/2014/main" id="{ECDABE67-032E-4C4F-B19C-6D6739B6450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Freeform 413">
                  <a:extLst>
                    <a:ext uri="{FF2B5EF4-FFF2-40B4-BE49-F238E27FC236}">
                      <a16:creationId xmlns:a16="http://schemas.microsoft.com/office/drawing/2014/main" id="{3F6F45D5-BD68-BF49-8D68-BA4224CC2C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0" name="Group 414">
              <a:extLst>
                <a:ext uri="{FF2B5EF4-FFF2-40B4-BE49-F238E27FC236}">
                  <a16:creationId xmlns:a16="http://schemas.microsoft.com/office/drawing/2014/main" id="{B0019628-B1B3-6245-B62C-09169D2F9E8A}"/>
                </a:ext>
              </a:extLst>
            </p:cNvPr>
            <p:cNvGrpSpPr/>
            <p:nvPr/>
          </p:nvGrpSpPr>
          <p:grpSpPr>
            <a:xfrm>
              <a:off x="8055226" y="3960892"/>
              <a:ext cx="354986" cy="175668"/>
              <a:chOff x="7493876" y="2774731"/>
              <a:chExt cx="1481958" cy="894622"/>
            </a:xfrm>
          </p:grpSpPr>
          <p:sp>
            <p:nvSpPr>
              <p:cNvPr id="117" name="Freeform 415">
                <a:extLst>
                  <a:ext uri="{FF2B5EF4-FFF2-40B4-BE49-F238E27FC236}">
                    <a16:creationId xmlns:a16="http://schemas.microsoft.com/office/drawing/2014/main" id="{557C52F1-402E-664A-82F9-0422F206BEB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8" name="Oval 416">
                <a:extLst>
                  <a:ext uri="{FF2B5EF4-FFF2-40B4-BE49-F238E27FC236}">
                    <a16:creationId xmlns:a16="http://schemas.microsoft.com/office/drawing/2014/main" id="{8897E6AF-EB8F-0B4C-93A4-C0F888B8305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19" name="Group 417">
                <a:extLst>
                  <a:ext uri="{FF2B5EF4-FFF2-40B4-BE49-F238E27FC236}">
                    <a16:creationId xmlns:a16="http://schemas.microsoft.com/office/drawing/2014/main" id="{9EDB7893-3171-4947-B4BA-CB5CA96212D6}"/>
                  </a:ext>
                </a:extLst>
              </p:cNvPr>
              <p:cNvGrpSpPr/>
              <p:nvPr/>
            </p:nvGrpSpPr>
            <p:grpSpPr>
              <a:xfrm>
                <a:off x="7713663" y="2848339"/>
                <a:ext cx="1042107" cy="425543"/>
                <a:chOff x="7786941" y="2884917"/>
                <a:chExt cx="897649" cy="353919"/>
              </a:xfrm>
            </p:grpSpPr>
            <p:sp>
              <p:nvSpPr>
                <p:cNvPr id="120" name="Freeform 418">
                  <a:extLst>
                    <a:ext uri="{FF2B5EF4-FFF2-40B4-BE49-F238E27FC236}">
                      <a16:creationId xmlns:a16="http://schemas.microsoft.com/office/drawing/2014/main" id="{A3CB0FBE-EC98-364F-91C3-948A8311F34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Freeform 419">
                  <a:extLst>
                    <a:ext uri="{FF2B5EF4-FFF2-40B4-BE49-F238E27FC236}">
                      <a16:creationId xmlns:a16="http://schemas.microsoft.com/office/drawing/2014/main" id="{F55FC3D7-B373-0645-B1E5-DB39F4A8CC2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Freeform 420">
                  <a:extLst>
                    <a:ext uri="{FF2B5EF4-FFF2-40B4-BE49-F238E27FC236}">
                      <a16:creationId xmlns:a16="http://schemas.microsoft.com/office/drawing/2014/main" id="{162EFC69-31E7-EF45-BA83-869804588BE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Freeform 421">
                  <a:extLst>
                    <a:ext uri="{FF2B5EF4-FFF2-40B4-BE49-F238E27FC236}">
                      <a16:creationId xmlns:a16="http://schemas.microsoft.com/office/drawing/2014/main" id="{37EAF0DB-1D23-904A-B82C-70365E7DD40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1" name="Group 454">
              <a:extLst>
                <a:ext uri="{FF2B5EF4-FFF2-40B4-BE49-F238E27FC236}">
                  <a16:creationId xmlns:a16="http://schemas.microsoft.com/office/drawing/2014/main" id="{8A45F1F2-29F2-0148-984E-762BC99CE74C}"/>
                </a:ext>
              </a:extLst>
            </p:cNvPr>
            <p:cNvGrpSpPr/>
            <p:nvPr/>
          </p:nvGrpSpPr>
          <p:grpSpPr>
            <a:xfrm>
              <a:off x="10889241" y="3596263"/>
              <a:ext cx="170989" cy="97052"/>
              <a:chOff x="7493876" y="2774731"/>
              <a:chExt cx="1481958" cy="894622"/>
            </a:xfrm>
          </p:grpSpPr>
          <p:sp>
            <p:nvSpPr>
              <p:cNvPr id="110" name="Freeform 455">
                <a:extLst>
                  <a:ext uri="{FF2B5EF4-FFF2-40B4-BE49-F238E27FC236}">
                    <a16:creationId xmlns:a16="http://schemas.microsoft.com/office/drawing/2014/main" id="{F2D25506-EF85-4242-BF7A-5D0A17B86CB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1" name="Oval 456">
                <a:extLst>
                  <a:ext uri="{FF2B5EF4-FFF2-40B4-BE49-F238E27FC236}">
                    <a16:creationId xmlns:a16="http://schemas.microsoft.com/office/drawing/2014/main" id="{841055F0-6730-0E42-ABDB-804E8EB687A9}"/>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12" name="Group 457">
                <a:extLst>
                  <a:ext uri="{FF2B5EF4-FFF2-40B4-BE49-F238E27FC236}">
                    <a16:creationId xmlns:a16="http://schemas.microsoft.com/office/drawing/2014/main" id="{894B57A8-8DE0-DB42-B280-EFED71D8EC28}"/>
                  </a:ext>
                </a:extLst>
              </p:cNvPr>
              <p:cNvGrpSpPr/>
              <p:nvPr/>
            </p:nvGrpSpPr>
            <p:grpSpPr>
              <a:xfrm>
                <a:off x="7713663" y="2848339"/>
                <a:ext cx="1042107" cy="425543"/>
                <a:chOff x="7786941" y="2884917"/>
                <a:chExt cx="897649" cy="353919"/>
              </a:xfrm>
            </p:grpSpPr>
            <p:sp>
              <p:nvSpPr>
                <p:cNvPr id="113" name="Freeform 458">
                  <a:extLst>
                    <a:ext uri="{FF2B5EF4-FFF2-40B4-BE49-F238E27FC236}">
                      <a16:creationId xmlns:a16="http://schemas.microsoft.com/office/drawing/2014/main" id="{D608CD77-A1FB-4E42-8373-5F3C251C4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Freeform 459">
                  <a:extLst>
                    <a:ext uri="{FF2B5EF4-FFF2-40B4-BE49-F238E27FC236}">
                      <a16:creationId xmlns:a16="http://schemas.microsoft.com/office/drawing/2014/main" id="{52BEF996-9981-4042-A9E8-E312A373DE1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Freeform 460">
                  <a:extLst>
                    <a:ext uri="{FF2B5EF4-FFF2-40B4-BE49-F238E27FC236}">
                      <a16:creationId xmlns:a16="http://schemas.microsoft.com/office/drawing/2014/main" id="{F926956E-0CC7-1144-8CD9-CDC89530398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Freeform 461">
                  <a:extLst>
                    <a:ext uri="{FF2B5EF4-FFF2-40B4-BE49-F238E27FC236}">
                      <a16:creationId xmlns:a16="http://schemas.microsoft.com/office/drawing/2014/main" id="{C2399606-A0D2-6C45-AB2A-A8DC6F0A91D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2" name="Group 614">
              <a:extLst>
                <a:ext uri="{FF2B5EF4-FFF2-40B4-BE49-F238E27FC236}">
                  <a16:creationId xmlns:a16="http://schemas.microsoft.com/office/drawing/2014/main" id="{6623D65F-08C5-5641-995E-688C48D84E07}"/>
                </a:ext>
              </a:extLst>
            </p:cNvPr>
            <p:cNvGrpSpPr/>
            <p:nvPr/>
          </p:nvGrpSpPr>
          <p:grpSpPr>
            <a:xfrm>
              <a:off x="10415765" y="3491036"/>
              <a:ext cx="353678" cy="198344"/>
              <a:chOff x="7493876" y="2774731"/>
              <a:chExt cx="1481958" cy="894622"/>
            </a:xfrm>
          </p:grpSpPr>
          <p:sp>
            <p:nvSpPr>
              <p:cNvPr id="103" name="Freeform 615">
                <a:extLst>
                  <a:ext uri="{FF2B5EF4-FFF2-40B4-BE49-F238E27FC236}">
                    <a16:creationId xmlns:a16="http://schemas.microsoft.com/office/drawing/2014/main" id="{6AF9EA77-4D7B-CC49-8A1D-B7A6C3BC72F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4" name="Oval 616">
                <a:extLst>
                  <a:ext uri="{FF2B5EF4-FFF2-40B4-BE49-F238E27FC236}">
                    <a16:creationId xmlns:a16="http://schemas.microsoft.com/office/drawing/2014/main" id="{7DCC800A-969E-1746-8F24-003D899E50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05" name="Group 617">
                <a:extLst>
                  <a:ext uri="{FF2B5EF4-FFF2-40B4-BE49-F238E27FC236}">
                    <a16:creationId xmlns:a16="http://schemas.microsoft.com/office/drawing/2014/main" id="{291A8DB7-18C4-5247-B869-A6703611E14F}"/>
                  </a:ext>
                </a:extLst>
              </p:cNvPr>
              <p:cNvGrpSpPr/>
              <p:nvPr/>
            </p:nvGrpSpPr>
            <p:grpSpPr>
              <a:xfrm>
                <a:off x="7713663" y="2848339"/>
                <a:ext cx="1042107" cy="425543"/>
                <a:chOff x="7786941" y="2884917"/>
                <a:chExt cx="897649" cy="353919"/>
              </a:xfrm>
            </p:grpSpPr>
            <p:sp>
              <p:nvSpPr>
                <p:cNvPr id="106" name="Freeform 618">
                  <a:extLst>
                    <a:ext uri="{FF2B5EF4-FFF2-40B4-BE49-F238E27FC236}">
                      <a16:creationId xmlns:a16="http://schemas.microsoft.com/office/drawing/2014/main" id="{E40E0459-BC24-BE4B-9691-388A708F491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Freeform 619">
                  <a:extLst>
                    <a:ext uri="{FF2B5EF4-FFF2-40B4-BE49-F238E27FC236}">
                      <a16:creationId xmlns:a16="http://schemas.microsoft.com/office/drawing/2014/main" id="{00FC265B-F81A-B445-B500-3B640CC3114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Freeform 620">
                  <a:extLst>
                    <a:ext uri="{FF2B5EF4-FFF2-40B4-BE49-F238E27FC236}">
                      <a16:creationId xmlns:a16="http://schemas.microsoft.com/office/drawing/2014/main" id="{668518AA-6EBD-1E42-B2EE-2FE59E79153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Freeform 621">
                  <a:extLst>
                    <a:ext uri="{FF2B5EF4-FFF2-40B4-BE49-F238E27FC236}">
                      <a16:creationId xmlns:a16="http://schemas.microsoft.com/office/drawing/2014/main" id="{C5B5BE1C-3FA7-7E4B-802F-E2F6D2EB5DD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3" name="Group 576">
              <a:extLst>
                <a:ext uri="{FF2B5EF4-FFF2-40B4-BE49-F238E27FC236}">
                  <a16:creationId xmlns:a16="http://schemas.microsoft.com/office/drawing/2014/main" id="{9786FF68-0FBE-FF4D-8773-99EA7B7E3A23}"/>
                </a:ext>
              </a:extLst>
            </p:cNvPr>
            <p:cNvGrpSpPr/>
            <p:nvPr/>
          </p:nvGrpSpPr>
          <p:grpSpPr>
            <a:xfrm>
              <a:off x="9953880" y="2197190"/>
              <a:ext cx="353678" cy="198344"/>
              <a:chOff x="7493876" y="2774731"/>
              <a:chExt cx="1481958" cy="894622"/>
            </a:xfrm>
          </p:grpSpPr>
          <p:sp>
            <p:nvSpPr>
              <p:cNvPr id="96" name="Freeform 577">
                <a:extLst>
                  <a:ext uri="{FF2B5EF4-FFF2-40B4-BE49-F238E27FC236}">
                    <a16:creationId xmlns:a16="http://schemas.microsoft.com/office/drawing/2014/main" id="{6C8F9331-85B0-804B-88D3-2DADC264FA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97" name="Oval 578">
                <a:extLst>
                  <a:ext uri="{FF2B5EF4-FFF2-40B4-BE49-F238E27FC236}">
                    <a16:creationId xmlns:a16="http://schemas.microsoft.com/office/drawing/2014/main" id="{961AAD20-DB9D-3042-A033-E4505270552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98" name="Group 579">
                <a:extLst>
                  <a:ext uri="{FF2B5EF4-FFF2-40B4-BE49-F238E27FC236}">
                    <a16:creationId xmlns:a16="http://schemas.microsoft.com/office/drawing/2014/main" id="{B4A18D08-22A1-A94D-BD55-F9BDEFFDAEBC}"/>
                  </a:ext>
                </a:extLst>
              </p:cNvPr>
              <p:cNvGrpSpPr/>
              <p:nvPr/>
            </p:nvGrpSpPr>
            <p:grpSpPr>
              <a:xfrm>
                <a:off x="7713663" y="2848339"/>
                <a:ext cx="1042107" cy="425543"/>
                <a:chOff x="7786941" y="2884917"/>
                <a:chExt cx="897649" cy="353919"/>
              </a:xfrm>
            </p:grpSpPr>
            <p:sp>
              <p:nvSpPr>
                <p:cNvPr id="99" name="Freeform 580">
                  <a:extLst>
                    <a:ext uri="{FF2B5EF4-FFF2-40B4-BE49-F238E27FC236}">
                      <a16:creationId xmlns:a16="http://schemas.microsoft.com/office/drawing/2014/main" id="{99C32670-BE91-934B-93BD-434A8120CD2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Freeform 581">
                  <a:extLst>
                    <a:ext uri="{FF2B5EF4-FFF2-40B4-BE49-F238E27FC236}">
                      <a16:creationId xmlns:a16="http://schemas.microsoft.com/office/drawing/2014/main" id="{6045E4C3-D6BF-114C-B4BE-6E0461783E3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Freeform 582">
                  <a:extLst>
                    <a:ext uri="{FF2B5EF4-FFF2-40B4-BE49-F238E27FC236}">
                      <a16:creationId xmlns:a16="http://schemas.microsoft.com/office/drawing/2014/main" id="{8A4D49C6-5204-0541-BB05-B7754322A80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Freeform 583">
                  <a:extLst>
                    <a:ext uri="{FF2B5EF4-FFF2-40B4-BE49-F238E27FC236}">
                      <a16:creationId xmlns:a16="http://schemas.microsoft.com/office/drawing/2014/main" id="{0085C5EE-AFA1-954F-A949-C15B89003DA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4" name="Group 592">
              <a:extLst>
                <a:ext uri="{FF2B5EF4-FFF2-40B4-BE49-F238E27FC236}">
                  <a16:creationId xmlns:a16="http://schemas.microsoft.com/office/drawing/2014/main" id="{D2CE6F44-690F-444D-A0A2-15E15D3AC235}"/>
                </a:ext>
              </a:extLst>
            </p:cNvPr>
            <p:cNvGrpSpPr/>
            <p:nvPr/>
          </p:nvGrpSpPr>
          <p:grpSpPr>
            <a:xfrm>
              <a:off x="10532370" y="2608265"/>
              <a:ext cx="353678" cy="198344"/>
              <a:chOff x="7493876" y="2774731"/>
              <a:chExt cx="1481958" cy="894622"/>
            </a:xfrm>
          </p:grpSpPr>
          <p:sp>
            <p:nvSpPr>
              <p:cNvPr id="89" name="Freeform 593">
                <a:extLst>
                  <a:ext uri="{FF2B5EF4-FFF2-40B4-BE49-F238E27FC236}">
                    <a16:creationId xmlns:a16="http://schemas.microsoft.com/office/drawing/2014/main" id="{EE7CE38D-341E-4B41-B25E-E6587B4719E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90" name="Oval 594">
                <a:extLst>
                  <a:ext uri="{FF2B5EF4-FFF2-40B4-BE49-F238E27FC236}">
                    <a16:creationId xmlns:a16="http://schemas.microsoft.com/office/drawing/2014/main" id="{6D81154D-2F7D-A442-9D63-2EB9FE042AA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91" name="Group 595">
                <a:extLst>
                  <a:ext uri="{FF2B5EF4-FFF2-40B4-BE49-F238E27FC236}">
                    <a16:creationId xmlns:a16="http://schemas.microsoft.com/office/drawing/2014/main" id="{E720DB36-2116-8F48-BB2D-13CCAA1CCDAC}"/>
                  </a:ext>
                </a:extLst>
              </p:cNvPr>
              <p:cNvGrpSpPr/>
              <p:nvPr/>
            </p:nvGrpSpPr>
            <p:grpSpPr>
              <a:xfrm>
                <a:off x="7713663" y="2848339"/>
                <a:ext cx="1042107" cy="425543"/>
                <a:chOff x="7786941" y="2884917"/>
                <a:chExt cx="897649" cy="353919"/>
              </a:xfrm>
            </p:grpSpPr>
            <p:sp>
              <p:nvSpPr>
                <p:cNvPr id="92" name="Freeform 596">
                  <a:extLst>
                    <a:ext uri="{FF2B5EF4-FFF2-40B4-BE49-F238E27FC236}">
                      <a16:creationId xmlns:a16="http://schemas.microsoft.com/office/drawing/2014/main" id="{F12F20C6-33DD-474E-A440-B0B977451DF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Freeform 597">
                  <a:extLst>
                    <a:ext uri="{FF2B5EF4-FFF2-40B4-BE49-F238E27FC236}">
                      <a16:creationId xmlns:a16="http://schemas.microsoft.com/office/drawing/2014/main" id="{9139ECB8-0F88-0C45-AB36-88CE8C04C5D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Freeform 598">
                  <a:extLst>
                    <a:ext uri="{FF2B5EF4-FFF2-40B4-BE49-F238E27FC236}">
                      <a16:creationId xmlns:a16="http://schemas.microsoft.com/office/drawing/2014/main" id="{9AC8B929-8523-C14D-A4F8-17D4E518294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Freeform 599">
                  <a:extLst>
                    <a:ext uri="{FF2B5EF4-FFF2-40B4-BE49-F238E27FC236}">
                      <a16:creationId xmlns:a16="http://schemas.microsoft.com/office/drawing/2014/main" id="{00F86B64-78C6-444B-B16E-EA444257072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5" name="Group 600">
              <a:extLst>
                <a:ext uri="{FF2B5EF4-FFF2-40B4-BE49-F238E27FC236}">
                  <a16:creationId xmlns:a16="http://schemas.microsoft.com/office/drawing/2014/main" id="{8F76BF86-72CE-B949-B707-F8ACA20F606D}"/>
                </a:ext>
              </a:extLst>
            </p:cNvPr>
            <p:cNvGrpSpPr/>
            <p:nvPr/>
          </p:nvGrpSpPr>
          <p:grpSpPr>
            <a:xfrm>
              <a:off x="10648981" y="2102861"/>
              <a:ext cx="353678" cy="198344"/>
              <a:chOff x="7493876" y="2774731"/>
              <a:chExt cx="1481958" cy="894622"/>
            </a:xfrm>
          </p:grpSpPr>
          <p:sp>
            <p:nvSpPr>
              <p:cNvPr id="82" name="Freeform 601">
                <a:extLst>
                  <a:ext uri="{FF2B5EF4-FFF2-40B4-BE49-F238E27FC236}">
                    <a16:creationId xmlns:a16="http://schemas.microsoft.com/office/drawing/2014/main" id="{2B7473C7-72F5-464B-BFAA-1803FBBB7D1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3" name="Oval 602">
                <a:extLst>
                  <a:ext uri="{FF2B5EF4-FFF2-40B4-BE49-F238E27FC236}">
                    <a16:creationId xmlns:a16="http://schemas.microsoft.com/office/drawing/2014/main" id="{DDC45434-D920-6D4C-9BAB-FA69C403F11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84" name="Group 603">
                <a:extLst>
                  <a:ext uri="{FF2B5EF4-FFF2-40B4-BE49-F238E27FC236}">
                    <a16:creationId xmlns:a16="http://schemas.microsoft.com/office/drawing/2014/main" id="{D25FA0C3-089F-0A46-BE99-D53E81E273B0}"/>
                  </a:ext>
                </a:extLst>
              </p:cNvPr>
              <p:cNvGrpSpPr/>
              <p:nvPr/>
            </p:nvGrpSpPr>
            <p:grpSpPr>
              <a:xfrm>
                <a:off x="7713663" y="2848339"/>
                <a:ext cx="1042107" cy="425543"/>
                <a:chOff x="7786941" y="2884917"/>
                <a:chExt cx="897649" cy="353919"/>
              </a:xfrm>
            </p:grpSpPr>
            <p:sp>
              <p:nvSpPr>
                <p:cNvPr id="85" name="Freeform 604">
                  <a:extLst>
                    <a:ext uri="{FF2B5EF4-FFF2-40B4-BE49-F238E27FC236}">
                      <a16:creationId xmlns:a16="http://schemas.microsoft.com/office/drawing/2014/main" id="{11032658-FD04-E24C-8613-8A5B17A00DF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Freeform 605">
                  <a:extLst>
                    <a:ext uri="{FF2B5EF4-FFF2-40B4-BE49-F238E27FC236}">
                      <a16:creationId xmlns:a16="http://schemas.microsoft.com/office/drawing/2014/main" id="{8149287E-4521-CB4C-B80F-39C02764FEA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Freeform 606">
                  <a:extLst>
                    <a:ext uri="{FF2B5EF4-FFF2-40B4-BE49-F238E27FC236}">
                      <a16:creationId xmlns:a16="http://schemas.microsoft.com/office/drawing/2014/main" id="{54FDFDF4-34FE-0148-A12E-EBD5F597892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Freeform 607">
                  <a:extLst>
                    <a:ext uri="{FF2B5EF4-FFF2-40B4-BE49-F238E27FC236}">
                      <a16:creationId xmlns:a16="http://schemas.microsoft.com/office/drawing/2014/main" id="{EFA5C931-64EB-0E41-AF29-B342E6BE8D8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6" name="Group 553">
              <a:extLst>
                <a:ext uri="{FF2B5EF4-FFF2-40B4-BE49-F238E27FC236}">
                  <a16:creationId xmlns:a16="http://schemas.microsoft.com/office/drawing/2014/main" id="{B0660904-433C-2B46-9971-9C89F487C13D}"/>
                </a:ext>
              </a:extLst>
            </p:cNvPr>
            <p:cNvGrpSpPr/>
            <p:nvPr/>
          </p:nvGrpSpPr>
          <p:grpSpPr>
            <a:xfrm>
              <a:off x="9104155" y="3951521"/>
              <a:ext cx="369427" cy="236298"/>
              <a:chOff x="7494729" y="2774731"/>
              <a:chExt cx="1490849" cy="879709"/>
            </a:xfrm>
          </p:grpSpPr>
          <p:sp>
            <p:nvSpPr>
              <p:cNvPr id="75" name="Freeform 554">
                <a:extLst>
                  <a:ext uri="{FF2B5EF4-FFF2-40B4-BE49-F238E27FC236}">
                    <a16:creationId xmlns:a16="http://schemas.microsoft.com/office/drawing/2014/main" id="{87C3FB2F-47FD-3541-AB12-3818D70D1562}"/>
                  </a:ext>
                </a:extLst>
              </p:cNvPr>
              <p:cNvSpPr/>
              <p:nvPr/>
            </p:nvSpPr>
            <p:spPr>
              <a:xfrm>
                <a:off x="7503620" y="3069485"/>
                <a:ext cx="1481958" cy="584955"/>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6" name="Oval 555">
                <a:extLst>
                  <a:ext uri="{FF2B5EF4-FFF2-40B4-BE49-F238E27FC236}">
                    <a16:creationId xmlns:a16="http://schemas.microsoft.com/office/drawing/2014/main" id="{13BDCE5F-62FA-894A-B1B0-929FE7DEC84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7" name="Group 556">
                <a:extLst>
                  <a:ext uri="{FF2B5EF4-FFF2-40B4-BE49-F238E27FC236}">
                    <a16:creationId xmlns:a16="http://schemas.microsoft.com/office/drawing/2014/main" id="{A3353CD3-FAEC-0E42-8834-E286D83ED302}"/>
                  </a:ext>
                </a:extLst>
              </p:cNvPr>
              <p:cNvGrpSpPr/>
              <p:nvPr/>
            </p:nvGrpSpPr>
            <p:grpSpPr>
              <a:xfrm>
                <a:off x="7713663" y="2848339"/>
                <a:ext cx="1042107" cy="425543"/>
                <a:chOff x="7786941" y="2884917"/>
                <a:chExt cx="897649" cy="353919"/>
              </a:xfrm>
            </p:grpSpPr>
            <p:sp>
              <p:nvSpPr>
                <p:cNvPr id="78" name="Freeform 557">
                  <a:extLst>
                    <a:ext uri="{FF2B5EF4-FFF2-40B4-BE49-F238E27FC236}">
                      <a16:creationId xmlns:a16="http://schemas.microsoft.com/office/drawing/2014/main" id="{FD765E59-C6B0-7049-9B05-10520D183CE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Freeform 558">
                  <a:extLst>
                    <a:ext uri="{FF2B5EF4-FFF2-40B4-BE49-F238E27FC236}">
                      <a16:creationId xmlns:a16="http://schemas.microsoft.com/office/drawing/2014/main" id="{3CC343B2-828A-A941-860D-A34B06F3AF7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Freeform 559">
                  <a:extLst>
                    <a:ext uri="{FF2B5EF4-FFF2-40B4-BE49-F238E27FC236}">
                      <a16:creationId xmlns:a16="http://schemas.microsoft.com/office/drawing/2014/main" id="{661D1096-D1FC-AA43-879E-223D36E1253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560">
                  <a:extLst>
                    <a:ext uri="{FF2B5EF4-FFF2-40B4-BE49-F238E27FC236}">
                      <a16:creationId xmlns:a16="http://schemas.microsoft.com/office/drawing/2014/main" id="{B44D6C46-0307-D945-BB09-3990064C3EE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7" name="Group 584">
              <a:extLst>
                <a:ext uri="{FF2B5EF4-FFF2-40B4-BE49-F238E27FC236}">
                  <a16:creationId xmlns:a16="http://schemas.microsoft.com/office/drawing/2014/main" id="{BD79A180-54A3-7C47-80A6-6D988B85BCAB}"/>
                </a:ext>
              </a:extLst>
            </p:cNvPr>
            <p:cNvGrpSpPr/>
            <p:nvPr/>
          </p:nvGrpSpPr>
          <p:grpSpPr>
            <a:xfrm>
              <a:off x="9985282" y="2656463"/>
              <a:ext cx="353678" cy="198344"/>
              <a:chOff x="7493876" y="2774731"/>
              <a:chExt cx="1481958" cy="894622"/>
            </a:xfrm>
          </p:grpSpPr>
          <p:sp>
            <p:nvSpPr>
              <p:cNvPr id="68" name="Freeform 585">
                <a:extLst>
                  <a:ext uri="{FF2B5EF4-FFF2-40B4-BE49-F238E27FC236}">
                    <a16:creationId xmlns:a16="http://schemas.microsoft.com/office/drawing/2014/main" id="{9696D1E3-39E8-6845-A63B-539A07D719E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9" name="Oval 586">
                <a:extLst>
                  <a:ext uri="{FF2B5EF4-FFF2-40B4-BE49-F238E27FC236}">
                    <a16:creationId xmlns:a16="http://schemas.microsoft.com/office/drawing/2014/main" id="{127BFD7E-9CB1-3840-A2E7-A48E2376180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0" name="Group 587">
                <a:extLst>
                  <a:ext uri="{FF2B5EF4-FFF2-40B4-BE49-F238E27FC236}">
                    <a16:creationId xmlns:a16="http://schemas.microsoft.com/office/drawing/2014/main" id="{6D170934-D1CA-CD42-A7D0-81E078BAF090}"/>
                  </a:ext>
                </a:extLst>
              </p:cNvPr>
              <p:cNvGrpSpPr/>
              <p:nvPr/>
            </p:nvGrpSpPr>
            <p:grpSpPr>
              <a:xfrm>
                <a:off x="7713663" y="2848339"/>
                <a:ext cx="1042107" cy="425543"/>
                <a:chOff x="7786941" y="2884917"/>
                <a:chExt cx="897649" cy="353919"/>
              </a:xfrm>
            </p:grpSpPr>
            <p:sp>
              <p:nvSpPr>
                <p:cNvPr id="71" name="Freeform 588">
                  <a:extLst>
                    <a:ext uri="{FF2B5EF4-FFF2-40B4-BE49-F238E27FC236}">
                      <a16:creationId xmlns:a16="http://schemas.microsoft.com/office/drawing/2014/main" id="{73D17E43-73E1-314C-94D2-0139FE0BE85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Freeform 589">
                  <a:extLst>
                    <a:ext uri="{FF2B5EF4-FFF2-40B4-BE49-F238E27FC236}">
                      <a16:creationId xmlns:a16="http://schemas.microsoft.com/office/drawing/2014/main" id="{79FEF3E7-C7AE-354F-85C7-A30FB60954E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590">
                  <a:extLst>
                    <a:ext uri="{FF2B5EF4-FFF2-40B4-BE49-F238E27FC236}">
                      <a16:creationId xmlns:a16="http://schemas.microsoft.com/office/drawing/2014/main" id="{E36A184D-DE1E-6348-961D-71F71D1E87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591">
                  <a:extLst>
                    <a:ext uri="{FF2B5EF4-FFF2-40B4-BE49-F238E27FC236}">
                      <a16:creationId xmlns:a16="http://schemas.microsoft.com/office/drawing/2014/main" id="{DA3C564E-2CCB-B747-9DE5-509FD1BE55E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8" name="Group 537">
              <a:extLst>
                <a:ext uri="{FF2B5EF4-FFF2-40B4-BE49-F238E27FC236}">
                  <a16:creationId xmlns:a16="http://schemas.microsoft.com/office/drawing/2014/main" id="{ED88E458-A748-EC47-BEB4-BB628676611B}"/>
                </a:ext>
              </a:extLst>
            </p:cNvPr>
            <p:cNvGrpSpPr/>
            <p:nvPr/>
          </p:nvGrpSpPr>
          <p:grpSpPr>
            <a:xfrm>
              <a:off x="9502294" y="3388930"/>
              <a:ext cx="367224" cy="240304"/>
              <a:chOff x="7493876" y="2774731"/>
              <a:chExt cx="1481958" cy="894622"/>
            </a:xfrm>
          </p:grpSpPr>
          <p:sp>
            <p:nvSpPr>
              <p:cNvPr id="61" name="Freeform 538">
                <a:extLst>
                  <a:ext uri="{FF2B5EF4-FFF2-40B4-BE49-F238E27FC236}">
                    <a16:creationId xmlns:a16="http://schemas.microsoft.com/office/drawing/2014/main" id="{4F84FAEF-B287-E640-B4AF-C27553DDAFF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2" name="Oval 539">
                <a:extLst>
                  <a:ext uri="{FF2B5EF4-FFF2-40B4-BE49-F238E27FC236}">
                    <a16:creationId xmlns:a16="http://schemas.microsoft.com/office/drawing/2014/main" id="{D0C195D6-4CC6-584E-BF3E-F8FBD9D7A98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3" name="Group 540">
                <a:extLst>
                  <a:ext uri="{FF2B5EF4-FFF2-40B4-BE49-F238E27FC236}">
                    <a16:creationId xmlns:a16="http://schemas.microsoft.com/office/drawing/2014/main" id="{BCC9DCF4-729E-A347-B0F0-3EB44EC90A61}"/>
                  </a:ext>
                </a:extLst>
              </p:cNvPr>
              <p:cNvGrpSpPr/>
              <p:nvPr/>
            </p:nvGrpSpPr>
            <p:grpSpPr>
              <a:xfrm>
                <a:off x="7713663" y="2848339"/>
                <a:ext cx="1042107" cy="425543"/>
                <a:chOff x="7786941" y="2884917"/>
                <a:chExt cx="897649" cy="353919"/>
              </a:xfrm>
            </p:grpSpPr>
            <p:sp>
              <p:nvSpPr>
                <p:cNvPr id="64" name="Freeform 541">
                  <a:extLst>
                    <a:ext uri="{FF2B5EF4-FFF2-40B4-BE49-F238E27FC236}">
                      <a16:creationId xmlns:a16="http://schemas.microsoft.com/office/drawing/2014/main" id="{073A5B6A-4C1A-C740-86AA-7DD0A6F0219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542">
                  <a:extLst>
                    <a:ext uri="{FF2B5EF4-FFF2-40B4-BE49-F238E27FC236}">
                      <a16:creationId xmlns:a16="http://schemas.microsoft.com/office/drawing/2014/main" id="{BDF8A1A8-1D86-FD49-B442-6EC41CB466D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Freeform 543">
                  <a:extLst>
                    <a:ext uri="{FF2B5EF4-FFF2-40B4-BE49-F238E27FC236}">
                      <a16:creationId xmlns:a16="http://schemas.microsoft.com/office/drawing/2014/main" id="{EB0F1D14-AA3E-064A-8FCF-16DD59D5EE5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544">
                  <a:extLst>
                    <a:ext uri="{FF2B5EF4-FFF2-40B4-BE49-F238E27FC236}">
                      <a16:creationId xmlns:a16="http://schemas.microsoft.com/office/drawing/2014/main" id="{C888227A-81A3-2C4C-AF82-C203CC5274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9" name="Group 545">
              <a:extLst>
                <a:ext uri="{FF2B5EF4-FFF2-40B4-BE49-F238E27FC236}">
                  <a16:creationId xmlns:a16="http://schemas.microsoft.com/office/drawing/2014/main" id="{010C169D-CF42-A548-BF57-BB4E5FE9F6B8}"/>
                </a:ext>
              </a:extLst>
            </p:cNvPr>
            <p:cNvGrpSpPr/>
            <p:nvPr/>
          </p:nvGrpSpPr>
          <p:grpSpPr>
            <a:xfrm>
              <a:off x="9606710" y="3994661"/>
              <a:ext cx="367224" cy="240304"/>
              <a:chOff x="7493876" y="2774731"/>
              <a:chExt cx="1481958" cy="894622"/>
            </a:xfrm>
          </p:grpSpPr>
          <p:sp>
            <p:nvSpPr>
              <p:cNvPr id="54" name="Freeform 546">
                <a:extLst>
                  <a:ext uri="{FF2B5EF4-FFF2-40B4-BE49-F238E27FC236}">
                    <a16:creationId xmlns:a16="http://schemas.microsoft.com/office/drawing/2014/main" id="{52F26687-2BA8-2848-84F5-93274594B46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5" name="Oval 547">
                <a:extLst>
                  <a:ext uri="{FF2B5EF4-FFF2-40B4-BE49-F238E27FC236}">
                    <a16:creationId xmlns:a16="http://schemas.microsoft.com/office/drawing/2014/main" id="{B2CF14B2-0941-C44C-871A-7BDE331C03F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6" name="Group 548">
                <a:extLst>
                  <a:ext uri="{FF2B5EF4-FFF2-40B4-BE49-F238E27FC236}">
                    <a16:creationId xmlns:a16="http://schemas.microsoft.com/office/drawing/2014/main" id="{A4DC03A0-0A28-C847-B563-0302267F8C23}"/>
                  </a:ext>
                </a:extLst>
              </p:cNvPr>
              <p:cNvGrpSpPr/>
              <p:nvPr/>
            </p:nvGrpSpPr>
            <p:grpSpPr>
              <a:xfrm>
                <a:off x="7713663" y="2848339"/>
                <a:ext cx="1042107" cy="425543"/>
                <a:chOff x="7786941" y="2884917"/>
                <a:chExt cx="897649" cy="353919"/>
              </a:xfrm>
            </p:grpSpPr>
            <p:sp>
              <p:nvSpPr>
                <p:cNvPr id="57" name="Freeform 549">
                  <a:extLst>
                    <a:ext uri="{FF2B5EF4-FFF2-40B4-BE49-F238E27FC236}">
                      <a16:creationId xmlns:a16="http://schemas.microsoft.com/office/drawing/2014/main" id="{B2D84F52-3F73-4C45-B6E3-A79970FB040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550">
                  <a:extLst>
                    <a:ext uri="{FF2B5EF4-FFF2-40B4-BE49-F238E27FC236}">
                      <a16:creationId xmlns:a16="http://schemas.microsoft.com/office/drawing/2014/main" id="{F26A0797-7A68-BF4E-B9F3-4CE3A8934E9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551">
                  <a:extLst>
                    <a:ext uri="{FF2B5EF4-FFF2-40B4-BE49-F238E27FC236}">
                      <a16:creationId xmlns:a16="http://schemas.microsoft.com/office/drawing/2014/main" id="{BC5AE2B4-81B9-FF46-A920-512CAC07783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Freeform 552">
                  <a:extLst>
                    <a:ext uri="{FF2B5EF4-FFF2-40B4-BE49-F238E27FC236}">
                      <a16:creationId xmlns:a16="http://schemas.microsoft.com/office/drawing/2014/main" id="{7D58E895-BE8F-3A43-830B-66F4918B688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0" name="Group 622">
              <a:extLst>
                <a:ext uri="{FF2B5EF4-FFF2-40B4-BE49-F238E27FC236}">
                  <a16:creationId xmlns:a16="http://schemas.microsoft.com/office/drawing/2014/main" id="{9643D744-E515-694E-8E0D-D451A0E0632D}"/>
                </a:ext>
              </a:extLst>
            </p:cNvPr>
            <p:cNvGrpSpPr/>
            <p:nvPr/>
          </p:nvGrpSpPr>
          <p:grpSpPr>
            <a:xfrm>
              <a:off x="10380415" y="3987223"/>
              <a:ext cx="353678" cy="198344"/>
              <a:chOff x="7493876" y="2774731"/>
              <a:chExt cx="1481958" cy="894622"/>
            </a:xfrm>
          </p:grpSpPr>
          <p:sp>
            <p:nvSpPr>
              <p:cNvPr id="47" name="Freeform 623">
                <a:extLst>
                  <a:ext uri="{FF2B5EF4-FFF2-40B4-BE49-F238E27FC236}">
                    <a16:creationId xmlns:a16="http://schemas.microsoft.com/office/drawing/2014/main" id="{457F881C-2EEB-A54C-B29B-6BBBD923FE4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624">
                <a:extLst>
                  <a:ext uri="{FF2B5EF4-FFF2-40B4-BE49-F238E27FC236}">
                    <a16:creationId xmlns:a16="http://schemas.microsoft.com/office/drawing/2014/main" id="{DF90D8D1-2E1E-E14F-8B92-31B9BF2539E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9" name="Group 625">
                <a:extLst>
                  <a:ext uri="{FF2B5EF4-FFF2-40B4-BE49-F238E27FC236}">
                    <a16:creationId xmlns:a16="http://schemas.microsoft.com/office/drawing/2014/main" id="{4C0E7AE5-BCFF-B44C-8482-C466E2C0D8CC}"/>
                  </a:ext>
                </a:extLst>
              </p:cNvPr>
              <p:cNvGrpSpPr/>
              <p:nvPr/>
            </p:nvGrpSpPr>
            <p:grpSpPr>
              <a:xfrm>
                <a:off x="7713663" y="2848339"/>
                <a:ext cx="1042107" cy="425543"/>
                <a:chOff x="7786941" y="2884917"/>
                <a:chExt cx="897649" cy="353919"/>
              </a:xfrm>
            </p:grpSpPr>
            <p:sp>
              <p:nvSpPr>
                <p:cNvPr id="50" name="Freeform 626">
                  <a:extLst>
                    <a:ext uri="{FF2B5EF4-FFF2-40B4-BE49-F238E27FC236}">
                      <a16:creationId xmlns:a16="http://schemas.microsoft.com/office/drawing/2014/main" id="{4280D7CA-5DED-264D-A125-7DC66A9578A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627">
                  <a:extLst>
                    <a:ext uri="{FF2B5EF4-FFF2-40B4-BE49-F238E27FC236}">
                      <a16:creationId xmlns:a16="http://schemas.microsoft.com/office/drawing/2014/main" id="{ECB1AC96-F074-8D4D-8926-8711AEBF698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628">
                  <a:extLst>
                    <a:ext uri="{FF2B5EF4-FFF2-40B4-BE49-F238E27FC236}">
                      <a16:creationId xmlns:a16="http://schemas.microsoft.com/office/drawing/2014/main" id="{48E09ED7-EC12-7E41-A8B4-71FA22AE42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eform 629">
                  <a:extLst>
                    <a:ext uri="{FF2B5EF4-FFF2-40B4-BE49-F238E27FC236}">
                      <a16:creationId xmlns:a16="http://schemas.microsoft.com/office/drawing/2014/main" id="{DF8D469B-FDF8-6348-ACCB-C8DA7F7DEF9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1" name="Group 462">
              <a:extLst>
                <a:ext uri="{FF2B5EF4-FFF2-40B4-BE49-F238E27FC236}">
                  <a16:creationId xmlns:a16="http://schemas.microsoft.com/office/drawing/2014/main" id="{8F6FF999-CAEC-A84F-9EF3-9C93CF08DB13}"/>
                </a:ext>
              </a:extLst>
            </p:cNvPr>
            <p:cNvGrpSpPr/>
            <p:nvPr/>
          </p:nvGrpSpPr>
          <p:grpSpPr>
            <a:xfrm>
              <a:off x="9253049" y="4770584"/>
              <a:ext cx="393760" cy="218578"/>
              <a:chOff x="7493876" y="2774731"/>
              <a:chExt cx="1481958" cy="894622"/>
            </a:xfrm>
          </p:grpSpPr>
          <p:sp>
            <p:nvSpPr>
              <p:cNvPr id="40" name="Freeform 463">
                <a:extLst>
                  <a:ext uri="{FF2B5EF4-FFF2-40B4-BE49-F238E27FC236}">
                    <a16:creationId xmlns:a16="http://schemas.microsoft.com/office/drawing/2014/main" id="{9ED7DA3E-9638-244D-B81D-0454770CCDA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1" name="Oval 464">
                <a:extLst>
                  <a:ext uri="{FF2B5EF4-FFF2-40B4-BE49-F238E27FC236}">
                    <a16:creationId xmlns:a16="http://schemas.microsoft.com/office/drawing/2014/main" id="{71F85066-7A3B-2A4B-B74C-11D0DAA5CF1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2" name="Group 465">
                <a:extLst>
                  <a:ext uri="{FF2B5EF4-FFF2-40B4-BE49-F238E27FC236}">
                    <a16:creationId xmlns:a16="http://schemas.microsoft.com/office/drawing/2014/main" id="{DF29B5E8-10E5-F242-A4A8-EA9B617E9FBD}"/>
                  </a:ext>
                </a:extLst>
              </p:cNvPr>
              <p:cNvGrpSpPr/>
              <p:nvPr/>
            </p:nvGrpSpPr>
            <p:grpSpPr>
              <a:xfrm>
                <a:off x="7713663" y="2848339"/>
                <a:ext cx="1042107" cy="425543"/>
                <a:chOff x="7786941" y="2884917"/>
                <a:chExt cx="897649" cy="353919"/>
              </a:xfrm>
            </p:grpSpPr>
            <p:sp>
              <p:nvSpPr>
                <p:cNvPr id="43" name="Freeform 466">
                  <a:extLst>
                    <a:ext uri="{FF2B5EF4-FFF2-40B4-BE49-F238E27FC236}">
                      <a16:creationId xmlns:a16="http://schemas.microsoft.com/office/drawing/2014/main" id="{BAD863D3-1C99-9A47-8DA1-DDF61AD79DC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467">
                  <a:extLst>
                    <a:ext uri="{FF2B5EF4-FFF2-40B4-BE49-F238E27FC236}">
                      <a16:creationId xmlns:a16="http://schemas.microsoft.com/office/drawing/2014/main" id="{7370B9ED-B1D1-DE4B-A536-50140636708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468">
                  <a:extLst>
                    <a:ext uri="{FF2B5EF4-FFF2-40B4-BE49-F238E27FC236}">
                      <a16:creationId xmlns:a16="http://schemas.microsoft.com/office/drawing/2014/main" id="{23B903E3-0DE7-384D-A811-399133AAF0C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469">
                  <a:extLst>
                    <a:ext uri="{FF2B5EF4-FFF2-40B4-BE49-F238E27FC236}">
                      <a16:creationId xmlns:a16="http://schemas.microsoft.com/office/drawing/2014/main" id="{A137B231-19EE-104A-884D-9D5107CA9CF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 name="Group 446">
              <a:extLst>
                <a:ext uri="{FF2B5EF4-FFF2-40B4-BE49-F238E27FC236}">
                  <a16:creationId xmlns:a16="http://schemas.microsoft.com/office/drawing/2014/main" id="{62DFFE02-EF78-0A4C-A5A6-55FB5665E910}"/>
                </a:ext>
              </a:extLst>
            </p:cNvPr>
            <p:cNvGrpSpPr/>
            <p:nvPr/>
          </p:nvGrpSpPr>
          <p:grpSpPr>
            <a:xfrm>
              <a:off x="10931138" y="4364023"/>
              <a:ext cx="228295" cy="120400"/>
              <a:chOff x="7493876" y="2774731"/>
              <a:chExt cx="1481958" cy="894622"/>
            </a:xfrm>
          </p:grpSpPr>
          <p:sp>
            <p:nvSpPr>
              <p:cNvPr id="33" name="Freeform 447">
                <a:extLst>
                  <a:ext uri="{FF2B5EF4-FFF2-40B4-BE49-F238E27FC236}">
                    <a16:creationId xmlns:a16="http://schemas.microsoft.com/office/drawing/2014/main" id="{535D8B89-3AD2-7E40-9BA1-77F2C2594C8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4" name="Oval 448">
                <a:extLst>
                  <a:ext uri="{FF2B5EF4-FFF2-40B4-BE49-F238E27FC236}">
                    <a16:creationId xmlns:a16="http://schemas.microsoft.com/office/drawing/2014/main" id="{E14ED2D4-F142-4A46-98EF-BE6698EA2A3D}"/>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5" name="Group 449">
                <a:extLst>
                  <a:ext uri="{FF2B5EF4-FFF2-40B4-BE49-F238E27FC236}">
                    <a16:creationId xmlns:a16="http://schemas.microsoft.com/office/drawing/2014/main" id="{B1F523B3-5020-8A4C-B320-984A13DFB4A5}"/>
                  </a:ext>
                </a:extLst>
              </p:cNvPr>
              <p:cNvGrpSpPr/>
              <p:nvPr/>
            </p:nvGrpSpPr>
            <p:grpSpPr>
              <a:xfrm>
                <a:off x="7713663" y="2848339"/>
                <a:ext cx="1042107" cy="425543"/>
                <a:chOff x="7786941" y="2884917"/>
                <a:chExt cx="897649" cy="353919"/>
              </a:xfrm>
            </p:grpSpPr>
            <p:sp>
              <p:nvSpPr>
                <p:cNvPr id="36" name="Freeform 450">
                  <a:extLst>
                    <a:ext uri="{FF2B5EF4-FFF2-40B4-BE49-F238E27FC236}">
                      <a16:creationId xmlns:a16="http://schemas.microsoft.com/office/drawing/2014/main" id="{35087B43-60BE-5A4F-93D3-3C623DE5CE3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451">
                  <a:extLst>
                    <a:ext uri="{FF2B5EF4-FFF2-40B4-BE49-F238E27FC236}">
                      <a16:creationId xmlns:a16="http://schemas.microsoft.com/office/drawing/2014/main" id="{81DA7497-AB50-7446-9B08-FBDC541967E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452">
                  <a:extLst>
                    <a:ext uri="{FF2B5EF4-FFF2-40B4-BE49-F238E27FC236}">
                      <a16:creationId xmlns:a16="http://schemas.microsoft.com/office/drawing/2014/main" id="{897934D7-68AA-804B-BF36-1C5A35DEA45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453">
                  <a:extLst>
                    <a:ext uri="{FF2B5EF4-FFF2-40B4-BE49-F238E27FC236}">
                      <a16:creationId xmlns:a16="http://schemas.microsoft.com/office/drawing/2014/main" id="{51A1D865-E473-734B-BE63-7DB67E74360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sp>
        <p:nvSpPr>
          <p:cNvPr id="10" name="Freeform 2">
            <a:extLst>
              <a:ext uri="{FF2B5EF4-FFF2-40B4-BE49-F238E27FC236}">
                <a16:creationId xmlns:a16="http://schemas.microsoft.com/office/drawing/2014/main" id="{636A15D8-E97B-9241-BE1A-31B92428A484}"/>
              </a:ext>
            </a:extLst>
          </p:cNvPr>
          <p:cNvSpPr/>
          <p:nvPr/>
        </p:nvSpPr>
        <p:spPr>
          <a:xfrm>
            <a:off x="6615976" y="1654628"/>
            <a:ext cx="4691414" cy="4018823"/>
          </a:xfrm>
          <a:custGeom>
            <a:avLst/>
            <a:gdLst>
              <a:gd name="connsiteX0" fmla="*/ 2112364 w 4107620"/>
              <a:gd name="connsiteY0" fmla="*/ 1261685 h 4330718"/>
              <a:gd name="connsiteX1" fmla="*/ 1712971 w 4107620"/>
              <a:gd name="connsiteY1" fmla="*/ 1293216 h 4330718"/>
              <a:gd name="connsiteX2" fmla="*/ 1387150 w 4107620"/>
              <a:gd name="connsiteY2" fmla="*/ 904333 h 4330718"/>
              <a:gd name="connsiteX3" fmla="*/ 1134902 w 4107620"/>
              <a:gd name="connsiteY3" fmla="*/ 568002 h 4330718"/>
              <a:gd name="connsiteX4" fmla="*/ 840612 w 4107620"/>
              <a:gd name="connsiteY4" fmla="*/ 851781 h 4330718"/>
              <a:gd name="connsiteX5" fmla="*/ 703978 w 4107620"/>
              <a:gd name="connsiteY5" fmla="*/ 1356278 h 4330718"/>
              <a:gd name="connsiteX6" fmla="*/ 1240006 w 4107620"/>
              <a:gd name="connsiteY6" fmla="*/ 1955368 h 4330718"/>
              <a:gd name="connsiteX7" fmla="*/ 1303068 w 4107620"/>
              <a:gd name="connsiteY7" fmla="*/ 2375781 h 4330718"/>
              <a:gd name="connsiteX8" fmla="*/ 220502 w 4107620"/>
              <a:gd name="connsiteY8" fmla="*/ 2302209 h 4330718"/>
              <a:gd name="connsiteX9" fmla="*/ 83868 w 4107620"/>
              <a:gd name="connsiteY9" fmla="*/ 2943340 h 4330718"/>
              <a:gd name="connsiteX10" fmla="*/ 1218985 w 4107620"/>
              <a:gd name="connsiteY10" fmla="*/ 3258650 h 4330718"/>
              <a:gd name="connsiteX11" fmla="*/ 1124392 w 4107620"/>
              <a:gd name="connsiteY11" fmla="*/ 3647533 h 4330718"/>
              <a:gd name="connsiteX12" fmla="*/ 924695 w 4107620"/>
              <a:gd name="connsiteY12" fmla="*/ 3763147 h 4330718"/>
              <a:gd name="connsiteX13" fmla="*/ 1324088 w 4107620"/>
              <a:gd name="connsiteY13" fmla="*/ 3962843 h 4330718"/>
              <a:gd name="connsiteX14" fmla="*/ 1576337 w 4107620"/>
              <a:gd name="connsiteY14" fmla="*/ 3899781 h 4330718"/>
              <a:gd name="connsiteX15" fmla="*/ 1818075 w 4107620"/>
              <a:gd name="connsiteY15" fmla="*/ 4036416 h 4330718"/>
              <a:gd name="connsiteX16" fmla="*/ 1996750 w 4107620"/>
              <a:gd name="connsiteY16" fmla="*/ 4299174 h 4330718"/>
              <a:gd name="connsiteX17" fmla="*/ 2448695 w 4107620"/>
              <a:gd name="connsiteY17" fmla="*/ 4299174 h 4330718"/>
              <a:gd name="connsiteX18" fmla="*/ 2764006 w 4107620"/>
              <a:gd name="connsiteY18" fmla="*/ 4057436 h 4330718"/>
              <a:gd name="connsiteX19" fmla="*/ 2995233 w 4107620"/>
              <a:gd name="connsiteY19" fmla="*/ 4025905 h 4330718"/>
              <a:gd name="connsiteX20" fmla="*/ 3016254 w 4107620"/>
              <a:gd name="connsiteY20" fmla="*/ 3731616 h 4330718"/>
              <a:gd name="connsiteX21" fmla="*/ 3194930 w 4107620"/>
              <a:gd name="connsiteY21" fmla="*/ 3300692 h 4330718"/>
              <a:gd name="connsiteX22" fmla="*/ 3972695 w 4107620"/>
              <a:gd name="connsiteY22" fmla="*/ 3122016 h 4330718"/>
              <a:gd name="connsiteX23" fmla="*/ 3909633 w 4107620"/>
              <a:gd name="connsiteY23" fmla="*/ 1818733 h 4330718"/>
              <a:gd name="connsiteX24" fmla="*/ 4046268 w 4107620"/>
              <a:gd name="connsiteY24" fmla="*/ 904333 h 4330718"/>
              <a:gd name="connsiteX25" fmla="*/ 3962185 w 4107620"/>
              <a:gd name="connsiteY25" fmla="*/ 147588 h 4330718"/>
              <a:gd name="connsiteX26" fmla="*/ 2480226 w 4107620"/>
              <a:gd name="connsiteY26" fmla="*/ 63505 h 4330718"/>
              <a:gd name="connsiteX27" fmla="*/ 2133385 w 4107620"/>
              <a:gd name="connsiteY27" fmla="*/ 872802 h 4330718"/>
              <a:gd name="connsiteX28" fmla="*/ 2238488 w 4107620"/>
              <a:gd name="connsiteY28" fmla="*/ 1230154 h 4330718"/>
              <a:gd name="connsiteX29" fmla="*/ 2112364 w 4107620"/>
              <a:gd name="connsiteY29" fmla="*/ 1261685 h 4330718"/>
              <a:gd name="connsiteX0-1" fmla="*/ 1996750 w 4107620"/>
              <a:gd name="connsiteY0-2" fmla="*/ 1366789 h 4330718"/>
              <a:gd name="connsiteX1-3" fmla="*/ 1712971 w 4107620"/>
              <a:gd name="connsiteY1-4" fmla="*/ 1293216 h 4330718"/>
              <a:gd name="connsiteX2-5" fmla="*/ 1387150 w 4107620"/>
              <a:gd name="connsiteY2-6" fmla="*/ 904333 h 4330718"/>
              <a:gd name="connsiteX3-7" fmla="*/ 1134902 w 4107620"/>
              <a:gd name="connsiteY3-8" fmla="*/ 568002 h 4330718"/>
              <a:gd name="connsiteX4-9" fmla="*/ 840612 w 4107620"/>
              <a:gd name="connsiteY4-10" fmla="*/ 851781 h 4330718"/>
              <a:gd name="connsiteX5-11" fmla="*/ 703978 w 4107620"/>
              <a:gd name="connsiteY5-12" fmla="*/ 1356278 h 4330718"/>
              <a:gd name="connsiteX6-13" fmla="*/ 1240006 w 4107620"/>
              <a:gd name="connsiteY6-14" fmla="*/ 1955368 h 4330718"/>
              <a:gd name="connsiteX7-15" fmla="*/ 1303068 w 4107620"/>
              <a:gd name="connsiteY7-16" fmla="*/ 2375781 h 4330718"/>
              <a:gd name="connsiteX8-17" fmla="*/ 220502 w 4107620"/>
              <a:gd name="connsiteY8-18" fmla="*/ 2302209 h 4330718"/>
              <a:gd name="connsiteX9-19" fmla="*/ 83868 w 4107620"/>
              <a:gd name="connsiteY9-20" fmla="*/ 2943340 h 4330718"/>
              <a:gd name="connsiteX10-21" fmla="*/ 1218985 w 4107620"/>
              <a:gd name="connsiteY10-22" fmla="*/ 3258650 h 4330718"/>
              <a:gd name="connsiteX11-23" fmla="*/ 1124392 w 4107620"/>
              <a:gd name="connsiteY11-24" fmla="*/ 3647533 h 4330718"/>
              <a:gd name="connsiteX12-25" fmla="*/ 924695 w 4107620"/>
              <a:gd name="connsiteY12-26" fmla="*/ 3763147 h 4330718"/>
              <a:gd name="connsiteX13-27" fmla="*/ 1324088 w 4107620"/>
              <a:gd name="connsiteY13-28" fmla="*/ 3962843 h 4330718"/>
              <a:gd name="connsiteX14-29" fmla="*/ 1576337 w 4107620"/>
              <a:gd name="connsiteY14-30" fmla="*/ 3899781 h 4330718"/>
              <a:gd name="connsiteX15-31" fmla="*/ 1818075 w 4107620"/>
              <a:gd name="connsiteY15-32" fmla="*/ 4036416 h 4330718"/>
              <a:gd name="connsiteX16-33" fmla="*/ 1996750 w 4107620"/>
              <a:gd name="connsiteY16-34" fmla="*/ 4299174 h 4330718"/>
              <a:gd name="connsiteX17-35" fmla="*/ 2448695 w 4107620"/>
              <a:gd name="connsiteY17-36" fmla="*/ 4299174 h 4330718"/>
              <a:gd name="connsiteX18-37" fmla="*/ 2764006 w 4107620"/>
              <a:gd name="connsiteY18-38" fmla="*/ 4057436 h 4330718"/>
              <a:gd name="connsiteX19-39" fmla="*/ 2995233 w 4107620"/>
              <a:gd name="connsiteY19-40" fmla="*/ 4025905 h 4330718"/>
              <a:gd name="connsiteX20-41" fmla="*/ 3016254 w 4107620"/>
              <a:gd name="connsiteY20-42" fmla="*/ 3731616 h 4330718"/>
              <a:gd name="connsiteX21-43" fmla="*/ 3194930 w 4107620"/>
              <a:gd name="connsiteY21-44" fmla="*/ 3300692 h 4330718"/>
              <a:gd name="connsiteX22-45" fmla="*/ 3972695 w 4107620"/>
              <a:gd name="connsiteY22-46" fmla="*/ 3122016 h 4330718"/>
              <a:gd name="connsiteX23-47" fmla="*/ 3909633 w 4107620"/>
              <a:gd name="connsiteY23-48" fmla="*/ 1818733 h 4330718"/>
              <a:gd name="connsiteX24-49" fmla="*/ 4046268 w 4107620"/>
              <a:gd name="connsiteY24-50" fmla="*/ 904333 h 4330718"/>
              <a:gd name="connsiteX25-51" fmla="*/ 3962185 w 4107620"/>
              <a:gd name="connsiteY25-52" fmla="*/ 147588 h 4330718"/>
              <a:gd name="connsiteX26-53" fmla="*/ 2480226 w 4107620"/>
              <a:gd name="connsiteY26-54" fmla="*/ 63505 h 4330718"/>
              <a:gd name="connsiteX27-55" fmla="*/ 2133385 w 4107620"/>
              <a:gd name="connsiteY27-56" fmla="*/ 872802 h 4330718"/>
              <a:gd name="connsiteX28-57" fmla="*/ 2238488 w 4107620"/>
              <a:gd name="connsiteY28-58" fmla="*/ 1230154 h 4330718"/>
              <a:gd name="connsiteX29-59" fmla="*/ 1996750 w 4107620"/>
              <a:gd name="connsiteY29-60" fmla="*/ 1366789 h 4330718"/>
              <a:gd name="connsiteX0-61" fmla="*/ 1996750 w 4107620"/>
              <a:gd name="connsiteY0-62" fmla="*/ 1339069 h 4302998"/>
              <a:gd name="connsiteX1-63" fmla="*/ 1712971 w 4107620"/>
              <a:gd name="connsiteY1-64" fmla="*/ 1265496 h 4302998"/>
              <a:gd name="connsiteX2-65" fmla="*/ 1387150 w 4107620"/>
              <a:gd name="connsiteY2-66" fmla="*/ 876613 h 4302998"/>
              <a:gd name="connsiteX3-67" fmla="*/ 1134902 w 4107620"/>
              <a:gd name="connsiteY3-68" fmla="*/ 540282 h 4302998"/>
              <a:gd name="connsiteX4-69" fmla="*/ 840612 w 4107620"/>
              <a:gd name="connsiteY4-70" fmla="*/ 824061 h 4302998"/>
              <a:gd name="connsiteX5-71" fmla="*/ 703978 w 4107620"/>
              <a:gd name="connsiteY5-72" fmla="*/ 1328558 h 4302998"/>
              <a:gd name="connsiteX6-73" fmla="*/ 1240006 w 4107620"/>
              <a:gd name="connsiteY6-74" fmla="*/ 1927648 h 4302998"/>
              <a:gd name="connsiteX7-75" fmla="*/ 1303068 w 4107620"/>
              <a:gd name="connsiteY7-76" fmla="*/ 2348061 h 4302998"/>
              <a:gd name="connsiteX8-77" fmla="*/ 220502 w 4107620"/>
              <a:gd name="connsiteY8-78" fmla="*/ 2274489 h 4302998"/>
              <a:gd name="connsiteX9-79" fmla="*/ 83868 w 4107620"/>
              <a:gd name="connsiteY9-80" fmla="*/ 2915620 h 4302998"/>
              <a:gd name="connsiteX10-81" fmla="*/ 1218985 w 4107620"/>
              <a:gd name="connsiteY10-82" fmla="*/ 3230930 h 4302998"/>
              <a:gd name="connsiteX11-83" fmla="*/ 1124392 w 4107620"/>
              <a:gd name="connsiteY11-84" fmla="*/ 3619813 h 4302998"/>
              <a:gd name="connsiteX12-85" fmla="*/ 924695 w 4107620"/>
              <a:gd name="connsiteY12-86" fmla="*/ 3735427 h 4302998"/>
              <a:gd name="connsiteX13-87" fmla="*/ 1324088 w 4107620"/>
              <a:gd name="connsiteY13-88" fmla="*/ 3935123 h 4302998"/>
              <a:gd name="connsiteX14-89" fmla="*/ 1576337 w 4107620"/>
              <a:gd name="connsiteY14-90" fmla="*/ 3872061 h 4302998"/>
              <a:gd name="connsiteX15-91" fmla="*/ 1818075 w 4107620"/>
              <a:gd name="connsiteY15-92" fmla="*/ 4008696 h 4302998"/>
              <a:gd name="connsiteX16-93" fmla="*/ 1996750 w 4107620"/>
              <a:gd name="connsiteY16-94" fmla="*/ 4271454 h 4302998"/>
              <a:gd name="connsiteX17-95" fmla="*/ 2448695 w 4107620"/>
              <a:gd name="connsiteY17-96" fmla="*/ 4271454 h 4302998"/>
              <a:gd name="connsiteX18-97" fmla="*/ 2764006 w 4107620"/>
              <a:gd name="connsiteY18-98" fmla="*/ 4029716 h 4302998"/>
              <a:gd name="connsiteX19-99" fmla="*/ 2995233 w 4107620"/>
              <a:gd name="connsiteY19-100" fmla="*/ 3998185 h 4302998"/>
              <a:gd name="connsiteX20-101" fmla="*/ 3016254 w 4107620"/>
              <a:gd name="connsiteY20-102" fmla="*/ 3703896 h 4302998"/>
              <a:gd name="connsiteX21-103" fmla="*/ 3194930 w 4107620"/>
              <a:gd name="connsiteY21-104" fmla="*/ 3272972 h 4302998"/>
              <a:gd name="connsiteX22-105" fmla="*/ 3972695 w 4107620"/>
              <a:gd name="connsiteY22-106" fmla="*/ 3094296 h 4302998"/>
              <a:gd name="connsiteX23-107" fmla="*/ 3909633 w 4107620"/>
              <a:gd name="connsiteY23-108" fmla="*/ 1791013 h 4302998"/>
              <a:gd name="connsiteX24-109" fmla="*/ 4046268 w 4107620"/>
              <a:gd name="connsiteY24-110" fmla="*/ 876613 h 4302998"/>
              <a:gd name="connsiteX25-111" fmla="*/ 3962185 w 4107620"/>
              <a:gd name="connsiteY25-112" fmla="*/ 119868 h 4302998"/>
              <a:gd name="connsiteX26-113" fmla="*/ 2480226 w 4107620"/>
              <a:gd name="connsiteY26-114" fmla="*/ 35785 h 4302998"/>
              <a:gd name="connsiteX27-115" fmla="*/ 2185936 w 4107620"/>
              <a:gd name="connsiteY27-116" fmla="*/ 466709 h 4302998"/>
              <a:gd name="connsiteX28-117" fmla="*/ 2238488 w 4107620"/>
              <a:gd name="connsiteY28-118" fmla="*/ 1202434 h 4302998"/>
              <a:gd name="connsiteX29-119" fmla="*/ 1996750 w 4107620"/>
              <a:gd name="connsiteY29-120" fmla="*/ 1339069 h 4302998"/>
              <a:gd name="connsiteX0-121" fmla="*/ 1996750 w 4107620"/>
              <a:gd name="connsiteY0-122" fmla="*/ 1339069 h 4302998"/>
              <a:gd name="connsiteX1-123" fmla="*/ 1712971 w 4107620"/>
              <a:gd name="connsiteY1-124" fmla="*/ 1265496 h 4302998"/>
              <a:gd name="connsiteX2-125" fmla="*/ 1387150 w 4107620"/>
              <a:gd name="connsiteY2-126" fmla="*/ 876613 h 4302998"/>
              <a:gd name="connsiteX3-127" fmla="*/ 1134902 w 4107620"/>
              <a:gd name="connsiteY3-128" fmla="*/ 540282 h 4302998"/>
              <a:gd name="connsiteX4-129" fmla="*/ 840612 w 4107620"/>
              <a:gd name="connsiteY4-130" fmla="*/ 824061 h 4302998"/>
              <a:gd name="connsiteX5-131" fmla="*/ 703978 w 4107620"/>
              <a:gd name="connsiteY5-132" fmla="*/ 1328558 h 4302998"/>
              <a:gd name="connsiteX6-133" fmla="*/ 1240006 w 4107620"/>
              <a:gd name="connsiteY6-134" fmla="*/ 1927648 h 4302998"/>
              <a:gd name="connsiteX7-135" fmla="*/ 1303068 w 4107620"/>
              <a:gd name="connsiteY7-136" fmla="*/ 2348061 h 4302998"/>
              <a:gd name="connsiteX8-137" fmla="*/ 220502 w 4107620"/>
              <a:gd name="connsiteY8-138" fmla="*/ 2274489 h 4302998"/>
              <a:gd name="connsiteX9-139" fmla="*/ 83868 w 4107620"/>
              <a:gd name="connsiteY9-140" fmla="*/ 2915620 h 4302998"/>
              <a:gd name="connsiteX10-141" fmla="*/ 1218985 w 4107620"/>
              <a:gd name="connsiteY10-142" fmla="*/ 3230930 h 4302998"/>
              <a:gd name="connsiteX11-143" fmla="*/ 1124392 w 4107620"/>
              <a:gd name="connsiteY11-144" fmla="*/ 3619813 h 4302998"/>
              <a:gd name="connsiteX12-145" fmla="*/ 924695 w 4107620"/>
              <a:gd name="connsiteY12-146" fmla="*/ 3735427 h 4302998"/>
              <a:gd name="connsiteX13-147" fmla="*/ 1324088 w 4107620"/>
              <a:gd name="connsiteY13-148" fmla="*/ 3935123 h 4302998"/>
              <a:gd name="connsiteX14-149" fmla="*/ 1576337 w 4107620"/>
              <a:gd name="connsiteY14-150" fmla="*/ 3872061 h 4302998"/>
              <a:gd name="connsiteX15-151" fmla="*/ 1818075 w 4107620"/>
              <a:gd name="connsiteY15-152" fmla="*/ 4008696 h 4302998"/>
              <a:gd name="connsiteX16-153" fmla="*/ 1996750 w 4107620"/>
              <a:gd name="connsiteY16-154" fmla="*/ 4271454 h 4302998"/>
              <a:gd name="connsiteX17-155" fmla="*/ 2448695 w 4107620"/>
              <a:gd name="connsiteY17-156" fmla="*/ 4271454 h 4302998"/>
              <a:gd name="connsiteX18-157" fmla="*/ 2764006 w 4107620"/>
              <a:gd name="connsiteY18-158" fmla="*/ 4029716 h 4302998"/>
              <a:gd name="connsiteX19-159" fmla="*/ 2995233 w 4107620"/>
              <a:gd name="connsiteY19-160" fmla="*/ 3998185 h 4302998"/>
              <a:gd name="connsiteX20-161" fmla="*/ 3016254 w 4107620"/>
              <a:gd name="connsiteY20-162" fmla="*/ 3703896 h 4302998"/>
              <a:gd name="connsiteX21-163" fmla="*/ 3194930 w 4107620"/>
              <a:gd name="connsiteY21-164" fmla="*/ 3272972 h 4302998"/>
              <a:gd name="connsiteX22-165" fmla="*/ 3972695 w 4107620"/>
              <a:gd name="connsiteY22-166" fmla="*/ 3094296 h 4302998"/>
              <a:gd name="connsiteX23-167" fmla="*/ 3909633 w 4107620"/>
              <a:gd name="connsiteY23-168" fmla="*/ 1791013 h 4302998"/>
              <a:gd name="connsiteX24-169" fmla="*/ 4046268 w 4107620"/>
              <a:gd name="connsiteY24-170" fmla="*/ 876613 h 4302998"/>
              <a:gd name="connsiteX25-171" fmla="*/ 3962185 w 4107620"/>
              <a:gd name="connsiteY25-172" fmla="*/ 119868 h 4302998"/>
              <a:gd name="connsiteX26-173" fmla="*/ 2480226 w 4107620"/>
              <a:gd name="connsiteY26-174" fmla="*/ 35785 h 4302998"/>
              <a:gd name="connsiteX27-175" fmla="*/ 2270019 w 4107620"/>
              <a:gd name="connsiteY27-176" fmla="*/ 466709 h 4302998"/>
              <a:gd name="connsiteX28-177" fmla="*/ 2238488 w 4107620"/>
              <a:gd name="connsiteY28-178" fmla="*/ 1202434 h 4302998"/>
              <a:gd name="connsiteX29-179" fmla="*/ 1996750 w 4107620"/>
              <a:gd name="connsiteY29-180" fmla="*/ 1339069 h 4302998"/>
              <a:gd name="connsiteX0-181" fmla="*/ 1996750 w 4101062"/>
              <a:gd name="connsiteY0-182" fmla="*/ 1290412 h 4254341"/>
              <a:gd name="connsiteX1-183" fmla="*/ 1712971 w 4101062"/>
              <a:gd name="connsiteY1-184" fmla="*/ 1216839 h 4254341"/>
              <a:gd name="connsiteX2-185" fmla="*/ 1387150 w 4101062"/>
              <a:gd name="connsiteY2-186" fmla="*/ 827956 h 4254341"/>
              <a:gd name="connsiteX3-187" fmla="*/ 1134902 w 4101062"/>
              <a:gd name="connsiteY3-188" fmla="*/ 491625 h 4254341"/>
              <a:gd name="connsiteX4-189" fmla="*/ 840612 w 4101062"/>
              <a:gd name="connsiteY4-190" fmla="*/ 775404 h 4254341"/>
              <a:gd name="connsiteX5-191" fmla="*/ 703978 w 4101062"/>
              <a:gd name="connsiteY5-192" fmla="*/ 1279901 h 4254341"/>
              <a:gd name="connsiteX6-193" fmla="*/ 1240006 w 4101062"/>
              <a:gd name="connsiteY6-194" fmla="*/ 1878991 h 4254341"/>
              <a:gd name="connsiteX7-195" fmla="*/ 1303068 w 4101062"/>
              <a:gd name="connsiteY7-196" fmla="*/ 2299404 h 4254341"/>
              <a:gd name="connsiteX8-197" fmla="*/ 220502 w 4101062"/>
              <a:gd name="connsiteY8-198" fmla="*/ 2225832 h 4254341"/>
              <a:gd name="connsiteX9-199" fmla="*/ 83868 w 4101062"/>
              <a:gd name="connsiteY9-200" fmla="*/ 2866963 h 4254341"/>
              <a:gd name="connsiteX10-201" fmla="*/ 1218985 w 4101062"/>
              <a:gd name="connsiteY10-202" fmla="*/ 3182273 h 4254341"/>
              <a:gd name="connsiteX11-203" fmla="*/ 1124392 w 4101062"/>
              <a:gd name="connsiteY11-204" fmla="*/ 3571156 h 4254341"/>
              <a:gd name="connsiteX12-205" fmla="*/ 924695 w 4101062"/>
              <a:gd name="connsiteY12-206" fmla="*/ 3686770 h 4254341"/>
              <a:gd name="connsiteX13-207" fmla="*/ 1324088 w 4101062"/>
              <a:gd name="connsiteY13-208" fmla="*/ 3886466 h 4254341"/>
              <a:gd name="connsiteX14-209" fmla="*/ 1576337 w 4101062"/>
              <a:gd name="connsiteY14-210" fmla="*/ 3823404 h 4254341"/>
              <a:gd name="connsiteX15-211" fmla="*/ 1818075 w 4101062"/>
              <a:gd name="connsiteY15-212" fmla="*/ 3960039 h 4254341"/>
              <a:gd name="connsiteX16-213" fmla="*/ 1996750 w 4101062"/>
              <a:gd name="connsiteY16-214" fmla="*/ 4222797 h 4254341"/>
              <a:gd name="connsiteX17-215" fmla="*/ 2448695 w 4101062"/>
              <a:gd name="connsiteY17-216" fmla="*/ 4222797 h 4254341"/>
              <a:gd name="connsiteX18-217" fmla="*/ 2764006 w 4101062"/>
              <a:gd name="connsiteY18-218" fmla="*/ 3981059 h 4254341"/>
              <a:gd name="connsiteX19-219" fmla="*/ 2995233 w 4101062"/>
              <a:gd name="connsiteY19-220" fmla="*/ 3949528 h 4254341"/>
              <a:gd name="connsiteX20-221" fmla="*/ 3016254 w 4101062"/>
              <a:gd name="connsiteY20-222" fmla="*/ 3655239 h 4254341"/>
              <a:gd name="connsiteX21-223" fmla="*/ 3194930 w 4101062"/>
              <a:gd name="connsiteY21-224" fmla="*/ 3224315 h 4254341"/>
              <a:gd name="connsiteX22-225" fmla="*/ 3972695 w 4101062"/>
              <a:gd name="connsiteY22-226" fmla="*/ 3045639 h 4254341"/>
              <a:gd name="connsiteX23-227" fmla="*/ 3909633 w 4101062"/>
              <a:gd name="connsiteY23-228" fmla="*/ 1742356 h 4254341"/>
              <a:gd name="connsiteX24-229" fmla="*/ 4046268 w 4101062"/>
              <a:gd name="connsiteY24-230" fmla="*/ 827956 h 4254341"/>
              <a:gd name="connsiteX25-231" fmla="*/ 3962185 w 4101062"/>
              <a:gd name="connsiteY25-232" fmla="*/ 71211 h 4254341"/>
              <a:gd name="connsiteX26-233" fmla="*/ 2574819 w 4101062"/>
              <a:gd name="connsiteY26-234" fmla="*/ 71211 h 4254341"/>
              <a:gd name="connsiteX27-235" fmla="*/ 2270019 w 4101062"/>
              <a:gd name="connsiteY27-236" fmla="*/ 418052 h 4254341"/>
              <a:gd name="connsiteX28-237" fmla="*/ 2238488 w 4101062"/>
              <a:gd name="connsiteY28-238" fmla="*/ 1153777 h 4254341"/>
              <a:gd name="connsiteX29-239" fmla="*/ 1996750 w 4101062"/>
              <a:gd name="connsiteY29-240" fmla="*/ 1290412 h 42543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Lst>
            <a:rect l="l" t="t" r="r" b="b"/>
            <a:pathLst>
              <a:path w="4101062" h="4254341">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w="28575">
            <a:solidFill>
              <a:srgbClr val="002060">
                <a:alpha val="58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1" name="Group 791">
            <a:extLst>
              <a:ext uri="{FF2B5EF4-FFF2-40B4-BE49-F238E27FC236}">
                <a16:creationId xmlns:a16="http://schemas.microsoft.com/office/drawing/2014/main" id="{3A0B9BF0-DC9B-7A42-9075-ADDB89349CA7}"/>
              </a:ext>
            </a:extLst>
          </p:cNvPr>
          <p:cNvGrpSpPr/>
          <p:nvPr/>
        </p:nvGrpSpPr>
        <p:grpSpPr>
          <a:xfrm>
            <a:off x="6826912" y="2216937"/>
            <a:ext cx="648759" cy="444532"/>
            <a:chOff x="7487144" y="3389820"/>
            <a:chExt cx="350807" cy="305517"/>
          </a:xfrm>
        </p:grpSpPr>
        <p:pic>
          <p:nvPicPr>
            <p:cNvPr id="462" name="Picture 1115" descr="antenna_stylized">
              <a:extLst>
                <a:ext uri="{FF2B5EF4-FFF2-40B4-BE49-F238E27FC236}">
                  <a16:creationId xmlns:a16="http://schemas.microsoft.com/office/drawing/2014/main" id="{1303A516-DC94-0143-B7EE-BC0984CFE726}"/>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3" name="Picture 1116" descr="laptop_keyboard">
              <a:extLst>
                <a:ext uri="{FF2B5EF4-FFF2-40B4-BE49-F238E27FC236}">
                  <a16:creationId xmlns:a16="http://schemas.microsoft.com/office/drawing/2014/main" id="{24601FE8-5942-A44C-A8A1-3C588BFB5FE1}"/>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4" name="Freeform 1117">
              <a:extLst>
                <a:ext uri="{FF2B5EF4-FFF2-40B4-BE49-F238E27FC236}">
                  <a16:creationId xmlns:a16="http://schemas.microsoft.com/office/drawing/2014/main" id="{5F887162-4ED7-994C-912C-0340A06CB650}"/>
                </a:ext>
              </a:extLst>
            </p:cNvPr>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en-US" dirty="0"/>
            </a:p>
          </p:txBody>
        </p:sp>
        <p:pic>
          <p:nvPicPr>
            <p:cNvPr id="465" name="Picture 1118" descr="screen">
              <a:extLst>
                <a:ext uri="{FF2B5EF4-FFF2-40B4-BE49-F238E27FC236}">
                  <a16:creationId xmlns:a16="http://schemas.microsoft.com/office/drawing/2014/main" id="{1AC577D4-AA84-6943-AB64-563F3F3E8D86}"/>
                </a:ext>
              </a:extLst>
            </p:cNvPr>
            <p:cNvPicPr>
              <a:picLocks noChangeAspect="1" noChangeArrowheads="1"/>
            </p:cNvPicPr>
            <p:nvPr/>
          </p:nvPicPr>
          <p:blipFill>
            <a:blip r:embed="rId13">
              <a:extLst>
                <a:ext uri="{28A0092B-C50C-407E-A947-70E740481C1C}">
                  <a14:useLocalDpi xmlns:a14="http://schemas.microsoft.com/office/drawing/2010/main"/>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6" name="Freeform 1119">
              <a:extLst>
                <a:ext uri="{FF2B5EF4-FFF2-40B4-BE49-F238E27FC236}">
                  <a16:creationId xmlns:a16="http://schemas.microsoft.com/office/drawing/2014/main" id="{4F167886-25A4-4B46-B631-63A6E128D2E6}"/>
                </a:ext>
              </a:extLst>
            </p:cNvPr>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67" name="Freeform 1120">
              <a:extLst>
                <a:ext uri="{FF2B5EF4-FFF2-40B4-BE49-F238E27FC236}">
                  <a16:creationId xmlns:a16="http://schemas.microsoft.com/office/drawing/2014/main" id="{16C7E50C-C906-2C49-9355-8B3F278916E3}"/>
                </a:ext>
              </a:extLst>
            </p:cNvPr>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68" name="Freeform 1121">
              <a:extLst>
                <a:ext uri="{FF2B5EF4-FFF2-40B4-BE49-F238E27FC236}">
                  <a16:creationId xmlns:a16="http://schemas.microsoft.com/office/drawing/2014/main" id="{7276E17D-1A43-5D4A-A552-DCB5D3AD11EC}"/>
                </a:ext>
              </a:extLst>
            </p:cNvPr>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69" name="Freeform 1122">
              <a:extLst>
                <a:ext uri="{FF2B5EF4-FFF2-40B4-BE49-F238E27FC236}">
                  <a16:creationId xmlns:a16="http://schemas.microsoft.com/office/drawing/2014/main" id="{8CEE4546-21DE-414E-B037-9AAC733B66DB}"/>
                </a:ext>
              </a:extLst>
            </p:cNvPr>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0" name="Freeform 1123">
              <a:extLst>
                <a:ext uri="{FF2B5EF4-FFF2-40B4-BE49-F238E27FC236}">
                  <a16:creationId xmlns:a16="http://schemas.microsoft.com/office/drawing/2014/main" id="{37246F83-45C0-8845-9535-DF8DAFC4B4A1}"/>
                </a:ext>
              </a:extLst>
            </p:cNvPr>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1" name="Freeform 1124">
              <a:extLst>
                <a:ext uri="{FF2B5EF4-FFF2-40B4-BE49-F238E27FC236}">
                  <a16:creationId xmlns:a16="http://schemas.microsoft.com/office/drawing/2014/main" id="{53A19D94-112C-8A44-8DBF-F06093FF155A}"/>
                </a:ext>
              </a:extLst>
            </p:cNvPr>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nvGrpSpPr>
            <p:cNvPr id="472" name="Group 1125">
              <a:extLst>
                <a:ext uri="{FF2B5EF4-FFF2-40B4-BE49-F238E27FC236}">
                  <a16:creationId xmlns:a16="http://schemas.microsoft.com/office/drawing/2014/main" id="{F05BD5CE-BFB1-DD4A-8D6B-9391E8B3B7BD}"/>
                </a:ext>
              </a:extLst>
            </p:cNvPr>
            <p:cNvGrpSpPr/>
            <p:nvPr/>
          </p:nvGrpSpPr>
          <p:grpSpPr bwMode="auto">
            <a:xfrm>
              <a:off x="7593395" y="3625649"/>
              <a:ext cx="64747" cy="27592"/>
              <a:chOff x="1740" y="2642"/>
              <a:chExt cx="752" cy="327"/>
            </a:xfrm>
          </p:grpSpPr>
          <p:sp>
            <p:nvSpPr>
              <p:cNvPr id="479" name="Freeform 1126">
                <a:extLst>
                  <a:ext uri="{FF2B5EF4-FFF2-40B4-BE49-F238E27FC236}">
                    <a16:creationId xmlns:a16="http://schemas.microsoft.com/office/drawing/2014/main" id="{DB8333F0-2DE0-FA44-950B-7153407C9679}"/>
                  </a:ext>
                </a:extLst>
              </p:cNvPr>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0" name="Freeform 1127">
                <a:extLst>
                  <a:ext uri="{FF2B5EF4-FFF2-40B4-BE49-F238E27FC236}">
                    <a16:creationId xmlns:a16="http://schemas.microsoft.com/office/drawing/2014/main" id="{0CF325B5-28F3-2049-B2B6-E8F1C4AD38B7}"/>
                  </a:ext>
                </a:extLst>
              </p:cNvPr>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1" name="Freeform 1128">
                <a:extLst>
                  <a:ext uri="{FF2B5EF4-FFF2-40B4-BE49-F238E27FC236}">
                    <a16:creationId xmlns:a16="http://schemas.microsoft.com/office/drawing/2014/main" id="{DE6779F8-91CD-3148-AE96-8EDE868AB4A4}"/>
                  </a:ext>
                </a:extLst>
              </p:cNvPr>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2" name="Freeform 1129">
                <a:extLst>
                  <a:ext uri="{FF2B5EF4-FFF2-40B4-BE49-F238E27FC236}">
                    <a16:creationId xmlns:a16="http://schemas.microsoft.com/office/drawing/2014/main" id="{34A50F03-54A7-744B-9166-3B2BFE6CD96E}"/>
                  </a:ext>
                </a:extLst>
              </p:cNvPr>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3" name="Freeform 1130">
                <a:extLst>
                  <a:ext uri="{FF2B5EF4-FFF2-40B4-BE49-F238E27FC236}">
                    <a16:creationId xmlns:a16="http://schemas.microsoft.com/office/drawing/2014/main" id="{BA5F7F7F-2E26-D64D-94AC-E1B458B49D5F}"/>
                  </a:ext>
                </a:extLst>
              </p:cNvPr>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84" name="Freeform 1131">
                <a:extLst>
                  <a:ext uri="{FF2B5EF4-FFF2-40B4-BE49-F238E27FC236}">
                    <a16:creationId xmlns:a16="http://schemas.microsoft.com/office/drawing/2014/main" id="{B3B41C38-7B88-9141-9F68-C04F60F029B5}"/>
                  </a:ext>
                </a:extLst>
              </p:cNvPr>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473" name="Freeform 1132">
              <a:extLst>
                <a:ext uri="{FF2B5EF4-FFF2-40B4-BE49-F238E27FC236}">
                  <a16:creationId xmlns:a16="http://schemas.microsoft.com/office/drawing/2014/main" id="{5A83A09B-0D7D-5048-BD76-6CCC26552DC5}"/>
                </a:ext>
              </a:extLst>
            </p:cNvPr>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4" name="Freeform 1133">
              <a:extLst>
                <a:ext uri="{FF2B5EF4-FFF2-40B4-BE49-F238E27FC236}">
                  <a16:creationId xmlns:a16="http://schemas.microsoft.com/office/drawing/2014/main" id="{A5FDF895-BA5E-B544-8E40-80FCA9B326FB}"/>
                </a:ext>
              </a:extLst>
            </p:cNvPr>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5" name="Freeform 1134">
              <a:extLst>
                <a:ext uri="{FF2B5EF4-FFF2-40B4-BE49-F238E27FC236}">
                  <a16:creationId xmlns:a16="http://schemas.microsoft.com/office/drawing/2014/main" id="{212662DA-D1C4-864F-8D33-7B650874875B}"/>
                </a:ext>
              </a:extLst>
            </p:cNvPr>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6" name="Freeform 1135">
              <a:extLst>
                <a:ext uri="{FF2B5EF4-FFF2-40B4-BE49-F238E27FC236}">
                  <a16:creationId xmlns:a16="http://schemas.microsoft.com/office/drawing/2014/main" id="{FE5ECA6C-C383-9B4D-8564-44D3507F58C6}"/>
                </a:ext>
              </a:extLst>
            </p:cNvPr>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7" name="Freeform 1136">
              <a:extLst>
                <a:ext uri="{FF2B5EF4-FFF2-40B4-BE49-F238E27FC236}">
                  <a16:creationId xmlns:a16="http://schemas.microsoft.com/office/drawing/2014/main" id="{E8C1549F-9A55-A441-8804-B576C83D3759}"/>
                </a:ext>
              </a:extLst>
            </p:cNvPr>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sp>
          <p:nvSpPr>
            <p:cNvPr id="478" name="Freeform 1137">
              <a:extLst>
                <a:ext uri="{FF2B5EF4-FFF2-40B4-BE49-F238E27FC236}">
                  <a16:creationId xmlns:a16="http://schemas.microsoft.com/office/drawing/2014/main" id="{F52A2933-60C2-2344-945D-32EA3F75C463}"/>
                </a:ext>
              </a:extLst>
            </p:cNvPr>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p>
          </p:txBody>
        </p:sp>
      </p:gr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4" y="1418897"/>
            <a:ext cx="5799704" cy="5302578"/>
          </a:xfrm>
        </p:spPr>
        <p:txBody>
          <a:bodyPr anchor="t" anchorCtr="0">
            <a:normAutofit fontScale="92500" lnSpcReduction="20000"/>
          </a:bodyPr>
          <a:lstStyle/>
          <a:p>
            <a:pPr>
              <a:lnSpc>
                <a:spcPct val="140000"/>
              </a:lnSpc>
            </a:pPr>
            <a:r>
              <a:rPr lang="zh-CN" altLang="en-US" dirty="0">
                <a:solidFill>
                  <a:srgbClr val="C00000"/>
                </a:solidFill>
              </a:rPr>
              <a:t>网络边缘</a:t>
            </a:r>
            <a:endParaRPr lang="en-US" altLang="zh-CN" dirty="0">
              <a:solidFill>
                <a:srgbClr val="C00000"/>
              </a:solidFill>
            </a:endParaRPr>
          </a:p>
          <a:p>
            <a:pPr lvl="1">
              <a:lnSpc>
                <a:spcPct val="140000"/>
              </a:lnSpc>
            </a:pPr>
            <a:r>
              <a:rPr lang="zh-CN" altLang="en-US" dirty="0">
                <a:sym typeface="+mn-ea"/>
              </a:rPr>
              <a:t>端系统：</a:t>
            </a:r>
            <a:r>
              <a:rPr lang="zh-CN" altLang="en-US" dirty="0"/>
              <a:t>位于互联网边缘与互联网相连的计算机和其他设备</a:t>
            </a:r>
          </a:p>
          <a:p>
            <a:pPr lvl="1">
              <a:lnSpc>
                <a:spcPct val="140000"/>
              </a:lnSpc>
            </a:pPr>
            <a:r>
              <a:rPr lang="zh-CN" altLang="en-US" dirty="0">
                <a:sym typeface="+mn-ea"/>
              </a:rPr>
              <a:t>端系统由各类主机</a:t>
            </a:r>
            <a:r>
              <a:rPr lang="en-US" altLang="zh-CN" dirty="0">
                <a:sym typeface="+mn-ea"/>
              </a:rPr>
              <a:t>(host)</a:t>
            </a:r>
            <a:r>
              <a:rPr lang="zh-CN" altLang="en-US" dirty="0">
                <a:sym typeface="+mn-ea"/>
              </a:rPr>
              <a:t>构成：</a:t>
            </a:r>
            <a:br>
              <a:rPr lang="en-US" altLang="zh-CN" dirty="0">
                <a:sym typeface="+mn-ea"/>
              </a:rPr>
            </a:br>
            <a:r>
              <a:rPr lang="zh-CN" altLang="en-US" dirty="0"/>
              <a:t>桌面计算机、移动计算机、服务器、其他智能终端设备</a:t>
            </a:r>
            <a:endParaRPr lang="en-US" altLang="zh-CN" dirty="0"/>
          </a:p>
          <a:p>
            <a:pPr>
              <a:lnSpc>
                <a:spcPct val="140000"/>
              </a:lnSpc>
            </a:pPr>
            <a:r>
              <a:rPr lang="zh-CN" altLang="en-US" dirty="0">
                <a:solidFill>
                  <a:srgbClr val="C00000"/>
                </a:solidFill>
              </a:rPr>
              <a:t>网络核心</a:t>
            </a:r>
          </a:p>
          <a:p>
            <a:pPr lvl="1">
              <a:lnSpc>
                <a:spcPct val="140000"/>
              </a:lnSpc>
            </a:pPr>
            <a:r>
              <a:rPr lang="zh-CN" altLang="en-US" dirty="0"/>
              <a:t>由互联端系统的分组交换设备和通信链路构成的网状网络</a:t>
            </a:r>
          </a:p>
          <a:p>
            <a:pPr lvl="2">
              <a:lnSpc>
                <a:spcPct val="140000"/>
              </a:lnSpc>
            </a:pPr>
            <a:r>
              <a:rPr lang="zh-CN" altLang="en-US" sz="2100" dirty="0"/>
              <a:t>分组交换（     路由器、     链路层交换机）</a:t>
            </a:r>
          </a:p>
          <a:p>
            <a:pPr lvl="2">
              <a:lnSpc>
                <a:spcPct val="140000"/>
              </a:lnSpc>
            </a:pPr>
            <a:r>
              <a:rPr lang="zh-CN" altLang="en-US" sz="2100" dirty="0"/>
              <a:t>通信链路</a:t>
            </a:r>
            <a:r>
              <a:rPr lang="en-US" altLang="zh-CN" sz="2100" dirty="0"/>
              <a:t>(</a:t>
            </a:r>
            <a:r>
              <a:rPr lang="zh-CN" altLang="en-US" sz="2100" dirty="0"/>
              <a:t>光纤、铜缆、无线电、激光链路</a:t>
            </a:r>
            <a:r>
              <a:rPr lang="en-US" altLang="zh-CN" sz="2100" dirty="0"/>
              <a:t>)</a:t>
            </a:r>
            <a:endParaRPr lang="zh-CN" altLang="en-US" sz="2100" dirty="0"/>
          </a:p>
        </p:txBody>
      </p:sp>
      <p:cxnSp>
        <p:nvCxnSpPr>
          <p:cNvPr id="487" name="Straight Connector 563">
            <a:extLst>
              <a:ext uri="{FF2B5EF4-FFF2-40B4-BE49-F238E27FC236}">
                <a16:creationId xmlns:a16="http://schemas.microsoft.com/office/drawing/2014/main" id="{405EB311-9966-0842-8E39-73ECD62AB333}"/>
              </a:ext>
            </a:extLst>
          </p:cNvPr>
          <p:cNvCxnSpPr>
            <a:cxnSpLocks/>
            <a:endCxn id="90" idx="0"/>
          </p:cNvCxnSpPr>
          <p:nvPr/>
        </p:nvCxnSpPr>
        <p:spPr>
          <a:xfrm>
            <a:off x="10167254" y="2199942"/>
            <a:ext cx="477617" cy="286992"/>
          </a:xfrm>
          <a:prstGeom prst="line">
            <a:avLst/>
          </a:prstGeom>
          <a:ln w="38100">
            <a:solidFill>
              <a:srgbClr val="C00000"/>
            </a:solidFill>
          </a:ln>
          <a:effectLst/>
        </p:spPr>
        <p:style>
          <a:lnRef idx="2">
            <a:schemeClr val="accent1"/>
          </a:lnRef>
          <a:fillRef idx="0">
            <a:schemeClr val="accent1"/>
          </a:fillRef>
          <a:effectRef idx="1">
            <a:schemeClr val="accent1"/>
          </a:effectRef>
          <a:fontRef idx="minor">
            <a:schemeClr val="tx1"/>
          </a:fontRef>
        </p:style>
      </p:cxnSp>
      <p:pic>
        <p:nvPicPr>
          <p:cNvPr id="5" name="图片 4">
            <a:extLst>
              <a:ext uri="{FF2B5EF4-FFF2-40B4-BE49-F238E27FC236}">
                <a16:creationId xmlns:a16="http://schemas.microsoft.com/office/drawing/2014/main" id="{4B90FA13-D081-3941-9763-206A4FD2C6C6}"/>
              </a:ext>
            </a:extLst>
          </p:cNvPr>
          <p:cNvPicPr>
            <a:picLocks noChangeAspect="1"/>
          </p:cNvPicPr>
          <p:nvPr/>
        </p:nvPicPr>
        <p:blipFill>
          <a:blip r:embed="rId28"/>
          <a:stretch>
            <a:fillRect/>
          </a:stretch>
        </p:blipFill>
        <p:spPr>
          <a:xfrm>
            <a:off x="3149957" y="5673451"/>
            <a:ext cx="367891" cy="256409"/>
          </a:xfrm>
          <a:prstGeom prst="rect">
            <a:avLst/>
          </a:prstGeom>
        </p:spPr>
      </p:pic>
      <p:pic>
        <p:nvPicPr>
          <p:cNvPr id="8" name="图片 7" descr="卡通人物&#10;&#10;描述已自动生成">
            <a:extLst>
              <a:ext uri="{FF2B5EF4-FFF2-40B4-BE49-F238E27FC236}">
                <a16:creationId xmlns:a16="http://schemas.microsoft.com/office/drawing/2014/main" id="{346F5045-8E1C-6D43-A8C7-45DAEB856260}"/>
              </a:ext>
            </a:extLst>
          </p:cNvPr>
          <p:cNvPicPr>
            <a:picLocks noChangeAspect="1"/>
          </p:cNvPicPr>
          <p:nvPr/>
        </p:nvPicPr>
        <p:blipFill>
          <a:blip r:embed="rId29"/>
          <a:stretch>
            <a:fillRect/>
          </a:stretch>
        </p:blipFill>
        <p:spPr>
          <a:xfrm>
            <a:off x="4471229" y="5612360"/>
            <a:ext cx="381000" cy="317500"/>
          </a:xfrm>
          <a:prstGeom prst="rect">
            <a:avLst/>
          </a:prstGeom>
        </p:spPr>
      </p:pic>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3262432" cy="338554"/>
          </a:xfrm>
          <a:prstGeom prst="rect">
            <a:avLst/>
          </a:prstGeom>
        </p:spPr>
        <p:txBody>
          <a:bodyPr wrap="none">
            <a:spAutoFit/>
          </a:bodyPr>
          <a:lstStyle/>
          <a:p>
            <a:r>
              <a:rPr lang="zh-CN" altLang="en-US" sz="1600" dirty="0">
                <a:solidFill>
                  <a:schemeClr val="bg1">
                    <a:lumMod val="65000"/>
                  </a:schemeClr>
                </a:solidFill>
                <a:latin typeface="Microsoft YaHei" panose="020B0503020204020204" pitchFamily="34" charset="-122"/>
                <a:ea typeface="Microsoft YaHei" panose="020B0503020204020204" pitchFamily="34" charset="-122"/>
              </a:rPr>
              <a:t>引自：</a:t>
            </a:r>
            <a:r>
              <a:rPr lang="en-US" altLang="zh-CN" sz="1600" dirty="0">
                <a:solidFill>
                  <a:schemeClr val="bg1">
                    <a:lumMod val="65000"/>
                  </a:schemeClr>
                </a:solidFill>
                <a:latin typeface="Microsoft YaHei" panose="020B0503020204020204" pitchFamily="34" charset="-122"/>
                <a:ea typeface="Microsoft YaHei" panose="020B0503020204020204" pitchFamily="34" charset="-122"/>
              </a:rPr>
              <a:t>《</a:t>
            </a:r>
            <a:r>
              <a:rPr lang="zh-CN" altLang="en-US" sz="1600" dirty="0">
                <a:solidFill>
                  <a:schemeClr val="bg1">
                    <a:lumMod val="65000"/>
                  </a:schemeClr>
                </a:solidFill>
                <a:latin typeface="Microsoft YaHei" panose="020B0503020204020204" pitchFamily="34" charset="-122"/>
                <a:ea typeface="Microsoft YaHei" panose="020B0503020204020204" pitchFamily="34" charset="-122"/>
              </a:rPr>
              <a:t>计算机网络</a:t>
            </a:r>
            <a:r>
              <a:rPr lang="en-US" altLang="zh-CN" sz="1600" dirty="0">
                <a:solidFill>
                  <a:schemeClr val="bg1">
                    <a:lumMod val="65000"/>
                  </a:schemeClr>
                </a:solidFill>
                <a:latin typeface="Microsoft YaHei" panose="020B0503020204020204" pitchFamily="34" charset="-122"/>
                <a:ea typeface="Microsoft YaHei" panose="020B0503020204020204" pitchFamily="34" charset="-122"/>
              </a:rPr>
              <a:t>》</a:t>
            </a:r>
            <a:r>
              <a:rPr lang="zh-CN" altLang="en-US" sz="1600" dirty="0">
                <a:solidFill>
                  <a:schemeClr val="bg1">
                    <a:lumMod val="65000"/>
                  </a:schemeClr>
                </a:solidFill>
                <a:latin typeface="Microsoft YaHei" panose="020B0503020204020204" pitchFamily="34" charset="-122"/>
                <a:ea typeface="Microsoft YaHei" panose="020B0503020204020204" pitchFamily="34" charset="-122"/>
              </a:rPr>
              <a:t>，徐敬东等</a:t>
            </a:r>
            <a:endParaRPr lang="zh-CN" altLang="en-US" sz="1600" dirty="0">
              <a:solidFill>
                <a:schemeClr val="bg1">
                  <a:lumMod val="65000"/>
                </a:scheme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1.3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spTree>
    <p:extLst>
      <p:ext uri="{BB962C8B-B14F-4D97-AF65-F5344CB8AC3E}">
        <p14:creationId xmlns:p14="http://schemas.microsoft.com/office/powerpoint/2010/main" val="13858096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网络边缘</a:t>
            </a:r>
          </a:p>
        </p:txBody>
      </p:sp>
      <p:sp>
        <p:nvSpPr>
          <p:cNvPr id="6" name="内容占位符 5">
            <a:extLst>
              <a:ext uri="{FF2B5EF4-FFF2-40B4-BE49-F238E27FC236}">
                <a16:creationId xmlns:a16="http://schemas.microsoft.com/office/drawing/2014/main" id="{BFD77E4B-6281-B548-8D66-743471D942F1}"/>
              </a:ext>
            </a:extLst>
          </p:cNvPr>
          <p:cNvSpPr>
            <a:spLocks noGrp="1"/>
          </p:cNvSpPr>
          <p:nvPr>
            <p:ph idx="1"/>
          </p:nvPr>
        </p:nvSpPr>
        <p:spPr>
          <a:xfrm>
            <a:off x="862810" y="1478147"/>
            <a:ext cx="5854736" cy="4586694"/>
          </a:xfrm>
        </p:spPr>
        <p:txBody>
          <a:bodyPr>
            <a:normAutofit/>
          </a:bodyPr>
          <a:lstStyle/>
          <a:p>
            <a:pPr>
              <a:lnSpc>
                <a:spcPct val="130000"/>
              </a:lnSpc>
            </a:pPr>
            <a:r>
              <a:rPr lang="zh-CN" altLang="en-US" dirty="0"/>
              <a:t>主机</a:t>
            </a:r>
            <a:r>
              <a:rPr lang="en-US" altLang="zh-CN" dirty="0"/>
              <a:t>Host</a:t>
            </a:r>
            <a:endParaRPr lang="zh-CN" altLang="en-US" dirty="0"/>
          </a:p>
          <a:p>
            <a:pPr lvl="1">
              <a:lnSpc>
                <a:spcPct val="130000"/>
              </a:lnSpc>
            </a:pPr>
            <a:r>
              <a:rPr lang="zh-CN" altLang="en-US" dirty="0"/>
              <a:t>客户端：便携机、智能手机、平板电脑，智能手环等各类智能终端</a:t>
            </a:r>
            <a:endParaRPr lang="en-US" altLang="zh-CN" dirty="0"/>
          </a:p>
          <a:p>
            <a:pPr lvl="1">
              <a:lnSpc>
                <a:spcPct val="130000"/>
              </a:lnSpc>
            </a:pPr>
            <a:r>
              <a:rPr lang="zh-CN" altLang="en-US" dirty="0"/>
              <a:t>服务器（服务器通常位于数据中心）</a:t>
            </a:r>
          </a:p>
          <a:p>
            <a:pPr>
              <a:lnSpc>
                <a:spcPct val="130000"/>
              </a:lnSpc>
              <a:buFont typeface="Wingdings" panose="05000000000000000000" charset="0"/>
              <a:buChar char="Ø"/>
            </a:pPr>
            <a:r>
              <a:rPr lang="zh-CN" altLang="en-US" dirty="0">
                <a:sym typeface="+mn-ea"/>
              </a:rPr>
              <a:t>主机的功能</a:t>
            </a:r>
            <a:endParaRPr lang="zh-CN" altLang="en-US" dirty="0"/>
          </a:p>
          <a:p>
            <a:pPr lvl="1">
              <a:lnSpc>
                <a:spcPct val="130000"/>
              </a:lnSpc>
            </a:pPr>
            <a:r>
              <a:rPr lang="zh-CN" altLang="en-US" dirty="0">
                <a:sym typeface="+mn-ea"/>
              </a:rPr>
              <a:t>容纳（即运行）应用程序</a:t>
            </a:r>
            <a:endParaRPr lang="en-US" altLang="zh-CN" dirty="0">
              <a:sym typeface="+mn-ea"/>
            </a:endParaRPr>
          </a:p>
          <a:p>
            <a:pPr lvl="1">
              <a:lnSpc>
                <a:spcPct val="130000"/>
              </a:lnSpc>
            </a:pPr>
            <a:r>
              <a:rPr lang="zh-CN" altLang="en-US" dirty="0">
                <a:sym typeface="+mn-ea"/>
              </a:rPr>
              <a:t>产生信息并向接入网发送数据</a:t>
            </a:r>
            <a:endParaRPr lang="en-US" altLang="zh-CN" dirty="0">
              <a:sym typeface="+mn-ea"/>
            </a:endParaRPr>
          </a:p>
          <a:p>
            <a:pPr lvl="1">
              <a:lnSpc>
                <a:spcPct val="130000"/>
              </a:lnSpc>
            </a:pPr>
            <a:r>
              <a:rPr lang="zh-CN" altLang="en-US" dirty="0"/>
              <a:t>从网络接收数据并提供给应用程序</a:t>
            </a:r>
          </a:p>
          <a:p>
            <a:endParaRPr lang="zh-CN" altLang="en-US" dirty="0"/>
          </a:p>
        </p:txBody>
      </p:sp>
      <p:grpSp>
        <p:nvGrpSpPr>
          <p:cNvPr id="653" name="组合 652">
            <a:extLst>
              <a:ext uri="{FF2B5EF4-FFF2-40B4-BE49-F238E27FC236}">
                <a16:creationId xmlns:a16="http://schemas.microsoft.com/office/drawing/2014/main" id="{3AA3568B-8DE8-F54B-9BBF-9758DC6A5284}"/>
              </a:ext>
            </a:extLst>
          </p:cNvPr>
          <p:cNvGrpSpPr/>
          <p:nvPr/>
        </p:nvGrpSpPr>
        <p:grpSpPr>
          <a:xfrm>
            <a:off x="6949442" y="1357016"/>
            <a:ext cx="4953402" cy="4798764"/>
            <a:chOff x="7543553" y="1481714"/>
            <a:chExt cx="4304454" cy="4798764"/>
          </a:xfrm>
        </p:grpSpPr>
        <p:pic>
          <p:nvPicPr>
            <p:cNvPr id="657" name="图片 656" descr="图示, 工程绘图&#10;&#10;描述已自动生成">
              <a:extLst>
                <a:ext uri="{FF2B5EF4-FFF2-40B4-BE49-F238E27FC236}">
                  <a16:creationId xmlns:a16="http://schemas.microsoft.com/office/drawing/2014/main" id="{27FBA7EB-946E-444E-BB19-6453DF44CDBA}"/>
                </a:ext>
              </a:extLst>
            </p:cNvPr>
            <p:cNvPicPr>
              <a:picLocks noChangeAspect="1"/>
            </p:cNvPicPr>
            <p:nvPr/>
          </p:nvPicPr>
          <p:blipFill>
            <a:blip r:embed="rId2"/>
            <a:stretch>
              <a:fillRect/>
            </a:stretch>
          </p:blipFill>
          <p:spPr>
            <a:xfrm>
              <a:off x="7543553" y="1481714"/>
              <a:ext cx="4161405" cy="4798764"/>
            </a:xfrm>
            <a:prstGeom prst="rect">
              <a:avLst/>
            </a:prstGeom>
          </p:spPr>
        </p:pic>
        <p:sp>
          <p:nvSpPr>
            <p:cNvPr id="658" name="Rectangle 8">
              <a:extLst>
                <a:ext uri="{FF2B5EF4-FFF2-40B4-BE49-F238E27FC236}">
                  <a16:creationId xmlns:a16="http://schemas.microsoft.com/office/drawing/2014/main" id="{3004F0E4-5DEE-1641-B616-4EA0CDE45BCD}"/>
                </a:ext>
              </a:extLst>
            </p:cNvPr>
            <p:cNvSpPr/>
            <p:nvPr/>
          </p:nvSpPr>
          <p:spPr>
            <a:xfrm>
              <a:off x="9604200" y="1734285"/>
              <a:ext cx="1904507" cy="157988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3" name="Rectangle 8">
              <a:extLst>
                <a:ext uri="{FF2B5EF4-FFF2-40B4-BE49-F238E27FC236}">
                  <a16:creationId xmlns:a16="http://schemas.microsoft.com/office/drawing/2014/main" id="{E7DECDA0-7C7C-9D4C-BCCC-10271AE7D631}"/>
                </a:ext>
              </a:extLst>
            </p:cNvPr>
            <p:cNvSpPr/>
            <p:nvPr/>
          </p:nvSpPr>
          <p:spPr>
            <a:xfrm>
              <a:off x="8916963" y="3307194"/>
              <a:ext cx="1904507" cy="1281586"/>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5" name="椭圆 664">
              <a:extLst>
                <a:ext uri="{FF2B5EF4-FFF2-40B4-BE49-F238E27FC236}">
                  <a16:creationId xmlns:a16="http://schemas.microsoft.com/office/drawing/2014/main" id="{40D806F8-CEAF-914E-9014-D7B885DAC28C}"/>
                </a:ext>
              </a:extLst>
            </p:cNvPr>
            <p:cNvSpPr/>
            <p:nvPr/>
          </p:nvSpPr>
          <p:spPr>
            <a:xfrm>
              <a:off x="7819407" y="1876057"/>
              <a:ext cx="552184" cy="964087"/>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4" name="椭圆 693">
              <a:extLst>
                <a:ext uri="{FF2B5EF4-FFF2-40B4-BE49-F238E27FC236}">
                  <a16:creationId xmlns:a16="http://schemas.microsoft.com/office/drawing/2014/main" id="{D0347B3F-8977-C44A-A468-9655EAE8B7DB}"/>
                </a:ext>
              </a:extLst>
            </p:cNvPr>
            <p:cNvSpPr/>
            <p:nvPr/>
          </p:nvSpPr>
          <p:spPr>
            <a:xfrm>
              <a:off x="7751007" y="3347293"/>
              <a:ext cx="957438" cy="46415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0" name="椭圆 739">
              <a:extLst>
                <a:ext uri="{FF2B5EF4-FFF2-40B4-BE49-F238E27FC236}">
                  <a16:creationId xmlns:a16="http://schemas.microsoft.com/office/drawing/2014/main" id="{A7F431F1-D17C-A34F-94CA-BCF0C3CC3823}"/>
                </a:ext>
              </a:extLst>
            </p:cNvPr>
            <p:cNvSpPr/>
            <p:nvPr/>
          </p:nvSpPr>
          <p:spPr>
            <a:xfrm>
              <a:off x="11107569" y="4223655"/>
              <a:ext cx="692755"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5" name="椭圆 784">
              <a:extLst>
                <a:ext uri="{FF2B5EF4-FFF2-40B4-BE49-F238E27FC236}">
                  <a16:creationId xmlns:a16="http://schemas.microsoft.com/office/drawing/2014/main" id="{BC174DCC-5F47-9048-9807-233AA8F30602}"/>
                </a:ext>
              </a:extLst>
            </p:cNvPr>
            <p:cNvSpPr/>
            <p:nvPr/>
          </p:nvSpPr>
          <p:spPr>
            <a:xfrm>
              <a:off x="11026061" y="3479547"/>
              <a:ext cx="821946"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6" name="椭圆 785">
              <a:extLst>
                <a:ext uri="{FF2B5EF4-FFF2-40B4-BE49-F238E27FC236}">
                  <a16:creationId xmlns:a16="http://schemas.microsoft.com/office/drawing/2014/main" id="{53588E6B-C47F-D64D-AAE6-138B61795056}"/>
                </a:ext>
              </a:extLst>
            </p:cNvPr>
            <p:cNvSpPr/>
            <p:nvPr/>
          </p:nvSpPr>
          <p:spPr>
            <a:xfrm>
              <a:off x="8084128" y="5282687"/>
              <a:ext cx="1038737" cy="54060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7" name="椭圆 786">
              <a:extLst>
                <a:ext uri="{FF2B5EF4-FFF2-40B4-BE49-F238E27FC236}">
                  <a16:creationId xmlns:a16="http://schemas.microsoft.com/office/drawing/2014/main" id="{8090EB15-DE48-4A47-A261-B9B3F2367F0D}"/>
                </a:ext>
              </a:extLst>
            </p:cNvPr>
            <p:cNvSpPr/>
            <p:nvPr/>
          </p:nvSpPr>
          <p:spPr>
            <a:xfrm>
              <a:off x="9949779" y="5329434"/>
              <a:ext cx="928264" cy="60137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 name="灯片编号占位符 2">
            <a:extLst>
              <a:ext uri="{FF2B5EF4-FFF2-40B4-BE49-F238E27FC236}">
                <a16:creationId xmlns:a16="http://schemas.microsoft.com/office/drawing/2014/main" id="{37ABA66C-0063-D84B-993F-730BDEEFF277}"/>
              </a:ext>
            </a:extLst>
          </p:cNvPr>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16" name="文本框 15">
            <a:extLst>
              <a:ext uri="{FF2B5EF4-FFF2-40B4-BE49-F238E27FC236}">
                <a16:creationId xmlns:a16="http://schemas.microsoft.com/office/drawing/2014/main" id="{28CE5D87-B9BE-4F4C-A44A-68FEBDB6AACB}"/>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1.3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p>
        </p:txBody>
      </p:sp>
      <p:sp>
        <p:nvSpPr>
          <p:cNvPr id="17" name="椭圆 16">
            <a:extLst>
              <a:ext uri="{FF2B5EF4-FFF2-40B4-BE49-F238E27FC236}">
                <a16:creationId xmlns:a16="http://schemas.microsoft.com/office/drawing/2014/main" id="{BC1ABDFE-B9FE-864D-8B7B-FCABBC520F50}"/>
              </a:ext>
            </a:extLst>
          </p:cNvPr>
          <p:cNvSpPr/>
          <p:nvPr/>
        </p:nvSpPr>
        <p:spPr>
          <a:xfrm>
            <a:off x="8854820" y="5589597"/>
            <a:ext cx="1068211" cy="60137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CB198D50-7A56-AB4D-936D-2A03ED273F0C}"/>
              </a:ext>
            </a:extLst>
          </p:cNvPr>
          <p:cNvSpPr/>
          <p:nvPr/>
        </p:nvSpPr>
        <p:spPr>
          <a:xfrm>
            <a:off x="8449138" y="1751358"/>
            <a:ext cx="635432" cy="964087"/>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8442960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54331"/>
            <a:ext cx="8220812" cy="879086"/>
          </a:xfrm>
        </p:spPr>
        <p:txBody>
          <a:bodyPr>
            <a:normAutofit/>
          </a:bodyPr>
          <a:lstStyle/>
          <a:p>
            <a:r>
              <a:rPr lang="zh-CN" altLang="en-US" dirty="0">
                <a:sym typeface="+mn-ea"/>
              </a:rPr>
              <a:t>网络边缘设备</a:t>
            </a:r>
            <a:endParaRPr lang="zh-CN" altLang="en-US" dirty="0"/>
          </a:p>
        </p:txBody>
      </p:sp>
      <p:sp>
        <p:nvSpPr>
          <p:cNvPr id="3" name="内容占位符 2"/>
          <p:cNvSpPr txBox="1">
            <a:spLocks noGrp="1"/>
          </p:cNvSpPr>
          <p:nvPr>
            <p:ph idx="1"/>
          </p:nvPr>
        </p:nvSpPr>
        <p:spPr>
          <a:xfrm>
            <a:off x="935125" y="1564680"/>
            <a:ext cx="10515600" cy="523220"/>
          </a:xfrm>
          <a:noFill/>
        </p:spPr>
        <p:txBody>
          <a:bodyPr wrap="square" rtlCol="0">
            <a:spAutoFit/>
          </a:bodyPr>
          <a:lstStyle/>
          <a:p>
            <a:pPr marL="0" lvl="0" indent="0" algn="ctr">
              <a:buClrTx/>
              <a:buSzTx/>
              <a:buNone/>
            </a:pPr>
            <a:r>
              <a:rPr lang="en-US" altLang="en-US" dirty="0" err="1">
                <a:cs typeface="Arial" panose="020B0604020202020204" pitchFamily="34" charset="0"/>
                <a:sym typeface="+mn-ea"/>
              </a:rPr>
              <a:t>各式各样的</a:t>
            </a:r>
            <a:r>
              <a:rPr lang="zh-CN" altLang="en-US" dirty="0">
                <a:cs typeface="Arial" panose="020B0604020202020204" pitchFamily="34" charset="0"/>
                <a:sym typeface="+mn-ea"/>
              </a:rPr>
              <a:t>“主机”（</a:t>
            </a:r>
            <a:r>
              <a:rPr lang="en-US" altLang="zh-CN" dirty="0">
                <a:cs typeface="Arial" panose="020B0604020202020204" pitchFamily="34" charset="0"/>
                <a:sym typeface="+mn-ea"/>
              </a:rPr>
              <a:t>Host</a:t>
            </a:r>
            <a:r>
              <a:rPr lang="zh-CN" altLang="en-US" dirty="0">
                <a:cs typeface="Arial" panose="020B0604020202020204" pitchFamily="34" charset="0"/>
                <a:sym typeface="+mn-ea"/>
              </a:rPr>
              <a:t>）</a:t>
            </a:r>
            <a:endParaRPr lang="en-US" altLang="en-US" dirty="0">
              <a:cs typeface="Arial" panose="020B0604020202020204" pitchFamily="34" charset="0"/>
              <a:sym typeface="+mn-ea"/>
            </a:endParaRPr>
          </a:p>
        </p:txBody>
      </p:sp>
      <p:pic>
        <p:nvPicPr>
          <p:cNvPr id="59" name="Picture 3" descr="toaste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508363" y="4206953"/>
            <a:ext cx="1601102" cy="1468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8"/>
          <p:cNvSpPr txBox="1">
            <a:spLocks noChangeArrowheads="1"/>
          </p:cNvSpPr>
          <p:nvPr/>
        </p:nvSpPr>
        <p:spPr bwMode="auto">
          <a:xfrm>
            <a:off x="8654056" y="3448039"/>
            <a:ext cx="1473389" cy="398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2000" dirty="0">
                <a:latin typeface="微软雅黑" panose="020B0503020204020204" pitchFamily="34" charset="-122"/>
                <a:ea typeface="微软雅黑" panose="020B0503020204020204" pitchFamily="34" charset="-122"/>
              </a:rPr>
              <a:t>安全摄像头</a:t>
            </a:r>
            <a:endParaRPr lang="en-US" altLang="en-US" sz="1600" dirty="0">
              <a:latin typeface="+mn-lt"/>
            </a:endParaRPr>
          </a:p>
        </p:txBody>
      </p:sp>
      <p:pic>
        <p:nvPicPr>
          <p:cNvPr id="69" name="Picture 21"/>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777473" y="2463433"/>
            <a:ext cx="1074597" cy="989700"/>
          </a:xfrm>
          <a:prstGeom prst="rect">
            <a:avLst/>
          </a:prstGeom>
        </p:spPr>
      </p:pic>
      <p:pic>
        <p:nvPicPr>
          <p:cNvPr id="73" name="Picture 4" descr="whispe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537791" y="2342738"/>
            <a:ext cx="1641058" cy="1231090"/>
          </a:xfrm>
          <a:prstGeom prst="rect">
            <a:avLst/>
          </a:prstGeom>
          <a:noFill/>
          <a:ln>
            <a:noFill/>
          </a:ln>
        </p:spPr>
      </p:pic>
      <p:sp>
        <p:nvSpPr>
          <p:cNvPr id="74" name="Text Box 7"/>
          <p:cNvSpPr txBox="1">
            <a:spLocks noChangeArrowheads="1"/>
          </p:cNvSpPr>
          <p:nvPr/>
        </p:nvSpPr>
        <p:spPr bwMode="auto">
          <a:xfrm>
            <a:off x="2438980" y="3448039"/>
            <a:ext cx="1450804" cy="398780"/>
          </a:xfrm>
          <a:prstGeom prst="rect">
            <a:avLst/>
          </a:prstGeom>
          <a:noFill/>
          <a:ln>
            <a:noFill/>
          </a:ln>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rPr>
              <a:t>IP相框</a:t>
            </a:r>
          </a:p>
        </p:txBody>
      </p:sp>
      <p:graphicFrame>
        <p:nvGraphicFramePr>
          <p:cNvPr id="76" name="Object 14"/>
          <p:cNvGraphicFramePr>
            <a:graphicFrameLocks noChangeAspect="1"/>
          </p:cNvGraphicFramePr>
          <p:nvPr/>
        </p:nvGraphicFramePr>
        <p:xfrm>
          <a:off x="10559802" y="4103404"/>
          <a:ext cx="767792" cy="1675594"/>
        </p:xfrm>
        <a:graphic>
          <a:graphicData uri="http://schemas.openxmlformats.org/presentationml/2006/ole">
            <mc:AlternateContent xmlns:mc="http://schemas.openxmlformats.org/markup-compatibility/2006">
              <mc:Choice xmlns:v="urn:schemas-microsoft-com:vml" Requires="v">
                <p:oleObj spid="_x0000_s1754" r:id="rId7" imgW="1435100" imgH="3873500" progId="">
                  <p:embed/>
                </p:oleObj>
              </mc:Choice>
              <mc:Fallback>
                <p:oleObj r:id="rId7" imgW="1435100" imgH="3873500" progId="">
                  <p:embed/>
                  <p:pic>
                    <p:nvPicPr>
                      <p:cNvPr id="76"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59802" y="4103404"/>
                        <a:ext cx="767792" cy="1675594"/>
                      </a:xfrm>
                      <a:prstGeom prst="rect">
                        <a:avLst/>
                      </a:prstGeom>
                      <a:noFill/>
                      <a:ln>
                        <a:noFill/>
                      </a:ln>
                      <a:effectLst/>
                    </p:spPr>
                  </p:pic>
                </p:oleObj>
              </mc:Fallback>
            </mc:AlternateContent>
          </a:graphicData>
        </a:graphic>
      </p:graphicFrame>
      <p:sp>
        <p:nvSpPr>
          <p:cNvPr id="78" name="Text Box 8"/>
          <p:cNvSpPr txBox="1">
            <a:spLocks noChangeArrowheads="1"/>
          </p:cNvSpPr>
          <p:nvPr/>
        </p:nvSpPr>
        <p:spPr bwMode="auto">
          <a:xfrm>
            <a:off x="10258606" y="5757713"/>
            <a:ext cx="14733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2000" dirty="0" err="1">
                <a:latin typeface="微软雅黑" panose="020B0503020204020204" pitchFamily="34" charset="-122"/>
                <a:ea typeface="微软雅黑" panose="020B0503020204020204" pitchFamily="34" charset="-122"/>
              </a:rPr>
              <a:t>互联网冰箱</a:t>
            </a:r>
            <a:endParaRPr lang="en-US" altLang="en-US" sz="2000" dirty="0">
              <a:latin typeface="微软雅黑" panose="020B0503020204020204" pitchFamily="34" charset="-122"/>
              <a:ea typeface="微软雅黑" panose="020B0503020204020204" pitchFamily="34" charset="-122"/>
            </a:endParaRPr>
          </a:p>
        </p:txBody>
      </p:sp>
      <p:pic>
        <p:nvPicPr>
          <p:cNvPr id="80" name="Picture 23"/>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9022823" y="4363126"/>
            <a:ext cx="804256" cy="1156150"/>
          </a:xfrm>
          <a:prstGeom prst="rect">
            <a:avLst/>
          </a:prstGeom>
          <a:noFill/>
          <a:ln>
            <a:no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10"/>
          <p:cNvSpPr txBox="1">
            <a:spLocks noChangeArrowheads="1"/>
          </p:cNvSpPr>
          <p:nvPr/>
        </p:nvSpPr>
        <p:spPr bwMode="auto">
          <a:xfrm>
            <a:off x="8524141" y="5757713"/>
            <a:ext cx="173321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en-US" altLang="en-US" sz="2000" dirty="0">
                <a:latin typeface="微软雅黑" panose="020B0503020204020204" pitchFamily="34" charset="-122"/>
                <a:ea typeface="微软雅黑" panose="020B0503020204020204" pitchFamily="34" charset="-122"/>
              </a:rPr>
              <a:t>能源监测器</a:t>
            </a:r>
          </a:p>
        </p:txBody>
      </p:sp>
      <p:pic>
        <p:nvPicPr>
          <p:cNvPr id="83" name="Picture 1"/>
          <p:cNvPicPr>
            <a:picLocks noChangeAspect="1"/>
          </p:cNvPicPr>
          <p:nvPr/>
        </p:nvPicPr>
        <p:blipFill>
          <a:blip r:embed="rId10" cstate="print">
            <a:extLst>
              <a:ext uri="{28A0092B-C50C-407E-A947-70E740481C1C}">
                <a14:useLocalDpi xmlns:a14="http://schemas.microsoft.com/office/drawing/2010/main"/>
              </a:ext>
            </a:extLst>
          </a:blip>
          <a:srcRect/>
          <a:stretch>
            <a:fillRect/>
          </a:stretch>
        </p:blipFill>
        <p:spPr bwMode="auto">
          <a:xfrm>
            <a:off x="4476588" y="4268546"/>
            <a:ext cx="1232110" cy="1345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Text Box 8"/>
          <p:cNvSpPr txBox="1">
            <a:spLocks noChangeArrowheads="1"/>
          </p:cNvSpPr>
          <p:nvPr/>
        </p:nvSpPr>
        <p:spPr bwMode="auto">
          <a:xfrm>
            <a:off x="4515849" y="5757713"/>
            <a:ext cx="1305578" cy="40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sym typeface="+mn-ea"/>
              </a:rPr>
              <a:t>感应床垫</a:t>
            </a:r>
          </a:p>
        </p:txBody>
      </p:sp>
      <p:pic>
        <p:nvPicPr>
          <p:cNvPr id="86" name="Picture 23"/>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304422" y="2457600"/>
            <a:ext cx="526028" cy="1001367"/>
          </a:xfrm>
          <a:prstGeom prst="rect">
            <a:avLst/>
          </a:prstGeom>
        </p:spPr>
      </p:pic>
      <p:sp>
        <p:nvSpPr>
          <p:cNvPr id="87" name="Text Box 8"/>
          <p:cNvSpPr txBox="1">
            <a:spLocks noChangeArrowheads="1"/>
          </p:cNvSpPr>
          <p:nvPr/>
        </p:nvSpPr>
        <p:spPr bwMode="auto">
          <a:xfrm>
            <a:off x="964960" y="3448039"/>
            <a:ext cx="12481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智能音箱</a:t>
            </a:r>
          </a:p>
        </p:txBody>
      </p:sp>
      <p:grpSp>
        <p:nvGrpSpPr>
          <p:cNvPr id="90" name="Group 26"/>
          <p:cNvGrpSpPr/>
          <p:nvPr/>
        </p:nvGrpSpPr>
        <p:grpSpPr>
          <a:xfrm>
            <a:off x="6211242" y="2635355"/>
            <a:ext cx="2163652" cy="645857"/>
            <a:chOff x="1382479" y="5420084"/>
            <a:chExt cx="2587556" cy="821190"/>
          </a:xfrm>
          <a:effectLst>
            <a:outerShdw blurRad="50800" dist="38100" dir="8100000" algn="tr" rotWithShape="0">
              <a:prstClr val="black">
                <a:alpha val="40000"/>
              </a:prstClr>
            </a:outerShdw>
          </a:effectLst>
        </p:grpSpPr>
        <p:pic>
          <p:nvPicPr>
            <p:cNvPr id="91" name="Picture 28"/>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bwMode="auto">
            <a:xfrm>
              <a:off x="1382479" y="5420084"/>
              <a:ext cx="1476590" cy="82119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2" name="Picture 29"/>
            <p:cNvPicPr>
              <a:picLocks noChangeAspect="1"/>
            </p:cNvPicPr>
            <p:nvPr/>
          </p:nvPicPr>
          <p:blipFill rotWithShape="1">
            <a:blip r:embed="rId13" cstate="print">
              <a:extLst>
                <a:ext uri="{28A0092B-C50C-407E-A947-70E740481C1C}">
                  <a14:useLocalDpi xmlns:a14="http://schemas.microsoft.com/office/drawing/2010/main"/>
                </a:ext>
              </a:extLst>
            </a:blip>
            <a:srcRect/>
            <a:stretch>
              <a:fillRect/>
            </a:stretch>
          </p:blipFill>
          <p:spPr>
            <a:xfrm>
              <a:off x="2859067" y="5420084"/>
              <a:ext cx="1110968" cy="821190"/>
            </a:xfrm>
            <a:prstGeom prst="rect">
              <a:avLst/>
            </a:prstGeom>
          </p:spPr>
        </p:pic>
      </p:grpSp>
      <p:sp>
        <p:nvSpPr>
          <p:cNvPr id="93" name="Text Box 8"/>
          <p:cNvSpPr txBox="1">
            <a:spLocks noChangeArrowheads="1"/>
          </p:cNvSpPr>
          <p:nvPr/>
        </p:nvSpPr>
        <p:spPr bwMode="auto">
          <a:xfrm>
            <a:off x="6247588" y="3448039"/>
            <a:ext cx="22010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rPr>
              <a:t>起搏器和监护仪</a:t>
            </a:r>
          </a:p>
        </p:txBody>
      </p:sp>
      <p:pic>
        <p:nvPicPr>
          <p:cNvPr id="95" name="Picture 33"/>
          <p:cNvPicPr>
            <a:picLocks noChangeAspect="1"/>
          </p:cNvPicPr>
          <p:nvPr/>
        </p:nvPicPr>
        <p:blipFill>
          <a:blip r:embed="rId14"/>
          <a:stretch>
            <a:fillRect/>
          </a:stretch>
        </p:blipFill>
        <p:spPr>
          <a:xfrm>
            <a:off x="4300929" y="2627697"/>
            <a:ext cx="1696157" cy="661172"/>
          </a:xfrm>
          <a:prstGeom prst="rect">
            <a:avLst/>
          </a:prstGeom>
        </p:spPr>
      </p:pic>
      <p:sp>
        <p:nvSpPr>
          <p:cNvPr id="96" name="Text Box 10"/>
          <p:cNvSpPr txBox="1">
            <a:spLocks noChangeArrowheads="1"/>
          </p:cNvSpPr>
          <p:nvPr/>
        </p:nvSpPr>
        <p:spPr bwMode="auto">
          <a:xfrm>
            <a:off x="4472770" y="3448039"/>
            <a:ext cx="1471992" cy="40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sym typeface="+mn-ea"/>
              </a:rPr>
              <a:t>AR 眼镜</a:t>
            </a:r>
          </a:p>
        </p:txBody>
      </p:sp>
      <p:pic>
        <p:nvPicPr>
          <p:cNvPr id="98" name="Picture 31"/>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998809" y="4378559"/>
            <a:ext cx="1250266" cy="1125284"/>
          </a:xfrm>
          <a:prstGeom prst="rect">
            <a:avLst/>
          </a:prstGeom>
        </p:spPr>
      </p:pic>
      <p:sp>
        <p:nvSpPr>
          <p:cNvPr id="99" name="Text Box 10"/>
          <p:cNvSpPr txBox="1">
            <a:spLocks noChangeArrowheads="1"/>
          </p:cNvSpPr>
          <p:nvPr/>
        </p:nvSpPr>
        <p:spPr bwMode="auto">
          <a:xfrm>
            <a:off x="840991" y="5757713"/>
            <a:ext cx="1496124" cy="398772"/>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40"/>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lvl="0" algn="ctr">
              <a:lnSpc>
                <a:spcPct val="100000"/>
              </a:lnSpc>
              <a:buClrTx/>
              <a:buSzTx/>
              <a:buFontTx/>
              <a:buNone/>
            </a:pPr>
            <a:r>
              <a:rPr lang="en-US" altLang="en-US" sz="2000" dirty="0">
                <a:latin typeface="微软雅黑" panose="020B0503020204020204" pitchFamily="34" charset="-122"/>
                <a:ea typeface="微软雅黑" panose="020B0503020204020204" pitchFamily="34" charset="-122"/>
                <a:sym typeface="+mn-ea"/>
              </a:rPr>
              <a:t>智能手环</a:t>
            </a:r>
          </a:p>
        </p:txBody>
      </p:sp>
      <p:pic>
        <p:nvPicPr>
          <p:cNvPr id="101" name="Picture 53"/>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10395478" y="2507388"/>
            <a:ext cx="1096440" cy="901791"/>
          </a:xfrm>
          <a:prstGeom prst="rect">
            <a:avLst/>
          </a:prstGeom>
        </p:spPr>
      </p:pic>
      <p:pic>
        <p:nvPicPr>
          <p:cNvPr id="103" name="Picture 46"/>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6554541" y="4429714"/>
            <a:ext cx="1647342" cy="1022974"/>
          </a:xfrm>
          <a:prstGeom prst="rect">
            <a:avLst/>
          </a:prstGeom>
        </p:spPr>
      </p:pic>
      <p:sp>
        <p:nvSpPr>
          <p:cNvPr id="104" name="TextBox 49"/>
          <p:cNvSpPr txBox="1"/>
          <p:nvPr/>
        </p:nvSpPr>
        <p:spPr>
          <a:xfrm>
            <a:off x="6733311" y="5757713"/>
            <a:ext cx="1266850" cy="400110"/>
          </a:xfrm>
          <a:prstGeom prst="rect">
            <a:avLst/>
          </a:prstGeom>
          <a:noFill/>
        </p:spPr>
        <p:txBody>
          <a:bodyPr wrap="square" rtlCol="0">
            <a:spAutoFit/>
          </a:bodyPr>
          <a:lstStyle/>
          <a:p>
            <a:pPr algn="ctr">
              <a:buClrTx/>
              <a:buSzTx/>
              <a:buFontTx/>
            </a:pPr>
            <a:r>
              <a:rPr lang="en-US" altLang="en-US" sz="2000" dirty="0" err="1">
                <a:latin typeface="微软雅黑" panose="020B0503020204020204" pitchFamily="34" charset="-122"/>
                <a:ea typeface="微软雅黑" panose="020B0503020204020204" pitchFamily="34" charset="-122"/>
                <a:cs typeface="Arial" panose="020B0604020202020204" pitchFamily="34" charset="0"/>
              </a:rPr>
              <a:t>智能汽车</a:t>
            </a:r>
            <a:endParaRPr lang="en-US" altLang="en-US"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06" name="TextBox 55"/>
          <p:cNvSpPr txBox="1"/>
          <p:nvPr/>
        </p:nvSpPr>
        <p:spPr>
          <a:xfrm>
            <a:off x="10382035" y="3448039"/>
            <a:ext cx="1123326" cy="398748"/>
          </a:xfrm>
          <a:prstGeom prst="rect">
            <a:avLst/>
          </a:prstGeom>
          <a:noFill/>
        </p:spPr>
        <p:txBody>
          <a:bodyPr wrap="square" rtlCol="0">
            <a:spAutoFit/>
          </a:bodyPr>
          <a:lstStyle/>
          <a:p>
            <a:pPr algn="ctr">
              <a:buClrTx/>
              <a:buSzTx/>
              <a:buFontTx/>
            </a:pPr>
            <a:r>
              <a:rPr lang="en-US" altLang="en-US" sz="2000" dirty="0">
                <a:latin typeface="微软雅黑" panose="020B0503020204020204" pitchFamily="34" charset="-122"/>
                <a:ea typeface="微软雅黑" panose="020B0503020204020204" pitchFamily="34" charset="-122"/>
                <a:cs typeface="Arial" panose="020B0604020202020204" pitchFamily="34" charset="0"/>
              </a:rPr>
              <a:t>自行车</a:t>
            </a:r>
          </a:p>
        </p:txBody>
      </p:sp>
      <p:sp>
        <p:nvSpPr>
          <p:cNvPr id="108" name="文本框 107"/>
          <p:cNvSpPr txBox="1"/>
          <p:nvPr/>
        </p:nvSpPr>
        <p:spPr>
          <a:xfrm>
            <a:off x="2438719" y="5757713"/>
            <a:ext cx="1740390" cy="400110"/>
          </a:xfrm>
          <a:prstGeom prst="rect">
            <a:avLst/>
          </a:prstGeom>
          <a:noFill/>
        </p:spPr>
        <p:txBody>
          <a:bodyPr vert="horz" wrap="square" lIns="91440" tIns="45720" rIns="91440" bIns="45720" rtlCol="0">
            <a:spAutoFit/>
          </a:bodyPr>
          <a:lstStyle/>
          <a:p>
            <a:pPr lvl="0" indent="-228600" algn="ctr">
              <a:spcBef>
                <a:spcPts val="600"/>
              </a:spcBef>
              <a:buClrTx/>
              <a:buSzTx/>
              <a:buFontTx/>
            </a:pPr>
            <a:r>
              <a:rPr lang="en-US" altLang="en-US" sz="2000" dirty="0" err="1">
                <a:latin typeface="微软雅黑" panose="020B0503020204020204" pitchFamily="34" charset="-122"/>
                <a:ea typeface="微软雅黑" panose="020B0503020204020204" pitchFamily="34" charset="-122"/>
                <a:cs typeface="Arial" panose="020B0604020202020204" pitchFamily="34" charset="0"/>
                <a:sym typeface="+mn-ea"/>
              </a:rPr>
              <a:t>烤面包机</a:t>
            </a:r>
            <a:endParaRPr lang="en-US" altLang="en-US" sz="2000" dirty="0">
              <a:latin typeface="微软雅黑" panose="020B0503020204020204" pitchFamily="34" charset="-122"/>
              <a:ea typeface="微软雅黑" panose="020B0503020204020204" pitchFamily="34" charset="-122"/>
              <a:cs typeface="Arial" panose="020B0604020202020204" pitchFamily="34" charset="0"/>
              <a:sym typeface="+mn-ea"/>
            </a:endParaRPr>
          </a:p>
        </p:txBody>
      </p:sp>
      <p:sp>
        <p:nvSpPr>
          <p:cNvPr id="5" name="灯片编号占位符 4">
            <a:extLst>
              <a:ext uri="{FF2B5EF4-FFF2-40B4-BE49-F238E27FC236}">
                <a16:creationId xmlns:a16="http://schemas.microsoft.com/office/drawing/2014/main" id="{3ADBF86D-8147-A44B-8F68-9CFDEBA2DFBD}"/>
              </a:ext>
            </a:extLst>
          </p:cNvPr>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
        <p:nvSpPr>
          <p:cNvPr id="33" name="文本框 32">
            <a:extLst>
              <a:ext uri="{FF2B5EF4-FFF2-40B4-BE49-F238E27FC236}">
                <a16:creationId xmlns:a16="http://schemas.microsoft.com/office/drawing/2014/main" id="{B01BD4EB-2B58-9D48-ACA9-E03502A75C0D}"/>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1.3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网络实例：网络边缘</a:t>
            </a:r>
          </a:p>
        </p:txBody>
      </p:sp>
    </p:spTree>
    <p:extLst>
      <p:ext uri="{BB962C8B-B14F-4D97-AF65-F5344CB8AC3E}">
        <p14:creationId xmlns:p14="http://schemas.microsoft.com/office/powerpoint/2010/main" val="33948598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网络核心</a:t>
            </a:r>
          </a:p>
        </p:txBody>
      </p:sp>
      <p:sp>
        <p:nvSpPr>
          <p:cNvPr id="5" name="内容占位符 4"/>
          <p:cNvSpPr>
            <a:spLocks noGrp="1"/>
          </p:cNvSpPr>
          <p:nvPr>
            <p:ph idx="1"/>
          </p:nvPr>
        </p:nvSpPr>
        <p:spPr>
          <a:xfrm>
            <a:off x="704064" y="1485723"/>
            <a:ext cx="6340522" cy="4586605"/>
          </a:xfrm>
        </p:spPr>
        <p:txBody>
          <a:bodyPr>
            <a:normAutofit lnSpcReduction="10000"/>
          </a:bodyPr>
          <a:lstStyle/>
          <a:p>
            <a:pPr marL="412750" indent="-282575">
              <a:lnSpc>
                <a:spcPct val="130000"/>
              </a:lnSpc>
            </a:pPr>
            <a:r>
              <a:rPr lang="zh-CN" altLang="en-US" dirty="0"/>
              <a:t>网络核心</a:t>
            </a:r>
            <a:endParaRPr lang="en-US" altLang="zh-CN" dirty="0"/>
          </a:p>
          <a:p>
            <a:pPr marL="779462" lvl="1" indent="-282575">
              <a:lnSpc>
                <a:spcPct val="130000"/>
              </a:lnSpc>
            </a:pPr>
            <a:r>
              <a:rPr lang="zh-CN" altLang="en-US" dirty="0"/>
              <a:t>目标：将海量的端系统互联起来</a:t>
            </a:r>
            <a:endParaRPr lang="en-US" altLang="zh-CN" dirty="0"/>
          </a:p>
          <a:p>
            <a:pPr marL="779462" lvl="1" indent="-282575">
              <a:lnSpc>
                <a:spcPct val="130000"/>
              </a:lnSpc>
            </a:pPr>
            <a:r>
              <a:rPr lang="zh-CN" altLang="en-US" dirty="0"/>
              <a:t>由各类交换机（路由器）和链路，构成的网状网络</a:t>
            </a:r>
          </a:p>
          <a:p>
            <a:pPr marL="412750" indent="-282575">
              <a:lnSpc>
                <a:spcPct val="130000"/>
              </a:lnSpc>
            </a:pPr>
            <a:r>
              <a:rPr lang="zh-CN" altLang="en-US" dirty="0"/>
              <a:t>分组交换（也称包交换）</a:t>
            </a:r>
            <a:endParaRPr lang="en-US" altLang="zh-CN" dirty="0"/>
          </a:p>
          <a:p>
            <a:pPr marL="930275" lvl="1" indent="-342900">
              <a:lnSpc>
                <a:spcPct val="130000"/>
              </a:lnSpc>
            </a:pPr>
            <a:r>
              <a:rPr lang="zh-CN" altLang="en-US" dirty="0"/>
              <a:t>主机将数据分成分组，发送到网络</a:t>
            </a:r>
            <a:endParaRPr lang="en-US" altLang="zh-CN" dirty="0"/>
          </a:p>
          <a:p>
            <a:pPr marL="930275" lvl="1" indent="-342900">
              <a:lnSpc>
                <a:spcPct val="130000"/>
              </a:lnSpc>
            </a:pPr>
            <a:r>
              <a:rPr lang="zh-CN" altLang="en-US" dirty="0"/>
              <a:t>网络将数据分组从一个路由器转发到下一个路由器，通过从源到目标的路径上的链路，</a:t>
            </a:r>
            <a:r>
              <a:rPr lang="zh-CN" altLang="en-US" dirty="0">
                <a:solidFill>
                  <a:srgbClr val="C00000"/>
                </a:solidFill>
              </a:rPr>
              <a:t>逐跳传输</a:t>
            </a:r>
            <a:r>
              <a:rPr lang="zh-CN" altLang="en-US" dirty="0"/>
              <a:t>抵达目的地</a:t>
            </a:r>
          </a:p>
        </p:txBody>
      </p:sp>
      <p:pic>
        <p:nvPicPr>
          <p:cNvPr id="6" name="图片 5"/>
          <p:cNvPicPr>
            <a:picLocks noChangeAspect="1"/>
          </p:cNvPicPr>
          <p:nvPr/>
        </p:nvPicPr>
        <p:blipFill>
          <a:blip r:embed="rId3"/>
          <a:stretch>
            <a:fillRect/>
          </a:stretch>
        </p:blipFill>
        <p:spPr>
          <a:xfrm>
            <a:off x="7044586" y="1272187"/>
            <a:ext cx="4883785" cy="4516120"/>
          </a:xfrm>
          <a:prstGeom prst="rect">
            <a:avLst/>
          </a:prstGeom>
        </p:spPr>
      </p:pic>
      <p:sp>
        <p:nvSpPr>
          <p:cNvPr id="7" name="Freeform 4"/>
          <p:cNvSpPr/>
          <p:nvPr/>
        </p:nvSpPr>
        <p:spPr>
          <a:xfrm>
            <a:off x="6928485" y="1393372"/>
            <a:ext cx="4770029" cy="5328104"/>
          </a:xfrm>
          <a:custGeom>
            <a:avLst/>
            <a:gdLst>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713187 w 4656083"/>
              <a:gd name="connsiteY6" fmla="*/ 3100551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1" fmla="*/ 0 w 4656083"/>
              <a:gd name="connsiteY0-2" fmla="*/ 0 h 4939862"/>
              <a:gd name="connsiteX1-3" fmla="*/ 0 w 4656083"/>
              <a:gd name="connsiteY1-4" fmla="*/ 0 h 4939862"/>
              <a:gd name="connsiteX2-5" fmla="*/ 94593 w 4656083"/>
              <a:gd name="connsiteY2-6" fmla="*/ 10510 h 4939862"/>
              <a:gd name="connsiteX3-7" fmla="*/ 2375338 w 4656083"/>
              <a:gd name="connsiteY3-8" fmla="*/ 42041 h 4939862"/>
              <a:gd name="connsiteX4-9" fmla="*/ 2375338 w 4656083"/>
              <a:gd name="connsiteY4-10" fmla="*/ 1418896 h 4939862"/>
              <a:gd name="connsiteX5-11" fmla="*/ 1660635 w 4656083"/>
              <a:gd name="connsiteY5-12" fmla="*/ 1923393 h 4939862"/>
              <a:gd name="connsiteX6-13" fmla="*/ 1660635 w 4656083"/>
              <a:gd name="connsiteY6-14" fmla="*/ 2459420 h 4939862"/>
              <a:gd name="connsiteX7-15" fmla="*/ 3079531 w 4656083"/>
              <a:gd name="connsiteY7-16" fmla="*/ 3037489 h 4939862"/>
              <a:gd name="connsiteX8-17" fmla="*/ 3552497 w 4656083"/>
              <a:gd name="connsiteY8-18" fmla="*/ 2858813 h 4939862"/>
              <a:gd name="connsiteX9-19" fmla="*/ 3762704 w 4656083"/>
              <a:gd name="connsiteY9-20" fmla="*/ 2585544 h 4939862"/>
              <a:gd name="connsiteX10-21" fmla="*/ 3825766 w 4656083"/>
              <a:gd name="connsiteY10-22" fmla="*/ 2259724 h 4939862"/>
              <a:gd name="connsiteX11-23" fmla="*/ 3783725 w 4656083"/>
              <a:gd name="connsiteY11-24" fmla="*/ 2060027 h 4939862"/>
              <a:gd name="connsiteX12-25" fmla="*/ 3689131 w 4656083"/>
              <a:gd name="connsiteY12-26" fmla="*/ 1881351 h 4939862"/>
              <a:gd name="connsiteX13-27" fmla="*/ 3447393 w 4656083"/>
              <a:gd name="connsiteY13-28" fmla="*/ 1723696 h 4939862"/>
              <a:gd name="connsiteX14-29" fmla="*/ 4498428 w 4656083"/>
              <a:gd name="connsiteY14-30" fmla="*/ 1587062 h 4939862"/>
              <a:gd name="connsiteX15-31" fmla="*/ 4656083 w 4656083"/>
              <a:gd name="connsiteY15-32" fmla="*/ 2921875 h 4939862"/>
              <a:gd name="connsiteX16-33" fmla="*/ 4508938 w 4656083"/>
              <a:gd name="connsiteY16-34" fmla="*/ 4561489 h 4939862"/>
              <a:gd name="connsiteX17-35" fmla="*/ 3499945 w 4656083"/>
              <a:gd name="connsiteY17-36" fmla="*/ 4939862 h 4939862"/>
              <a:gd name="connsiteX18-37" fmla="*/ 105104 w 4656083"/>
              <a:gd name="connsiteY18-38" fmla="*/ 4897820 h 4939862"/>
              <a:gd name="connsiteX19-39" fmla="*/ 0 w 4656083"/>
              <a:gd name="connsiteY19-40" fmla="*/ 0 h 4939862"/>
              <a:gd name="connsiteX0-41" fmla="*/ 0 w 4656083"/>
              <a:gd name="connsiteY0-42" fmla="*/ 0 h 4939862"/>
              <a:gd name="connsiteX1-43" fmla="*/ 0 w 4656083"/>
              <a:gd name="connsiteY1-44" fmla="*/ 0 h 4939862"/>
              <a:gd name="connsiteX2-45" fmla="*/ 94593 w 4656083"/>
              <a:gd name="connsiteY2-46" fmla="*/ 10510 h 4939862"/>
              <a:gd name="connsiteX3-47" fmla="*/ 2375338 w 4656083"/>
              <a:gd name="connsiteY3-48" fmla="*/ 42041 h 4939862"/>
              <a:gd name="connsiteX4-49" fmla="*/ 2375338 w 4656083"/>
              <a:gd name="connsiteY4-50" fmla="*/ 1418896 h 4939862"/>
              <a:gd name="connsiteX5-51" fmla="*/ 1660635 w 4656083"/>
              <a:gd name="connsiteY5-52" fmla="*/ 1923393 h 4939862"/>
              <a:gd name="connsiteX6-53" fmla="*/ 1660635 w 4656083"/>
              <a:gd name="connsiteY6-54" fmla="*/ 2459420 h 4939862"/>
              <a:gd name="connsiteX7-55" fmla="*/ 3079531 w 4656083"/>
              <a:gd name="connsiteY7-56" fmla="*/ 3037489 h 4939862"/>
              <a:gd name="connsiteX8-57" fmla="*/ 3552497 w 4656083"/>
              <a:gd name="connsiteY8-58" fmla="*/ 2858813 h 4939862"/>
              <a:gd name="connsiteX9-59" fmla="*/ 3762704 w 4656083"/>
              <a:gd name="connsiteY9-60" fmla="*/ 2585544 h 4939862"/>
              <a:gd name="connsiteX10-61" fmla="*/ 3825766 w 4656083"/>
              <a:gd name="connsiteY10-62" fmla="*/ 2259724 h 4939862"/>
              <a:gd name="connsiteX11-63" fmla="*/ 3783725 w 4656083"/>
              <a:gd name="connsiteY11-64" fmla="*/ 2060027 h 4939862"/>
              <a:gd name="connsiteX12-65" fmla="*/ 3689131 w 4656083"/>
              <a:gd name="connsiteY12-66" fmla="*/ 1881351 h 4939862"/>
              <a:gd name="connsiteX13-67" fmla="*/ 3447393 w 4656083"/>
              <a:gd name="connsiteY13-68" fmla="*/ 1723696 h 4939862"/>
              <a:gd name="connsiteX14-69" fmla="*/ 4498428 w 4656083"/>
              <a:gd name="connsiteY14-70" fmla="*/ 1587062 h 4939862"/>
              <a:gd name="connsiteX15-71" fmla="*/ 4656083 w 4656083"/>
              <a:gd name="connsiteY15-72" fmla="*/ 2921875 h 4939862"/>
              <a:gd name="connsiteX16-73" fmla="*/ 4508938 w 4656083"/>
              <a:gd name="connsiteY16-74" fmla="*/ 4561489 h 4939862"/>
              <a:gd name="connsiteX17-75" fmla="*/ 3499945 w 4656083"/>
              <a:gd name="connsiteY17-76" fmla="*/ 4939862 h 4939862"/>
              <a:gd name="connsiteX18-77" fmla="*/ 105104 w 4656083"/>
              <a:gd name="connsiteY18-78" fmla="*/ 4897820 h 4939862"/>
              <a:gd name="connsiteX19-79" fmla="*/ 0 w 4656083"/>
              <a:gd name="connsiteY19-80" fmla="*/ 0 h 4939862"/>
              <a:gd name="connsiteX0-81" fmla="*/ 0 w 4656083"/>
              <a:gd name="connsiteY0-82" fmla="*/ 0 h 4939862"/>
              <a:gd name="connsiteX1-83" fmla="*/ 0 w 4656083"/>
              <a:gd name="connsiteY1-84" fmla="*/ 0 h 4939862"/>
              <a:gd name="connsiteX2-85" fmla="*/ 94593 w 4656083"/>
              <a:gd name="connsiteY2-86" fmla="*/ 10510 h 4939862"/>
              <a:gd name="connsiteX3-87" fmla="*/ 2375338 w 4656083"/>
              <a:gd name="connsiteY3-88" fmla="*/ 42041 h 4939862"/>
              <a:gd name="connsiteX4-89" fmla="*/ 2375338 w 4656083"/>
              <a:gd name="connsiteY4-90" fmla="*/ 1418896 h 4939862"/>
              <a:gd name="connsiteX5-91" fmla="*/ 1660635 w 4656083"/>
              <a:gd name="connsiteY5-92" fmla="*/ 1923393 h 4939862"/>
              <a:gd name="connsiteX6-93" fmla="*/ 1660635 w 4656083"/>
              <a:gd name="connsiteY6-94" fmla="*/ 2459420 h 4939862"/>
              <a:gd name="connsiteX7-95" fmla="*/ 3079531 w 4656083"/>
              <a:gd name="connsiteY7-96" fmla="*/ 3037489 h 4939862"/>
              <a:gd name="connsiteX8-97" fmla="*/ 3552497 w 4656083"/>
              <a:gd name="connsiteY8-98" fmla="*/ 2858813 h 4939862"/>
              <a:gd name="connsiteX9-99" fmla="*/ 3762704 w 4656083"/>
              <a:gd name="connsiteY9-100" fmla="*/ 2585544 h 4939862"/>
              <a:gd name="connsiteX10-101" fmla="*/ 3825766 w 4656083"/>
              <a:gd name="connsiteY10-102" fmla="*/ 2259724 h 4939862"/>
              <a:gd name="connsiteX11-103" fmla="*/ 3783725 w 4656083"/>
              <a:gd name="connsiteY11-104" fmla="*/ 2060027 h 4939862"/>
              <a:gd name="connsiteX12-105" fmla="*/ 3689131 w 4656083"/>
              <a:gd name="connsiteY12-106" fmla="*/ 1881351 h 4939862"/>
              <a:gd name="connsiteX13-107" fmla="*/ 3447393 w 4656083"/>
              <a:gd name="connsiteY13-108" fmla="*/ 1723696 h 4939862"/>
              <a:gd name="connsiteX14-109" fmla="*/ 4498428 w 4656083"/>
              <a:gd name="connsiteY14-110" fmla="*/ 1587062 h 4939862"/>
              <a:gd name="connsiteX15-111" fmla="*/ 4656083 w 4656083"/>
              <a:gd name="connsiteY15-112" fmla="*/ 2921875 h 4939862"/>
              <a:gd name="connsiteX16-113" fmla="*/ 4508938 w 4656083"/>
              <a:gd name="connsiteY16-114" fmla="*/ 4561489 h 4939862"/>
              <a:gd name="connsiteX17-115" fmla="*/ 3499945 w 4656083"/>
              <a:gd name="connsiteY17-116" fmla="*/ 4939862 h 4939862"/>
              <a:gd name="connsiteX18-117" fmla="*/ 105104 w 4656083"/>
              <a:gd name="connsiteY18-118" fmla="*/ 4897820 h 4939862"/>
              <a:gd name="connsiteX19-119" fmla="*/ 0 w 4656083"/>
              <a:gd name="connsiteY19-120" fmla="*/ 0 h 4939862"/>
              <a:gd name="connsiteX0-121" fmla="*/ 0 w 4656083"/>
              <a:gd name="connsiteY0-122" fmla="*/ 0 h 4939862"/>
              <a:gd name="connsiteX1-123" fmla="*/ 0 w 4656083"/>
              <a:gd name="connsiteY1-124" fmla="*/ 0 h 4939862"/>
              <a:gd name="connsiteX2-125" fmla="*/ 94593 w 4656083"/>
              <a:gd name="connsiteY2-126" fmla="*/ 10510 h 4939862"/>
              <a:gd name="connsiteX3-127" fmla="*/ 2375338 w 4656083"/>
              <a:gd name="connsiteY3-128" fmla="*/ 42041 h 4939862"/>
              <a:gd name="connsiteX4-129" fmla="*/ 2375338 w 4656083"/>
              <a:gd name="connsiteY4-130" fmla="*/ 1418896 h 4939862"/>
              <a:gd name="connsiteX5-131" fmla="*/ 1660635 w 4656083"/>
              <a:gd name="connsiteY5-132" fmla="*/ 1923393 h 4939862"/>
              <a:gd name="connsiteX6-133" fmla="*/ 1660635 w 4656083"/>
              <a:gd name="connsiteY6-134" fmla="*/ 2459420 h 4939862"/>
              <a:gd name="connsiteX7-135" fmla="*/ 3079531 w 4656083"/>
              <a:gd name="connsiteY7-136" fmla="*/ 3037489 h 4939862"/>
              <a:gd name="connsiteX8-137" fmla="*/ 3552497 w 4656083"/>
              <a:gd name="connsiteY8-138" fmla="*/ 2858813 h 4939862"/>
              <a:gd name="connsiteX9-139" fmla="*/ 3762704 w 4656083"/>
              <a:gd name="connsiteY9-140" fmla="*/ 2585544 h 4939862"/>
              <a:gd name="connsiteX10-141" fmla="*/ 3825766 w 4656083"/>
              <a:gd name="connsiteY10-142" fmla="*/ 2259724 h 4939862"/>
              <a:gd name="connsiteX11-143" fmla="*/ 3783725 w 4656083"/>
              <a:gd name="connsiteY11-144" fmla="*/ 2060027 h 4939862"/>
              <a:gd name="connsiteX12-145" fmla="*/ 3689131 w 4656083"/>
              <a:gd name="connsiteY12-146" fmla="*/ 1881351 h 4939862"/>
              <a:gd name="connsiteX13-147" fmla="*/ 3447393 w 4656083"/>
              <a:gd name="connsiteY13-148" fmla="*/ 1723696 h 4939862"/>
              <a:gd name="connsiteX14-149" fmla="*/ 4498428 w 4656083"/>
              <a:gd name="connsiteY14-150" fmla="*/ 1587062 h 4939862"/>
              <a:gd name="connsiteX15-151" fmla="*/ 4656083 w 4656083"/>
              <a:gd name="connsiteY15-152" fmla="*/ 2921875 h 4939862"/>
              <a:gd name="connsiteX16-153" fmla="*/ 4508938 w 4656083"/>
              <a:gd name="connsiteY16-154" fmla="*/ 4561489 h 4939862"/>
              <a:gd name="connsiteX17-155" fmla="*/ 3499945 w 4656083"/>
              <a:gd name="connsiteY17-156" fmla="*/ 4939862 h 4939862"/>
              <a:gd name="connsiteX18-157" fmla="*/ 105104 w 4656083"/>
              <a:gd name="connsiteY18-158" fmla="*/ 4897820 h 4939862"/>
              <a:gd name="connsiteX19-159" fmla="*/ 0 w 4656083"/>
              <a:gd name="connsiteY19-160" fmla="*/ 0 h 4939862"/>
              <a:gd name="connsiteX0-161" fmla="*/ 0 w 4656083"/>
              <a:gd name="connsiteY0-162" fmla="*/ 0 h 4939862"/>
              <a:gd name="connsiteX1-163" fmla="*/ 0 w 4656083"/>
              <a:gd name="connsiteY1-164" fmla="*/ 0 h 4939862"/>
              <a:gd name="connsiteX2-165" fmla="*/ 94593 w 4656083"/>
              <a:gd name="connsiteY2-166" fmla="*/ 10510 h 4939862"/>
              <a:gd name="connsiteX3-167" fmla="*/ 2375338 w 4656083"/>
              <a:gd name="connsiteY3-168" fmla="*/ 42041 h 4939862"/>
              <a:gd name="connsiteX4-169" fmla="*/ 2375338 w 4656083"/>
              <a:gd name="connsiteY4-170" fmla="*/ 1418896 h 4939862"/>
              <a:gd name="connsiteX5-171" fmla="*/ 1660635 w 4656083"/>
              <a:gd name="connsiteY5-172" fmla="*/ 1923393 h 4939862"/>
              <a:gd name="connsiteX6-173" fmla="*/ 1660635 w 4656083"/>
              <a:gd name="connsiteY6-174" fmla="*/ 2459420 h 4939862"/>
              <a:gd name="connsiteX7-175" fmla="*/ 3132083 w 4656083"/>
              <a:gd name="connsiteY7-176" fmla="*/ 3090041 h 4939862"/>
              <a:gd name="connsiteX8-177" fmla="*/ 3552497 w 4656083"/>
              <a:gd name="connsiteY8-178" fmla="*/ 2858813 h 4939862"/>
              <a:gd name="connsiteX9-179" fmla="*/ 3762704 w 4656083"/>
              <a:gd name="connsiteY9-180" fmla="*/ 2585544 h 4939862"/>
              <a:gd name="connsiteX10-181" fmla="*/ 3825766 w 4656083"/>
              <a:gd name="connsiteY10-182" fmla="*/ 2259724 h 4939862"/>
              <a:gd name="connsiteX11-183" fmla="*/ 3783725 w 4656083"/>
              <a:gd name="connsiteY11-184" fmla="*/ 2060027 h 4939862"/>
              <a:gd name="connsiteX12-185" fmla="*/ 3689131 w 4656083"/>
              <a:gd name="connsiteY12-186" fmla="*/ 1881351 h 4939862"/>
              <a:gd name="connsiteX13-187" fmla="*/ 3447393 w 4656083"/>
              <a:gd name="connsiteY13-188" fmla="*/ 1723696 h 4939862"/>
              <a:gd name="connsiteX14-189" fmla="*/ 4498428 w 4656083"/>
              <a:gd name="connsiteY14-190" fmla="*/ 1587062 h 4939862"/>
              <a:gd name="connsiteX15-191" fmla="*/ 4656083 w 4656083"/>
              <a:gd name="connsiteY15-192" fmla="*/ 2921875 h 4939862"/>
              <a:gd name="connsiteX16-193" fmla="*/ 4508938 w 4656083"/>
              <a:gd name="connsiteY16-194" fmla="*/ 4561489 h 4939862"/>
              <a:gd name="connsiteX17-195" fmla="*/ 3499945 w 4656083"/>
              <a:gd name="connsiteY17-196" fmla="*/ 4939862 h 4939862"/>
              <a:gd name="connsiteX18-197" fmla="*/ 105104 w 4656083"/>
              <a:gd name="connsiteY18-198" fmla="*/ 4897820 h 4939862"/>
              <a:gd name="connsiteX19-199" fmla="*/ 0 w 4656083"/>
              <a:gd name="connsiteY19-200" fmla="*/ 0 h 4939862"/>
              <a:gd name="connsiteX0-201" fmla="*/ 0 w 4656083"/>
              <a:gd name="connsiteY0-202" fmla="*/ 0 h 4939862"/>
              <a:gd name="connsiteX1-203" fmla="*/ 0 w 4656083"/>
              <a:gd name="connsiteY1-204" fmla="*/ 0 h 4939862"/>
              <a:gd name="connsiteX2-205" fmla="*/ 94593 w 4656083"/>
              <a:gd name="connsiteY2-206" fmla="*/ 10510 h 4939862"/>
              <a:gd name="connsiteX3-207" fmla="*/ 2375338 w 4656083"/>
              <a:gd name="connsiteY3-208" fmla="*/ 42041 h 4939862"/>
              <a:gd name="connsiteX4-209" fmla="*/ 2375338 w 4656083"/>
              <a:gd name="connsiteY4-210" fmla="*/ 1418896 h 4939862"/>
              <a:gd name="connsiteX5-211" fmla="*/ 1660635 w 4656083"/>
              <a:gd name="connsiteY5-212" fmla="*/ 1923393 h 4939862"/>
              <a:gd name="connsiteX6-213" fmla="*/ 1660635 w 4656083"/>
              <a:gd name="connsiteY6-214" fmla="*/ 2459420 h 4939862"/>
              <a:gd name="connsiteX7-215" fmla="*/ 3132083 w 4656083"/>
              <a:gd name="connsiteY7-216" fmla="*/ 3090041 h 4939862"/>
              <a:gd name="connsiteX8-217" fmla="*/ 3605049 w 4656083"/>
              <a:gd name="connsiteY8-218" fmla="*/ 2869324 h 4939862"/>
              <a:gd name="connsiteX9-219" fmla="*/ 3762704 w 4656083"/>
              <a:gd name="connsiteY9-220" fmla="*/ 2585544 h 4939862"/>
              <a:gd name="connsiteX10-221" fmla="*/ 3825766 w 4656083"/>
              <a:gd name="connsiteY10-222" fmla="*/ 2259724 h 4939862"/>
              <a:gd name="connsiteX11-223" fmla="*/ 3783725 w 4656083"/>
              <a:gd name="connsiteY11-224" fmla="*/ 2060027 h 4939862"/>
              <a:gd name="connsiteX12-225" fmla="*/ 3689131 w 4656083"/>
              <a:gd name="connsiteY12-226" fmla="*/ 1881351 h 4939862"/>
              <a:gd name="connsiteX13-227" fmla="*/ 3447393 w 4656083"/>
              <a:gd name="connsiteY13-228" fmla="*/ 1723696 h 4939862"/>
              <a:gd name="connsiteX14-229" fmla="*/ 4498428 w 4656083"/>
              <a:gd name="connsiteY14-230" fmla="*/ 1587062 h 4939862"/>
              <a:gd name="connsiteX15-231" fmla="*/ 4656083 w 4656083"/>
              <a:gd name="connsiteY15-232" fmla="*/ 2921875 h 4939862"/>
              <a:gd name="connsiteX16-233" fmla="*/ 4508938 w 4656083"/>
              <a:gd name="connsiteY16-234" fmla="*/ 4561489 h 4939862"/>
              <a:gd name="connsiteX17-235" fmla="*/ 3499945 w 4656083"/>
              <a:gd name="connsiteY17-236" fmla="*/ 4939862 h 4939862"/>
              <a:gd name="connsiteX18-237" fmla="*/ 105104 w 4656083"/>
              <a:gd name="connsiteY18-238" fmla="*/ 4897820 h 4939862"/>
              <a:gd name="connsiteX19-239" fmla="*/ 0 w 4656083"/>
              <a:gd name="connsiteY19-240" fmla="*/ 0 h 4939862"/>
              <a:gd name="connsiteX0-241" fmla="*/ 0 w 4656083"/>
              <a:gd name="connsiteY0-242" fmla="*/ 0 h 4939862"/>
              <a:gd name="connsiteX1-243" fmla="*/ 0 w 4656083"/>
              <a:gd name="connsiteY1-244" fmla="*/ 0 h 4939862"/>
              <a:gd name="connsiteX2-245" fmla="*/ 94593 w 4656083"/>
              <a:gd name="connsiteY2-246" fmla="*/ 10510 h 4939862"/>
              <a:gd name="connsiteX3-247" fmla="*/ 2375338 w 4656083"/>
              <a:gd name="connsiteY3-248" fmla="*/ 42041 h 4939862"/>
              <a:gd name="connsiteX4-249" fmla="*/ 2375338 w 4656083"/>
              <a:gd name="connsiteY4-250" fmla="*/ 1418896 h 4939862"/>
              <a:gd name="connsiteX5-251" fmla="*/ 1660635 w 4656083"/>
              <a:gd name="connsiteY5-252" fmla="*/ 1923393 h 4939862"/>
              <a:gd name="connsiteX6-253" fmla="*/ 1660635 w 4656083"/>
              <a:gd name="connsiteY6-254" fmla="*/ 2459420 h 4939862"/>
              <a:gd name="connsiteX7-255" fmla="*/ 3132083 w 4656083"/>
              <a:gd name="connsiteY7-256" fmla="*/ 3090041 h 4939862"/>
              <a:gd name="connsiteX8-257" fmla="*/ 3605049 w 4656083"/>
              <a:gd name="connsiteY8-258" fmla="*/ 2869324 h 4939862"/>
              <a:gd name="connsiteX9-259" fmla="*/ 3804745 w 4656083"/>
              <a:gd name="connsiteY9-260" fmla="*/ 2596054 h 4939862"/>
              <a:gd name="connsiteX10-261" fmla="*/ 3825766 w 4656083"/>
              <a:gd name="connsiteY10-262" fmla="*/ 2259724 h 4939862"/>
              <a:gd name="connsiteX11-263" fmla="*/ 3783725 w 4656083"/>
              <a:gd name="connsiteY11-264" fmla="*/ 2060027 h 4939862"/>
              <a:gd name="connsiteX12-265" fmla="*/ 3689131 w 4656083"/>
              <a:gd name="connsiteY12-266" fmla="*/ 1881351 h 4939862"/>
              <a:gd name="connsiteX13-267" fmla="*/ 3447393 w 4656083"/>
              <a:gd name="connsiteY13-268" fmla="*/ 1723696 h 4939862"/>
              <a:gd name="connsiteX14-269" fmla="*/ 4498428 w 4656083"/>
              <a:gd name="connsiteY14-270" fmla="*/ 1587062 h 4939862"/>
              <a:gd name="connsiteX15-271" fmla="*/ 4656083 w 4656083"/>
              <a:gd name="connsiteY15-272" fmla="*/ 2921875 h 4939862"/>
              <a:gd name="connsiteX16-273" fmla="*/ 4508938 w 4656083"/>
              <a:gd name="connsiteY16-274" fmla="*/ 4561489 h 4939862"/>
              <a:gd name="connsiteX17-275" fmla="*/ 3499945 w 4656083"/>
              <a:gd name="connsiteY17-276" fmla="*/ 4939862 h 4939862"/>
              <a:gd name="connsiteX18-277" fmla="*/ 105104 w 4656083"/>
              <a:gd name="connsiteY18-278" fmla="*/ 4897820 h 4939862"/>
              <a:gd name="connsiteX19-279" fmla="*/ 0 w 4656083"/>
              <a:gd name="connsiteY19-280" fmla="*/ 0 h 4939862"/>
              <a:gd name="connsiteX0-281" fmla="*/ 0 w 4656083"/>
              <a:gd name="connsiteY0-282" fmla="*/ 0 h 4939862"/>
              <a:gd name="connsiteX1-283" fmla="*/ 0 w 4656083"/>
              <a:gd name="connsiteY1-284" fmla="*/ 0 h 4939862"/>
              <a:gd name="connsiteX2-285" fmla="*/ 94593 w 4656083"/>
              <a:gd name="connsiteY2-286" fmla="*/ 10510 h 4939862"/>
              <a:gd name="connsiteX3-287" fmla="*/ 2375338 w 4656083"/>
              <a:gd name="connsiteY3-288" fmla="*/ 42041 h 4939862"/>
              <a:gd name="connsiteX4-289" fmla="*/ 2375338 w 4656083"/>
              <a:gd name="connsiteY4-290" fmla="*/ 1418896 h 4939862"/>
              <a:gd name="connsiteX5-291" fmla="*/ 1660635 w 4656083"/>
              <a:gd name="connsiteY5-292" fmla="*/ 1923393 h 4939862"/>
              <a:gd name="connsiteX6-293" fmla="*/ 1555531 w 4656083"/>
              <a:gd name="connsiteY6-294" fmla="*/ 2469930 h 4939862"/>
              <a:gd name="connsiteX7-295" fmla="*/ 3132083 w 4656083"/>
              <a:gd name="connsiteY7-296" fmla="*/ 3090041 h 4939862"/>
              <a:gd name="connsiteX8-297" fmla="*/ 3605049 w 4656083"/>
              <a:gd name="connsiteY8-298" fmla="*/ 2869324 h 4939862"/>
              <a:gd name="connsiteX9-299" fmla="*/ 3804745 w 4656083"/>
              <a:gd name="connsiteY9-300" fmla="*/ 2596054 h 4939862"/>
              <a:gd name="connsiteX10-301" fmla="*/ 3825766 w 4656083"/>
              <a:gd name="connsiteY10-302" fmla="*/ 2259724 h 4939862"/>
              <a:gd name="connsiteX11-303" fmla="*/ 3783725 w 4656083"/>
              <a:gd name="connsiteY11-304" fmla="*/ 2060027 h 4939862"/>
              <a:gd name="connsiteX12-305" fmla="*/ 3689131 w 4656083"/>
              <a:gd name="connsiteY12-306" fmla="*/ 1881351 h 4939862"/>
              <a:gd name="connsiteX13-307" fmla="*/ 3447393 w 4656083"/>
              <a:gd name="connsiteY13-308" fmla="*/ 1723696 h 4939862"/>
              <a:gd name="connsiteX14-309" fmla="*/ 4498428 w 4656083"/>
              <a:gd name="connsiteY14-310" fmla="*/ 1587062 h 4939862"/>
              <a:gd name="connsiteX15-311" fmla="*/ 4656083 w 4656083"/>
              <a:gd name="connsiteY15-312" fmla="*/ 2921875 h 4939862"/>
              <a:gd name="connsiteX16-313" fmla="*/ 4508938 w 4656083"/>
              <a:gd name="connsiteY16-314" fmla="*/ 4561489 h 4939862"/>
              <a:gd name="connsiteX17-315" fmla="*/ 3499945 w 4656083"/>
              <a:gd name="connsiteY17-316" fmla="*/ 4939862 h 4939862"/>
              <a:gd name="connsiteX18-317" fmla="*/ 105104 w 4656083"/>
              <a:gd name="connsiteY18-318" fmla="*/ 4897820 h 4939862"/>
              <a:gd name="connsiteX19-319" fmla="*/ 0 w 4656083"/>
              <a:gd name="connsiteY19-320" fmla="*/ 0 h 4939862"/>
              <a:gd name="connsiteX0-321" fmla="*/ 0 w 4656083"/>
              <a:gd name="connsiteY0-322" fmla="*/ 0 h 4939862"/>
              <a:gd name="connsiteX1-323" fmla="*/ 0 w 4656083"/>
              <a:gd name="connsiteY1-324" fmla="*/ 0 h 4939862"/>
              <a:gd name="connsiteX2-325" fmla="*/ 94593 w 4656083"/>
              <a:gd name="connsiteY2-326" fmla="*/ 10510 h 4939862"/>
              <a:gd name="connsiteX3-327" fmla="*/ 2375338 w 4656083"/>
              <a:gd name="connsiteY3-328" fmla="*/ 42041 h 4939862"/>
              <a:gd name="connsiteX4-329" fmla="*/ 2375338 w 4656083"/>
              <a:gd name="connsiteY4-330" fmla="*/ 1418896 h 4939862"/>
              <a:gd name="connsiteX5-331" fmla="*/ 1692166 w 4656083"/>
              <a:gd name="connsiteY5-332" fmla="*/ 1923393 h 4939862"/>
              <a:gd name="connsiteX6-333" fmla="*/ 1555531 w 4656083"/>
              <a:gd name="connsiteY6-334" fmla="*/ 2469930 h 4939862"/>
              <a:gd name="connsiteX7-335" fmla="*/ 3132083 w 4656083"/>
              <a:gd name="connsiteY7-336" fmla="*/ 3090041 h 4939862"/>
              <a:gd name="connsiteX8-337" fmla="*/ 3605049 w 4656083"/>
              <a:gd name="connsiteY8-338" fmla="*/ 2869324 h 4939862"/>
              <a:gd name="connsiteX9-339" fmla="*/ 3804745 w 4656083"/>
              <a:gd name="connsiteY9-340" fmla="*/ 2596054 h 4939862"/>
              <a:gd name="connsiteX10-341" fmla="*/ 3825766 w 4656083"/>
              <a:gd name="connsiteY10-342" fmla="*/ 2259724 h 4939862"/>
              <a:gd name="connsiteX11-343" fmla="*/ 3783725 w 4656083"/>
              <a:gd name="connsiteY11-344" fmla="*/ 2060027 h 4939862"/>
              <a:gd name="connsiteX12-345" fmla="*/ 3689131 w 4656083"/>
              <a:gd name="connsiteY12-346" fmla="*/ 1881351 h 4939862"/>
              <a:gd name="connsiteX13-347" fmla="*/ 3447393 w 4656083"/>
              <a:gd name="connsiteY13-348" fmla="*/ 1723696 h 4939862"/>
              <a:gd name="connsiteX14-349" fmla="*/ 4498428 w 4656083"/>
              <a:gd name="connsiteY14-350" fmla="*/ 1587062 h 4939862"/>
              <a:gd name="connsiteX15-351" fmla="*/ 4656083 w 4656083"/>
              <a:gd name="connsiteY15-352" fmla="*/ 2921875 h 4939862"/>
              <a:gd name="connsiteX16-353" fmla="*/ 4508938 w 4656083"/>
              <a:gd name="connsiteY16-354" fmla="*/ 4561489 h 4939862"/>
              <a:gd name="connsiteX17-355" fmla="*/ 3499945 w 4656083"/>
              <a:gd name="connsiteY17-356" fmla="*/ 4939862 h 4939862"/>
              <a:gd name="connsiteX18-357" fmla="*/ 105104 w 4656083"/>
              <a:gd name="connsiteY18-358" fmla="*/ 4897820 h 4939862"/>
              <a:gd name="connsiteX19-359" fmla="*/ 0 w 4656083"/>
              <a:gd name="connsiteY19-360" fmla="*/ 0 h 4939862"/>
              <a:gd name="connsiteX0-361" fmla="*/ 0 w 4656083"/>
              <a:gd name="connsiteY0-362" fmla="*/ 0 h 4939862"/>
              <a:gd name="connsiteX1-363" fmla="*/ 0 w 4656083"/>
              <a:gd name="connsiteY1-364" fmla="*/ 0 h 4939862"/>
              <a:gd name="connsiteX2-365" fmla="*/ 94593 w 4656083"/>
              <a:gd name="connsiteY2-366" fmla="*/ 10510 h 4939862"/>
              <a:gd name="connsiteX3-367" fmla="*/ 2375338 w 4656083"/>
              <a:gd name="connsiteY3-368" fmla="*/ 42041 h 4939862"/>
              <a:gd name="connsiteX4-369" fmla="*/ 2438400 w 4656083"/>
              <a:gd name="connsiteY4-370" fmla="*/ 1471447 h 4939862"/>
              <a:gd name="connsiteX5-371" fmla="*/ 1692166 w 4656083"/>
              <a:gd name="connsiteY5-372" fmla="*/ 1923393 h 4939862"/>
              <a:gd name="connsiteX6-373" fmla="*/ 1555531 w 4656083"/>
              <a:gd name="connsiteY6-374" fmla="*/ 2469930 h 4939862"/>
              <a:gd name="connsiteX7-375" fmla="*/ 3132083 w 4656083"/>
              <a:gd name="connsiteY7-376" fmla="*/ 3090041 h 4939862"/>
              <a:gd name="connsiteX8-377" fmla="*/ 3605049 w 4656083"/>
              <a:gd name="connsiteY8-378" fmla="*/ 2869324 h 4939862"/>
              <a:gd name="connsiteX9-379" fmla="*/ 3804745 w 4656083"/>
              <a:gd name="connsiteY9-380" fmla="*/ 2596054 h 4939862"/>
              <a:gd name="connsiteX10-381" fmla="*/ 3825766 w 4656083"/>
              <a:gd name="connsiteY10-382" fmla="*/ 2259724 h 4939862"/>
              <a:gd name="connsiteX11-383" fmla="*/ 3783725 w 4656083"/>
              <a:gd name="connsiteY11-384" fmla="*/ 2060027 h 4939862"/>
              <a:gd name="connsiteX12-385" fmla="*/ 3689131 w 4656083"/>
              <a:gd name="connsiteY12-386" fmla="*/ 1881351 h 4939862"/>
              <a:gd name="connsiteX13-387" fmla="*/ 3447393 w 4656083"/>
              <a:gd name="connsiteY13-388" fmla="*/ 1723696 h 4939862"/>
              <a:gd name="connsiteX14-389" fmla="*/ 4498428 w 4656083"/>
              <a:gd name="connsiteY14-390" fmla="*/ 1587062 h 4939862"/>
              <a:gd name="connsiteX15-391" fmla="*/ 4656083 w 4656083"/>
              <a:gd name="connsiteY15-392" fmla="*/ 2921875 h 4939862"/>
              <a:gd name="connsiteX16-393" fmla="*/ 4508938 w 4656083"/>
              <a:gd name="connsiteY16-394" fmla="*/ 4561489 h 4939862"/>
              <a:gd name="connsiteX17-395" fmla="*/ 3499945 w 4656083"/>
              <a:gd name="connsiteY17-396" fmla="*/ 4939862 h 4939862"/>
              <a:gd name="connsiteX18-397" fmla="*/ 105104 w 4656083"/>
              <a:gd name="connsiteY18-398" fmla="*/ 4897820 h 4939862"/>
              <a:gd name="connsiteX19-399" fmla="*/ 0 w 4656083"/>
              <a:gd name="connsiteY19-400" fmla="*/ 0 h 4939862"/>
              <a:gd name="connsiteX0-401" fmla="*/ 0 w 4656083"/>
              <a:gd name="connsiteY0-402" fmla="*/ 0 h 4939862"/>
              <a:gd name="connsiteX1-403" fmla="*/ 0 w 4656083"/>
              <a:gd name="connsiteY1-404" fmla="*/ 0 h 4939862"/>
              <a:gd name="connsiteX2-405" fmla="*/ 94593 w 4656083"/>
              <a:gd name="connsiteY2-406" fmla="*/ 10510 h 4939862"/>
              <a:gd name="connsiteX3-407" fmla="*/ 2375338 w 4656083"/>
              <a:gd name="connsiteY3-408" fmla="*/ 42041 h 4939862"/>
              <a:gd name="connsiteX4-409" fmla="*/ 2438400 w 4656083"/>
              <a:gd name="connsiteY4-410" fmla="*/ 1471447 h 4939862"/>
              <a:gd name="connsiteX5-411" fmla="*/ 1692166 w 4656083"/>
              <a:gd name="connsiteY5-412" fmla="*/ 1923393 h 4939862"/>
              <a:gd name="connsiteX6-413" fmla="*/ 1555531 w 4656083"/>
              <a:gd name="connsiteY6-414" fmla="*/ 2469930 h 4939862"/>
              <a:gd name="connsiteX7-415" fmla="*/ 3132083 w 4656083"/>
              <a:gd name="connsiteY7-416" fmla="*/ 3090041 h 4939862"/>
              <a:gd name="connsiteX8-417" fmla="*/ 3605049 w 4656083"/>
              <a:gd name="connsiteY8-418" fmla="*/ 2869324 h 4939862"/>
              <a:gd name="connsiteX9-419" fmla="*/ 3804745 w 4656083"/>
              <a:gd name="connsiteY9-420" fmla="*/ 2596054 h 4939862"/>
              <a:gd name="connsiteX10-421" fmla="*/ 3825766 w 4656083"/>
              <a:gd name="connsiteY10-422" fmla="*/ 2259724 h 4939862"/>
              <a:gd name="connsiteX11-423" fmla="*/ 3783725 w 4656083"/>
              <a:gd name="connsiteY11-424" fmla="*/ 2060027 h 4939862"/>
              <a:gd name="connsiteX12-425" fmla="*/ 3689131 w 4656083"/>
              <a:gd name="connsiteY12-426" fmla="*/ 1881351 h 4939862"/>
              <a:gd name="connsiteX13-427" fmla="*/ 3447393 w 4656083"/>
              <a:gd name="connsiteY13-428" fmla="*/ 1723696 h 4939862"/>
              <a:gd name="connsiteX14-429" fmla="*/ 4498428 w 4656083"/>
              <a:gd name="connsiteY14-430" fmla="*/ 1587062 h 4939862"/>
              <a:gd name="connsiteX15-431" fmla="*/ 4656083 w 4656083"/>
              <a:gd name="connsiteY15-432" fmla="*/ 2921875 h 4939862"/>
              <a:gd name="connsiteX16-433" fmla="*/ 4508938 w 4656083"/>
              <a:gd name="connsiteY16-434" fmla="*/ 4561489 h 4939862"/>
              <a:gd name="connsiteX17-435" fmla="*/ 3499945 w 4656083"/>
              <a:gd name="connsiteY17-436" fmla="*/ 4939862 h 4939862"/>
              <a:gd name="connsiteX18-437" fmla="*/ 105104 w 4656083"/>
              <a:gd name="connsiteY18-438" fmla="*/ 4897820 h 4939862"/>
              <a:gd name="connsiteX19-439" fmla="*/ 0 w 4656083"/>
              <a:gd name="connsiteY19-440" fmla="*/ 0 h 4939862"/>
              <a:gd name="connsiteX0-441" fmla="*/ 126410 w 4656369"/>
              <a:gd name="connsiteY0-442" fmla="*/ 234571 h 4953715"/>
              <a:gd name="connsiteX1-443" fmla="*/ 286 w 4656369"/>
              <a:gd name="connsiteY1-444" fmla="*/ 13853 h 4953715"/>
              <a:gd name="connsiteX2-445" fmla="*/ 94879 w 4656369"/>
              <a:gd name="connsiteY2-446" fmla="*/ 24363 h 4953715"/>
              <a:gd name="connsiteX3-447" fmla="*/ 2375624 w 4656369"/>
              <a:gd name="connsiteY3-448" fmla="*/ 55894 h 4953715"/>
              <a:gd name="connsiteX4-449" fmla="*/ 2438686 w 4656369"/>
              <a:gd name="connsiteY4-450" fmla="*/ 1485300 h 4953715"/>
              <a:gd name="connsiteX5-451" fmla="*/ 1692452 w 4656369"/>
              <a:gd name="connsiteY5-452" fmla="*/ 1937246 h 4953715"/>
              <a:gd name="connsiteX6-453" fmla="*/ 1555817 w 4656369"/>
              <a:gd name="connsiteY6-454" fmla="*/ 2483783 h 4953715"/>
              <a:gd name="connsiteX7-455" fmla="*/ 3132369 w 4656369"/>
              <a:gd name="connsiteY7-456" fmla="*/ 3103894 h 4953715"/>
              <a:gd name="connsiteX8-457" fmla="*/ 3605335 w 4656369"/>
              <a:gd name="connsiteY8-458" fmla="*/ 2883177 h 4953715"/>
              <a:gd name="connsiteX9-459" fmla="*/ 3805031 w 4656369"/>
              <a:gd name="connsiteY9-460" fmla="*/ 2609907 h 4953715"/>
              <a:gd name="connsiteX10-461" fmla="*/ 3826052 w 4656369"/>
              <a:gd name="connsiteY10-462" fmla="*/ 2273577 h 4953715"/>
              <a:gd name="connsiteX11-463" fmla="*/ 3784011 w 4656369"/>
              <a:gd name="connsiteY11-464" fmla="*/ 2073880 h 4953715"/>
              <a:gd name="connsiteX12-465" fmla="*/ 3689417 w 4656369"/>
              <a:gd name="connsiteY12-466" fmla="*/ 1895204 h 4953715"/>
              <a:gd name="connsiteX13-467" fmla="*/ 3447679 w 4656369"/>
              <a:gd name="connsiteY13-468" fmla="*/ 1737549 h 4953715"/>
              <a:gd name="connsiteX14-469" fmla="*/ 4498714 w 4656369"/>
              <a:gd name="connsiteY14-470" fmla="*/ 1600915 h 4953715"/>
              <a:gd name="connsiteX15-471" fmla="*/ 4656369 w 4656369"/>
              <a:gd name="connsiteY15-472" fmla="*/ 2935728 h 4953715"/>
              <a:gd name="connsiteX16-473" fmla="*/ 4509224 w 4656369"/>
              <a:gd name="connsiteY16-474" fmla="*/ 4575342 h 4953715"/>
              <a:gd name="connsiteX17-475" fmla="*/ 3500231 w 4656369"/>
              <a:gd name="connsiteY17-476" fmla="*/ 4953715 h 4953715"/>
              <a:gd name="connsiteX18-477" fmla="*/ 105390 w 4656369"/>
              <a:gd name="connsiteY18-478" fmla="*/ 4911673 h 4953715"/>
              <a:gd name="connsiteX19-479" fmla="*/ 126410 w 4656369"/>
              <a:gd name="connsiteY19-480" fmla="*/ 234571 h 4953715"/>
              <a:gd name="connsiteX0-481" fmla="*/ 190699 w 4720658"/>
              <a:gd name="connsiteY0-482" fmla="*/ 417353 h 5136497"/>
              <a:gd name="connsiteX1-483" fmla="*/ 159168 w 4720658"/>
              <a:gd name="connsiteY1-484" fmla="*/ 207145 h 5136497"/>
              <a:gd name="connsiteX2-485" fmla="*/ 2439913 w 4720658"/>
              <a:gd name="connsiteY2-486" fmla="*/ 238676 h 5136497"/>
              <a:gd name="connsiteX3-487" fmla="*/ 2502975 w 4720658"/>
              <a:gd name="connsiteY3-488" fmla="*/ 1668082 h 5136497"/>
              <a:gd name="connsiteX4-489" fmla="*/ 1756741 w 4720658"/>
              <a:gd name="connsiteY4-490" fmla="*/ 2120028 h 5136497"/>
              <a:gd name="connsiteX5-491" fmla="*/ 1620106 w 4720658"/>
              <a:gd name="connsiteY5-492" fmla="*/ 2666565 h 5136497"/>
              <a:gd name="connsiteX6-493" fmla="*/ 3196658 w 4720658"/>
              <a:gd name="connsiteY6-494" fmla="*/ 3286676 h 5136497"/>
              <a:gd name="connsiteX7-495" fmla="*/ 3669624 w 4720658"/>
              <a:gd name="connsiteY7-496" fmla="*/ 3065959 h 5136497"/>
              <a:gd name="connsiteX8-497" fmla="*/ 3869320 w 4720658"/>
              <a:gd name="connsiteY8-498" fmla="*/ 2792689 h 5136497"/>
              <a:gd name="connsiteX9-499" fmla="*/ 3890341 w 4720658"/>
              <a:gd name="connsiteY9-500" fmla="*/ 2456359 h 5136497"/>
              <a:gd name="connsiteX10-501" fmla="*/ 3848300 w 4720658"/>
              <a:gd name="connsiteY10-502" fmla="*/ 2256662 h 5136497"/>
              <a:gd name="connsiteX11-503" fmla="*/ 3753706 w 4720658"/>
              <a:gd name="connsiteY11-504" fmla="*/ 2077986 h 5136497"/>
              <a:gd name="connsiteX12-505" fmla="*/ 3511968 w 4720658"/>
              <a:gd name="connsiteY12-506" fmla="*/ 1920331 h 5136497"/>
              <a:gd name="connsiteX13-507" fmla="*/ 4563003 w 4720658"/>
              <a:gd name="connsiteY13-508" fmla="*/ 1783697 h 5136497"/>
              <a:gd name="connsiteX14-509" fmla="*/ 4720658 w 4720658"/>
              <a:gd name="connsiteY14-510" fmla="*/ 3118510 h 5136497"/>
              <a:gd name="connsiteX15-511" fmla="*/ 4573513 w 4720658"/>
              <a:gd name="connsiteY15-512" fmla="*/ 4758124 h 5136497"/>
              <a:gd name="connsiteX16-513" fmla="*/ 3564520 w 4720658"/>
              <a:gd name="connsiteY16-514" fmla="*/ 5136497 h 5136497"/>
              <a:gd name="connsiteX17-515" fmla="*/ 169679 w 4720658"/>
              <a:gd name="connsiteY17-516" fmla="*/ 5094455 h 5136497"/>
              <a:gd name="connsiteX18-517" fmla="*/ 190699 w 4720658"/>
              <a:gd name="connsiteY18-518" fmla="*/ 417353 h 5136497"/>
              <a:gd name="connsiteX0-519" fmla="*/ 21020 w 4550979"/>
              <a:gd name="connsiteY0-520" fmla="*/ 476180 h 5195324"/>
              <a:gd name="connsiteX1-521" fmla="*/ 2270234 w 4550979"/>
              <a:gd name="connsiteY1-522" fmla="*/ 297503 h 5195324"/>
              <a:gd name="connsiteX2-523" fmla="*/ 2333296 w 4550979"/>
              <a:gd name="connsiteY2-524" fmla="*/ 1726909 h 5195324"/>
              <a:gd name="connsiteX3-525" fmla="*/ 1587062 w 4550979"/>
              <a:gd name="connsiteY3-526" fmla="*/ 2178855 h 5195324"/>
              <a:gd name="connsiteX4-527" fmla="*/ 1450427 w 4550979"/>
              <a:gd name="connsiteY4-528" fmla="*/ 2725392 h 5195324"/>
              <a:gd name="connsiteX5-529" fmla="*/ 3026979 w 4550979"/>
              <a:gd name="connsiteY5-530" fmla="*/ 3345503 h 5195324"/>
              <a:gd name="connsiteX6-531" fmla="*/ 3499945 w 4550979"/>
              <a:gd name="connsiteY6-532" fmla="*/ 3124786 h 5195324"/>
              <a:gd name="connsiteX7-533" fmla="*/ 3699641 w 4550979"/>
              <a:gd name="connsiteY7-534" fmla="*/ 2851516 h 5195324"/>
              <a:gd name="connsiteX8-535" fmla="*/ 3720662 w 4550979"/>
              <a:gd name="connsiteY8-536" fmla="*/ 2515186 h 5195324"/>
              <a:gd name="connsiteX9-537" fmla="*/ 3678621 w 4550979"/>
              <a:gd name="connsiteY9-538" fmla="*/ 2315489 h 5195324"/>
              <a:gd name="connsiteX10-539" fmla="*/ 3584027 w 4550979"/>
              <a:gd name="connsiteY10-540" fmla="*/ 2136813 h 5195324"/>
              <a:gd name="connsiteX11-541" fmla="*/ 3342289 w 4550979"/>
              <a:gd name="connsiteY11-542" fmla="*/ 1979158 h 5195324"/>
              <a:gd name="connsiteX12-543" fmla="*/ 4393324 w 4550979"/>
              <a:gd name="connsiteY12-544" fmla="*/ 1842524 h 5195324"/>
              <a:gd name="connsiteX13-545" fmla="*/ 4550979 w 4550979"/>
              <a:gd name="connsiteY13-546" fmla="*/ 3177337 h 5195324"/>
              <a:gd name="connsiteX14-547" fmla="*/ 4403834 w 4550979"/>
              <a:gd name="connsiteY14-548" fmla="*/ 4816951 h 5195324"/>
              <a:gd name="connsiteX15-549" fmla="*/ 3394841 w 4550979"/>
              <a:gd name="connsiteY15-550" fmla="*/ 5195324 h 5195324"/>
              <a:gd name="connsiteX16-551" fmla="*/ 0 w 4550979"/>
              <a:gd name="connsiteY16-552" fmla="*/ 5153282 h 5195324"/>
              <a:gd name="connsiteX17-553" fmla="*/ 21020 w 4550979"/>
              <a:gd name="connsiteY17-554" fmla="*/ 476180 h 5195324"/>
              <a:gd name="connsiteX0-555" fmla="*/ 21020 w 4550979"/>
              <a:gd name="connsiteY0-556" fmla="*/ 258442 h 4977586"/>
              <a:gd name="connsiteX1-557" fmla="*/ 2270234 w 4550979"/>
              <a:gd name="connsiteY1-558" fmla="*/ 79765 h 4977586"/>
              <a:gd name="connsiteX2-559" fmla="*/ 2333296 w 4550979"/>
              <a:gd name="connsiteY2-560" fmla="*/ 1509171 h 4977586"/>
              <a:gd name="connsiteX3-561" fmla="*/ 1587062 w 4550979"/>
              <a:gd name="connsiteY3-562" fmla="*/ 1961117 h 4977586"/>
              <a:gd name="connsiteX4-563" fmla="*/ 1450427 w 4550979"/>
              <a:gd name="connsiteY4-564" fmla="*/ 2507654 h 4977586"/>
              <a:gd name="connsiteX5-565" fmla="*/ 3026979 w 4550979"/>
              <a:gd name="connsiteY5-566" fmla="*/ 3127765 h 4977586"/>
              <a:gd name="connsiteX6-567" fmla="*/ 3499945 w 4550979"/>
              <a:gd name="connsiteY6-568" fmla="*/ 2907048 h 4977586"/>
              <a:gd name="connsiteX7-569" fmla="*/ 3699641 w 4550979"/>
              <a:gd name="connsiteY7-570" fmla="*/ 2633778 h 4977586"/>
              <a:gd name="connsiteX8-571" fmla="*/ 3720662 w 4550979"/>
              <a:gd name="connsiteY8-572" fmla="*/ 2297448 h 4977586"/>
              <a:gd name="connsiteX9-573" fmla="*/ 3678621 w 4550979"/>
              <a:gd name="connsiteY9-574" fmla="*/ 2097751 h 4977586"/>
              <a:gd name="connsiteX10-575" fmla="*/ 3584027 w 4550979"/>
              <a:gd name="connsiteY10-576" fmla="*/ 1919075 h 4977586"/>
              <a:gd name="connsiteX11-577" fmla="*/ 3342289 w 4550979"/>
              <a:gd name="connsiteY11-578" fmla="*/ 1761420 h 4977586"/>
              <a:gd name="connsiteX12-579" fmla="*/ 4393324 w 4550979"/>
              <a:gd name="connsiteY12-580" fmla="*/ 1624786 h 4977586"/>
              <a:gd name="connsiteX13-581" fmla="*/ 4550979 w 4550979"/>
              <a:gd name="connsiteY13-582" fmla="*/ 2959599 h 4977586"/>
              <a:gd name="connsiteX14-583" fmla="*/ 4403834 w 4550979"/>
              <a:gd name="connsiteY14-584" fmla="*/ 4599213 h 4977586"/>
              <a:gd name="connsiteX15-585" fmla="*/ 3394841 w 4550979"/>
              <a:gd name="connsiteY15-586" fmla="*/ 4977586 h 4977586"/>
              <a:gd name="connsiteX16-587" fmla="*/ 0 w 4550979"/>
              <a:gd name="connsiteY16-588" fmla="*/ 4935544 h 4977586"/>
              <a:gd name="connsiteX17-589" fmla="*/ 21020 w 4550979"/>
              <a:gd name="connsiteY17-590" fmla="*/ 258442 h 4977586"/>
              <a:gd name="connsiteX0-591" fmla="*/ 21020 w 4550979"/>
              <a:gd name="connsiteY0-592" fmla="*/ 178677 h 4897821"/>
              <a:gd name="connsiteX1-593" fmla="*/ 2270234 w 4550979"/>
              <a:gd name="connsiteY1-594" fmla="*/ 0 h 4897821"/>
              <a:gd name="connsiteX2-595" fmla="*/ 2333296 w 4550979"/>
              <a:gd name="connsiteY2-596" fmla="*/ 1429406 h 4897821"/>
              <a:gd name="connsiteX3-597" fmla="*/ 1587062 w 4550979"/>
              <a:gd name="connsiteY3-598" fmla="*/ 1881352 h 4897821"/>
              <a:gd name="connsiteX4-599" fmla="*/ 1450427 w 4550979"/>
              <a:gd name="connsiteY4-600" fmla="*/ 2427889 h 4897821"/>
              <a:gd name="connsiteX5-601" fmla="*/ 3026979 w 4550979"/>
              <a:gd name="connsiteY5-602" fmla="*/ 3048000 h 4897821"/>
              <a:gd name="connsiteX6-603" fmla="*/ 3499945 w 4550979"/>
              <a:gd name="connsiteY6-604" fmla="*/ 2827283 h 4897821"/>
              <a:gd name="connsiteX7-605" fmla="*/ 3699641 w 4550979"/>
              <a:gd name="connsiteY7-606" fmla="*/ 2554013 h 4897821"/>
              <a:gd name="connsiteX8-607" fmla="*/ 3720662 w 4550979"/>
              <a:gd name="connsiteY8-608" fmla="*/ 2217683 h 4897821"/>
              <a:gd name="connsiteX9-609" fmla="*/ 3678621 w 4550979"/>
              <a:gd name="connsiteY9-610" fmla="*/ 2017986 h 4897821"/>
              <a:gd name="connsiteX10-611" fmla="*/ 3584027 w 4550979"/>
              <a:gd name="connsiteY10-612" fmla="*/ 1839310 h 4897821"/>
              <a:gd name="connsiteX11-613" fmla="*/ 3342289 w 4550979"/>
              <a:gd name="connsiteY11-614" fmla="*/ 1681655 h 4897821"/>
              <a:gd name="connsiteX12-615" fmla="*/ 4393324 w 4550979"/>
              <a:gd name="connsiteY12-616" fmla="*/ 1545021 h 4897821"/>
              <a:gd name="connsiteX13-617" fmla="*/ 4550979 w 4550979"/>
              <a:gd name="connsiteY13-618" fmla="*/ 2879834 h 4897821"/>
              <a:gd name="connsiteX14-619" fmla="*/ 4403834 w 4550979"/>
              <a:gd name="connsiteY14-620" fmla="*/ 4519448 h 4897821"/>
              <a:gd name="connsiteX15-621" fmla="*/ 3394841 w 4550979"/>
              <a:gd name="connsiteY15-622" fmla="*/ 4897821 h 4897821"/>
              <a:gd name="connsiteX16-623" fmla="*/ 0 w 4550979"/>
              <a:gd name="connsiteY16-624" fmla="*/ 4855779 h 4897821"/>
              <a:gd name="connsiteX17-625" fmla="*/ 21020 w 4550979"/>
              <a:gd name="connsiteY17-626" fmla="*/ 178677 h 4897821"/>
              <a:gd name="connsiteX0-627" fmla="*/ 21020 w 4550979"/>
              <a:gd name="connsiteY0-628" fmla="*/ 178677 h 4897821"/>
              <a:gd name="connsiteX1-629" fmla="*/ 2270234 w 4550979"/>
              <a:gd name="connsiteY1-630" fmla="*/ 0 h 4897821"/>
              <a:gd name="connsiteX2-631" fmla="*/ 2333296 w 4550979"/>
              <a:gd name="connsiteY2-632" fmla="*/ 1429406 h 4897821"/>
              <a:gd name="connsiteX3-633" fmla="*/ 1587062 w 4550979"/>
              <a:gd name="connsiteY3-634" fmla="*/ 1881352 h 4897821"/>
              <a:gd name="connsiteX4-635" fmla="*/ 1450427 w 4550979"/>
              <a:gd name="connsiteY4-636" fmla="*/ 2427889 h 4897821"/>
              <a:gd name="connsiteX5-637" fmla="*/ 3026979 w 4550979"/>
              <a:gd name="connsiteY5-638" fmla="*/ 3048000 h 4897821"/>
              <a:gd name="connsiteX6-639" fmla="*/ 3443339 w 4550979"/>
              <a:gd name="connsiteY6-640" fmla="*/ 2779385 h 4897821"/>
              <a:gd name="connsiteX7-641" fmla="*/ 3699641 w 4550979"/>
              <a:gd name="connsiteY7-642" fmla="*/ 2554013 h 4897821"/>
              <a:gd name="connsiteX8-643" fmla="*/ 3720662 w 4550979"/>
              <a:gd name="connsiteY8-644" fmla="*/ 2217683 h 4897821"/>
              <a:gd name="connsiteX9-645" fmla="*/ 3678621 w 4550979"/>
              <a:gd name="connsiteY9-646" fmla="*/ 2017986 h 4897821"/>
              <a:gd name="connsiteX10-647" fmla="*/ 3584027 w 4550979"/>
              <a:gd name="connsiteY10-648" fmla="*/ 1839310 h 4897821"/>
              <a:gd name="connsiteX11-649" fmla="*/ 3342289 w 4550979"/>
              <a:gd name="connsiteY11-650" fmla="*/ 1681655 h 4897821"/>
              <a:gd name="connsiteX12-651" fmla="*/ 4393324 w 4550979"/>
              <a:gd name="connsiteY12-652" fmla="*/ 1545021 h 4897821"/>
              <a:gd name="connsiteX13-653" fmla="*/ 4550979 w 4550979"/>
              <a:gd name="connsiteY13-654" fmla="*/ 2879834 h 4897821"/>
              <a:gd name="connsiteX14-655" fmla="*/ 4403834 w 4550979"/>
              <a:gd name="connsiteY14-656" fmla="*/ 4519448 h 4897821"/>
              <a:gd name="connsiteX15-657" fmla="*/ 3394841 w 4550979"/>
              <a:gd name="connsiteY15-658" fmla="*/ 4897821 h 4897821"/>
              <a:gd name="connsiteX16-659" fmla="*/ 0 w 4550979"/>
              <a:gd name="connsiteY16-660" fmla="*/ 4855779 h 4897821"/>
              <a:gd name="connsiteX17-661" fmla="*/ 21020 w 4550979"/>
              <a:gd name="connsiteY17-662" fmla="*/ 178677 h 4897821"/>
              <a:gd name="connsiteX0-663" fmla="*/ 21020 w 4550979"/>
              <a:gd name="connsiteY0-664" fmla="*/ 178677 h 4897821"/>
              <a:gd name="connsiteX1-665" fmla="*/ 2270234 w 4550979"/>
              <a:gd name="connsiteY1-666" fmla="*/ 0 h 4897821"/>
              <a:gd name="connsiteX2-667" fmla="*/ 2333296 w 4550979"/>
              <a:gd name="connsiteY2-668" fmla="*/ 1429406 h 4897821"/>
              <a:gd name="connsiteX3-669" fmla="*/ 1587062 w 4550979"/>
              <a:gd name="connsiteY3-670" fmla="*/ 1881352 h 4897821"/>
              <a:gd name="connsiteX4-671" fmla="*/ 1450427 w 4550979"/>
              <a:gd name="connsiteY4-672" fmla="*/ 2427889 h 4897821"/>
              <a:gd name="connsiteX5-673" fmla="*/ 3044396 w 4550979"/>
              <a:gd name="connsiteY5-674" fmla="*/ 2786743 h 4897821"/>
              <a:gd name="connsiteX6-675" fmla="*/ 3443339 w 4550979"/>
              <a:gd name="connsiteY6-676" fmla="*/ 2779385 h 4897821"/>
              <a:gd name="connsiteX7-677" fmla="*/ 3699641 w 4550979"/>
              <a:gd name="connsiteY7-678" fmla="*/ 2554013 h 4897821"/>
              <a:gd name="connsiteX8-679" fmla="*/ 3720662 w 4550979"/>
              <a:gd name="connsiteY8-680" fmla="*/ 2217683 h 4897821"/>
              <a:gd name="connsiteX9-681" fmla="*/ 3678621 w 4550979"/>
              <a:gd name="connsiteY9-682" fmla="*/ 2017986 h 4897821"/>
              <a:gd name="connsiteX10-683" fmla="*/ 3584027 w 4550979"/>
              <a:gd name="connsiteY10-684" fmla="*/ 1839310 h 4897821"/>
              <a:gd name="connsiteX11-685" fmla="*/ 3342289 w 4550979"/>
              <a:gd name="connsiteY11-686" fmla="*/ 1681655 h 4897821"/>
              <a:gd name="connsiteX12-687" fmla="*/ 4393324 w 4550979"/>
              <a:gd name="connsiteY12-688" fmla="*/ 1545021 h 4897821"/>
              <a:gd name="connsiteX13-689" fmla="*/ 4550979 w 4550979"/>
              <a:gd name="connsiteY13-690" fmla="*/ 2879834 h 4897821"/>
              <a:gd name="connsiteX14-691" fmla="*/ 4403834 w 4550979"/>
              <a:gd name="connsiteY14-692" fmla="*/ 4519448 h 4897821"/>
              <a:gd name="connsiteX15-693" fmla="*/ 3394841 w 4550979"/>
              <a:gd name="connsiteY15-694" fmla="*/ 4897821 h 4897821"/>
              <a:gd name="connsiteX16-695" fmla="*/ 0 w 4550979"/>
              <a:gd name="connsiteY16-696" fmla="*/ 4855779 h 4897821"/>
              <a:gd name="connsiteX17-697" fmla="*/ 21020 w 4550979"/>
              <a:gd name="connsiteY17-698" fmla="*/ 178677 h 4897821"/>
              <a:gd name="connsiteX0-699" fmla="*/ 21020 w 4550979"/>
              <a:gd name="connsiteY0-700" fmla="*/ 178677 h 4897821"/>
              <a:gd name="connsiteX1-701" fmla="*/ 2270234 w 4550979"/>
              <a:gd name="connsiteY1-702" fmla="*/ 0 h 4897821"/>
              <a:gd name="connsiteX2-703" fmla="*/ 2333296 w 4550979"/>
              <a:gd name="connsiteY2-704" fmla="*/ 1429406 h 4897821"/>
              <a:gd name="connsiteX3-705" fmla="*/ 1587062 w 4550979"/>
              <a:gd name="connsiteY3-706" fmla="*/ 1881352 h 4897821"/>
              <a:gd name="connsiteX4-707" fmla="*/ 1450427 w 4550979"/>
              <a:gd name="connsiteY4-708" fmla="*/ 2427889 h 4897821"/>
              <a:gd name="connsiteX5-709" fmla="*/ 3109710 w 4550979"/>
              <a:gd name="connsiteY5-710" fmla="*/ 2969623 h 4897821"/>
              <a:gd name="connsiteX6-711" fmla="*/ 3443339 w 4550979"/>
              <a:gd name="connsiteY6-712" fmla="*/ 2779385 h 4897821"/>
              <a:gd name="connsiteX7-713" fmla="*/ 3699641 w 4550979"/>
              <a:gd name="connsiteY7-714" fmla="*/ 2554013 h 4897821"/>
              <a:gd name="connsiteX8-715" fmla="*/ 3720662 w 4550979"/>
              <a:gd name="connsiteY8-716" fmla="*/ 2217683 h 4897821"/>
              <a:gd name="connsiteX9-717" fmla="*/ 3678621 w 4550979"/>
              <a:gd name="connsiteY9-718" fmla="*/ 2017986 h 4897821"/>
              <a:gd name="connsiteX10-719" fmla="*/ 3584027 w 4550979"/>
              <a:gd name="connsiteY10-720" fmla="*/ 1839310 h 4897821"/>
              <a:gd name="connsiteX11-721" fmla="*/ 3342289 w 4550979"/>
              <a:gd name="connsiteY11-722" fmla="*/ 1681655 h 4897821"/>
              <a:gd name="connsiteX12-723" fmla="*/ 4393324 w 4550979"/>
              <a:gd name="connsiteY12-724" fmla="*/ 1545021 h 4897821"/>
              <a:gd name="connsiteX13-725" fmla="*/ 4550979 w 4550979"/>
              <a:gd name="connsiteY13-726" fmla="*/ 2879834 h 4897821"/>
              <a:gd name="connsiteX14-727" fmla="*/ 4403834 w 4550979"/>
              <a:gd name="connsiteY14-728" fmla="*/ 4519448 h 4897821"/>
              <a:gd name="connsiteX15-729" fmla="*/ 3394841 w 4550979"/>
              <a:gd name="connsiteY15-730" fmla="*/ 4897821 h 4897821"/>
              <a:gd name="connsiteX16-731" fmla="*/ 0 w 4550979"/>
              <a:gd name="connsiteY16-732" fmla="*/ 4855779 h 4897821"/>
              <a:gd name="connsiteX17-733" fmla="*/ 21020 w 4550979"/>
              <a:gd name="connsiteY17-734" fmla="*/ 178677 h 4897821"/>
              <a:gd name="connsiteX0-735" fmla="*/ 21020 w 4550979"/>
              <a:gd name="connsiteY0-736" fmla="*/ 178677 h 4897821"/>
              <a:gd name="connsiteX1-737" fmla="*/ 2270234 w 4550979"/>
              <a:gd name="connsiteY1-738" fmla="*/ 0 h 4897821"/>
              <a:gd name="connsiteX2-739" fmla="*/ 2333296 w 4550979"/>
              <a:gd name="connsiteY2-740" fmla="*/ 1429406 h 4897821"/>
              <a:gd name="connsiteX3-741" fmla="*/ 1587062 w 4550979"/>
              <a:gd name="connsiteY3-742" fmla="*/ 1881352 h 4897821"/>
              <a:gd name="connsiteX4-743" fmla="*/ 1450427 w 4550979"/>
              <a:gd name="connsiteY4-744" fmla="*/ 2427889 h 4897821"/>
              <a:gd name="connsiteX5-745" fmla="*/ 3109710 w 4550979"/>
              <a:gd name="connsiteY5-746" fmla="*/ 2969623 h 4897821"/>
              <a:gd name="connsiteX6-747" fmla="*/ 3443339 w 4550979"/>
              <a:gd name="connsiteY6-748" fmla="*/ 2779385 h 4897821"/>
              <a:gd name="connsiteX7-749" fmla="*/ 3699641 w 4550979"/>
              <a:gd name="connsiteY7-750" fmla="*/ 2554013 h 4897821"/>
              <a:gd name="connsiteX8-751" fmla="*/ 3720662 w 4550979"/>
              <a:gd name="connsiteY8-752" fmla="*/ 2217683 h 4897821"/>
              <a:gd name="connsiteX9-753" fmla="*/ 3678621 w 4550979"/>
              <a:gd name="connsiteY9-754" fmla="*/ 2017986 h 4897821"/>
              <a:gd name="connsiteX10-755" fmla="*/ 3584027 w 4550979"/>
              <a:gd name="connsiteY10-756" fmla="*/ 1839310 h 4897821"/>
              <a:gd name="connsiteX11-757" fmla="*/ 3342289 w 4550979"/>
              <a:gd name="connsiteY11-758" fmla="*/ 1681655 h 4897821"/>
              <a:gd name="connsiteX12-759" fmla="*/ 4393324 w 4550979"/>
              <a:gd name="connsiteY12-760" fmla="*/ 1545021 h 4897821"/>
              <a:gd name="connsiteX13-761" fmla="*/ 4550979 w 4550979"/>
              <a:gd name="connsiteY13-762" fmla="*/ 2879834 h 4897821"/>
              <a:gd name="connsiteX14-763" fmla="*/ 4403834 w 4550979"/>
              <a:gd name="connsiteY14-764" fmla="*/ 4519448 h 4897821"/>
              <a:gd name="connsiteX15-765" fmla="*/ 3394841 w 4550979"/>
              <a:gd name="connsiteY15-766" fmla="*/ 4897821 h 4897821"/>
              <a:gd name="connsiteX16-767" fmla="*/ 0 w 4550979"/>
              <a:gd name="connsiteY16-768" fmla="*/ 4855779 h 4897821"/>
              <a:gd name="connsiteX17-769" fmla="*/ 21020 w 4550979"/>
              <a:gd name="connsiteY17-770" fmla="*/ 178677 h 4897821"/>
              <a:gd name="connsiteX0-771" fmla="*/ 21020 w 4550979"/>
              <a:gd name="connsiteY0-772" fmla="*/ 178677 h 4897821"/>
              <a:gd name="connsiteX1-773" fmla="*/ 2270234 w 4550979"/>
              <a:gd name="connsiteY1-774" fmla="*/ 0 h 4897821"/>
              <a:gd name="connsiteX2-775" fmla="*/ 2333296 w 4550979"/>
              <a:gd name="connsiteY2-776" fmla="*/ 1429406 h 4897821"/>
              <a:gd name="connsiteX3-777" fmla="*/ 1587062 w 4550979"/>
              <a:gd name="connsiteY3-778" fmla="*/ 1881352 h 4897821"/>
              <a:gd name="connsiteX4-779" fmla="*/ 1450427 w 4550979"/>
              <a:gd name="connsiteY4-780" fmla="*/ 2427889 h 4897821"/>
              <a:gd name="connsiteX5-781" fmla="*/ 3109710 w 4550979"/>
              <a:gd name="connsiteY5-782" fmla="*/ 2969623 h 4897821"/>
              <a:gd name="connsiteX6-783" fmla="*/ 3443339 w 4550979"/>
              <a:gd name="connsiteY6-784" fmla="*/ 2779385 h 4897821"/>
              <a:gd name="connsiteX7-785" fmla="*/ 3699641 w 4550979"/>
              <a:gd name="connsiteY7-786" fmla="*/ 2554013 h 4897821"/>
              <a:gd name="connsiteX8-787" fmla="*/ 3720662 w 4550979"/>
              <a:gd name="connsiteY8-788" fmla="*/ 2217683 h 4897821"/>
              <a:gd name="connsiteX9-789" fmla="*/ 3678621 w 4550979"/>
              <a:gd name="connsiteY9-790" fmla="*/ 2017986 h 4897821"/>
              <a:gd name="connsiteX10-791" fmla="*/ 3584027 w 4550979"/>
              <a:gd name="connsiteY10-792" fmla="*/ 1839310 h 4897821"/>
              <a:gd name="connsiteX11-793" fmla="*/ 3342289 w 4550979"/>
              <a:gd name="connsiteY11-794" fmla="*/ 1681655 h 4897821"/>
              <a:gd name="connsiteX12-795" fmla="*/ 4393324 w 4550979"/>
              <a:gd name="connsiteY12-796" fmla="*/ 1545021 h 4897821"/>
              <a:gd name="connsiteX13-797" fmla="*/ 4550979 w 4550979"/>
              <a:gd name="connsiteY13-798" fmla="*/ 2879834 h 4897821"/>
              <a:gd name="connsiteX14-799" fmla="*/ 4403834 w 4550979"/>
              <a:gd name="connsiteY14-800" fmla="*/ 4519448 h 4897821"/>
              <a:gd name="connsiteX15-801" fmla="*/ 3394841 w 4550979"/>
              <a:gd name="connsiteY15-802" fmla="*/ 4897821 h 4897821"/>
              <a:gd name="connsiteX16-803" fmla="*/ 0 w 4550979"/>
              <a:gd name="connsiteY16-804" fmla="*/ 4855779 h 4897821"/>
              <a:gd name="connsiteX17-805" fmla="*/ 21020 w 4550979"/>
              <a:gd name="connsiteY17-806" fmla="*/ 178677 h 4897821"/>
              <a:gd name="connsiteX0-807" fmla="*/ 21020 w 4550979"/>
              <a:gd name="connsiteY0-808" fmla="*/ 178677 h 4897821"/>
              <a:gd name="connsiteX1-809" fmla="*/ 2270234 w 4550979"/>
              <a:gd name="connsiteY1-810" fmla="*/ 0 h 4897821"/>
              <a:gd name="connsiteX2-811" fmla="*/ 2333296 w 4550979"/>
              <a:gd name="connsiteY2-812" fmla="*/ 1429406 h 4897821"/>
              <a:gd name="connsiteX3-813" fmla="*/ 1587062 w 4550979"/>
              <a:gd name="connsiteY3-814" fmla="*/ 1881352 h 4897821"/>
              <a:gd name="connsiteX4-815" fmla="*/ 1450427 w 4550979"/>
              <a:gd name="connsiteY4-816" fmla="*/ 2427889 h 4897821"/>
              <a:gd name="connsiteX5-817" fmla="*/ 3109710 w 4550979"/>
              <a:gd name="connsiteY5-818" fmla="*/ 2969623 h 4897821"/>
              <a:gd name="connsiteX6-819" fmla="*/ 3447693 w 4550979"/>
              <a:gd name="connsiteY6-820" fmla="*/ 2801156 h 4897821"/>
              <a:gd name="connsiteX7-821" fmla="*/ 3699641 w 4550979"/>
              <a:gd name="connsiteY7-822" fmla="*/ 2554013 h 4897821"/>
              <a:gd name="connsiteX8-823" fmla="*/ 3720662 w 4550979"/>
              <a:gd name="connsiteY8-824" fmla="*/ 2217683 h 4897821"/>
              <a:gd name="connsiteX9-825" fmla="*/ 3678621 w 4550979"/>
              <a:gd name="connsiteY9-826" fmla="*/ 2017986 h 4897821"/>
              <a:gd name="connsiteX10-827" fmla="*/ 3584027 w 4550979"/>
              <a:gd name="connsiteY10-828" fmla="*/ 1839310 h 4897821"/>
              <a:gd name="connsiteX11-829" fmla="*/ 3342289 w 4550979"/>
              <a:gd name="connsiteY11-830" fmla="*/ 1681655 h 4897821"/>
              <a:gd name="connsiteX12-831" fmla="*/ 4393324 w 4550979"/>
              <a:gd name="connsiteY12-832" fmla="*/ 1545021 h 4897821"/>
              <a:gd name="connsiteX13-833" fmla="*/ 4550979 w 4550979"/>
              <a:gd name="connsiteY13-834" fmla="*/ 2879834 h 4897821"/>
              <a:gd name="connsiteX14-835" fmla="*/ 4403834 w 4550979"/>
              <a:gd name="connsiteY14-836" fmla="*/ 4519448 h 4897821"/>
              <a:gd name="connsiteX15-837" fmla="*/ 3394841 w 4550979"/>
              <a:gd name="connsiteY15-838" fmla="*/ 4897821 h 4897821"/>
              <a:gd name="connsiteX16-839" fmla="*/ 0 w 4550979"/>
              <a:gd name="connsiteY16-840" fmla="*/ 4855779 h 4897821"/>
              <a:gd name="connsiteX17-841" fmla="*/ 21020 w 4550979"/>
              <a:gd name="connsiteY17-842" fmla="*/ 178677 h 48978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4550979" h="4897821">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604013" y="3143444"/>
                  <a:pt x="3109710" y="2969623"/>
                </a:cubicBezTo>
                <a:cubicBezTo>
                  <a:pt x="3247046" y="2914919"/>
                  <a:pt x="3336483" y="2864569"/>
                  <a:pt x="3447693" y="2801156"/>
                </a:cubicBez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椭圆 7">
            <a:extLst>
              <a:ext uri="{FF2B5EF4-FFF2-40B4-BE49-F238E27FC236}">
                <a16:creationId xmlns:a16="http://schemas.microsoft.com/office/drawing/2014/main" id="{C2E96C47-8AE5-1648-B0E0-A724DE328DB4}"/>
              </a:ext>
            </a:extLst>
          </p:cNvPr>
          <p:cNvSpPr/>
          <p:nvPr/>
        </p:nvSpPr>
        <p:spPr>
          <a:xfrm>
            <a:off x="8937523" y="4078514"/>
            <a:ext cx="1165122" cy="53702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灯片编号占位符 2">
            <a:extLst>
              <a:ext uri="{FF2B5EF4-FFF2-40B4-BE49-F238E27FC236}">
                <a16:creationId xmlns:a16="http://schemas.microsoft.com/office/drawing/2014/main" id="{22922EFC-8F31-6142-BB51-1005DC52B899}"/>
              </a:ext>
            </a:extLst>
          </p:cNvPr>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
        <p:nvSpPr>
          <p:cNvPr id="11" name="文本框 10">
            <a:extLst>
              <a:ext uri="{FF2B5EF4-FFF2-40B4-BE49-F238E27FC236}">
                <a16:creationId xmlns:a16="http://schemas.microsoft.com/office/drawing/2014/main" id="{E3B7C49A-249E-4C45-9AF5-EFB6D47DD8E6}"/>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p>
        </p:txBody>
      </p:sp>
      <p:pic>
        <p:nvPicPr>
          <p:cNvPr id="9" name="Picture 28" descr="015">
            <a:extLst>
              <a:ext uri="{FF2B5EF4-FFF2-40B4-BE49-F238E27FC236}">
                <a16:creationId xmlns:a16="http://schemas.microsoft.com/office/drawing/2014/main" id="{E53BE9CA-C40C-4E24-9791-B2EEAD60AF1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7944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网络核心</a:t>
            </a:r>
            <a:r>
              <a:rPr lang="zh-CN" altLang="en-US" dirty="0"/>
              <a:t>的两大</a:t>
            </a:r>
            <a:r>
              <a:rPr lang="zh-CN" altLang="en-US" dirty="0">
                <a:sym typeface="+mn-ea"/>
              </a:rPr>
              <a:t>功能</a:t>
            </a:r>
            <a:endParaRPr lang="en-US" altLang="zh-CN" dirty="0">
              <a:sym typeface="+mn-ea"/>
            </a:endParaRPr>
          </a:p>
        </p:txBody>
      </p:sp>
      <p:sp>
        <p:nvSpPr>
          <p:cNvPr id="3" name="内容占位符 2"/>
          <p:cNvSpPr>
            <a:spLocks noGrp="1"/>
          </p:cNvSpPr>
          <p:nvPr>
            <p:ph idx="1"/>
          </p:nvPr>
        </p:nvSpPr>
        <p:spPr>
          <a:xfrm>
            <a:off x="704336" y="1369695"/>
            <a:ext cx="5187208" cy="4977076"/>
          </a:xfrm>
        </p:spPr>
        <p:txBody>
          <a:bodyPr>
            <a:normAutofit fontScale="85000" lnSpcReduction="10000"/>
          </a:bodyPr>
          <a:lstStyle/>
          <a:p>
            <a:pPr>
              <a:lnSpc>
                <a:spcPct val="130000"/>
              </a:lnSpc>
            </a:pPr>
            <a:r>
              <a:rPr lang="zh-CN" altLang="en-US" dirty="0">
                <a:cs typeface="微软雅黑" panose="020B0503020204020204" pitchFamily="34" charset="-122"/>
              </a:rPr>
              <a:t>功能</a:t>
            </a:r>
            <a:r>
              <a:rPr lang="en-US" altLang="zh-CN" dirty="0">
                <a:cs typeface="微软雅黑" panose="020B0503020204020204" pitchFamily="34" charset="-122"/>
              </a:rPr>
              <a:t>1</a:t>
            </a:r>
            <a:r>
              <a:rPr lang="zh-CN" altLang="en-US" dirty="0">
                <a:cs typeface="微软雅黑" panose="020B0503020204020204" pitchFamily="34" charset="-122"/>
              </a:rPr>
              <a:t>：</a:t>
            </a:r>
            <a:r>
              <a:rPr lang="zh-CN" altLang="en-US" dirty="0">
                <a:solidFill>
                  <a:srgbClr val="C00000"/>
                </a:solidFill>
                <a:cs typeface="微软雅黑" panose="020B0503020204020204" pitchFamily="34" charset="-122"/>
              </a:rPr>
              <a:t>路由</a:t>
            </a:r>
            <a:endParaRPr lang="en-US" altLang="zh-CN" dirty="0">
              <a:solidFill>
                <a:srgbClr val="C00000"/>
              </a:solidFill>
              <a:cs typeface="微软雅黑" panose="020B0503020204020204" pitchFamily="34" charset="-122"/>
            </a:endParaRPr>
          </a:p>
          <a:p>
            <a:pPr lvl="1">
              <a:lnSpc>
                <a:spcPct val="130000"/>
              </a:lnSpc>
            </a:pPr>
            <a:r>
              <a:rPr lang="zh-CN" altLang="en-US" dirty="0">
                <a:solidFill>
                  <a:srgbClr val="C00000"/>
                </a:solidFill>
                <a:cs typeface="微软雅黑" panose="020B0503020204020204" pitchFamily="34" charset="-122"/>
              </a:rPr>
              <a:t>全局操作</a:t>
            </a:r>
            <a:r>
              <a:rPr lang="zh-CN" altLang="en-US" dirty="0">
                <a:cs typeface="微软雅黑" panose="020B0503020204020204" pitchFamily="34" charset="-122"/>
              </a:rPr>
              <a:t>：确定数据分组从源到目标所使用的路径</a:t>
            </a:r>
            <a:endParaRPr lang="en-US" altLang="zh-CN" dirty="0">
              <a:cs typeface="微软雅黑" panose="020B0503020204020204" pitchFamily="34" charset="-122"/>
            </a:endParaRPr>
          </a:p>
          <a:p>
            <a:pPr lvl="1">
              <a:lnSpc>
                <a:spcPct val="130000"/>
              </a:lnSpc>
            </a:pPr>
            <a:r>
              <a:rPr lang="zh-CN" altLang="en-US" dirty="0">
                <a:cs typeface="微软雅黑" panose="020B0503020204020204" pitchFamily="34" charset="-122"/>
              </a:rPr>
              <a:t>需要路由协议和路由算法，产生路由表</a:t>
            </a:r>
          </a:p>
          <a:p>
            <a:pPr>
              <a:lnSpc>
                <a:spcPct val="130000"/>
              </a:lnSpc>
            </a:pPr>
            <a:r>
              <a:rPr lang="zh-CN" altLang="en-US" dirty="0"/>
              <a:t>功能</a:t>
            </a:r>
            <a:r>
              <a:rPr lang="en-US" altLang="zh-CN" dirty="0"/>
              <a:t>2</a:t>
            </a:r>
            <a:r>
              <a:rPr lang="zh-CN" altLang="en-US" dirty="0"/>
              <a:t>：</a:t>
            </a:r>
            <a:r>
              <a:rPr lang="zh-CN" altLang="en-US" dirty="0">
                <a:solidFill>
                  <a:srgbClr val="C00000"/>
                </a:solidFill>
              </a:rPr>
              <a:t>转发</a:t>
            </a:r>
            <a:endParaRPr lang="en-US" altLang="zh-CN" dirty="0">
              <a:solidFill>
                <a:srgbClr val="C00000"/>
              </a:solidFill>
            </a:endParaRPr>
          </a:p>
          <a:p>
            <a:pPr lvl="1">
              <a:lnSpc>
                <a:spcPct val="130000"/>
              </a:lnSpc>
            </a:pPr>
            <a:r>
              <a:rPr lang="zh-CN" altLang="en-US" dirty="0">
                <a:solidFill>
                  <a:srgbClr val="C00000"/>
                </a:solidFill>
              </a:rPr>
              <a:t>本地操作</a:t>
            </a:r>
            <a:r>
              <a:rPr lang="zh-CN" altLang="en-US" dirty="0"/>
              <a:t>：路由器或交换机将接收到的数据分组转发出去（即移动到该设备的某个输出接口）</a:t>
            </a:r>
            <a:endParaRPr lang="en-US" altLang="zh-CN" dirty="0"/>
          </a:p>
          <a:p>
            <a:pPr lvl="1">
              <a:lnSpc>
                <a:spcPct val="130000"/>
              </a:lnSpc>
            </a:pPr>
            <a:r>
              <a:rPr lang="zh-CN" altLang="en-US" dirty="0"/>
              <a:t>确定转发出去的接口</a:t>
            </a:r>
            <a:r>
              <a:rPr lang="en-US" altLang="zh-CN" dirty="0"/>
              <a:t>/</a:t>
            </a:r>
            <a:r>
              <a:rPr lang="zh-CN" altLang="en-US" dirty="0"/>
              <a:t>链路：根据从“入接口”收到分组头中的目的地址，查找本地</a:t>
            </a:r>
            <a:r>
              <a:rPr lang="zh-CN" altLang="en-US" dirty="0">
                <a:solidFill>
                  <a:srgbClr val="C00000"/>
                </a:solidFill>
              </a:rPr>
              <a:t>路由表</a:t>
            </a:r>
            <a:r>
              <a:rPr lang="zh-CN" altLang="en-US" dirty="0"/>
              <a:t>，确定“出接口”</a:t>
            </a:r>
            <a:endParaRPr lang="en-US" altLang="zh-CN" dirty="0"/>
          </a:p>
        </p:txBody>
      </p:sp>
      <p:grpSp>
        <p:nvGrpSpPr>
          <p:cNvPr id="6" name="Group 2"/>
          <p:cNvGrpSpPr/>
          <p:nvPr/>
        </p:nvGrpSpPr>
        <p:grpSpPr>
          <a:xfrm>
            <a:off x="6158032" y="1645591"/>
            <a:ext cx="2317750" cy="3038266"/>
            <a:chOff x="3563785" y="1706808"/>
            <a:chExt cx="2317750" cy="3038266"/>
          </a:xfrm>
        </p:grpSpPr>
        <p:sp>
          <p:nvSpPr>
            <p:cNvPr id="539" name="Freeform 3"/>
            <p:cNvSpPr/>
            <p:nvPr/>
          </p:nvSpPr>
          <p:spPr bwMode="auto">
            <a:xfrm rot="16200000">
              <a:off x="4355018" y="3236963"/>
              <a:ext cx="721461" cy="2294761"/>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 name="connsiteX0" fmla="*/ 0 w 10000"/>
                <a:gd name="connsiteY0" fmla="*/ 0 h 9714"/>
                <a:gd name="connsiteX1" fmla="*/ 3718 w 10000"/>
                <a:gd name="connsiteY1" fmla="*/ 8779 h 9714"/>
                <a:gd name="connsiteX2" fmla="*/ 9148 w 10000"/>
                <a:gd name="connsiteY2" fmla="*/ 9657 h 9714"/>
                <a:gd name="connsiteX3" fmla="*/ 10000 w 10000"/>
                <a:gd name="connsiteY3" fmla="*/ 61 h 9714"/>
                <a:gd name="connsiteX4" fmla="*/ 0 w 10000"/>
                <a:gd name="connsiteY4" fmla="*/ 0 h 9714"/>
                <a:gd name="connsiteX0-1" fmla="*/ 0 w 10000"/>
                <a:gd name="connsiteY0-2" fmla="*/ 0 h 9095"/>
                <a:gd name="connsiteX1-3" fmla="*/ 3718 w 10000"/>
                <a:gd name="connsiteY1-4" fmla="*/ 9037 h 9095"/>
                <a:gd name="connsiteX2-5" fmla="*/ 5712 w 10000"/>
                <a:gd name="connsiteY2-6" fmla="*/ 8929 h 9095"/>
                <a:gd name="connsiteX3-7" fmla="*/ 10000 w 10000"/>
                <a:gd name="connsiteY3-8" fmla="*/ 63 h 9095"/>
                <a:gd name="connsiteX4-9" fmla="*/ 0 w 10000"/>
                <a:gd name="connsiteY4-10" fmla="*/ 0 h 9095"/>
                <a:gd name="connsiteX0-11" fmla="*/ 0 w 10000"/>
                <a:gd name="connsiteY0-12" fmla="*/ 0 h 10000"/>
                <a:gd name="connsiteX1-13" fmla="*/ 3718 w 10000"/>
                <a:gd name="connsiteY1-14" fmla="*/ 9936 h 10000"/>
                <a:gd name="connsiteX2-15" fmla="*/ 5712 w 10000"/>
                <a:gd name="connsiteY2-16" fmla="*/ 9817 h 10000"/>
                <a:gd name="connsiteX3-17" fmla="*/ 10000 w 10000"/>
                <a:gd name="connsiteY3-18" fmla="*/ 69 h 10000"/>
                <a:gd name="connsiteX4-19" fmla="*/ 0 w 10000"/>
                <a:gd name="connsiteY4-20" fmla="*/ 0 h 10000"/>
                <a:gd name="connsiteX0-21" fmla="*/ 0 w 10000"/>
                <a:gd name="connsiteY0-22" fmla="*/ 0 h 10000"/>
                <a:gd name="connsiteX1-23" fmla="*/ 3718 w 10000"/>
                <a:gd name="connsiteY1-24" fmla="*/ 9936 h 10000"/>
                <a:gd name="connsiteX2-25" fmla="*/ 5712 w 10000"/>
                <a:gd name="connsiteY2-26" fmla="*/ 9817 h 10000"/>
                <a:gd name="connsiteX3-27" fmla="*/ 10000 w 10000"/>
                <a:gd name="connsiteY3-28" fmla="*/ 69 h 10000"/>
                <a:gd name="connsiteX4-29" fmla="*/ 0 w 10000"/>
                <a:gd name="connsiteY4-30" fmla="*/ 0 h 10000"/>
                <a:gd name="connsiteX0-31" fmla="*/ 0 w 10000"/>
                <a:gd name="connsiteY0-32" fmla="*/ 0 h 10000"/>
                <a:gd name="connsiteX1-33" fmla="*/ 3718 w 10000"/>
                <a:gd name="connsiteY1-34" fmla="*/ 9936 h 10000"/>
                <a:gd name="connsiteX2-35" fmla="*/ 5712 w 10000"/>
                <a:gd name="connsiteY2-36" fmla="*/ 9817 h 10000"/>
                <a:gd name="connsiteX3-37" fmla="*/ 10000 w 10000"/>
                <a:gd name="connsiteY3-38" fmla="*/ 69 h 10000"/>
                <a:gd name="connsiteX4-39" fmla="*/ 0 w 10000"/>
                <a:gd name="connsiteY4-40" fmla="*/ 0 h 10000"/>
                <a:gd name="connsiteX0-41" fmla="*/ 0 w 10000"/>
                <a:gd name="connsiteY0-42" fmla="*/ 0 h 10000"/>
                <a:gd name="connsiteX1-43" fmla="*/ 3718 w 10000"/>
                <a:gd name="connsiteY1-44" fmla="*/ 9936 h 10000"/>
                <a:gd name="connsiteX2-45" fmla="*/ 5712 w 10000"/>
                <a:gd name="connsiteY2-46" fmla="*/ 9817 h 10000"/>
                <a:gd name="connsiteX3-47" fmla="*/ 10000 w 10000"/>
                <a:gd name="connsiteY3-48" fmla="*/ 69 h 10000"/>
                <a:gd name="connsiteX4-49" fmla="*/ 0 w 10000"/>
                <a:gd name="connsiteY4-50" fmla="*/ 0 h 10000"/>
                <a:gd name="connsiteX0-51" fmla="*/ 0 w 8989"/>
                <a:gd name="connsiteY0-52" fmla="*/ 0 h 11618"/>
                <a:gd name="connsiteX1-53" fmla="*/ 2707 w 8989"/>
                <a:gd name="connsiteY1-54" fmla="*/ 11554 h 11618"/>
                <a:gd name="connsiteX2-55" fmla="*/ 4701 w 8989"/>
                <a:gd name="connsiteY2-56" fmla="*/ 11435 h 11618"/>
                <a:gd name="connsiteX3-57" fmla="*/ 8989 w 8989"/>
                <a:gd name="connsiteY3-58" fmla="*/ 1687 h 11618"/>
                <a:gd name="connsiteX4-59" fmla="*/ 0 w 8989"/>
                <a:gd name="connsiteY4-60" fmla="*/ 0 h 11618"/>
                <a:gd name="connsiteX0-61" fmla="*/ 0 w 9888"/>
                <a:gd name="connsiteY0-62" fmla="*/ 115 h 10115"/>
                <a:gd name="connsiteX1-63" fmla="*/ 3011 w 9888"/>
                <a:gd name="connsiteY1-64" fmla="*/ 10060 h 10115"/>
                <a:gd name="connsiteX2-65" fmla="*/ 5230 w 9888"/>
                <a:gd name="connsiteY2-66" fmla="*/ 9957 h 10115"/>
                <a:gd name="connsiteX3-67" fmla="*/ 9888 w 9888"/>
                <a:gd name="connsiteY3-68" fmla="*/ 0 h 10115"/>
                <a:gd name="connsiteX4-69" fmla="*/ 0 w 9888"/>
                <a:gd name="connsiteY4-70" fmla="*/ 115 h 10115"/>
                <a:gd name="connsiteX0-71" fmla="*/ 0 w 9829"/>
                <a:gd name="connsiteY0-72" fmla="*/ 0 h 10833"/>
                <a:gd name="connsiteX1-73" fmla="*/ 2874 w 9829"/>
                <a:gd name="connsiteY1-74" fmla="*/ 10779 h 10833"/>
                <a:gd name="connsiteX2-75" fmla="*/ 5118 w 9829"/>
                <a:gd name="connsiteY2-76" fmla="*/ 10677 h 10833"/>
                <a:gd name="connsiteX3-77" fmla="*/ 9829 w 9829"/>
                <a:gd name="connsiteY3-78" fmla="*/ 833 h 10833"/>
                <a:gd name="connsiteX4-79" fmla="*/ 0 w 9829"/>
                <a:gd name="connsiteY4-80" fmla="*/ 0 h 10833"/>
                <a:gd name="connsiteX0-81" fmla="*/ 0 w 10289"/>
                <a:gd name="connsiteY0-82" fmla="*/ 0 h 10000"/>
                <a:gd name="connsiteX1-83" fmla="*/ 2924 w 10289"/>
                <a:gd name="connsiteY1-84" fmla="*/ 9950 h 10000"/>
                <a:gd name="connsiteX2-85" fmla="*/ 5207 w 10289"/>
                <a:gd name="connsiteY2-86" fmla="*/ 9856 h 10000"/>
                <a:gd name="connsiteX3-87" fmla="*/ 10289 w 10289"/>
                <a:gd name="connsiteY3-88" fmla="*/ 54 h 10000"/>
                <a:gd name="connsiteX4-89" fmla="*/ 0 w 10289"/>
                <a:gd name="connsiteY4-90" fmla="*/ 0 h 10000"/>
                <a:gd name="connsiteX0-91" fmla="*/ 0 w 10289"/>
                <a:gd name="connsiteY0-92" fmla="*/ 0 h 10953"/>
                <a:gd name="connsiteX1-93" fmla="*/ 2924 w 10289"/>
                <a:gd name="connsiteY1-94" fmla="*/ 9950 h 10953"/>
                <a:gd name="connsiteX2-95" fmla="*/ 3723 w 10289"/>
                <a:gd name="connsiteY2-96" fmla="*/ 10695 h 10953"/>
                <a:gd name="connsiteX3-97" fmla="*/ 5207 w 10289"/>
                <a:gd name="connsiteY3-98" fmla="*/ 9856 h 10953"/>
                <a:gd name="connsiteX4-99" fmla="*/ 10289 w 10289"/>
                <a:gd name="connsiteY4-100" fmla="*/ 54 h 10953"/>
                <a:gd name="connsiteX5" fmla="*/ 0 w 10289"/>
                <a:gd name="connsiteY5" fmla="*/ 0 h 10953"/>
                <a:gd name="connsiteX0-101" fmla="*/ 0 w 10289"/>
                <a:gd name="connsiteY0-102" fmla="*/ 0 h 11138"/>
                <a:gd name="connsiteX1-103" fmla="*/ 2924 w 10289"/>
                <a:gd name="connsiteY1-104" fmla="*/ 9950 h 11138"/>
                <a:gd name="connsiteX2-105" fmla="*/ 5207 w 10289"/>
                <a:gd name="connsiteY2-106" fmla="*/ 9856 h 11138"/>
                <a:gd name="connsiteX3-107" fmla="*/ 10289 w 10289"/>
                <a:gd name="connsiteY3-108" fmla="*/ 54 h 11138"/>
                <a:gd name="connsiteX4-109" fmla="*/ 0 w 10289"/>
                <a:gd name="connsiteY4-110" fmla="*/ 0 h 11138"/>
                <a:gd name="connsiteX0-111" fmla="*/ 0 w 10289"/>
                <a:gd name="connsiteY0-112" fmla="*/ 0 h 10669"/>
                <a:gd name="connsiteX1-113" fmla="*/ 2924 w 10289"/>
                <a:gd name="connsiteY1-114" fmla="*/ 9950 h 10669"/>
                <a:gd name="connsiteX2-115" fmla="*/ 5207 w 10289"/>
                <a:gd name="connsiteY2-116" fmla="*/ 9856 h 10669"/>
                <a:gd name="connsiteX3-117" fmla="*/ 10289 w 10289"/>
                <a:gd name="connsiteY3-118" fmla="*/ 54 h 10669"/>
                <a:gd name="connsiteX4-119" fmla="*/ 0 w 10289"/>
                <a:gd name="connsiteY4-120" fmla="*/ 0 h 10669"/>
                <a:gd name="connsiteX0-121" fmla="*/ 0 w 10289"/>
                <a:gd name="connsiteY0-122" fmla="*/ 0 h 10734"/>
                <a:gd name="connsiteX1-123" fmla="*/ 2924 w 10289"/>
                <a:gd name="connsiteY1-124" fmla="*/ 9950 h 10734"/>
                <a:gd name="connsiteX2-125" fmla="*/ 4455 w 10289"/>
                <a:gd name="connsiteY2-126" fmla="*/ 10094 h 10734"/>
                <a:gd name="connsiteX3-127" fmla="*/ 10289 w 10289"/>
                <a:gd name="connsiteY3-128" fmla="*/ 54 h 10734"/>
                <a:gd name="connsiteX4-129" fmla="*/ 0 w 10289"/>
                <a:gd name="connsiteY4-130" fmla="*/ 0 h 10734"/>
                <a:gd name="connsiteX0-131" fmla="*/ 0 w 10289"/>
                <a:gd name="connsiteY0-132" fmla="*/ 0 h 10107"/>
                <a:gd name="connsiteX1-133" fmla="*/ 2924 w 10289"/>
                <a:gd name="connsiteY1-134" fmla="*/ 9950 h 10107"/>
                <a:gd name="connsiteX2-135" fmla="*/ 4455 w 10289"/>
                <a:gd name="connsiteY2-136" fmla="*/ 10094 h 10107"/>
                <a:gd name="connsiteX3-137" fmla="*/ 10289 w 10289"/>
                <a:gd name="connsiteY3-138" fmla="*/ 54 h 10107"/>
                <a:gd name="connsiteX4-139" fmla="*/ 0 w 10289"/>
                <a:gd name="connsiteY4-140" fmla="*/ 0 h 10107"/>
                <a:gd name="connsiteX0-141" fmla="*/ 0 w 10289"/>
                <a:gd name="connsiteY0-142" fmla="*/ 0 h 10107"/>
                <a:gd name="connsiteX1-143" fmla="*/ 2924 w 10289"/>
                <a:gd name="connsiteY1-144" fmla="*/ 9950 h 10107"/>
                <a:gd name="connsiteX2-145" fmla="*/ 4455 w 10289"/>
                <a:gd name="connsiteY2-146" fmla="*/ 10094 h 10107"/>
                <a:gd name="connsiteX3-147" fmla="*/ 10289 w 10289"/>
                <a:gd name="connsiteY3-148" fmla="*/ 54 h 10107"/>
                <a:gd name="connsiteX4-149" fmla="*/ 0 w 10289"/>
                <a:gd name="connsiteY4-150" fmla="*/ 0 h 10107"/>
                <a:gd name="connsiteX0-151" fmla="*/ 0 w 10289"/>
                <a:gd name="connsiteY0-152" fmla="*/ 0 h 10107"/>
                <a:gd name="connsiteX1-153" fmla="*/ 2924 w 10289"/>
                <a:gd name="connsiteY1-154" fmla="*/ 9950 h 10107"/>
                <a:gd name="connsiteX2-155" fmla="*/ 4455 w 10289"/>
                <a:gd name="connsiteY2-156" fmla="*/ 10094 h 10107"/>
                <a:gd name="connsiteX3-157" fmla="*/ 10289 w 10289"/>
                <a:gd name="connsiteY3-158" fmla="*/ 54 h 10107"/>
                <a:gd name="connsiteX4-159" fmla="*/ 0 w 10289"/>
                <a:gd name="connsiteY4-160" fmla="*/ 0 h 10107"/>
                <a:gd name="connsiteX0-161" fmla="*/ 0 w 10289"/>
                <a:gd name="connsiteY0-162" fmla="*/ 0 h 9960"/>
                <a:gd name="connsiteX1-163" fmla="*/ 2924 w 10289"/>
                <a:gd name="connsiteY1-164" fmla="*/ 9950 h 9960"/>
                <a:gd name="connsiteX2-165" fmla="*/ 4166 w 10289"/>
                <a:gd name="connsiteY2-166" fmla="*/ 9776 h 9960"/>
                <a:gd name="connsiteX3-167" fmla="*/ 10289 w 10289"/>
                <a:gd name="connsiteY3-168" fmla="*/ 54 h 9960"/>
                <a:gd name="connsiteX4-169" fmla="*/ 0 w 10289"/>
                <a:gd name="connsiteY4-170" fmla="*/ 0 h 9960"/>
                <a:gd name="connsiteX0-171" fmla="*/ 0 w 10000"/>
                <a:gd name="connsiteY0-172" fmla="*/ 0 h 10000"/>
                <a:gd name="connsiteX1-173" fmla="*/ 2842 w 10000"/>
                <a:gd name="connsiteY1-174" fmla="*/ 9990 h 10000"/>
                <a:gd name="connsiteX2-175" fmla="*/ 4049 w 10000"/>
                <a:gd name="connsiteY2-176" fmla="*/ 9815 h 10000"/>
                <a:gd name="connsiteX3-177" fmla="*/ 10000 w 10000"/>
                <a:gd name="connsiteY3-178" fmla="*/ 54 h 10000"/>
                <a:gd name="connsiteX4-179" fmla="*/ 0 w 10000"/>
                <a:gd name="connsiteY4-180" fmla="*/ 0 h 10000"/>
                <a:gd name="connsiteX0-181" fmla="*/ 0 w 10000"/>
                <a:gd name="connsiteY0-182" fmla="*/ 0 h 10400"/>
                <a:gd name="connsiteX1-183" fmla="*/ 2740 w 10000"/>
                <a:gd name="connsiteY1-184" fmla="*/ 10397 h 10400"/>
                <a:gd name="connsiteX2-185" fmla="*/ 4049 w 10000"/>
                <a:gd name="connsiteY2-186" fmla="*/ 9815 h 10400"/>
                <a:gd name="connsiteX3-187" fmla="*/ 10000 w 10000"/>
                <a:gd name="connsiteY3-188" fmla="*/ 54 h 10400"/>
                <a:gd name="connsiteX4-189" fmla="*/ 0 w 10000"/>
                <a:gd name="connsiteY4-190" fmla="*/ 0 h 10400"/>
                <a:gd name="connsiteX0-191" fmla="*/ 0 w 10000"/>
                <a:gd name="connsiteY0-192" fmla="*/ 0 h 10419"/>
                <a:gd name="connsiteX1-193" fmla="*/ 2740 w 10000"/>
                <a:gd name="connsiteY1-194" fmla="*/ 10397 h 10419"/>
                <a:gd name="connsiteX2-195" fmla="*/ 3599 w 10000"/>
                <a:gd name="connsiteY2-196" fmla="*/ 10338 h 10419"/>
                <a:gd name="connsiteX3-197" fmla="*/ 10000 w 10000"/>
                <a:gd name="connsiteY3-198" fmla="*/ 54 h 10419"/>
                <a:gd name="connsiteX4-199" fmla="*/ 0 w 10000"/>
                <a:gd name="connsiteY4-200" fmla="*/ 0 h 10419"/>
                <a:gd name="connsiteX0-201" fmla="*/ 0 w 10000"/>
                <a:gd name="connsiteY0-202" fmla="*/ 0 h 10397"/>
                <a:gd name="connsiteX1-203" fmla="*/ 2740 w 10000"/>
                <a:gd name="connsiteY1-204" fmla="*/ 10397 h 10397"/>
                <a:gd name="connsiteX2-205" fmla="*/ 3599 w 10000"/>
                <a:gd name="connsiteY2-206" fmla="*/ 10338 h 10397"/>
                <a:gd name="connsiteX3-207" fmla="*/ 10000 w 10000"/>
                <a:gd name="connsiteY3-208" fmla="*/ 54 h 10397"/>
                <a:gd name="connsiteX4-209" fmla="*/ 0 w 10000"/>
                <a:gd name="connsiteY4-210" fmla="*/ 0 h 10397"/>
                <a:gd name="connsiteX0-211" fmla="*/ 0 w 10614"/>
                <a:gd name="connsiteY0-212" fmla="*/ 0 h 10397"/>
                <a:gd name="connsiteX1-213" fmla="*/ 2740 w 10614"/>
                <a:gd name="connsiteY1-214" fmla="*/ 10397 h 10397"/>
                <a:gd name="connsiteX2-215" fmla="*/ 3599 w 10614"/>
                <a:gd name="connsiteY2-216" fmla="*/ 10338 h 10397"/>
                <a:gd name="connsiteX3-217" fmla="*/ 10614 w 10614"/>
                <a:gd name="connsiteY3-218" fmla="*/ 112 h 10397"/>
                <a:gd name="connsiteX4-219" fmla="*/ 0 w 10614"/>
                <a:gd name="connsiteY4-220" fmla="*/ 0 h 10397"/>
                <a:gd name="connsiteX0-221" fmla="*/ 0 w 10614"/>
                <a:gd name="connsiteY0-222" fmla="*/ 0 h 10397"/>
                <a:gd name="connsiteX1-223" fmla="*/ 2740 w 10614"/>
                <a:gd name="connsiteY1-224" fmla="*/ 10397 h 10397"/>
                <a:gd name="connsiteX2-225" fmla="*/ 3599 w 10614"/>
                <a:gd name="connsiteY2-226" fmla="*/ 10338 h 10397"/>
                <a:gd name="connsiteX3-227" fmla="*/ 10614 w 10614"/>
                <a:gd name="connsiteY3-228" fmla="*/ 112 h 10397"/>
                <a:gd name="connsiteX4-229" fmla="*/ 0 w 10614"/>
                <a:gd name="connsiteY4-230" fmla="*/ 0 h 10397"/>
                <a:gd name="connsiteX0-231" fmla="*/ 0 w 10675"/>
                <a:gd name="connsiteY0-232" fmla="*/ 0 h 10310"/>
                <a:gd name="connsiteX1-233" fmla="*/ 2801 w 10675"/>
                <a:gd name="connsiteY1-234" fmla="*/ 10310 h 10310"/>
                <a:gd name="connsiteX2-235" fmla="*/ 3660 w 10675"/>
                <a:gd name="connsiteY2-236" fmla="*/ 10251 h 10310"/>
                <a:gd name="connsiteX3-237" fmla="*/ 10675 w 10675"/>
                <a:gd name="connsiteY3-238" fmla="*/ 25 h 10310"/>
                <a:gd name="connsiteX4-239" fmla="*/ 0 w 10675"/>
                <a:gd name="connsiteY4-240" fmla="*/ 0 h 10310"/>
                <a:gd name="connsiteX0-241" fmla="*/ 0 w 6741"/>
                <a:gd name="connsiteY0-242" fmla="*/ 0 h 15505"/>
                <a:gd name="connsiteX1-243" fmla="*/ 2801 w 6741"/>
                <a:gd name="connsiteY1-244" fmla="*/ 10310 h 15505"/>
                <a:gd name="connsiteX2-245" fmla="*/ 3660 w 6741"/>
                <a:gd name="connsiteY2-246" fmla="*/ 10251 h 15505"/>
                <a:gd name="connsiteX3-247" fmla="*/ 6741 w 6741"/>
                <a:gd name="connsiteY3-248" fmla="*/ 14932 h 15505"/>
                <a:gd name="connsiteX4-249" fmla="*/ 0 w 6741"/>
                <a:gd name="connsiteY4-250" fmla="*/ 0 h 15505"/>
                <a:gd name="connsiteX0-251" fmla="*/ 5612 w 7164"/>
                <a:gd name="connsiteY0-252" fmla="*/ 0 h 10410"/>
                <a:gd name="connsiteX1-253" fmla="*/ 13 w 7164"/>
                <a:gd name="connsiteY1-254" fmla="*/ 7060 h 10410"/>
                <a:gd name="connsiteX2-255" fmla="*/ 1287 w 7164"/>
                <a:gd name="connsiteY2-256" fmla="*/ 7022 h 10410"/>
                <a:gd name="connsiteX3-257" fmla="*/ 5858 w 7164"/>
                <a:gd name="connsiteY3-258" fmla="*/ 10041 h 10410"/>
                <a:gd name="connsiteX4-259" fmla="*/ 5612 w 7164"/>
                <a:gd name="connsiteY4-260" fmla="*/ 0 h 10410"/>
                <a:gd name="connsiteX0-261" fmla="*/ 7932 w 10098"/>
                <a:gd name="connsiteY0-262" fmla="*/ 0 h 10001"/>
                <a:gd name="connsiteX1-263" fmla="*/ 116 w 10098"/>
                <a:gd name="connsiteY1-264" fmla="*/ 6782 h 10001"/>
                <a:gd name="connsiteX2-265" fmla="*/ 1894 w 10098"/>
                <a:gd name="connsiteY2-266" fmla="*/ 6745 h 10001"/>
                <a:gd name="connsiteX3-267" fmla="*/ 8275 w 10098"/>
                <a:gd name="connsiteY3-268" fmla="*/ 9646 h 10001"/>
                <a:gd name="connsiteX4-269" fmla="*/ 7932 w 10098"/>
                <a:gd name="connsiteY4-270" fmla="*/ 0 h 10001"/>
                <a:gd name="connsiteX0-271" fmla="*/ 7932 w 11399"/>
                <a:gd name="connsiteY0-272" fmla="*/ 0 h 10001"/>
                <a:gd name="connsiteX1-273" fmla="*/ 116 w 11399"/>
                <a:gd name="connsiteY1-274" fmla="*/ 6782 h 10001"/>
                <a:gd name="connsiteX2-275" fmla="*/ 1894 w 11399"/>
                <a:gd name="connsiteY2-276" fmla="*/ 6745 h 10001"/>
                <a:gd name="connsiteX3-277" fmla="*/ 8275 w 11399"/>
                <a:gd name="connsiteY3-278" fmla="*/ 9646 h 10001"/>
                <a:gd name="connsiteX4-279" fmla="*/ 7932 w 11399"/>
                <a:gd name="connsiteY4-280" fmla="*/ 0 h 10001"/>
                <a:gd name="connsiteX0-281" fmla="*/ 7932 w 8463"/>
                <a:gd name="connsiteY0-282" fmla="*/ 0 h 10001"/>
                <a:gd name="connsiteX1-283" fmla="*/ 116 w 8463"/>
                <a:gd name="connsiteY1-284" fmla="*/ 6782 h 10001"/>
                <a:gd name="connsiteX2-285" fmla="*/ 1894 w 8463"/>
                <a:gd name="connsiteY2-286" fmla="*/ 6745 h 10001"/>
                <a:gd name="connsiteX3-287" fmla="*/ 8275 w 8463"/>
                <a:gd name="connsiteY3-288" fmla="*/ 9646 h 10001"/>
                <a:gd name="connsiteX4-289" fmla="*/ 7932 w 8463"/>
                <a:gd name="connsiteY4-290" fmla="*/ 0 h 10001"/>
                <a:gd name="connsiteX0-291" fmla="*/ 10170 w 10376"/>
                <a:gd name="connsiteY0-292" fmla="*/ 0 h 9753"/>
                <a:gd name="connsiteX1-293" fmla="*/ 109 w 10376"/>
                <a:gd name="connsiteY1-294" fmla="*/ 6534 h 9753"/>
                <a:gd name="connsiteX2-295" fmla="*/ 2210 w 10376"/>
                <a:gd name="connsiteY2-296" fmla="*/ 6497 h 9753"/>
                <a:gd name="connsiteX3-297" fmla="*/ 9750 w 10376"/>
                <a:gd name="connsiteY3-298" fmla="*/ 9398 h 9753"/>
                <a:gd name="connsiteX4-299" fmla="*/ 10170 w 10376"/>
                <a:gd name="connsiteY4-300" fmla="*/ 0 h 9753"/>
                <a:gd name="connsiteX0-301" fmla="*/ 9801 w 9999"/>
                <a:gd name="connsiteY0-302" fmla="*/ 0 h 9636"/>
                <a:gd name="connsiteX1-303" fmla="*/ 105 w 9999"/>
                <a:gd name="connsiteY1-304" fmla="*/ 6699 h 9636"/>
                <a:gd name="connsiteX2-305" fmla="*/ 2130 w 9999"/>
                <a:gd name="connsiteY2-306" fmla="*/ 6662 h 9636"/>
                <a:gd name="connsiteX3-307" fmla="*/ 9397 w 9999"/>
                <a:gd name="connsiteY3-308" fmla="*/ 9636 h 9636"/>
                <a:gd name="connsiteX4-309" fmla="*/ 9801 w 9999"/>
                <a:gd name="connsiteY4-310" fmla="*/ 0 h 9636"/>
                <a:gd name="connsiteX0-311" fmla="*/ 9802 w 10000"/>
                <a:gd name="connsiteY0-312" fmla="*/ 0 h 10000"/>
                <a:gd name="connsiteX1-313" fmla="*/ 105 w 10000"/>
                <a:gd name="connsiteY1-314" fmla="*/ 6952 h 10000"/>
                <a:gd name="connsiteX2-315" fmla="*/ 2130 w 10000"/>
                <a:gd name="connsiteY2-316" fmla="*/ 6914 h 10000"/>
                <a:gd name="connsiteX3-317" fmla="*/ 9398 w 10000"/>
                <a:gd name="connsiteY3-318" fmla="*/ 10000 h 10000"/>
                <a:gd name="connsiteX4-319" fmla="*/ 9802 w 10000"/>
                <a:gd name="connsiteY4-320" fmla="*/ 0 h 10000"/>
                <a:gd name="connsiteX0-321" fmla="*/ 9697 w 9895"/>
                <a:gd name="connsiteY0-322" fmla="*/ 0 h 10000"/>
                <a:gd name="connsiteX1-323" fmla="*/ 0 w 9895"/>
                <a:gd name="connsiteY1-324" fmla="*/ 6952 h 10000"/>
                <a:gd name="connsiteX2-325" fmla="*/ 2025 w 9895"/>
                <a:gd name="connsiteY2-326" fmla="*/ 6914 h 10000"/>
                <a:gd name="connsiteX3-327" fmla="*/ 9293 w 9895"/>
                <a:gd name="connsiteY3-328" fmla="*/ 10000 h 10000"/>
                <a:gd name="connsiteX4-329" fmla="*/ 9697 w 9895"/>
                <a:gd name="connsiteY4-330" fmla="*/ 0 h 10000"/>
                <a:gd name="connsiteX0-331" fmla="*/ 9800 w 10001"/>
                <a:gd name="connsiteY0-332" fmla="*/ 0 h 10000"/>
                <a:gd name="connsiteX1-333" fmla="*/ 0 w 10001"/>
                <a:gd name="connsiteY1-334" fmla="*/ 6952 h 10000"/>
                <a:gd name="connsiteX2-335" fmla="*/ 2314 w 10001"/>
                <a:gd name="connsiteY2-336" fmla="*/ 7860 h 10000"/>
                <a:gd name="connsiteX3-337" fmla="*/ 9392 w 10001"/>
                <a:gd name="connsiteY3-338" fmla="*/ 10000 h 10000"/>
                <a:gd name="connsiteX4-339" fmla="*/ 9800 w 10001"/>
                <a:gd name="connsiteY4-340" fmla="*/ 0 h 10000"/>
                <a:gd name="connsiteX0-341" fmla="*/ 9800 w 10001"/>
                <a:gd name="connsiteY0-342" fmla="*/ 0 h 10000"/>
                <a:gd name="connsiteX1-343" fmla="*/ 0 w 10001"/>
                <a:gd name="connsiteY1-344" fmla="*/ 6952 h 10000"/>
                <a:gd name="connsiteX2-345" fmla="*/ 2314 w 10001"/>
                <a:gd name="connsiteY2-346" fmla="*/ 7860 h 10000"/>
                <a:gd name="connsiteX3-347" fmla="*/ 9392 w 10001"/>
                <a:gd name="connsiteY3-348" fmla="*/ 10000 h 10000"/>
                <a:gd name="connsiteX4-349" fmla="*/ 9800 w 10001"/>
                <a:gd name="connsiteY4-350" fmla="*/ 0 h 10000"/>
                <a:gd name="connsiteX0-351" fmla="*/ 9800 w 10001"/>
                <a:gd name="connsiteY0-352" fmla="*/ 0 h 10000"/>
                <a:gd name="connsiteX1-353" fmla="*/ 0 w 10001"/>
                <a:gd name="connsiteY1-354" fmla="*/ 6952 h 10000"/>
                <a:gd name="connsiteX2-355" fmla="*/ 2314 w 10001"/>
                <a:gd name="connsiteY2-356" fmla="*/ 7860 h 10000"/>
                <a:gd name="connsiteX3-357" fmla="*/ 9392 w 10001"/>
                <a:gd name="connsiteY3-358" fmla="*/ 10000 h 10000"/>
                <a:gd name="connsiteX4-359" fmla="*/ 9800 w 10001"/>
                <a:gd name="connsiteY4-360" fmla="*/ 0 h 10000"/>
                <a:gd name="connsiteX0-361" fmla="*/ 9800 w 10148"/>
                <a:gd name="connsiteY0-362" fmla="*/ 0 h 10158"/>
                <a:gd name="connsiteX1-363" fmla="*/ 0 w 10148"/>
                <a:gd name="connsiteY1-364" fmla="*/ 6952 h 10158"/>
                <a:gd name="connsiteX2-365" fmla="*/ 2314 w 10148"/>
                <a:gd name="connsiteY2-366" fmla="*/ 7860 h 10158"/>
                <a:gd name="connsiteX3-367" fmla="*/ 9794 w 10148"/>
                <a:gd name="connsiteY3-368" fmla="*/ 10158 h 10158"/>
                <a:gd name="connsiteX4-369" fmla="*/ 9800 w 10148"/>
                <a:gd name="connsiteY4-370" fmla="*/ 0 h 10158"/>
                <a:gd name="connsiteX0-371" fmla="*/ 9800 w 10148"/>
                <a:gd name="connsiteY0-372" fmla="*/ 0 h 10158"/>
                <a:gd name="connsiteX1-373" fmla="*/ 0 w 10148"/>
                <a:gd name="connsiteY1-374" fmla="*/ 6952 h 10158"/>
                <a:gd name="connsiteX2-375" fmla="*/ 1653 w 10148"/>
                <a:gd name="connsiteY2-376" fmla="*/ 8453 h 10158"/>
                <a:gd name="connsiteX3-377" fmla="*/ 9794 w 10148"/>
                <a:gd name="connsiteY3-378" fmla="*/ 10158 h 10158"/>
                <a:gd name="connsiteX4-379" fmla="*/ 9800 w 10148"/>
                <a:gd name="connsiteY4-380" fmla="*/ 0 h 10158"/>
                <a:gd name="connsiteX0-381" fmla="*/ 9800 w 10148"/>
                <a:gd name="connsiteY0-382" fmla="*/ 0 h 10158"/>
                <a:gd name="connsiteX1-383" fmla="*/ 0 w 10148"/>
                <a:gd name="connsiteY1-384" fmla="*/ 6952 h 10158"/>
                <a:gd name="connsiteX2-385" fmla="*/ 1653 w 10148"/>
                <a:gd name="connsiteY2-386" fmla="*/ 8453 h 10158"/>
                <a:gd name="connsiteX3-387" fmla="*/ 9794 w 10148"/>
                <a:gd name="connsiteY3-388" fmla="*/ 10158 h 10158"/>
                <a:gd name="connsiteX4-389" fmla="*/ 9800 w 10148"/>
                <a:gd name="connsiteY4-390" fmla="*/ 0 h 10158"/>
                <a:gd name="connsiteX0-391" fmla="*/ 8194 w 8542"/>
                <a:gd name="connsiteY0-392" fmla="*/ 0 h 10158"/>
                <a:gd name="connsiteX1-393" fmla="*/ 0 w 8542"/>
                <a:gd name="connsiteY1-394" fmla="*/ 7601 h 10158"/>
                <a:gd name="connsiteX2-395" fmla="*/ 47 w 8542"/>
                <a:gd name="connsiteY2-396" fmla="*/ 8453 h 10158"/>
                <a:gd name="connsiteX3-397" fmla="*/ 8188 w 8542"/>
                <a:gd name="connsiteY3-398" fmla="*/ 10158 h 10158"/>
                <a:gd name="connsiteX4-399" fmla="*/ 8194 w 8542"/>
                <a:gd name="connsiteY4-400" fmla="*/ 0 h 10158"/>
                <a:gd name="connsiteX0-401" fmla="*/ 9538 w 9975"/>
                <a:gd name="connsiteY0-402" fmla="*/ 0 h 10128"/>
                <a:gd name="connsiteX1-403" fmla="*/ 0 w 9975"/>
                <a:gd name="connsiteY1-404" fmla="*/ 7611 h 10128"/>
                <a:gd name="connsiteX2-405" fmla="*/ 55 w 9975"/>
                <a:gd name="connsiteY2-406" fmla="*/ 8450 h 10128"/>
                <a:gd name="connsiteX3-407" fmla="*/ 9586 w 9975"/>
                <a:gd name="connsiteY3-408" fmla="*/ 10128 h 10128"/>
                <a:gd name="connsiteX4-409" fmla="*/ 9538 w 9975"/>
                <a:gd name="connsiteY4-410" fmla="*/ 0 h 10128"/>
                <a:gd name="connsiteX0-411" fmla="*/ 9562 w 9999"/>
                <a:gd name="connsiteY0-412" fmla="*/ 0 h 10000"/>
                <a:gd name="connsiteX1-413" fmla="*/ 0 w 9999"/>
                <a:gd name="connsiteY1-414" fmla="*/ 7515 h 10000"/>
                <a:gd name="connsiteX2-415" fmla="*/ 55 w 9999"/>
                <a:gd name="connsiteY2-416" fmla="*/ 8343 h 10000"/>
                <a:gd name="connsiteX3-417" fmla="*/ 9610 w 9999"/>
                <a:gd name="connsiteY3-418" fmla="*/ 10000 h 10000"/>
                <a:gd name="connsiteX4-419" fmla="*/ 9562 w 9999"/>
                <a:gd name="connsiteY4-420" fmla="*/ 0 h 10000"/>
                <a:gd name="connsiteX0-421" fmla="*/ 9563 w 10000"/>
                <a:gd name="connsiteY0-422" fmla="*/ 0 h 10126"/>
                <a:gd name="connsiteX1-423" fmla="*/ 0 w 10000"/>
                <a:gd name="connsiteY1-424" fmla="*/ 7515 h 10126"/>
                <a:gd name="connsiteX2-425" fmla="*/ 55 w 10000"/>
                <a:gd name="connsiteY2-426" fmla="*/ 8343 h 10126"/>
                <a:gd name="connsiteX3-427" fmla="*/ 9611 w 10000"/>
                <a:gd name="connsiteY3-428" fmla="*/ 10126 h 10126"/>
                <a:gd name="connsiteX4-429" fmla="*/ 9563 w 10000"/>
                <a:gd name="connsiteY4-430" fmla="*/ 0 h 10126"/>
                <a:gd name="connsiteX0-431" fmla="*/ 9563 w 10000"/>
                <a:gd name="connsiteY0-432" fmla="*/ 0 h 10126"/>
                <a:gd name="connsiteX1-433" fmla="*/ 0 w 10000"/>
                <a:gd name="connsiteY1-434" fmla="*/ 7515 h 10126"/>
                <a:gd name="connsiteX2-435" fmla="*/ 55 w 10000"/>
                <a:gd name="connsiteY2-436" fmla="*/ 8343 h 10126"/>
                <a:gd name="connsiteX3-437" fmla="*/ 9611 w 10000"/>
                <a:gd name="connsiteY3-438" fmla="*/ 10126 h 10126"/>
                <a:gd name="connsiteX4-439" fmla="*/ 9563 w 10000"/>
                <a:gd name="connsiteY4-440" fmla="*/ 0 h 10126"/>
                <a:gd name="connsiteX0-441" fmla="*/ 9563 w 9799"/>
                <a:gd name="connsiteY0-442" fmla="*/ 0 h 10126"/>
                <a:gd name="connsiteX1-443" fmla="*/ 0 w 9799"/>
                <a:gd name="connsiteY1-444" fmla="*/ 7515 h 10126"/>
                <a:gd name="connsiteX2-445" fmla="*/ 55 w 9799"/>
                <a:gd name="connsiteY2-446" fmla="*/ 8343 h 10126"/>
                <a:gd name="connsiteX3-447" fmla="*/ 9611 w 9799"/>
                <a:gd name="connsiteY3-448" fmla="*/ 10126 h 10126"/>
                <a:gd name="connsiteX4-449" fmla="*/ 9563 w 9799"/>
                <a:gd name="connsiteY4-450" fmla="*/ 0 h 1012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99" h="10126">
                  <a:moveTo>
                    <a:pt x="9563" y="0"/>
                  </a:moveTo>
                  <a:cubicBezTo>
                    <a:pt x="6380" y="3447"/>
                    <a:pt x="4378" y="4742"/>
                    <a:pt x="0" y="7515"/>
                  </a:cubicBezTo>
                  <a:cubicBezTo>
                    <a:pt x="19" y="7790"/>
                    <a:pt x="36" y="8067"/>
                    <a:pt x="55" y="8343"/>
                  </a:cubicBezTo>
                  <a:cubicBezTo>
                    <a:pt x="3592" y="8754"/>
                    <a:pt x="6787" y="8518"/>
                    <a:pt x="9611" y="10126"/>
                  </a:cubicBezTo>
                  <a:cubicBezTo>
                    <a:pt x="9580" y="4725"/>
                    <a:pt x="10082" y="3581"/>
                    <a:pt x="9563" y="0"/>
                  </a:cubicBezTo>
                  <a:close/>
                </a:path>
              </a:pathLst>
            </a:custGeom>
            <a:gradFill rotWithShape="1">
              <a:gsLst>
                <a:gs pos="75000">
                  <a:schemeClr val="bg1">
                    <a:lumMod val="85000"/>
                  </a:schemeClr>
                </a:gs>
                <a:gs pos="0">
                  <a:schemeClr val="bg1">
                    <a:lumMod val="75000"/>
                  </a:schemeClr>
                </a:gs>
                <a:gs pos="100000">
                  <a:srgbClr val="FFFFFF"/>
                </a:gs>
              </a:gsLst>
              <a:lin ang="10800000" scaled="0"/>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1" name="Rectangle 4"/>
            <p:cNvSpPr>
              <a:spLocks noChangeArrowheads="1"/>
            </p:cNvSpPr>
            <p:nvPr/>
          </p:nvSpPr>
          <p:spPr bwMode="auto">
            <a:xfrm>
              <a:off x="3563785" y="1706808"/>
              <a:ext cx="2317750" cy="2333625"/>
            </a:xfrm>
            <a:prstGeom prst="rect">
              <a:avLst/>
            </a:prstGeom>
            <a:solidFill>
              <a:schemeClr val="bg1">
                <a:lumMod val="85000"/>
              </a:schemeClr>
            </a:solidFill>
            <a:ln w="190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2" name="Oval 5"/>
            <p:cNvSpPr>
              <a:spLocks noChangeArrowheads="1"/>
            </p:cNvSpPr>
            <p:nvPr/>
          </p:nvSpPr>
          <p:spPr bwMode="auto">
            <a:xfrm>
              <a:off x="3689197" y="1759196"/>
              <a:ext cx="2095500" cy="604837"/>
            </a:xfrm>
            <a:prstGeom prst="ellipse">
              <a:avLst/>
            </a:prstGeom>
            <a:solidFill>
              <a:srgbClr val="FFFFFF"/>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3" name="Text Box 108"/>
            <p:cNvSpPr txBox="1">
              <a:spLocks noChangeArrowheads="1"/>
            </p:cNvSpPr>
            <p:nvPr/>
          </p:nvSpPr>
          <p:spPr bwMode="auto">
            <a:xfrm>
              <a:off x="3812415" y="1866181"/>
              <a:ext cx="1863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MS PGothic" panose="020B0600070205080204" pitchFamily="34" charset="-128"/>
                  <a:cs typeface="Arial" panose="020B0604020202020204"/>
                </a:rPr>
                <a:t>routing algorithm</a:t>
              </a:r>
            </a:p>
          </p:txBody>
        </p:sp>
        <p:sp>
          <p:nvSpPr>
            <p:cNvPr id="544" name="Rectangle 109"/>
            <p:cNvSpPr>
              <a:spLocks noChangeArrowheads="1"/>
            </p:cNvSpPr>
            <p:nvPr/>
          </p:nvSpPr>
          <p:spPr bwMode="auto">
            <a:xfrm>
              <a:off x="3743172" y="2586219"/>
              <a:ext cx="2005013" cy="1357378"/>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6" name="Text Box 111"/>
            <p:cNvSpPr txBox="1">
              <a:spLocks noChangeArrowheads="1"/>
            </p:cNvSpPr>
            <p:nvPr/>
          </p:nvSpPr>
          <p:spPr bwMode="auto">
            <a:xfrm>
              <a:off x="3706660" y="2864096"/>
              <a:ext cx="121285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a:rPr>
                <a:t>分组头</a:t>
              </a:r>
              <a:r>
                <a:rPr kumimoji="0" lang="en-US" altLang="en-US" sz="1400" b="1"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值</a:t>
              </a:r>
            </a:p>
          </p:txBody>
        </p:sp>
        <p:sp>
          <p:nvSpPr>
            <p:cNvPr id="547" name="Text Box 112"/>
            <p:cNvSpPr txBox="1">
              <a:spLocks noChangeArrowheads="1"/>
            </p:cNvSpPr>
            <p:nvPr/>
          </p:nvSpPr>
          <p:spPr bwMode="auto">
            <a:xfrm>
              <a:off x="4773460" y="2865683"/>
              <a:ext cx="104140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a:rPr>
                <a:t>输出链路</a:t>
              </a:r>
            </a:p>
          </p:txBody>
        </p:sp>
        <p:sp>
          <p:nvSpPr>
            <p:cNvPr id="548" name="Line 113"/>
            <p:cNvSpPr>
              <a:spLocks noChangeShapeType="1"/>
            </p:cNvSpPr>
            <p:nvPr/>
          </p:nvSpPr>
          <p:spPr bwMode="auto">
            <a:xfrm>
              <a:off x="4871885" y="2876796"/>
              <a:ext cx="7937" cy="1066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49" name="Text Box 114"/>
            <p:cNvSpPr txBox="1">
              <a:spLocks noChangeArrowheads="1"/>
            </p:cNvSpPr>
            <p:nvPr/>
          </p:nvSpPr>
          <p:spPr bwMode="auto">
            <a:xfrm>
              <a:off x="4362297" y="3148258"/>
              <a:ext cx="520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0100</a:t>
              </a:r>
            </a:p>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0101</a:t>
              </a:r>
            </a:p>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0111</a:t>
              </a:r>
            </a:p>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1001</a:t>
              </a:r>
            </a:p>
          </p:txBody>
        </p:sp>
        <p:sp>
          <p:nvSpPr>
            <p:cNvPr id="550" name="Text Box 115"/>
            <p:cNvSpPr txBox="1">
              <a:spLocks noChangeArrowheads="1"/>
            </p:cNvSpPr>
            <p:nvPr/>
          </p:nvSpPr>
          <p:spPr bwMode="auto">
            <a:xfrm>
              <a:off x="4887760" y="3148258"/>
              <a:ext cx="2682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3</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2</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2</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1</a:t>
              </a:r>
            </a:p>
          </p:txBody>
        </p:sp>
        <p:sp>
          <p:nvSpPr>
            <p:cNvPr id="551" name="Line 116"/>
            <p:cNvSpPr>
              <a:spLocks noChangeShapeType="1"/>
            </p:cNvSpPr>
            <p:nvPr/>
          </p:nvSpPr>
          <p:spPr bwMode="auto">
            <a:xfrm>
              <a:off x="3743172" y="3133971"/>
              <a:ext cx="2006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52" name="Line 117"/>
            <p:cNvSpPr>
              <a:spLocks noChangeShapeType="1"/>
            </p:cNvSpPr>
            <p:nvPr/>
          </p:nvSpPr>
          <p:spPr bwMode="auto">
            <a:xfrm>
              <a:off x="3735235" y="2886321"/>
              <a:ext cx="2006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53" name="AutoShape 118"/>
            <p:cNvSpPr>
              <a:spLocks noChangeArrowheads="1"/>
            </p:cNvSpPr>
            <p:nvPr/>
          </p:nvSpPr>
          <p:spPr bwMode="auto">
            <a:xfrm rot="5400000">
              <a:off x="4641697" y="2356096"/>
              <a:ext cx="241300" cy="273050"/>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sp>
        <p:nvSpPr>
          <p:cNvPr id="175" name="Text Box 110"/>
          <p:cNvSpPr txBox="1">
            <a:spLocks noChangeArrowheads="1"/>
          </p:cNvSpPr>
          <p:nvPr/>
        </p:nvSpPr>
        <p:spPr bwMode="auto">
          <a:xfrm>
            <a:off x="6365541" y="2498661"/>
            <a:ext cx="1945005" cy="39878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200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Calibri" panose="020F0502020204030204" pitchFamily="34" charset="0"/>
              </a:rPr>
              <a:t>路由表</a:t>
            </a:r>
            <a:endParaRPr kumimoji="0" lang="en-US" altLang="en-US" sz="200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anose="020F0502020204030204" pitchFamily="34" charset="0"/>
            </a:endParaRPr>
          </a:p>
        </p:txBody>
      </p:sp>
      <p:grpSp>
        <p:nvGrpSpPr>
          <p:cNvPr id="193" name="Group 192"/>
          <p:cNvGrpSpPr/>
          <p:nvPr/>
        </p:nvGrpSpPr>
        <p:grpSpPr>
          <a:xfrm>
            <a:off x="6295509" y="1697978"/>
            <a:ext cx="2095500" cy="604837"/>
            <a:chOff x="3713849" y="1785090"/>
            <a:chExt cx="2095500" cy="604837"/>
          </a:xfrm>
        </p:grpSpPr>
        <p:sp>
          <p:nvSpPr>
            <p:cNvPr id="194" name="Oval 5"/>
            <p:cNvSpPr>
              <a:spLocks noChangeArrowheads="1"/>
            </p:cNvSpPr>
            <p:nvPr/>
          </p:nvSpPr>
          <p:spPr bwMode="auto">
            <a:xfrm>
              <a:off x="3713849" y="1785090"/>
              <a:ext cx="2095500" cy="604837"/>
            </a:xfrm>
            <a:prstGeom prst="ellipse">
              <a:avLst/>
            </a:prstGeom>
            <a:solidFill>
              <a:srgbClr val="C00000"/>
            </a:solidFill>
            <a:ln w="9525">
              <a:no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C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95" name="Text Box 108"/>
            <p:cNvSpPr txBox="1">
              <a:spLocks noChangeArrowheads="1"/>
            </p:cNvSpPr>
            <p:nvPr/>
          </p:nvSpPr>
          <p:spPr bwMode="auto">
            <a:xfrm>
              <a:off x="3853660" y="1906589"/>
              <a:ext cx="18637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Arial" panose="020B0604020202020204"/>
                </a:rPr>
                <a:t>路由算法</a:t>
              </a:r>
            </a:p>
          </p:txBody>
        </p:sp>
      </p:grpSp>
      <p:sp>
        <p:nvSpPr>
          <p:cNvPr id="30" name="Freeform 2"/>
          <p:cNvSpPr/>
          <p:nvPr/>
        </p:nvSpPr>
        <p:spPr bwMode="auto">
          <a:xfrm>
            <a:off x="8025749" y="4253511"/>
            <a:ext cx="2848871" cy="1480906"/>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31" name="Group 775"/>
          <p:cNvGrpSpPr/>
          <p:nvPr/>
        </p:nvGrpSpPr>
        <p:grpSpPr>
          <a:xfrm>
            <a:off x="9561102" y="5308197"/>
            <a:ext cx="578032" cy="285706"/>
            <a:chOff x="7493876" y="2774731"/>
            <a:chExt cx="1481958" cy="894622"/>
          </a:xfrm>
        </p:grpSpPr>
        <p:sp>
          <p:nvSpPr>
            <p:cNvPr id="32" name="Freeform 776"/>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3" name="Oval 777"/>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4" name="Group 778"/>
            <p:cNvGrpSpPr/>
            <p:nvPr/>
          </p:nvGrpSpPr>
          <p:grpSpPr>
            <a:xfrm>
              <a:off x="7713663" y="2848339"/>
              <a:ext cx="1042107" cy="425543"/>
              <a:chOff x="7786941" y="2884917"/>
              <a:chExt cx="897649" cy="353919"/>
            </a:xfrm>
          </p:grpSpPr>
          <p:sp>
            <p:nvSpPr>
              <p:cNvPr id="35" name="Freeform 779"/>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Freeform 780"/>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Freeform 781"/>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Freeform 782"/>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9" name="Group 783"/>
          <p:cNvGrpSpPr/>
          <p:nvPr/>
        </p:nvGrpSpPr>
        <p:grpSpPr>
          <a:xfrm>
            <a:off x="8404628" y="5259528"/>
            <a:ext cx="578032" cy="285706"/>
            <a:chOff x="7493876" y="2774731"/>
            <a:chExt cx="1481958" cy="894622"/>
          </a:xfrm>
        </p:grpSpPr>
        <p:sp>
          <p:nvSpPr>
            <p:cNvPr id="40" name="Freeform 784"/>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1" name="Oval 785"/>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2" name="Group 786"/>
            <p:cNvGrpSpPr/>
            <p:nvPr/>
          </p:nvGrpSpPr>
          <p:grpSpPr>
            <a:xfrm>
              <a:off x="7713663" y="2848339"/>
              <a:ext cx="1042107" cy="425543"/>
              <a:chOff x="7786941" y="2884917"/>
              <a:chExt cx="897649" cy="353919"/>
            </a:xfrm>
          </p:grpSpPr>
          <p:sp>
            <p:nvSpPr>
              <p:cNvPr id="43" name="Freeform 787"/>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Freeform 788"/>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Freeform 789"/>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790"/>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 name="Group 791"/>
          <p:cNvGrpSpPr/>
          <p:nvPr/>
        </p:nvGrpSpPr>
        <p:grpSpPr>
          <a:xfrm>
            <a:off x="9020923" y="4344129"/>
            <a:ext cx="578032" cy="285706"/>
            <a:chOff x="7493876" y="2774731"/>
            <a:chExt cx="1481958" cy="894622"/>
          </a:xfrm>
        </p:grpSpPr>
        <p:sp>
          <p:nvSpPr>
            <p:cNvPr id="48" name="Freeform 792"/>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9" name="Oval 793"/>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0" name="Group 794"/>
            <p:cNvGrpSpPr/>
            <p:nvPr/>
          </p:nvGrpSpPr>
          <p:grpSpPr>
            <a:xfrm>
              <a:off x="7713663" y="2848339"/>
              <a:ext cx="1042107" cy="425543"/>
              <a:chOff x="7786941" y="2884917"/>
              <a:chExt cx="897649" cy="353919"/>
            </a:xfrm>
          </p:grpSpPr>
          <p:sp>
            <p:nvSpPr>
              <p:cNvPr id="51" name="Freeform 795"/>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 name="Freeform 796"/>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 name="Freeform 797"/>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798"/>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7" name="Group 767"/>
          <p:cNvGrpSpPr/>
          <p:nvPr/>
        </p:nvGrpSpPr>
        <p:grpSpPr>
          <a:xfrm>
            <a:off x="9929230" y="4632847"/>
            <a:ext cx="578032" cy="285706"/>
            <a:chOff x="7493876" y="2774731"/>
            <a:chExt cx="1481958" cy="894622"/>
          </a:xfrm>
        </p:grpSpPr>
        <p:sp>
          <p:nvSpPr>
            <p:cNvPr id="58" name="Freeform 76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 name="Oval 76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0" name="Group 770"/>
            <p:cNvGrpSpPr/>
            <p:nvPr/>
          </p:nvGrpSpPr>
          <p:grpSpPr>
            <a:xfrm>
              <a:off x="7713663" y="2848339"/>
              <a:ext cx="1042107" cy="425543"/>
              <a:chOff x="7786941" y="2884917"/>
              <a:chExt cx="897649" cy="353919"/>
            </a:xfrm>
          </p:grpSpPr>
          <p:sp>
            <p:nvSpPr>
              <p:cNvPr id="61" name="Freeform 77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Freeform 77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 name="Freeform 77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Freeform 77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73" name="Group 807"/>
          <p:cNvGrpSpPr/>
          <p:nvPr/>
        </p:nvGrpSpPr>
        <p:grpSpPr>
          <a:xfrm>
            <a:off x="7974110" y="4630675"/>
            <a:ext cx="578032" cy="285706"/>
            <a:chOff x="7493876" y="2774731"/>
            <a:chExt cx="1481958" cy="894622"/>
          </a:xfrm>
        </p:grpSpPr>
        <p:sp>
          <p:nvSpPr>
            <p:cNvPr id="74" name="Freeform 808"/>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5" name="Oval 809"/>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6" name="Group 810"/>
            <p:cNvGrpSpPr/>
            <p:nvPr/>
          </p:nvGrpSpPr>
          <p:grpSpPr>
            <a:xfrm>
              <a:off x="7713663" y="2848339"/>
              <a:ext cx="1042107" cy="425543"/>
              <a:chOff x="7786941" y="2884917"/>
              <a:chExt cx="897649" cy="353919"/>
            </a:xfrm>
          </p:grpSpPr>
          <p:sp>
            <p:nvSpPr>
              <p:cNvPr id="77" name="Freeform 811"/>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812"/>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813"/>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Freeform 814"/>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556" name="Freeform 6"/>
          <p:cNvSpPr/>
          <p:nvPr/>
        </p:nvSpPr>
        <p:spPr bwMode="auto">
          <a:xfrm>
            <a:off x="8547284" y="4470951"/>
            <a:ext cx="543096" cy="295229"/>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63" name="Freeform 91"/>
          <p:cNvSpPr/>
          <p:nvPr/>
        </p:nvSpPr>
        <p:spPr bwMode="auto">
          <a:xfrm>
            <a:off x="9646557" y="4448553"/>
            <a:ext cx="509270" cy="17208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66" name="Freeform 94"/>
          <p:cNvSpPr/>
          <p:nvPr/>
        </p:nvSpPr>
        <p:spPr bwMode="auto">
          <a:xfrm>
            <a:off x="10071150" y="4858871"/>
            <a:ext cx="206440" cy="50792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67" name="Freeform 95"/>
          <p:cNvSpPr/>
          <p:nvPr/>
        </p:nvSpPr>
        <p:spPr bwMode="auto">
          <a:xfrm>
            <a:off x="8955066" y="5397902"/>
            <a:ext cx="736832" cy="7460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81" name="Group 11"/>
          <p:cNvGrpSpPr/>
          <p:nvPr/>
        </p:nvGrpSpPr>
        <p:grpSpPr>
          <a:xfrm>
            <a:off x="8234506" y="4470616"/>
            <a:ext cx="623918" cy="823754"/>
            <a:chOff x="5240209" y="4473413"/>
            <a:chExt cx="623918" cy="823754"/>
          </a:xfrm>
        </p:grpSpPr>
        <p:sp>
          <p:nvSpPr>
            <p:cNvPr id="569" name="Text Box 100"/>
            <p:cNvSpPr txBox="1">
              <a:spLocks noChangeArrowheads="1"/>
            </p:cNvSpPr>
            <p:nvPr/>
          </p:nvSpPr>
          <p:spPr bwMode="auto">
            <a:xfrm>
              <a:off x="5552962" y="4473413"/>
              <a:ext cx="311165" cy="366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1</a:t>
              </a:r>
            </a:p>
          </p:txBody>
        </p:sp>
        <p:sp>
          <p:nvSpPr>
            <p:cNvPr id="570" name="Text Box 101"/>
            <p:cNvSpPr txBox="1">
              <a:spLocks noChangeArrowheads="1"/>
            </p:cNvSpPr>
            <p:nvPr/>
          </p:nvSpPr>
          <p:spPr bwMode="auto">
            <a:xfrm>
              <a:off x="5491046" y="4887671"/>
              <a:ext cx="296876" cy="33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2</a:t>
              </a:r>
            </a:p>
          </p:txBody>
        </p:sp>
        <p:sp>
          <p:nvSpPr>
            <p:cNvPr id="571" name="Text Box 102"/>
            <p:cNvSpPr txBox="1">
              <a:spLocks noChangeArrowheads="1"/>
            </p:cNvSpPr>
            <p:nvPr/>
          </p:nvSpPr>
          <p:spPr bwMode="auto">
            <a:xfrm>
              <a:off x="5240209" y="4960682"/>
              <a:ext cx="296876" cy="33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3</a:t>
              </a:r>
            </a:p>
          </p:txBody>
        </p:sp>
      </p:grpSp>
      <p:cxnSp>
        <p:nvCxnSpPr>
          <p:cNvPr id="82" name="直接连接符 81"/>
          <p:cNvCxnSpPr>
            <a:endCxn id="571" idx="2"/>
          </p:cNvCxnSpPr>
          <p:nvPr/>
        </p:nvCxnSpPr>
        <p:spPr>
          <a:xfrm>
            <a:off x="8186057" y="4954648"/>
            <a:ext cx="196850" cy="339725"/>
          </a:xfrm>
          <a:prstGeom prst="line">
            <a:avLst/>
          </a:prstGeom>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8440692" y="4887973"/>
            <a:ext cx="480060" cy="213360"/>
          </a:xfrm>
          <a:prstGeom prst="line">
            <a:avLst/>
          </a:prstGeom>
        </p:spPr>
        <p:style>
          <a:lnRef idx="1">
            <a:schemeClr val="dk1"/>
          </a:lnRef>
          <a:fillRef idx="0">
            <a:schemeClr val="dk1"/>
          </a:fillRef>
          <a:effectRef idx="0">
            <a:schemeClr val="dk1"/>
          </a:effectRef>
          <a:fontRef idx="minor">
            <a:schemeClr val="tx1"/>
          </a:fontRef>
        </p:style>
      </p:cxnSp>
      <p:sp>
        <p:nvSpPr>
          <p:cNvPr id="55" name="Freeform 120"/>
          <p:cNvSpPr/>
          <p:nvPr/>
        </p:nvSpPr>
        <p:spPr bwMode="auto">
          <a:xfrm>
            <a:off x="7609006" y="4730089"/>
            <a:ext cx="1041867" cy="336451"/>
          </a:xfrm>
          <a:custGeom>
            <a:avLst/>
            <a:gdLst>
              <a:gd name="T0" fmla="*/ 0 w 10844"/>
              <a:gd name="T1" fmla="*/ 2147483647 h 14797"/>
              <a:gd name="T2" fmla="*/ 2147483647 w 10844"/>
              <a:gd name="T3" fmla="*/ 2147483647 h 14797"/>
              <a:gd name="T4" fmla="*/ 2147483647 w 10844"/>
              <a:gd name="T5" fmla="*/ 2147483647 h 14797"/>
              <a:gd name="T6" fmla="*/ 0 60000 65536"/>
              <a:gd name="T7" fmla="*/ 0 60000 65536"/>
              <a:gd name="T8" fmla="*/ 0 60000 65536"/>
              <a:gd name="T9" fmla="*/ 0 w 10844"/>
              <a:gd name="T10" fmla="*/ 0 h 14797"/>
              <a:gd name="T11" fmla="*/ 10844 w 10844"/>
              <a:gd name="T12" fmla="*/ 14797 h 14797"/>
            </a:gdLst>
            <a:ahLst/>
            <a:cxnLst>
              <a:cxn ang="T6">
                <a:pos x="T0" y="T1"/>
              </a:cxn>
              <a:cxn ang="T7">
                <a:pos x="T2" y="T3"/>
              </a:cxn>
              <a:cxn ang="T8">
                <a:pos x="T4" y="T5"/>
              </a:cxn>
            </a:cxnLst>
            <a:rect l="T9" t="T10" r="T11" b="T12"/>
            <a:pathLst>
              <a:path w="10844" h="14797">
                <a:moveTo>
                  <a:pt x="0" y="14797"/>
                </a:moveTo>
                <a:cubicBezTo>
                  <a:pt x="2168" y="9517"/>
                  <a:pt x="5654" y="-1331"/>
                  <a:pt x="7042" y="135"/>
                </a:cubicBezTo>
                <a:cubicBezTo>
                  <a:pt x="8563" y="1950"/>
                  <a:pt x="9984" y="6698"/>
                  <a:pt x="10844" y="9978"/>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65" name="Group 799"/>
          <p:cNvGrpSpPr/>
          <p:nvPr/>
        </p:nvGrpSpPr>
        <p:grpSpPr>
          <a:xfrm>
            <a:off x="8920789" y="4920378"/>
            <a:ext cx="578032" cy="285706"/>
            <a:chOff x="7493876" y="2774731"/>
            <a:chExt cx="1481958" cy="894622"/>
          </a:xfrm>
        </p:grpSpPr>
        <p:sp>
          <p:nvSpPr>
            <p:cNvPr id="66" name="Freeform 800"/>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1" fmla="*/ 8187558 w 8187558"/>
                <a:gd name="connsiteY0-2" fmla="*/ 0 h 2617076"/>
                <a:gd name="connsiteX1-3" fmla="*/ 8187558 w 8187558"/>
                <a:gd name="connsiteY1-4" fmla="*/ 1271752 h 2617076"/>
                <a:gd name="connsiteX2-5" fmla="*/ 4025462 w 8187558"/>
                <a:gd name="connsiteY2-6" fmla="*/ 2617076 h 2617076"/>
                <a:gd name="connsiteX3-7" fmla="*/ 0 w 8187558"/>
                <a:gd name="connsiteY3-8" fmla="*/ 1229711 h 2617076"/>
                <a:gd name="connsiteX4-9" fmla="*/ 31531 w 8187558"/>
                <a:gd name="connsiteY4-10" fmla="*/ 147145 h 2617076"/>
                <a:gd name="connsiteX5-11" fmla="*/ 4046482 w 8187558"/>
                <a:gd name="connsiteY5-12" fmla="*/ 1576552 h 2617076"/>
                <a:gd name="connsiteX6-13" fmla="*/ 8187558 w 8187558"/>
                <a:gd name="connsiteY6-14" fmla="*/ 0 h 2617076"/>
                <a:gd name="connsiteX0-15" fmla="*/ 8187558 w 8187558"/>
                <a:gd name="connsiteY0-16" fmla="*/ 0 h 2617076"/>
                <a:gd name="connsiteX1-17" fmla="*/ 8187558 w 8187558"/>
                <a:gd name="connsiteY1-18" fmla="*/ 1271752 h 2617076"/>
                <a:gd name="connsiteX2-19" fmla="*/ 4025462 w 8187558"/>
                <a:gd name="connsiteY2-20" fmla="*/ 2617076 h 2617076"/>
                <a:gd name="connsiteX3-21" fmla="*/ 0 w 8187558"/>
                <a:gd name="connsiteY3-22" fmla="*/ 1229711 h 2617076"/>
                <a:gd name="connsiteX4-23" fmla="*/ 31531 w 8187558"/>
                <a:gd name="connsiteY4-24" fmla="*/ 147145 h 2617076"/>
                <a:gd name="connsiteX5-25" fmla="*/ 4046482 w 8187558"/>
                <a:gd name="connsiteY5-26" fmla="*/ 1576552 h 2617076"/>
                <a:gd name="connsiteX6-27" fmla="*/ 8187558 w 8187558"/>
                <a:gd name="connsiteY6-28" fmla="*/ 0 h 2617076"/>
                <a:gd name="connsiteX0-29" fmla="*/ 8187558 w 8187558"/>
                <a:gd name="connsiteY0-30" fmla="*/ 0 h 2617076"/>
                <a:gd name="connsiteX1-31" fmla="*/ 8187558 w 8187558"/>
                <a:gd name="connsiteY1-32" fmla="*/ 1271752 h 2617076"/>
                <a:gd name="connsiteX2-33" fmla="*/ 4025462 w 8187558"/>
                <a:gd name="connsiteY2-34" fmla="*/ 2617076 h 2617076"/>
                <a:gd name="connsiteX3-35" fmla="*/ 0 w 8187558"/>
                <a:gd name="connsiteY3-36" fmla="*/ 1229711 h 2617076"/>
                <a:gd name="connsiteX4-37" fmla="*/ 31531 w 8187558"/>
                <a:gd name="connsiteY4-38" fmla="*/ 147145 h 2617076"/>
                <a:gd name="connsiteX5-39" fmla="*/ 4046482 w 8187558"/>
                <a:gd name="connsiteY5-40" fmla="*/ 1576552 h 2617076"/>
                <a:gd name="connsiteX6-41" fmla="*/ 8187558 w 8187558"/>
                <a:gd name="connsiteY6-42" fmla="*/ 0 h 2617076"/>
                <a:gd name="connsiteX0-43" fmla="*/ 8187558 w 8187558"/>
                <a:gd name="connsiteY0-44" fmla="*/ 0 h 2617076"/>
                <a:gd name="connsiteX1-45" fmla="*/ 8187558 w 8187558"/>
                <a:gd name="connsiteY1-46" fmla="*/ 1271752 h 2617076"/>
                <a:gd name="connsiteX2-47" fmla="*/ 4025462 w 8187558"/>
                <a:gd name="connsiteY2-48" fmla="*/ 2617076 h 2617076"/>
                <a:gd name="connsiteX3-49" fmla="*/ 0 w 8187558"/>
                <a:gd name="connsiteY3-50" fmla="*/ 1229711 h 2617076"/>
                <a:gd name="connsiteX4-51" fmla="*/ 31531 w 8187558"/>
                <a:gd name="connsiteY4-52" fmla="*/ 147145 h 2617076"/>
                <a:gd name="connsiteX5-53" fmla="*/ 4046482 w 8187558"/>
                <a:gd name="connsiteY5-54" fmla="*/ 1576552 h 2617076"/>
                <a:gd name="connsiteX6-55" fmla="*/ 8187558 w 8187558"/>
                <a:gd name="connsiteY6-56" fmla="*/ 0 h 2617076"/>
                <a:gd name="connsiteX0-57" fmla="*/ 8187558 w 8187558"/>
                <a:gd name="connsiteY0-58" fmla="*/ 0 h 2617076"/>
                <a:gd name="connsiteX1-59" fmla="*/ 8187558 w 8187558"/>
                <a:gd name="connsiteY1-60" fmla="*/ 1271752 h 2617076"/>
                <a:gd name="connsiteX2-61" fmla="*/ 4025462 w 8187558"/>
                <a:gd name="connsiteY2-62" fmla="*/ 2617076 h 2617076"/>
                <a:gd name="connsiteX3-63" fmla="*/ 0 w 8187558"/>
                <a:gd name="connsiteY3-64" fmla="*/ 1229711 h 2617076"/>
                <a:gd name="connsiteX4-65" fmla="*/ 31531 w 8187558"/>
                <a:gd name="connsiteY4-66" fmla="*/ 147145 h 2617076"/>
                <a:gd name="connsiteX5-67" fmla="*/ 4046482 w 8187558"/>
                <a:gd name="connsiteY5-68" fmla="*/ 1576552 h 2617076"/>
                <a:gd name="connsiteX6-69" fmla="*/ 8187558 w 8187558"/>
                <a:gd name="connsiteY6-70" fmla="*/ 0 h 2617076"/>
                <a:gd name="connsiteX0-71" fmla="*/ 8187558 w 8187558"/>
                <a:gd name="connsiteY0-72" fmla="*/ 0 h 2617076"/>
                <a:gd name="connsiteX1-73" fmla="*/ 8187558 w 8187558"/>
                <a:gd name="connsiteY1-74" fmla="*/ 1271752 h 2617076"/>
                <a:gd name="connsiteX2-75" fmla="*/ 4025462 w 8187558"/>
                <a:gd name="connsiteY2-76" fmla="*/ 2617076 h 2617076"/>
                <a:gd name="connsiteX3-77" fmla="*/ 0 w 8187558"/>
                <a:gd name="connsiteY3-78" fmla="*/ 1229711 h 2617076"/>
                <a:gd name="connsiteX4-79" fmla="*/ 31531 w 8187558"/>
                <a:gd name="connsiteY4-80" fmla="*/ 147145 h 2617076"/>
                <a:gd name="connsiteX5-81" fmla="*/ 4046482 w 8187558"/>
                <a:gd name="connsiteY5-82" fmla="*/ 1576552 h 2617076"/>
                <a:gd name="connsiteX6-83" fmla="*/ 8187558 w 8187558"/>
                <a:gd name="connsiteY6-84" fmla="*/ 0 h 2617076"/>
                <a:gd name="connsiteX0-85" fmla="*/ 8187558 w 8187558"/>
                <a:gd name="connsiteY0-86" fmla="*/ 0 h 2638097"/>
                <a:gd name="connsiteX1-87" fmla="*/ 8187558 w 8187558"/>
                <a:gd name="connsiteY1-88" fmla="*/ 1271752 h 2638097"/>
                <a:gd name="connsiteX2-89" fmla="*/ 4099035 w 8187558"/>
                <a:gd name="connsiteY2-90" fmla="*/ 2638097 h 2638097"/>
                <a:gd name="connsiteX3-91" fmla="*/ 0 w 8187558"/>
                <a:gd name="connsiteY3-92" fmla="*/ 1229711 h 2638097"/>
                <a:gd name="connsiteX4-93" fmla="*/ 31531 w 8187558"/>
                <a:gd name="connsiteY4-94" fmla="*/ 147145 h 2638097"/>
                <a:gd name="connsiteX5-95" fmla="*/ 4046482 w 8187558"/>
                <a:gd name="connsiteY5-96" fmla="*/ 1576552 h 2638097"/>
                <a:gd name="connsiteX6-97" fmla="*/ 8187558 w 8187558"/>
                <a:gd name="connsiteY6-98" fmla="*/ 0 h 2638097"/>
                <a:gd name="connsiteX0-99" fmla="*/ 8187558 w 8187558"/>
                <a:gd name="connsiteY0-100" fmla="*/ 0 h 2638097"/>
                <a:gd name="connsiteX1-101" fmla="*/ 8187558 w 8187558"/>
                <a:gd name="connsiteY1-102" fmla="*/ 1271752 h 2638097"/>
                <a:gd name="connsiteX2-103" fmla="*/ 4099035 w 8187558"/>
                <a:gd name="connsiteY2-104" fmla="*/ 2638097 h 2638097"/>
                <a:gd name="connsiteX3-105" fmla="*/ 0 w 8187558"/>
                <a:gd name="connsiteY3-106" fmla="*/ 1229711 h 2638097"/>
                <a:gd name="connsiteX4-107" fmla="*/ 31531 w 8187558"/>
                <a:gd name="connsiteY4-108" fmla="*/ 147145 h 2638097"/>
                <a:gd name="connsiteX5-109" fmla="*/ 4046482 w 8187558"/>
                <a:gd name="connsiteY5-110" fmla="*/ 1576552 h 2638097"/>
                <a:gd name="connsiteX6-111" fmla="*/ 8187558 w 8187558"/>
                <a:gd name="connsiteY6-112" fmla="*/ 0 h 2638097"/>
                <a:gd name="connsiteX0-113" fmla="*/ 8187558 w 8187558"/>
                <a:gd name="connsiteY0-114" fmla="*/ 0 h 2638097"/>
                <a:gd name="connsiteX1-115" fmla="*/ 8187558 w 8187558"/>
                <a:gd name="connsiteY1-116" fmla="*/ 1271752 h 2638097"/>
                <a:gd name="connsiteX2-117" fmla="*/ 4099035 w 8187558"/>
                <a:gd name="connsiteY2-118" fmla="*/ 2638097 h 2638097"/>
                <a:gd name="connsiteX3-119" fmla="*/ 0 w 8187558"/>
                <a:gd name="connsiteY3-120" fmla="*/ 1229711 h 2638097"/>
                <a:gd name="connsiteX4-121" fmla="*/ 31531 w 8187558"/>
                <a:gd name="connsiteY4-122" fmla="*/ 147145 h 2638097"/>
                <a:gd name="connsiteX5-123" fmla="*/ 4046482 w 8187558"/>
                <a:gd name="connsiteY5-124" fmla="*/ 1576552 h 2638097"/>
                <a:gd name="connsiteX6-125" fmla="*/ 8187558 w 8187558"/>
                <a:gd name="connsiteY6-126" fmla="*/ 0 h 2638097"/>
                <a:gd name="connsiteX0-127" fmla="*/ 8187558 w 8187558"/>
                <a:gd name="connsiteY0-128" fmla="*/ 0 h 2638097"/>
                <a:gd name="connsiteX1-129" fmla="*/ 8187558 w 8187558"/>
                <a:gd name="connsiteY1-130" fmla="*/ 1271752 h 2638097"/>
                <a:gd name="connsiteX2-131" fmla="*/ 4099035 w 8187558"/>
                <a:gd name="connsiteY2-132" fmla="*/ 2638097 h 2638097"/>
                <a:gd name="connsiteX3-133" fmla="*/ 0 w 8187558"/>
                <a:gd name="connsiteY3-134" fmla="*/ 1229711 h 2638097"/>
                <a:gd name="connsiteX4-135" fmla="*/ 31531 w 8187558"/>
                <a:gd name="connsiteY4-136" fmla="*/ 147145 h 2638097"/>
                <a:gd name="connsiteX5-137" fmla="*/ 4046482 w 8187558"/>
                <a:gd name="connsiteY5-138" fmla="*/ 1576552 h 2638097"/>
                <a:gd name="connsiteX6-139" fmla="*/ 8187558 w 8187558"/>
                <a:gd name="connsiteY6-140" fmla="*/ 0 h 2638097"/>
                <a:gd name="connsiteX0-141" fmla="*/ 8187558 w 8187558"/>
                <a:gd name="connsiteY0-142" fmla="*/ 0 h 2638097"/>
                <a:gd name="connsiteX1-143" fmla="*/ 8187558 w 8187558"/>
                <a:gd name="connsiteY1-144" fmla="*/ 1271752 h 2638097"/>
                <a:gd name="connsiteX2-145" fmla="*/ 4099035 w 8187558"/>
                <a:gd name="connsiteY2-146" fmla="*/ 2638097 h 2638097"/>
                <a:gd name="connsiteX3-147" fmla="*/ 0 w 8187558"/>
                <a:gd name="connsiteY3-148" fmla="*/ 1229711 h 2638097"/>
                <a:gd name="connsiteX4-149" fmla="*/ 31531 w 8187558"/>
                <a:gd name="connsiteY4-150" fmla="*/ 147145 h 2638097"/>
                <a:gd name="connsiteX5-151" fmla="*/ 4088524 w 8187558"/>
                <a:gd name="connsiteY5-152" fmla="*/ 1597573 h 2638097"/>
                <a:gd name="connsiteX6-153" fmla="*/ 8187558 w 8187558"/>
                <a:gd name="connsiteY6-154" fmla="*/ 0 h 2638097"/>
                <a:gd name="connsiteX0-155" fmla="*/ 8187558 w 8187558"/>
                <a:gd name="connsiteY0-156" fmla="*/ 0 h 2638097"/>
                <a:gd name="connsiteX1-157" fmla="*/ 8187558 w 8187558"/>
                <a:gd name="connsiteY1-158" fmla="*/ 1271752 h 2638097"/>
                <a:gd name="connsiteX2-159" fmla="*/ 4099035 w 8187558"/>
                <a:gd name="connsiteY2-160" fmla="*/ 2638097 h 2638097"/>
                <a:gd name="connsiteX3-161" fmla="*/ 0 w 8187558"/>
                <a:gd name="connsiteY3-162" fmla="*/ 1229711 h 2638097"/>
                <a:gd name="connsiteX4-163" fmla="*/ 31531 w 8187558"/>
                <a:gd name="connsiteY4-164" fmla="*/ 147145 h 2638097"/>
                <a:gd name="connsiteX5-165" fmla="*/ 4088524 w 8187558"/>
                <a:gd name="connsiteY5-166" fmla="*/ 1597573 h 2638097"/>
                <a:gd name="connsiteX6-167" fmla="*/ 8187558 w 8187558"/>
                <a:gd name="connsiteY6-168" fmla="*/ 0 h 2638097"/>
                <a:gd name="connsiteX0-169" fmla="*/ 8187558 w 8187558"/>
                <a:gd name="connsiteY0-170" fmla="*/ 0 h 2638097"/>
                <a:gd name="connsiteX1-171" fmla="*/ 8187558 w 8187558"/>
                <a:gd name="connsiteY1-172" fmla="*/ 1271752 h 2638097"/>
                <a:gd name="connsiteX2-173" fmla="*/ 4099035 w 8187558"/>
                <a:gd name="connsiteY2-174" fmla="*/ 2638097 h 2638097"/>
                <a:gd name="connsiteX3-175" fmla="*/ 0 w 8187558"/>
                <a:gd name="connsiteY3-176" fmla="*/ 1229711 h 2638097"/>
                <a:gd name="connsiteX4-177" fmla="*/ 31531 w 8187558"/>
                <a:gd name="connsiteY4-178" fmla="*/ 147145 h 2638097"/>
                <a:gd name="connsiteX5-179" fmla="*/ 4099035 w 8187558"/>
                <a:gd name="connsiteY5-180" fmla="*/ 1566042 h 2638097"/>
                <a:gd name="connsiteX6-181" fmla="*/ 8187558 w 8187558"/>
                <a:gd name="connsiteY6-182" fmla="*/ 0 h 2638097"/>
                <a:gd name="connsiteX0-183" fmla="*/ 8187558 w 8187558"/>
                <a:gd name="connsiteY0-184" fmla="*/ 0 h 2638097"/>
                <a:gd name="connsiteX1-185" fmla="*/ 8187558 w 8187558"/>
                <a:gd name="connsiteY1-186" fmla="*/ 1271752 h 2638097"/>
                <a:gd name="connsiteX2-187" fmla="*/ 4099035 w 8187558"/>
                <a:gd name="connsiteY2-188" fmla="*/ 2638097 h 2638097"/>
                <a:gd name="connsiteX3-189" fmla="*/ 0 w 8187558"/>
                <a:gd name="connsiteY3-190" fmla="*/ 1229711 h 2638097"/>
                <a:gd name="connsiteX4-191" fmla="*/ 31531 w 8187558"/>
                <a:gd name="connsiteY4-192" fmla="*/ 147145 h 2638097"/>
                <a:gd name="connsiteX5-193" fmla="*/ 4099035 w 8187558"/>
                <a:gd name="connsiteY5-194" fmla="*/ 1566042 h 2638097"/>
                <a:gd name="connsiteX6-195" fmla="*/ 8187558 w 8187558"/>
                <a:gd name="connsiteY6-196" fmla="*/ 0 h 2638097"/>
                <a:gd name="connsiteX0-197" fmla="*/ 8187558 w 8187558"/>
                <a:gd name="connsiteY0-198" fmla="*/ 0 h 2638097"/>
                <a:gd name="connsiteX1-199" fmla="*/ 8187558 w 8187558"/>
                <a:gd name="connsiteY1-200" fmla="*/ 1271752 h 2638097"/>
                <a:gd name="connsiteX2-201" fmla="*/ 4099035 w 8187558"/>
                <a:gd name="connsiteY2-202" fmla="*/ 2638097 h 2638097"/>
                <a:gd name="connsiteX3-203" fmla="*/ 0 w 8187558"/>
                <a:gd name="connsiteY3-204" fmla="*/ 1229711 h 2638097"/>
                <a:gd name="connsiteX4-205" fmla="*/ 31531 w 8187558"/>
                <a:gd name="connsiteY4-206" fmla="*/ 147145 h 2638097"/>
                <a:gd name="connsiteX5-207" fmla="*/ 4099035 w 8187558"/>
                <a:gd name="connsiteY5-208" fmla="*/ 1566042 h 2638097"/>
                <a:gd name="connsiteX6-209" fmla="*/ 8187558 w 8187558"/>
                <a:gd name="connsiteY6-210" fmla="*/ 0 h 2638097"/>
                <a:gd name="connsiteX0-211" fmla="*/ 8187558 w 8187558"/>
                <a:gd name="connsiteY0-212" fmla="*/ 0 h 2638097"/>
                <a:gd name="connsiteX1-213" fmla="*/ 8187558 w 8187558"/>
                <a:gd name="connsiteY1-214" fmla="*/ 1271752 h 2638097"/>
                <a:gd name="connsiteX2-215" fmla="*/ 4099035 w 8187558"/>
                <a:gd name="connsiteY2-216" fmla="*/ 2638097 h 2638097"/>
                <a:gd name="connsiteX3-217" fmla="*/ 0 w 8187558"/>
                <a:gd name="connsiteY3-218" fmla="*/ 1229711 h 2638097"/>
                <a:gd name="connsiteX4-219" fmla="*/ 31531 w 8187558"/>
                <a:gd name="connsiteY4-220" fmla="*/ 147145 h 2638097"/>
                <a:gd name="connsiteX5-221" fmla="*/ 4099035 w 8187558"/>
                <a:gd name="connsiteY5-222" fmla="*/ 1566042 h 2638097"/>
                <a:gd name="connsiteX6-223" fmla="*/ 8187558 w 8187558"/>
                <a:gd name="connsiteY6-224" fmla="*/ 0 h 2638097"/>
                <a:gd name="connsiteX0-225" fmla="*/ 8187558 w 8187558"/>
                <a:gd name="connsiteY0-226" fmla="*/ 0 h 2638097"/>
                <a:gd name="connsiteX1-227" fmla="*/ 8187558 w 8187558"/>
                <a:gd name="connsiteY1-228" fmla="*/ 1271752 h 2638097"/>
                <a:gd name="connsiteX2-229" fmla="*/ 4099035 w 8187558"/>
                <a:gd name="connsiteY2-230" fmla="*/ 2638097 h 2638097"/>
                <a:gd name="connsiteX3-231" fmla="*/ 0 w 8187558"/>
                <a:gd name="connsiteY3-232" fmla="*/ 1229711 h 2638097"/>
                <a:gd name="connsiteX4-233" fmla="*/ 31531 w 8187558"/>
                <a:gd name="connsiteY4-234" fmla="*/ 147145 h 2638097"/>
                <a:gd name="connsiteX5-235" fmla="*/ 4099035 w 8187558"/>
                <a:gd name="connsiteY5-236" fmla="*/ 1566042 h 2638097"/>
                <a:gd name="connsiteX6-237" fmla="*/ 8187558 w 8187558"/>
                <a:gd name="connsiteY6-238" fmla="*/ 0 h 2638097"/>
                <a:gd name="connsiteX0-239" fmla="*/ 8187558 w 8187558"/>
                <a:gd name="connsiteY0-240" fmla="*/ 0 h 2638097"/>
                <a:gd name="connsiteX1-241" fmla="*/ 8187558 w 8187558"/>
                <a:gd name="connsiteY1-242" fmla="*/ 1271752 h 2638097"/>
                <a:gd name="connsiteX2-243" fmla="*/ 4099035 w 8187558"/>
                <a:gd name="connsiteY2-244" fmla="*/ 2638097 h 2638097"/>
                <a:gd name="connsiteX3-245" fmla="*/ 0 w 8187558"/>
                <a:gd name="connsiteY3-246" fmla="*/ 1229711 h 2638097"/>
                <a:gd name="connsiteX4-247" fmla="*/ 31531 w 8187558"/>
                <a:gd name="connsiteY4-248" fmla="*/ 147145 h 2638097"/>
                <a:gd name="connsiteX5-249" fmla="*/ 4099035 w 8187558"/>
                <a:gd name="connsiteY5-250" fmla="*/ 1566042 h 2638097"/>
                <a:gd name="connsiteX6-251" fmla="*/ 8187558 w 8187558"/>
                <a:gd name="connsiteY6-252" fmla="*/ 0 h 2638097"/>
                <a:gd name="connsiteX0-253" fmla="*/ 8187558 w 8187558"/>
                <a:gd name="connsiteY0-254" fmla="*/ 0 h 2638097"/>
                <a:gd name="connsiteX1-255" fmla="*/ 8187558 w 8187558"/>
                <a:gd name="connsiteY1-256" fmla="*/ 1271752 h 2638097"/>
                <a:gd name="connsiteX2-257" fmla="*/ 4099035 w 8187558"/>
                <a:gd name="connsiteY2-258" fmla="*/ 2638097 h 2638097"/>
                <a:gd name="connsiteX3-259" fmla="*/ 0 w 8187558"/>
                <a:gd name="connsiteY3-260" fmla="*/ 1229711 h 2638097"/>
                <a:gd name="connsiteX4-261" fmla="*/ 31531 w 8187558"/>
                <a:gd name="connsiteY4-262" fmla="*/ 147145 h 2638097"/>
                <a:gd name="connsiteX5-263" fmla="*/ 4099035 w 8187558"/>
                <a:gd name="connsiteY5-264" fmla="*/ 1566042 h 2638097"/>
                <a:gd name="connsiteX6-265" fmla="*/ 8187558 w 8187558"/>
                <a:gd name="connsiteY6-266" fmla="*/ 0 h 2638097"/>
                <a:gd name="connsiteX0-267" fmla="*/ 8187558 w 8187558"/>
                <a:gd name="connsiteY0-268" fmla="*/ 0 h 2638097"/>
                <a:gd name="connsiteX1-269" fmla="*/ 8187558 w 8187558"/>
                <a:gd name="connsiteY1-270" fmla="*/ 1271752 h 2638097"/>
                <a:gd name="connsiteX2-271" fmla="*/ 4099035 w 8187558"/>
                <a:gd name="connsiteY2-272" fmla="*/ 2638097 h 2638097"/>
                <a:gd name="connsiteX3-273" fmla="*/ 0 w 8187558"/>
                <a:gd name="connsiteY3-274" fmla="*/ 1229711 h 2638097"/>
                <a:gd name="connsiteX4-275" fmla="*/ 31531 w 8187558"/>
                <a:gd name="connsiteY4-276" fmla="*/ 147145 h 2638097"/>
                <a:gd name="connsiteX5-277" fmla="*/ 4099035 w 8187558"/>
                <a:gd name="connsiteY5-278" fmla="*/ 1566042 h 2638097"/>
                <a:gd name="connsiteX6-279" fmla="*/ 8187558 w 8187558"/>
                <a:gd name="connsiteY6-280" fmla="*/ 0 h 2638097"/>
                <a:gd name="connsiteX0-281" fmla="*/ 8187558 w 8187558"/>
                <a:gd name="connsiteY0-282" fmla="*/ 0 h 2638097"/>
                <a:gd name="connsiteX1-283" fmla="*/ 8187558 w 8187558"/>
                <a:gd name="connsiteY1-284" fmla="*/ 1271752 h 2638097"/>
                <a:gd name="connsiteX2-285" fmla="*/ 4099035 w 8187558"/>
                <a:gd name="connsiteY2-286" fmla="*/ 2638097 h 2638097"/>
                <a:gd name="connsiteX3-287" fmla="*/ 0 w 8187558"/>
                <a:gd name="connsiteY3-288" fmla="*/ 1229711 h 2638097"/>
                <a:gd name="connsiteX4-289" fmla="*/ 31531 w 8187558"/>
                <a:gd name="connsiteY4-290" fmla="*/ 147145 h 2638097"/>
                <a:gd name="connsiteX5-291" fmla="*/ 4099035 w 8187558"/>
                <a:gd name="connsiteY5-292" fmla="*/ 1566042 h 2638097"/>
                <a:gd name="connsiteX6-293" fmla="*/ 8187558 w 8187558"/>
                <a:gd name="connsiteY6-294" fmla="*/ 0 h 2638097"/>
                <a:gd name="connsiteX0-295" fmla="*/ 8176538 w 8176538"/>
                <a:gd name="connsiteY0-296" fmla="*/ 0 h 2638097"/>
                <a:gd name="connsiteX1-297" fmla="*/ 8176538 w 8176538"/>
                <a:gd name="connsiteY1-298" fmla="*/ 1271752 h 2638097"/>
                <a:gd name="connsiteX2-299" fmla="*/ 4088015 w 8176538"/>
                <a:gd name="connsiteY2-300" fmla="*/ 2638097 h 2638097"/>
                <a:gd name="connsiteX3-301" fmla="*/ 0 w 8176538"/>
                <a:gd name="connsiteY3-302" fmla="*/ 1269888 h 2638097"/>
                <a:gd name="connsiteX4-303" fmla="*/ 20511 w 8176538"/>
                <a:gd name="connsiteY4-304" fmla="*/ 147145 h 2638097"/>
                <a:gd name="connsiteX5-305" fmla="*/ 4088015 w 8176538"/>
                <a:gd name="connsiteY5-306" fmla="*/ 1566042 h 2638097"/>
                <a:gd name="connsiteX6-307" fmla="*/ 8176538 w 8176538"/>
                <a:gd name="connsiteY6-308" fmla="*/ 0 h 2638097"/>
                <a:gd name="connsiteX0-309" fmla="*/ 8176538 w 8176538"/>
                <a:gd name="connsiteY0-310" fmla="*/ 0 h 2772020"/>
                <a:gd name="connsiteX1-311" fmla="*/ 8176538 w 8176538"/>
                <a:gd name="connsiteY1-312" fmla="*/ 1271752 h 2772020"/>
                <a:gd name="connsiteX2-313" fmla="*/ 4099034 w 8176538"/>
                <a:gd name="connsiteY2-314" fmla="*/ 2772020 h 2772020"/>
                <a:gd name="connsiteX3-315" fmla="*/ 0 w 8176538"/>
                <a:gd name="connsiteY3-316" fmla="*/ 1269888 h 2772020"/>
                <a:gd name="connsiteX4-317" fmla="*/ 20511 w 8176538"/>
                <a:gd name="connsiteY4-318" fmla="*/ 147145 h 2772020"/>
                <a:gd name="connsiteX5-319" fmla="*/ 4088015 w 8176538"/>
                <a:gd name="connsiteY5-320" fmla="*/ 1566042 h 2772020"/>
                <a:gd name="connsiteX6-321" fmla="*/ 8176538 w 8176538"/>
                <a:gd name="connsiteY6-322" fmla="*/ 0 h 2772020"/>
                <a:gd name="connsiteX0-323" fmla="*/ 8176538 w 8176538"/>
                <a:gd name="connsiteY0-324" fmla="*/ 0 h 2772339"/>
                <a:gd name="connsiteX1-325" fmla="*/ 8176538 w 8176538"/>
                <a:gd name="connsiteY1-326" fmla="*/ 1378890 h 2772339"/>
                <a:gd name="connsiteX2-327" fmla="*/ 4099034 w 8176538"/>
                <a:gd name="connsiteY2-328" fmla="*/ 2772020 h 2772339"/>
                <a:gd name="connsiteX3-329" fmla="*/ 0 w 8176538"/>
                <a:gd name="connsiteY3-330" fmla="*/ 1269888 h 2772339"/>
                <a:gd name="connsiteX4-331" fmla="*/ 20511 w 8176538"/>
                <a:gd name="connsiteY4-332" fmla="*/ 147145 h 2772339"/>
                <a:gd name="connsiteX5-333" fmla="*/ 4088015 w 8176538"/>
                <a:gd name="connsiteY5-334" fmla="*/ 1566042 h 2772339"/>
                <a:gd name="connsiteX6-335" fmla="*/ 8176538 w 8176538"/>
                <a:gd name="connsiteY6-336" fmla="*/ 0 h 2772339"/>
                <a:gd name="connsiteX0-337" fmla="*/ 8176538 w 8176538"/>
                <a:gd name="connsiteY0-338" fmla="*/ 0 h 2825888"/>
                <a:gd name="connsiteX1-339" fmla="*/ 8176538 w 8176538"/>
                <a:gd name="connsiteY1-340" fmla="*/ 1378890 h 2825888"/>
                <a:gd name="connsiteX2-341" fmla="*/ 4099034 w 8176538"/>
                <a:gd name="connsiteY2-342" fmla="*/ 2825590 h 2825888"/>
                <a:gd name="connsiteX3-343" fmla="*/ 0 w 8176538"/>
                <a:gd name="connsiteY3-344" fmla="*/ 1269888 h 2825888"/>
                <a:gd name="connsiteX4-345" fmla="*/ 20511 w 8176538"/>
                <a:gd name="connsiteY4-346" fmla="*/ 147145 h 2825888"/>
                <a:gd name="connsiteX5-347" fmla="*/ 4088015 w 8176538"/>
                <a:gd name="connsiteY5-348" fmla="*/ 1566042 h 2825888"/>
                <a:gd name="connsiteX6-349" fmla="*/ 8176538 w 8176538"/>
                <a:gd name="connsiteY6-350" fmla="*/ 0 h 2825888"/>
                <a:gd name="connsiteX0-351" fmla="*/ 8165518 w 8165518"/>
                <a:gd name="connsiteY0-352" fmla="*/ 0 h 2825606"/>
                <a:gd name="connsiteX1-353" fmla="*/ 8165518 w 8165518"/>
                <a:gd name="connsiteY1-354" fmla="*/ 1378890 h 2825606"/>
                <a:gd name="connsiteX2-355" fmla="*/ 4088014 w 8165518"/>
                <a:gd name="connsiteY2-356" fmla="*/ 2825590 h 2825606"/>
                <a:gd name="connsiteX3-357" fmla="*/ 0 w 8165518"/>
                <a:gd name="connsiteY3-358" fmla="*/ 1403811 h 2825606"/>
                <a:gd name="connsiteX4-359" fmla="*/ 9491 w 8165518"/>
                <a:gd name="connsiteY4-360" fmla="*/ 147145 h 2825606"/>
                <a:gd name="connsiteX5-361" fmla="*/ 4076995 w 8165518"/>
                <a:gd name="connsiteY5-362" fmla="*/ 1566042 h 2825606"/>
                <a:gd name="connsiteX6-363" fmla="*/ 8165518 w 8165518"/>
                <a:gd name="connsiteY6-364" fmla="*/ 0 h 2825606"/>
                <a:gd name="connsiteX0-365" fmla="*/ 8165518 w 8165518"/>
                <a:gd name="connsiteY0-366" fmla="*/ 0 h 2879174"/>
                <a:gd name="connsiteX1-367" fmla="*/ 8165518 w 8165518"/>
                <a:gd name="connsiteY1-368" fmla="*/ 1378890 h 2879174"/>
                <a:gd name="connsiteX2-369" fmla="*/ 4132092 w 8165518"/>
                <a:gd name="connsiteY2-370" fmla="*/ 2879159 h 2879174"/>
                <a:gd name="connsiteX3-371" fmla="*/ 0 w 8165518"/>
                <a:gd name="connsiteY3-372" fmla="*/ 1403811 h 2879174"/>
                <a:gd name="connsiteX4-373" fmla="*/ 9491 w 8165518"/>
                <a:gd name="connsiteY4-374" fmla="*/ 147145 h 2879174"/>
                <a:gd name="connsiteX5-375" fmla="*/ 4076995 w 8165518"/>
                <a:gd name="connsiteY5-376" fmla="*/ 1566042 h 2879174"/>
                <a:gd name="connsiteX6-377" fmla="*/ 8165518 w 8165518"/>
                <a:gd name="connsiteY6-378" fmla="*/ 0 h 2879174"/>
                <a:gd name="connsiteX0-379" fmla="*/ 8165518 w 8176537"/>
                <a:gd name="connsiteY0-380" fmla="*/ 0 h 2879410"/>
                <a:gd name="connsiteX1-381" fmla="*/ 8176537 w 8176537"/>
                <a:gd name="connsiteY1-382" fmla="*/ 1499420 h 2879410"/>
                <a:gd name="connsiteX2-383" fmla="*/ 4132092 w 8176537"/>
                <a:gd name="connsiteY2-384" fmla="*/ 2879159 h 2879410"/>
                <a:gd name="connsiteX3-385" fmla="*/ 0 w 8176537"/>
                <a:gd name="connsiteY3-386" fmla="*/ 1403811 h 2879410"/>
                <a:gd name="connsiteX4-387" fmla="*/ 9491 w 8176537"/>
                <a:gd name="connsiteY4-388" fmla="*/ 147145 h 2879410"/>
                <a:gd name="connsiteX5-389" fmla="*/ 4076995 w 8176537"/>
                <a:gd name="connsiteY5-390" fmla="*/ 1566042 h 2879410"/>
                <a:gd name="connsiteX6-391" fmla="*/ 8165518 w 8176537"/>
                <a:gd name="connsiteY6-392" fmla="*/ 0 h 2879410"/>
                <a:gd name="connsiteX0-393" fmla="*/ 8165518 w 8176537"/>
                <a:gd name="connsiteY0-394" fmla="*/ 0 h 2879262"/>
                <a:gd name="connsiteX1-395" fmla="*/ 8176537 w 8176537"/>
                <a:gd name="connsiteY1-396" fmla="*/ 1499420 h 2879262"/>
                <a:gd name="connsiteX2-397" fmla="*/ 4132092 w 8176537"/>
                <a:gd name="connsiteY2-398" fmla="*/ 2879159 h 2879262"/>
                <a:gd name="connsiteX3-399" fmla="*/ 0 w 8176537"/>
                <a:gd name="connsiteY3-400" fmla="*/ 1403811 h 2879262"/>
                <a:gd name="connsiteX4-401" fmla="*/ 9491 w 8176537"/>
                <a:gd name="connsiteY4-402" fmla="*/ 147145 h 2879262"/>
                <a:gd name="connsiteX5-403" fmla="*/ 4076995 w 8176537"/>
                <a:gd name="connsiteY5-404" fmla="*/ 1566042 h 2879262"/>
                <a:gd name="connsiteX6-405" fmla="*/ 8165518 w 8176537"/>
                <a:gd name="connsiteY6-406" fmla="*/ 0 h 2879262"/>
                <a:gd name="connsiteX0-407" fmla="*/ 8165518 w 8176537"/>
                <a:gd name="connsiteY0-408" fmla="*/ 0 h 2879163"/>
                <a:gd name="connsiteX1-409" fmla="*/ 8176537 w 8176537"/>
                <a:gd name="connsiteY1-410" fmla="*/ 1499420 h 2879163"/>
                <a:gd name="connsiteX2-411" fmla="*/ 4132092 w 8176537"/>
                <a:gd name="connsiteY2-412" fmla="*/ 2879159 h 2879163"/>
                <a:gd name="connsiteX3-413" fmla="*/ 0 w 8176537"/>
                <a:gd name="connsiteY3-414" fmla="*/ 1510948 h 2879163"/>
                <a:gd name="connsiteX4-415" fmla="*/ 9491 w 8176537"/>
                <a:gd name="connsiteY4-416" fmla="*/ 147145 h 2879163"/>
                <a:gd name="connsiteX5-417" fmla="*/ 4076995 w 8176537"/>
                <a:gd name="connsiteY5-418" fmla="*/ 1566042 h 2879163"/>
                <a:gd name="connsiteX6-419" fmla="*/ 8165518 w 8176537"/>
                <a:gd name="connsiteY6-420" fmla="*/ 0 h 2879163"/>
                <a:gd name="connsiteX0-421" fmla="*/ 8165518 w 8198577"/>
                <a:gd name="connsiteY0-422" fmla="*/ 0 h 2879451"/>
                <a:gd name="connsiteX1-423" fmla="*/ 8198577 w 8198577"/>
                <a:gd name="connsiteY1-424" fmla="*/ 1606558 h 2879451"/>
                <a:gd name="connsiteX2-425" fmla="*/ 4132092 w 8198577"/>
                <a:gd name="connsiteY2-426" fmla="*/ 2879159 h 2879451"/>
                <a:gd name="connsiteX3-427" fmla="*/ 0 w 8198577"/>
                <a:gd name="connsiteY3-428" fmla="*/ 1510948 h 2879451"/>
                <a:gd name="connsiteX4-429" fmla="*/ 9491 w 8198577"/>
                <a:gd name="connsiteY4-430" fmla="*/ 147145 h 2879451"/>
                <a:gd name="connsiteX5-431" fmla="*/ 4076995 w 8198577"/>
                <a:gd name="connsiteY5-432" fmla="*/ 1566042 h 2879451"/>
                <a:gd name="connsiteX6-433" fmla="*/ 8165518 w 8198577"/>
                <a:gd name="connsiteY6-434" fmla="*/ 0 h 2879451"/>
                <a:gd name="connsiteX0-435" fmla="*/ 8165518 w 8165518"/>
                <a:gd name="connsiteY0-436" fmla="*/ 0 h 2880066"/>
                <a:gd name="connsiteX1-437" fmla="*/ 8165518 w 8165518"/>
                <a:gd name="connsiteY1-438" fmla="*/ 1673520 h 2880066"/>
                <a:gd name="connsiteX2-439" fmla="*/ 4132092 w 8165518"/>
                <a:gd name="connsiteY2-440" fmla="*/ 2879159 h 2880066"/>
                <a:gd name="connsiteX3-441" fmla="*/ 0 w 8165518"/>
                <a:gd name="connsiteY3-442" fmla="*/ 1510948 h 2880066"/>
                <a:gd name="connsiteX4-443" fmla="*/ 9491 w 8165518"/>
                <a:gd name="connsiteY4-444" fmla="*/ 147145 h 2880066"/>
                <a:gd name="connsiteX5-445" fmla="*/ 4076995 w 8165518"/>
                <a:gd name="connsiteY5-446" fmla="*/ 1566042 h 2880066"/>
                <a:gd name="connsiteX6-447" fmla="*/ 8165518 w 8165518"/>
                <a:gd name="connsiteY6-448" fmla="*/ 0 h 2880066"/>
                <a:gd name="connsiteX0-449" fmla="*/ 8156794 w 8156794"/>
                <a:gd name="connsiteY0-450" fmla="*/ 0 h 2879270"/>
                <a:gd name="connsiteX1-451" fmla="*/ 8156794 w 8156794"/>
                <a:gd name="connsiteY1-452" fmla="*/ 1673520 h 2879270"/>
                <a:gd name="connsiteX2-453" fmla="*/ 4123368 w 8156794"/>
                <a:gd name="connsiteY2-454" fmla="*/ 2879159 h 2879270"/>
                <a:gd name="connsiteX3-455" fmla="*/ 2295 w 8156794"/>
                <a:gd name="connsiteY3-456" fmla="*/ 1618086 h 2879270"/>
                <a:gd name="connsiteX4-457" fmla="*/ 767 w 8156794"/>
                <a:gd name="connsiteY4-458" fmla="*/ 147145 h 2879270"/>
                <a:gd name="connsiteX5-459" fmla="*/ 4068271 w 8156794"/>
                <a:gd name="connsiteY5-460" fmla="*/ 1566042 h 2879270"/>
                <a:gd name="connsiteX6-461" fmla="*/ 8156794 w 8156794"/>
                <a:gd name="connsiteY6-462" fmla="*/ 0 h 2879270"/>
                <a:gd name="connsiteX0-463" fmla="*/ 8156794 w 8156794"/>
                <a:gd name="connsiteY0-464" fmla="*/ 0 h 2973000"/>
                <a:gd name="connsiteX1-465" fmla="*/ 8156794 w 8156794"/>
                <a:gd name="connsiteY1-466" fmla="*/ 1673520 h 2973000"/>
                <a:gd name="connsiteX2-467" fmla="*/ 4134388 w 8156794"/>
                <a:gd name="connsiteY2-468" fmla="*/ 2972904 h 2973000"/>
                <a:gd name="connsiteX3-469" fmla="*/ 2295 w 8156794"/>
                <a:gd name="connsiteY3-470" fmla="*/ 1618086 h 2973000"/>
                <a:gd name="connsiteX4-471" fmla="*/ 767 w 8156794"/>
                <a:gd name="connsiteY4-472" fmla="*/ 147145 h 2973000"/>
                <a:gd name="connsiteX5-473" fmla="*/ 4068271 w 8156794"/>
                <a:gd name="connsiteY5-474" fmla="*/ 1566042 h 2973000"/>
                <a:gd name="connsiteX6-475" fmla="*/ 8156794 w 8156794"/>
                <a:gd name="connsiteY6-476" fmla="*/ 0 h 2973000"/>
                <a:gd name="connsiteX0-477" fmla="*/ 8156794 w 8156794"/>
                <a:gd name="connsiteY0-478" fmla="*/ 0 h 2973000"/>
                <a:gd name="connsiteX1-479" fmla="*/ 8156794 w 8156794"/>
                <a:gd name="connsiteY1-480" fmla="*/ 1673520 h 2973000"/>
                <a:gd name="connsiteX2-481" fmla="*/ 4134388 w 8156794"/>
                <a:gd name="connsiteY2-482" fmla="*/ 2972904 h 2973000"/>
                <a:gd name="connsiteX3-483" fmla="*/ 2295 w 8156794"/>
                <a:gd name="connsiteY3-484" fmla="*/ 1618086 h 2973000"/>
                <a:gd name="connsiteX4-485" fmla="*/ 767 w 8156794"/>
                <a:gd name="connsiteY4-486" fmla="*/ 147145 h 2973000"/>
                <a:gd name="connsiteX5-487" fmla="*/ 4068271 w 8156794"/>
                <a:gd name="connsiteY5-488" fmla="*/ 1566042 h 2973000"/>
                <a:gd name="connsiteX6-489" fmla="*/ 8156794 w 8156794"/>
                <a:gd name="connsiteY6-490" fmla="*/ 0 h 2973000"/>
                <a:gd name="connsiteX0-491" fmla="*/ 8156794 w 8156794"/>
                <a:gd name="connsiteY0-492" fmla="*/ 0 h 2973000"/>
                <a:gd name="connsiteX1-493" fmla="*/ 8156794 w 8156794"/>
                <a:gd name="connsiteY1-494" fmla="*/ 1673520 h 2973000"/>
                <a:gd name="connsiteX2-495" fmla="*/ 4134388 w 8156794"/>
                <a:gd name="connsiteY2-496" fmla="*/ 2972904 h 2973000"/>
                <a:gd name="connsiteX3-497" fmla="*/ 2295 w 8156794"/>
                <a:gd name="connsiteY3-498" fmla="*/ 1618086 h 2973000"/>
                <a:gd name="connsiteX4-499" fmla="*/ 767 w 8156794"/>
                <a:gd name="connsiteY4-500" fmla="*/ 147145 h 2973000"/>
                <a:gd name="connsiteX5-501" fmla="*/ 4068271 w 8156794"/>
                <a:gd name="connsiteY5-502" fmla="*/ 1566042 h 2973000"/>
                <a:gd name="connsiteX6-503" fmla="*/ 8156794 w 8156794"/>
                <a:gd name="connsiteY6-504" fmla="*/ 0 h 2973000"/>
                <a:gd name="connsiteX0-505" fmla="*/ 8156794 w 8156794"/>
                <a:gd name="connsiteY0-506" fmla="*/ 0 h 2973020"/>
                <a:gd name="connsiteX1-507" fmla="*/ 8156794 w 8156794"/>
                <a:gd name="connsiteY1-508" fmla="*/ 1673520 h 2973020"/>
                <a:gd name="connsiteX2-509" fmla="*/ 4134388 w 8156794"/>
                <a:gd name="connsiteY2-510" fmla="*/ 2972904 h 2973020"/>
                <a:gd name="connsiteX3-511" fmla="*/ 2295 w 8156794"/>
                <a:gd name="connsiteY3-512" fmla="*/ 1618086 h 2973020"/>
                <a:gd name="connsiteX4-513" fmla="*/ 767 w 8156794"/>
                <a:gd name="connsiteY4-514" fmla="*/ 147145 h 2973020"/>
                <a:gd name="connsiteX5-515" fmla="*/ 4068271 w 8156794"/>
                <a:gd name="connsiteY5-516" fmla="*/ 1566042 h 2973020"/>
                <a:gd name="connsiteX6-517" fmla="*/ 8156794 w 8156794"/>
                <a:gd name="connsiteY6-518" fmla="*/ 0 h 2973020"/>
                <a:gd name="connsiteX0-519" fmla="*/ 8156794 w 8156794"/>
                <a:gd name="connsiteY0-520" fmla="*/ 0 h 2973021"/>
                <a:gd name="connsiteX1-521" fmla="*/ 8156794 w 8156794"/>
                <a:gd name="connsiteY1-522" fmla="*/ 1673520 h 2973021"/>
                <a:gd name="connsiteX2-523" fmla="*/ 4134388 w 8156794"/>
                <a:gd name="connsiteY2-524" fmla="*/ 2972904 h 2973021"/>
                <a:gd name="connsiteX3-525" fmla="*/ 2295 w 8156794"/>
                <a:gd name="connsiteY3-526" fmla="*/ 1618086 h 2973021"/>
                <a:gd name="connsiteX4-527" fmla="*/ 767 w 8156794"/>
                <a:gd name="connsiteY4-528" fmla="*/ 147145 h 2973021"/>
                <a:gd name="connsiteX5-529" fmla="*/ 4068271 w 8156794"/>
                <a:gd name="connsiteY5-530" fmla="*/ 1566042 h 2973021"/>
                <a:gd name="connsiteX6-531" fmla="*/ 8156794 w 8156794"/>
                <a:gd name="connsiteY6-532" fmla="*/ 0 h 2973021"/>
                <a:gd name="connsiteX0-533" fmla="*/ 8156794 w 8156794"/>
                <a:gd name="connsiteY0-534" fmla="*/ 0 h 2973021"/>
                <a:gd name="connsiteX1-535" fmla="*/ 8156794 w 8156794"/>
                <a:gd name="connsiteY1-536" fmla="*/ 1673520 h 2973021"/>
                <a:gd name="connsiteX2-537" fmla="*/ 4134388 w 8156794"/>
                <a:gd name="connsiteY2-538" fmla="*/ 2972904 h 2973021"/>
                <a:gd name="connsiteX3-539" fmla="*/ 2295 w 8156794"/>
                <a:gd name="connsiteY3-540" fmla="*/ 1618086 h 2973021"/>
                <a:gd name="connsiteX4-541" fmla="*/ 767 w 8156794"/>
                <a:gd name="connsiteY4-542" fmla="*/ 147145 h 2973021"/>
                <a:gd name="connsiteX5-543" fmla="*/ 4068271 w 8156794"/>
                <a:gd name="connsiteY5-544" fmla="*/ 1566042 h 2973021"/>
                <a:gd name="connsiteX6-545" fmla="*/ 8156794 w 8156794"/>
                <a:gd name="connsiteY6-546" fmla="*/ 0 h 2973021"/>
                <a:gd name="connsiteX0-547" fmla="*/ 8156794 w 8156794"/>
                <a:gd name="connsiteY0-548" fmla="*/ 0 h 2973021"/>
                <a:gd name="connsiteX1-549" fmla="*/ 8156794 w 8156794"/>
                <a:gd name="connsiteY1-550" fmla="*/ 1673520 h 2973021"/>
                <a:gd name="connsiteX2-551" fmla="*/ 4134388 w 8156794"/>
                <a:gd name="connsiteY2-552" fmla="*/ 2972904 h 2973021"/>
                <a:gd name="connsiteX3-553" fmla="*/ 2295 w 8156794"/>
                <a:gd name="connsiteY3-554" fmla="*/ 1618086 h 2973021"/>
                <a:gd name="connsiteX4-555" fmla="*/ 767 w 8156794"/>
                <a:gd name="connsiteY4-556" fmla="*/ 147145 h 2973021"/>
                <a:gd name="connsiteX5-557" fmla="*/ 4068271 w 8156794"/>
                <a:gd name="connsiteY5-558" fmla="*/ 1566042 h 2973021"/>
                <a:gd name="connsiteX6-559" fmla="*/ 8156794 w 8156794"/>
                <a:gd name="connsiteY6-560" fmla="*/ 0 h 2973021"/>
                <a:gd name="connsiteX0-561" fmla="*/ 8156794 w 8156794"/>
                <a:gd name="connsiteY0-562" fmla="*/ 0 h 2973021"/>
                <a:gd name="connsiteX1-563" fmla="*/ 8156794 w 8156794"/>
                <a:gd name="connsiteY1-564" fmla="*/ 1673520 h 2973021"/>
                <a:gd name="connsiteX2-565" fmla="*/ 4134388 w 8156794"/>
                <a:gd name="connsiteY2-566" fmla="*/ 2972904 h 2973021"/>
                <a:gd name="connsiteX3-567" fmla="*/ 2295 w 8156794"/>
                <a:gd name="connsiteY3-568" fmla="*/ 1618086 h 2973021"/>
                <a:gd name="connsiteX4-569" fmla="*/ 767 w 8156794"/>
                <a:gd name="connsiteY4-570" fmla="*/ 147145 h 2973021"/>
                <a:gd name="connsiteX5-571" fmla="*/ 4068271 w 8156794"/>
                <a:gd name="connsiteY5-572" fmla="*/ 1566042 h 2973021"/>
                <a:gd name="connsiteX6-573" fmla="*/ 8156794 w 8156794"/>
                <a:gd name="connsiteY6-574" fmla="*/ 0 h 2973021"/>
                <a:gd name="connsiteX0-575" fmla="*/ 8156794 w 8156794"/>
                <a:gd name="connsiteY0-576" fmla="*/ 0 h 2973141"/>
                <a:gd name="connsiteX1-577" fmla="*/ 8156794 w 8156794"/>
                <a:gd name="connsiteY1-578" fmla="*/ 1673520 h 2973141"/>
                <a:gd name="connsiteX2-579" fmla="*/ 4134388 w 8156794"/>
                <a:gd name="connsiteY2-580" fmla="*/ 2972904 h 2973141"/>
                <a:gd name="connsiteX3-581" fmla="*/ 2295 w 8156794"/>
                <a:gd name="connsiteY3-582" fmla="*/ 1618086 h 2973141"/>
                <a:gd name="connsiteX4-583" fmla="*/ 767 w 8156794"/>
                <a:gd name="connsiteY4-584" fmla="*/ 147145 h 2973141"/>
                <a:gd name="connsiteX5-585" fmla="*/ 4068271 w 8156794"/>
                <a:gd name="connsiteY5-586" fmla="*/ 1566042 h 2973141"/>
                <a:gd name="connsiteX6-587" fmla="*/ 8156794 w 8156794"/>
                <a:gd name="connsiteY6-588" fmla="*/ 0 h 2973141"/>
                <a:gd name="connsiteX0-589" fmla="*/ 8156794 w 8156794"/>
                <a:gd name="connsiteY0-590" fmla="*/ 0 h 3066827"/>
                <a:gd name="connsiteX1-591" fmla="*/ 8156794 w 8156794"/>
                <a:gd name="connsiteY1-592" fmla="*/ 1673520 h 3066827"/>
                <a:gd name="connsiteX2-593" fmla="*/ 4123353 w 8156794"/>
                <a:gd name="connsiteY2-594" fmla="*/ 3066650 h 3066827"/>
                <a:gd name="connsiteX3-595" fmla="*/ 2295 w 8156794"/>
                <a:gd name="connsiteY3-596" fmla="*/ 1618086 h 3066827"/>
                <a:gd name="connsiteX4-597" fmla="*/ 767 w 8156794"/>
                <a:gd name="connsiteY4-598" fmla="*/ 147145 h 3066827"/>
                <a:gd name="connsiteX5-599" fmla="*/ 4068271 w 8156794"/>
                <a:gd name="connsiteY5-600" fmla="*/ 1566042 h 3066827"/>
                <a:gd name="connsiteX6-601" fmla="*/ 8156794 w 8156794"/>
                <a:gd name="connsiteY6-602" fmla="*/ 0 h 3066827"/>
                <a:gd name="connsiteX0-603" fmla="*/ 8123689 w 8156794"/>
                <a:gd name="connsiteY0-604" fmla="*/ 0 h 2999866"/>
                <a:gd name="connsiteX1-605" fmla="*/ 8156794 w 8156794"/>
                <a:gd name="connsiteY1-606" fmla="*/ 1606559 h 2999866"/>
                <a:gd name="connsiteX2-607" fmla="*/ 4123353 w 8156794"/>
                <a:gd name="connsiteY2-608" fmla="*/ 2999689 h 2999866"/>
                <a:gd name="connsiteX3-609" fmla="*/ 2295 w 8156794"/>
                <a:gd name="connsiteY3-610" fmla="*/ 1551125 h 2999866"/>
                <a:gd name="connsiteX4-611" fmla="*/ 767 w 8156794"/>
                <a:gd name="connsiteY4-612" fmla="*/ 80184 h 2999866"/>
                <a:gd name="connsiteX5-613" fmla="*/ 4068271 w 8156794"/>
                <a:gd name="connsiteY5-614" fmla="*/ 1499081 h 2999866"/>
                <a:gd name="connsiteX6-615" fmla="*/ 8123689 w 8156794"/>
                <a:gd name="connsiteY6-616" fmla="*/ 0 h 2999866"/>
                <a:gd name="connsiteX0-617" fmla="*/ 8167828 w 8167828"/>
                <a:gd name="connsiteY0-618" fmla="*/ 0 h 3026651"/>
                <a:gd name="connsiteX1-619" fmla="*/ 8156794 w 8167828"/>
                <a:gd name="connsiteY1-620" fmla="*/ 1633344 h 3026651"/>
                <a:gd name="connsiteX2-621" fmla="*/ 4123353 w 8167828"/>
                <a:gd name="connsiteY2-622" fmla="*/ 3026474 h 3026651"/>
                <a:gd name="connsiteX3-623" fmla="*/ 2295 w 8167828"/>
                <a:gd name="connsiteY3-624" fmla="*/ 1577910 h 3026651"/>
                <a:gd name="connsiteX4-625" fmla="*/ 767 w 8167828"/>
                <a:gd name="connsiteY4-626" fmla="*/ 106969 h 3026651"/>
                <a:gd name="connsiteX5-627" fmla="*/ 4068271 w 8167828"/>
                <a:gd name="connsiteY5-628" fmla="*/ 1525866 h 3026651"/>
                <a:gd name="connsiteX6-629" fmla="*/ 8167828 w 8167828"/>
                <a:gd name="connsiteY6-630" fmla="*/ 0 h 3026651"/>
                <a:gd name="connsiteX0-631" fmla="*/ 8167828 w 8167828"/>
                <a:gd name="connsiteY0-632" fmla="*/ 0 h 3027228"/>
                <a:gd name="connsiteX1-633" fmla="*/ 8145760 w 8167828"/>
                <a:gd name="connsiteY1-634" fmla="*/ 1686913 h 3027228"/>
                <a:gd name="connsiteX2-635" fmla="*/ 4123353 w 8167828"/>
                <a:gd name="connsiteY2-636" fmla="*/ 3026474 h 3027228"/>
                <a:gd name="connsiteX3-637" fmla="*/ 2295 w 8167828"/>
                <a:gd name="connsiteY3-638" fmla="*/ 1577910 h 3027228"/>
                <a:gd name="connsiteX4-639" fmla="*/ 767 w 8167828"/>
                <a:gd name="connsiteY4-640" fmla="*/ 106969 h 3027228"/>
                <a:gd name="connsiteX5-641" fmla="*/ 4068271 w 8167828"/>
                <a:gd name="connsiteY5-642" fmla="*/ 1525866 h 3027228"/>
                <a:gd name="connsiteX6-643" fmla="*/ 8167828 w 8167828"/>
                <a:gd name="connsiteY6-644" fmla="*/ 0 h 3027228"/>
                <a:gd name="connsiteX0-645" fmla="*/ 8156794 w 8156794"/>
                <a:gd name="connsiteY0-646" fmla="*/ 0 h 2933483"/>
                <a:gd name="connsiteX1-647" fmla="*/ 8145760 w 8156794"/>
                <a:gd name="connsiteY1-648" fmla="*/ 1593168 h 2933483"/>
                <a:gd name="connsiteX2-649" fmla="*/ 4123353 w 8156794"/>
                <a:gd name="connsiteY2-650" fmla="*/ 2932729 h 2933483"/>
                <a:gd name="connsiteX3-651" fmla="*/ 2295 w 8156794"/>
                <a:gd name="connsiteY3-652" fmla="*/ 1484165 h 2933483"/>
                <a:gd name="connsiteX4-653" fmla="*/ 767 w 8156794"/>
                <a:gd name="connsiteY4-654" fmla="*/ 13224 h 2933483"/>
                <a:gd name="connsiteX5-655" fmla="*/ 4068271 w 8156794"/>
                <a:gd name="connsiteY5-656" fmla="*/ 1432121 h 2933483"/>
                <a:gd name="connsiteX6-657" fmla="*/ 8156794 w 8156794"/>
                <a:gd name="connsiteY6-658" fmla="*/ 0 h 2933483"/>
                <a:gd name="connsiteX0-659" fmla="*/ 8156794 w 8156794"/>
                <a:gd name="connsiteY0-660" fmla="*/ 0 h 2933483"/>
                <a:gd name="connsiteX1-661" fmla="*/ 8145760 w 8156794"/>
                <a:gd name="connsiteY1-662" fmla="*/ 1593168 h 2933483"/>
                <a:gd name="connsiteX2-663" fmla="*/ 4123353 w 8156794"/>
                <a:gd name="connsiteY2-664" fmla="*/ 2932729 h 2933483"/>
                <a:gd name="connsiteX3-665" fmla="*/ 2295 w 8156794"/>
                <a:gd name="connsiteY3-666" fmla="*/ 1484165 h 2933483"/>
                <a:gd name="connsiteX4-667" fmla="*/ 767 w 8156794"/>
                <a:gd name="connsiteY4-668" fmla="*/ 13224 h 2933483"/>
                <a:gd name="connsiteX5-669" fmla="*/ 4068271 w 8156794"/>
                <a:gd name="connsiteY5-670" fmla="*/ 1432121 h 2933483"/>
                <a:gd name="connsiteX6-671" fmla="*/ 8156794 w 8156794"/>
                <a:gd name="connsiteY6-672" fmla="*/ 0 h 2933483"/>
                <a:gd name="connsiteX0-673" fmla="*/ 8123689 w 8145760"/>
                <a:gd name="connsiteY0-674" fmla="*/ 13560 h 2920259"/>
                <a:gd name="connsiteX1-675" fmla="*/ 8145760 w 8145760"/>
                <a:gd name="connsiteY1-676" fmla="*/ 1579944 h 2920259"/>
                <a:gd name="connsiteX2-677" fmla="*/ 4123353 w 8145760"/>
                <a:gd name="connsiteY2-678" fmla="*/ 2919505 h 2920259"/>
                <a:gd name="connsiteX3-679" fmla="*/ 2295 w 8145760"/>
                <a:gd name="connsiteY3-680" fmla="*/ 1470941 h 2920259"/>
                <a:gd name="connsiteX4-681" fmla="*/ 767 w 8145760"/>
                <a:gd name="connsiteY4-682" fmla="*/ 0 h 2920259"/>
                <a:gd name="connsiteX5-683" fmla="*/ 4068271 w 8145760"/>
                <a:gd name="connsiteY5-684" fmla="*/ 1418897 h 2920259"/>
                <a:gd name="connsiteX6-685" fmla="*/ 8123689 w 8145760"/>
                <a:gd name="connsiteY6-686" fmla="*/ 13560 h 2920259"/>
                <a:gd name="connsiteX0-687" fmla="*/ 8178863 w 8178863"/>
                <a:gd name="connsiteY0-688" fmla="*/ 26952 h 2920259"/>
                <a:gd name="connsiteX1-689" fmla="*/ 8145760 w 8178863"/>
                <a:gd name="connsiteY1-690" fmla="*/ 1579944 h 2920259"/>
                <a:gd name="connsiteX2-691" fmla="*/ 4123353 w 8178863"/>
                <a:gd name="connsiteY2-692" fmla="*/ 2919505 h 2920259"/>
                <a:gd name="connsiteX3-693" fmla="*/ 2295 w 8178863"/>
                <a:gd name="connsiteY3-694" fmla="*/ 1470941 h 2920259"/>
                <a:gd name="connsiteX4-695" fmla="*/ 767 w 8178863"/>
                <a:gd name="connsiteY4-696" fmla="*/ 0 h 2920259"/>
                <a:gd name="connsiteX5-697" fmla="*/ 4068271 w 8178863"/>
                <a:gd name="connsiteY5-698" fmla="*/ 1418897 h 2920259"/>
                <a:gd name="connsiteX6-699" fmla="*/ 8178863 w 8178863"/>
                <a:gd name="connsiteY6-700" fmla="*/ 26952 h 2920259"/>
                <a:gd name="connsiteX0-701" fmla="*/ 8167827 w 8167827"/>
                <a:gd name="connsiteY0-702" fmla="*/ 40343 h 2920259"/>
                <a:gd name="connsiteX1-703" fmla="*/ 8145760 w 8167827"/>
                <a:gd name="connsiteY1-704" fmla="*/ 1579944 h 2920259"/>
                <a:gd name="connsiteX2-705" fmla="*/ 4123353 w 8167827"/>
                <a:gd name="connsiteY2-706" fmla="*/ 2919505 h 2920259"/>
                <a:gd name="connsiteX3-707" fmla="*/ 2295 w 8167827"/>
                <a:gd name="connsiteY3-708" fmla="*/ 1470941 h 2920259"/>
                <a:gd name="connsiteX4-709" fmla="*/ 767 w 8167827"/>
                <a:gd name="connsiteY4-710" fmla="*/ 0 h 2920259"/>
                <a:gd name="connsiteX5-711" fmla="*/ 4068271 w 8167827"/>
                <a:gd name="connsiteY5-712" fmla="*/ 1418897 h 2920259"/>
                <a:gd name="connsiteX6-713" fmla="*/ 8167827 w 8167827"/>
                <a:gd name="connsiteY6-714" fmla="*/ 40343 h 2920259"/>
                <a:gd name="connsiteX0-715" fmla="*/ 8123687 w 8145760"/>
                <a:gd name="connsiteY0-716" fmla="*/ 53735 h 2920259"/>
                <a:gd name="connsiteX1-717" fmla="*/ 8145760 w 8145760"/>
                <a:gd name="connsiteY1-718" fmla="*/ 1579944 h 2920259"/>
                <a:gd name="connsiteX2-719" fmla="*/ 4123353 w 8145760"/>
                <a:gd name="connsiteY2-720" fmla="*/ 2919505 h 2920259"/>
                <a:gd name="connsiteX3-721" fmla="*/ 2295 w 8145760"/>
                <a:gd name="connsiteY3-722" fmla="*/ 1470941 h 2920259"/>
                <a:gd name="connsiteX4-723" fmla="*/ 767 w 8145760"/>
                <a:gd name="connsiteY4-724" fmla="*/ 0 h 2920259"/>
                <a:gd name="connsiteX5-725" fmla="*/ 4068271 w 8145760"/>
                <a:gd name="connsiteY5-726" fmla="*/ 1418897 h 2920259"/>
                <a:gd name="connsiteX6-727" fmla="*/ 8123687 w 8145760"/>
                <a:gd name="connsiteY6-728" fmla="*/ 53735 h 2920259"/>
                <a:gd name="connsiteX0-729" fmla="*/ 8161918 w 8161918"/>
                <a:gd name="connsiteY0-730" fmla="*/ 0 h 2943855"/>
                <a:gd name="connsiteX1-731" fmla="*/ 8145760 w 8161918"/>
                <a:gd name="connsiteY1-732" fmla="*/ 1603540 h 2943855"/>
                <a:gd name="connsiteX2-733" fmla="*/ 4123353 w 8161918"/>
                <a:gd name="connsiteY2-734" fmla="*/ 2943101 h 2943855"/>
                <a:gd name="connsiteX3-735" fmla="*/ 2295 w 8161918"/>
                <a:gd name="connsiteY3-736" fmla="*/ 1494537 h 2943855"/>
                <a:gd name="connsiteX4-737" fmla="*/ 767 w 8161918"/>
                <a:gd name="connsiteY4-738" fmla="*/ 23596 h 2943855"/>
                <a:gd name="connsiteX5-739" fmla="*/ 4068271 w 8161918"/>
                <a:gd name="connsiteY5-740" fmla="*/ 1442493 h 2943855"/>
                <a:gd name="connsiteX6-741" fmla="*/ 8161918 w 8161918"/>
                <a:gd name="connsiteY6-742" fmla="*/ 0 h 2943855"/>
                <a:gd name="connsiteX0-743" fmla="*/ 8144926 w 8145760"/>
                <a:gd name="connsiteY0-744" fmla="*/ 43424 h 2920259"/>
                <a:gd name="connsiteX1-745" fmla="*/ 8145760 w 8145760"/>
                <a:gd name="connsiteY1-746" fmla="*/ 1579944 h 2920259"/>
                <a:gd name="connsiteX2-747" fmla="*/ 4123353 w 8145760"/>
                <a:gd name="connsiteY2-748" fmla="*/ 2919505 h 2920259"/>
                <a:gd name="connsiteX3-749" fmla="*/ 2295 w 8145760"/>
                <a:gd name="connsiteY3-750" fmla="*/ 1470941 h 2920259"/>
                <a:gd name="connsiteX4-751" fmla="*/ 767 w 8145760"/>
                <a:gd name="connsiteY4-752" fmla="*/ 0 h 2920259"/>
                <a:gd name="connsiteX5-753" fmla="*/ 4068271 w 8145760"/>
                <a:gd name="connsiteY5-754" fmla="*/ 1418897 h 2920259"/>
                <a:gd name="connsiteX6-755" fmla="*/ 8144926 w 8145760"/>
                <a:gd name="connsiteY6-756" fmla="*/ 43424 h 2920259"/>
                <a:gd name="connsiteX0-757" fmla="*/ 8161918 w 8161918"/>
                <a:gd name="connsiteY0-758" fmla="*/ 0 h 2959321"/>
                <a:gd name="connsiteX1-759" fmla="*/ 8145760 w 8161918"/>
                <a:gd name="connsiteY1-760" fmla="*/ 1619006 h 2959321"/>
                <a:gd name="connsiteX2-761" fmla="*/ 4123353 w 8161918"/>
                <a:gd name="connsiteY2-762" fmla="*/ 2958567 h 2959321"/>
                <a:gd name="connsiteX3-763" fmla="*/ 2295 w 8161918"/>
                <a:gd name="connsiteY3-764" fmla="*/ 1510003 h 2959321"/>
                <a:gd name="connsiteX4-765" fmla="*/ 767 w 8161918"/>
                <a:gd name="connsiteY4-766" fmla="*/ 39062 h 2959321"/>
                <a:gd name="connsiteX5-767" fmla="*/ 4068271 w 8161918"/>
                <a:gd name="connsiteY5-768" fmla="*/ 1457959 h 2959321"/>
                <a:gd name="connsiteX6-769" fmla="*/ 8161918 w 8161918"/>
                <a:gd name="connsiteY6-770" fmla="*/ 0 h 2959321"/>
                <a:gd name="connsiteX0-771" fmla="*/ 8161918 w 8162752"/>
                <a:gd name="connsiteY0-772" fmla="*/ 0 h 2959488"/>
                <a:gd name="connsiteX1-773" fmla="*/ 8162752 w 8162752"/>
                <a:gd name="connsiteY1-774" fmla="*/ 1629317 h 2959488"/>
                <a:gd name="connsiteX2-775" fmla="*/ 4123353 w 8162752"/>
                <a:gd name="connsiteY2-776" fmla="*/ 2958567 h 2959488"/>
                <a:gd name="connsiteX3-777" fmla="*/ 2295 w 8162752"/>
                <a:gd name="connsiteY3-778" fmla="*/ 1510003 h 2959488"/>
                <a:gd name="connsiteX4-779" fmla="*/ 767 w 8162752"/>
                <a:gd name="connsiteY4-780" fmla="*/ 39062 h 2959488"/>
                <a:gd name="connsiteX5-781" fmla="*/ 4068271 w 8162752"/>
                <a:gd name="connsiteY5-782" fmla="*/ 1457959 h 2959488"/>
                <a:gd name="connsiteX6-783" fmla="*/ 8161918 w 8162752"/>
                <a:gd name="connsiteY6-784" fmla="*/ 0 h 2959488"/>
                <a:gd name="connsiteX0-785" fmla="*/ 8165930 w 8166764"/>
                <a:gd name="connsiteY0-786" fmla="*/ 7337 h 2966825"/>
                <a:gd name="connsiteX1-787" fmla="*/ 8166764 w 8166764"/>
                <a:gd name="connsiteY1-788" fmla="*/ 1636654 h 2966825"/>
                <a:gd name="connsiteX2-789" fmla="*/ 4127365 w 8166764"/>
                <a:gd name="connsiteY2-790" fmla="*/ 2965904 h 2966825"/>
                <a:gd name="connsiteX3-791" fmla="*/ 6307 w 8166764"/>
                <a:gd name="connsiteY3-792" fmla="*/ 1517340 h 2966825"/>
                <a:gd name="connsiteX4-793" fmla="*/ 532 w 8166764"/>
                <a:gd name="connsiteY4-794" fmla="*/ 0 h 2966825"/>
                <a:gd name="connsiteX5-795" fmla="*/ 4072283 w 8166764"/>
                <a:gd name="connsiteY5-796" fmla="*/ 1465296 h 2966825"/>
                <a:gd name="connsiteX6-797" fmla="*/ 8165930 w 8166764"/>
                <a:gd name="connsiteY6-798" fmla="*/ 7337 h 2966825"/>
                <a:gd name="connsiteX0-799" fmla="*/ 8168119 w 8168953"/>
                <a:gd name="connsiteY0-800" fmla="*/ 7337 h 2966682"/>
                <a:gd name="connsiteX1-801" fmla="*/ 8168953 w 8168953"/>
                <a:gd name="connsiteY1-802" fmla="*/ 1636654 h 2966682"/>
                <a:gd name="connsiteX2-803" fmla="*/ 4129554 w 8168953"/>
                <a:gd name="connsiteY2-804" fmla="*/ 2965904 h 2966682"/>
                <a:gd name="connsiteX3-805" fmla="*/ 0 w 8168953"/>
                <a:gd name="connsiteY3-806" fmla="*/ 1527651 h 2966682"/>
                <a:gd name="connsiteX4-807" fmla="*/ 2721 w 8168953"/>
                <a:gd name="connsiteY4-808" fmla="*/ 0 h 2966682"/>
                <a:gd name="connsiteX5-809" fmla="*/ 4074472 w 8168953"/>
                <a:gd name="connsiteY5-810" fmla="*/ 1465296 h 2966682"/>
                <a:gd name="connsiteX6-811" fmla="*/ 8168119 w 8168953"/>
                <a:gd name="connsiteY6-812" fmla="*/ 7337 h 2966682"/>
                <a:gd name="connsiteX0-813" fmla="*/ 8168119 w 8168953"/>
                <a:gd name="connsiteY0-814" fmla="*/ 7337 h 3100377"/>
                <a:gd name="connsiteX1-815" fmla="*/ 8168953 w 8168953"/>
                <a:gd name="connsiteY1-816" fmla="*/ 1636654 h 3100377"/>
                <a:gd name="connsiteX2-817" fmla="*/ 4118520 w 8168953"/>
                <a:gd name="connsiteY2-818" fmla="*/ 3099826 h 3100377"/>
                <a:gd name="connsiteX3-819" fmla="*/ 0 w 8168953"/>
                <a:gd name="connsiteY3-820" fmla="*/ 1527651 h 3100377"/>
                <a:gd name="connsiteX4-821" fmla="*/ 2721 w 8168953"/>
                <a:gd name="connsiteY4-822" fmla="*/ 0 h 3100377"/>
                <a:gd name="connsiteX5-823" fmla="*/ 4074472 w 8168953"/>
                <a:gd name="connsiteY5-824" fmla="*/ 1465296 h 3100377"/>
                <a:gd name="connsiteX6-825" fmla="*/ 8168119 w 8168953"/>
                <a:gd name="connsiteY6-826" fmla="*/ 7337 h 3100377"/>
                <a:gd name="connsiteX0-827" fmla="*/ 8168119 w 8168953"/>
                <a:gd name="connsiteY0-828" fmla="*/ 7337 h 3100429"/>
                <a:gd name="connsiteX1-829" fmla="*/ 8168953 w 8168953"/>
                <a:gd name="connsiteY1-830" fmla="*/ 1636654 h 3100429"/>
                <a:gd name="connsiteX2-831" fmla="*/ 4118520 w 8168953"/>
                <a:gd name="connsiteY2-832" fmla="*/ 3099826 h 3100429"/>
                <a:gd name="connsiteX3-833" fmla="*/ 0 w 8168953"/>
                <a:gd name="connsiteY3-834" fmla="*/ 1527651 h 3100429"/>
                <a:gd name="connsiteX4-835" fmla="*/ 2721 w 8168953"/>
                <a:gd name="connsiteY4-836" fmla="*/ 0 h 3100429"/>
                <a:gd name="connsiteX5-837" fmla="*/ 4074472 w 8168953"/>
                <a:gd name="connsiteY5-838" fmla="*/ 1465296 h 3100429"/>
                <a:gd name="connsiteX6-839" fmla="*/ 8168119 w 8168953"/>
                <a:gd name="connsiteY6-840" fmla="*/ 7337 h 3100429"/>
                <a:gd name="connsiteX0-841" fmla="*/ 8165849 w 8166683"/>
                <a:gd name="connsiteY0-842" fmla="*/ 7337 h 3099826"/>
                <a:gd name="connsiteX1-843" fmla="*/ 8166683 w 8166683"/>
                <a:gd name="connsiteY1-844" fmla="*/ 1636654 h 3099826"/>
                <a:gd name="connsiteX2-845" fmla="*/ 4116250 w 8166683"/>
                <a:gd name="connsiteY2-846" fmla="*/ 3099826 h 3099826"/>
                <a:gd name="connsiteX3-847" fmla="*/ 8764 w 8166683"/>
                <a:gd name="connsiteY3-848" fmla="*/ 1634789 h 3099826"/>
                <a:gd name="connsiteX4-849" fmla="*/ 451 w 8166683"/>
                <a:gd name="connsiteY4-850" fmla="*/ 0 h 3099826"/>
                <a:gd name="connsiteX5-851" fmla="*/ 4072202 w 8166683"/>
                <a:gd name="connsiteY5-852" fmla="*/ 1465296 h 3099826"/>
                <a:gd name="connsiteX6-853" fmla="*/ 8165849 w 8166683"/>
                <a:gd name="connsiteY6-854" fmla="*/ 7337 h 3099826"/>
                <a:gd name="connsiteX0-855" fmla="*/ 8165849 w 8166683"/>
                <a:gd name="connsiteY0-856" fmla="*/ 7337 h 3099826"/>
                <a:gd name="connsiteX1-857" fmla="*/ 8166683 w 8166683"/>
                <a:gd name="connsiteY1-858" fmla="*/ 1636654 h 3099826"/>
                <a:gd name="connsiteX2-859" fmla="*/ 4116250 w 8166683"/>
                <a:gd name="connsiteY2-860" fmla="*/ 3099826 h 3099826"/>
                <a:gd name="connsiteX3-861" fmla="*/ 8764 w 8166683"/>
                <a:gd name="connsiteY3-862" fmla="*/ 1634789 h 3099826"/>
                <a:gd name="connsiteX4-863" fmla="*/ 451 w 8166683"/>
                <a:gd name="connsiteY4-864" fmla="*/ 0 h 3099826"/>
                <a:gd name="connsiteX5-865" fmla="*/ 4072202 w 8166683"/>
                <a:gd name="connsiteY5-866" fmla="*/ 1465296 h 3099826"/>
                <a:gd name="connsiteX6-867" fmla="*/ 8165849 w 8166683"/>
                <a:gd name="connsiteY6-868" fmla="*/ 7337 h 3099826"/>
                <a:gd name="connsiteX0-869" fmla="*/ 8165849 w 8166683"/>
                <a:gd name="connsiteY0-870" fmla="*/ 7337 h 3099826"/>
                <a:gd name="connsiteX1-871" fmla="*/ 8166683 w 8166683"/>
                <a:gd name="connsiteY1-872" fmla="*/ 1636654 h 3099826"/>
                <a:gd name="connsiteX2-873" fmla="*/ 4116250 w 8166683"/>
                <a:gd name="connsiteY2-874" fmla="*/ 3099826 h 3099826"/>
                <a:gd name="connsiteX3-875" fmla="*/ 8764 w 8166683"/>
                <a:gd name="connsiteY3-876" fmla="*/ 1634789 h 3099826"/>
                <a:gd name="connsiteX4-877" fmla="*/ 451 w 8166683"/>
                <a:gd name="connsiteY4-878" fmla="*/ 0 h 3099826"/>
                <a:gd name="connsiteX5-879" fmla="*/ 4061168 w 8166683"/>
                <a:gd name="connsiteY5-880" fmla="*/ 1438511 h 3099826"/>
                <a:gd name="connsiteX6-881" fmla="*/ 8165849 w 8166683"/>
                <a:gd name="connsiteY6-882" fmla="*/ 7337 h 3099826"/>
                <a:gd name="connsiteX0-883" fmla="*/ 8165849 w 8166683"/>
                <a:gd name="connsiteY0-884" fmla="*/ 7337 h 3099826"/>
                <a:gd name="connsiteX1-885" fmla="*/ 8166683 w 8166683"/>
                <a:gd name="connsiteY1-886" fmla="*/ 1636654 h 3099826"/>
                <a:gd name="connsiteX2-887" fmla="*/ 4116250 w 8166683"/>
                <a:gd name="connsiteY2-888" fmla="*/ 3099826 h 3099826"/>
                <a:gd name="connsiteX3-889" fmla="*/ 8764 w 8166683"/>
                <a:gd name="connsiteY3-890" fmla="*/ 1634789 h 3099826"/>
                <a:gd name="connsiteX4-891" fmla="*/ 451 w 8166683"/>
                <a:gd name="connsiteY4-892" fmla="*/ 0 h 3099826"/>
                <a:gd name="connsiteX5-893" fmla="*/ 4061168 w 8166683"/>
                <a:gd name="connsiteY5-894" fmla="*/ 1438511 h 3099826"/>
                <a:gd name="connsiteX6-895" fmla="*/ 8165849 w 8166683"/>
                <a:gd name="connsiteY6-896" fmla="*/ 7337 h 30998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7" name="Oval 801"/>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8" name="Group 802"/>
            <p:cNvGrpSpPr/>
            <p:nvPr/>
          </p:nvGrpSpPr>
          <p:grpSpPr>
            <a:xfrm>
              <a:off x="7713663" y="2848339"/>
              <a:ext cx="1042107" cy="425543"/>
              <a:chOff x="7786941" y="2884917"/>
              <a:chExt cx="897649" cy="353919"/>
            </a:xfrm>
          </p:grpSpPr>
          <p:sp>
            <p:nvSpPr>
              <p:cNvPr id="69" name="Freeform 803"/>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0" name="Freeform 804"/>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1" name="Freeform 805"/>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806"/>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56" name="Freeform 195"/>
          <p:cNvSpPr/>
          <p:nvPr/>
        </p:nvSpPr>
        <p:spPr>
          <a:xfrm>
            <a:off x="8562777" y="4701920"/>
            <a:ext cx="2423480" cy="399173"/>
          </a:xfrm>
          <a:custGeom>
            <a:avLst/>
            <a:gdLst>
              <a:gd name="connsiteX0" fmla="*/ 0 w 2417086"/>
              <a:gd name="connsiteY0" fmla="*/ 136686 h 393747"/>
              <a:gd name="connsiteX1" fmla="*/ 613863 w 2417086"/>
              <a:gd name="connsiteY1" fmla="*/ 392462 h 393747"/>
              <a:gd name="connsiteX2" fmla="*/ 1579419 w 2417086"/>
              <a:gd name="connsiteY2" fmla="*/ 40770 h 393747"/>
              <a:gd name="connsiteX3" fmla="*/ 2417086 w 2417086"/>
              <a:gd name="connsiteY3" fmla="*/ 21586 h 393747"/>
              <a:gd name="connsiteX0-1" fmla="*/ 0 w 2423480"/>
              <a:gd name="connsiteY0-2" fmla="*/ 153322 h 410383"/>
              <a:gd name="connsiteX1-3" fmla="*/ 613863 w 2423480"/>
              <a:gd name="connsiteY1-4" fmla="*/ 409098 h 410383"/>
              <a:gd name="connsiteX2-5" fmla="*/ 1579419 w 2423480"/>
              <a:gd name="connsiteY2-6" fmla="*/ 57406 h 410383"/>
              <a:gd name="connsiteX3-7" fmla="*/ 2423480 w 2423480"/>
              <a:gd name="connsiteY3-8" fmla="*/ 12644 h 410383"/>
              <a:gd name="connsiteX0-9" fmla="*/ 0 w 2423480"/>
              <a:gd name="connsiteY0-10" fmla="*/ 142112 h 399173"/>
              <a:gd name="connsiteX1-11" fmla="*/ 613863 w 2423480"/>
              <a:gd name="connsiteY1-12" fmla="*/ 397888 h 399173"/>
              <a:gd name="connsiteX2-13" fmla="*/ 1579419 w 2423480"/>
              <a:gd name="connsiteY2-14" fmla="*/ 46196 h 399173"/>
              <a:gd name="connsiteX3-15" fmla="*/ 2423480 w 2423480"/>
              <a:gd name="connsiteY3-16" fmla="*/ 1434 h 399173"/>
            </a:gdLst>
            <a:ahLst/>
            <a:cxnLst>
              <a:cxn ang="0">
                <a:pos x="connsiteX0-1" y="connsiteY0-2"/>
              </a:cxn>
              <a:cxn ang="0">
                <a:pos x="connsiteX1-3" y="connsiteY1-4"/>
              </a:cxn>
              <a:cxn ang="0">
                <a:pos x="connsiteX2-5" y="connsiteY2-6"/>
              </a:cxn>
              <a:cxn ang="0">
                <a:pos x="connsiteX3-7" y="connsiteY3-8"/>
              </a:cxn>
            </a:cxnLst>
            <a:rect l="l" t="t" r="r" b="b"/>
            <a:pathLst>
              <a:path w="2423480" h="399173">
                <a:moveTo>
                  <a:pt x="0" y="142112"/>
                </a:moveTo>
                <a:cubicBezTo>
                  <a:pt x="175313" y="277993"/>
                  <a:pt x="350627" y="413874"/>
                  <a:pt x="613863" y="397888"/>
                </a:cubicBezTo>
                <a:cubicBezTo>
                  <a:pt x="877099" y="381902"/>
                  <a:pt x="1277816" y="112272"/>
                  <a:pt x="1579419" y="46196"/>
                </a:cubicBezTo>
                <a:cubicBezTo>
                  <a:pt x="1881022" y="-19880"/>
                  <a:pt x="2065394" y="5697"/>
                  <a:pt x="2423480" y="1434"/>
                </a:cubicBezTo>
              </a:path>
            </a:pathLst>
          </a:custGeom>
          <a:noFill/>
          <a:ln w="444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Rectangle 98"/>
          <p:cNvSpPr>
            <a:spLocks noChangeArrowheads="1"/>
          </p:cNvSpPr>
          <p:nvPr/>
        </p:nvSpPr>
        <p:spPr bwMode="auto">
          <a:xfrm rot="19587632">
            <a:off x="6397382" y="4937165"/>
            <a:ext cx="1147816" cy="238079"/>
          </a:xfrm>
          <a:prstGeom prst="rect">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89" name="Text Box 105"/>
          <p:cNvSpPr txBox="1">
            <a:spLocks noChangeArrowheads="1"/>
          </p:cNvSpPr>
          <p:nvPr/>
        </p:nvSpPr>
        <p:spPr bwMode="auto">
          <a:xfrm rot="19697565">
            <a:off x="6854925" y="4772380"/>
            <a:ext cx="520725" cy="275590"/>
          </a:xfrm>
          <a:prstGeom prst="rect">
            <a:avLst/>
          </a:prstGeom>
          <a:gradFill>
            <a:gsLst>
              <a:gs pos="0">
                <a:srgbClr val="14CD68"/>
              </a:gs>
              <a:gs pos="100000">
                <a:srgbClr val="0B6E38"/>
              </a:gs>
            </a:gsLst>
            <a:lin ang="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rPr>
              <a:t>0111</a:t>
            </a:r>
          </a:p>
        </p:txBody>
      </p:sp>
      <p:grpSp>
        <p:nvGrpSpPr>
          <p:cNvPr id="140" name="Group 7"/>
          <p:cNvGrpSpPr/>
          <p:nvPr/>
        </p:nvGrpSpPr>
        <p:grpSpPr>
          <a:xfrm>
            <a:off x="9209813" y="3584953"/>
            <a:ext cx="578032" cy="815847"/>
            <a:chOff x="6355851" y="3632200"/>
            <a:chExt cx="578032" cy="815847"/>
          </a:xfrm>
        </p:grpSpPr>
        <p:sp>
          <p:nvSpPr>
            <p:cNvPr id="141" name="Freeform 122"/>
            <p:cNvSpPr/>
            <p:nvPr/>
          </p:nvSpPr>
          <p:spPr bwMode="auto">
            <a:xfrm flipH="1">
              <a:off x="6355851" y="4076630"/>
              <a:ext cx="578032"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42" name="Group 126"/>
            <p:cNvGrpSpPr/>
            <p:nvPr/>
          </p:nvGrpSpPr>
          <p:grpSpPr bwMode="auto">
            <a:xfrm>
              <a:off x="6363791" y="3632200"/>
              <a:ext cx="551036" cy="452367"/>
              <a:chOff x="2886" y="1668"/>
              <a:chExt cx="347" cy="285"/>
            </a:xfrm>
          </p:grpSpPr>
          <p:sp>
            <p:nvSpPr>
              <p:cNvPr id="143" name="Rectangle 127"/>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4" name="Oval 128"/>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5" name="Rectangle 129"/>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6" name="Line 130"/>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7" name="Line 131"/>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8" name="Line 132"/>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49" name="AutoShape 133"/>
              <p:cNvSpPr>
                <a:spLocks noChangeArrowheads="1"/>
              </p:cNvSpPr>
              <p:nvPr/>
            </p:nvSpPr>
            <p:spPr bwMode="auto">
              <a:xfrm rot="5400000">
                <a:off x="3051" y="1745"/>
                <a:ext cx="29" cy="41"/>
              </a:xfrm>
              <a:prstGeom prst="rightArrow">
                <a:avLst>
                  <a:gd name="adj1" fmla="val 51167"/>
                  <a:gd name="adj2" fmla="val 39736"/>
                </a:avLst>
              </a:prstGeom>
              <a:solidFill>
                <a:srgbClr val="C00000"/>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50" name="Group 8"/>
          <p:cNvGrpSpPr/>
          <p:nvPr/>
        </p:nvGrpSpPr>
        <p:grpSpPr>
          <a:xfrm>
            <a:off x="10156417" y="3768786"/>
            <a:ext cx="578032" cy="822878"/>
            <a:chOff x="7355160" y="3958273"/>
            <a:chExt cx="578032" cy="822878"/>
          </a:xfrm>
        </p:grpSpPr>
        <p:sp>
          <p:nvSpPr>
            <p:cNvPr id="151" name="Freeform 121"/>
            <p:cNvSpPr/>
            <p:nvPr/>
          </p:nvSpPr>
          <p:spPr bwMode="auto">
            <a:xfrm flipH="1">
              <a:off x="7355160" y="4409734"/>
              <a:ext cx="578032"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52" name="Group 134"/>
            <p:cNvGrpSpPr/>
            <p:nvPr/>
          </p:nvGrpSpPr>
          <p:grpSpPr bwMode="auto">
            <a:xfrm>
              <a:off x="7360606" y="3958273"/>
              <a:ext cx="551036" cy="452367"/>
              <a:chOff x="2886" y="1668"/>
              <a:chExt cx="347" cy="285"/>
            </a:xfrm>
          </p:grpSpPr>
          <p:sp>
            <p:nvSpPr>
              <p:cNvPr id="153" name="Rectangle 135"/>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4" name="Oval 136"/>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5" name="Rectangle 137"/>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6" name="Line 138"/>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7" name="Line 139"/>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8" name="Line 140"/>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59" name="AutoShape 141"/>
              <p:cNvSpPr>
                <a:spLocks noChangeArrowheads="1"/>
              </p:cNvSpPr>
              <p:nvPr/>
            </p:nvSpPr>
            <p:spPr bwMode="auto">
              <a:xfrm rot="5400000">
                <a:off x="3051" y="1745"/>
                <a:ext cx="29" cy="41"/>
              </a:xfrm>
              <a:prstGeom prst="rightArrow">
                <a:avLst>
                  <a:gd name="adj1" fmla="val 51167"/>
                  <a:gd name="adj2" fmla="val 39736"/>
                </a:avLst>
              </a:prstGeom>
              <a:solidFill>
                <a:srgbClr val="FF0000"/>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60" name="Group 3"/>
          <p:cNvGrpSpPr/>
          <p:nvPr/>
        </p:nvGrpSpPr>
        <p:grpSpPr>
          <a:xfrm>
            <a:off x="9841843" y="5569651"/>
            <a:ext cx="560563" cy="811086"/>
            <a:chOff x="7006931" y="5622613"/>
            <a:chExt cx="560563" cy="811086"/>
          </a:xfrm>
        </p:grpSpPr>
        <p:sp>
          <p:nvSpPr>
            <p:cNvPr id="161" name="Freeform 123"/>
            <p:cNvSpPr/>
            <p:nvPr/>
          </p:nvSpPr>
          <p:spPr bwMode="auto">
            <a:xfrm flipH="1" flipV="1">
              <a:off x="7024398" y="5622613"/>
              <a:ext cx="543096"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2" name="Rectangle 143"/>
            <p:cNvSpPr>
              <a:spLocks noChangeArrowheads="1"/>
            </p:cNvSpPr>
            <p:nvPr/>
          </p:nvSpPr>
          <p:spPr bwMode="auto">
            <a:xfrm>
              <a:off x="7006931" y="5981332"/>
              <a:ext cx="551036" cy="452367"/>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3" name="Oval 144"/>
            <p:cNvSpPr>
              <a:spLocks noChangeArrowheads="1"/>
            </p:cNvSpPr>
            <p:nvPr/>
          </p:nvSpPr>
          <p:spPr bwMode="auto">
            <a:xfrm>
              <a:off x="7037103" y="5990856"/>
              <a:ext cx="498632" cy="117457"/>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4" name="Rectangle 145"/>
            <p:cNvSpPr>
              <a:spLocks noChangeArrowheads="1"/>
            </p:cNvSpPr>
            <p:nvPr/>
          </p:nvSpPr>
          <p:spPr bwMode="auto">
            <a:xfrm>
              <a:off x="7049807" y="6167041"/>
              <a:ext cx="476400" cy="247611"/>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5" name="Line 146"/>
            <p:cNvSpPr>
              <a:spLocks noChangeShapeType="1"/>
            </p:cNvSpPr>
            <p:nvPr/>
          </p:nvSpPr>
          <p:spPr bwMode="auto">
            <a:xfrm>
              <a:off x="7318179" y="6208309"/>
              <a:ext cx="1588" cy="20634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6" name="Line 147"/>
            <p:cNvSpPr>
              <a:spLocks noChangeShapeType="1"/>
            </p:cNvSpPr>
            <p:nvPr/>
          </p:nvSpPr>
          <p:spPr bwMode="auto">
            <a:xfrm>
              <a:off x="7049807" y="6257514"/>
              <a:ext cx="476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7" name="Line 148"/>
            <p:cNvSpPr>
              <a:spLocks noChangeShapeType="1"/>
            </p:cNvSpPr>
            <p:nvPr/>
          </p:nvSpPr>
          <p:spPr bwMode="auto">
            <a:xfrm>
              <a:off x="7048219" y="6209896"/>
              <a:ext cx="476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68" name="AutoShape 149"/>
            <p:cNvSpPr>
              <a:spLocks noChangeArrowheads="1"/>
            </p:cNvSpPr>
            <p:nvPr/>
          </p:nvSpPr>
          <p:spPr bwMode="auto">
            <a:xfrm rot="5400000">
              <a:off x="7268962" y="6103535"/>
              <a:ext cx="46030" cy="65108"/>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nvGrpSpPr>
          <p:cNvPr id="169" name="Group 5"/>
          <p:cNvGrpSpPr/>
          <p:nvPr/>
        </p:nvGrpSpPr>
        <p:grpSpPr>
          <a:xfrm>
            <a:off x="9169159" y="5258944"/>
            <a:ext cx="553609" cy="931601"/>
            <a:chOff x="6311387" y="5299841"/>
            <a:chExt cx="553609" cy="931601"/>
          </a:xfrm>
        </p:grpSpPr>
        <p:sp>
          <p:nvSpPr>
            <p:cNvPr id="170" name="Freeform 125"/>
            <p:cNvSpPr/>
            <p:nvPr/>
          </p:nvSpPr>
          <p:spPr bwMode="auto">
            <a:xfrm flipH="1" flipV="1">
              <a:off x="6312396" y="5299841"/>
              <a:ext cx="552600" cy="477654"/>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 name="connsiteX0" fmla="*/ 0 w 10117"/>
                <a:gd name="connsiteY0" fmla="*/ 0 h 10550"/>
                <a:gd name="connsiteX1" fmla="*/ 7574 w 10117"/>
                <a:gd name="connsiteY1" fmla="*/ 10355 h 10550"/>
                <a:gd name="connsiteX2" fmla="*/ 9265 w 10117"/>
                <a:gd name="connsiteY2" fmla="*/ 10429 h 10550"/>
                <a:gd name="connsiteX3" fmla="*/ 10117 w 10117"/>
                <a:gd name="connsiteY3" fmla="*/ 833 h 10550"/>
                <a:gd name="connsiteX4" fmla="*/ 0 w 10117"/>
                <a:gd name="connsiteY4" fmla="*/ 0 h 10550"/>
                <a:gd name="connsiteX0-1" fmla="*/ 0 w 10175"/>
                <a:gd name="connsiteY0-2" fmla="*/ 9 h 10559"/>
                <a:gd name="connsiteX1-3" fmla="*/ 7574 w 10175"/>
                <a:gd name="connsiteY1-4" fmla="*/ 10364 h 10559"/>
                <a:gd name="connsiteX2-5" fmla="*/ 9265 w 10175"/>
                <a:gd name="connsiteY2-6" fmla="*/ 10438 h 10559"/>
                <a:gd name="connsiteX3-7" fmla="*/ 10175 w 10175"/>
                <a:gd name="connsiteY3-8" fmla="*/ 0 h 10559"/>
                <a:gd name="connsiteX4-9" fmla="*/ 0 w 10175"/>
                <a:gd name="connsiteY4-10" fmla="*/ 9 h 105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175" h="10559">
                  <a:moveTo>
                    <a:pt x="0" y="9"/>
                  </a:moveTo>
                  <a:cubicBezTo>
                    <a:pt x="3957" y="3502"/>
                    <a:pt x="6049" y="5781"/>
                    <a:pt x="7574" y="10364"/>
                  </a:cubicBezTo>
                  <a:cubicBezTo>
                    <a:pt x="8329" y="10279"/>
                    <a:pt x="8572" y="10781"/>
                    <a:pt x="9265" y="10438"/>
                  </a:cubicBezTo>
                  <a:cubicBezTo>
                    <a:pt x="8877" y="5033"/>
                    <a:pt x="9018" y="4253"/>
                    <a:pt x="10175" y="0"/>
                  </a:cubicBezTo>
                  <a:lnTo>
                    <a:pt x="0" y="9"/>
                  </a:ln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71" name="Group 150"/>
            <p:cNvGrpSpPr/>
            <p:nvPr/>
          </p:nvGrpSpPr>
          <p:grpSpPr bwMode="auto">
            <a:xfrm>
              <a:off x="6311387" y="5779075"/>
              <a:ext cx="551036" cy="452367"/>
              <a:chOff x="2886" y="1668"/>
              <a:chExt cx="347" cy="285"/>
            </a:xfrm>
          </p:grpSpPr>
          <p:sp>
            <p:nvSpPr>
              <p:cNvPr id="172" name="Rectangle 151"/>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6" name="Oval 152"/>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7" name="Rectangle 153"/>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8" name="Line 154"/>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79" name="Line 155"/>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0" name="Line 156"/>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1" name="AutoShape 157"/>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82" name="Group 6"/>
          <p:cNvGrpSpPr/>
          <p:nvPr/>
        </p:nvGrpSpPr>
        <p:grpSpPr>
          <a:xfrm>
            <a:off x="8513315" y="5565844"/>
            <a:ext cx="562152" cy="799974"/>
            <a:chOff x="5655543" y="5606741"/>
            <a:chExt cx="562152" cy="799974"/>
          </a:xfrm>
        </p:grpSpPr>
        <p:sp>
          <p:nvSpPr>
            <p:cNvPr id="183" name="Freeform 124"/>
            <p:cNvSpPr/>
            <p:nvPr/>
          </p:nvSpPr>
          <p:spPr bwMode="auto">
            <a:xfrm flipH="1" flipV="1">
              <a:off x="5674599" y="5606741"/>
              <a:ext cx="543096" cy="371417"/>
            </a:xfrm>
            <a:custGeom>
              <a:avLst/>
              <a:gdLst>
                <a:gd name="T0" fmla="*/ 0 w 1443"/>
                <a:gd name="T1" fmla="*/ 0 h 816"/>
                <a:gd name="T2" fmla="*/ 2147483647 w 1443"/>
                <a:gd name="T3" fmla="*/ 2147483647 h 816"/>
                <a:gd name="T4" fmla="*/ 2147483647 w 1443"/>
                <a:gd name="T5" fmla="*/ 2147483647 h 816"/>
                <a:gd name="T6" fmla="*/ 2147483647 w 1443"/>
                <a:gd name="T7" fmla="*/ 2147483647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bg1">
                    <a:lumMod val="85000"/>
                  </a:schemeClr>
                </a:gs>
                <a:gs pos="100000">
                  <a:srgbClr val="FFFFFF"/>
                </a:gs>
              </a:gsLst>
              <a:lin ang="5400000" scaled="1"/>
            </a:gra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nvGrpSpPr>
            <p:cNvPr id="184" name="Group 158"/>
            <p:cNvGrpSpPr/>
            <p:nvPr/>
          </p:nvGrpSpPr>
          <p:grpSpPr bwMode="auto">
            <a:xfrm>
              <a:off x="5655543" y="5954348"/>
              <a:ext cx="551036" cy="452367"/>
              <a:chOff x="2886" y="1668"/>
              <a:chExt cx="347" cy="285"/>
            </a:xfrm>
          </p:grpSpPr>
          <p:sp>
            <p:nvSpPr>
              <p:cNvPr id="185" name="Rectangle 159"/>
              <p:cNvSpPr>
                <a:spLocks noChangeArrowheads="1"/>
              </p:cNvSpPr>
              <p:nvPr/>
            </p:nvSpPr>
            <p:spPr bwMode="auto">
              <a:xfrm>
                <a:off x="2886" y="1668"/>
                <a:ext cx="347" cy="285"/>
              </a:xfrm>
              <a:prstGeom prst="rect">
                <a:avLst/>
              </a:prstGeom>
              <a:solidFill>
                <a:schemeClr val="bg1">
                  <a:lumMod val="85000"/>
                </a:schemeClr>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6" name="Oval 160"/>
              <p:cNvSpPr>
                <a:spLocks noChangeArrowheads="1"/>
              </p:cNvSpPr>
              <p:nvPr/>
            </p:nvSpPr>
            <p:spPr bwMode="auto">
              <a:xfrm>
                <a:off x="2905" y="1674"/>
                <a:ext cx="314" cy="74"/>
              </a:xfrm>
              <a:prstGeom prst="ellipse">
                <a:avLst/>
              </a:prstGeom>
              <a:solidFill>
                <a:srgbClr val="FF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7" name="Rectangle 161"/>
              <p:cNvSpPr>
                <a:spLocks noChangeArrowheads="1"/>
              </p:cNvSpPr>
              <p:nvPr/>
            </p:nvSpPr>
            <p:spPr bwMode="auto">
              <a:xfrm>
                <a:off x="2913" y="1785"/>
                <a:ext cx="300" cy="156"/>
              </a:xfrm>
              <a:prstGeom prst="rect">
                <a:avLst/>
              </a:prstGeom>
              <a:solidFill>
                <a:srgbClr val="FFFFFF"/>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8" name="Line 162"/>
              <p:cNvSpPr>
                <a:spLocks noChangeShapeType="1"/>
              </p:cNvSpPr>
              <p:nvPr/>
            </p:nvSpPr>
            <p:spPr bwMode="auto">
              <a:xfrm>
                <a:off x="3082" y="1811"/>
                <a:ext cx="1" cy="13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89" name="Line 163"/>
              <p:cNvSpPr>
                <a:spLocks noChangeShapeType="1"/>
              </p:cNvSpPr>
              <p:nvPr/>
            </p:nvSpPr>
            <p:spPr bwMode="auto">
              <a:xfrm>
                <a:off x="2913" y="184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90" name="Line 164"/>
              <p:cNvSpPr>
                <a:spLocks noChangeShapeType="1"/>
              </p:cNvSpPr>
              <p:nvPr/>
            </p:nvSpPr>
            <p:spPr bwMode="auto">
              <a:xfrm>
                <a:off x="2912" y="1812"/>
                <a:ext cx="3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191" name="AutoShape 165"/>
              <p:cNvSpPr>
                <a:spLocks noChangeArrowheads="1"/>
              </p:cNvSpPr>
              <p:nvPr/>
            </p:nvSpPr>
            <p:spPr bwMode="auto">
              <a:xfrm rot="5400000">
                <a:off x="3051" y="1745"/>
                <a:ext cx="29" cy="41"/>
              </a:xfrm>
              <a:prstGeom prst="rightArrow">
                <a:avLst>
                  <a:gd name="adj1" fmla="val 51167"/>
                  <a:gd name="adj2" fmla="val 39736"/>
                </a:avLst>
              </a:prstGeom>
              <a:solidFill>
                <a:srgbClr val="3333CC"/>
              </a:solidFill>
              <a:ln w="9525">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grpSp>
      </p:grpSp>
      <p:grpSp>
        <p:nvGrpSpPr>
          <p:cNvPr id="197" name="Group 196"/>
          <p:cNvGrpSpPr/>
          <p:nvPr/>
        </p:nvGrpSpPr>
        <p:grpSpPr>
          <a:xfrm>
            <a:off x="8406650" y="1936434"/>
            <a:ext cx="2852523" cy="3990339"/>
            <a:chOff x="5600948" y="2059246"/>
            <a:chExt cx="2852523" cy="3990339"/>
          </a:xfrm>
        </p:grpSpPr>
        <p:cxnSp>
          <p:nvCxnSpPr>
            <p:cNvPr id="198" name="Straight Connector 421894"/>
            <p:cNvCxnSpPr>
              <a:cxnSpLocks noChangeShapeType="1"/>
            </p:cNvCxnSpPr>
            <p:nvPr/>
          </p:nvCxnSpPr>
          <p:spPr bwMode="auto">
            <a:xfrm flipH="1">
              <a:off x="5600948" y="2062812"/>
              <a:ext cx="2852523" cy="0"/>
            </a:xfrm>
            <a:prstGeom prst="line">
              <a:avLst/>
            </a:prstGeom>
            <a:noFill/>
            <a:ln w="19050">
              <a:solidFill>
                <a:srgbClr val="C00000"/>
              </a:solidFill>
              <a:round/>
            </a:ln>
            <a:extLst>
              <a:ext uri="{909E8E84-426E-40DD-AFC4-6F175D3DCCD1}">
                <a14:hiddenFill xmlns:a14="http://schemas.microsoft.com/office/drawing/2010/main">
                  <a:noFill/>
                </a14:hiddenFill>
              </a:ext>
            </a:extLst>
          </p:spPr>
        </p:cxnSp>
        <p:cxnSp>
          <p:nvCxnSpPr>
            <p:cNvPr id="201" name="Straight Connector 421894"/>
            <p:cNvCxnSpPr>
              <a:cxnSpLocks noChangeShapeType="1"/>
            </p:cNvCxnSpPr>
            <p:nvPr/>
          </p:nvCxnSpPr>
          <p:spPr bwMode="auto">
            <a:xfrm flipH="1">
              <a:off x="6643279" y="2072337"/>
              <a:ext cx="1781930" cy="1569387"/>
            </a:xfrm>
            <a:prstGeom prst="line">
              <a:avLst/>
            </a:prstGeom>
            <a:noFill/>
            <a:ln w="19050">
              <a:solidFill>
                <a:srgbClr val="C00000"/>
              </a:solidFill>
              <a:round/>
            </a:ln>
            <a:extLst>
              <a:ext uri="{909E8E84-426E-40DD-AFC4-6F175D3DCCD1}">
                <a14:hiddenFill xmlns:a14="http://schemas.microsoft.com/office/drawing/2010/main">
                  <a:noFill/>
                </a14:hiddenFill>
              </a:ext>
            </a:extLst>
          </p:spPr>
        </p:cxnSp>
        <p:cxnSp>
          <p:nvCxnSpPr>
            <p:cNvPr id="203" name="Straight Connector 421894"/>
            <p:cNvCxnSpPr>
              <a:cxnSpLocks noChangeShapeType="1"/>
            </p:cNvCxnSpPr>
            <p:nvPr/>
          </p:nvCxnSpPr>
          <p:spPr bwMode="auto">
            <a:xfrm flipH="1">
              <a:off x="7640094" y="2059246"/>
              <a:ext cx="802722" cy="1908551"/>
            </a:xfrm>
            <a:prstGeom prst="line">
              <a:avLst/>
            </a:prstGeom>
            <a:noFill/>
            <a:ln w="19050">
              <a:solidFill>
                <a:srgbClr val="C00000"/>
              </a:solidFill>
              <a:round/>
            </a:ln>
            <a:extLst>
              <a:ext uri="{909E8E84-426E-40DD-AFC4-6F175D3DCCD1}">
                <a14:hiddenFill xmlns:a14="http://schemas.microsoft.com/office/drawing/2010/main">
                  <a:noFill/>
                </a14:hiddenFill>
              </a:ext>
            </a:extLst>
          </p:spPr>
        </p:cxnSp>
        <p:grpSp>
          <p:nvGrpSpPr>
            <p:cNvPr id="204" name="Group 200"/>
            <p:cNvGrpSpPr/>
            <p:nvPr/>
          </p:nvGrpSpPr>
          <p:grpSpPr>
            <a:xfrm>
              <a:off x="6178773" y="2060294"/>
              <a:ext cx="2270746" cy="3989291"/>
              <a:chOff x="6178773" y="2060294"/>
              <a:chExt cx="2270746" cy="3989291"/>
            </a:xfrm>
          </p:grpSpPr>
          <p:sp>
            <p:nvSpPr>
              <p:cNvPr id="211" name="Freeform 201"/>
              <p:cNvSpPr/>
              <p:nvPr/>
            </p:nvSpPr>
            <p:spPr>
              <a:xfrm>
                <a:off x="6852213" y="2060294"/>
                <a:ext cx="1597306" cy="3796496"/>
              </a:xfrm>
              <a:custGeom>
                <a:avLst/>
                <a:gdLst>
                  <a:gd name="connsiteX0" fmla="*/ 1597306 w 1597306"/>
                  <a:gd name="connsiteY0" fmla="*/ 0 h 3796496"/>
                  <a:gd name="connsiteX1" fmla="*/ 925974 w 1597306"/>
                  <a:gd name="connsiteY1" fmla="*/ 3784921 h 3796496"/>
                  <a:gd name="connsiteX2" fmla="*/ 0 w 1597306"/>
                  <a:gd name="connsiteY2" fmla="*/ 3796496 h 3796496"/>
                  <a:gd name="connsiteX3" fmla="*/ 0 w 1597306"/>
                  <a:gd name="connsiteY3" fmla="*/ 3796496 h 3796496"/>
                </a:gdLst>
                <a:ahLst/>
                <a:cxnLst>
                  <a:cxn ang="0">
                    <a:pos x="connsiteX0" y="connsiteY0"/>
                  </a:cxn>
                  <a:cxn ang="0">
                    <a:pos x="connsiteX1" y="connsiteY1"/>
                  </a:cxn>
                  <a:cxn ang="0">
                    <a:pos x="connsiteX2" y="connsiteY2"/>
                  </a:cxn>
                  <a:cxn ang="0">
                    <a:pos x="connsiteX3" y="connsiteY3"/>
                  </a:cxn>
                </a:cxnLst>
                <a:rect l="l" t="t" r="r" b="b"/>
                <a:pathLst>
                  <a:path w="1597306" h="3796496">
                    <a:moveTo>
                      <a:pt x="1597306" y="0"/>
                    </a:moveTo>
                    <a:lnTo>
                      <a:pt x="925974" y="3784921"/>
                    </a:lnTo>
                    <a:lnTo>
                      <a:pt x="0" y="3796496"/>
                    </a:lnTo>
                    <a:lnTo>
                      <a:pt x="0" y="3796496"/>
                    </a:lnTo>
                  </a:path>
                </a:pathLst>
              </a:custGeom>
              <a:noFill/>
              <a:ln w="1905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12" name="Straight Connector 421894"/>
              <p:cNvCxnSpPr>
                <a:cxnSpLocks noChangeShapeType="1"/>
                <a:stCxn id="211" idx="1"/>
              </p:cNvCxnSpPr>
              <p:nvPr/>
            </p:nvCxnSpPr>
            <p:spPr bwMode="auto">
              <a:xfrm flipH="1">
                <a:off x="7535735" y="5845215"/>
                <a:ext cx="242452" cy="204370"/>
              </a:xfrm>
              <a:prstGeom prst="line">
                <a:avLst/>
              </a:prstGeom>
              <a:noFill/>
              <a:ln w="19050">
                <a:solidFill>
                  <a:srgbClr val="C00000"/>
                </a:solidFill>
                <a:round/>
              </a:ln>
              <a:extLst>
                <a:ext uri="{909E8E84-426E-40DD-AFC4-6F175D3DCCD1}">
                  <a14:hiddenFill xmlns:a14="http://schemas.microsoft.com/office/drawing/2010/main">
                    <a:noFill/>
                  </a14:hiddenFill>
                </a:ext>
              </a:extLst>
            </p:spPr>
          </p:cxnSp>
          <p:cxnSp>
            <p:nvCxnSpPr>
              <p:cNvPr id="213" name="Straight Connector 421894"/>
              <p:cNvCxnSpPr>
                <a:cxnSpLocks noChangeShapeType="1"/>
                <a:stCxn id="211" idx="1"/>
              </p:cNvCxnSpPr>
              <p:nvPr/>
            </p:nvCxnSpPr>
            <p:spPr bwMode="auto">
              <a:xfrm flipH="1">
                <a:off x="6178773" y="5845215"/>
                <a:ext cx="1599414" cy="182258"/>
              </a:xfrm>
              <a:prstGeom prst="line">
                <a:avLst/>
              </a:prstGeom>
              <a:noFill/>
              <a:ln w="19050">
                <a:solidFill>
                  <a:srgbClr val="C00000"/>
                </a:solidFill>
                <a:round/>
              </a:ln>
              <a:extLst>
                <a:ext uri="{909E8E84-426E-40DD-AFC4-6F175D3DCCD1}">
                  <a14:hiddenFill xmlns:a14="http://schemas.microsoft.com/office/drawing/2010/main">
                    <a:noFill/>
                  </a14:hiddenFill>
                </a:ext>
              </a:extLst>
            </p:spPr>
          </p:cxnSp>
        </p:grpSp>
      </p:grpSp>
      <p:sp>
        <p:nvSpPr>
          <p:cNvPr id="573" name="Text Box 106"/>
          <p:cNvSpPr txBox="1">
            <a:spLocks noChangeArrowheads="1"/>
          </p:cNvSpPr>
          <p:nvPr/>
        </p:nvSpPr>
        <p:spPr bwMode="auto">
          <a:xfrm>
            <a:off x="6000132" y="5865159"/>
            <a:ext cx="198374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en-US" sz="2000" kern="0" noProof="0" dirty="0" err="1">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sym typeface="+mn-ea"/>
              </a:rPr>
              <a:t>数据分组头中的</a:t>
            </a:r>
            <a:endParaRPr kumimoji="0" lang="en-US"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a:rPr>
              <a:t>目的地址</a:t>
            </a:r>
            <a:endParaRPr kumimoji="0" lang="en-US"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a:endParaRPr>
          </a:p>
        </p:txBody>
      </p:sp>
      <p:sp>
        <p:nvSpPr>
          <p:cNvPr id="575" name="Line 119"/>
          <p:cNvSpPr>
            <a:spLocks noChangeShapeType="1"/>
          </p:cNvSpPr>
          <p:nvPr/>
        </p:nvSpPr>
        <p:spPr bwMode="auto">
          <a:xfrm rot="21000000" flipV="1">
            <a:off x="6871607" y="5297548"/>
            <a:ext cx="85725" cy="5842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74" name="Line 107"/>
          <p:cNvSpPr>
            <a:spLocks noChangeShapeType="1"/>
          </p:cNvSpPr>
          <p:nvPr/>
        </p:nvSpPr>
        <p:spPr bwMode="auto">
          <a:xfrm flipH="1">
            <a:off x="6528825" y="4786770"/>
            <a:ext cx="1408179" cy="9142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a:endParaRPr>
          </a:p>
        </p:txBody>
      </p:sp>
      <p:sp>
        <p:nvSpPr>
          <p:cNvPr id="5" name="灯片编号占位符 4">
            <a:extLst>
              <a:ext uri="{FF2B5EF4-FFF2-40B4-BE49-F238E27FC236}">
                <a16:creationId xmlns:a16="http://schemas.microsoft.com/office/drawing/2014/main" id="{D2172B48-D2A8-C042-8F73-34745B160E67}"/>
              </a:ext>
            </a:extLst>
          </p:cNvPr>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
        <p:nvSpPr>
          <p:cNvPr id="173" name="文本框 172">
            <a:extLst>
              <a:ext uri="{FF2B5EF4-FFF2-40B4-BE49-F238E27FC236}">
                <a16:creationId xmlns:a16="http://schemas.microsoft.com/office/drawing/2014/main" id="{16B3C740-5CA2-9D4C-8F58-5F246002ABC3}"/>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网络实例：网络核心</a:t>
            </a:r>
          </a:p>
        </p:txBody>
      </p:sp>
      <p:pic>
        <p:nvPicPr>
          <p:cNvPr id="174" name="Picture 28" descr="015">
            <a:extLst>
              <a:ext uri="{FF2B5EF4-FFF2-40B4-BE49-F238E27FC236}">
                <a16:creationId xmlns:a16="http://schemas.microsoft.com/office/drawing/2014/main" id="{407D202C-6AE5-4586-88E1-9C28732D58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4508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t>1.2 </a:t>
            </a:r>
            <a:r>
              <a:rPr kumimoji="1" lang="zh-CN" altLang="en-US" dirty="0"/>
              <a:t>网络的分类</a:t>
            </a:r>
            <a:endParaRPr kumimoji="1" lang="en-US" altLang="zh-CN" dirty="0"/>
          </a:p>
          <a:p>
            <a:pPr marL="0" indent="0">
              <a:lnSpc>
                <a:spcPct val="130000"/>
              </a:lnSpc>
              <a:buNone/>
            </a:pPr>
            <a:r>
              <a:rPr kumimoji="1" lang="en-US" altLang="zh-CN" dirty="0"/>
              <a:t>1.3 </a:t>
            </a:r>
            <a:r>
              <a:rPr kumimoji="1" lang="zh-CN" altLang="en-US" dirty="0"/>
              <a:t>网络实例</a:t>
            </a:r>
            <a:endParaRPr kumimoji="1" lang="en-US" altLang="zh-CN" dirty="0"/>
          </a:p>
          <a:p>
            <a:pPr marL="0" indent="0">
              <a:lnSpc>
                <a:spcPct val="130000"/>
              </a:lnSpc>
              <a:buNone/>
            </a:pPr>
            <a:r>
              <a:rPr kumimoji="1" lang="en-US" altLang="zh-CN" dirty="0">
                <a:solidFill>
                  <a:srgbClr val="FF0000"/>
                </a:solidFill>
              </a:rPr>
              <a:t>1.4 </a:t>
            </a:r>
            <a:r>
              <a:rPr kumimoji="1" lang="zh-CN" altLang="en-US" dirty="0">
                <a:solidFill>
                  <a:srgbClr val="FF0000"/>
                </a:solidFill>
              </a:rPr>
              <a:t>协议与分层结构</a:t>
            </a:r>
            <a:endParaRPr kumimoji="1" lang="en-US" altLang="zh-CN" dirty="0">
              <a:solidFill>
                <a:srgbClr val="FF0000"/>
              </a:solidFill>
            </a:endParaRPr>
          </a:p>
          <a:p>
            <a:pPr marL="0" indent="0">
              <a:lnSpc>
                <a:spcPct val="130000"/>
              </a:lnSpc>
              <a:buNone/>
            </a:pPr>
            <a:r>
              <a:rPr kumimoji="1" lang="en-US" altLang="zh-CN" dirty="0"/>
              <a:t>1.5 </a:t>
            </a:r>
            <a:r>
              <a:rPr kumimoji="1" lang="zh-CN" altLang="en-US" dirty="0"/>
              <a:t>参考模型</a:t>
            </a:r>
            <a:endParaRPr kumimoji="1" lang="en-US" altLang="zh-CN" dirty="0"/>
          </a:p>
          <a:p>
            <a:pPr marL="0" indent="0">
              <a:lnSpc>
                <a:spcPct val="130000"/>
              </a:lnSpc>
              <a:buNone/>
            </a:pPr>
            <a:r>
              <a:rPr kumimoji="1" lang="en-US" altLang="zh-CN" dirty="0"/>
              <a:t>1.6 </a:t>
            </a:r>
            <a:r>
              <a:rPr kumimoji="1" lang="zh-CN" altLang="en-US" dirty="0"/>
              <a:t>计算机网络度量单位</a:t>
            </a: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5649777" y="1989187"/>
            <a:ext cx="4216518" cy="2368163"/>
          </a:xfrm>
          <a:prstGeom prst="wedgeRectCallout">
            <a:avLst>
              <a:gd name="adj1" fmla="val -65776"/>
              <a:gd name="adj2" fmla="val 1249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协议设计目的</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协议分层结构</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服务原语</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服务与协议的关系</a:t>
            </a:r>
          </a:p>
        </p:txBody>
      </p:sp>
    </p:spTree>
    <p:extLst>
      <p:ext uri="{BB962C8B-B14F-4D97-AF65-F5344CB8AC3E}">
        <p14:creationId xmlns:p14="http://schemas.microsoft.com/office/powerpoint/2010/main" val="33875295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协议设计目的</a:t>
            </a:r>
            <a:endParaRPr lang="zh-CN" altLang="en-US" dirty="0"/>
          </a:p>
        </p:txBody>
      </p:sp>
      <p:sp>
        <p:nvSpPr>
          <p:cNvPr id="3" name="内容占位符 2"/>
          <p:cNvSpPr>
            <a:spLocks noGrp="1"/>
          </p:cNvSpPr>
          <p:nvPr>
            <p:ph idx="1"/>
          </p:nvPr>
        </p:nvSpPr>
        <p:spPr>
          <a:xfrm>
            <a:off x="7086292" y="1512784"/>
            <a:ext cx="3935305" cy="523220"/>
          </a:xfrm>
        </p:spPr>
        <p:txBody>
          <a:bodyPr/>
          <a:lstStyle/>
          <a:p>
            <a:pPr marL="0" indent="0" algn="ctr">
              <a:buNone/>
            </a:pPr>
            <a:r>
              <a:rPr lang="zh-CN" altLang="en-US" dirty="0"/>
              <a:t>计算机之间的信息交互</a:t>
            </a:r>
          </a:p>
        </p:txBody>
      </p:sp>
      <p:sp>
        <p:nvSpPr>
          <p:cNvPr id="98" name="Line 101"/>
          <p:cNvSpPr>
            <a:spLocks noChangeShapeType="1"/>
          </p:cNvSpPr>
          <p:nvPr/>
        </p:nvSpPr>
        <p:spPr bwMode="auto">
          <a:xfrm>
            <a:off x="6175779" y="2520063"/>
            <a:ext cx="25492" cy="3127063"/>
          </a:xfrm>
          <a:prstGeom prst="line">
            <a:avLst/>
          </a:prstGeom>
          <a:noFill/>
          <a:ln w="19050">
            <a:solidFill>
              <a:schemeClr val="bg1">
                <a:lumMod val="75000"/>
              </a:schemeClr>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p>
        </p:txBody>
      </p:sp>
      <p:sp>
        <p:nvSpPr>
          <p:cNvPr id="101" name="Text Box 102"/>
          <p:cNvSpPr txBox="1">
            <a:spLocks noChangeArrowheads="1"/>
          </p:cNvSpPr>
          <p:nvPr/>
        </p:nvSpPr>
        <p:spPr bwMode="auto">
          <a:xfrm>
            <a:off x="5848252" y="4074387"/>
            <a:ext cx="663575" cy="396875"/>
          </a:xfrm>
          <a:prstGeom prst="rect">
            <a:avLst/>
          </a:prstGeom>
          <a:solidFill>
            <a:schemeClr val="bg1"/>
          </a:solidFill>
          <a:ln>
            <a:noFill/>
          </a:ln>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dirty="0">
                <a:latin typeface="Calibri" panose="020F0502020204030204" pitchFamily="34" charset="0"/>
                <a:cs typeface="Calibri" panose="020F0502020204030204" pitchFamily="34" charset="0"/>
              </a:rPr>
              <a:t>time</a:t>
            </a:r>
          </a:p>
        </p:txBody>
      </p:sp>
      <p:grpSp>
        <p:nvGrpSpPr>
          <p:cNvPr id="5" name="组合 4">
            <a:extLst>
              <a:ext uri="{FF2B5EF4-FFF2-40B4-BE49-F238E27FC236}">
                <a16:creationId xmlns:a16="http://schemas.microsoft.com/office/drawing/2014/main" id="{DF4D9036-45B0-114F-895D-3C603BFB94BA}"/>
              </a:ext>
            </a:extLst>
          </p:cNvPr>
          <p:cNvGrpSpPr/>
          <p:nvPr/>
        </p:nvGrpSpPr>
        <p:grpSpPr>
          <a:xfrm>
            <a:off x="6397771" y="2425343"/>
            <a:ext cx="4497415" cy="3069590"/>
            <a:chOff x="6430645" y="2605405"/>
            <a:chExt cx="4497415" cy="3069590"/>
          </a:xfrm>
        </p:grpSpPr>
        <p:grpSp>
          <p:nvGrpSpPr>
            <p:cNvPr id="102" name="Group 82"/>
            <p:cNvGrpSpPr/>
            <p:nvPr/>
          </p:nvGrpSpPr>
          <p:grpSpPr>
            <a:xfrm>
              <a:off x="7501255" y="3753485"/>
              <a:ext cx="2814955" cy="488315"/>
              <a:chOff x="6786129" y="3255963"/>
              <a:chExt cx="2216150" cy="415925"/>
            </a:xfrm>
          </p:grpSpPr>
          <p:sp>
            <p:nvSpPr>
              <p:cNvPr id="103" name="Line 90"/>
              <p:cNvSpPr>
                <a:spLocks noChangeShapeType="1"/>
              </p:cNvSpPr>
              <p:nvPr/>
            </p:nvSpPr>
            <p:spPr bwMode="auto">
              <a:xfrm flipV="1">
                <a:off x="6786129" y="3255963"/>
                <a:ext cx="2216150" cy="398463"/>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04" name="Rectangle 92"/>
              <p:cNvSpPr>
                <a:spLocks noChangeArrowheads="1"/>
              </p:cNvSpPr>
              <p:nvPr/>
            </p:nvSpPr>
            <p:spPr bwMode="auto">
              <a:xfrm>
                <a:off x="7221104" y="3278188"/>
                <a:ext cx="1438275" cy="393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05" name="Text Box 91"/>
              <p:cNvSpPr txBox="1">
                <a:spLocks noChangeArrowheads="1"/>
              </p:cNvSpPr>
              <p:nvPr/>
            </p:nvSpPr>
            <p:spPr bwMode="auto">
              <a:xfrm>
                <a:off x="7125853" y="3279776"/>
                <a:ext cx="1635127" cy="30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2000" dirty="0">
                    <a:latin typeface="微软雅黑" panose="020B0503020204020204" pitchFamily="34" charset="-122"/>
                    <a:ea typeface="微软雅黑" panose="020B0503020204020204" pitchFamily="34" charset="-122"/>
                    <a:cs typeface="Calibri" panose="020F0502020204030204" pitchFamily="34" charset="0"/>
                    <a:sym typeface="+mn-ea"/>
                  </a:rPr>
                  <a:t>连接响应</a:t>
                </a:r>
              </a:p>
            </p:txBody>
          </p:sp>
        </p:grpSp>
        <p:grpSp>
          <p:nvGrpSpPr>
            <p:cNvPr id="106" name="Group 84"/>
            <p:cNvGrpSpPr/>
            <p:nvPr/>
          </p:nvGrpSpPr>
          <p:grpSpPr>
            <a:xfrm>
              <a:off x="7561580" y="5171667"/>
              <a:ext cx="2976245" cy="503328"/>
              <a:chOff x="6833754" y="4464051"/>
              <a:chExt cx="2343150" cy="428625"/>
            </a:xfrm>
          </p:grpSpPr>
          <p:sp>
            <p:nvSpPr>
              <p:cNvPr id="107" name="Line 85"/>
              <p:cNvSpPr>
                <a:spLocks noChangeShapeType="1"/>
              </p:cNvSpPr>
              <p:nvPr/>
            </p:nvSpPr>
            <p:spPr bwMode="auto">
              <a:xfrm flipV="1">
                <a:off x="6833754" y="4464051"/>
                <a:ext cx="2343150" cy="428625"/>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08" name="Rectangle 99"/>
              <p:cNvSpPr>
                <a:spLocks noChangeArrowheads="1"/>
              </p:cNvSpPr>
              <p:nvPr/>
            </p:nvSpPr>
            <p:spPr bwMode="auto">
              <a:xfrm>
                <a:off x="7602104" y="4562476"/>
                <a:ext cx="919163"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09" name="Text Box 100"/>
              <p:cNvSpPr txBox="1">
                <a:spLocks noChangeArrowheads="1"/>
              </p:cNvSpPr>
              <p:nvPr/>
            </p:nvSpPr>
            <p:spPr bwMode="auto">
              <a:xfrm>
                <a:off x="7509182" y="4508200"/>
                <a:ext cx="960395" cy="33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发送文件</a:t>
                </a:r>
              </a:p>
            </p:txBody>
          </p:sp>
        </p:grpSp>
        <p:grpSp>
          <p:nvGrpSpPr>
            <p:cNvPr id="110" name="Group 81"/>
            <p:cNvGrpSpPr/>
            <p:nvPr/>
          </p:nvGrpSpPr>
          <p:grpSpPr>
            <a:xfrm>
              <a:off x="7579995" y="3009265"/>
              <a:ext cx="2764155" cy="594995"/>
              <a:chOff x="6848042" y="2622045"/>
              <a:chExt cx="2176462" cy="506918"/>
            </a:xfrm>
          </p:grpSpPr>
          <p:sp>
            <p:nvSpPr>
              <p:cNvPr id="111" name="Line 89"/>
              <p:cNvSpPr>
                <a:spLocks noChangeShapeType="1"/>
              </p:cNvSpPr>
              <p:nvPr/>
            </p:nvSpPr>
            <p:spPr bwMode="auto">
              <a:xfrm>
                <a:off x="6848042" y="2749551"/>
                <a:ext cx="2176462" cy="347662"/>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12" name="Rectangle 52"/>
              <p:cNvSpPr>
                <a:spLocks noChangeArrowheads="1"/>
              </p:cNvSpPr>
              <p:nvPr/>
            </p:nvSpPr>
            <p:spPr bwMode="auto">
              <a:xfrm>
                <a:off x="7133792" y="2689226"/>
                <a:ext cx="1365250" cy="4397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13" name="Text Box 91"/>
              <p:cNvSpPr txBox="1">
                <a:spLocks noChangeArrowheads="1"/>
              </p:cNvSpPr>
              <p:nvPr/>
            </p:nvSpPr>
            <p:spPr bwMode="auto">
              <a:xfrm>
                <a:off x="7118309" y="2622045"/>
                <a:ext cx="1635127" cy="30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2000" dirty="0">
                    <a:latin typeface="微软雅黑" panose="020B0503020204020204" pitchFamily="34" charset="-122"/>
                    <a:ea typeface="微软雅黑" panose="020B0503020204020204" pitchFamily="34" charset="-122"/>
                    <a:cs typeface="Calibri" panose="020F0502020204030204" pitchFamily="34" charset="0"/>
                  </a:rPr>
                  <a:t>连接请求</a:t>
                </a:r>
              </a:p>
            </p:txBody>
          </p:sp>
        </p:grpSp>
        <p:grpSp>
          <p:nvGrpSpPr>
            <p:cNvPr id="114" name="Group 57"/>
            <p:cNvGrpSpPr/>
            <p:nvPr/>
          </p:nvGrpSpPr>
          <p:grpSpPr bwMode="auto">
            <a:xfrm>
              <a:off x="10474670" y="2700649"/>
              <a:ext cx="453390" cy="887095"/>
              <a:chOff x="4140" y="429"/>
              <a:chExt cx="1425" cy="2396"/>
            </a:xfrm>
          </p:grpSpPr>
          <p:sp>
            <p:nvSpPr>
              <p:cNvPr id="115" name="Freeform 58"/>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16" name="Rectangle 59"/>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17" name="Freeform 60"/>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18" name="Freeform 61"/>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19" name="Rectangle 62"/>
              <p:cNvSpPr>
                <a:spLocks noChangeArrowheads="1"/>
              </p:cNvSpPr>
              <p:nvPr/>
            </p:nvSpPr>
            <p:spPr bwMode="auto">
              <a:xfrm>
                <a:off x="4213" y="691"/>
                <a:ext cx="597"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nvGrpSpPr>
              <p:cNvPr id="120" name="Group 63"/>
              <p:cNvGrpSpPr/>
              <p:nvPr/>
            </p:nvGrpSpPr>
            <p:grpSpPr bwMode="auto">
              <a:xfrm>
                <a:off x="4749" y="668"/>
                <a:ext cx="581" cy="145"/>
                <a:chOff x="614" y="2568"/>
                <a:chExt cx="725" cy="139"/>
              </a:xfrm>
            </p:grpSpPr>
            <p:sp>
              <p:nvSpPr>
                <p:cNvPr id="121" name="AutoShape 64"/>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22" name="AutoShape 65"/>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23" name="Rectangle 66"/>
              <p:cNvSpPr>
                <a:spLocks noChangeArrowheads="1"/>
              </p:cNvSpPr>
              <p:nvPr/>
            </p:nvSpPr>
            <p:spPr bwMode="auto">
              <a:xfrm>
                <a:off x="4224" y="1018"/>
                <a:ext cx="597" cy="5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nvGrpSpPr>
              <p:cNvPr id="124" name="Group 67"/>
              <p:cNvGrpSpPr/>
              <p:nvPr/>
            </p:nvGrpSpPr>
            <p:grpSpPr bwMode="auto">
              <a:xfrm>
                <a:off x="4747" y="994"/>
                <a:ext cx="581" cy="134"/>
                <a:chOff x="614" y="2568"/>
                <a:chExt cx="725" cy="139"/>
              </a:xfrm>
            </p:grpSpPr>
            <p:sp>
              <p:nvSpPr>
                <p:cNvPr id="125" name="AutoShape 68"/>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26" name="AutoShape 69"/>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27" name="Rectangle 70"/>
              <p:cNvSpPr>
                <a:spLocks noChangeArrowheads="1"/>
              </p:cNvSpPr>
              <p:nvPr/>
            </p:nvSpPr>
            <p:spPr bwMode="auto">
              <a:xfrm>
                <a:off x="4219" y="1360"/>
                <a:ext cx="592" cy="45"/>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28" name="Rectangle 71"/>
              <p:cNvSpPr>
                <a:spLocks noChangeArrowheads="1"/>
              </p:cNvSpPr>
              <p:nvPr/>
            </p:nvSpPr>
            <p:spPr bwMode="auto">
              <a:xfrm>
                <a:off x="4229" y="1657"/>
                <a:ext cx="597" cy="45"/>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nvGrpSpPr>
              <p:cNvPr id="129" name="Group 72"/>
              <p:cNvGrpSpPr/>
              <p:nvPr/>
            </p:nvGrpSpPr>
            <p:grpSpPr bwMode="auto">
              <a:xfrm>
                <a:off x="4735" y="1627"/>
                <a:ext cx="582" cy="151"/>
                <a:chOff x="614" y="2568"/>
                <a:chExt cx="725" cy="139"/>
              </a:xfrm>
            </p:grpSpPr>
            <p:sp>
              <p:nvSpPr>
                <p:cNvPr id="130" name="AutoShape 73"/>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31" name="AutoShape 74"/>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32" name="Freeform 75"/>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grpSp>
            <p:nvGrpSpPr>
              <p:cNvPr id="133" name="Group 76"/>
              <p:cNvGrpSpPr/>
              <p:nvPr/>
            </p:nvGrpSpPr>
            <p:grpSpPr bwMode="auto">
              <a:xfrm>
                <a:off x="4739" y="1327"/>
                <a:ext cx="582" cy="139"/>
                <a:chOff x="614" y="2568"/>
                <a:chExt cx="725" cy="139"/>
              </a:xfrm>
            </p:grpSpPr>
            <p:sp>
              <p:nvSpPr>
                <p:cNvPr id="134" name="AutoShape 77"/>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35" name="AutoShape 78"/>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sp>
            <p:nvSpPr>
              <p:cNvPr id="136" name="Rectangle 79"/>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37" name="Freeform 80"/>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38" name="Freeform 81"/>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39" name="Oval 82"/>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0" name="Freeform 83"/>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dirty="0">
                  <a:latin typeface="Calibri" panose="020F0502020204030204" pitchFamily="34" charset="0"/>
                  <a:cs typeface="Calibri" panose="020F0502020204030204" pitchFamily="34" charset="0"/>
                </a:endParaRPr>
              </a:p>
            </p:txBody>
          </p:sp>
          <p:sp>
            <p:nvSpPr>
              <p:cNvPr id="141" name="AutoShape 84"/>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2" name="AutoShape 85"/>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3" name="Oval 86"/>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4" name="Oval 87"/>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en-US" altLang="en-US" sz="1800" dirty="0">
                  <a:latin typeface="Calibri" panose="020F0502020204030204" pitchFamily="34" charset="0"/>
                  <a:cs typeface="Calibri" panose="020F0502020204030204" pitchFamily="34" charset="0"/>
                </a:endParaRPr>
              </a:p>
            </p:txBody>
          </p:sp>
          <p:sp>
            <p:nvSpPr>
              <p:cNvPr id="145" name="Oval 88"/>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46" name="Rectangle 89"/>
              <p:cNvSpPr>
                <a:spLocks noChangeArrowheads="1"/>
              </p:cNvSpPr>
              <p:nvPr/>
            </p:nvSpPr>
            <p:spPr bwMode="auto">
              <a:xfrm>
                <a:off x="5062" y="1833"/>
                <a:ext cx="84" cy="765"/>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grpSp>
        <p:grpSp>
          <p:nvGrpSpPr>
            <p:cNvPr id="147" name="Group 90"/>
            <p:cNvGrpSpPr/>
            <p:nvPr/>
          </p:nvGrpSpPr>
          <p:grpSpPr bwMode="auto">
            <a:xfrm>
              <a:off x="6430645" y="2605405"/>
              <a:ext cx="1135380" cy="972820"/>
              <a:chOff x="-44" y="1473"/>
              <a:chExt cx="981" cy="1105"/>
            </a:xfrm>
          </p:grpSpPr>
          <p:pic>
            <p:nvPicPr>
              <p:cNvPr id="148" name="Picture 91" descr="desktop_computer_stylized_medium"/>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92"/>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en-US" dirty="0">
                  <a:latin typeface="Calibri" panose="020F0502020204030204" pitchFamily="34" charset="0"/>
                  <a:cs typeface="Calibri" panose="020F0502020204030204" pitchFamily="34" charset="0"/>
                </a:endParaRPr>
              </a:p>
            </p:txBody>
          </p:sp>
        </p:grpSp>
        <p:grpSp>
          <p:nvGrpSpPr>
            <p:cNvPr id="150" name="Group 83"/>
            <p:cNvGrpSpPr/>
            <p:nvPr/>
          </p:nvGrpSpPr>
          <p:grpSpPr>
            <a:xfrm>
              <a:off x="7561580" y="4511675"/>
              <a:ext cx="3048635" cy="492125"/>
              <a:chOff x="6833754" y="3902076"/>
              <a:chExt cx="2400300" cy="419100"/>
            </a:xfrm>
          </p:grpSpPr>
          <p:sp>
            <p:nvSpPr>
              <p:cNvPr id="151" name="Line 94"/>
              <p:cNvSpPr>
                <a:spLocks noChangeShapeType="1"/>
              </p:cNvSpPr>
              <p:nvPr/>
            </p:nvSpPr>
            <p:spPr bwMode="auto">
              <a:xfrm>
                <a:off x="6833754" y="3902076"/>
                <a:ext cx="2400300" cy="419100"/>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52" name="Rectangle 2"/>
              <p:cNvSpPr/>
              <p:nvPr/>
            </p:nvSpPr>
            <p:spPr>
              <a:xfrm>
                <a:off x="7315214" y="4021046"/>
                <a:ext cx="1130406" cy="28282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ext Box 95"/>
              <p:cNvSpPr txBox="1">
                <a:spLocks noChangeArrowheads="1"/>
              </p:cNvSpPr>
              <p:nvPr/>
            </p:nvSpPr>
            <p:spPr bwMode="auto">
              <a:xfrm>
                <a:off x="7509216" y="3987523"/>
                <a:ext cx="990391" cy="24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sym typeface="+mn-ea"/>
                  </a:rPr>
                  <a:t>获取文件</a:t>
                </a:r>
              </a:p>
            </p:txBody>
          </p:sp>
        </p:grpSp>
      </p:grpSp>
      <p:sp>
        <p:nvSpPr>
          <p:cNvPr id="6" name="灯片编号占位符 5">
            <a:extLst>
              <a:ext uri="{FF2B5EF4-FFF2-40B4-BE49-F238E27FC236}">
                <a16:creationId xmlns:a16="http://schemas.microsoft.com/office/drawing/2014/main" id="{16427AFB-0A3D-B941-9BE1-AC2CCCC115FA}"/>
              </a:ext>
            </a:extLst>
          </p:cNvPr>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
        <p:nvSpPr>
          <p:cNvPr id="80" name="文本框 79">
            <a:extLst>
              <a:ext uri="{FF2B5EF4-FFF2-40B4-BE49-F238E27FC236}">
                <a16:creationId xmlns:a16="http://schemas.microsoft.com/office/drawing/2014/main" id="{FC08B931-476F-A945-9C35-EAB933CD2CEC}"/>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1.3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协议与分层结构</a:t>
            </a:r>
          </a:p>
        </p:txBody>
      </p:sp>
      <p:sp>
        <p:nvSpPr>
          <p:cNvPr id="81" name="文本框 80">
            <a:extLst>
              <a:ext uri="{FF2B5EF4-FFF2-40B4-BE49-F238E27FC236}">
                <a16:creationId xmlns:a16="http://schemas.microsoft.com/office/drawing/2014/main" id="{6B4E474D-B6C3-8549-B313-9EDCE47A1910}"/>
              </a:ext>
            </a:extLst>
          </p:cNvPr>
          <p:cNvSpPr txBox="1"/>
          <p:nvPr/>
        </p:nvSpPr>
        <p:spPr>
          <a:xfrm>
            <a:off x="1186738" y="5213530"/>
            <a:ext cx="4770244" cy="1200329"/>
          </a:xfrm>
          <a:prstGeom prst="rect">
            <a:avLst/>
          </a:prstGeom>
          <a:noFill/>
        </p:spPr>
        <p:txBody>
          <a:bodyPr wrap="square" rtlCol="0">
            <a:spAutoFit/>
          </a:bodyPr>
          <a:lstStyle/>
          <a:p>
            <a:pPr marL="0" lvl="1" algn="ctr"/>
            <a:r>
              <a:rPr kumimoji="1" lang="zh-CN" altLang="en-US" sz="2400" dirty="0">
                <a:solidFill>
                  <a:srgbClr val="C00000"/>
                </a:solidFill>
                <a:latin typeface="微软雅黑" panose="020B0503020204020204" pitchFamily="34" charset="-122"/>
                <a:ea typeface="微软雅黑" panose="020B0503020204020204" pitchFamily="34" charset="-122"/>
                <a:sym typeface="+mn-ea"/>
              </a:rPr>
              <a:t>交流的基础：</a:t>
            </a:r>
            <a:br>
              <a:rPr kumimoji="1" lang="en-US" altLang="zh-CN" sz="2400" dirty="0">
                <a:solidFill>
                  <a:srgbClr val="C00000"/>
                </a:solidFill>
                <a:latin typeface="微软雅黑" panose="020B0503020204020204" pitchFamily="34" charset="-122"/>
                <a:ea typeface="微软雅黑" panose="020B0503020204020204" pitchFamily="34" charset="-122"/>
                <a:sym typeface="+mn-ea"/>
              </a:rPr>
            </a:br>
            <a:r>
              <a:rPr kumimoji="1" lang="zh-CN" altLang="en-US" sz="2400" dirty="0">
                <a:solidFill>
                  <a:srgbClr val="C00000"/>
                </a:solidFill>
                <a:latin typeface="微软雅黑" panose="020B0503020204020204" pitchFamily="34" charset="-122"/>
                <a:ea typeface="微软雅黑" panose="020B0503020204020204" pitchFamily="34" charset="-122"/>
                <a:sym typeface="+mn-ea"/>
              </a:rPr>
              <a:t>共同的语言、互相理解，</a:t>
            </a:r>
            <a:br>
              <a:rPr kumimoji="1" lang="en-US" altLang="zh-CN" sz="2400" dirty="0">
                <a:solidFill>
                  <a:srgbClr val="C00000"/>
                </a:solidFill>
                <a:latin typeface="微软雅黑" panose="020B0503020204020204" pitchFamily="34" charset="-122"/>
                <a:ea typeface="微软雅黑" panose="020B0503020204020204" pitchFamily="34" charset="-122"/>
                <a:sym typeface="+mn-ea"/>
              </a:rPr>
            </a:br>
            <a:r>
              <a:rPr kumimoji="1" lang="zh-CN" altLang="en-US" sz="2400" dirty="0">
                <a:solidFill>
                  <a:srgbClr val="C00000"/>
                </a:solidFill>
                <a:latin typeface="微软雅黑" panose="020B0503020204020204" pitchFamily="34" charset="-122"/>
                <a:ea typeface="微软雅黑" panose="020B0503020204020204" pitchFamily="34" charset="-122"/>
                <a:sym typeface="+mn-ea"/>
              </a:rPr>
              <a:t>共同语义</a:t>
            </a:r>
            <a:r>
              <a:rPr kumimoji="1" lang="en-US" altLang="zh-CN" sz="2400" dirty="0">
                <a:solidFill>
                  <a:srgbClr val="C00000"/>
                </a:solidFill>
                <a:latin typeface="微软雅黑" panose="020B0503020204020204" pitchFamily="34" charset="-122"/>
                <a:ea typeface="微软雅黑" panose="020B0503020204020204" pitchFamily="34" charset="-122"/>
                <a:sym typeface="+mn-ea"/>
              </a:rPr>
              <a:t>……</a:t>
            </a:r>
            <a:endParaRPr kumimoji="1" lang="zh-CN" altLang="en-US" sz="2400" dirty="0">
              <a:solidFill>
                <a:srgbClr val="C00000"/>
              </a:solidFill>
              <a:latin typeface="微软雅黑" panose="020B0503020204020204" pitchFamily="34" charset="-122"/>
              <a:ea typeface="微软雅黑" panose="020B0503020204020204" pitchFamily="34" charset="-122"/>
              <a:sym typeface="+mn-ea"/>
            </a:endParaRPr>
          </a:p>
        </p:txBody>
      </p:sp>
      <p:grpSp>
        <p:nvGrpSpPr>
          <p:cNvPr id="82" name="组合 81">
            <a:extLst>
              <a:ext uri="{FF2B5EF4-FFF2-40B4-BE49-F238E27FC236}">
                <a16:creationId xmlns:a16="http://schemas.microsoft.com/office/drawing/2014/main" id="{0D9204A7-3B7C-974F-A3ED-58F122A59CB2}"/>
              </a:ext>
            </a:extLst>
          </p:cNvPr>
          <p:cNvGrpSpPr/>
          <p:nvPr/>
        </p:nvGrpSpPr>
        <p:grpSpPr>
          <a:xfrm>
            <a:off x="833720" y="2327805"/>
            <a:ext cx="4911075" cy="2779379"/>
            <a:chOff x="920996" y="2646746"/>
            <a:chExt cx="4911075" cy="2779379"/>
          </a:xfrm>
        </p:grpSpPr>
        <p:grpSp>
          <p:nvGrpSpPr>
            <p:cNvPr id="83" name="Group 8">
              <a:extLst>
                <a:ext uri="{FF2B5EF4-FFF2-40B4-BE49-F238E27FC236}">
                  <a16:creationId xmlns:a16="http://schemas.microsoft.com/office/drawing/2014/main" id="{A37CEF99-EEDB-FC49-853B-242C21D7E2AB}"/>
                </a:ext>
              </a:extLst>
            </p:cNvPr>
            <p:cNvGrpSpPr/>
            <p:nvPr/>
          </p:nvGrpSpPr>
          <p:grpSpPr>
            <a:xfrm>
              <a:off x="2315845" y="2841625"/>
              <a:ext cx="2248523" cy="563245"/>
              <a:chOff x="2925329" y="2422526"/>
              <a:chExt cx="1793003" cy="563562"/>
            </a:xfrm>
          </p:grpSpPr>
          <p:sp>
            <p:nvSpPr>
              <p:cNvPr id="161" name="Line 10">
                <a:extLst>
                  <a:ext uri="{FF2B5EF4-FFF2-40B4-BE49-F238E27FC236}">
                    <a16:creationId xmlns:a16="http://schemas.microsoft.com/office/drawing/2014/main" id="{8DE279DE-130A-C744-B9E2-0562B8ADBE41}"/>
                  </a:ext>
                </a:extLst>
              </p:cNvPr>
              <p:cNvSpPr>
                <a:spLocks noChangeShapeType="1"/>
              </p:cNvSpPr>
              <p:nvPr/>
            </p:nvSpPr>
            <p:spPr bwMode="auto">
              <a:xfrm>
                <a:off x="2925329" y="2709863"/>
                <a:ext cx="1762125" cy="276225"/>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62" name="Text Box 64">
                <a:extLst>
                  <a:ext uri="{FF2B5EF4-FFF2-40B4-BE49-F238E27FC236}">
                    <a16:creationId xmlns:a16="http://schemas.microsoft.com/office/drawing/2014/main" id="{4B741305-78A3-9D40-93D4-43B7A02F0C1E}"/>
                  </a:ext>
                </a:extLst>
              </p:cNvPr>
              <p:cNvSpPr txBox="1">
                <a:spLocks noChangeArrowheads="1"/>
              </p:cNvSpPr>
              <p:nvPr/>
            </p:nvSpPr>
            <p:spPr bwMode="auto">
              <a:xfrm>
                <a:off x="3122799" y="2422526"/>
                <a:ext cx="1595533" cy="399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有同学提问吗？</a:t>
                </a:r>
              </a:p>
            </p:txBody>
          </p:sp>
        </p:grpSp>
        <p:grpSp>
          <p:nvGrpSpPr>
            <p:cNvPr id="84" name="Group 78">
              <a:extLst>
                <a:ext uri="{FF2B5EF4-FFF2-40B4-BE49-F238E27FC236}">
                  <a16:creationId xmlns:a16="http://schemas.microsoft.com/office/drawing/2014/main" id="{C0B6D1B7-91B8-654F-948A-40ADA3BD9B89}"/>
                </a:ext>
              </a:extLst>
            </p:cNvPr>
            <p:cNvGrpSpPr/>
            <p:nvPr/>
          </p:nvGrpSpPr>
          <p:grpSpPr>
            <a:xfrm>
              <a:off x="2146935" y="3437255"/>
              <a:ext cx="2394585" cy="631825"/>
              <a:chOff x="2617354" y="2998788"/>
              <a:chExt cx="2085975" cy="631825"/>
            </a:xfrm>
          </p:grpSpPr>
          <p:sp>
            <p:nvSpPr>
              <p:cNvPr id="159" name="Line 66">
                <a:extLst>
                  <a:ext uri="{FF2B5EF4-FFF2-40B4-BE49-F238E27FC236}">
                    <a16:creationId xmlns:a16="http://schemas.microsoft.com/office/drawing/2014/main" id="{DB7D997E-AFE5-0C49-999D-21647484224F}"/>
                  </a:ext>
                </a:extLst>
              </p:cNvPr>
              <p:cNvSpPr>
                <a:spLocks noChangeShapeType="1"/>
              </p:cNvSpPr>
              <p:nvPr/>
            </p:nvSpPr>
            <p:spPr bwMode="auto">
              <a:xfrm flipV="1">
                <a:off x="2617354" y="3268663"/>
                <a:ext cx="2085975" cy="361950"/>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60" name="Text Box 67">
                <a:extLst>
                  <a:ext uri="{FF2B5EF4-FFF2-40B4-BE49-F238E27FC236}">
                    <a16:creationId xmlns:a16="http://schemas.microsoft.com/office/drawing/2014/main" id="{4AB30AE3-DB22-174B-885C-BAB9BEDB6E01}"/>
                  </a:ext>
                </a:extLst>
              </p:cNvPr>
              <p:cNvSpPr txBox="1">
                <a:spLocks noChangeArrowheads="1"/>
              </p:cNvSpPr>
              <p:nvPr/>
            </p:nvSpPr>
            <p:spPr bwMode="auto">
              <a:xfrm>
                <a:off x="3212416" y="2998788"/>
                <a:ext cx="127825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我有问题</a:t>
                </a:r>
              </a:p>
            </p:txBody>
          </p:sp>
        </p:grpSp>
        <p:grpSp>
          <p:nvGrpSpPr>
            <p:cNvPr id="85" name="Group 79">
              <a:extLst>
                <a:ext uri="{FF2B5EF4-FFF2-40B4-BE49-F238E27FC236}">
                  <a16:creationId xmlns:a16="http://schemas.microsoft.com/office/drawing/2014/main" id="{24358ED1-7CD7-3746-A6AE-D4BDA3BAF968}"/>
                </a:ext>
              </a:extLst>
            </p:cNvPr>
            <p:cNvGrpSpPr/>
            <p:nvPr/>
          </p:nvGrpSpPr>
          <p:grpSpPr>
            <a:xfrm>
              <a:off x="2146935" y="4108337"/>
              <a:ext cx="2359660" cy="824332"/>
              <a:chOff x="2601479" y="3429004"/>
              <a:chExt cx="2207319" cy="823913"/>
            </a:xfrm>
          </p:grpSpPr>
          <p:sp>
            <p:nvSpPr>
              <p:cNvPr id="155" name="Line 70">
                <a:extLst>
                  <a:ext uri="{FF2B5EF4-FFF2-40B4-BE49-F238E27FC236}">
                    <a16:creationId xmlns:a16="http://schemas.microsoft.com/office/drawing/2014/main" id="{4C70F432-7072-5945-BBC5-D70BAC8FAEB3}"/>
                  </a:ext>
                </a:extLst>
              </p:cNvPr>
              <p:cNvSpPr>
                <a:spLocks noChangeShapeType="1"/>
              </p:cNvSpPr>
              <p:nvPr/>
            </p:nvSpPr>
            <p:spPr bwMode="auto">
              <a:xfrm>
                <a:off x="2601479" y="3700308"/>
                <a:ext cx="2207319" cy="239907"/>
              </a:xfrm>
              <a:prstGeom prst="line">
                <a:avLst/>
              </a:prstGeom>
              <a:noFill/>
              <a:ln w="28575">
                <a:solidFill>
                  <a:srgbClr val="0000A8"/>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grpSp>
            <p:nvGrpSpPr>
              <p:cNvPr id="156" name="Group 72">
                <a:extLst>
                  <a:ext uri="{FF2B5EF4-FFF2-40B4-BE49-F238E27FC236}">
                    <a16:creationId xmlns:a16="http://schemas.microsoft.com/office/drawing/2014/main" id="{AFFC7AC8-3EAB-9D4C-9632-03F7C7DD2E8B}"/>
                  </a:ext>
                </a:extLst>
              </p:cNvPr>
              <p:cNvGrpSpPr/>
              <p:nvPr/>
            </p:nvGrpSpPr>
            <p:grpSpPr bwMode="auto">
              <a:xfrm>
                <a:off x="3179331" y="3429004"/>
                <a:ext cx="1100138" cy="823913"/>
                <a:chOff x="786" y="2619"/>
                <a:chExt cx="693" cy="519"/>
              </a:xfrm>
            </p:grpSpPr>
            <p:sp>
              <p:nvSpPr>
                <p:cNvPr id="157" name="Rectangle 71">
                  <a:extLst>
                    <a:ext uri="{FF2B5EF4-FFF2-40B4-BE49-F238E27FC236}">
                      <a16:creationId xmlns:a16="http://schemas.microsoft.com/office/drawing/2014/main" id="{5F30F7AE-FD1E-D646-9131-0928415A8395}"/>
                    </a:ext>
                  </a:extLst>
                </p:cNvPr>
                <p:cNvSpPr>
                  <a:spLocks noChangeArrowheads="1"/>
                </p:cNvSpPr>
                <p:nvPr/>
              </p:nvSpPr>
              <p:spPr bwMode="auto">
                <a:xfrm>
                  <a:off x="786" y="2790"/>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dirty="0">
                    <a:latin typeface="Calibri" panose="020F0502020204030204" pitchFamily="34" charset="0"/>
                    <a:cs typeface="Calibri" panose="020F0502020204030204" pitchFamily="34" charset="0"/>
                  </a:endParaRPr>
                </a:p>
              </p:txBody>
            </p:sp>
            <p:sp>
              <p:nvSpPr>
                <p:cNvPr id="158" name="Text Box 69">
                  <a:extLst>
                    <a:ext uri="{FF2B5EF4-FFF2-40B4-BE49-F238E27FC236}">
                      <a16:creationId xmlns:a16="http://schemas.microsoft.com/office/drawing/2014/main" id="{E2B5C473-FC89-D44E-94F9-6EFB031C8CB0}"/>
                    </a:ext>
                  </a:extLst>
                </p:cNvPr>
                <p:cNvSpPr txBox="1">
                  <a:spLocks noChangeArrowheads="1"/>
                </p:cNvSpPr>
                <p:nvPr/>
              </p:nvSpPr>
              <p:spPr bwMode="auto">
                <a:xfrm>
                  <a:off x="865" y="2619"/>
                  <a:ext cx="614" cy="25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zh-CN" altLang="en-US" sz="2000" dirty="0">
                      <a:latin typeface="微软雅黑" panose="020B0503020204020204" pitchFamily="34" charset="-122"/>
                      <a:ea typeface="微软雅黑" panose="020B0503020204020204" pitchFamily="34" charset="-122"/>
                      <a:cs typeface="Calibri" panose="020F0502020204030204" pitchFamily="34" charset="0"/>
                    </a:rPr>
                    <a:t>请说</a:t>
                  </a:r>
                </a:p>
              </p:txBody>
            </p:sp>
          </p:grpSp>
        </p:grpSp>
        <p:grpSp>
          <p:nvGrpSpPr>
            <p:cNvPr id="95" name="Group 80">
              <a:extLst>
                <a:ext uri="{FF2B5EF4-FFF2-40B4-BE49-F238E27FC236}">
                  <a16:creationId xmlns:a16="http://schemas.microsoft.com/office/drawing/2014/main" id="{814FFF0B-D878-BB4F-B46E-1530D21314ED}"/>
                </a:ext>
              </a:extLst>
            </p:cNvPr>
            <p:cNvGrpSpPr/>
            <p:nvPr/>
          </p:nvGrpSpPr>
          <p:grpSpPr>
            <a:xfrm>
              <a:off x="2037278" y="4775867"/>
              <a:ext cx="2765440" cy="650258"/>
              <a:chOff x="2644330" y="4088193"/>
              <a:chExt cx="2287588" cy="650551"/>
            </a:xfrm>
          </p:grpSpPr>
          <p:sp>
            <p:nvSpPr>
              <p:cNvPr id="100" name="Line 73">
                <a:extLst>
                  <a:ext uri="{FF2B5EF4-FFF2-40B4-BE49-F238E27FC236}">
                    <a16:creationId xmlns:a16="http://schemas.microsoft.com/office/drawing/2014/main" id="{99C4F087-5292-6340-8F4D-2E88AE431467}"/>
                  </a:ext>
                </a:extLst>
              </p:cNvPr>
              <p:cNvSpPr>
                <a:spLocks noChangeShapeType="1"/>
              </p:cNvSpPr>
              <p:nvPr/>
            </p:nvSpPr>
            <p:spPr bwMode="auto">
              <a:xfrm flipV="1">
                <a:off x="2763404" y="4405369"/>
                <a:ext cx="1952625" cy="333375"/>
              </a:xfrm>
              <a:prstGeom prst="line">
                <a:avLst/>
              </a:prstGeom>
              <a:noFill/>
              <a:ln w="28575">
                <a:solidFill>
                  <a:srgbClr val="0000A8"/>
                </a:solidFill>
                <a:round/>
                <a:head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Calibri" panose="020F0502020204030204" pitchFamily="34" charset="0"/>
                  <a:cs typeface="Calibri" panose="020F0502020204030204" pitchFamily="34" charset="0"/>
                </a:endParaRPr>
              </a:p>
            </p:txBody>
          </p:sp>
          <p:sp>
            <p:nvSpPr>
              <p:cNvPr id="154" name="Text Box 74">
                <a:extLst>
                  <a:ext uri="{FF2B5EF4-FFF2-40B4-BE49-F238E27FC236}">
                    <a16:creationId xmlns:a16="http://schemas.microsoft.com/office/drawing/2014/main" id="{0DD2B6B5-5DB0-3742-82AC-251FE2C6ED0B}"/>
                  </a:ext>
                </a:extLst>
              </p:cNvPr>
              <p:cNvSpPr txBox="1">
                <a:spLocks noChangeArrowheads="1"/>
              </p:cNvSpPr>
              <p:nvPr/>
            </p:nvSpPr>
            <p:spPr bwMode="auto">
              <a:xfrm>
                <a:off x="2644330" y="4088193"/>
                <a:ext cx="22875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zh-CN" altLang="en-US" sz="2000" dirty="0">
                    <a:latin typeface="微软雅黑" panose="020B0503020204020204" pitchFamily="34" charset="-122"/>
                    <a:ea typeface="微软雅黑" panose="020B0503020204020204" pitchFamily="34" charset="-122"/>
                    <a:cs typeface="Calibri" panose="020F0502020204030204" pitchFamily="34" charset="0"/>
                  </a:rPr>
                  <a:t>协议设计目的是什么呢？</a:t>
                </a:r>
              </a:p>
            </p:txBody>
          </p:sp>
        </p:grpSp>
        <p:pic>
          <p:nvPicPr>
            <p:cNvPr id="96" name="Picture 4">
              <a:extLst>
                <a:ext uri="{FF2B5EF4-FFF2-40B4-BE49-F238E27FC236}">
                  <a16:creationId xmlns:a16="http://schemas.microsoft.com/office/drawing/2014/main" id="{76E63633-DFAE-1645-A2CE-68A9A07618A7}"/>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625399" y="2646746"/>
              <a:ext cx="1206672" cy="1209085"/>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6">
              <a:extLst>
                <a:ext uri="{FF2B5EF4-FFF2-40B4-BE49-F238E27FC236}">
                  <a16:creationId xmlns:a16="http://schemas.microsoft.com/office/drawing/2014/main" id="{B96058B7-8166-1945-9077-DD8619738F8E}"/>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920996" y="2699834"/>
              <a:ext cx="1075474" cy="1615455"/>
            </a:xfrm>
            <a:prstGeom prst="rect">
              <a:avLst/>
            </a:prstGeom>
            <a:noFill/>
            <a:extLst>
              <a:ext uri="{909E8E84-426E-40DD-AFC4-6F175D3DCCD1}">
                <a14:hiddenFill xmlns:a14="http://schemas.microsoft.com/office/drawing/2010/main">
                  <a:solidFill>
                    <a:srgbClr val="FFFFFF"/>
                  </a:solidFill>
                </a14:hiddenFill>
              </a:ext>
            </a:extLst>
          </p:spPr>
        </p:pic>
      </p:grpSp>
      <p:sp>
        <p:nvSpPr>
          <p:cNvPr id="163" name="矩形 162">
            <a:extLst>
              <a:ext uri="{FF2B5EF4-FFF2-40B4-BE49-F238E27FC236}">
                <a16:creationId xmlns:a16="http://schemas.microsoft.com/office/drawing/2014/main" id="{F428588A-3089-6143-8909-B012B62CF788}"/>
              </a:ext>
            </a:extLst>
          </p:cNvPr>
          <p:cNvSpPr/>
          <p:nvPr/>
        </p:nvSpPr>
        <p:spPr>
          <a:xfrm>
            <a:off x="1386505" y="1518908"/>
            <a:ext cx="3416320" cy="523220"/>
          </a:xfrm>
          <a:prstGeom prst="rect">
            <a:avLst/>
          </a:prstGeom>
        </p:spPr>
        <p:txBody>
          <a:bodyPr wrap="none">
            <a:spAutoFit/>
          </a:bodyPr>
          <a:lstStyle/>
          <a:p>
            <a:r>
              <a:rPr lang="zh-CN" altLang="en-US" sz="2800" dirty="0">
                <a:solidFill>
                  <a:prstClr val="black"/>
                </a:solidFill>
                <a:latin typeface="Microsoft YaHei" panose="020B0503020204020204" pitchFamily="34" charset="-122"/>
                <a:ea typeface="Microsoft YaHei" panose="020B0503020204020204" pitchFamily="34" charset="-122"/>
              </a:rPr>
              <a:t>人们之间的信息交互</a:t>
            </a:r>
            <a:endParaRPr lang="zh-CN" altLang="en-US" dirty="0"/>
          </a:p>
        </p:txBody>
      </p:sp>
      <p:sp>
        <p:nvSpPr>
          <p:cNvPr id="7" name="矩形 6">
            <a:extLst>
              <a:ext uri="{FF2B5EF4-FFF2-40B4-BE49-F238E27FC236}">
                <a16:creationId xmlns:a16="http://schemas.microsoft.com/office/drawing/2014/main" id="{E849B1F8-FA18-C14D-BFDD-CDB5CC479478}"/>
              </a:ext>
            </a:extLst>
          </p:cNvPr>
          <p:cNvSpPr/>
          <p:nvPr/>
        </p:nvSpPr>
        <p:spPr>
          <a:xfrm>
            <a:off x="7586519" y="5737703"/>
            <a:ext cx="2986715" cy="461665"/>
          </a:xfrm>
          <a:prstGeom prst="rect">
            <a:avLst/>
          </a:prstGeom>
        </p:spPr>
        <p:txBody>
          <a:bodyPr wrap="none">
            <a:spAutoFit/>
          </a:bodyPr>
          <a:lstStyle/>
          <a:p>
            <a:r>
              <a:rPr kumimoji="1" lang="zh-CN" altLang="en-US" sz="2400" dirty="0">
                <a:solidFill>
                  <a:srgbClr val="C00000"/>
                </a:solidFill>
                <a:latin typeface="微软雅黑" panose="020B0503020204020204" pitchFamily="34" charset="-122"/>
                <a:ea typeface="微软雅黑" panose="020B0503020204020204" pitchFamily="34" charset="-122"/>
                <a:sym typeface="+mn-ea"/>
              </a:rPr>
              <a:t>如何能实现互相理解？</a:t>
            </a:r>
            <a:endParaRPr lang="zh-CN" altLang="en-US" dirty="0"/>
          </a:p>
        </p:txBody>
      </p:sp>
    </p:spTree>
    <p:extLst>
      <p:ext uri="{BB962C8B-B14F-4D97-AF65-F5344CB8AC3E}">
        <p14:creationId xmlns:p14="http://schemas.microsoft.com/office/powerpoint/2010/main" val="135135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linds(horizontal)">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1" grpId="0"/>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协议设计目的</a:t>
            </a:r>
            <a:endParaRPr lang="zh-CN" altLang="en-US" dirty="0"/>
          </a:p>
        </p:txBody>
      </p:sp>
      <p:sp>
        <p:nvSpPr>
          <p:cNvPr id="3" name="内容占位符 2"/>
          <p:cNvSpPr>
            <a:spLocks noGrp="1"/>
          </p:cNvSpPr>
          <p:nvPr>
            <p:ph idx="1"/>
          </p:nvPr>
        </p:nvSpPr>
        <p:spPr>
          <a:xfrm>
            <a:off x="611505" y="1512059"/>
            <a:ext cx="7171690" cy="3676978"/>
          </a:xfrm>
        </p:spPr>
        <p:txBody>
          <a:bodyPr anchor="t">
            <a:normAutofit/>
          </a:bodyPr>
          <a:lstStyle/>
          <a:p>
            <a:r>
              <a:rPr lang="zh-CN" altLang="en-US" dirty="0">
                <a:cs typeface="微软雅黑" panose="020B0503020204020204" pitchFamily="34" charset="-122"/>
              </a:rPr>
              <a:t>网络协议</a:t>
            </a:r>
          </a:p>
          <a:p>
            <a:pPr lvl="1" algn="l">
              <a:buClrTx/>
              <a:buSzTx/>
            </a:pPr>
            <a:r>
              <a:rPr kumimoji="1" lang="zh-CN" altLang="en-US" kern="0" noProof="0" dirty="0">
                <a:ln>
                  <a:noFill/>
                </a:ln>
                <a:solidFill>
                  <a:srgbClr val="080808"/>
                </a:solidFill>
                <a:effectLst/>
                <a:uLnTx/>
                <a:uFillTx/>
                <a:cs typeface="微软雅黑" panose="020B0503020204020204" pitchFamily="34" charset="-122"/>
                <a:sym typeface="+mn-ea"/>
              </a:rPr>
              <a:t>为进行网络中的数据交换而建立的规则、标准 或约定，即网络协议(network protocol)</a:t>
            </a:r>
            <a:endParaRPr kumimoji="1" lang="en-US" altLang="zh-CN" kern="0" noProof="0" dirty="0">
              <a:ln>
                <a:noFill/>
              </a:ln>
              <a:solidFill>
                <a:srgbClr val="080808"/>
              </a:solidFill>
              <a:effectLst/>
              <a:uLnTx/>
              <a:uFillTx/>
              <a:cs typeface="微软雅黑" panose="020B0503020204020204" pitchFamily="34" charset="-122"/>
              <a:sym typeface="+mn-ea"/>
            </a:endParaRPr>
          </a:p>
          <a:p>
            <a:pPr lvl="1" algn="l">
              <a:buClrTx/>
              <a:buSzTx/>
            </a:pPr>
            <a:r>
              <a:rPr kumimoji="1" lang="zh-CN" altLang="en-US" kern="0" dirty="0">
                <a:solidFill>
                  <a:srgbClr val="080808"/>
                </a:solidFill>
                <a:cs typeface="微软雅黑" panose="020B0503020204020204" pitchFamily="34" charset="-122"/>
                <a:sym typeface="+mn-ea"/>
              </a:rPr>
              <a:t>通信双方需要共同遵守，互相理解</a:t>
            </a:r>
            <a:endParaRPr kumimoji="1" lang="zh-CN" altLang="en-US" kern="0" noProof="0" dirty="0">
              <a:ln>
                <a:noFill/>
              </a:ln>
              <a:solidFill>
                <a:srgbClr val="080808"/>
              </a:solidFill>
              <a:effectLst/>
              <a:uLnTx/>
              <a:uFillTx/>
              <a:cs typeface="微软雅黑" panose="020B0503020204020204" pitchFamily="34" charset="-122"/>
              <a:sym typeface="+mn-ea"/>
            </a:endParaRPr>
          </a:p>
          <a:p>
            <a:pPr marL="228600" lvl="0" indent="-228600">
              <a:buFont typeface="Wingdings" panose="05000000000000000000" charset="0"/>
              <a:buChar char="Ø"/>
            </a:pPr>
            <a:r>
              <a:rPr kumimoji="1" lang="zh-CN" altLang="en-US" kern="0" noProof="0" dirty="0">
                <a:ln>
                  <a:noFill/>
                </a:ln>
                <a:solidFill>
                  <a:srgbClr val="080808"/>
                </a:solidFill>
                <a:effectLst/>
                <a:uLnTx/>
                <a:uFillTx/>
                <a:cs typeface="微软雅黑" panose="020B0503020204020204" pitchFamily="34" charset="-122"/>
                <a:sym typeface="+mn-ea"/>
              </a:rPr>
              <a:t>三要素</a:t>
            </a:r>
          </a:p>
          <a:p>
            <a:pPr marL="685800" lvl="1" indent="-228600" algn="l">
              <a:buClrTx/>
              <a:buSzTx/>
              <a:buChar char="•"/>
            </a:pPr>
            <a:r>
              <a:rPr kumimoji="1" lang="zh-CN" altLang="en-US" kern="0" noProof="0" dirty="0">
                <a:ln>
                  <a:noFill/>
                </a:ln>
                <a:solidFill>
                  <a:srgbClr val="080808"/>
                </a:solidFill>
                <a:effectLst/>
                <a:uLnTx/>
                <a:uFillTx/>
                <a:cs typeface="微软雅黑" panose="020B0503020204020204" pitchFamily="34" charset="-122"/>
                <a:sym typeface="+mn-ea"/>
              </a:rPr>
              <a:t>语法：规定传输数据的格式（如何讲）</a:t>
            </a:r>
          </a:p>
          <a:p>
            <a:pPr lvl="1" algn="l">
              <a:buClrTx/>
              <a:buSzTx/>
              <a:buFont typeface="Arial" panose="020B0604020202020204" pitchFamily="34" charset="0"/>
              <a:buChar char="•"/>
            </a:pPr>
            <a:r>
              <a:rPr kumimoji="1" lang="zh-CN" altLang="en-US" kern="0" noProof="0" dirty="0">
                <a:ln>
                  <a:noFill/>
                </a:ln>
                <a:solidFill>
                  <a:srgbClr val="080808"/>
                </a:solidFill>
                <a:effectLst/>
                <a:uLnTx/>
                <a:uFillTx/>
                <a:cs typeface="微软雅黑" panose="020B0503020204020204" pitchFamily="34" charset="-122"/>
                <a:sym typeface="+mn-ea"/>
              </a:rPr>
              <a:t>语义：规定所要完成的功能（讲什么）</a:t>
            </a:r>
          </a:p>
          <a:p>
            <a:pPr lvl="1" algn="l">
              <a:buClrTx/>
              <a:buSzTx/>
              <a:buFont typeface="Arial" panose="020B0604020202020204" pitchFamily="34" charset="0"/>
              <a:buChar char="•"/>
            </a:pPr>
            <a:r>
              <a:rPr kumimoji="1" lang="zh-CN" altLang="en-US" kern="0" noProof="0" dirty="0">
                <a:ln>
                  <a:noFill/>
                </a:ln>
                <a:solidFill>
                  <a:srgbClr val="080808"/>
                </a:solidFill>
                <a:effectLst/>
                <a:uLnTx/>
                <a:uFillTx/>
                <a:cs typeface="微软雅黑" panose="020B0503020204020204" pitchFamily="34" charset="-122"/>
                <a:sym typeface="+mn-ea"/>
              </a:rPr>
              <a:t>时序：规定各种操作的顺序（双方讲话的顺序）</a:t>
            </a:r>
            <a:endParaRPr kumimoji="1" lang="en-US" altLang="zh-CN" kern="0" noProof="0" dirty="0">
              <a:ln>
                <a:noFill/>
              </a:ln>
              <a:solidFill>
                <a:srgbClr val="080808"/>
              </a:solidFill>
              <a:effectLst/>
              <a:uLnTx/>
              <a:uFillTx/>
              <a:cs typeface="微软雅黑" panose="020B0503020204020204" pitchFamily="34" charset="-122"/>
              <a:sym typeface="+mn-ea"/>
            </a:endParaRPr>
          </a:p>
        </p:txBody>
      </p:sp>
      <p:grpSp>
        <p:nvGrpSpPr>
          <p:cNvPr id="33" name="组合 32"/>
          <p:cNvGrpSpPr/>
          <p:nvPr/>
        </p:nvGrpSpPr>
        <p:grpSpPr>
          <a:xfrm>
            <a:off x="7347417" y="1838776"/>
            <a:ext cx="3909695" cy="3826510"/>
            <a:chOff x="12080" y="3124"/>
            <a:chExt cx="6157" cy="6026"/>
          </a:xfrm>
        </p:grpSpPr>
        <p:sp>
          <p:nvSpPr>
            <p:cNvPr id="5" name="圆角矩形 4"/>
            <p:cNvSpPr/>
            <p:nvPr/>
          </p:nvSpPr>
          <p:spPr>
            <a:xfrm>
              <a:off x="12080" y="5393"/>
              <a:ext cx="2373" cy="1488"/>
            </a:xfrm>
            <a:prstGeom prst="roundRect">
              <a:avLst/>
            </a:prstGeom>
            <a:solidFill>
              <a:schemeClr val="bg1"/>
            </a:solidFill>
            <a:ln w="47625" cmpd="sng">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网络协议</a:t>
              </a:r>
            </a:p>
            <a:p>
              <a:pPr algn="ctr"/>
              <a:r>
                <a:rPr lang="zh-CN" altLang="en-US" sz="2400" dirty="0">
                  <a:solidFill>
                    <a:schemeClr val="tx1"/>
                  </a:solidFill>
                  <a:latin typeface="微软雅黑" panose="020B0503020204020204" pitchFamily="34" charset="-122"/>
                  <a:ea typeface="微软雅黑" panose="020B0503020204020204" pitchFamily="34" charset="-122"/>
                </a:rPr>
                <a:t>设计目的</a:t>
              </a:r>
            </a:p>
          </p:txBody>
        </p:sp>
        <p:sp>
          <p:nvSpPr>
            <p:cNvPr id="7" name="圆角矩形 6"/>
            <p:cNvSpPr/>
            <p:nvPr/>
          </p:nvSpPr>
          <p:spPr>
            <a:xfrm>
              <a:off x="15688" y="3124"/>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可靠性</a:t>
              </a:r>
            </a:p>
          </p:txBody>
        </p:sp>
        <p:sp>
          <p:nvSpPr>
            <p:cNvPr id="8" name="圆角矩形 7"/>
            <p:cNvSpPr/>
            <p:nvPr/>
          </p:nvSpPr>
          <p:spPr>
            <a:xfrm>
              <a:off x="15688" y="4443"/>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资源分配</a:t>
              </a:r>
            </a:p>
          </p:txBody>
        </p:sp>
        <p:sp>
          <p:nvSpPr>
            <p:cNvPr id="9" name="圆角矩形 8"/>
            <p:cNvSpPr/>
            <p:nvPr/>
          </p:nvSpPr>
          <p:spPr>
            <a:xfrm>
              <a:off x="15688" y="5762"/>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拥塞问题</a:t>
              </a:r>
            </a:p>
          </p:txBody>
        </p:sp>
        <p:sp>
          <p:nvSpPr>
            <p:cNvPr id="11" name="圆角矩形 10"/>
            <p:cNvSpPr/>
            <p:nvPr/>
          </p:nvSpPr>
          <p:spPr>
            <a:xfrm>
              <a:off x="15688" y="7081"/>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自适应性</a:t>
              </a:r>
            </a:p>
          </p:txBody>
        </p:sp>
        <p:sp>
          <p:nvSpPr>
            <p:cNvPr id="17" name="圆角矩形 16"/>
            <p:cNvSpPr/>
            <p:nvPr/>
          </p:nvSpPr>
          <p:spPr>
            <a:xfrm>
              <a:off x="15688" y="8400"/>
              <a:ext cx="2549" cy="750"/>
            </a:xfrm>
            <a:prstGeom prst="roundRect">
              <a:avLst/>
            </a:prstGeom>
            <a:solidFill>
              <a:schemeClr val="bg1"/>
            </a:solidFill>
            <a:ln w="349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安全问题</a:t>
              </a:r>
            </a:p>
          </p:txBody>
        </p:sp>
        <p:sp>
          <p:nvSpPr>
            <p:cNvPr id="31" name="左大括号 30"/>
            <p:cNvSpPr/>
            <p:nvPr/>
          </p:nvSpPr>
          <p:spPr>
            <a:xfrm>
              <a:off x="14592" y="3506"/>
              <a:ext cx="697" cy="5266"/>
            </a:xfrm>
            <a:prstGeom prst="leftBrace">
              <a:avLst>
                <a:gd name="adj1" fmla="val 60488"/>
                <a:gd name="adj2" fmla="val 50000"/>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6" name="灯片编号占位符 5">
            <a:extLst>
              <a:ext uri="{FF2B5EF4-FFF2-40B4-BE49-F238E27FC236}">
                <a16:creationId xmlns:a16="http://schemas.microsoft.com/office/drawing/2014/main" id="{27E1C0DF-3D3D-5943-8B86-F0CE444D5B85}"/>
              </a:ext>
            </a:extLst>
          </p:cNvPr>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14" name="文本框 13">
            <a:extLst>
              <a:ext uri="{FF2B5EF4-FFF2-40B4-BE49-F238E27FC236}">
                <a16:creationId xmlns:a16="http://schemas.microsoft.com/office/drawing/2014/main" id="{FA707E07-9B3D-724A-9DC7-59CAB121BA4C}"/>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sp>
        <p:nvSpPr>
          <p:cNvPr id="15" name="矩形 14">
            <a:extLst>
              <a:ext uri="{FF2B5EF4-FFF2-40B4-BE49-F238E27FC236}">
                <a16:creationId xmlns:a16="http://schemas.microsoft.com/office/drawing/2014/main" id="{C5B47B54-122A-334F-96A7-9DCB56680294}"/>
              </a:ext>
            </a:extLst>
          </p:cNvPr>
          <p:cNvSpPr/>
          <p:nvPr/>
        </p:nvSpPr>
        <p:spPr>
          <a:xfrm>
            <a:off x="1139543" y="5530339"/>
            <a:ext cx="7571303" cy="461665"/>
          </a:xfrm>
          <a:prstGeom prst="rect">
            <a:avLst/>
          </a:prstGeom>
          <a:ln>
            <a:solidFill>
              <a:srgbClr val="C00000"/>
            </a:solidFill>
          </a:ln>
        </p:spPr>
        <p:txBody>
          <a:bodyPr wrap="none">
            <a:spAutoFit/>
          </a:bodyPr>
          <a:lstStyle/>
          <a:p>
            <a:r>
              <a:rPr kumimoji="1" lang="zh-CN" altLang="en-US" sz="2400" dirty="0">
                <a:solidFill>
                  <a:srgbClr val="C00000"/>
                </a:solidFill>
                <a:latin typeface="微软雅黑" panose="020B0503020204020204" pitchFamily="34" charset="-122"/>
                <a:ea typeface="微软雅黑" panose="020B0503020204020204" pitchFamily="34" charset="-122"/>
                <a:sym typeface="+mn-ea"/>
              </a:rPr>
              <a:t>通信双方要说的事情多种多样，导致网络协议异常复杂</a:t>
            </a:r>
            <a:endParaRPr lang="zh-CN" altLang="en-US" dirty="0"/>
          </a:p>
        </p:txBody>
      </p:sp>
      <p:pic>
        <p:nvPicPr>
          <p:cNvPr id="16" name="Picture 28" descr="015">
            <a:extLst>
              <a:ext uri="{FF2B5EF4-FFF2-40B4-BE49-F238E27FC236}">
                <a16:creationId xmlns:a16="http://schemas.microsoft.com/office/drawing/2014/main" id="{8A56F678-8AFF-40D7-BF4D-5706A0756A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686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12"/>
          <p:cNvSpPr>
            <a:spLocks noChangeArrowheads="1"/>
          </p:cNvSpPr>
          <p:nvPr/>
        </p:nvSpPr>
        <p:spPr bwMode="auto">
          <a:xfrm>
            <a:off x="1245706" y="215346"/>
            <a:ext cx="86106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266700"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defRPr/>
            </a:pPr>
            <a:r>
              <a:rPr lang="zh-CN" altLang="en-US" sz="1800" b="1" dirty="0">
                <a:solidFill>
                  <a:srgbClr val="C00000"/>
                </a:solidFill>
                <a:latin typeface="+mn-ea"/>
                <a:ea typeface="+mn-ea"/>
              </a:rPr>
              <a:t>（</a:t>
            </a:r>
            <a:r>
              <a:rPr lang="en-US" altLang="zh-CN" sz="1800" b="1" dirty="0">
                <a:solidFill>
                  <a:srgbClr val="C00000"/>
                </a:solidFill>
                <a:latin typeface="+mn-ea"/>
                <a:ea typeface="+mn-ea"/>
              </a:rPr>
              <a:t>1</a:t>
            </a:r>
            <a:r>
              <a:rPr lang="zh-CN" altLang="en-US" sz="1800" b="1" dirty="0">
                <a:solidFill>
                  <a:srgbClr val="C00000"/>
                </a:solidFill>
                <a:latin typeface="+mn-ea"/>
                <a:ea typeface="+mn-ea"/>
              </a:rPr>
              <a:t>）语法</a:t>
            </a:r>
            <a:r>
              <a:rPr lang="en-US" altLang="zh-CN" sz="1800" dirty="0">
                <a:latin typeface="+mn-ea"/>
                <a:ea typeface="+mn-ea"/>
              </a:rPr>
              <a:t>——</a:t>
            </a:r>
            <a:r>
              <a:rPr lang="zh-CN" altLang="en-US" sz="1800" dirty="0">
                <a:latin typeface="+mn-ea"/>
                <a:ea typeface="+mn-ea"/>
              </a:rPr>
              <a:t>协议的语法规定了将若干个协议元素和数据组合在一起来表达一个更完整的内容时所应遵循格式，亦即对所表达内容的数据结构形式的一种规定。</a:t>
            </a:r>
          </a:p>
          <a:p>
            <a:pPr algn="just" eaLnBrk="1" hangingPunct="1">
              <a:defRPr/>
            </a:pPr>
            <a:r>
              <a:rPr lang="zh-CN" altLang="en-US" sz="1800" dirty="0">
                <a:latin typeface="+mn-ea"/>
                <a:ea typeface="+mn-ea"/>
              </a:rPr>
              <a:t>　例如，在不同的数据帧中含有不同的帧格式，由不同的帧元素构成。</a:t>
            </a:r>
          </a:p>
          <a:p>
            <a:pPr algn="just" eaLnBrk="1" hangingPunct="1">
              <a:defRPr/>
            </a:pPr>
            <a:endParaRPr lang="zh-CN" altLang="en-US" sz="1800" dirty="0">
              <a:latin typeface="+mn-ea"/>
              <a:ea typeface="+mn-ea"/>
            </a:endParaRPr>
          </a:p>
          <a:p>
            <a:pPr algn="just" eaLnBrk="1" hangingPunct="1">
              <a:defRPr/>
            </a:pPr>
            <a:endParaRPr lang="zh-CN" altLang="en-US" sz="1800" dirty="0">
              <a:latin typeface="+mn-ea"/>
              <a:ea typeface="+mn-ea"/>
            </a:endParaRPr>
          </a:p>
          <a:p>
            <a:pPr algn="just" eaLnBrk="1" hangingPunct="1">
              <a:defRPr/>
            </a:pPr>
            <a:endParaRPr lang="zh-CN" altLang="en-US" sz="1800" dirty="0">
              <a:latin typeface="+mn-ea"/>
              <a:ea typeface="+mn-ea"/>
            </a:endParaRPr>
          </a:p>
          <a:p>
            <a:pPr algn="just" eaLnBrk="1" hangingPunct="1">
              <a:defRPr/>
            </a:pPr>
            <a:r>
              <a:rPr lang="zh-CN" altLang="en-US" sz="1800" b="1" dirty="0">
                <a:solidFill>
                  <a:srgbClr val="C00000"/>
                </a:solidFill>
                <a:latin typeface="+mn-ea"/>
                <a:ea typeface="+mn-ea"/>
              </a:rPr>
              <a:t>（</a:t>
            </a:r>
            <a:r>
              <a:rPr lang="en-US" altLang="zh-CN" sz="1800" b="1" dirty="0">
                <a:solidFill>
                  <a:srgbClr val="C00000"/>
                </a:solidFill>
                <a:latin typeface="+mn-ea"/>
                <a:ea typeface="+mn-ea"/>
              </a:rPr>
              <a:t>2</a:t>
            </a:r>
            <a:r>
              <a:rPr lang="zh-CN" altLang="en-US" sz="1800" b="1" dirty="0">
                <a:solidFill>
                  <a:srgbClr val="C00000"/>
                </a:solidFill>
                <a:latin typeface="+mn-ea"/>
                <a:ea typeface="+mn-ea"/>
              </a:rPr>
              <a:t>）语义</a:t>
            </a:r>
            <a:r>
              <a:rPr lang="en-US" altLang="zh-CN" sz="1800" dirty="0">
                <a:latin typeface="+mn-ea"/>
                <a:ea typeface="+mn-ea"/>
              </a:rPr>
              <a:t>——</a:t>
            </a:r>
            <a:r>
              <a:rPr lang="zh-CN" altLang="en-US" sz="1800" dirty="0">
                <a:latin typeface="+mn-ea"/>
                <a:ea typeface="+mn-ea"/>
              </a:rPr>
              <a:t>协议的语义是指对构成协议的协议元素含义的解释，不同类型的协议元素规定了通信双方所要表达的不同内容。</a:t>
            </a:r>
          </a:p>
          <a:p>
            <a:pPr algn="just">
              <a:defRPr/>
            </a:pPr>
            <a:r>
              <a:rPr lang="zh-CN" altLang="en-US" sz="1800" dirty="0">
                <a:latin typeface="+mn-ea"/>
                <a:ea typeface="+mn-ea"/>
              </a:rPr>
              <a:t>　例如，在</a:t>
            </a:r>
            <a:r>
              <a:rPr lang="en-US" altLang="zh-CN" sz="1800" dirty="0">
                <a:latin typeface="+mn-ea"/>
                <a:ea typeface="+mn-ea"/>
              </a:rPr>
              <a:t>HDLC</a:t>
            </a:r>
            <a:r>
              <a:rPr lang="zh-CN" altLang="en-US" sz="1800" dirty="0">
                <a:latin typeface="+mn-ea"/>
                <a:ea typeface="+mn-ea"/>
              </a:rPr>
              <a:t>协议中，规定“</a:t>
            </a:r>
            <a:r>
              <a:rPr lang="en-US" altLang="zh-CN" sz="1800" dirty="0">
                <a:latin typeface="+mn-ea"/>
                <a:ea typeface="+mn-ea"/>
              </a:rPr>
              <a:t>01111110”</a:t>
            </a:r>
            <a:r>
              <a:rPr lang="zh-CN" altLang="en-US" sz="1800" dirty="0">
                <a:latin typeface="+mn-ea"/>
                <a:ea typeface="+mn-ea"/>
              </a:rPr>
              <a:t>表示数据帧的开始；在以太网帧的目标地址域，当目标地址全部为“</a:t>
            </a:r>
            <a:r>
              <a:rPr lang="en-US" altLang="zh-CN" sz="1800" dirty="0">
                <a:latin typeface="+mn-ea"/>
                <a:ea typeface="+mn-ea"/>
              </a:rPr>
              <a:t>1”</a:t>
            </a:r>
            <a:r>
              <a:rPr lang="zh-CN" altLang="en-US" sz="1800" dirty="0">
                <a:latin typeface="+mn-ea"/>
                <a:ea typeface="+mn-ea"/>
              </a:rPr>
              <a:t>时表示全局广播地址。</a:t>
            </a:r>
          </a:p>
          <a:p>
            <a:pPr algn="just">
              <a:defRPr/>
            </a:pPr>
            <a:endParaRPr lang="zh-CN" altLang="en-US" sz="1800" dirty="0">
              <a:latin typeface="+mn-ea"/>
              <a:ea typeface="+mn-ea"/>
            </a:endParaRPr>
          </a:p>
          <a:p>
            <a:pPr algn="just">
              <a:defRPr/>
            </a:pPr>
            <a:endParaRPr lang="zh-CN" altLang="en-US" sz="1800" dirty="0">
              <a:latin typeface="+mn-ea"/>
              <a:ea typeface="+mn-ea"/>
            </a:endParaRPr>
          </a:p>
          <a:p>
            <a:pPr algn="just">
              <a:defRPr/>
            </a:pPr>
            <a:r>
              <a:rPr lang="zh-CN" altLang="en-US" sz="1800" b="1" dirty="0">
                <a:solidFill>
                  <a:srgbClr val="C00000"/>
                </a:solidFill>
                <a:latin typeface="+mn-ea"/>
                <a:ea typeface="+mn-ea"/>
              </a:rPr>
              <a:t>（</a:t>
            </a:r>
            <a:r>
              <a:rPr lang="en-US" altLang="zh-CN" sz="1800" b="1" dirty="0">
                <a:solidFill>
                  <a:srgbClr val="C00000"/>
                </a:solidFill>
                <a:latin typeface="+mn-ea"/>
                <a:ea typeface="+mn-ea"/>
              </a:rPr>
              <a:t>3</a:t>
            </a:r>
            <a:r>
              <a:rPr lang="zh-CN" altLang="en-US" sz="1800" b="1" dirty="0">
                <a:solidFill>
                  <a:srgbClr val="C00000"/>
                </a:solidFill>
                <a:latin typeface="+mn-ea"/>
                <a:ea typeface="+mn-ea"/>
              </a:rPr>
              <a:t>）同步</a:t>
            </a:r>
            <a:r>
              <a:rPr lang="en-US" altLang="zh-CN" sz="1800" dirty="0">
                <a:latin typeface="+mn-ea"/>
                <a:ea typeface="+mn-ea"/>
              </a:rPr>
              <a:t>——</a:t>
            </a:r>
            <a:r>
              <a:rPr lang="zh-CN" altLang="en-US" sz="1800" dirty="0">
                <a:latin typeface="+mn-ea"/>
                <a:ea typeface="+mn-ea"/>
              </a:rPr>
              <a:t>规定事件的执行顺序，同步实际上是一种程序流程，通讯双方都按照预先设计好的流程来执行特定的操作，从而实现双方的协同协作。</a:t>
            </a:r>
          </a:p>
          <a:p>
            <a:pPr algn="just">
              <a:defRPr/>
            </a:pPr>
            <a:r>
              <a:rPr lang="zh-CN" altLang="en-US" sz="1800" dirty="0">
                <a:latin typeface="+mn-ea"/>
                <a:ea typeface="+mn-ea"/>
              </a:rPr>
              <a:t>　例如，在双方通信时，首先由源站发送一份数据报文，如果目标站收到的是正确的报文，就发送确认信息通知对方已正确接收；如果目标站收到的是一份错误的报文，则发送以出错信息要求源站重发。</a:t>
            </a:r>
          </a:p>
          <a:p>
            <a:pPr>
              <a:defRPr/>
            </a:pPr>
            <a:endParaRPr lang="en-US" altLang="zh-CN" sz="1800" dirty="0">
              <a:latin typeface="+mn-ea"/>
              <a:ea typeface="+mn-ea"/>
            </a:endParaRPr>
          </a:p>
        </p:txBody>
      </p:sp>
      <p:sp>
        <p:nvSpPr>
          <p:cNvPr id="116739" name="Rectangle 13"/>
          <p:cNvSpPr>
            <a:spLocks noChangeArrowheads="1"/>
          </p:cNvSpPr>
          <p:nvPr/>
        </p:nvSpPr>
        <p:spPr bwMode="auto">
          <a:xfrm>
            <a:off x="2083906" y="1282146"/>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帧头</a:t>
            </a:r>
          </a:p>
        </p:txBody>
      </p:sp>
      <p:sp>
        <p:nvSpPr>
          <p:cNvPr id="116740" name="Rectangle 14"/>
          <p:cNvSpPr>
            <a:spLocks noChangeArrowheads="1"/>
          </p:cNvSpPr>
          <p:nvPr/>
        </p:nvSpPr>
        <p:spPr bwMode="auto">
          <a:xfrm>
            <a:off x="3379306" y="1282146"/>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目的地址</a:t>
            </a:r>
          </a:p>
        </p:txBody>
      </p:sp>
      <p:sp>
        <p:nvSpPr>
          <p:cNvPr id="116741" name="Rectangle 15"/>
          <p:cNvSpPr>
            <a:spLocks noChangeArrowheads="1"/>
          </p:cNvSpPr>
          <p:nvPr/>
        </p:nvSpPr>
        <p:spPr bwMode="auto">
          <a:xfrm>
            <a:off x="4598506" y="1282146"/>
            <a:ext cx="9906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级别标志</a:t>
            </a:r>
          </a:p>
        </p:txBody>
      </p:sp>
      <p:sp>
        <p:nvSpPr>
          <p:cNvPr id="116742" name="Rectangle 16"/>
          <p:cNvSpPr>
            <a:spLocks noChangeArrowheads="1"/>
          </p:cNvSpPr>
          <p:nvPr/>
        </p:nvSpPr>
        <p:spPr bwMode="auto">
          <a:xfrm flipV="1">
            <a:off x="5589106" y="1282146"/>
            <a:ext cx="990600" cy="381000"/>
          </a:xfrm>
          <a:prstGeom prst="rect">
            <a:avLst/>
          </a:prstGeom>
          <a:solidFill>
            <a:schemeClr val="accent1"/>
          </a:solidFill>
          <a:ln w="12700">
            <a:solidFill>
              <a:schemeClr val="tx1"/>
            </a:solidFill>
            <a:miter lim="800000"/>
            <a:headEnd type="none" w="sm" len="sm"/>
            <a:tailEnd type="none" w="sm" len="sm"/>
          </a:ln>
        </p:spPr>
        <p:txBody>
          <a:bodyPr rot="10800000"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质量标志</a:t>
            </a:r>
          </a:p>
        </p:txBody>
      </p:sp>
      <p:sp>
        <p:nvSpPr>
          <p:cNvPr id="116743" name="Rectangle 17"/>
          <p:cNvSpPr>
            <a:spLocks noChangeArrowheads="1"/>
          </p:cNvSpPr>
          <p:nvPr/>
        </p:nvSpPr>
        <p:spPr bwMode="auto">
          <a:xfrm>
            <a:off x="7875106" y="1282146"/>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帧尾</a:t>
            </a:r>
          </a:p>
        </p:txBody>
      </p:sp>
      <p:sp>
        <p:nvSpPr>
          <p:cNvPr id="116744" name="Rectangle 18"/>
          <p:cNvSpPr>
            <a:spLocks noChangeArrowheads="1"/>
          </p:cNvSpPr>
          <p:nvPr/>
        </p:nvSpPr>
        <p:spPr bwMode="auto">
          <a:xfrm>
            <a:off x="6579706" y="1282146"/>
            <a:ext cx="12954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内容</a:t>
            </a:r>
          </a:p>
        </p:txBody>
      </p:sp>
      <p:sp>
        <p:nvSpPr>
          <p:cNvPr id="116745" name="Rectangle 19"/>
          <p:cNvSpPr>
            <a:spLocks noChangeArrowheads="1"/>
          </p:cNvSpPr>
          <p:nvPr/>
        </p:nvSpPr>
        <p:spPr bwMode="auto">
          <a:xfrm>
            <a:off x="2083906" y="3110946"/>
            <a:ext cx="9906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级别标志</a:t>
            </a:r>
          </a:p>
        </p:txBody>
      </p:sp>
      <p:sp>
        <p:nvSpPr>
          <p:cNvPr id="116746" name="Line 20"/>
          <p:cNvSpPr>
            <a:spLocks noChangeShapeType="1"/>
          </p:cNvSpPr>
          <p:nvPr/>
        </p:nvSpPr>
        <p:spPr bwMode="auto">
          <a:xfrm>
            <a:off x="3226906" y="3288746"/>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6747" name="Text Box 21"/>
          <p:cNvSpPr txBox="1">
            <a:spLocks noChangeArrowheads="1"/>
          </p:cNvSpPr>
          <p:nvPr/>
        </p:nvSpPr>
        <p:spPr bwMode="auto">
          <a:xfrm>
            <a:off x="4065106" y="3110946"/>
            <a:ext cx="541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a:latin typeface="仿宋_GB2312" pitchFamily="49" charset="-122"/>
                <a:ea typeface="仿宋_GB2312" pitchFamily="49" charset="-122"/>
              </a:rPr>
              <a:t>0</a:t>
            </a:r>
            <a:r>
              <a:rPr kumimoji="1" lang="zh-CN" altLang="en-US" sz="1800">
                <a:latin typeface="仿宋_GB2312" pitchFamily="49" charset="-122"/>
                <a:ea typeface="仿宋_GB2312" pitchFamily="49" charset="-122"/>
              </a:rPr>
              <a:t>代表最高级别，</a:t>
            </a:r>
            <a:r>
              <a:rPr kumimoji="1" lang="en-US" altLang="zh-CN" sz="1800">
                <a:latin typeface="仿宋_GB2312" pitchFamily="49" charset="-122"/>
                <a:ea typeface="仿宋_GB2312" pitchFamily="49" charset="-122"/>
              </a:rPr>
              <a:t>1</a:t>
            </a:r>
            <a:r>
              <a:rPr kumimoji="1" lang="zh-CN" altLang="en-US" sz="1800">
                <a:latin typeface="仿宋_GB2312" pitchFamily="49" charset="-122"/>
                <a:ea typeface="仿宋_GB2312" pitchFamily="49" charset="-122"/>
              </a:rPr>
              <a:t>代表基本级别，</a:t>
            </a:r>
            <a:r>
              <a:rPr kumimoji="1" lang="en-US" altLang="zh-CN" sz="1800">
                <a:latin typeface="仿宋_GB2312" pitchFamily="49" charset="-122"/>
                <a:ea typeface="仿宋_GB2312" pitchFamily="49" charset="-122"/>
              </a:rPr>
              <a:t>2</a:t>
            </a:r>
            <a:r>
              <a:rPr kumimoji="1" lang="zh-CN" altLang="en-US" sz="1800">
                <a:latin typeface="仿宋_GB2312" pitchFamily="49" charset="-122"/>
                <a:ea typeface="仿宋_GB2312" pitchFamily="49" charset="-122"/>
              </a:rPr>
              <a:t>代表最差级别</a:t>
            </a:r>
          </a:p>
        </p:txBody>
      </p:sp>
      <p:grpSp>
        <p:nvGrpSpPr>
          <p:cNvPr id="116748" name="Group 36"/>
          <p:cNvGrpSpPr>
            <a:grpSpLocks/>
          </p:cNvGrpSpPr>
          <p:nvPr/>
        </p:nvGrpSpPr>
        <p:grpSpPr bwMode="auto">
          <a:xfrm>
            <a:off x="1702906" y="5015946"/>
            <a:ext cx="7162800" cy="1524000"/>
            <a:chOff x="480" y="3072"/>
            <a:chExt cx="4512" cy="960"/>
          </a:xfrm>
        </p:grpSpPr>
        <p:sp>
          <p:nvSpPr>
            <p:cNvPr id="116749" name="AutoShape 22"/>
            <p:cNvSpPr>
              <a:spLocks noChangeArrowheads="1"/>
            </p:cNvSpPr>
            <p:nvPr/>
          </p:nvSpPr>
          <p:spPr bwMode="auto">
            <a:xfrm>
              <a:off x="480" y="3312"/>
              <a:ext cx="768" cy="240"/>
            </a:xfrm>
            <a:prstGeom prst="flowChartProcess">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甲方发送</a:t>
              </a:r>
            </a:p>
          </p:txBody>
        </p:sp>
        <p:sp>
          <p:nvSpPr>
            <p:cNvPr id="116750" name="Line 23"/>
            <p:cNvSpPr>
              <a:spLocks noChangeShapeType="1"/>
            </p:cNvSpPr>
            <p:nvPr/>
          </p:nvSpPr>
          <p:spPr bwMode="auto">
            <a:xfrm>
              <a:off x="1248" y="3432"/>
              <a:ext cx="384"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6751" name="AutoShape 24"/>
            <p:cNvSpPr>
              <a:spLocks noChangeArrowheads="1"/>
            </p:cNvSpPr>
            <p:nvPr/>
          </p:nvSpPr>
          <p:spPr bwMode="auto">
            <a:xfrm>
              <a:off x="1632" y="3312"/>
              <a:ext cx="768" cy="240"/>
            </a:xfrm>
            <a:prstGeom prst="flowChartProcess">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乙方接收</a:t>
              </a:r>
            </a:p>
          </p:txBody>
        </p:sp>
        <p:sp>
          <p:nvSpPr>
            <p:cNvPr id="116752" name="AutoShape 25"/>
            <p:cNvSpPr>
              <a:spLocks noChangeArrowheads="1"/>
            </p:cNvSpPr>
            <p:nvPr/>
          </p:nvSpPr>
          <p:spPr bwMode="auto">
            <a:xfrm>
              <a:off x="2736" y="3240"/>
              <a:ext cx="960" cy="384"/>
            </a:xfrm>
            <a:prstGeom prst="flowChartDecision">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是否错误</a:t>
              </a:r>
            </a:p>
          </p:txBody>
        </p:sp>
        <p:sp>
          <p:nvSpPr>
            <p:cNvPr id="116753" name="Line 26"/>
            <p:cNvSpPr>
              <a:spLocks noChangeShapeType="1"/>
            </p:cNvSpPr>
            <p:nvPr/>
          </p:nvSpPr>
          <p:spPr bwMode="auto">
            <a:xfrm>
              <a:off x="2400" y="3432"/>
              <a:ext cx="336"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6754" name="AutoShape 27"/>
            <p:cNvSpPr>
              <a:spLocks noChangeArrowheads="1"/>
            </p:cNvSpPr>
            <p:nvPr/>
          </p:nvSpPr>
          <p:spPr bwMode="auto">
            <a:xfrm>
              <a:off x="4080" y="3312"/>
              <a:ext cx="912" cy="240"/>
            </a:xfrm>
            <a:prstGeom prst="flowChartProcess">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乙方要求重发</a:t>
              </a:r>
            </a:p>
          </p:txBody>
        </p:sp>
        <p:sp>
          <p:nvSpPr>
            <p:cNvPr id="116755" name="Line 28"/>
            <p:cNvSpPr>
              <a:spLocks noChangeShapeType="1"/>
            </p:cNvSpPr>
            <p:nvPr/>
          </p:nvSpPr>
          <p:spPr bwMode="auto">
            <a:xfrm>
              <a:off x="3696" y="3440"/>
              <a:ext cx="384"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6756" name="Line 29"/>
            <p:cNvSpPr>
              <a:spLocks noChangeShapeType="1"/>
            </p:cNvSpPr>
            <p:nvPr/>
          </p:nvSpPr>
          <p:spPr bwMode="auto">
            <a:xfrm>
              <a:off x="1056" y="3072"/>
              <a:ext cx="326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6757" name="Line 30"/>
            <p:cNvSpPr>
              <a:spLocks noChangeShapeType="1"/>
            </p:cNvSpPr>
            <p:nvPr/>
          </p:nvSpPr>
          <p:spPr bwMode="auto">
            <a:xfrm>
              <a:off x="4320" y="3072"/>
              <a:ext cx="0" cy="2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6758" name="Line 31"/>
            <p:cNvSpPr>
              <a:spLocks noChangeShapeType="1"/>
            </p:cNvSpPr>
            <p:nvPr/>
          </p:nvSpPr>
          <p:spPr bwMode="auto">
            <a:xfrm>
              <a:off x="1056" y="3072"/>
              <a:ext cx="0" cy="24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6759" name="AutoShape 32"/>
            <p:cNvSpPr>
              <a:spLocks noChangeArrowheads="1"/>
            </p:cNvSpPr>
            <p:nvPr/>
          </p:nvSpPr>
          <p:spPr bwMode="auto">
            <a:xfrm>
              <a:off x="2688" y="3792"/>
              <a:ext cx="1104" cy="240"/>
            </a:xfrm>
            <a:prstGeom prst="flowChartProcess">
              <a:avLst/>
            </a:prstGeom>
            <a:solidFill>
              <a:schemeClr val="accent1"/>
            </a:solidFill>
            <a:ln w="12700">
              <a:solidFill>
                <a:schemeClr val="tx1"/>
              </a:solidFill>
              <a:miter lim="800000"/>
              <a:headEnd type="none" w="sm" len="sm"/>
              <a:tailEnd type="none" w="sm" len="sm"/>
            </a:ln>
          </p:spPr>
          <p:txBody>
            <a:bodyPr wrap="none" anchor="ctr"/>
            <a:lstStyle>
              <a:lvl1pPr defTabSz="7620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latin typeface="Times New Roman" panose="02020603050405020304" pitchFamily="18" charset="0"/>
                </a:rPr>
                <a:t>乙方要求继续发</a:t>
              </a:r>
            </a:p>
          </p:txBody>
        </p:sp>
        <p:sp>
          <p:nvSpPr>
            <p:cNvPr id="116760" name="Line 33"/>
            <p:cNvSpPr>
              <a:spLocks noChangeShapeType="1"/>
            </p:cNvSpPr>
            <p:nvPr/>
          </p:nvSpPr>
          <p:spPr bwMode="auto">
            <a:xfrm>
              <a:off x="3216" y="3648"/>
              <a:ext cx="0" cy="144"/>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6761" name="Line 34"/>
            <p:cNvSpPr>
              <a:spLocks noChangeShapeType="1"/>
            </p:cNvSpPr>
            <p:nvPr/>
          </p:nvSpPr>
          <p:spPr bwMode="auto">
            <a:xfrm>
              <a:off x="1008" y="3888"/>
              <a:ext cx="168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16762" name="Line 35"/>
            <p:cNvSpPr>
              <a:spLocks noChangeShapeType="1"/>
            </p:cNvSpPr>
            <p:nvPr/>
          </p:nvSpPr>
          <p:spPr bwMode="auto">
            <a:xfrm flipV="1">
              <a:off x="1008" y="3600"/>
              <a:ext cx="0" cy="288"/>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0683665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微软雅黑" panose="020B0503020204020204" pitchFamily="34" charset="-122"/>
                <a:sym typeface="+mn-ea"/>
              </a:rPr>
              <a:t>协议分层结构</a:t>
            </a:r>
            <a:r>
              <a:rPr kumimoji="1" lang="zh-CN" altLang="en-US" dirty="0">
                <a:sym typeface="+mn-ea"/>
              </a:rPr>
              <a:t>的必要性</a:t>
            </a:r>
            <a:endParaRPr kumimoji="1" lang="zh-CN" altLang="en-US" dirty="0"/>
          </a:p>
        </p:txBody>
      </p:sp>
      <p:sp>
        <p:nvSpPr>
          <p:cNvPr id="3" name="内容占位符 2"/>
          <p:cNvSpPr>
            <a:spLocks noGrp="1"/>
          </p:cNvSpPr>
          <p:nvPr>
            <p:ph idx="1"/>
          </p:nvPr>
        </p:nvSpPr>
        <p:spPr>
          <a:xfrm>
            <a:off x="838200" y="1496811"/>
            <a:ext cx="4598096" cy="4859539"/>
          </a:xfrm>
          <a:ln w="6350" cmpd="sng">
            <a:solidFill>
              <a:srgbClr val="5B307E"/>
            </a:solidFill>
            <a:prstDash val="solid"/>
          </a:ln>
        </p:spPr>
        <p:txBody>
          <a:bodyPr>
            <a:normAutofit fontScale="92500" lnSpcReduction="10000"/>
          </a:bodyPr>
          <a:lstStyle/>
          <a:p>
            <a:pPr marL="311150" indent="-311150">
              <a:lnSpc>
                <a:spcPct val="110000"/>
              </a:lnSpc>
            </a:pPr>
            <a:r>
              <a:rPr kumimoji="1" lang="zh-CN" altLang="en-US" dirty="0"/>
              <a:t>计算机网络的复杂与异构</a:t>
            </a:r>
          </a:p>
          <a:p>
            <a:pPr lvl="1">
              <a:lnSpc>
                <a:spcPct val="110000"/>
              </a:lnSpc>
            </a:pPr>
            <a:r>
              <a:rPr kumimoji="1" lang="zh-CN" altLang="en-US" dirty="0"/>
              <a:t>介质：光纤、铜缆、空气</a:t>
            </a:r>
            <a:r>
              <a:rPr kumimoji="1" lang="en-US" altLang="zh-CN" dirty="0"/>
              <a:t>...</a:t>
            </a:r>
            <a:endParaRPr kumimoji="1" lang="zh-CN" altLang="en-US" dirty="0"/>
          </a:p>
          <a:p>
            <a:pPr lvl="1">
              <a:lnSpc>
                <a:spcPct val="110000"/>
              </a:lnSpc>
            </a:pPr>
            <a:r>
              <a:rPr kumimoji="1" lang="zh-CN" altLang="en-US" dirty="0"/>
              <a:t>接入：有线、</a:t>
            </a:r>
            <a:r>
              <a:rPr kumimoji="1" lang="en-US" altLang="zh-CN" dirty="0"/>
              <a:t>WLAN</a:t>
            </a:r>
            <a:r>
              <a:rPr kumimoji="1" lang="zh-CN" altLang="en-US" dirty="0"/>
              <a:t>、移动数据网络、蓝牙</a:t>
            </a:r>
            <a:r>
              <a:rPr kumimoji="1" lang="en-US" altLang="zh-CN" dirty="0"/>
              <a:t>...</a:t>
            </a:r>
            <a:endParaRPr kumimoji="1" lang="zh-CN" altLang="en-US" dirty="0"/>
          </a:p>
          <a:p>
            <a:pPr lvl="1">
              <a:lnSpc>
                <a:spcPct val="110000"/>
              </a:lnSpc>
            </a:pPr>
            <a:r>
              <a:rPr kumimoji="1" lang="zh-CN" altLang="en-US" dirty="0"/>
              <a:t>应用：无人驾驶、万物互联、短视频、邮件</a:t>
            </a:r>
            <a:r>
              <a:rPr kumimoji="1" lang="en-US" altLang="zh-CN" dirty="0"/>
              <a:t>...</a:t>
            </a:r>
            <a:endParaRPr kumimoji="1" lang="zh-CN" altLang="en-US" dirty="0"/>
          </a:p>
          <a:p>
            <a:pPr marL="311150" indent="-311150">
              <a:lnSpc>
                <a:spcPct val="110000"/>
              </a:lnSpc>
            </a:pPr>
            <a:r>
              <a:rPr kumimoji="1" lang="zh-CN" altLang="en-US" dirty="0"/>
              <a:t>高速更新迭代</a:t>
            </a:r>
            <a:endParaRPr kumimoji="1" lang="en-US" altLang="zh-CN" sz="2400" dirty="0"/>
          </a:p>
          <a:p>
            <a:pPr lvl="1">
              <a:lnSpc>
                <a:spcPct val="110000"/>
              </a:lnSpc>
            </a:pPr>
            <a:r>
              <a:rPr kumimoji="1" lang="zh-CN" altLang="en-US" dirty="0"/>
              <a:t>大哥大</a:t>
            </a:r>
            <a:r>
              <a:rPr kumimoji="1" lang="en-US" altLang="zh-CN" dirty="0"/>
              <a:t>1G</a:t>
            </a:r>
            <a:r>
              <a:rPr kumimoji="1" lang="zh-CN" altLang="en-US" dirty="0"/>
              <a:t>（模拟）、</a:t>
            </a:r>
            <a:r>
              <a:rPr kumimoji="1" lang="en-US" altLang="zh-CN" dirty="0"/>
              <a:t>2G(</a:t>
            </a:r>
            <a:r>
              <a:rPr kumimoji="1" lang="zh-CN" altLang="en-US" dirty="0"/>
              <a:t>数字</a:t>
            </a:r>
            <a:r>
              <a:rPr kumimoji="1" lang="en-US" altLang="zh-CN" dirty="0"/>
              <a:t>)</a:t>
            </a:r>
            <a:r>
              <a:rPr kumimoji="1" lang="zh-CN" altLang="en-US" dirty="0"/>
              <a:t>、</a:t>
            </a:r>
            <a:r>
              <a:rPr kumimoji="1" lang="en-US" altLang="zh-CN" dirty="0"/>
              <a:t>3G</a:t>
            </a:r>
            <a:r>
              <a:rPr kumimoji="1" lang="zh-CN" altLang="en-US" dirty="0"/>
              <a:t>、</a:t>
            </a:r>
            <a:r>
              <a:rPr kumimoji="1" lang="en-US" altLang="zh-CN" dirty="0"/>
              <a:t>4G</a:t>
            </a:r>
            <a:r>
              <a:rPr kumimoji="1" lang="zh-CN" altLang="en-US" dirty="0"/>
              <a:t>、</a:t>
            </a:r>
            <a:r>
              <a:rPr kumimoji="1" lang="en-US" altLang="zh-CN" dirty="0"/>
              <a:t>5G</a:t>
            </a:r>
          </a:p>
          <a:p>
            <a:pPr lvl="1">
              <a:lnSpc>
                <a:spcPct val="110000"/>
              </a:lnSpc>
            </a:pPr>
            <a:r>
              <a:rPr kumimoji="1" lang="en-US" altLang="zh-CN" dirty="0"/>
              <a:t>IEEE802.3</a:t>
            </a:r>
            <a:r>
              <a:rPr kumimoji="1" lang="zh-CN" altLang="en-US" dirty="0"/>
              <a:t>：</a:t>
            </a:r>
            <a:r>
              <a:rPr kumimoji="1" lang="en-US" altLang="zh-CN" dirty="0"/>
              <a:t>2020</a:t>
            </a:r>
            <a:r>
              <a:rPr kumimoji="1" lang="zh-CN" altLang="en-US" dirty="0"/>
              <a:t>年推出</a:t>
            </a:r>
            <a:r>
              <a:rPr kumimoji="1" lang="en-US" altLang="zh-CN" dirty="0"/>
              <a:t>4</a:t>
            </a:r>
            <a:r>
              <a:rPr kumimoji="1" lang="zh-CN" altLang="en-US" dirty="0"/>
              <a:t>个版本</a:t>
            </a:r>
            <a:endParaRPr kumimoji="1" lang="en-US" altLang="zh-CN" dirty="0"/>
          </a:p>
          <a:p>
            <a:pPr lvl="1">
              <a:lnSpc>
                <a:spcPct val="110000"/>
              </a:lnSpc>
            </a:pPr>
            <a:r>
              <a:rPr kumimoji="1" lang="en-US" altLang="zh-CN" dirty="0"/>
              <a:t>...</a:t>
            </a:r>
            <a:endParaRPr kumimoji="1" lang="zh-CN" altLang="en-US" dirty="0"/>
          </a:p>
        </p:txBody>
      </p:sp>
      <p:sp>
        <p:nvSpPr>
          <p:cNvPr id="6" name="灯片编号占位符 5">
            <a:extLst>
              <a:ext uri="{FF2B5EF4-FFF2-40B4-BE49-F238E27FC236}">
                <a16:creationId xmlns:a16="http://schemas.microsoft.com/office/drawing/2014/main" id="{9F6D6222-7DA6-FB43-9EB0-98C23C69FDF4}"/>
              </a:ext>
            </a:extLst>
          </p:cNvPr>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
        <p:nvSpPr>
          <p:cNvPr id="5" name="燕尾形箭头 4"/>
          <p:cNvSpPr/>
          <p:nvPr/>
        </p:nvSpPr>
        <p:spPr>
          <a:xfrm>
            <a:off x="5162352" y="3424295"/>
            <a:ext cx="973455" cy="1004570"/>
          </a:xfrm>
          <a:prstGeom prst="notched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 name="内容占位符 2"/>
          <p:cNvSpPr>
            <a:spLocks noGrp="1"/>
          </p:cNvSpPr>
          <p:nvPr/>
        </p:nvSpPr>
        <p:spPr>
          <a:xfrm>
            <a:off x="6270100" y="3214256"/>
            <a:ext cx="1805940" cy="1353412"/>
          </a:xfrm>
          <a:prstGeom prst="rect">
            <a:avLst/>
          </a:prstGeom>
          <a:ln w="6350" cmpd="sng">
            <a:solidFill>
              <a:srgbClr val="5B307E"/>
            </a:solidFill>
            <a:prstDash val="solid"/>
          </a:ln>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17500" marR="0" lvl="0" indent="-306388" algn="l" defTabSz="914400" rtl="0" eaLnBrk="1" fontAlgn="auto" latinLnBrk="0" hangingPunct="1">
              <a:spcBef>
                <a:spcPts val="600"/>
              </a:spcBef>
              <a:spcAft>
                <a:spcPts val="0"/>
              </a:spcAft>
              <a:buClrTx/>
              <a:buSzTx/>
              <a:buFont typeface="Wingdings" panose="05000000000000000000" pitchFamily="2" charset="2"/>
              <a:buChar char="Ø"/>
              <a:defRPr/>
            </a:pPr>
            <a:r>
              <a:rPr kumimoji="1" lang="zh-CN" altLang="en-US" sz="240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分层结构</a:t>
            </a:r>
          </a:p>
          <a:p>
            <a:pPr marL="317500" marR="0" lvl="0" indent="-306388" algn="l" defTabSz="914400" rtl="0" eaLnBrk="1" fontAlgn="auto" latinLnBrk="0" hangingPunct="1">
              <a:spcBef>
                <a:spcPts val="600"/>
              </a:spcBef>
              <a:spcAft>
                <a:spcPts val="0"/>
              </a:spcAft>
              <a:buClrTx/>
              <a:buSzTx/>
              <a:buFont typeface="Wingdings" panose="05000000000000000000" pitchFamily="2" charset="2"/>
              <a:buChar char="Ø"/>
              <a:defRPr/>
            </a:pPr>
            <a:r>
              <a:rPr kumimoji="1" lang="zh-CN" altLang="en-US" sz="240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统一标准</a:t>
            </a:r>
          </a:p>
          <a:p>
            <a:pPr marL="317500" marR="0" lvl="0" indent="-306388" algn="l" defTabSz="914400" rtl="0" eaLnBrk="1" fontAlgn="auto" latinLnBrk="0" hangingPunct="1">
              <a:spcBef>
                <a:spcPts val="600"/>
              </a:spcBef>
              <a:spcAft>
                <a:spcPts val="0"/>
              </a:spcAft>
              <a:buClrTx/>
              <a:buSzTx/>
              <a:buFont typeface="Wingdings" panose="05000000000000000000" pitchFamily="2" charset="2"/>
              <a:buChar char="Ø"/>
              <a:defRPr/>
            </a:pPr>
            <a:r>
              <a:rPr kumimoji="1" lang="zh-CN" altLang="en-US" sz="240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模块独立</a:t>
            </a:r>
          </a:p>
        </p:txBody>
      </p:sp>
      <p:sp>
        <p:nvSpPr>
          <p:cNvPr id="8" name="左大括号 7"/>
          <p:cNvSpPr/>
          <p:nvPr/>
        </p:nvSpPr>
        <p:spPr>
          <a:xfrm>
            <a:off x="8076040" y="3004184"/>
            <a:ext cx="441960" cy="1772920"/>
          </a:xfrm>
          <a:prstGeom prst="leftBrace">
            <a:avLst>
              <a:gd name="adj1" fmla="val 60488"/>
              <a:gd name="adj2" fmla="val 50000"/>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9" name="内容占位符 2"/>
          <p:cNvSpPr>
            <a:spLocks noGrp="1"/>
          </p:cNvSpPr>
          <p:nvPr/>
        </p:nvSpPr>
        <p:spPr>
          <a:xfrm>
            <a:off x="8344626" y="2987040"/>
            <a:ext cx="3507287" cy="1929130"/>
          </a:xfrm>
          <a:prstGeom prst="rect">
            <a:avLst/>
          </a:prstGeom>
          <a:ln w="6350" cmpd="sng">
            <a:noFill/>
            <a:prstDash val="solid"/>
          </a:ln>
        </p:spPr>
        <p:txBody>
          <a:bodyPr vert="horz" lIns="91440" tIns="45720" rIns="91440" bIns="45720" rtlCol="0">
            <a:normAutofit fontScale="92500" lnSpcReduction="1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明晰</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n-ea"/>
              </a:rPr>
              <a:t>简化，便于分析学习</a:t>
            </a:r>
          </a:p>
          <a:p>
            <a:pPr marL="228600" marR="0" lvl="0" indent="-228600" algn="l" defTabSz="9144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各层独立，加速技术演进</a:t>
            </a:r>
          </a:p>
          <a:p>
            <a:pPr marL="228600" marR="0" lvl="0" indent="-228600" algn="l" defTabSz="914400" rtl="0" eaLnBrk="1" fontAlgn="auto" latinLnBrk="0" hangingPunct="1">
              <a:lnSpc>
                <a:spcPct val="130000"/>
              </a:lnSpc>
              <a:spcBef>
                <a:spcPts val="600"/>
              </a:spcBef>
              <a:spcAft>
                <a:spcPts val="0"/>
              </a:spcAft>
              <a:buClrTx/>
              <a:buSzTx/>
              <a:buFont typeface="Wingdings" panose="05000000000000000000" pitchFamily="2" charset="2"/>
              <a:buChar char="Ø"/>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统一接口，确保技术互通（interoperable）</a:t>
            </a:r>
          </a:p>
        </p:txBody>
      </p:sp>
      <p:sp>
        <p:nvSpPr>
          <p:cNvPr id="11" name="内容占位符 2">
            <a:extLst>
              <a:ext uri="{FF2B5EF4-FFF2-40B4-BE49-F238E27FC236}">
                <a16:creationId xmlns:a16="http://schemas.microsoft.com/office/drawing/2014/main" id="{DA3FA1E6-7C01-DD4F-BC7B-67617D06E067}"/>
              </a:ext>
            </a:extLst>
          </p:cNvPr>
          <p:cNvSpPr>
            <a:spLocks noGrp="1"/>
          </p:cNvSpPr>
          <p:nvPr/>
        </p:nvSpPr>
        <p:spPr>
          <a:xfrm>
            <a:off x="6246031" y="1496811"/>
            <a:ext cx="5605882" cy="1171458"/>
          </a:xfrm>
          <a:prstGeom prst="rect">
            <a:avLst/>
          </a:prstGeom>
          <a:ln w="6350" cmpd="sng">
            <a:solidFill>
              <a:srgbClr val="C00000"/>
            </a:solidFill>
            <a:prstDash val="solid"/>
          </a:ln>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0" indent="0">
              <a:lnSpc>
                <a:spcPct val="130000"/>
              </a:lnSpc>
              <a:buNone/>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开发个游戏直播软件，是否需要针对</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3G/</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 </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4G/5G</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还是</a:t>
            </a:r>
            <a:r>
              <a:rPr kumimoji="1" lang="en-US" altLang="zh-CN" sz="2400" dirty="0" err="1">
                <a:solidFill>
                  <a:prstClr val="black"/>
                </a:solidFill>
              </a:rPr>
              <a:t>WiFi</a:t>
            </a:r>
            <a:r>
              <a:rPr kumimoji="1" lang="zh-CN" altLang="en-US" sz="2400" dirty="0">
                <a:solidFill>
                  <a:prstClr val="black"/>
                </a:solidFill>
              </a:rPr>
              <a:t>单独开发</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p>
        </p:txBody>
      </p:sp>
      <p:sp>
        <p:nvSpPr>
          <p:cNvPr id="12" name="内容占位符 2">
            <a:extLst>
              <a:ext uri="{FF2B5EF4-FFF2-40B4-BE49-F238E27FC236}">
                <a16:creationId xmlns:a16="http://schemas.microsoft.com/office/drawing/2014/main" id="{304C428F-A6B0-5C4B-B062-1CCE4E892A46}"/>
              </a:ext>
            </a:extLst>
          </p:cNvPr>
          <p:cNvSpPr>
            <a:spLocks noGrp="1"/>
          </p:cNvSpPr>
          <p:nvPr/>
        </p:nvSpPr>
        <p:spPr>
          <a:xfrm>
            <a:off x="6222089" y="5184892"/>
            <a:ext cx="5605882" cy="1171458"/>
          </a:xfrm>
          <a:prstGeom prst="rect">
            <a:avLst/>
          </a:prstGeom>
          <a:ln w="6350" cmpd="sng">
            <a:solidFill>
              <a:srgbClr val="C00000"/>
            </a:solidFill>
            <a:prstDash val="solid"/>
          </a:ln>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0" indent="0">
              <a:lnSpc>
                <a:spcPct val="130000"/>
              </a:lnSpc>
              <a:buNone/>
              <a:defRPr/>
            </a:pPr>
            <a:r>
              <a:rPr kumimoji="1" lang="en-US" altLang="zh-CN" sz="2400" b="0" i="0" u="none" strike="noStrike" kern="1200" cap="none" spc="0" normalizeH="0" baseline="0" noProof="0" dirty="0" err="1">
                <a:ln>
                  <a:noFill/>
                </a:ln>
                <a:solidFill>
                  <a:prstClr val="black"/>
                </a:solidFill>
                <a:effectLst/>
                <a:uLnTx/>
                <a:uFillTx/>
                <a:latin typeface="Microsoft YaHei" panose="020B0503020204020204" pitchFamily="34" charset="-122"/>
                <a:ea typeface="Microsoft YaHei" panose="020B0503020204020204" pitchFamily="34" charset="-122"/>
                <a:cs typeface="+mn-cs"/>
              </a:rPr>
              <a:t>WiFi</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发展为新版本</a:t>
            </a:r>
            <a:r>
              <a:rPr kumimoji="1" lang="en-US" altLang="zh-CN" sz="2400" dirty="0">
                <a:solidFill>
                  <a:prstClr val="black"/>
                </a:solidFill>
              </a:rPr>
              <a:t>WiFi6</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，那么</a:t>
            </a:r>
            <a:r>
              <a:rPr kumimoji="1" lang="en-US" altLang="zh-CN" sz="2400" dirty="0">
                <a:solidFill>
                  <a:prstClr val="black"/>
                </a:solidFill>
              </a:rPr>
              <a:t>WiFi6</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是否</a:t>
            </a:r>
            <a:r>
              <a:rPr kumimoji="1" lang="zh-CN" altLang="en-US" sz="2400" dirty="0">
                <a:solidFill>
                  <a:prstClr val="black"/>
                </a:solidFill>
              </a:rPr>
              <a:t>要对</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已有直播、微信或支付宝做适配？</a:t>
            </a:r>
          </a:p>
        </p:txBody>
      </p:sp>
      <p:sp>
        <p:nvSpPr>
          <p:cNvPr id="13" name="燕尾形箭头 12">
            <a:extLst>
              <a:ext uri="{FF2B5EF4-FFF2-40B4-BE49-F238E27FC236}">
                <a16:creationId xmlns:a16="http://schemas.microsoft.com/office/drawing/2014/main" id="{B5006751-0EB2-454F-A60B-DF4075BA5C5D}"/>
              </a:ext>
            </a:extLst>
          </p:cNvPr>
          <p:cNvSpPr/>
          <p:nvPr/>
        </p:nvSpPr>
        <p:spPr>
          <a:xfrm rot="5400000">
            <a:off x="6901150" y="2549548"/>
            <a:ext cx="441960" cy="833965"/>
          </a:xfrm>
          <a:prstGeom prst="notched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4" name="燕尾形箭头 13">
            <a:extLst>
              <a:ext uri="{FF2B5EF4-FFF2-40B4-BE49-F238E27FC236}">
                <a16:creationId xmlns:a16="http://schemas.microsoft.com/office/drawing/2014/main" id="{00AA3C61-EB09-8744-AEE5-A40A2DDAF41D}"/>
              </a:ext>
            </a:extLst>
          </p:cNvPr>
          <p:cNvSpPr/>
          <p:nvPr/>
        </p:nvSpPr>
        <p:spPr>
          <a:xfrm rot="16200000">
            <a:off x="6901150" y="4457046"/>
            <a:ext cx="441960" cy="833965"/>
          </a:xfrm>
          <a:prstGeom prst="notchedRight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5" name="文本框 14">
            <a:extLst>
              <a:ext uri="{FF2B5EF4-FFF2-40B4-BE49-F238E27FC236}">
                <a16:creationId xmlns:a16="http://schemas.microsoft.com/office/drawing/2014/main" id="{C488A221-6C31-8A41-B4EC-459644B98DA7}"/>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spTree>
    <p:extLst>
      <p:ext uri="{BB962C8B-B14F-4D97-AF65-F5344CB8AC3E}">
        <p14:creationId xmlns:p14="http://schemas.microsoft.com/office/powerpoint/2010/main" val="253999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p:bldP spid="11" grpId="0" animBg="1"/>
      <p:bldP spid="12" grpId="0" animBg="1"/>
      <p:bldP spid="13"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微软雅黑" panose="020B0503020204020204" pitchFamily="34" charset="-122"/>
                <a:sym typeface="+mn-ea"/>
              </a:rPr>
              <a:t>分层结构示例</a:t>
            </a:r>
            <a:endParaRPr kumimoji="1" lang="zh-CN" altLang="en-US" dirty="0"/>
          </a:p>
        </p:txBody>
      </p:sp>
      <p:sp>
        <p:nvSpPr>
          <p:cNvPr id="3" name="内容占位符 2"/>
          <p:cNvSpPr>
            <a:spLocks noGrp="1"/>
          </p:cNvSpPr>
          <p:nvPr>
            <p:ph idx="1"/>
          </p:nvPr>
        </p:nvSpPr>
        <p:spPr>
          <a:xfrm>
            <a:off x="838200" y="1351915"/>
            <a:ext cx="5459095" cy="785495"/>
          </a:xfrm>
        </p:spPr>
        <p:txBody>
          <a:bodyPr>
            <a:normAutofit/>
          </a:bodyPr>
          <a:lstStyle/>
          <a:p>
            <a:pPr marL="0" indent="0">
              <a:lnSpc>
                <a:spcPct val="130000"/>
              </a:lnSpc>
              <a:buNone/>
            </a:pPr>
            <a:r>
              <a:rPr kumimoji="1" lang="zh-CN" altLang="en-US" dirty="0"/>
              <a:t>互联网大厂</a:t>
            </a:r>
            <a:r>
              <a:rPr kumimoji="1" lang="en-US" altLang="zh-CN" dirty="0"/>
              <a:t>X</a:t>
            </a:r>
            <a:r>
              <a:rPr kumimoji="1" lang="zh-CN" altLang="en-US" dirty="0"/>
              <a:t>讯与</a:t>
            </a:r>
            <a:r>
              <a:rPr kumimoji="1" lang="en-US" altLang="zh-CN" dirty="0"/>
              <a:t>X</a:t>
            </a:r>
            <a:r>
              <a:rPr kumimoji="1" lang="zh-CN" altLang="en-US" dirty="0"/>
              <a:t>东的合作</a:t>
            </a:r>
          </a:p>
        </p:txBody>
      </p:sp>
      <p:sp>
        <p:nvSpPr>
          <p:cNvPr id="5" name="灯片编号占位符 4">
            <a:extLst>
              <a:ext uri="{FF2B5EF4-FFF2-40B4-BE49-F238E27FC236}">
                <a16:creationId xmlns:a16="http://schemas.microsoft.com/office/drawing/2014/main" id="{85EBAF40-D37E-5C48-86A2-0D71C8004B12}"/>
              </a:ext>
            </a:extLst>
          </p:cNvPr>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sp>
        <p:nvSpPr>
          <p:cNvPr id="7" name="内容占位符 2"/>
          <p:cNvSpPr>
            <a:spLocks noGrp="1"/>
          </p:cNvSpPr>
          <p:nvPr/>
        </p:nvSpPr>
        <p:spPr>
          <a:xfrm>
            <a:off x="961708" y="2032569"/>
            <a:ext cx="5351145" cy="4459353"/>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0363" marR="0" lvl="0" indent="-360363" algn="l" defTabSz="914400" rtl="0" eaLnBrk="1" fontAlgn="auto" latinLnBrk="0" hangingPunct="1">
              <a:lnSpc>
                <a:spcPct val="120000"/>
              </a:lnSpc>
              <a:spcBef>
                <a:spcPts val="600"/>
              </a:spcBef>
              <a:spcAft>
                <a:spcPts val="0"/>
              </a:spcAft>
              <a:buClrTx/>
              <a:buSzTx/>
              <a:buFont typeface="Wingdings" panose="05000000000000000000" pitchFamily="2" charset="2"/>
              <a:buChar char="Ø"/>
              <a:defRPr/>
            </a:pPr>
            <a:r>
              <a:rPr kumimoji="1"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层级组织</a:t>
            </a:r>
            <a:r>
              <a:rPr kumimoji="1" lang="zh-CN" altLang="en-US"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（分层）</a:t>
            </a:r>
            <a:endParaRPr kumimoji="1"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90204" pitchFamily="34" charset="0"/>
              <a:buChar char="•"/>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总裁</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总监</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经理</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码农</a:t>
            </a:r>
          </a:p>
          <a:p>
            <a:pPr marL="360363" marR="0" lvl="0" indent="-360363" algn="l" defTabSz="914400" rtl="0" eaLnBrk="1" fontAlgn="auto" latinLnBrk="0" hangingPunct="1">
              <a:lnSpc>
                <a:spcPct val="120000"/>
              </a:lnSpc>
              <a:spcBef>
                <a:spcPts val="600"/>
              </a:spcBef>
              <a:spcAft>
                <a:spcPts val="0"/>
              </a:spcAft>
              <a:buClrTx/>
              <a:buSzTx/>
              <a:buFont typeface="Wingdings" panose="05000000000000000000" pitchFamily="2" charset="2"/>
              <a:buChar char="Ø"/>
              <a:defRPr/>
            </a:pPr>
            <a:r>
              <a:rPr kumimoji="1" lang="zh-CN" altLang="en-US" dirty="0">
                <a:solidFill>
                  <a:prstClr val="black"/>
                </a:solidFill>
              </a:rPr>
              <a:t>内部</a:t>
            </a:r>
            <a:r>
              <a:rPr kumimoji="1"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独立</a:t>
            </a:r>
            <a:r>
              <a:rPr kumimoji="1" lang="zh-CN" altLang="en-US"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（模块）</a:t>
            </a:r>
            <a:endParaRPr kumimoji="1"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90204" pitchFamily="34" charset="0"/>
              <a:buChar char="•"/>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我用</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Python; </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我用</a:t>
            </a: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GO</a:t>
            </a:r>
          </a:p>
          <a:p>
            <a:pPr marL="685800" marR="0" lvl="1" indent="-228600" algn="l" defTabSz="914400" rtl="0" eaLnBrk="1" fontAlgn="auto" latinLnBrk="0" hangingPunct="1">
              <a:lnSpc>
                <a:spcPct val="120000"/>
              </a:lnSpc>
              <a:spcBef>
                <a:spcPts val="600"/>
              </a:spcBef>
              <a:spcAft>
                <a:spcPts val="0"/>
              </a:spcAft>
              <a:buClrTx/>
              <a:buSzTx/>
              <a:buFont typeface="Arial" panose="020B0604020202090204" pitchFamily="34" charset="0"/>
              <a:buChar char="•"/>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铁打的项目，流水的码农</a:t>
            </a:r>
          </a:p>
          <a:p>
            <a:pPr marL="360363" marR="0" lvl="0" indent="-360363" algn="l" defTabSz="914400" rtl="0" eaLnBrk="1" fontAlgn="auto" latinLnBrk="0" hangingPunct="1">
              <a:lnSpc>
                <a:spcPct val="120000"/>
              </a:lnSpc>
              <a:spcBef>
                <a:spcPts val="600"/>
              </a:spcBef>
              <a:spcAft>
                <a:spcPts val="0"/>
              </a:spcAft>
              <a:buClrTx/>
              <a:buSzTx/>
              <a:buFont typeface="Wingdings" panose="05000000000000000000" pitchFamily="2" charset="2"/>
              <a:buChar char="Ø"/>
              <a:defRPr/>
            </a:pPr>
            <a:r>
              <a:rPr kumimoji="1" lang="zh-CN" altLang="en-US" dirty="0">
                <a:solidFill>
                  <a:prstClr val="black"/>
                </a:solidFill>
              </a:rPr>
              <a:t>沟通</a:t>
            </a:r>
            <a:r>
              <a:rPr kumimoji="1"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协作</a:t>
            </a:r>
            <a:r>
              <a:rPr kumimoji="1" lang="zh-CN" altLang="en-US"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（标准）</a:t>
            </a:r>
            <a:endParaRPr kumimoji="1"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20000"/>
              </a:lnSpc>
              <a:spcBef>
                <a:spcPts val="600"/>
              </a:spcBef>
              <a:spcAft>
                <a:spcPts val="0"/>
              </a:spcAft>
              <a:buClrTx/>
              <a:buSzTx/>
              <a:buFont typeface="Arial" panose="020B0604020202090204" pitchFamily="34" charset="0"/>
              <a:buChar char="•"/>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合作协议、项目文档、接口定义</a:t>
            </a:r>
          </a:p>
          <a:p>
            <a:pPr marL="685800" marR="0" lvl="1" indent="-228600" algn="l" defTabSz="914400" rtl="0" eaLnBrk="1" fontAlgn="auto" latinLnBrk="0" hangingPunct="1">
              <a:lnSpc>
                <a:spcPct val="120000"/>
              </a:lnSpc>
              <a:spcBef>
                <a:spcPts val="600"/>
              </a:spcBef>
              <a:spcAft>
                <a:spcPts val="0"/>
              </a:spcAft>
              <a:buClrTx/>
              <a:buSzTx/>
              <a:buFont typeface="Arial" panose="020B0604020202090204" pitchFamily="34" charset="0"/>
              <a:buChar char="•"/>
              <a:tabLst/>
              <a:defRPr/>
            </a:pP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日报、周报、月报</a:t>
            </a:r>
          </a:p>
        </p:txBody>
      </p:sp>
      <p:pic>
        <p:nvPicPr>
          <p:cNvPr id="6" name="图片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90380" y="1604962"/>
            <a:ext cx="842645" cy="914400"/>
          </a:xfrm>
          <a:prstGeom prst="rect">
            <a:avLst/>
          </a:prstGeom>
        </p:spPr>
      </p:pic>
      <p:sp>
        <p:nvSpPr>
          <p:cNvPr id="8" name="文本框 7"/>
          <p:cNvSpPr txBox="1"/>
          <p:nvPr/>
        </p:nvSpPr>
        <p:spPr>
          <a:xfrm>
            <a:off x="10467975" y="188817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rPr>
              <a:t>总裁</a:t>
            </a:r>
          </a:p>
        </p:txBody>
      </p:sp>
      <p:pic>
        <p:nvPicPr>
          <p:cNvPr id="9" name="图片 8"/>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8950" y="1679257"/>
            <a:ext cx="680720" cy="785495"/>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877685" y="2916872"/>
            <a:ext cx="603250" cy="882015"/>
          </a:xfrm>
          <a:prstGeom prst="rect">
            <a:avLst/>
          </a:prstGeom>
        </p:spPr>
      </p:pic>
      <p:pic>
        <p:nvPicPr>
          <p:cNvPr id="11" name="图片 10"/>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527540" y="2911157"/>
            <a:ext cx="568325" cy="855980"/>
          </a:xfrm>
          <a:prstGeom prst="rect">
            <a:avLst/>
          </a:prstGeom>
        </p:spPr>
      </p:pic>
      <p:pic>
        <p:nvPicPr>
          <p:cNvPr id="12" name="图片 11"/>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877685" y="5376227"/>
            <a:ext cx="768350" cy="728980"/>
          </a:xfrm>
          <a:prstGeom prst="rect">
            <a:avLst/>
          </a:prstGeom>
        </p:spPr>
      </p:pic>
      <p:pic>
        <p:nvPicPr>
          <p:cNvPr id="13" name="图片 12"/>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484995" y="5343842"/>
            <a:ext cx="653415" cy="823595"/>
          </a:xfrm>
          <a:prstGeom prst="rect">
            <a:avLst/>
          </a:prstGeom>
        </p:spPr>
      </p:pic>
      <p:pic>
        <p:nvPicPr>
          <p:cNvPr id="14" name="图片 13"/>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854825" y="4323397"/>
            <a:ext cx="814070" cy="544195"/>
          </a:xfrm>
          <a:prstGeom prst="rect">
            <a:avLst/>
          </a:prstGeom>
        </p:spPr>
      </p:pic>
      <p:pic>
        <p:nvPicPr>
          <p:cNvPr id="15" name="图片 14"/>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9535160" y="4191952"/>
            <a:ext cx="553085" cy="770890"/>
          </a:xfrm>
          <a:prstGeom prst="rect">
            <a:avLst/>
          </a:prstGeom>
        </p:spPr>
      </p:pic>
      <p:sp>
        <p:nvSpPr>
          <p:cNvPr id="16" name="文本框 15"/>
          <p:cNvSpPr txBox="1"/>
          <p:nvPr/>
        </p:nvSpPr>
        <p:spPr>
          <a:xfrm>
            <a:off x="10467975" y="317341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rPr>
              <a:t>总监</a:t>
            </a:r>
          </a:p>
        </p:txBody>
      </p:sp>
      <p:sp>
        <p:nvSpPr>
          <p:cNvPr id="17" name="文本框 16"/>
          <p:cNvSpPr txBox="1"/>
          <p:nvPr/>
        </p:nvSpPr>
        <p:spPr>
          <a:xfrm>
            <a:off x="10467975" y="440912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经理</a:t>
            </a:r>
          </a:p>
        </p:txBody>
      </p:sp>
      <p:sp>
        <p:nvSpPr>
          <p:cNvPr id="18" name="文本框 17"/>
          <p:cNvSpPr txBox="1"/>
          <p:nvPr/>
        </p:nvSpPr>
        <p:spPr>
          <a:xfrm>
            <a:off x="10467975" y="5519102"/>
            <a:ext cx="1291590"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rPr>
              <a:t>码农</a:t>
            </a:r>
          </a:p>
        </p:txBody>
      </p:sp>
      <p:cxnSp>
        <p:nvCxnSpPr>
          <p:cNvPr id="19" name="直接箭头连接符 18"/>
          <p:cNvCxnSpPr>
            <a:cxnSpLocks/>
          </p:cNvCxnSpPr>
          <p:nvPr/>
        </p:nvCxnSpPr>
        <p:spPr>
          <a:xfrm flipV="1">
            <a:off x="7581582" y="2062162"/>
            <a:ext cx="1868170" cy="1016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7869872" y="2256472"/>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rPr>
              <a:t>战略合作</a:t>
            </a:r>
          </a:p>
        </p:txBody>
      </p:sp>
      <p:cxnSp>
        <p:nvCxnSpPr>
          <p:cNvPr id="21" name="直接箭头连接符 20"/>
          <p:cNvCxnSpPr>
            <a:cxnSpLocks/>
          </p:cNvCxnSpPr>
          <p:nvPr/>
        </p:nvCxnSpPr>
        <p:spPr>
          <a:xfrm flipV="1">
            <a:off x="7465377" y="3339147"/>
            <a:ext cx="2100580" cy="1905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869872" y="3383597"/>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rPr>
              <a:t>确定项目</a:t>
            </a:r>
          </a:p>
        </p:txBody>
      </p:sp>
      <p:cxnSp>
        <p:nvCxnSpPr>
          <p:cNvPr id="23" name="直接箭头连接符 22"/>
          <p:cNvCxnSpPr>
            <a:cxnSpLocks/>
          </p:cNvCxnSpPr>
          <p:nvPr/>
        </p:nvCxnSpPr>
        <p:spPr>
          <a:xfrm>
            <a:off x="7559357" y="4595812"/>
            <a:ext cx="1912620" cy="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869872" y="4634547"/>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sym typeface="+mn-ea"/>
              </a:rPr>
              <a:t>细化</a:t>
            </a: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rPr>
              <a:t>功能</a:t>
            </a:r>
          </a:p>
        </p:txBody>
      </p:sp>
      <p:cxnSp>
        <p:nvCxnSpPr>
          <p:cNvPr id="25" name="直接箭头连接符 24"/>
          <p:cNvCxnSpPr>
            <a:cxnSpLocks/>
          </p:cNvCxnSpPr>
          <p:nvPr/>
        </p:nvCxnSpPr>
        <p:spPr>
          <a:xfrm>
            <a:off x="7547610" y="5740717"/>
            <a:ext cx="1936115" cy="1524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7869872" y="5745797"/>
            <a:ext cx="129159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sym typeface="+mn-ea"/>
              </a:rPr>
              <a:t>代码接口</a:t>
            </a:r>
          </a:p>
        </p:txBody>
      </p:sp>
      <p:sp>
        <p:nvSpPr>
          <p:cNvPr id="27" name="上下箭头 26"/>
          <p:cNvSpPr/>
          <p:nvPr/>
        </p:nvSpPr>
        <p:spPr>
          <a:xfrm>
            <a:off x="7037705" y="251936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28" name="上下箭头 27"/>
          <p:cNvSpPr/>
          <p:nvPr/>
        </p:nvSpPr>
        <p:spPr>
          <a:xfrm>
            <a:off x="7042785" y="384778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29" name="上下箭头 28"/>
          <p:cNvSpPr/>
          <p:nvPr/>
        </p:nvSpPr>
        <p:spPr>
          <a:xfrm>
            <a:off x="7042785" y="4936807"/>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30" name="上下箭头 29"/>
          <p:cNvSpPr/>
          <p:nvPr/>
        </p:nvSpPr>
        <p:spPr>
          <a:xfrm>
            <a:off x="9675177" y="2535237"/>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31" name="上下箭头 30"/>
          <p:cNvSpPr/>
          <p:nvPr/>
        </p:nvSpPr>
        <p:spPr>
          <a:xfrm>
            <a:off x="9675177" y="381603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32" name="上下箭头 31"/>
          <p:cNvSpPr/>
          <p:nvPr/>
        </p:nvSpPr>
        <p:spPr>
          <a:xfrm>
            <a:off x="9675177" y="4952682"/>
            <a:ext cx="273050" cy="391795"/>
          </a:xfrm>
          <a:prstGeom prst="upDown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endParaRPr>
          </a:p>
        </p:txBody>
      </p:sp>
      <p:cxnSp>
        <p:nvCxnSpPr>
          <p:cNvPr id="33" name="直接连接符 32"/>
          <p:cNvCxnSpPr>
            <a:cxnSpLocks/>
          </p:cNvCxnSpPr>
          <p:nvPr/>
        </p:nvCxnSpPr>
        <p:spPr>
          <a:xfrm>
            <a:off x="8499157" y="1664017"/>
            <a:ext cx="33020" cy="4827905"/>
          </a:xfrm>
          <a:prstGeom prst="line">
            <a:avLst/>
          </a:prstGeom>
          <a:ln w="31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AE82B706-CE0B-E748-8CF3-D6F9BA933F45}"/>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spTree>
    <p:extLst>
      <p:ext uri="{BB962C8B-B14F-4D97-AF65-F5344CB8AC3E}">
        <p14:creationId xmlns:p14="http://schemas.microsoft.com/office/powerpoint/2010/main" val="18598531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微软雅黑" panose="020B0503020204020204" pitchFamily="34" charset="-122"/>
                <a:sym typeface="+mn-ea"/>
              </a:rPr>
              <a:t>分层结构示例</a:t>
            </a:r>
            <a:endParaRPr lang="zh-CN" altLang="en-US" dirty="0">
              <a:cs typeface="微软雅黑" panose="020B0503020204020204" pitchFamily="34" charset="-122"/>
            </a:endParaRPr>
          </a:p>
        </p:txBody>
      </p:sp>
      <p:grpSp>
        <p:nvGrpSpPr>
          <p:cNvPr id="5" name="组合 4">
            <a:extLst>
              <a:ext uri="{FF2B5EF4-FFF2-40B4-BE49-F238E27FC236}">
                <a16:creationId xmlns:a16="http://schemas.microsoft.com/office/drawing/2014/main" id="{E12D9256-E518-DA4D-BEEB-CD03313CA74F}"/>
              </a:ext>
            </a:extLst>
          </p:cNvPr>
          <p:cNvGrpSpPr/>
          <p:nvPr/>
        </p:nvGrpSpPr>
        <p:grpSpPr>
          <a:xfrm>
            <a:off x="491491" y="1594485"/>
            <a:ext cx="2569332" cy="4396105"/>
            <a:chOff x="525780" y="1582420"/>
            <a:chExt cx="2888615" cy="4396105"/>
          </a:xfrm>
        </p:grpSpPr>
        <p:sp>
          <p:nvSpPr>
            <p:cNvPr id="57" name="Text Box 97"/>
            <p:cNvSpPr txBox="1">
              <a:spLocks noChangeArrowheads="1"/>
            </p:cNvSpPr>
            <p:nvPr/>
          </p:nvSpPr>
          <p:spPr bwMode="auto">
            <a:xfrm>
              <a:off x="572135" y="1582420"/>
              <a:ext cx="2842260" cy="532765"/>
            </a:xfrm>
            <a:prstGeom prst="rect">
              <a:avLst/>
            </a:prstGeom>
            <a:solidFill>
              <a:srgbClr val="7CC43A"/>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indent="457200" algn="l">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用户应用层</a:t>
              </a:r>
            </a:p>
          </p:txBody>
        </p:sp>
        <p:sp>
          <p:nvSpPr>
            <p:cNvPr id="58" name="Text Box 98"/>
            <p:cNvSpPr txBox="1">
              <a:spLocks noChangeArrowheads="1"/>
            </p:cNvSpPr>
            <p:nvPr/>
          </p:nvSpPr>
          <p:spPr bwMode="auto">
            <a:xfrm>
              <a:off x="558165" y="2772410"/>
              <a:ext cx="2856230" cy="532765"/>
            </a:xfrm>
            <a:prstGeom prst="rect">
              <a:avLst/>
            </a:prstGeom>
            <a:solidFill>
              <a:srgbClr val="00B0F0"/>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信件递送层</a:t>
              </a:r>
            </a:p>
          </p:txBody>
        </p:sp>
        <p:sp>
          <p:nvSpPr>
            <p:cNvPr id="60" name="Text Box 100"/>
            <p:cNvSpPr txBox="1">
              <a:spLocks noChangeArrowheads="1"/>
            </p:cNvSpPr>
            <p:nvPr/>
          </p:nvSpPr>
          <p:spPr bwMode="auto">
            <a:xfrm>
              <a:off x="525780" y="4058920"/>
              <a:ext cx="2888615" cy="532765"/>
            </a:xfrm>
            <a:prstGeom prst="rect">
              <a:avLst/>
            </a:prstGeom>
            <a:solidFill>
              <a:srgbClr val="0070C0"/>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交通运输层</a:t>
              </a:r>
            </a:p>
          </p:txBody>
        </p:sp>
        <p:sp>
          <p:nvSpPr>
            <p:cNvPr id="61" name="Text Box 101"/>
            <p:cNvSpPr txBox="1">
              <a:spLocks noChangeArrowheads="1"/>
            </p:cNvSpPr>
            <p:nvPr/>
          </p:nvSpPr>
          <p:spPr bwMode="auto">
            <a:xfrm>
              <a:off x="529590" y="5445760"/>
              <a:ext cx="2884805" cy="532765"/>
            </a:xfrm>
            <a:prstGeom prst="rect">
              <a:avLst/>
            </a:prstGeom>
            <a:solidFill>
              <a:schemeClr val="bg1">
                <a:lumMod val="50000"/>
              </a:schemeClr>
            </a:solidFill>
            <a:ln>
              <a:noFill/>
            </a:ln>
            <a:effec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a:lnSpc>
                  <a:spcPct val="150000"/>
                </a:lnSpc>
              </a:pPr>
              <a:r>
                <a:rPr kumimoji="1" lang="en-US" altLang="zh-CN" sz="2000" dirty="0">
                  <a:solidFill>
                    <a:schemeClr val="bg1"/>
                  </a:solidFill>
                  <a:latin typeface="微软雅黑" panose="020B0503020204020204" pitchFamily="34" charset="-122"/>
                  <a:ea typeface="微软雅黑" panose="020B0503020204020204" pitchFamily="34" charset="-122"/>
                </a:rPr>
                <a:t>    </a:t>
              </a:r>
              <a:r>
                <a:rPr kumimoji="1" lang="zh-CN" altLang="en-US" sz="2000" dirty="0">
                  <a:solidFill>
                    <a:schemeClr val="bg1"/>
                  </a:solidFill>
                  <a:latin typeface="微软雅黑" panose="020B0503020204020204" pitchFamily="34" charset="-122"/>
                  <a:ea typeface="微软雅黑" panose="020B0503020204020204" pitchFamily="34" charset="-122"/>
                </a:rPr>
                <a:t>交通工具层</a:t>
              </a:r>
            </a:p>
          </p:txBody>
        </p:sp>
      </p:grpSp>
      <p:sp>
        <p:nvSpPr>
          <p:cNvPr id="87" name="矩形 86"/>
          <p:cNvSpPr/>
          <p:nvPr/>
        </p:nvSpPr>
        <p:spPr>
          <a:xfrm>
            <a:off x="6887845" y="4051300"/>
            <a:ext cx="1752600" cy="5060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运送部门</a:t>
            </a:r>
          </a:p>
        </p:txBody>
      </p:sp>
      <p:sp>
        <p:nvSpPr>
          <p:cNvPr id="88" name="矩形 87"/>
          <p:cNvSpPr/>
          <p:nvPr/>
        </p:nvSpPr>
        <p:spPr>
          <a:xfrm>
            <a:off x="6784975" y="5339715"/>
            <a:ext cx="909320" cy="64389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铁 路</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部 门</a:t>
            </a:r>
          </a:p>
        </p:txBody>
      </p:sp>
      <p:sp>
        <p:nvSpPr>
          <p:cNvPr id="89" name="矩形 88"/>
          <p:cNvSpPr/>
          <p:nvPr/>
        </p:nvSpPr>
        <p:spPr>
          <a:xfrm>
            <a:off x="9909175" y="2753360"/>
            <a:ext cx="1453515" cy="5060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邮局</a:t>
            </a:r>
          </a:p>
        </p:txBody>
      </p:sp>
      <p:sp>
        <p:nvSpPr>
          <p:cNvPr id="90" name="矩形 89"/>
          <p:cNvSpPr/>
          <p:nvPr/>
        </p:nvSpPr>
        <p:spPr>
          <a:xfrm>
            <a:off x="9876155" y="4085590"/>
            <a:ext cx="1463675" cy="5060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运送部门</a:t>
            </a:r>
          </a:p>
        </p:txBody>
      </p:sp>
      <p:sp>
        <p:nvSpPr>
          <p:cNvPr id="91" name="矩形 90"/>
          <p:cNvSpPr/>
          <p:nvPr/>
        </p:nvSpPr>
        <p:spPr>
          <a:xfrm>
            <a:off x="9890125" y="5445760"/>
            <a:ext cx="1473200" cy="50609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汽运部门</a:t>
            </a:r>
          </a:p>
        </p:txBody>
      </p:sp>
      <p:sp>
        <p:nvSpPr>
          <p:cNvPr id="92" name="矩形 91"/>
          <p:cNvSpPr/>
          <p:nvPr/>
        </p:nvSpPr>
        <p:spPr>
          <a:xfrm>
            <a:off x="7792085" y="5339715"/>
            <a:ext cx="909320" cy="638810"/>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汽 运</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fontAlgn="auto">
              <a:lnSpc>
                <a:spcPct val="10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部 门</a:t>
            </a:r>
          </a:p>
        </p:txBody>
      </p:sp>
      <p:sp>
        <p:nvSpPr>
          <p:cNvPr id="93" name="Line 47"/>
          <p:cNvSpPr>
            <a:spLocks noChangeShapeType="1"/>
          </p:cNvSpPr>
          <p:nvPr/>
        </p:nvSpPr>
        <p:spPr bwMode="auto">
          <a:xfrm>
            <a:off x="5742305" y="1937385"/>
            <a:ext cx="4044315" cy="14605"/>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4" name="Line 48"/>
          <p:cNvSpPr>
            <a:spLocks noChangeShapeType="1"/>
          </p:cNvSpPr>
          <p:nvPr/>
        </p:nvSpPr>
        <p:spPr bwMode="auto">
          <a:xfrm flipV="1">
            <a:off x="5817296" y="3025774"/>
            <a:ext cx="3988374" cy="32383"/>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5" name="Line 49"/>
          <p:cNvSpPr>
            <a:spLocks noChangeShapeType="1"/>
          </p:cNvSpPr>
          <p:nvPr/>
        </p:nvSpPr>
        <p:spPr bwMode="auto">
          <a:xfrm flipV="1">
            <a:off x="5723255" y="4331970"/>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6" name="Line 51"/>
          <p:cNvSpPr>
            <a:spLocks noChangeShapeType="1"/>
          </p:cNvSpPr>
          <p:nvPr/>
        </p:nvSpPr>
        <p:spPr bwMode="auto">
          <a:xfrm flipV="1">
            <a:off x="8640445" y="4364355"/>
            <a:ext cx="123571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7" name="Line 52"/>
          <p:cNvSpPr>
            <a:spLocks noChangeShapeType="1"/>
          </p:cNvSpPr>
          <p:nvPr/>
        </p:nvSpPr>
        <p:spPr bwMode="auto">
          <a:xfrm>
            <a:off x="5786120" y="5689600"/>
            <a:ext cx="98933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98" name="Line 53"/>
          <p:cNvSpPr>
            <a:spLocks noChangeShapeType="1"/>
          </p:cNvSpPr>
          <p:nvPr/>
        </p:nvSpPr>
        <p:spPr bwMode="auto">
          <a:xfrm>
            <a:off x="8753475" y="5670550"/>
            <a:ext cx="108204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02" name="Line 60"/>
          <p:cNvSpPr>
            <a:spLocks noChangeShapeType="1"/>
          </p:cNvSpPr>
          <p:nvPr/>
        </p:nvSpPr>
        <p:spPr bwMode="auto">
          <a:xfrm>
            <a:off x="7284720" y="4591685"/>
            <a:ext cx="635" cy="67627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03" name="Line 61"/>
          <p:cNvSpPr>
            <a:spLocks noChangeShapeType="1"/>
          </p:cNvSpPr>
          <p:nvPr/>
        </p:nvSpPr>
        <p:spPr bwMode="auto">
          <a:xfrm>
            <a:off x="10631805" y="4591685"/>
            <a:ext cx="6350" cy="80708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12" name="Text Box 73"/>
          <p:cNvSpPr txBox="1">
            <a:spLocks noChangeArrowheads="1"/>
          </p:cNvSpPr>
          <p:nvPr/>
        </p:nvSpPr>
        <p:spPr bwMode="auto">
          <a:xfrm>
            <a:off x="5953125" y="3799205"/>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邮包</a:t>
            </a:r>
          </a:p>
        </p:txBody>
      </p:sp>
      <p:sp>
        <p:nvSpPr>
          <p:cNvPr id="113" name="Text Box 74"/>
          <p:cNvSpPr txBox="1">
            <a:spLocks noChangeArrowheads="1"/>
          </p:cNvSpPr>
          <p:nvPr/>
        </p:nvSpPr>
        <p:spPr bwMode="auto">
          <a:xfrm>
            <a:off x="8872855" y="3799205"/>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a:latin typeface="微软雅黑" panose="020B0503020204020204" pitchFamily="34" charset="-122"/>
                <a:ea typeface="微软雅黑" panose="020B0503020204020204" pitchFamily="34" charset="-122"/>
              </a:rPr>
              <a:t>邮包</a:t>
            </a:r>
          </a:p>
        </p:txBody>
      </p:sp>
      <p:sp>
        <p:nvSpPr>
          <p:cNvPr id="114" name="Text Box 75"/>
          <p:cNvSpPr txBox="1">
            <a:spLocks noChangeArrowheads="1"/>
          </p:cNvSpPr>
          <p:nvPr/>
        </p:nvSpPr>
        <p:spPr bwMode="auto">
          <a:xfrm>
            <a:off x="5953125" y="571119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p>
        </p:txBody>
      </p:sp>
      <p:sp>
        <p:nvSpPr>
          <p:cNvPr id="115" name="Text Box 76"/>
          <p:cNvSpPr txBox="1">
            <a:spLocks noChangeArrowheads="1"/>
          </p:cNvSpPr>
          <p:nvPr/>
        </p:nvSpPr>
        <p:spPr bwMode="auto">
          <a:xfrm>
            <a:off x="8925560" y="574294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p>
        </p:txBody>
      </p:sp>
      <p:sp>
        <p:nvSpPr>
          <p:cNvPr id="116" name="Text Box 77"/>
          <p:cNvSpPr txBox="1">
            <a:spLocks noChangeArrowheads="1"/>
          </p:cNvSpPr>
          <p:nvPr/>
        </p:nvSpPr>
        <p:spPr bwMode="auto">
          <a:xfrm>
            <a:off x="5983605" y="6259195"/>
            <a:ext cx="655320" cy="532765"/>
          </a:xfrm>
          <a:prstGeom prst="rect">
            <a:avLst/>
          </a:prstGeom>
          <a:noFill/>
          <a:ln w="2857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火车</a:t>
            </a:r>
          </a:p>
        </p:txBody>
      </p:sp>
      <p:sp>
        <p:nvSpPr>
          <p:cNvPr id="117" name="Text Box 78"/>
          <p:cNvSpPr txBox="1">
            <a:spLocks noChangeArrowheads="1"/>
          </p:cNvSpPr>
          <p:nvPr/>
        </p:nvSpPr>
        <p:spPr bwMode="auto">
          <a:xfrm>
            <a:off x="9138920" y="623316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汽车</a:t>
            </a:r>
          </a:p>
        </p:txBody>
      </p:sp>
      <p:sp>
        <p:nvSpPr>
          <p:cNvPr id="118" name="Line 79"/>
          <p:cNvSpPr>
            <a:spLocks noChangeShapeType="1"/>
          </p:cNvSpPr>
          <p:nvPr/>
        </p:nvSpPr>
        <p:spPr bwMode="auto">
          <a:xfrm>
            <a:off x="4912102" y="5978524"/>
            <a:ext cx="6661" cy="30543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19" name="Line 80"/>
          <p:cNvSpPr>
            <a:spLocks noChangeShapeType="1"/>
          </p:cNvSpPr>
          <p:nvPr/>
        </p:nvSpPr>
        <p:spPr bwMode="auto">
          <a:xfrm>
            <a:off x="4918771" y="6283960"/>
            <a:ext cx="2323464"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0" name="Line 81"/>
          <p:cNvSpPr>
            <a:spLocks noChangeShapeType="1"/>
          </p:cNvSpPr>
          <p:nvPr/>
        </p:nvSpPr>
        <p:spPr bwMode="auto">
          <a:xfrm flipV="1">
            <a:off x="7219315" y="5978525"/>
            <a:ext cx="0" cy="29337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1" name="Line 82"/>
          <p:cNvSpPr>
            <a:spLocks noChangeShapeType="1"/>
          </p:cNvSpPr>
          <p:nvPr/>
        </p:nvSpPr>
        <p:spPr bwMode="auto">
          <a:xfrm>
            <a:off x="8355965" y="5990590"/>
            <a:ext cx="0" cy="293370"/>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2" name="Line 83"/>
          <p:cNvSpPr>
            <a:spLocks noChangeShapeType="1"/>
          </p:cNvSpPr>
          <p:nvPr/>
        </p:nvSpPr>
        <p:spPr bwMode="auto">
          <a:xfrm>
            <a:off x="8355965" y="6283960"/>
            <a:ext cx="2379345" cy="0"/>
          </a:xfrm>
          <a:prstGeom prst="line">
            <a:avLst/>
          </a:prstGeom>
          <a:noFill/>
          <a:ln w="381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endParaRPr lang="zh-CN" altLang="en-US" sz="1800" b="1">
              <a:latin typeface="+mj-ea"/>
              <a:ea typeface="+mj-ea"/>
            </a:endParaRPr>
          </a:p>
        </p:txBody>
      </p:sp>
      <p:sp>
        <p:nvSpPr>
          <p:cNvPr id="123" name="Line 84"/>
          <p:cNvSpPr>
            <a:spLocks noChangeShapeType="1"/>
          </p:cNvSpPr>
          <p:nvPr/>
        </p:nvSpPr>
        <p:spPr bwMode="auto">
          <a:xfrm flipV="1">
            <a:off x="10735310" y="5990590"/>
            <a:ext cx="0" cy="293370"/>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124" name="Text Box 85"/>
          <p:cNvSpPr txBox="1">
            <a:spLocks noChangeArrowheads="1"/>
          </p:cNvSpPr>
          <p:nvPr/>
        </p:nvSpPr>
        <p:spPr bwMode="auto">
          <a:xfrm>
            <a:off x="6382385" y="4656455"/>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p>
        </p:txBody>
      </p:sp>
      <p:sp>
        <p:nvSpPr>
          <p:cNvPr id="125" name="Text Box 86"/>
          <p:cNvSpPr txBox="1">
            <a:spLocks noChangeArrowheads="1"/>
          </p:cNvSpPr>
          <p:nvPr/>
        </p:nvSpPr>
        <p:spPr bwMode="auto">
          <a:xfrm>
            <a:off x="8610600" y="4657090"/>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货物</a:t>
            </a:r>
          </a:p>
        </p:txBody>
      </p:sp>
      <p:grpSp>
        <p:nvGrpSpPr>
          <p:cNvPr id="126" name="Group 647"/>
          <p:cNvGrpSpPr>
            <a:grpSpLocks noChangeAspect="1"/>
          </p:cNvGrpSpPr>
          <p:nvPr/>
        </p:nvGrpSpPr>
        <p:grpSpPr bwMode="auto">
          <a:xfrm flipH="1">
            <a:off x="3573058" y="1471114"/>
            <a:ext cx="381635" cy="369570"/>
            <a:chOff x="3161" y="1632"/>
            <a:chExt cx="1207" cy="1398"/>
          </a:xfrm>
        </p:grpSpPr>
        <p:grpSp>
          <p:nvGrpSpPr>
            <p:cNvPr id="127" name="Group 648"/>
            <p:cNvGrpSpPr/>
            <p:nvPr/>
          </p:nvGrpSpPr>
          <p:grpSpPr bwMode="auto">
            <a:xfrm>
              <a:off x="3161" y="1632"/>
              <a:ext cx="1207" cy="1398"/>
              <a:chOff x="3161" y="2497"/>
              <a:chExt cx="501" cy="533"/>
            </a:xfrm>
          </p:grpSpPr>
          <p:sp>
            <p:nvSpPr>
              <p:cNvPr id="129" name="Freeform 649"/>
              <p:cNvSpPr/>
              <p:nvPr/>
            </p:nvSpPr>
            <p:spPr bwMode="auto">
              <a:xfrm>
                <a:off x="3168" y="2592"/>
                <a:ext cx="338" cy="438"/>
              </a:xfrm>
              <a:custGeom>
                <a:avLst/>
                <a:gdLst>
                  <a:gd name="T0" fmla="*/ 1 w 676"/>
                  <a:gd name="T1" fmla="*/ 1 h 876"/>
                  <a:gd name="T2" fmla="*/ 1 w 676"/>
                  <a:gd name="T3" fmla="*/ 1 h 876"/>
                  <a:gd name="T4" fmla="*/ 1 w 676"/>
                  <a:gd name="T5" fmla="*/ 1 h 876"/>
                  <a:gd name="T6" fmla="*/ 1 w 676"/>
                  <a:gd name="T7" fmla="*/ 1 h 876"/>
                  <a:gd name="T8" fmla="*/ 1 w 676"/>
                  <a:gd name="T9" fmla="*/ 1 h 876"/>
                  <a:gd name="T10" fmla="*/ 1 w 676"/>
                  <a:gd name="T11" fmla="*/ 1 h 876"/>
                  <a:gd name="T12" fmla="*/ 1 w 676"/>
                  <a:gd name="T13" fmla="*/ 1 h 876"/>
                  <a:gd name="T14" fmla="*/ 1 w 676"/>
                  <a:gd name="T15" fmla="*/ 1 h 876"/>
                  <a:gd name="T16" fmla="*/ 1 w 676"/>
                  <a:gd name="T17" fmla="*/ 1 h 876"/>
                  <a:gd name="T18" fmla="*/ 1 w 676"/>
                  <a:gd name="T19" fmla="*/ 1 h 876"/>
                  <a:gd name="T20" fmla="*/ 1 w 676"/>
                  <a:gd name="T21" fmla="*/ 1 h 876"/>
                  <a:gd name="T22" fmla="*/ 1 w 676"/>
                  <a:gd name="T23" fmla="*/ 1 h 876"/>
                  <a:gd name="T24" fmla="*/ 1 w 676"/>
                  <a:gd name="T25" fmla="*/ 1 h 876"/>
                  <a:gd name="T26" fmla="*/ 1 w 676"/>
                  <a:gd name="T27" fmla="*/ 1 h 876"/>
                  <a:gd name="T28" fmla="*/ 1 w 676"/>
                  <a:gd name="T29" fmla="*/ 1 h 876"/>
                  <a:gd name="T30" fmla="*/ 1 w 676"/>
                  <a:gd name="T31" fmla="*/ 1 h 876"/>
                  <a:gd name="T32" fmla="*/ 1 w 676"/>
                  <a:gd name="T33" fmla="*/ 1 h 876"/>
                  <a:gd name="T34" fmla="*/ 1 w 676"/>
                  <a:gd name="T35" fmla="*/ 1 h 876"/>
                  <a:gd name="T36" fmla="*/ 1 w 676"/>
                  <a:gd name="T37" fmla="*/ 1 h 876"/>
                  <a:gd name="T38" fmla="*/ 1 w 676"/>
                  <a:gd name="T39" fmla="*/ 1 h 876"/>
                  <a:gd name="T40" fmla="*/ 1 w 676"/>
                  <a:gd name="T41" fmla="*/ 1 h 876"/>
                  <a:gd name="T42" fmla="*/ 1 w 676"/>
                  <a:gd name="T43" fmla="*/ 1 h 876"/>
                  <a:gd name="T44" fmla="*/ 1 w 676"/>
                  <a:gd name="T45" fmla="*/ 1 h 876"/>
                  <a:gd name="T46" fmla="*/ 1 w 676"/>
                  <a:gd name="T47" fmla="*/ 1 h 876"/>
                  <a:gd name="T48" fmla="*/ 1 w 676"/>
                  <a:gd name="T49" fmla="*/ 1 h 876"/>
                  <a:gd name="T50" fmla="*/ 1 w 676"/>
                  <a:gd name="T51" fmla="*/ 1 h 876"/>
                  <a:gd name="T52" fmla="*/ 1 w 676"/>
                  <a:gd name="T53" fmla="*/ 1 h 876"/>
                  <a:gd name="T54" fmla="*/ 1 w 676"/>
                  <a:gd name="T55" fmla="*/ 1 h 876"/>
                  <a:gd name="T56" fmla="*/ 1 w 676"/>
                  <a:gd name="T57" fmla="*/ 1 h 876"/>
                  <a:gd name="T58" fmla="*/ 1 w 676"/>
                  <a:gd name="T59" fmla="*/ 1 h 876"/>
                  <a:gd name="T60" fmla="*/ 1 w 676"/>
                  <a:gd name="T61" fmla="*/ 1 h 876"/>
                  <a:gd name="T62" fmla="*/ 1 w 676"/>
                  <a:gd name="T63" fmla="*/ 1 h 876"/>
                  <a:gd name="T64" fmla="*/ 1 w 676"/>
                  <a:gd name="T65" fmla="*/ 1 h 876"/>
                  <a:gd name="T66" fmla="*/ 1 w 676"/>
                  <a:gd name="T67" fmla="*/ 1 h 876"/>
                  <a:gd name="T68" fmla="*/ 1 w 676"/>
                  <a:gd name="T69" fmla="*/ 1 h 876"/>
                  <a:gd name="T70" fmla="*/ 1 w 676"/>
                  <a:gd name="T71" fmla="*/ 1 h 876"/>
                  <a:gd name="T72" fmla="*/ 1 w 676"/>
                  <a:gd name="T73" fmla="*/ 1 h 876"/>
                  <a:gd name="T74" fmla="*/ 1 w 676"/>
                  <a:gd name="T75" fmla="*/ 1 h 876"/>
                  <a:gd name="T76" fmla="*/ 1 w 676"/>
                  <a:gd name="T77" fmla="*/ 1 h 876"/>
                  <a:gd name="T78" fmla="*/ 1 w 676"/>
                  <a:gd name="T79" fmla="*/ 1 h 876"/>
                  <a:gd name="T80" fmla="*/ 1 w 676"/>
                  <a:gd name="T81" fmla="*/ 1 h 876"/>
                  <a:gd name="T82" fmla="*/ 1 w 676"/>
                  <a:gd name="T83" fmla="*/ 1 h 876"/>
                  <a:gd name="T84" fmla="*/ 1 w 676"/>
                  <a:gd name="T85" fmla="*/ 1 h 876"/>
                  <a:gd name="T86" fmla="*/ 1 w 676"/>
                  <a:gd name="T87" fmla="*/ 1 h 876"/>
                  <a:gd name="T88" fmla="*/ 1 w 676"/>
                  <a:gd name="T89" fmla="*/ 1 h 876"/>
                  <a:gd name="T90" fmla="*/ 1 w 676"/>
                  <a:gd name="T91" fmla="*/ 1 h 876"/>
                  <a:gd name="T92" fmla="*/ 1 w 676"/>
                  <a:gd name="T93" fmla="*/ 1 h 87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76"/>
                  <a:gd name="T142" fmla="*/ 0 h 876"/>
                  <a:gd name="T143" fmla="*/ 676 w 676"/>
                  <a:gd name="T144" fmla="*/ 876 h 87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76" h="876">
                    <a:moveTo>
                      <a:pt x="521" y="464"/>
                    </a:moveTo>
                    <a:lnTo>
                      <a:pt x="531" y="433"/>
                    </a:lnTo>
                    <a:lnTo>
                      <a:pt x="538" y="402"/>
                    </a:lnTo>
                    <a:lnTo>
                      <a:pt x="541" y="368"/>
                    </a:lnTo>
                    <a:lnTo>
                      <a:pt x="542" y="335"/>
                    </a:lnTo>
                    <a:lnTo>
                      <a:pt x="541" y="300"/>
                    </a:lnTo>
                    <a:lnTo>
                      <a:pt x="536" y="267"/>
                    </a:lnTo>
                    <a:lnTo>
                      <a:pt x="529" y="235"/>
                    </a:lnTo>
                    <a:lnTo>
                      <a:pt x="521" y="205"/>
                    </a:lnTo>
                    <a:lnTo>
                      <a:pt x="510" y="175"/>
                    </a:lnTo>
                    <a:lnTo>
                      <a:pt x="496" y="147"/>
                    </a:lnTo>
                    <a:lnTo>
                      <a:pt x="480" y="122"/>
                    </a:lnTo>
                    <a:lnTo>
                      <a:pt x="463" y="97"/>
                    </a:lnTo>
                    <a:lnTo>
                      <a:pt x="444" y="76"/>
                    </a:lnTo>
                    <a:lnTo>
                      <a:pt x="422" y="57"/>
                    </a:lnTo>
                    <a:lnTo>
                      <a:pt x="400" y="40"/>
                    </a:lnTo>
                    <a:lnTo>
                      <a:pt x="377" y="26"/>
                    </a:lnTo>
                    <a:lnTo>
                      <a:pt x="352" y="15"/>
                    </a:lnTo>
                    <a:lnTo>
                      <a:pt x="326" y="6"/>
                    </a:lnTo>
                    <a:lnTo>
                      <a:pt x="299" y="1"/>
                    </a:lnTo>
                    <a:lnTo>
                      <a:pt x="271" y="0"/>
                    </a:lnTo>
                    <a:lnTo>
                      <a:pt x="244" y="1"/>
                    </a:lnTo>
                    <a:lnTo>
                      <a:pt x="217" y="6"/>
                    </a:lnTo>
                    <a:lnTo>
                      <a:pt x="191" y="15"/>
                    </a:lnTo>
                    <a:lnTo>
                      <a:pt x="166" y="26"/>
                    </a:lnTo>
                    <a:lnTo>
                      <a:pt x="142" y="40"/>
                    </a:lnTo>
                    <a:lnTo>
                      <a:pt x="119" y="57"/>
                    </a:lnTo>
                    <a:lnTo>
                      <a:pt x="99" y="76"/>
                    </a:lnTo>
                    <a:lnTo>
                      <a:pt x="79" y="97"/>
                    </a:lnTo>
                    <a:lnTo>
                      <a:pt x="62" y="122"/>
                    </a:lnTo>
                    <a:lnTo>
                      <a:pt x="46" y="147"/>
                    </a:lnTo>
                    <a:lnTo>
                      <a:pt x="33" y="175"/>
                    </a:lnTo>
                    <a:lnTo>
                      <a:pt x="22" y="205"/>
                    </a:lnTo>
                    <a:lnTo>
                      <a:pt x="12" y="235"/>
                    </a:lnTo>
                    <a:lnTo>
                      <a:pt x="5" y="267"/>
                    </a:lnTo>
                    <a:lnTo>
                      <a:pt x="1" y="300"/>
                    </a:lnTo>
                    <a:lnTo>
                      <a:pt x="0" y="335"/>
                    </a:lnTo>
                    <a:lnTo>
                      <a:pt x="1" y="369"/>
                    </a:lnTo>
                    <a:lnTo>
                      <a:pt x="4" y="402"/>
                    </a:lnTo>
                    <a:lnTo>
                      <a:pt x="11" y="434"/>
                    </a:lnTo>
                    <a:lnTo>
                      <a:pt x="19" y="465"/>
                    </a:lnTo>
                    <a:lnTo>
                      <a:pt x="30" y="494"/>
                    </a:lnTo>
                    <a:lnTo>
                      <a:pt x="42" y="521"/>
                    </a:lnTo>
                    <a:lnTo>
                      <a:pt x="57" y="548"/>
                    </a:lnTo>
                    <a:lnTo>
                      <a:pt x="73" y="571"/>
                    </a:lnTo>
                    <a:lnTo>
                      <a:pt x="91" y="593"/>
                    </a:lnTo>
                    <a:lnTo>
                      <a:pt x="111" y="612"/>
                    </a:lnTo>
                    <a:lnTo>
                      <a:pt x="132" y="630"/>
                    </a:lnTo>
                    <a:lnTo>
                      <a:pt x="155" y="644"/>
                    </a:lnTo>
                    <a:lnTo>
                      <a:pt x="179" y="655"/>
                    </a:lnTo>
                    <a:lnTo>
                      <a:pt x="205" y="663"/>
                    </a:lnTo>
                    <a:lnTo>
                      <a:pt x="231" y="668"/>
                    </a:lnTo>
                    <a:lnTo>
                      <a:pt x="259" y="670"/>
                    </a:lnTo>
                    <a:lnTo>
                      <a:pt x="265" y="670"/>
                    </a:lnTo>
                    <a:lnTo>
                      <a:pt x="270" y="669"/>
                    </a:lnTo>
                    <a:lnTo>
                      <a:pt x="277" y="669"/>
                    </a:lnTo>
                    <a:lnTo>
                      <a:pt x="283" y="668"/>
                    </a:lnTo>
                    <a:lnTo>
                      <a:pt x="290" y="667"/>
                    </a:lnTo>
                    <a:lnTo>
                      <a:pt x="296" y="665"/>
                    </a:lnTo>
                    <a:lnTo>
                      <a:pt x="301" y="664"/>
                    </a:lnTo>
                    <a:lnTo>
                      <a:pt x="307" y="663"/>
                    </a:lnTo>
                    <a:lnTo>
                      <a:pt x="276" y="778"/>
                    </a:lnTo>
                    <a:lnTo>
                      <a:pt x="278" y="781"/>
                    </a:lnTo>
                    <a:lnTo>
                      <a:pt x="285" y="786"/>
                    </a:lnTo>
                    <a:lnTo>
                      <a:pt x="298" y="797"/>
                    </a:lnTo>
                    <a:lnTo>
                      <a:pt x="313" y="808"/>
                    </a:lnTo>
                    <a:lnTo>
                      <a:pt x="333" y="822"/>
                    </a:lnTo>
                    <a:lnTo>
                      <a:pt x="356" y="837"/>
                    </a:lnTo>
                    <a:lnTo>
                      <a:pt x="381" y="852"/>
                    </a:lnTo>
                    <a:lnTo>
                      <a:pt x="410" y="866"/>
                    </a:lnTo>
                    <a:lnTo>
                      <a:pt x="425" y="872"/>
                    </a:lnTo>
                    <a:lnTo>
                      <a:pt x="440" y="875"/>
                    </a:lnTo>
                    <a:lnTo>
                      <a:pt x="456" y="876"/>
                    </a:lnTo>
                    <a:lnTo>
                      <a:pt x="471" y="875"/>
                    </a:lnTo>
                    <a:lnTo>
                      <a:pt x="487" y="873"/>
                    </a:lnTo>
                    <a:lnTo>
                      <a:pt x="502" y="869"/>
                    </a:lnTo>
                    <a:lnTo>
                      <a:pt x="517" y="865"/>
                    </a:lnTo>
                    <a:lnTo>
                      <a:pt x="531" y="859"/>
                    </a:lnTo>
                    <a:lnTo>
                      <a:pt x="544" y="853"/>
                    </a:lnTo>
                    <a:lnTo>
                      <a:pt x="558" y="846"/>
                    </a:lnTo>
                    <a:lnTo>
                      <a:pt x="571" y="839"/>
                    </a:lnTo>
                    <a:lnTo>
                      <a:pt x="582" y="834"/>
                    </a:lnTo>
                    <a:lnTo>
                      <a:pt x="593" y="828"/>
                    </a:lnTo>
                    <a:lnTo>
                      <a:pt x="602" y="823"/>
                    </a:lnTo>
                    <a:lnTo>
                      <a:pt x="610" y="819"/>
                    </a:lnTo>
                    <a:lnTo>
                      <a:pt x="617" y="816"/>
                    </a:lnTo>
                    <a:lnTo>
                      <a:pt x="629" y="809"/>
                    </a:lnTo>
                    <a:lnTo>
                      <a:pt x="640" y="799"/>
                    </a:lnTo>
                    <a:lnTo>
                      <a:pt x="649" y="785"/>
                    </a:lnTo>
                    <a:lnTo>
                      <a:pt x="658" y="770"/>
                    </a:lnTo>
                    <a:lnTo>
                      <a:pt x="665" y="755"/>
                    </a:lnTo>
                    <a:lnTo>
                      <a:pt x="671" y="743"/>
                    </a:lnTo>
                    <a:lnTo>
                      <a:pt x="675" y="735"/>
                    </a:lnTo>
                    <a:lnTo>
                      <a:pt x="676" y="731"/>
                    </a:lnTo>
                    <a:lnTo>
                      <a:pt x="521" y="464"/>
                    </a:lnTo>
                    <a:close/>
                  </a:path>
                </a:pathLst>
              </a:custGeom>
              <a:solidFill>
                <a:srgbClr val="F2CCB2"/>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0" name="Freeform 650"/>
              <p:cNvSpPr/>
              <p:nvPr/>
            </p:nvSpPr>
            <p:spPr bwMode="auto">
              <a:xfrm>
                <a:off x="3171" y="2497"/>
                <a:ext cx="491" cy="398"/>
              </a:xfrm>
              <a:custGeom>
                <a:avLst/>
                <a:gdLst>
                  <a:gd name="T0" fmla="*/ 0 w 983"/>
                  <a:gd name="T1" fmla="*/ 0 h 798"/>
                  <a:gd name="T2" fmla="*/ 0 w 983"/>
                  <a:gd name="T3" fmla="*/ 0 h 798"/>
                  <a:gd name="T4" fmla="*/ 0 w 983"/>
                  <a:gd name="T5" fmla="*/ 0 h 798"/>
                  <a:gd name="T6" fmla="*/ 0 w 983"/>
                  <a:gd name="T7" fmla="*/ 0 h 798"/>
                  <a:gd name="T8" fmla="*/ 0 w 983"/>
                  <a:gd name="T9" fmla="*/ 0 h 798"/>
                  <a:gd name="T10" fmla="*/ 0 w 983"/>
                  <a:gd name="T11" fmla="*/ 0 h 798"/>
                  <a:gd name="T12" fmla="*/ 0 w 983"/>
                  <a:gd name="T13" fmla="*/ 0 h 798"/>
                  <a:gd name="T14" fmla="*/ 0 w 983"/>
                  <a:gd name="T15" fmla="*/ 0 h 798"/>
                  <a:gd name="T16" fmla="*/ 0 w 983"/>
                  <a:gd name="T17" fmla="*/ 0 h 798"/>
                  <a:gd name="T18" fmla="*/ 0 w 983"/>
                  <a:gd name="T19" fmla="*/ 0 h 798"/>
                  <a:gd name="T20" fmla="*/ 0 w 983"/>
                  <a:gd name="T21" fmla="*/ 0 h 798"/>
                  <a:gd name="T22" fmla="*/ 0 w 983"/>
                  <a:gd name="T23" fmla="*/ 0 h 798"/>
                  <a:gd name="T24" fmla="*/ 0 w 983"/>
                  <a:gd name="T25" fmla="*/ 0 h 798"/>
                  <a:gd name="T26" fmla="*/ 0 w 983"/>
                  <a:gd name="T27" fmla="*/ 0 h 798"/>
                  <a:gd name="T28" fmla="*/ 0 w 983"/>
                  <a:gd name="T29" fmla="*/ 0 h 798"/>
                  <a:gd name="T30" fmla="*/ 0 w 983"/>
                  <a:gd name="T31" fmla="*/ 0 h 798"/>
                  <a:gd name="T32" fmla="*/ 0 w 983"/>
                  <a:gd name="T33" fmla="*/ 0 h 798"/>
                  <a:gd name="T34" fmla="*/ 0 w 983"/>
                  <a:gd name="T35" fmla="*/ 0 h 798"/>
                  <a:gd name="T36" fmla="*/ 0 w 983"/>
                  <a:gd name="T37" fmla="*/ 0 h 798"/>
                  <a:gd name="T38" fmla="*/ 0 w 983"/>
                  <a:gd name="T39" fmla="*/ 0 h 798"/>
                  <a:gd name="T40" fmla="*/ 0 w 983"/>
                  <a:gd name="T41" fmla="*/ 0 h 798"/>
                  <a:gd name="T42" fmla="*/ 0 w 983"/>
                  <a:gd name="T43" fmla="*/ 0 h 798"/>
                  <a:gd name="T44" fmla="*/ 0 w 983"/>
                  <a:gd name="T45" fmla="*/ 0 h 798"/>
                  <a:gd name="T46" fmla="*/ 0 w 983"/>
                  <a:gd name="T47" fmla="*/ 0 h 798"/>
                  <a:gd name="T48" fmla="*/ 0 w 983"/>
                  <a:gd name="T49" fmla="*/ 0 h 798"/>
                  <a:gd name="T50" fmla="*/ 0 w 983"/>
                  <a:gd name="T51" fmla="*/ 0 h 798"/>
                  <a:gd name="T52" fmla="*/ 0 w 983"/>
                  <a:gd name="T53" fmla="*/ 0 h 798"/>
                  <a:gd name="T54" fmla="*/ 0 w 983"/>
                  <a:gd name="T55" fmla="*/ 0 h 798"/>
                  <a:gd name="T56" fmla="*/ 0 w 983"/>
                  <a:gd name="T57" fmla="*/ 0 h 798"/>
                  <a:gd name="T58" fmla="*/ 0 w 983"/>
                  <a:gd name="T59" fmla="*/ 0 h 798"/>
                  <a:gd name="T60" fmla="*/ 0 w 983"/>
                  <a:gd name="T61" fmla="*/ 0 h 798"/>
                  <a:gd name="T62" fmla="*/ 0 w 983"/>
                  <a:gd name="T63" fmla="*/ 0 h 798"/>
                  <a:gd name="T64" fmla="*/ 0 w 983"/>
                  <a:gd name="T65" fmla="*/ 0 h 798"/>
                  <a:gd name="T66" fmla="*/ 0 w 983"/>
                  <a:gd name="T67" fmla="*/ 0 h 798"/>
                  <a:gd name="T68" fmla="*/ 0 w 983"/>
                  <a:gd name="T69" fmla="*/ 0 h 798"/>
                  <a:gd name="T70" fmla="*/ 0 w 983"/>
                  <a:gd name="T71" fmla="*/ 0 h 798"/>
                  <a:gd name="T72" fmla="*/ 0 w 983"/>
                  <a:gd name="T73" fmla="*/ 0 h 798"/>
                  <a:gd name="T74" fmla="*/ 0 w 983"/>
                  <a:gd name="T75" fmla="*/ 0 h 798"/>
                  <a:gd name="T76" fmla="*/ 0 w 983"/>
                  <a:gd name="T77" fmla="*/ 0 h 798"/>
                  <a:gd name="T78" fmla="*/ 0 w 983"/>
                  <a:gd name="T79" fmla="*/ 0 h 798"/>
                  <a:gd name="T80" fmla="*/ 0 w 983"/>
                  <a:gd name="T81" fmla="*/ 0 h 798"/>
                  <a:gd name="T82" fmla="*/ 0 w 983"/>
                  <a:gd name="T83" fmla="*/ 0 h 798"/>
                  <a:gd name="T84" fmla="*/ 0 w 983"/>
                  <a:gd name="T85" fmla="*/ 0 h 798"/>
                  <a:gd name="T86" fmla="*/ 0 w 983"/>
                  <a:gd name="T87" fmla="*/ 0 h 79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83"/>
                  <a:gd name="T133" fmla="*/ 0 h 798"/>
                  <a:gd name="T134" fmla="*/ 983 w 983"/>
                  <a:gd name="T135" fmla="*/ 798 h 79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83" h="798">
                    <a:moveTo>
                      <a:pt x="982" y="406"/>
                    </a:moveTo>
                    <a:lnTo>
                      <a:pt x="979" y="383"/>
                    </a:lnTo>
                    <a:lnTo>
                      <a:pt x="977" y="361"/>
                    </a:lnTo>
                    <a:lnTo>
                      <a:pt x="972" y="341"/>
                    </a:lnTo>
                    <a:lnTo>
                      <a:pt x="968" y="322"/>
                    </a:lnTo>
                    <a:lnTo>
                      <a:pt x="962" y="303"/>
                    </a:lnTo>
                    <a:lnTo>
                      <a:pt x="955" y="287"/>
                    </a:lnTo>
                    <a:lnTo>
                      <a:pt x="948" y="272"/>
                    </a:lnTo>
                    <a:lnTo>
                      <a:pt x="940" y="259"/>
                    </a:lnTo>
                    <a:lnTo>
                      <a:pt x="926" y="238"/>
                    </a:lnTo>
                    <a:lnTo>
                      <a:pt x="914" y="218"/>
                    </a:lnTo>
                    <a:lnTo>
                      <a:pt x="900" y="200"/>
                    </a:lnTo>
                    <a:lnTo>
                      <a:pt x="886" y="184"/>
                    </a:lnTo>
                    <a:lnTo>
                      <a:pt x="870" y="171"/>
                    </a:lnTo>
                    <a:lnTo>
                      <a:pt x="850" y="159"/>
                    </a:lnTo>
                    <a:lnTo>
                      <a:pt x="829" y="150"/>
                    </a:lnTo>
                    <a:lnTo>
                      <a:pt x="803" y="144"/>
                    </a:lnTo>
                    <a:lnTo>
                      <a:pt x="782" y="143"/>
                    </a:lnTo>
                    <a:lnTo>
                      <a:pt x="762" y="144"/>
                    </a:lnTo>
                    <a:lnTo>
                      <a:pt x="741" y="147"/>
                    </a:lnTo>
                    <a:lnTo>
                      <a:pt x="720" y="150"/>
                    </a:lnTo>
                    <a:lnTo>
                      <a:pt x="701" y="155"/>
                    </a:lnTo>
                    <a:lnTo>
                      <a:pt x="682" y="158"/>
                    </a:lnTo>
                    <a:lnTo>
                      <a:pt x="665" y="162"/>
                    </a:lnTo>
                    <a:lnTo>
                      <a:pt x="651" y="164"/>
                    </a:lnTo>
                    <a:lnTo>
                      <a:pt x="638" y="144"/>
                    </a:lnTo>
                    <a:lnTo>
                      <a:pt x="622" y="125"/>
                    </a:lnTo>
                    <a:lnTo>
                      <a:pt x="605" y="105"/>
                    </a:lnTo>
                    <a:lnTo>
                      <a:pt x="586" y="87"/>
                    </a:lnTo>
                    <a:lnTo>
                      <a:pt x="564" y="70"/>
                    </a:lnTo>
                    <a:lnTo>
                      <a:pt x="539" y="53"/>
                    </a:lnTo>
                    <a:lnTo>
                      <a:pt x="514" y="38"/>
                    </a:lnTo>
                    <a:lnTo>
                      <a:pt x="486" y="26"/>
                    </a:lnTo>
                    <a:lnTo>
                      <a:pt x="469" y="19"/>
                    </a:lnTo>
                    <a:lnTo>
                      <a:pt x="451" y="13"/>
                    </a:lnTo>
                    <a:lnTo>
                      <a:pt x="432" y="9"/>
                    </a:lnTo>
                    <a:lnTo>
                      <a:pt x="414" y="5"/>
                    </a:lnTo>
                    <a:lnTo>
                      <a:pt x="395" y="2"/>
                    </a:lnTo>
                    <a:lnTo>
                      <a:pt x="376" y="0"/>
                    </a:lnTo>
                    <a:lnTo>
                      <a:pt x="355" y="0"/>
                    </a:lnTo>
                    <a:lnTo>
                      <a:pt x="336" y="2"/>
                    </a:lnTo>
                    <a:lnTo>
                      <a:pt x="317" y="3"/>
                    </a:lnTo>
                    <a:lnTo>
                      <a:pt x="299" y="5"/>
                    </a:lnTo>
                    <a:lnTo>
                      <a:pt x="281" y="7"/>
                    </a:lnTo>
                    <a:lnTo>
                      <a:pt x="265" y="10"/>
                    </a:lnTo>
                    <a:lnTo>
                      <a:pt x="249" y="12"/>
                    </a:lnTo>
                    <a:lnTo>
                      <a:pt x="233" y="14"/>
                    </a:lnTo>
                    <a:lnTo>
                      <a:pt x="218" y="17"/>
                    </a:lnTo>
                    <a:lnTo>
                      <a:pt x="203" y="20"/>
                    </a:lnTo>
                    <a:lnTo>
                      <a:pt x="189" y="23"/>
                    </a:lnTo>
                    <a:lnTo>
                      <a:pt x="175" y="27"/>
                    </a:lnTo>
                    <a:lnTo>
                      <a:pt x="163" y="30"/>
                    </a:lnTo>
                    <a:lnTo>
                      <a:pt x="150" y="34"/>
                    </a:lnTo>
                    <a:lnTo>
                      <a:pt x="139" y="37"/>
                    </a:lnTo>
                    <a:lnTo>
                      <a:pt x="127" y="42"/>
                    </a:lnTo>
                    <a:lnTo>
                      <a:pt x="117" y="47"/>
                    </a:lnTo>
                    <a:lnTo>
                      <a:pt x="106" y="51"/>
                    </a:lnTo>
                    <a:lnTo>
                      <a:pt x="81" y="65"/>
                    </a:lnTo>
                    <a:lnTo>
                      <a:pt x="59" y="80"/>
                    </a:lnTo>
                    <a:lnTo>
                      <a:pt x="41" y="97"/>
                    </a:lnTo>
                    <a:lnTo>
                      <a:pt x="26" y="116"/>
                    </a:lnTo>
                    <a:lnTo>
                      <a:pt x="14" y="136"/>
                    </a:lnTo>
                    <a:lnTo>
                      <a:pt x="6" y="159"/>
                    </a:lnTo>
                    <a:lnTo>
                      <a:pt x="2" y="184"/>
                    </a:lnTo>
                    <a:lnTo>
                      <a:pt x="0" y="209"/>
                    </a:lnTo>
                    <a:lnTo>
                      <a:pt x="2" y="231"/>
                    </a:lnTo>
                    <a:lnTo>
                      <a:pt x="6" y="252"/>
                    </a:lnTo>
                    <a:lnTo>
                      <a:pt x="13" y="271"/>
                    </a:lnTo>
                    <a:lnTo>
                      <a:pt x="23" y="288"/>
                    </a:lnTo>
                    <a:lnTo>
                      <a:pt x="36" y="305"/>
                    </a:lnTo>
                    <a:lnTo>
                      <a:pt x="51" y="320"/>
                    </a:lnTo>
                    <a:lnTo>
                      <a:pt x="68" y="332"/>
                    </a:lnTo>
                    <a:lnTo>
                      <a:pt x="88" y="344"/>
                    </a:lnTo>
                    <a:lnTo>
                      <a:pt x="110" y="355"/>
                    </a:lnTo>
                    <a:lnTo>
                      <a:pt x="134" y="365"/>
                    </a:lnTo>
                    <a:lnTo>
                      <a:pt x="161" y="374"/>
                    </a:lnTo>
                    <a:lnTo>
                      <a:pt x="189" y="382"/>
                    </a:lnTo>
                    <a:lnTo>
                      <a:pt x="219" y="389"/>
                    </a:lnTo>
                    <a:lnTo>
                      <a:pt x="250" y="394"/>
                    </a:lnTo>
                    <a:lnTo>
                      <a:pt x="285" y="400"/>
                    </a:lnTo>
                    <a:lnTo>
                      <a:pt x="319" y="406"/>
                    </a:lnTo>
                    <a:lnTo>
                      <a:pt x="330" y="408"/>
                    </a:lnTo>
                    <a:lnTo>
                      <a:pt x="344" y="413"/>
                    </a:lnTo>
                    <a:lnTo>
                      <a:pt x="359" y="419"/>
                    </a:lnTo>
                    <a:lnTo>
                      <a:pt x="374" y="427"/>
                    </a:lnTo>
                    <a:lnTo>
                      <a:pt x="386" y="436"/>
                    </a:lnTo>
                    <a:lnTo>
                      <a:pt x="398" y="445"/>
                    </a:lnTo>
                    <a:lnTo>
                      <a:pt x="405" y="456"/>
                    </a:lnTo>
                    <a:lnTo>
                      <a:pt x="407" y="467"/>
                    </a:lnTo>
                    <a:lnTo>
                      <a:pt x="421" y="603"/>
                    </a:lnTo>
                    <a:lnTo>
                      <a:pt x="422" y="606"/>
                    </a:lnTo>
                    <a:lnTo>
                      <a:pt x="427" y="618"/>
                    </a:lnTo>
                    <a:lnTo>
                      <a:pt x="433" y="634"/>
                    </a:lnTo>
                    <a:lnTo>
                      <a:pt x="445" y="655"/>
                    </a:lnTo>
                    <a:lnTo>
                      <a:pt x="458" y="678"/>
                    </a:lnTo>
                    <a:lnTo>
                      <a:pt x="474" y="702"/>
                    </a:lnTo>
                    <a:lnTo>
                      <a:pt x="493" y="725"/>
                    </a:lnTo>
                    <a:lnTo>
                      <a:pt x="516" y="747"/>
                    </a:lnTo>
                    <a:lnTo>
                      <a:pt x="539" y="765"/>
                    </a:lnTo>
                    <a:lnTo>
                      <a:pt x="560" y="779"/>
                    </a:lnTo>
                    <a:lnTo>
                      <a:pt x="579" y="790"/>
                    </a:lnTo>
                    <a:lnTo>
                      <a:pt x="597" y="797"/>
                    </a:lnTo>
                    <a:lnTo>
                      <a:pt x="614" y="798"/>
                    </a:lnTo>
                    <a:lnTo>
                      <a:pt x="630" y="794"/>
                    </a:lnTo>
                    <a:lnTo>
                      <a:pt x="648" y="787"/>
                    </a:lnTo>
                    <a:lnTo>
                      <a:pt x="665" y="774"/>
                    </a:lnTo>
                    <a:lnTo>
                      <a:pt x="680" y="756"/>
                    </a:lnTo>
                    <a:lnTo>
                      <a:pt x="689" y="738"/>
                    </a:lnTo>
                    <a:lnTo>
                      <a:pt x="694" y="718"/>
                    </a:lnTo>
                    <a:lnTo>
                      <a:pt x="696" y="700"/>
                    </a:lnTo>
                    <a:lnTo>
                      <a:pt x="695" y="684"/>
                    </a:lnTo>
                    <a:lnTo>
                      <a:pt x="693" y="670"/>
                    </a:lnTo>
                    <a:lnTo>
                      <a:pt x="691" y="662"/>
                    </a:lnTo>
                    <a:lnTo>
                      <a:pt x="690" y="658"/>
                    </a:lnTo>
                    <a:lnTo>
                      <a:pt x="693" y="661"/>
                    </a:lnTo>
                    <a:lnTo>
                      <a:pt x="700" y="665"/>
                    </a:lnTo>
                    <a:lnTo>
                      <a:pt x="710" y="673"/>
                    </a:lnTo>
                    <a:lnTo>
                      <a:pt x="724" y="681"/>
                    </a:lnTo>
                    <a:lnTo>
                      <a:pt x="739" y="689"/>
                    </a:lnTo>
                    <a:lnTo>
                      <a:pt x="756" y="696"/>
                    </a:lnTo>
                    <a:lnTo>
                      <a:pt x="773" y="701"/>
                    </a:lnTo>
                    <a:lnTo>
                      <a:pt x="791" y="702"/>
                    </a:lnTo>
                    <a:lnTo>
                      <a:pt x="810" y="699"/>
                    </a:lnTo>
                    <a:lnTo>
                      <a:pt x="834" y="689"/>
                    </a:lnTo>
                    <a:lnTo>
                      <a:pt x="860" y="677"/>
                    </a:lnTo>
                    <a:lnTo>
                      <a:pt x="886" y="661"/>
                    </a:lnTo>
                    <a:lnTo>
                      <a:pt x="911" y="639"/>
                    </a:lnTo>
                    <a:lnTo>
                      <a:pt x="934" y="613"/>
                    </a:lnTo>
                    <a:lnTo>
                      <a:pt x="954" y="583"/>
                    </a:lnTo>
                    <a:lnTo>
                      <a:pt x="967" y="550"/>
                    </a:lnTo>
                    <a:lnTo>
                      <a:pt x="975" y="512"/>
                    </a:lnTo>
                    <a:lnTo>
                      <a:pt x="981" y="474"/>
                    </a:lnTo>
                    <a:lnTo>
                      <a:pt x="983" y="439"/>
                    </a:lnTo>
                    <a:lnTo>
                      <a:pt x="982" y="406"/>
                    </a:lnTo>
                    <a:close/>
                  </a:path>
                </a:pathLst>
              </a:custGeom>
              <a:solidFill>
                <a:srgbClr val="66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1" name="Freeform 651"/>
              <p:cNvSpPr/>
              <p:nvPr/>
            </p:nvSpPr>
            <p:spPr bwMode="auto">
              <a:xfrm>
                <a:off x="3244" y="2510"/>
                <a:ext cx="256" cy="77"/>
              </a:xfrm>
              <a:custGeom>
                <a:avLst/>
                <a:gdLst>
                  <a:gd name="T0" fmla="*/ 1 w 511"/>
                  <a:gd name="T1" fmla="*/ 1 h 154"/>
                  <a:gd name="T2" fmla="*/ 1 w 511"/>
                  <a:gd name="T3" fmla="*/ 1 h 154"/>
                  <a:gd name="T4" fmla="*/ 1 w 511"/>
                  <a:gd name="T5" fmla="*/ 1 h 154"/>
                  <a:gd name="T6" fmla="*/ 1 w 511"/>
                  <a:gd name="T7" fmla="*/ 1 h 154"/>
                  <a:gd name="T8" fmla="*/ 1 w 511"/>
                  <a:gd name="T9" fmla="*/ 1 h 154"/>
                  <a:gd name="T10" fmla="*/ 1 w 511"/>
                  <a:gd name="T11" fmla="*/ 1 h 154"/>
                  <a:gd name="T12" fmla="*/ 1 w 511"/>
                  <a:gd name="T13" fmla="*/ 1 h 154"/>
                  <a:gd name="T14" fmla="*/ 1 w 511"/>
                  <a:gd name="T15" fmla="*/ 1 h 154"/>
                  <a:gd name="T16" fmla="*/ 1 w 511"/>
                  <a:gd name="T17" fmla="*/ 1 h 154"/>
                  <a:gd name="T18" fmla="*/ 1 w 511"/>
                  <a:gd name="T19" fmla="*/ 1 h 154"/>
                  <a:gd name="T20" fmla="*/ 1 w 511"/>
                  <a:gd name="T21" fmla="*/ 1 h 154"/>
                  <a:gd name="T22" fmla="*/ 1 w 511"/>
                  <a:gd name="T23" fmla="*/ 1 h 154"/>
                  <a:gd name="T24" fmla="*/ 1 w 511"/>
                  <a:gd name="T25" fmla="*/ 1 h 154"/>
                  <a:gd name="T26" fmla="*/ 1 w 511"/>
                  <a:gd name="T27" fmla="*/ 1 h 154"/>
                  <a:gd name="T28" fmla="*/ 1 w 511"/>
                  <a:gd name="T29" fmla="*/ 1 h 154"/>
                  <a:gd name="T30" fmla="*/ 1 w 511"/>
                  <a:gd name="T31" fmla="*/ 1 h 154"/>
                  <a:gd name="T32" fmla="*/ 1 w 511"/>
                  <a:gd name="T33" fmla="*/ 1 h 154"/>
                  <a:gd name="T34" fmla="*/ 1 w 511"/>
                  <a:gd name="T35" fmla="*/ 1 h 154"/>
                  <a:gd name="T36" fmla="*/ 1 w 511"/>
                  <a:gd name="T37" fmla="*/ 1 h 154"/>
                  <a:gd name="T38" fmla="*/ 1 w 511"/>
                  <a:gd name="T39" fmla="*/ 1 h 154"/>
                  <a:gd name="T40" fmla="*/ 1 w 511"/>
                  <a:gd name="T41" fmla="*/ 1 h 154"/>
                  <a:gd name="T42" fmla="*/ 1 w 511"/>
                  <a:gd name="T43" fmla="*/ 1 h 154"/>
                  <a:gd name="T44" fmla="*/ 1 w 511"/>
                  <a:gd name="T45" fmla="*/ 1 h 154"/>
                  <a:gd name="T46" fmla="*/ 0 w 511"/>
                  <a:gd name="T47" fmla="*/ 1 h 154"/>
                  <a:gd name="T48" fmla="*/ 0 w 511"/>
                  <a:gd name="T49" fmla="*/ 1 h 154"/>
                  <a:gd name="T50" fmla="*/ 1 w 511"/>
                  <a:gd name="T51" fmla="*/ 1 h 154"/>
                  <a:gd name="T52" fmla="*/ 1 w 511"/>
                  <a:gd name="T53" fmla="*/ 1 h 154"/>
                  <a:gd name="T54" fmla="*/ 1 w 511"/>
                  <a:gd name="T55" fmla="*/ 1 h 154"/>
                  <a:gd name="T56" fmla="*/ 1 w 511"/>
                  <a:gd name="T57" fmla="*/ 1 h 154"/>
                  <a:gd name="T58" fmla="*/ 1 w 511"/>
                  <a:gd name="T59" fmla="*/ 1 h 154"/>
                  <a:gd name="T60" fmla="*/ 1 w 511"/>
                  <a:gd name="T61" fmla="*/ 1 h 154"/>
                  <a:gd name="T62" fmla="*/ 1 w 511"/>
                  <a:gd name="T63" fmla="*/ 1 h 154"/>
                  <a:gd name="T64" fmla="*/ 1 w 511"/>
                  <a:gd name="T65" fmla="*/ 1 h 154"/>
                  <a:gd name="T66" fmla="*/ 1 w 511"/>
                  <a:gd name="T67" fmla="*/ 1 h 154"/>
                  <a:gd name="T68" fmla="*/ 1 w 511"/>
                  <a:gd name="T69" fmla="*/ 1 h 154"/>
                  <a:gd name="T70" fmla="*/ 1 w 511"/>
                  <a:gd name="T71" fmla="*/ 0 h 154"/>
                  <a:gd name="T72" fmla="*/ 1 w 511"/>
                  <a:gd name="T73" fmla="*/ 1 h 154"/>
                  <a:gd name="T74" fmla="*/ 1 w 511"/>
                  <a:gd name="T75" fmla="*/ 1 h 154"/>
                  <a:gd name="T76" fmla="*/ 1 w 511"/>
                  <a:gd name="T77" fmla="*/ 1 h 154"/>
                  <a:gd name="T78" fmla="*/ 1 w 511"/>
                  <a:gd name="T79" fmla="*/ 1 h 154"/>
                  <a:gd name="T80" fmla="*/ 1 w 511"/>
                  <a:gd name="T81" fmla="*/ 1 h 154"/>
                  <a:gd name="T82" fmla="*/ 1 w 511"/>
                  <a:gd name="T83" fmla="*/ 1 h 154"/>
                  <a:gd name="T84" fmla="*/ 1 w 511"/>
                  <a:gd name="T85" fmla="*/ 1 h 154"/>
                  <a:gd name="T86" fmla="*/ 1 w 511"/>
                  <a:gd name="T87" fmla="*/ 1 h 154"/>
                  <a:gd name="T88" fmla="*/ 1 w 511"/>
                  <a:gd name="T89" fmla="*/ 1 h 154"/>
                  <a:gd name="T90" fmla="*/ 1 w 511"/>
                  <a:gd name="T91" fmla="*/ 1 h 154"/>
                  <a:gd name="T92" fmla="*/ 1 w 511"/>
                  <a:gd name="T93" fmla="*/ 1 h 154"/>
                  <a:gd name="T94" fmla="*/ 1 w 511"/>
                  <a:gd name="T95" fmla="*/ 1 h 154"/>
                  <a:gd name="T96" fmla="*/ 1 w 511"/>
                  <a:gd name="T97" fmla="*/ 1 h 154"/>
                  <a:gd name="T98" fmla="*/ 1 w 511"/>
                  <a:gd name="T99" fmla="*/ 1 h 154"/>
                  <a:gd name="T100" fmla="*/ 1 w 511"/>
                  <a:gd name="T101" fmla="*/ 1 h 154"/>
                  <a:gd name="T102" fmla="*/ 1 w 511"/>
                  <a:gd name="T103" fmla="*/ 1 h 154"/>
                  <a:gd name="T104" fmla="*/ 1 w 511"/>
                  <a:gd name="T105" fmla="*/ 1 h 154"/>
                  <a:gd name="T106" fmla="*/ 1 w 511"/>
                  <a:gd name="T107" fmla="*/ 1 h 154"/>
                  <a:gd name="T108" fmla="*/ 1 w 511"/>
                  <a:gd name="T109" fmla="*/ 1 h 154"/>
                  <a:gd name="T110" fmla="*/ 1 w 511"/>
                  <a:gd name="T111" fmla="*/ 1 h 154"/>
                  <a:gd name="T112" fmla="*/ 1 w 511"/>
                  <a:gd name="T113" fmla="*/ 1 h 15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1"/>
                  <a:gd name="T172" fmla="*/ 0 h 154"/>
                  <a:gd name="T173" fmla="*/ 511 w 511"/>
                  <a:gd name="T174" fmla="*/ 154 h 15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1" h="154">
                    <a:moveTo>
                      <a:pt x="511" y="153"/>
                    </a:moveTo>
                    <a:lnTo>
                      <a:pt x="503" y="154"/>
                    </a:lnTo>
                    <a:lnTo>
                      <a:pt x="496" y="151"/>
                    </a:lnTo>
                    <a:lnTo>
                      <a:pt x="489" y="145"/>
                    </a:lnTo>
                    <a:lnTo>
                      <a:pt x="483" y="141"/>
                    </a:lnTo>
                    <a:lnTo>
                      <a:pt x="459" y="120"/>
                    </a:lnTo>
                    <a:lnTo>
                      <a:pt x="434" y="101"/>
                    </a:lnTo>
                    <a:lnTo>
                      <a:pt x="407" y="86"/>
                    </a:lnTo>
                    <a:lnTo>
                      <a:pt x="379" y="74"/>
                    </a:lnTo>
                    <a:lnTo>
                      <a:pt x="350" y="64"/>
                    </a:lnTo>
                    <a:lnTo>
                      <a:pt x="319" y="56"/>
                    </a:lnTo>
                    <a:lnTo>
                      <a:pt x="288" y="51"/>
                    </a:lnTo>
                    <a:lnTo>
                      <a:pt x="255" y="48"/>
                    </a:lnTo>
                    <a:lnTo>
                      <a:pt x="224" y="47"/>
                    </a:lnTo>
                    <a:lnTo>
                      <a:pt x="192" y="47"/>
                    </a:lnTo>
                    <a:lnTo>
                      <a:pt x="160" y="51"/>
                    </a:lnTo>
                    <a:lnTo>
                      <a:pt x="129" y="55"/>
                    </a:lnTo>
                    <a:lnTo>
                      <a:pt x="98" y="61"/>
                    </a:lnTo>
                    <a:lnTo>
                      <a:pt x="68" y="68"/>
                    </a:lnTo>
                    <a:lnTo>
                      <a:pt x="38" y="77"/>
                    </a:lnTo>
                    <a:lnTo>
                      <a:pt x="10" y="88"/>
                    </a:lnTo>
                    <a:lnTo>
                      <a:pt x="5" y="83"/>
                    </a:lnTo>
                    <a:lnTo>
                      <a:pt x="2" y="78"/>
                    </a:lnTo>
                    <a:lnTo>
                      <a:pt x="0" y="71"/>
                    </a:lnTo>
                    <a:lnTo>
                      <a:pt x="0" y="63"/>
                    </a:lnTo>
                    <a:lnTo>
                      <a:pt x="15" y="52"/>
                    </a:lnTo>
                    <a:lnTo>
                      <a:pt x="31" y="41"/>
                    </a:lnTo>
                    <a:lnTo>
                      <a:pt x="47" y="32"/>
                    </a:lnTo>
                    <a:lnTo>
                      <a:pt x="64" y="24"/>
                    </a:lnTo>
                    <a:lnTo>
                      <a:pt x="81" y="17"/>
                    </a:lnTo>
                    <a:lnTo>
                      <a:pt x="100" y="11"/>
                    </a:lnTo>
                    <a:lnTo>
                      <a:pt x="118" y="8"/>
                    </a:lnTo>
                    <a:lnTo>
                      <a:pt x="137" y="5"/>
                    </a:lnTo>
                    <a:lnTo>
                      <a:pt x="156" y="2"/>
                    </a:lnTo>
                    <a:lnTo>
                      <a:pt x="175" y="1"/>
                    </a:lnTo>
                    <a:lnTo>
                      <a:pt x="194" y="0"/>
                    </a:lnTo>
                    <a:lnTo>
                      <a:pt x="214" y="1"/>
                    </a:lnTo>
                    <a:lnTo>
                      <a:pt x="233" y="2"/>
                    </a:lnTo>
                    <a:lnTo>
                      <a:pt x="253" y="5"/>
                    </a:lnTo>
                    <a:lnTo>
                      <a:pt x="273" y="7"/>
                    </a:lnTo>
                    <a:lnTo>
                      <a:pt x="291" y="10"/>
                    </a:lnTo>
                    <a:lnTo>
                      <a:pt x="307" y="14"/>
                    </a:lnTo>
                    <a:lnTo>
                      <a:pt x="323" y="17"/>
                    </a:lnTo>
                    <a:lnTo>
                      <a:pt x="339" y="22"/>
                    </a:lnTo>
                    <a:lnTo>
                      <a:pt x="356" y="28"/>
                    </a:lnTo>
                    <a:lnTo>
                      <a:pt x="372" y="33"/>
                    </a:lnTo>
                    <a:lnTo>
                      <a:pt x="387" y="40"/>
                    </a:lnTo>
                    <a:lnTo>
                      <a:pt x="403" y="48"/>
                    </a:lnTo>
                    <a:lnTo>
                      <a:pt x="417" y="58"/>
                    </a:lnTo>
                    <a:lnTo>
                      <a:pt x="432" y="67"/>
                    </a:lnTo>
                    <a:lnTo>
                      <a:pt x="445" y="76"/>
                    </a:lnTo>
                    <a:lnTo>
                      <a:pt x="458" y="88"/>
                    </a:lnTo>
                    <a:lnTo>
                      <a:pt x="471" y="99"/>
                    </a:lnTo>
                    <a:lnTo>
                      <a:pt x="482" y="112"/>
                    </a:lnTo>
                    <a:lnTo>
                      <a:pt x="493" y="124"/>
                    </a:lnTo>
                    <a:lnTo>
                      <a:pt x="502" y="138"/>
                    </a:lnTo>
                    <a:lnTo>
                      <a:pt x="511" y="153"/>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2" name="Freeform 652"/>
              <p:cNvSpPr/>
              <p:nvPr/>
            </p:nvSpPr>
            <p:spPr bwMode="auto">
              <a:xfrm>
                <a:off x="3161" y="2556"/>
                <a:ext cx="338" cy="415"/>
              </a:xfrm>
              <a:custGeom>
                <a:avLst/>
                <a:gdLst>
                  <a:gd name="T0" fmla="*/ 1 w 676"/>
                  <a:gd name="T1" fmla="*/ 0 h 831"/>
                  <a:gd name="T2" fmla="*/ 1 w 676"/>
                  <a:gd name="T3" fmla="*/ 0 h 831"/>
                  <a:gd name="T4" fmla="*/ 1 w 676"/>
                  <a:gd name="T5" fmla="*/ 0 h 831"/>
                  <a:gd name="T6" fmla="*/ 1 w 676"/>
                  <a:gd name="T7" fmla="*/ 0 h 831"/>
                  <a:gd name="T8" fmla="*/ 1 w 676"/>
                  <a:gd name="T9" fmla="*/ 0 h 831"/>
                  <a:gd name="T10" fmla="*/ 1 w 676"/>
                  <a:gd name="T11" fmla="*/ 0 h 831"/>
                  <a:gd name="T12" fmla="*/ 1 w 676"/>
                  <a:gd name="T13" fmla="*/ 0 h 831"/>
                  <a:gd name="T14" fmla="*/ 1 w 676"/>
                  <a:gd name="T15" fmla="*/ 0 h 831"/>
                  <a:gd name="T16" fmla="*/ 1 w 676"/>
                  <a:gd name="T17" fmla="*/ 0 h 831"/>
                  <a:gd name="T18" fmla="*/ 1 w 676"/>
                  <a:gd name="T19" fmla="*/ 0 h 831"/>
                  <a:gd name="T20" fmla="*/ 1 w 676"/>
                  <a:gd name="T21" fmla="*/ 0 h 831"/>
                  <a:gd name="T22" fmla="*/ 1 w 676"/>
                  <a:gd name="T23" fmla="*/ 0 h 831"/>
                  <a:gd name="T24" fmla="*/ 1 w 676"/>
                  <a:gd name="T25" fmla="*/ 0 h 831"/>
                  <a:gd name="T26" fmla="*/ 1 w 676"/>
                  <a:gd name="T27" fmla="*/ 0 h 831"/>
                  <a:gd name="T28" fmla="*/ 1 w 676"/>
                  <a:gd name="T29" fmla="*/ 0 h 831"/>
                  <a:gd name="T30" fmla="*/ 1 w 676"/>
                  <a:gd name="T31" fmla="*/ 0 h 831"/>
                  <a:gd name="T32" fmla="*/ 1 w 676"/>
                  <a:gd name="T33" fmla="*/ 0 h 831"/>
                  <a:gd name="T34" fmla="*/ 1 w 676"/>
                  <a:gd name="T35" fmla="*/ 0 h 831"/>
                  <a:gd name="T36" fmla="*/ 1 w 676"/>
                  <a:gd name="T37" fmla="*/ 0 h 831"/>
                  <a:gd name="T38" fmla="*/ 1 w 676"/>
                  <a:gd name="T39" fmla="*/ 0 h 831"/>
                  <a:gd name="T40" fmla="*/ 1 w 676"/>
                  <a:gd name="T41" fmla="*/ 0 h 831"/>
                  <a:gd name="T42" fmla="*/ 1 w 676"/>
                  <a:gd name="T43" fmla="*/ 0 h 831"/>
                  <a:gd name="T44" fmla="*/ 1 w 676"/>
                  <a:gd name="T45" fmla="*/ 0 h 831"/>
                  <a:gd name="T46" fmla="*/ 1 w 676"/>
                  <a:gd name="T47" fmla="*/ 0 h 831"/>
                  <a:gd name="T48" fmla="*/ 1 w 676"/>
                  <a:gd name="T49" fmla="*/ 0 h 831"/>
                  <a:gd name="T50" fmla="*/ 1 w 676"/>
                  <a:gd name="T51" fmla="*/ 0 h 831"/>
                  <a:gd name="T52" fmla="*/ 1 w 676"/>
                  <a:gd name="T53" fmla="*/ 0 h 831"/>
                  <a:gd name="T54" fmla="*/ 1 w 676"/>
                  <a:gd name="T55" fmla="*/ 0 h 831"/>
                  <a:gd name="T56" fmla="*/ 1 w 676"/>
                  <a:gd name="T57" fmla="*/ 0 h 831"/>
                  <a:gd name="T58" fmla="*/ 1 w 676"/>
                  <a:gd name="T59" fmla="*/ 0 h 831"/>
                  <a:gd name="T60" fmla="*/ 1 w 676"/>
                  <a:gd name="T61" fmla="*/ 0 h 831"/>
                  <a:gd name="T62" fmla="*/ 1 w 676"/>
                  <a:gd name="T63" fmla="*/ 0 h 831"/>
                  <a:gd name="T64" fmla="*/ 1 w 676"/>
                  <a:gd name="T65" fmla="*/ 0 h 831"/>
                  <a:gd name="T66" fmla="*/ 1 w 676"/>
                  <a:gd name="T67" fmla="*/ 0 h 831"/>
                  <a:gd name="T68" fmla="*/ 1 w 676"/>
                  <a:gd name="T69" fmla="*/ 0 h 831"/>
                  <a:gd name="T70" fmla="*/ 1 w 676"/>
                  <a:gd name="T71" fmla="*/ 0 h 831"/>
                  <a:gd name="T72" fmla="*/ 1 w 676"/>
                  <a:gd name="T73" fmla="*/ 0 h 831"/>
                  <a:gd name="T74" fmla="*/ 1 w 676"/>
                  <a:gd name="T75" fmla="*/ 0 h 831"/>
                  <a:gd name="T76" fmla="*/ 1 w 676"/>
                  <a:gd name="T77" fmla="*/ 0 h 831"/>
                  <a:gd name="T78" fmla="*/ 1 w 676"/>
                  <a:gd name="T79" fmla="*/ 0 h 831"/>
                  <a:gd name="T80" fmla="*/ 1 w 676"/>
                  <a:gd name="T81" fmla="*/ 0 h 831"/>
                  <a:gd name="T82" fmla="*/ 1 w 676"/>
                  <a:gd name="T83" fmla="*/ 0 h 831"/>
                  <a:gd name="T84" fmla="*/ 1 w 676"/>
                  <a:gd name="T85" fmla="*/ 0 h 831"/>
                  <a:gd name="T86" fmla="*/ 1 w 676"/>
                  <a:gd name="T87" fmla="*/ 0 h 831"/>
                  <a:gd name="T88" fmla="*/ 1 w 676"/>
                  <a:gd name="T89" fmla="*/ 0 h 831"/>
                  <a:gd name="T90" fmla="*/ 1 w 676"/>
                  <a:gd name="T91" fmla="*/ 0 h 831"/>
                  <a:gd name="T92" fmla="*/ 1 w 676"/>
                  <a:gd name="T93" fmla="*/ 0 h 831"/>
                  <a:gd name="T94" fmla="*/ 1 w 676"/>
                  <a:gd name="T95" fmla="*/ 0 h 831"/>
                  <a:gd name="T96" fmla="*/ 1 w 676"/>
                  <a:gd name="T97" fmla="*/ 0 h 831"/>
                  <a:gd name="T98" fmla="*/ 1 w 676"/>
                  <a:gd name="T99" fmla="*/ 0 h 831"/>
                  <a:gd name="T100" fmla="*/ 1 w 676"/>
                  <a:gd name="T101" fmla="*/ 0 h 831"/>
                  <a:gd name="T102" fmla="*/ 1 w 676"/>
                  <a:gd name="T103" fmla="*/ 0 h 83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676"/>
                  <a:gd name="T157" fmla="*/ 0 h 831"/>
                  <a:gd name="T158" fmla="*/ 676 w 676"/>
                  <a:gd name="T159" fmla="*/ 831 h 83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676" h="831">
                    <a:moveTo>
                      <a:pt x="615" y="831"/>
                    </a:moveTo>
                    <a:lnTo>
                      <a:pt x="608" y="827"/>
                    </a:lnTo>
                    <a:lnTo>
                      <a:pt x="602" y="824"/>
                    </a:lnTo>
                    <a:lnTo>
                      <a:pt x="598" y="818"/>
                    </a:lnTo>
                    <a:lnTo>
                      <a:pt x="593" y="811"/>
                    </a:lnTo>
                    <a:lnTo>
                      <a:pt x="588" y="804"/>
                    </a:lnTo>
                    <a:lnTo>
                      <a:pt x="585" y="797"/>
                    </a:lnTo>
                    <a:lnTo>
                      <a:pt x="580" y="790"/>
                    </a:lnTo>
                    <a:lnTo>
                      <a:pt x="577" y="784"/>
                    </a:lnTo>
                    <a:lnTo>
                      <a:pt x="565" y="762"/>
                    </a:lnTo>
                    <a:lnTo>
                      <a:pt x="555" y="739"/>
                    </a:lnTo>
                    <a:lnTo>
                      <a:pt x="546" y="716"/>
                    </a:lnTo>
                    <a:lnTo>
                      <a:pt x="539" y="691"/>
                    </a:lnTo>
                    <a:lnTo>
                      <a:pt x="533" y="666"/>
                    </a:lnTo>
                    <a:lnTo>
                      <a:pt x="527" y="641"/>
                    </a:lnTo>
                    <a:lnTo>
                      <a:pt x="523" y="615"/>
                    </a:lnTo>
                    <a:lnTo>
                      <a:pt x="518" y="590"/>
                    </a:lnTo>
                    <a:lnTo>
                      <a:pt x="505" y="580"/>
                    </a:lnTo>
                    <a:lnTo>
                      <a:pt x="492" y="570"/>
                    </a:lnTo>
                    <a:lnTo>
                      <a:pt x="479" y="560"/>
                    </a:lnTo>
                    <a:lnTo>
                      <a:pt x="466" y="549"/>
                    </a:lnTo>
                    <a:lnTo>
                      <a:pt x="454" y="538"/>
                    </a:lnTo>
                    <a:lnTo>
                      <a:pt x="441" y="527"/>
                    </a:lnTo>
                    <a:lnTo>
                      <a:pt x="431" y="514"/>
                    </a:lnTo>
                    <a:lnTo>
                      <a:pt x="421" y="501"/>
                    </a:lnTo>
                    <a:lnTo>
                      <a:pt x="410" y="501"/>
                    </a:lnTo>
                    <a:lnTo>
                      <a:pt x="396" y="498"/>
                    </a:lnTo>
                    <a:lnTo>
                      <a:pt x="383" y="492"/>
                    </a:lnTo>
                    <a:lnTo>
                      <a:pt x="371" y="485"/>
                    </a:lnTo>
                    <a:lnTo>
                      <a:pt x="360" y="477"/>
                    </a:lnTo>
                    <a:lnTo>
                      <a:pt x="351" y="470"/>
                    </a:lnTo>
                    <a:lnTo>
                      <a:pt x="345" y="464"/>
                    </a:lnTo>
                    <a:lnTo>
                      <a:pt x="343" y="462"/>
                    </a:lnTo>
                    <a:lnTo>
                      <a:pt x="349" y="461"/>
                    </a:lnTo>
                    <a:lnTo>
                      <a:pt x="355" y="462"/>
                    </a:lnTo>
                    <a:lnTo>
                      <a:pt x="359" y="463"/>
                    </a:lnTo>
                    <a:lnTo>
                      <a:pt x="365" y="463"/>
                    </a:lnTo>
                    <a:lnTo>
                      <a:pt x="371" y="464"/>
                    </a:lnTo>
                    <a:lnTo>
                      <a:pt x="378" y="466"/>
                    </a:lnTo>
                    <a:lnTo>
                      <a:pt x="383" y="464"/>
                    </a:lnTo>
                    <a:lnTo>
                      <a:pt x="390" y="462"/>
                    </a:lnTo>
                    <a:lnTo>
                      <a:pt x="406" y="448"/>
                    </a:lnTo>
                    <a:lnTo>
                      <a:pt x="416" y="433"/>
                    </a:lnTo>
                    <a:lnTo>
                      <a:pt x="419" y="416"/>
                    </a:lnTo>
                    <a:lnTo>
                      <a:pt x="424" y="399"/>
                    </a:lnTo>
                    <a:lnTo>
                      <a:pt x="421" y="387"/>
                    </a:lnTo>
                    <a:lnTo>
                      <a:pt x="420" y="376"/>
                    </a:lnTo>
                    <a:lnTo>
                      <a:pt x="417" y="364"/>
                    </a:lnTo>
                    <a:lnTo>
                      <a:pt x="414" y="353"/>
                    </a:lnTo>
                    <a:lnTo>
                      <a:pt x="410" y="342"/>
                    </a:lnTo>
                    <a:lnTo>
                      <a:pt x="404" y="334"/>
                    </a:lnTo>
                    <a:lnTo>
                      <a:pt x="397" y="326"/>
                    </a:lnTo>
                    <a:lnTo>
                      <a:pt x="388" y="320"/>
                    </a:lnTo>
                    <a:lnTo>
                      <a:pt x="371" y="316"/>
                    </a:lnTo>
                    <a:lnTo>
                      <a:pt x="353" y="312"/>
                    </a:lnTo>
                    <a:lnTo>
                      <a:pt x="336" y="309"/>
                    </a:lnTo>
                    <a:lnTo>
                      <a:pt x="319" y="307"/>
                    </a:lnTo>
                    <a:lnTo>
                      <a:pt x="302" y="303"/>
                    </a:lnTo>
                    <a:lnTo>
                      <a:pt x="284" y="300"/>
                    </a:lnTo>
                    <a:lnTo>
                      <a:pt x="268" y="296"/>
                    </a:lnTo>
                    <a:lnTo>
                      <a:pt x="251" y="293"/>
                    </a:lnTo>
                    <a:lnTo>
                      <a:pt x="234" y="288"/>
                    </a:lnTo>
                    <a:lnTo>
                      <a:pt x="218" y="284"/>
                    </a:lnTo>
                    <a:lnTo>
                      <a:pt x="201" y="279"/>
                    </a:lnTo>
                    <a:lnTo>
                      <a:pt x="185" y="272"/>
                    </a:lnTo>
                    <a:lnTo>
                      <a:pt x="169" y="265"/>
                    </a:lnTo>
                    <a:lnTo>
                      <a:pt x="154" y="257"/>
                    </a:lnTo>
                    <a:lnTo>
                      <a:pt x="139" y="248"/>
                    </a:lnTo>
                    <a:lnTo>
                      <a:pt x="125" y="237"/>
                    </a:lnTo>
                    <a:lnTo>
                      <a:pt x="115" y="277"/>
                    </a:lnTo>
                    <a:lnTo>
                      <a:pt x="107" y="317"/>
                    </a:lnTo>
                    <a:lnTo>
                      <a:pt x="100" y="360"/>
                    </a:lnTo>
                    <a:lnTo>
                      <a:pt x="98" y="401"/>
                    </a:lnTo>
                    <a:lnTo>
                      <a:pt x="98" y="445"/>
                    </a:lnTo>
                    <a:lnTo>
                      <a:pt x="102" y="487"/>
                    </a:lnTo>
                    <a:lnTo>
                      <a:pt x="110" y="530"/>
                    </a:lnTo>
                    <a:lnTo>
                      <a:pt x="122" y="573"/>
                    </a:lnTo>
                    <a:lnTo>
                      <a:pt x="133" y="592"/>
                    </a:lnTo>
                    <a:lnTo>
                      <a:pt x="145" y="614"/>
                    </a:lnTo>
                    <a:lnTo>
                      <a:pt x="159" y="635"/>
                    </a:lnTo>
                    <a:lnTo>
                      <a:pt x="173" y="655"/>
                    </a:lnTo>
                    <a:lnTo>
                      <a:pt x="189" y="673"/>
                    </a:lnTo>
                    <a:lnTo>
                      <a:pt x="207" y="689"/>
                    </a:lnTo>
                    <a:lnTo>
                      <a:pt x="227" y="702"/>
                    </a:lnTo>
                    <a:lnTo>
                      <a:pt x="250" y="711"/>
                    </a:lnTo>
                    <a:lnTo>
                      <a:pt x="256" y="711"/>
                    </a:lnTo>
                    <a:lnTo>
                      <a:pt x="262" y="709"/>
                    </a:lnTo>
                    <a:lnTo>
                      <a:pt x="269" y="706"/>
                    </a:lnTo>
                    <a:lnTo>
                      <a:pt x="275" y="704"/>
                    </a:lnTo>
                    <a:lnTo>
                      <a:pt x="281" y="702"/>
                    </a:lnTo>
                    <a:lnTo>
                      <a:pt x="287" y="701"/>
                    </a:lnTo>
                    <a:lnTo>
                      <a:pt x="290" y="703"/>
                    </a:lnTo>
                    <a:lnTo>
                      <a:pt x="294" y="708"/>
                    </a:lnTo>
                    <a:lnTo>
                      <a:pt x="287" y="712"/>
                    </a:lnTo>
                    <a:lnTo>
                      <a:pt x="280" y="716"/>
                    </a:lnTo>
                    <a:lnTo>
                      <a:pt x="273" y="719"/>
                    </a:lnTo>
                    <a:lnTo>
                      <a:pt x="266" y="721"/>
                    </a:lnTo>
                    <a:lnTo>
                      <a:pt x="259" y="723"/>
                    </a:lnTo>
                    <a:lnTo>
                      <a:pt x="251" y="724"/>
                    </a:lnTo>
                    <a:lnTo>
                      <a:pt x="243" y="723"/>
                    </a:lnTo>
                    <a:lnTo>
                      <a:pt x="235" y="720"/>
                    </a:lnTo>
                    <a:lnTo>
                      <a:pt x="212" y="710"/>
                    </a:lnTo>
                    <a:lnTo>
                      <a:pt x="191" y="698"/>
                    </a:lnTo>
                    <a:lnTo>
                      <a:pt x="171" y="686"/>
                    </a:lnTo>
                    <a:lnTo>
                      <a:pt x="153" y="671"/>
                    </a:lnTo>
                    <a:lnTo>
                      <a:pt x="137" y="655"/>
                    </a:lnTo>
                    <a:lnTo>
                      <a:pt x="122" y="637"/>
                    </a:lnTo>
                    <a:lnTo>
                      <a:pt x="108" y="618"/>
                    </a:lnTo>
                    <a:lnTo>
                      <a:pt x="97" y="598"/>
                    </a:lnTo>
                    <a:lnTo>
                      <a:pt x="86" y="577"/>
                    </a:lnTo>
                    <a:lnTo>
                      <a:pt x="77" y="555"/>
                    </a:lnTo>
                    <a:lnTo>
                      <a:pt x="69" y="532"/>
                    </a:lnTo>
                    <a:lnTo>
                      <a:pt x="63" y="509"/>
                    </a:lnTo>
                    <a:lnTo>
                      <a:pt x="59" y="485"/>
                    </a:lnTo>
                    <a:lnTo>
                      <a:pt x="55" y="461"/>
                    </a:lnTo>
                    <a:lnTo>
                      <a:pt x="53" y="437"/>
                    </a:lnTo>
                    <a:lnTo>
                      <a:pt x="53" y="411"/>
                    </a:lnTo>
                    <a:lnTo>
                      <a:pt x="53" y="330"/>
                    </a:lnTo>
                    <a:lnTo>
                      <a:pt x="45" y="330"/>
                    </a:lnTo>
                    <a:lnTo>
                      <a:pt x="38" y="330"/>
                    </a:lnTo>
                    <a:lnTo>
                      <a:pt x="30" y="330"/>
                    </a:lnTo>
                    <a:lnTo>
                      <a:pt x="22" y="328"/>
                    </a:lnTo>
                    <a:lnTo>
                      <a:pt x="15" y="326"/>
                    </a:lnTo>
                    <a:lnTo>
                      <a:pt x="9" y="323"/>
                    </a:lnTo>
                    <a:lnTo>
                      <a:pt x="3" y="319"/>
                    </a:lnTo>
                    <a:lnTo>
                      <a:pt x="0" y="314"/>
                    </a:lnTo>
                    <a:lnTo>
                      <a:pt x="56" y="294"/>
                    </a:lnTo>
                    <a:lnTo>
                      <a:pt x="61" y="269"/>
                    </a:lnTo>
                    <a:lnTo>
                      <a:pt x="65" y="242"/>
                    </a:lnTo>
                    <a:lnTo>
                      <a:pt x="72" y="217"/>
                    </a:lnTo>
                    <a:lnTo>
                      <a:pt x="87" y="196"/>
                    </a:lnTo>
                    <a:lnTo>
                      <a:pt x="78" y="184"/>
                    </a:lnTo>
                    <a:lnTo>
                      <a:pt x="71" y="171"/>
                    </a:lnTo>
                    <a:lnTo>
                      <a:pt x="64" y="156"/>
                    </a:lnTo>
                    <a:lnTo>
                      <a:pt x="60" y="141"/>
                    </a:lnTo>
                    <a:lnTo>
                      <a:pt x="56" y="126"/>
                    </a:lnTo>
                    <a:lnTo>
                      <a:pt x="56" y="110"/>
                    </a:lnTo>
                    <a:lnTo>
                      <a:pt x="57" y="93"/>
                    </a:lnTo>
                    <a:lnTo>
                      <a:pt x="63" y="77"/>
                    </a:lnTo>
                    <a:lnTo>
                      <a:pt x="70" y="65"/>
                    </a:lnTo>
                    <a:lnTo>
                      <a:pt x="77" y="53"/>
                    </a:lnTo>
                    <a:lnTo>
                      <a:pt x="85" y="42"/>
                    </a:lnTo>
                    <a:lnTo>
                      <a:pt x="94" y="31"/>
                    </a:lnTo>
                    <a:lnTo>
                      <a:pt x="103" y="22"/>
                    </a:lnTo>
                    <a:lnTo>
                      <a:pt x="115" y="14"/>
                    </a:lnTo>
                    <a:lnTo>
                      <a:pt x="125" y="7"/>
                    </a:lnTo>
                    <a:lnTo>
                      <a:pt x="138" y="0"/>
                    </a:lnTo>
                    <a:lnTo>
                      <a:pt x="144" y="8"/>
                    </a:lnTo>
                    <a:lnTo>
                      <a:pt x="145" y="15"/>
                    </a:lnTo>
                    <a:lnTo>
                      <a:pt x="142" y="22"/>
                    </a:lnTo>
                    <a:lnTo>
                      <a:pt x="135" y="28"/>
                    </a:lnTo>
                    <a:lnTo>
                      <a:pt x="127" y="34"/>
                    </a:lnTo>
                    <a:lnTo>
                      <a:pt x="120" y="40"/>
                    </a:lnTo>
                    <a:lnTo>
                      <a:pt x="113" y="47"/>
                    </a:lnTo>
                    <a:lnTo>
                      <a:pt x="109" y="55"/>
                    </a:lnTo>
                    <a:lnTo>
                      <a:pt x="102" y="83"/>
                    </a:lnTo>
                    <a:lnTo>
                      <a:pt x="103" y="113"/>
                    </a:lnTo>
                    <a:lnTo>
                      <a:pt x="110" y="141"/>
                    </a:lnTo>
                    <a:lnTo>
                      <a:pt x="122" y="166"/>
                    </a:lnTo>
                    <a:lnTo>
                      <a:pt x="138" y="184"/>
                    </a:lnTo>
                    <a:lnTo>
                      <a:pt x="154" y="201"/>
                    </a:lnTo>
                    <a:lnTo>
                      <a:pt x="173" y="214"/>
                    </a:lnTo>
                    <a:lnTo>
                      <a:pt x="192" y="226"/>
                    </a:lnTo>
                    <a:lnTo>
                      <a:pt x="212" y="235"/>
                    </a:lnTo>
                    <a:lnTo>
                      <a:pt x="232" y="242"/>
                    </a:lnTo>
                    <a:lnTo>
                      <a:pt x="254" y="249"/>
                    </a:lnTo>
                    <a:lnTo>
                      <a:pt x="276" y="255"/>
                    </a:lnTo>
                    <a:lnTo>
                      <a:pt x="298" y="259"/>
                    </a:lnTo>
                    <a:lnTo>
                      <a:pt x="320" y="265"/>
                    </a:lnTo>
                    <a:lnTo>
                      <a:pt x="342" y="271"/>
                    </a:lnTo>
                    <a:lnTo>
                      <a:pt x="364" y="277"/>
                    </a:lnTo>
                    <a:lnTo>
                      <a:pt x="385" y="284"/>
                    </a:lnTo>
                    <a:lnTo>
                      <a:pt x="405" y="293"/>
                    </a:lnTo>
                    <a:lnTo>
                      <a:pt x="425" y="302"/>
                    </a:lnTo>
                    <a:lnTo>
                      <a:pt x="444" y="315"/>
                    </a:lnTo>
                    <a:lnTo>
                      <a:pt x="459" y="317"/>
                    </a:lnTo>
                    <a:lnTo>
                      <a:pt x="474" y="322"/>
                    </a:lnTo>
                    <a:lnTo>
                      <a:pt x="488" y="328"/>
                    </a:lnTo>
                    <a:lnTo>
                      <a:pt x="501" y="337"/>
                    </a:lnTo>
                    <a:lnTo>
                      <a:pt x="512" y="347"/>
                    </a:lnTo>
                    <a:lnTo>
                      <a:pt x="523" y="358"/>
                    </a:lnTo>
                    <a:lnTo>
                      <a:pt x="531" y="370"/>
                    </a:lnTo>
                    <a:lnTo>
                      <a:pt x="539" y="384"/>
                    </a:lnTo>
                    <a:lnTo>
                      <a:pt x="541" y="396"/>
                    </a:lnTo>
                    <a:lnTo>
                      <a:pt x="540" y="410"/>
                    </a:lnTo>
                    <a:lnTo>
                      <a:pt x="534" y="421"/>
                    </a:lnTo>
                    <a:lnTo>
                      <a:pt x="524" y="430"/>
                    </a:lnTo>
                    <a:lnTo>
                      <a:pt x="517" y="430"/>
                    </a:lnTo>
                    <a:lnTo>
                      <a:pt x="510" y="426"/>
                    </a:lnTo>
                    <a:lnTo>
                      <a:pt x="502" y="422"/>
                    </a:lnTo>
                    <a:lnTo>
                      <a:pt x="495" y="417"/>
                    </a:lnTo>
                    <a:lnTo>
                      <a:pt x="488" y="411"/>
                    </a:lnTo>
                    <a:lnTo>
                      <a:pt x="482" y="406"/>
                    </a:lnTo>
                    <a:lnTo>
                      <a:pt x="479" y="402"/>
                    </a:lnTo>
                    <a:lnTo>
                      <a:pt x="478" y="401"/>
                    </a:lnTo>
                    <a:lnTo>
                      <a:pt x="485" y="405"/>
                    </a:lnTo>
                    <a:lnTo>
                      <a:pt x="492" y="409"/>
                    </a:lnTo>
                    <a:lnTo>
                      <a:pt x="497" y="413"/>
                    </a:lnTo>
                    <a:lnTo>
                      <a:pt x="505" y="414"/>
                    </a:lnTo>
                    <a:lnTo>
                      <a:pt x="511" y="409"/>
                    </a:lnTo>
                    <a:lnTo>
                      <a:pt x="515" y="402"/>
                    </a:lnTo>
                    <a:lnTo>
                      <a:pt x="516" y="396"/>
                    </a:lnTo>
                    <a:lnTo>
                      <a:pt x="516" y="388"/>
                    </a:lnTo>
                    <a:lnTo>
                      <a:pt x="508" y="383"/>
                    </a:lnTo>
                    <a:lnTo>
                      <a:pt x="501" y="375"/>
                    </a:lnTo>
                    <a:lnTo>
                      <a:pt x="493" y="368"/>
                    </a:lnTo>
                    <a:lnTo>
                      <a:pt x="484" y="361"/>
                    </a:lnTo>
                    <a:lnTo>
                      <a:pt x="476" y="354"/>
                    </a:lnTo>
                    <a:lnTo>
                      <a:pt x="466" y="349"/>
                    </a:lnTo>
                    <a:lnTo>
                      <a:pt x="456" y="346"/>
                    </a:lnTo>
                    <a:lnTo>
                      <a:pt x="447" y="346"/>
                    </a:lnTo>
                    <a:lnTo>
                      <a:pt x="454" y="368"/>
                    </a:lnTo>
                    <a:lnTo>
                      <a:pt x="457" y="392"/>
                    </a:lnTo>
                    <a:lnTo>
                      <a:pt x="458" y="416"/>
                    </a:lnTo>
                    <a:lnTo>
                      <a:pt x="461" y="440"/>
                    </a:lnTo>
                    <a:lnTo>
                      <a:pt x="463" y="464"/>
                    </a:lnTo>
                    <a:lnTo>
                      <a:pt x="469" y="487"/>
                    </a:lnTo>
                    <a:lnTo>
                      <a:pt x="480" y="509"/>
                    </a:lnTo>
                    <a:lnTo>
                      <a:pt x="496" y="529"/>
                    </a:lnTo>
                    <a:lnTo>
                      <a:pt x="510" y="544"/>
                    </a:lnTo>
                    <a:lnTo>
                      <a:pt x="524" y="560"/>
                    </a:lnTo>
                    <a:lnTo>
                      <a:pt x="539" y="575"/>
                    </a:lnTo>
                    <a:lnTo>
                      <a:pt x="556" y="589"/>
                    </a:lnTo>
                    <a:lnTo>
                      <a:pt x="573" y="600"/>
                    </a:lnTo>
                    <a:lnTo>
                      <a:pt x="592" y="608"/>
                    </a:lnTo>
                    <a:lnTo>
                      <a:pt x="611" y="612"/>
                    </a:lnTo>
                    <a:lnTo>
                      <a:pt x="633" y="611"/>
                    </a:lnTo>
                    <a:lnTo>
                      <a:pt x="637" y="607"/>
                    </a:lnTo>
                    <a:lnTo>
                      <a:pt x="641" y="604"/>
                    </a:lnTo>
                    <a:lnTo>
                      <a:pt x="646" y="602"/>
                    </a:lnTo>
                    <a:lnTo>
                      <a:pt x="649" y="598"/>
                    </a:lnTo>
                    <a:lnTo>
                      <a:pt x="645" y="593"/>
                    </a:lnTo>
                    <a:lnTo>
                      <a:pt x="639" y="591"/>
                    </a:lnTo>
                    <a:lnTo>
                      <a:pt x="634" y="589"/>
                    </a:lnTo>
                    <a:lnTo>
                      <a:pt x="633" y="583"/>
                    </a:lnTo>
                    <a:lnTo>
                      <a:pt x="640" y="578"/>
                    </a:lnTo>
                    <a:lnTo>
                      <a:pt x="647" y="576"/>
                    </a:lnTo>
                    <a:lnTo>
                      <a:pt x="656" y="575"/>
                    </a:lnTo>
                    <a:lnTo>
                      <a:pt x="664" y="577"/>
                    </a:lnTo>
                    <a:lnTo>
                      <a:pt x="671" y="584"/>
                    </a:lnTo>
                    <a:lnTo>
                      <a:pt x="675" y="592"/>
                    </a:lnTo>
                    <a:lnTo>
                      <a:pt x="676" y="600"/>
                    </a:lnTo>
                    <a:lnTo>
                      <a:pt x="675" y="608"/>
                    </a:lnTo>
                    <a:lnTo>
                      <a:pt x="674" y="619"/>
                    </a:lnTo>
                    <a:lnTo>
                      <a:pt x="668" y="628"/>
                    </a:lnTo>
                    <a:lnTo>
                      <a:pt x="657" y="636"/>
                    </a:lnTo>
                    <a:lnTo>
                      <a:pt x="645" y="643"/>
                    </a:lnTo>
                    <a:lnTo>
                      <a:pt x="630" y="644"/>
                    </a:lnTo>
                    <a:lnTo>
                      <a:pt x="616" y="643"/>
                    </a:lnTo>
                    <a:lnTo>
                      <a:pt x="602" y="641"/>
                    </a:lnTo>
                    <a:lnTo>
                      <a:pt x="590" y="637"/>
                    </a:lnTo>
                    <a:lnTo>
                      <a:pt x="577" y="631"/>
                    </a:lnTo>
                    <a:lnTo>
                      <a:pt x="565" y="627"/>
                    </a:lnTo>
                    <a:lnTo>
                      <a:pt x="556" y="620"/>
                    </a:lnTo>
                    <a:lnTo>
                      <a:pt x="547" y="614"/>
                    </a:lnTo>
                    <a:lnTo>
                      <a:pt x="554" y="636"/>
                    </a:lnTo>
                    <a:lnTo>
                      <a:pt x="562" y="658"/>
                    </a:lnTo>
                    <a:lnTo>
                      <a:pt x="571" y="679"/>
                    </a:lnTo>
                    <a:lnTo>
                      <a:pt x="581" y="701"/>
                    </a:lnTo>
                    <a:lnTo>
                      <a:pt x="593" y="721"/>
                    </a:lnTo>
                    <a:lnTo>
                      <a:pt x="605" y="743"/>
                    </a:lnTo>
                    <a:lnTo>
                      <a:pt x="617" y="764"/>
                    </a:lnTo>
                    <a:lnTo>
                      <a:pt x="631" y="784"/>
                    </a:lnTo>
                    <a:lnTo>
                      <a:pt x="615" y="831"/>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3" name="Freeform 653"/>
              <p:cNvSpPr/>
              <p:nvPr/>
            </p:nvSpPr>
            <p:spPr bwMode="auto">
              <a:xfrm>
                <a:off x="3516" y="2583"/>
                <a:ext cx="130" cy="250"/>
              </a:xfrm>
              <a:custGeom>
                <a:avLst/>
                <a:gdLst>
                  <a:gd name="T0" fmla="*/ 1 w 260"/>
                  <a:gd name="T1" fmla="*/ 0 h 501"/>
                  <a:gd name="T2" fmla="*/ 1 w 260"/>
                  <a:gd name="T3" fmla="*/ 0 h 501"/>
                  <a:gd name="T4" fmla="*/ 1 w 260"/>
                  <a:gd name="T5" fmla="*/ 0 h 501"/>
                  <a:gd name="T6" fmla="*/ 1 w 260"/>
                  <a:gd name="T7" fmla="*/ 0 h 501"/>
                  <a:gd name="T8" fmla="*/ 1 w 260"/>
                  <a:gd name="T9" fmla="*/ 0 h 501"/>
                  <a:gd name="T10" fmla="*/ 1 w 260"/>
                  <a:gd name="T11" fmla="*/ 0 h 501"/>
                  <a:gd name="T12" fmla="*/ 1 w 260"/>
                  <a:gd name="T13" fmla="*/ 0 h 501"/>
                  <a:gd name="T14" fmla="*/ 1 w 260"/>
                  <a:gd name="T15" fmla="*/ 0 h 501"/>
                  <a:gd name="T16" fmla="*/ 1 w 260"/>
                  <a:gd name="T17" fmla="*/ 0 h 501"/>
                  <a:gd name="T18" fmla="*/ 1 w 260"/>
                  <a:gd name="T19" fmla="*/ 0 h 501"/>
                  <a:gd name="T20" fmla="*/ 1 w 260"/>
                  <a:gd name="T21" fmla="*/ 0 h 501"/>
                  <a:gd name="T22" fmla="*/ 1 w 260"/>
                  <a:gd name="T23" fmla="*/ 0 h 501"/>
                  <a:gd name="T24" fmla="*/ 1 w 260"/>
                  <a:gd name="T25" fmla="*/ 0 h 501"/>
                  <a:gd name="T26" fmla="*/ 1 w 260"/>
                  <a:gd name="T27" fmla="*/ 0 h 501"/>
                  <a:gd name="T28" fmla="*/ 1 w 260"/>
                  <a:gd name="T29" fmla="*/ 0 h 501"/>
                  <a:gd name="T30" fmla="*/ 1 w 260"/>
                  <a:gd name="T31" fmla="*/ 0 h 501"/>
                  <a:gd name="T32" fmla="*/ 1 w 260"/>
                  <a:gd name="T33" fmla="*/ 0 h 501"/>
                  <a:gd name="T34" fmla="*/ 1 w 260"/>
                  <a:gd name="T35" fmla="*/ 0 h 501"/>
                  <a:gd name="T36" fmla="*/ 1 w 260"/>
                  <a:gd name="T37" fmla="*/ 0 h 501"/>
                  <a:gd name="T38" fmla="*/ 1 w 260"/>
                  <a:gd name="T39" fmla="*/ 0 h 501"/>
                  <a:gd name="T40" fmla="*/ 1 w 260"/>
                  <a:gd name="T41" fmla="*/ 0 h 501"/>
                  <a:gd name="T42" fmla="*/ 1 w 260"/>
                  <a:gd name="T43" fmla="*/ 0 h 501"/>
                  <a:gd name="T44" fmla="*/ 1 w 260"/>
                  <a:gd name="T45" fmla="*/ 0 h 501"/>
                  <a:gd name="T46" fmla="*/ 1 w 260"/>
                  <a:gd name="T47" fmla="*/ 0 h 501"/>
                  <a:gd name="T48" fmla="*/ 1 w 260"/>
                  <a:gd name="T49" fmla="*/ 0 h 501"/>
                  <a:gd name="T50" fmla="*/ 1 w 260"/>
                  <a:gd name="T51" fmla="*/ 0 h 501"/>
                  <a:gd name="T52" fmla="*/ 1 w 260"/>
                  <a:gd name="T53" fmla="*/ 0 h 501"/>
                  <a:gd name="T54" fmla="*/ 1 w 260"/>
                  <a:gd name="T55" fmla="*/ 0 h 501"/>
                  <a:gd name="T56" fmla="*/ 1 w 260"/>
                  <a:gd name="T57" fmla="*/ 0 h 501"/>
                  <a:gd name="T58" fmla="*/ 1 w 260"/>
                  <a:gd name="T59" fmla="*/ 0 h 501"/>
                  <a:gd name="T60" fmla="*/ 1 w 260"/>
                  <a:gd name="T61" fmla="*/ 0 h 501"/>
                  <a:gd name="T62" fmla="*/ 1 w 260"/>
                  <a:gd name="T63" fmla="*/ 0 h 50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60"/>
                  <a:gd name="T97" fmla="*/ 0 h 501"/>
                  <a:gd name="T98" fmla="*/ 260 w 260"/>
                  <a:gd name="T99" fmla="*/ 501 h 50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60" h="501">
                    <a:moveTo>
                      <a:pt x="232" y="111"/>
                    </a:moveTo>
                    <a:lnTo>
                      <a:pt x="248" y="153"/>
                    </a:lnTo>
                    <a:lnTo>
                      <a:pt x="257" y="198"/>
                    </a:lnTo>
                    <a:lnTo>
                      <a:pt x="260" y="246"/>
                    </a:lnTo>
                    <a:lnTo>
                      <a:pt x="258" y="293"/>
                    </a:lnTo>
                    <a:lnTo>
                      <a:pt x="249" y="339"/>
                    </a:lnTo>
                    <a:lnTo>
                      <a:pt x="234" y="384"/>
                    </a:lnTo>
                    <a:lnTo>
                      <a:pt x="213" y="424"/>
                    </a:lnTo>
                    <a:lnTo>
                      <a:pt x="186" y="461"/>
                    </a:lnTo>
                    <a:lnTo>
                      <a:pt x="175" y="470"/>
                    </a:lnTo>
                    <a:lnTo>
                      <a:pt x="160" y="478"/>
                    </a:lnTo>
                    <a:lnTo>
                      <a:pt x="144" y="486"/>
                    </a:lnTo>
                    <a:lnTo>
                      <a:pt x="127" y="493"/>
                    </a:lnTo>
                    <a:lnTo>
                      <a:pt x="111" y="498"/>
                    </a:lnTo>
                    <a:lnTo>
                      <a:pt x="97" y="501"/>
                    </a:lnTo>
                    <a:lnTo>
                      <a:pt x="87" y="501"/>
                    </a:lnTo>
                    <a:lnTo>
                      <a:pt x="82" y="499"/>
                    </a:lnTo>
                    <a:lnTo>
                      <a:pt x="87" y="493"/>
                    </a:lnTo>
                    <a:lnTo>
                      <a:pt x="96" y="485"/>
                    </a:lnTo>
                    <a:lnTo>
                      <a:pt x="108" y="475"/>
                    </a:lnTo>
                    <a:lnTo>
                      <a:pt x="123" y="464"/>
                    </a:lnTo>
                    <a:lnTo>
                      <a:pt x="140" y="453"/>
                    </a:lnTo>
                    <a:lnTo>
                      <a:pt x="154" y="441"/>
                    </a:lnTo>
                    <a:lnTo>
                      <a:pt x="167" y="430"/>
                    </a:lnTo>
                    <a:lnTo>
                      <a:pt x="175" y="421"/>
                    </a:lnTo>
                    <a:lnTo>
                      <a:pt x="188" y="388"/>
                    </a:lnTo>
                    <a:lnTo>
                      <a:pt x="198" y="355"/>
                    </a:lnTo>
                    <a:lnTo>
                      <a:pt x="205" y="319"/>
                    </a:lnTo>
                    <a:lnTo>
                      <a:pt x="210" y="284"/>
                    </a:lnTo>
                    <a:lnTo>
                      <a:pt x="212" y="247"/>
                    </a:lnTo>
                    <a:lnTo>
                      <a:pt x="210" y="210"/>
                    </a:lnTo>
                    <a:lnTo>
                      <a:pt x="206" y="174"/>
                    </a:lnTo>
                    <a:lnTo>
                      <a:pt x="198" y="140"/>
                    </a:lnTo>
                    <a:lnTo>
                      <a:pt x="196" y="130"/>
                    </a:lnTo>
                    <a:lnTo>
                      <a:pt x="194" y="120"/>
                    </a:lnTo>
                    <a:lnTo>
                      <a:pt x="190" y="111"/>
                    </a:lnTo>
                    <a:lnTo>
                      <a:pt x="186" y="103"/>
                    </a:lnTo>
                    <a:lnTo>
                      <a:pt x="181" y="93"/>
                    </a:lnTo>
                    <a:lnTo>
                      <a:pt x="175" y="85"/>
                    </a:lnTo>
                    <a:lnTo>
                      <a:pt x="169" y="78"/>
                    </a:lnTo>
                    <a:lnTo>
                      <a:pt x="163" y="70"/>
                    </a:lnTo>
                    <a:lnTo>
                      <a:pt x="140" y="53"/>
                    </a:lnTo>
                    <a:lnTo>
                      <a:pt x="114" y="40"/>
                    </a:lnTo>
                    <a:lnTo>
                      <a:pt x="87" y="32"/>
                    </a:lnTo>
                    <a:lnTo>
                      <a:pt x="61" y="27"/>
                    </a:lnTo>
                    <a:lnTo>
                      <a:pt x="37" y="24"/>
                    </a:lnTo>
                    <a:lnTo>
                      <a:pt x="17" y="24"/>
                    </a:lnTo>
                    <a:lnTo>
                      <a:pt x="5" y="24"/>
                    </a:lnTo>
                    <a:lnTo>
                      <a:pt x="0" y="24"/>
                    </a:lnTo>
                    <a:lnTo>
                      <a:pt x="16" y="13"/>
                    </a:lnTo>
                    <a:lnTo>
                      <a:pt x="34" y="6"/>
                    </a:lnTo>
                    <a:lnTo>
                      <a:pt x="53" y="1"/>
                    </a:lnTo>
                    <a:lnTo>
                      <a:pt x="73" y="0"/>
                    </a:lnTo>
                    <a:lnTo>
                      <a:pt x="92" y="2"/>
                    </a:lnTo>
                    <a:lnTo>
                      <a:pt x="112" y="6"/>
                    </a:lnTo>
                    <a:lnTo>
                      <a:pt x="130" y="12"/>
                    </a:lnTo>
                    <a:lnTo>
                      <a:pt x="148" y="19"/>
                    </a:lnTo>
                    <a:lnTo>
                      <a:pt x="160" y="28"/>
                    </a:lnTo>
                    <a:lnTo>
                      <a:pt x="173" y="37"/>
                    </a:lnTo>
                    <a:lnTo>
                      <a:pt x="184" y="47"/>
                    </a:lnTo>
                    <a:lnTo>
                      <a:pt x="196" y="59"/>
                    </a:lnTo>
                    <a:lnTo>
                      <a:pt x="206" y="72"/>
                    </a:lnTo>
                    <a:lnTo>
                      <a:pt x="216" y="84"/>
                    </a:lnTo>
                    <a:lnTo>
                      <a:pt x="225" y="97"/>
                    </a:lnTo>
                    <a:lnTo>
                      <a:pt x="232" y="111"/>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34" name="Freeform 654"/>
              <p:cNvSpPr/>
              <p:nvPr/>
            </p:nvSpPr>
            <p:spPr bwMode="auto">
              <a:xfrm>
                <a:off x="3461" y="2608"/>
                <a:ext cx="117" cy="218"/>
              </a:xfrm>
              <a:custGeom>
                <a:avLst/>
                <a:gdLst>
                  <a:gd name="T0" fmla="*/ 1 w 233"/>
                  <a:gd name="T1" fmla="*/ 1 h 434"/>
                  <a:gd name="T2" fmla="*/ 1 w 233"/>
                  <a:gd name="T3" fmla="*/ 1 h 434"/>
                  <a:gd name="T4" fmla="*/ 1 w 233"/>
                  <a:gd name="T5" fmla="*/ 1 h 434"/>
                  <a:gd name="T6" fmla="*/ 1 w 233"/>
                  <a:gd name="T7" fmla="*/ 1 h 434"/>
                  <a:gd name="T8" fmla="*/ 1 w 233"/>
                  <a:gd name="T9" fmla="*/ 1 h 434"/>
                  <a:gd name="T10" fmla="*/ 1 w 233"/>
                  <a:gd name="T11" fmla="*/ 1 h 434"/>
                  <a:gd name="T12" fmla="*/ 1 w 233"/>
                  <a:gd name="T13" fmla="*/ 1 h 434"/>
                  <a:gd name="T14" fmla="*/ 1 w 233"/>
                  <a:gd name="T15" fmla="*/ 1 h 434"/>
                  <a:gd name="T16" fmla="*/ 1 w 233"/>
                  <a:gd name="T17" fmla="*/ 1 h 434"/>
                  <a:gd name="T18" fmla="*/ 1 w 233"/>
                  <a:gd name="T19" fmla="*/ 1 h 434"/>
                  <a:gd name="T20" fmla="*/ 1 w 233"/>
                  <a:gd name="T21" fmla="*/ 1 h 434"/>
                  <a:gd name="T22" fmla="*/ 1 w 233"/>
                  <a:gd name="T23" fmla="*/ 1 h 434"/>
                  <a:gd name="T24" fmla="*/ 1 w 233"/>
                  <a:gd name="T25" fmla="*/ 1 h 434"/>
                  <a:gd name="T26" fmla="*/ 1 w 233"/>
                  <a:gd name="T27" fmla="*/ 1 h 434"/>
                  <a:gd name="T28" fmla="*/ 1 w 233"/>
                  <a:gd name="T29" fmla="*/ 1 h 434"/>
                  <a:gd name="T30" fmla="*/ 1 w 233"/>
                  <a:gd name="T31" fmla="*/ 1 h 434"/>
                  <a:gd name="T32" fmla="*/ 1 w 233"/>
                  <a:gd name="T33" fmla="*/ 1 h 434"/>
                  <a:gd name="T34" fmla="*/ 1 w 233"/>
                  <a:gd name="T35" fmla="*/ 1 h 434"/>
                  <a:gd name="T36" fmla="*/ 1 w 233"/>
                  <a:gd name="T37" fmla="*/ 1 h 434"/>
                  <a:gd name="T38" fmla="*/ 1 w 233"/>
                  <a:gd name="T39" fmla="*/ 1 h 434"/>
                  <a:gd name="T40" fmla="*/ 1 w 233"/>
                  <a:gd name="T41" fmla="*/ 1 h 434"/>
                  <a:gd name="T42" fmla="*/ 1 w 233"/>
                  <a:gd name="T43" fmla="*/ 1 h 434"/>
                  <a:gd name="T44" fmla="*/ 1 w 233"/>
                  <a:gd name="T45" fmla="*/ 1 h 434"/>
                  <a:gd name="T46" fmla="*/ 1 w 233"/>
                  <a:gd name="T47" fmla="*/ 1 h 434"/>
                  <a:gd name="T48" fmla="*/ 1 w 233"/>
                  <a:gd name="T49" fmla="*/ 1 h 434"/>
                  <a:gd name="T50" fmla="*/ 1 w 233"/>
                  <a:gd name="T51" fmla="*/ 1 h 434"/>
                  <a:gd name="T52" fmla="*/ 1 w 233"/>
                  <a:gd name="T53" fmla="*/ 1 h 434"/>
                  <a:gd name="T54" fmla="*/ 1 w 233"/>
                  <a:gd name="T55" fmla="*/ 1 h 434"/>
                  <a:gd name="T56" fmla="*/ 1 w 233"/>
                  <a:gd name="T57" fmla="*/ 1 h 434"/>
                  <a:gd name="T58" fmla="*/ 1 w 233"/>
                  <a:gd name="T59" fmla="*/ 1 h 434"/>
                  <a:gd name="T60" fmla="*/ 1 w 233"/>
                  <a:gd name="T61" fmla="*/ 1 h 434"/>
                  <a:gd name="T62" fmla="*/ 1 w 233"/>
                  <a:gd name="T63" fmla="*/ 1 h 434"/>
                  <a:gd name="T64" fmla="*/ 1 w 233"/>
                  <a:gd name="T65" fmla="*/ 1 h 434"/>
                  <a:gd name="T66" fmla="*/ 1 w 233"/>
                  <a:gd name="T67" fmla="*/ 1 h 434"/>
                  <a:gd name="T68" fmla="*/ 1 w 233"/>
                  <a:gd name="T69" fmla="*/ 1 h 434"/>
                  <a:gd name="T70" fmla="*/ 1 w 233"/>
                  <a:gd name="T71" fmla="*/ 1 h 434"/>
                  <a:gd name="T72" fmla="*/ 1 w 233"/>
                  <a:gd name="T73" fmla="*/ 1 h 434"/>
                  <a:gd name="T74" fmla="*/ 1 w 233"/>
                  <a:gd name="T75" fmla="*/ 1 h 434"/>
                  <a:gd name="T76" fmla="*/ 1 w 233"/>
                  <a:gd name="T77" fmla="*/ 1 h 434"/>
                  <a:gd name="T78" fmla="*/ 1 w 233"/>
                  <a:gd name="T79" fmla="*/ 1 h 434"/>
                  <a:gd name="T80" fmla="*/ 1 w 233"/>
                  <a:gd name="T81" fmla="*/ 1 h 434"/>
                  <a:gd name="T82" fmla="*/ 1 w 233"/>
                  <a:gd name="T83" fmla="*/ 1 h 434"/>
                  <a:gd name="T84" fmla="*/ 1 w 233"/>
                  <a:gd name="T85" fmla="*/ 1 h 4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3"/>
                  <a:gd name="T130" fmla="*/ 0 h 434"/>
                  <a:gd name="T131" fmla="*/ 233 w 233"/>
                  <a:gd name="T132" fmla="*/ 434 h 4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3" h="434">
                    <a:moveTo>
                      <a:pt x="133" y="147"/>
                    </a:moveTo>
                    <a:lnTo>
                      <a:pt x="137" y="164"/>
                    </a:lnTo>
                    <a:lnTo>
                      <a:pt x="137" y="180"/>
                    </a:lnTo>
                    <a:lnTo>
                      <a:pt x="135" y="196"/>
                    </a:lnTo>
                    <a:lnTo>
                      <a:pt x="130" y="211"/>
                    </a:lnTo>
                    <a:lnTo>
                      <a:pt x="122" y="226"/>
                    </a:lnTo>
                    <a:lnTo>
                      <a:pt x="114" y="240"/>
                    </a:lnTo>
                    <a:lnTo>
                      <a:pt x="104" y="253"/>
                    </a:lnTo>
                    <a:lnTo>
                      <a:pt x="92" y="266"/>
                    </a:lnTo>
                    <a:lnTo>
                      <a:pt x="86" y="270"/>
                    </a:lnTo>
                    <a:lnTo>
                      <a:pt x="79" y="272"/>
                    </a:lnTo>
                    <a:lnTo>
                      <a:pt x="74" y="274"/>
                    </a:lnTo>
                    <a:lnTo>
                      <a:pt x="67" y="275"/>
                    </a:lnTo>
                    <a:lnTo>
                      <a:pt x="60" y="275"/>
                    </a:lnTo>
                    <a:lnTo>
                      <a:pt x="52" y="275"/>
                    </a:lnTo>
                    <a:lnTo>
                      <a:pt x="41" y="275"/>
                    </a:lnTo>
                    <a:lnTo>
                      <a:pt x="31" y="273"/>
                    </a:lnTo>
                    <a:lnTo>
                      <a:pt x="36" y="279"/>
                    </a:lnTo>
                    <a:lnTo>
                      <a:pt x="40" y="283"/>
                    </a:lnTo>
                    <a:lnTo>
                      <a:pt x="46" y="288"/>
                    </a:lnTo>
                    <a:lnTo>
                      <a:pt x="52" y="291"/>
                    </a:lnTo>
                    <a:lnTo>
                      <a:pt x="59" y="295"/>
                    </a:lnTo>
                    <a:lnTo>
                      <a:pt x="66" y="297"/>
                    </a:lnTo>
                    <a:lnTo>
                      <a:pt x="72" y="298"/>
                    </a:lnTo>
                    <a:lnTo>
                      <a:pt x="79" y="300"/>
                    </a:lnTo>
                    <a:lnTo>
                      <a:pt x="87" y="298"/>
                    </a:lnTo>
                    <a:lnTo>
                      <a:pt x="97" y="296"/>
                    </a:lnTo>
                    <a:lnTo>
                      <a:pt x="107" y="295"/>
                    </a:lnTo>
                    <a:lnTo>
                      <a:pt x="117" y="295"/>
                    </a:lnTo>
                    <a:lnTo>
                      <a:pt x="128" y="295"/>
                    </a:lnTo>
                    <a:lnTo>
                      <a:pt x="136" y="295"/>
                    </a:lnTo>
                    <a:lnTo>
                      <a:pt x="143" y="297"/>
                    </a:lnTo>
                    <a:lnTo>
                      <a:pt x="146" y="300"/>
                    </a:lnTo>
                    <a:lnTo>
                      <a:pt x="146" y="316"/>
                    </a:lnTo>
                    <a:lnTo>
                      <a:pt x="144" y="329"/>
                    </a:lnTo>
                    <a:lnTo>
                      <a:pt x="139" y="343"/>
                    </a:lnTo>
                    <a:lnTo>
                      <a:pt x="131" y="356"/>
                    </a:lnTo>
                    <a:lnTo>
                      <a:pt x="122" y="369"/>
                    </a:lnTo>
                    <a:lnTo>
                      <a:pt x="112" y="379"/>
                    </a:lnTo>
                    <a:lnTo>
                      <a:pt x="101" y="388"/>
                    </a:lnTo>
                    <a:lnTo>
                      <a:pt x="90" y="396"/>
                    </a:lnTo>
                    <a:lnTo>
                      <a:pt x="99" y="400"/>
                    </a:lnTo>
                    <a:lnTo>
                      <a:pt x="109" y="401"/>
                    </a:lnTo>
                    <a:lnTo>
                      <a:pt x="120" y="401"/>
                    </a:lnTo>
                    <a:lnTo>
                      <a:pt x="129" y="400"/>
                    </a:lnTo>
                    <a:lnTo>
                      <a:pt x="139" y="397"/>
                    </a:lnTo>
                    <a:lnTo>
                      <a:pt x="148" y="394"/>
                    </a:lnTo>
                    <a:lnTo>
                      <a:pt x="158" y="389"/>
                    </a:lnTo>
                    <a:lnTo>
                      <a:pt x="166" y="385"/>
                    </a:lnTo>
                    <a:lnTo>
                      <a:pt x="174" y="379"/>
                    </a:lnTo>
                    <a:lnTo>
                      <a:pt x="180" y="372"/>
                    </a:lnTo>
                    <a:lnTo>
                      <a:pt x="186" y="364"/>
                    </a:lnTo>
                    <a:lnTo>
                      <a:pt x="192" y="356"/>
                    </a:lnTo>
                    <a:lnTo>
                      <a:pt x="199" y="348"/>
                    </a:lnTo>
                    <a:lnTo>
                      <a:pt x="206" y="340"/>
                    </a:lnTo>
                    <a:lnTo>
                      <a:pt x="214" y="334"/>
                    </a:lnTo>
                    <a:lnTo>
                      <a:pt x="224" y="329"/>
                    </a:lnTo>
                    <a:lnTo>
                      <a:pt x="229" y="339"/>
                    </a:lnTo>
                    <a:lnTo>
                      <a:pt x="233" y="349"/>
                    </a:lnTo>
                    <a:lnTo>
                      <a:pt x="233" y="358"/>
                    </a:lnTo>
                    <a:lnTo>
                      <a:pt x="230" y="369"/>
                    </a:lnTo>
                    <a:lnTo>
                      <a:pt x="220" y="385"/>
                    </a:lnTo>
                    <a:lnTo>
                      <a:pt x="207" y="397"/>
                    </a:lnTo>
                    <a:lnTo>
                      <a:pt x="193" y="408"/>
                    </a:lnTo>
                    <a:lnTo>
                      <a:pt x="178" y="416"/>
                    </a:lnTo>
                    <a:lnTo>
                      <a:pt x="161" y="423"/>
                    </a:lnTo>
                    <a:lnTo>
                      <a:pt x="144" y="427"/>
                    </a:lnTo>
                    <a:lnTo>
                      <a:pt x="127" y="431"/>
                    </a:lnTo>
                    <a:lnTo>
                      <a:pt x="109" y="434"/>
                    </a:lnTo>
                    <a:lnTo>
                      <a:pt x="101" y="431"/>
                    </a:lnTo>
                    <a:lnTo>
                      <a:pt x="93" y="427"/>
                    </a:lnTo>
                    <a:lnTo>
                      <a:pt x="85" y="424"/>
                    </a:lnTo>
                    <a:lnTo>
                      <a:pt x="76" y="420"/>
                    </a:lnTo>
                    <a:lnTo>
                      <a:pt x="68" y="417"/>
                    </a:lnTo>
                    <a:lnTo>
                      <a:pt x="60" y="411"/>
                    </a:lnTo>
                    <a:lnTo>
                      <a:pt x="53" y="406"/>
                    </a:lnTo>
                    <a:lnTo>
                      <a:pt x="46" y="397"/>
                    </a:lnTo>
                    <a:lnTo>
                      <a:pt x="48" y="393"/>
                    </a:lnTo>
                    <a:lnTo>
                      <a:pt x="52" y="391"/>
                    </a:lnTo>
                    <a:lnTo>
                      <a:pt x="56" y="388"/>
                    </a:lnTo>
                    <a:lnTo>
                      <a:pt x="61" y="387"/>
                    </a:lnTo>
                    <a:lnTo>
                      <a:pt x="67" y="386"/>
                    </a:lnTo>
                    <a:lnTo>
                      <a:pt x="72" y="385"/>
                    </a:lnTo>
                    <a:lnTo>
                      <a:pt x="77" y="384"/>
                    </a:lnTo>
                    <a:lnTo>
                      <a:pt x="82" y="381"/>
                    </a:lnTo>
                    <a:lnTo>
                      <a:pt x="93" y="370"/>
                    </a:lnTo>
                    <a:lnTo>
                      <a:pt x="104" y="358"/>
                    </a:lnTo>
                    <a:lnTo>
                      <a:pt x="112" y="346"/>
                    </a:lnTo>
                    <a:lnTo>
                      <a:pt x="115" y="332"/>
                    </a:lnTo>
                    <a:lnTo>
                      <a:pt x="104" y="335"/>
                    </a:lnTo>
                    <a:lnTo>
                      <a:pt x="91" y="335"/>
                    </a:lnTo>
                    <a:lnTo>
                      <a:pt x="79" y="334"/>
                    </a:lnTo>
                    <a:lnTo>
                      <a:pt x="68" y="329"/>
                    </a:lnTo>
                    <a:lnTo>
                      <a:pt x="56" y="325"/>
                    </a:lnTo>
                    <a:lnTo>
                      <a:pt x="45" y="318"/>
                    </a:lnTo>
                    <a:lnTo>
                      <a:pt x="34" y="310"/>
                    </a:lnTo>
                    <a:lnTo>
                      <a:pt x="24" y="301"/>
                    </a:lnTo>
                    <a:lnTo>
                      <a:pt x="10" y="282"/>
                    </a:lnTo>
                    <a:lnTo>
                      <a:pt x="2" y="260"/>
                    </a:lnTo>
                    <a:lnTo>
                      <a:pt x="0" y="237"/>
                    </a:lnTo>
                    <a:lnTo>
                      <a:pt x="6" y="215"/>
                    </a:lnTo>
                    <a:lnTo>
                      <a:pt x="13" y="218"/>
                    </a:lnTo>
                    <a:lnTo>
                      <a:pt x="16" y="223"/>
                    </a:lnTo>
                    <a:lnTo>
                      <a:pt x="18" y="230"/>
                    </a:lnTo>
                    <a:lnTo>
                      <a:pt x="21" y="238"/>
                    </a:lnTo>
                    <a:lnTo>
                      <a:pt x="23" y="245"/>
                    </a:lnTo>
                    <a:lnTo>
                      <a:pt x="28" y="252"/>
                    </a:lnTo>
                    <a:lnTo>
                      <a:pt x="33" y="256"/>
                    </a:lnTo>
                    <a:lnTo>
                      <a:pt x="44" y="257"/>
                    </a:lnTo>
                    <a:lnTo>
                      <a:pt x="48" y="257"/>
                    </a:lnTo>
                    <a:lnTo>
                      <a:pt x="53" y="257"/>
                    </a:lnTo>
                    <a:lnTo>
                      <a:pt x="57" y="257"/>
                    </a:lnTo>
                    <a:lnTo>
                      <a:pt x="63" y="257"/>
                    </a:lnTo>
                    <a:lnTo>
                      <a:pt x="68" y="256"/>
                    </a:lnTo>
                    <a:lnTo>
                      <a:pt x="74" y="253"/>
                    </a:lnTo>
                    <a:lnTo>
                      <a:pt x="78" y="251"/>
                    </a:lnTo>
                    <a:lnTo>
                      <a:pt x="82" y="248"/>
                    </a:lnTo>
                    <a:lnTo>
                      <a:pt x="97" y="215"/>
                    </a:lnTo>
                    <a:lnTo>
                      <a:pt x="97" y="182"/>
                    </a:lnTo>
                    <a:lnTo>
                      <a:pt x="87" y="149"/>
                    </a:lnTo>
                    <a:lnTo>
                      <a:pt x="75" y="114"/>
                    </a:lnTo>
                    <a:lnTo>
                      <a:pt x="66" y="82"/>
                    </a:lnTo>
                    <a:lnTo>
                      <a:pt x="66" y="51"/>
                    </a:lnTo>
                    <a:lnTo>
                      <a:pt x="79" y="23"/>
                    </a:lnTo>
                    <a:lnTo>
                      <a:pt x="115" y="0"/>
                    </a:lnTo>
                    <a:lnTo>
                      <a:pt x="117" y="16"/>
                    </a:lnTo>
                    <a:lnTo>
                      <a:pt x="122" y="56"/>
                    </a:lnTo>
                    <a:lnTo>
                      <a:pt x="128" y="105"/>
                    </a:lnTo>
                    <a:lnTo>
                      <a:pt x="133" y="147"/>
                    </a:lnTo>
                    <a:close/>
                  </a:path>
                </a:pathLst>
              </a:custGeom>
              <a:solidFill>
                <a:srgbClr val="000000"/>
              </a:solidFill>
              <a:ln w="9525">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grpSp>
        <p:sp>
          <p:nvSpPr>
            <p:cNvPr id="128" name="Freeform 655"/>
            <p:cNvSpPr/>
            <p:nvPr/>
          </p:nvSpPr>
          <p:spPr bwMode="auto">
            <a:xfrm rot="462940">
              <a:off x="3540" y="2688"/>
              <a:ext cx="48" cy="240"/>
            </a:xfrm>
            <a:custGeom>
              <a:avLst/>
              <a:gdLst>
                <a:gd name="T0" fmla="*/ 0 w 144"/>
                <a:gd name="T1" fmla="*/ 0 h 624"/>
                <a:gd name="T2" fmla="*/ 0 w 144"/>
                <a:gd name="T3" fmla="*/ 0 h 624"/>
                <a:gd name="T4" fmla="*/ 0 w 144"/>
                <a:gd name="T5" fmla="*/ 0 h 624"/>
                <a:gd name="T6" fmla="*/ 0 w 144"/>
                <a:gd name="T7" fmla="*/ 0 h 624"/>
                <a:gd name="T8" fmla="*/ 0 w 144"/>
                <a:gd name="T9" fmla="*/ 0 h 624"/>
                <a:gd name="T10" fmla="*/ 0 w 144"/>
                <a:gd name="T11" fmla="*/ 0 h 624"/>
                <a:gd name="T12" fmla="*/ 0 w 144"/>
                <a:gd name="T13" fmla="*/ 0 h 624"/>
                <a:gd name="T14" fmla="*/ 0 w 144"/>
                <a:gd name="T15" fmla="*/ 0 h 624"/>
                <a:gd name="T16" fmla="*/ 0 w 144"/>
                <a:gd name="T17" fmla="*/ 0 h 624"/>
                <a:gd name="T18" fmla="*/ 0 w 144"/>
                <a:gd name="T19" fmla="*/ 0 h 6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4"/>
                <a:gd name="T31" fmla="*/ 0 h 624"/>
                <a:gd name="T32" fmla="*/ 144 w 144"/>
                <a:gd name="T33" fmla="*/ 624 h 6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4" h="624">
                  <a:moveTo>
                    <a:pt x="48" y="48"/>
                  </a:moveTo>
                  <a:lnTo>
                    <a:pt x="96" y="144"/>
                  </a:lnTo>
                  <a:lnTo>
                    <a:pt x="144" y="288"/>
                  </a:lnTo>
                  <a:lnTo>
                    <a:pt x="144" y="480"/>
                  </a:lnTo>
                  <a:lnTo>
                    <a:pt x="96" y="624"/>
                  </a:lnTo>
                  <a:lnTo>
                    <a:pt x="0" y="576"/>
                  </a:lnTo>
                  <a:lnTo>
                    <a:pt x="48" y="432"/>
                  </a:lnTo>
                  <a:lnTo>
                    <a:pt x="48" y="240"/>
                  </a:lnTo>
                  <a:lnTo>
                    <a:pt x="0" y="0"/>
                  </a:lnTo>
                  <a:lnTo>
                    <a:pt x="48" y="48"/>
                  </a:lnTo>
                  <a:close/>
                </a:path>
              </a:pathLst>
            </a:custGeom>
            <a:solidFill>
              <a:schemeClr val="tx1"/>
            </a:solidFill>
            <a:ln w="38100">
              <a:solidFill>
                <a:schemeClr val="tx1"/>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grpSp>
      <p:sp>
        <p:nvSpPr>
          <p:cNvPr id="135" name="Text Box 73"/>
          <p:cNvSpPr txBox="1">
            <a:spLocks noChangeArrowheads="1"/>
          </p:cNvSpPr>
          <p:nvPr/>
        </p:nvSpPr>
        <p:spPr bwMode="auto">
          <a:xfrm>
            <a:off x="7371142" y="2543176"/>
            <a:ext cx="655320"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信件</a:t>
            </a:r>
          </a:p>
        </p:txBody>
      </p:sp>
      <p:sp>
        <p:nvSpPr>
          <p:cNvPr id="136" name="Text Box 73"/>
          <p:cNvSpPr txBox="1">
            <a:spLocks noChangeArrowheads="1"/>
          </p:cNvSpPr>
          <p:nvPr/>
        </p:nvSpPr>
        <p:spPr bwMode="auto">
          <a:xfrm>
            <a:off x="6887759" y="1425891"/>
            <a:ext cx="1598295" cy="532765"/>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latin typeface="微软雅黑" panose="020B0503020204020204" pitchFamily="34" charset="-122"/>
                <a:ea typeface="微软雅黑" panose="020B0503020204020204" pitchFamily="34" charset="-122"/>
              </a:rPr>
              <a:t>传递的信息</a:t>
            </a:r>
          </a:p>
        </p:txBody>
      </p:sp>
      <p:sp>
        <p:nvSpPr>
          <p:cNvPr id="138" name="Text Box 68"/>
          <p:cNvSpPr txBox="1">
            <a:spLocks noChangeArrowheads="1"/>
          </p:cNvSpPr>
          <p:nvPr/>
        </p:nvSpPr>
        <p:spPr bwMode="auto">
          <a:xfrm>
            <a:off x="10700703" y="3386455"/>
            <a:ext cx="44640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邮包</a:t>
            </a:r>
          </a:p>
        </p:txBody>
      </p:sp>
      <p:sp>
        <p:nvSpPr>
          <p:cNvPr id="139" name="Text Box 69"/>
          <p:cNvSpPr txBox="1">
            <a:spLocks noChangeArrowheads="1"/>
          </p:cNvSpPr>
          <p:nvPr/>
        </p:nvSpPr>
        <p:spPr bwMode="auto">
          <a:xfrm>
            <a:off x="10755948" y="4695825"/>
            <a:ext cx="33591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货物</a:t>
            </a:r>
          </a:p>
        </p:txBody>
      </p:sp>
      <p:sp>
        <p:nvSpPr>
          <p:cNvPr id="141" name="Text Box 89"/>
          <p:cNvSpPr txBox="1">
            <a:spLocks noChangeArrowheads="1"/>
          </p:cNvSpPr>
          <p:nvPr/>
        </p:nvSpPr>
        <p:spPr bwMode="auto">
          <a:xfrm>
            <a:off x="9876155" y="1548765"/>
            <a:ext cx="1463675" cy="553085"/>
          </a:xfrm>
          <a:prstGeom prst="rect">
            <a:avLst/>
          </a:prstGeom>
          <a:solidFill>
            <a:srgbClr val="7CC43A"/>
          </a:solid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用户</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B</a:t>
            </a:r>
          </a:p>
        </p:txBody>
      </p:sp>
      <p:grpSp>
        <p:nvGrpSpPr>
          <p:cNvPr id="142" name="Group 642"/>
          <p:cNvGrpSpPr>
            <a:grpSpLocks noChangeAspect="1"/>
          </p:cNvGrpSpPr>
          <p:nvPr/>
        </p:nvGrpSpPr>
        <p:grpSpPr bwMode="auto">
          <a:xfrm flipH="1">
            <a:off x="11432540" y="1421130"/>
            <a:ext cx="358140" cy="386715"/>
            <a:chOff x="2925" y="527"/>
            <a:chExt cx="113" cy="147"/>
          </a:xfrm>
        </p:grpSpPr>
        <p:sp>
          <p:nvSpPr>
            <p:cNvPr id="143" name="Freeform 643"/>
            <p:cNvSpPr/>
            <p:nvPr/>
          </p:nvSpPr>
          <p:spPr bwMode="auto">
            <a:xfrm>
              <a:off x="2944" y="546"/>
              <a:ext cx="94" cy="128"/>
            </a:xfrm>
            <a:custGeom>
              <a:avLst/>
              <a:gdLst>
                <a:gd name="T0" fmla="*/ 16 w 111"/>
                <a:gd name="T1" fmla="*/ 3 h 149"/>
                <a:gd name="T2" fmla="*/ 16 w 111"/>
                <a:gd name="T3" fmla="*/ 8 h 149"/>
                <a:gd name="T4" fmla="*/ 16 w 111"/>
                <a:gd name="T5" fmla="*/ 9 h 149"/>
                <a:gd name="T6" fmla="*/ 18 w 111"/>
                <a:gd name="T7" fmla="*/ 13 h 149"/>
                <a:gd name="T8" fmla="*/ 18 w 111"/>
                <a:gd name="T9" fmla="*/ 14 h 149"/>
                <a:gd name="T10" fmla="*/ 16 w 111"/>
                <a:gd name="T11" fmla="*/ 14 h 149"/>
                <a:gd name="T12" fmla="*/ 16 w 111"/>
                <a:gd name="T13" fmla="*/ 16 h 149"/>
                <a:gd name="T14" fmla="*/ 15 w 111"/>
                <a:gd name="T15" fmla="*/ 16 h 149"/>
                <a:gd name="T16" fmla="*/ 15 w 111"/>
                <a:gd name="T17" fmla="*/ 17 h 149"/>
                <a:gd name="T18" fmla="*/ 15 w 111"/>
                <a:gd name="T19" fmla="*/ 17 h 149"/>
                <a:gd name="T20" fmla="*/ 15 w 111"/>
                <a:gd name="T21" fmla="*/ 20 h 149"/>
                <a:gd name="T22" fmla="*/ 15 w 111"/>
                <a:gd name="T23" fmla="*/ 21 h 149"/>
                <a:gd name="T24" fmla="*/ 14 w 111"/>
                <a:gd name="T25" fmla="*/ 21 h 149"/>
                <a:gd name="T26" fmla="*/ 12 w 111"/>
                <a:gd name="T27" fmla="*/ 21 h 149"/>
                <a:gd name="T28" fmla="*/ 10 w 111"/>
                <a:gd name="T29" fmla="*/ 25 h 149"/>
                <a:gd name="T30" fmla="*/ 8 w 111"/>
                <a:gd name="T31" fmla="*/ 29 h 149"/>
                <a:gd name="T32" fmla="*/ 0 w 111"/>
                <a:gd name="T33" fmla="*/ 20 h 149"/>
                <a:gd name="T34" fmla="*/ 4 w 111"/>
                <a:gd name="T35" fmla="*/ 0 h 149"/>
                <a:gd name="T36" fmla="*/ 16 w 111"/>
                <a:gd name="T37" fmla="*/ 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1"/>
                <a:gd name="T58" fmla="*/ 0 h 149"/>
                <a:gd name="T59" fmla="*/ 111 w 111"/>
                <a:gd name="T60" fmla="*/ 149 h 1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44" name="Freeform 644"/>
            <p:cNvSpPr/>
            <p:nvPr/>
          </p:nvSpPr>
          <p:spPr bwMode="auto">
            <a:xfrm>
              <a:off x="2944" y="546"/>
              <a:ext cx="94" cy="128"/>
            </a:xfrm>
            <a:custGeom>
              <a:avLst/>
              <a:gdLst>
                <a:gd name="T0" fmla="*/ 16 w 111"/>
                <a:gd name="T1" fmla="*/ 3 h 149"/>
                <a:gd name="T2" fmla="*/ 16 w 111"/>
                <a:gd name="T3" fmla="*/ 8 h 149"/>
                <a:gd name="T4" fmla="*/ 16 w 111"/>
                <a:gd name="T5" fmla="*/ 9 h 149"/>
                <a:gd name="T6" fmla="*/ 18 w 111"/>
                <a:gd name="T7" fmla="*/ 13 h 149"/>
                <a:gd name="T8" fmla="*/ 18 w 111"/>
                <a:gd name="T9" fmla="*/ 14 h 149"/>
                <a:gd name="T10" fmla="*/ 16 w 111"/>
                <a:gd name="T11" fmla="*/ 14 h 149"/>
                <a:gd name="T12" fmla="*/ 16 w 111"/>
                <a:gd name="T13" fmla="*/ 16 h 149"/>
                <a:gd name="T14" fmla="*/ 15 w 111"/>
                <a:gd name="T15" fmla="*/ 16 h 149"/>
                <a:gd name="T16" fmla="*/ 15 w 111"/>
                <a:gd name="T17" fmla="*/ 17 h 149"/>
                <a:gd name="T18" fmla="*/ 15 w 111"/>
                <a:gd name="T19" fmla="*/ 20 h 149"/>
                <a:gd name="T20" fmla="*/ 15 w 111"/>
                <a:gd name="T21" fmla="*/ 21 h 149"/>
                <a:gd name="T22" fmla="*/ 14 w 111"/>
                <a:gd name="T23" fmla="*/ 21 h 149"/>
                <a:gd name="T24" fmla="*/ 12 w 111"/>
                <a:gd name="T25" fmla="*/ 21 h 149"/>
                <a:gd name="T26" fmla="*/ 10 w 111"/>
                <a:gd name="T27" fmla="*/ 25 h 149"/>
                <a:gd name="T28" fmla="*/ 8 w 111"/>
                <a:gd name="T29" fmla="*/ 29 h 149"/>
                <a:gd name="T30" fmla="*/ 0 w 111"/>
                <a:gd name="T31" fmla="*/ 20 h 149"/>
                <a:gd name="T32" fmla="*/ 4 w 111"/>
                <a:gd name="T33" fmla="*/ 0 h 149"/>
                <a:gd name="T34" fmla="*/ 16 w 111"/>
                <a:gd name="T35" fmla="*/ 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1"/>
                <a:gd name="T55" fmla="*/ 0 h 149"/>
                <a:gd name="T56" fmla="*/ 111 w 111"/>
                <a:gd name="T57" fmla="*/ 149 h 1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45" name="Freeform 645"/>
            <p:cNvSpPr/>
            <p:nvPr/>
          </p:nvSpPr>
          <p:spPr bwMode="auto">
            <a:xfrm>
              <a:off x="2925" y="527"/>
              <a:ext cx="113" cy="106"/>
            </a:xfrm>
            <a:custGeom>
              <a:avLst/>
              <a:gdLst>
                <a:gd name="T0" fmla="*/ 13 w 133"/>
                <a:gd name="T1" fmla="*/ 15 h 124"/>
                <a:gd name="T2" fmla="*/ 11 w 133"/>
                <a:gd name="T3" fmla="*/ 17 h 124"/>
                <a:gd name="T4" fmla="*/ 9 w 133"/>
                <a:gd name="T5" fmla="*/ 21 h 124"/>
                <a:gd name="T6" fmla="*/ 5 w 133"/>
                <a:gd name="T7" fmla="*/ 23 h 124"/>
                <a:gd name="T8" fmla="*/ 3 w 133"/>
                <a:gd name="T9" fmla="*/ 21 h 124"/>
                <a:gd name="T10" fmla="*/ 0 w 133"/>
                <a:gd name="T11" fmla="*/ 11 h 124"/>
                <a:gd name="T12" fmla="*/ 0 w 133"/>
                <a:gd name="T13" fmla="*/ 8 h 124"/>
                <a:gd name="T14" fmla="*/ 3 w 133"/>
                <a:gd name="T15" fmla="*/ 3 h 124"/>
                <a:gd name="T16" fmla="*/ 6 w 133"/>
                <a:gd name="T17" fmla="*/ 0 h 124"/>
                <a:gd name="T18" fmla="*/ 12 w 133"/>
                <a:gd name="T19" fmla="*/ 0 h 124"/>
                <a:gd name="T20" fmla="*/ 18 w 133"/>
                <a:gd name="T21" fmla="*/ 3 h 124"/>
                <a:gd name="T22" fmla="*/ 19 w 133"/>
                <a:gd name="T23" fmla="*/ 3 h 124"/>
                <a:gd name="T24" fmla="*/ 22 w 133"/>
                <a:gd name="T25" fmla="*/ 6 h 124"/>
                <a:gd name="T26" fmla="*/ 22 w 133"/>
                <a:gd name="T27" fmla="*/ 8 h 124"/>
                <a:gd name="T28" fmla="*/ 20 w 133"/>
                <a:gd name="T29" fmla="*/ 9 h 124"/>
                <a:gd name="T30" fmla="*/ 18 w 133"/>
                <a:gd name="T31" fmla="*/ 9 h 124"/>
                <a:gd name="T32" fmla="*/ 16 w 133"/>
                <a:gd name="T33" fmla="*/ 11 h 124"/>
                <a:gd name="T34" fmla="*/ 16 w 133"/>
                <a:gd name="T35" fmla="*/ 15 h 124"/>
                <a:gd name="T36" fmla="*/ 14 w 133"/>
                <a:gd name="T37" fmla="*/ 17 h 124"/>
                <a:gd name="T38" fmla="*/ 13 w 133"/>
                <a:gd name="T39" fmla="*/ 15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124"/>
                <a:gd name="T62" fmla="*/ 133 w 133"/>
                <a:gd name="T63" fmla="*/ 124 h 1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sp>
          <p:nvSpPr>
            <p:cNvPr id="146" name="Freeform 646"/>
            <p:cNvSpPr/>
            <p:nvPr/>
          </p:nvSpPr>
          <p:spPr bwMode="auto">
            <a:xfrm>
              <a:off x="2925" y="527"/>
              <a:ext cx="113" cy="106"/>
            </a:xfrm>
            <a:custGeom>
              <a:avLst/>
              <a:gdLst>
                <a:gd name="T0" fmla="*/ 13 w 133"/>
                <a:gd name="T1" fmla="*/ 15 h 124"/>
                <a:gd name="T2" fmla="*/ 11 w 133"/>
                <a:gd name="T3" fmla="*/ 17 h 124"/>
                <a:gd name="T4" fmla="*/ 9 w 133"/>
                <a:gd name="T5" fmla="*/ 21 h 124"/>
                <a:gd name="T6" fmla="*/ 5 w 133"/>
                <a:gd name="T7" fmla="*/ 23 h 124"/>
                <a:gd name="T8" fmla="*/ 3 w 133"/>
                <a:gd name="T9" fmla="*/ 21 h 124"/>
                <a:gd name="T10" fmla="*/ 0 w 133"/>
                <a:gd name="T11" fmla="*/ 11 h 124"/>
                <a:gd name="T12" fmla="*/ 0 w 133"/>
                <a:gd name="T13" fmla="*/ 8 h 124"/>
                <a:gd name="T14" fmla="*/ 3 w 133"/>
                <a:gd name="T15" fmla="*/ 3 h 124"/>
                <a:gd name="T16" fmla="*/ 6 w 133"/>
                <a:gd name="T17" fmla="*/ 0 h 124"/>
                <a:gd name="T18" fmla="*/ 12 w 133"/>
                <a:gd name="T19" fmla="*/ 0 h 124"/>
                <a:gd name="T20" fmla="*/ 18 w 133"/>
                <a:gd name="T21" fmla="*/ 3 h 124"/>
                <a:gd name="T22" fmla="*/ 19 w 133"/>
                <a:gd name="T23" fmla="*/ 3 h 124"/>
                <a:gd name="T24" fmla="*/ 22 w 133"/>
                <a:gd name="T25" fmla="*/ 6 h 124"/>
                <a:gd name="T26" fmla="*/ 22 w 133"/>
                <a:gd name="T27" fmla="*/ 8 h 124"/>
                <a:gd name="T28" fmla="*/ 20 w 133"/>
                <a:gd name="T29" fmla="*/ 9 h 124"/>
                <a:gd name="T30" fmla="*/ 18 w 133"/>
                <a:gd name="T31" fmla="*/ 9 h 124"/>
                <a:gd name="T32" fmla="*/ 16 w 133"/>
                <a:gd name="T33" fmla="*/ 11 h 124"/>
                <a:gd name="T34" fmla="*/ 16 w 133"/>
                <a:gd name="T35" fmla="*/ 15 h 124"/>
                <a:gd name="T36" fmla="*/ 14 w 133"/>
                <a:gd name="T37" fmla="*/ 17 h 124"/>
                <a:gd name="T38" fmla="*/ 13 w 133"/>
                <a:gd name="T39" fmla="*/ 15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3"/>
                <a:gd name="T61" fmla="*/ 0 h 124"/>
                <a:gd name="T62" fmla="*/ 133 w 133"/>
                <a:gd name="T63" fmla="*/ 124 h 1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round/>
            </a:ln>
          </p:spPr>
          <p:txBody>
            <a:bodyPr/>
            <a:lstStyle/>
            <a:p>
              <a:pPr>
                <a:lnSpc>
                  <a:spcPct val="150000"/>
                </a:lnSpc>
              </a:pPr>
              <a:endParaRPr lang="zh-CN" altLang="en-US" sz="2000">
                <a:latin typeface="微软雅黑" panose="020B0503020204020204" pitchFamily="34" charset="-122"/>
                <a:ea typeface="微软雅黑" panose="020B0503020204020204" pitchFamily="34" charset="-122"/>
              </a:endParaRPr>
            </a:p>
          </p:txBody>
        </p:sp>
      </p:grpSp>
      <p:sp>
        <p:nvSpPr>
          <p:cNvPr id="147" name="Line 60"/>
          <p:cNvSpPr>
            <a:spLocks noChangeShapeType="1"/>
          </p:cNvSpPr>
          <p:nvPr/>
        </p:nvSpPr>
        <p:spPr bwMode="auto">
          <a:xfrm flipV="1">
            <a:off x="8355965" y="4608195"/>
            <a:ext cx="635" cy="65976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grpSp>
        <p:nvGrpSpPr>
          <p:cNvPr id="9" name="组合 8">
            <a:extLst>
              <a:ext uri="{FF2B5EF4-FFF2-40B4-BE49-F238E27FC236}">
                <a16:creationId xmlns:a16="http://schemas.microsoft.com/office/drawing/2014/main" id="{513A9952-1912-2144-8409-A7EEA5192488}"/>
              </a:ext>
            </a:extLst>
          </p:cNvPr>
          <p:cNvGrpSpPr/>
          <p:nvPr/>
        </p:nvGrpSpPr>
        <p:grpSpPr>
          <a:xfrm>
            <a:off x="4006276" y="1619216"/>
            <a:ext cx="1811020" cy="4335490"/>
            <a:chOff x="3931285" y="1607475"/>
            <a:chExt cx="1811020" cy="4335490"/>
          </a:xfrm>
        </p:grpSpPr>
        <p:sp>
          <p:nvSpPr>
            <p:cNvPr id="140" name="Text Box 54"/>
            <p:cNvSpPr txBox="1">
              <a:spLocks noChangeArrowheads="1"/>
            </p:cNvSpPr>
            <p:nvPr/>
          </p:nvSpPr>
          <p:spPr bwMode="auto">
            <a:xfrm>
              <a:off x="3989705" y="1607475"/>
              <a:ext cx="1694815" cy="468000"/>
            </a:xfrm>
            <a:prstGeom prst="rect">
              <a:avLst/>
            </a:prstGeom>
            <a:solidFill>
              <a:srgbClr val="7CC43A"/>
            </a:solidFill>
            <a:ln>
              <a:noFill/>
            </a:ln>
            <a:effec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用户</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a:t>
              </a:r>
            </a:p>
          </p:txBody>
        </p:sp>
        <p:sp>
          <p:nvSpPr>
            <p:cNvPr id="6" name="矩形 5"/>
            <p:cNvSpPr/>
            <p:nvPr/>
          </p:nvSpPr>
          <p:spPr>
            <a:xfrm>
              <a:off x="3989705" y="2772410"/>
              <a:ext cx="1752600" cy="5060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邮局</a:t>
              </a:r>
            </a:p>
          </p:txBody>
        </p:sp>
        <p:sp>
          <p:nvSpPr>
            <p:cNvPr id="84" name="矩形 83"/>
            <p:cNvSpPr/>
            <p:nvPr/>
          </p:nvSpPr>
          <p:spPr>
            <a:xfrm>
              <a:off x="3931285" y="4055745"/>
              <a:ext cx="1752600" cy="50609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运送部门</a:t>
              </a:r>
            </a:p>
          </p:txBody>
        </p:sp>
        <p:sp>
          <p:nvSpPr>
            <p:cNvPr id="85" name="矩形 84"/>
            <p:cNvSpPr/>
            <p:nvPr/>
          </p:nvSpPr>
          <p:spPr>
            <a:xfrm>
              <a:off x="3970655" y="5436870"/>
              <a:ext cx="1752600" cy="506095"/>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pitchFamily="34" charset="-122"/>
                  <a:ea typeface="微软雅黑" panose="020B0503020204020204" pitchFamily="34" charset="-122"/>
                </a:rPr>
                <a:t>铁路部门</a:t>
              </a:r>
            </a:p>
          </p:txBody>
        </p:sp>
        <p:sp>
          <p:nvSpPr>
            <p:cNvPr id="99" name="Line 56"/>
            <p:cNvSpPr>
              <a:spLocks noChangeShapeType="1"/>
            </p:cNvSpPr>
            <p:nvPr/>
          </p:nvSpPr>
          <p:spPr bwMode="auto">
            <a:xfrm>
              <a:off x="4864096" y="2150405"/>
              <a:ext cx="3" cy="635975"/>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800" b="1">
                <a:latin typeface="+mj-ea"/>
                <a:ea typeface="+mj-ea"/>
              </a:endParaRPr>
            </a:p>
          </p:txBody>
        </p:sp>
        <p:sp>
          <p:nvSpPr>
            <p:cNvPr id="100" name="Line 57"/>
            <p:cNvSpPr>
              <a:spLocks noChangeShapeType="1"/>
            </p:cNvSpPr>
            <p:nvPr/>
          </p:nvSpPr>
          <p:spPr bwMode="auto">
            <a:xfrm>
              <a:off x="4868545" y="3353435"/>
              <a:ext cx="635" cy="663575"/>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800" b="1">
                <a:latin typeface="+mj-ea"/>
                <a:ea typeface="+mj-ea"/>
              </a:endParaRPr>
            </a:p>
          </p:txBody>
        </p:sp>
        <p:sp>
          <p:nvSpPr>
            <p:cNvPr id="101" name="Line 58"/>
            <p:cNvSpPr>
              <a:spLocks noChangeShapeType="1"/>
            </p:cNvSpPr>
            <p:nvPr/>
          </p:nvSpPr>
          <p:spPr bwMode="auto">
            <a:xfrm>
              <a:off x="4843771" y="4701624"/>
              <a:ext cx="24773" cy="718736"/>
            </a:xfrm>
            <a:prstGeom prst="line">
              <a:avLst/>
            </a:prstGeom>
            <a:noFill/>
            <a:ln w="381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800" b="1">
                <a:latin typeface="+mj-ea"/>
                <a:ea typeface="+mj-ea"/>
              </a:endParaRPr>
            </a:p>
          </p:txBody>
        </p:sp>
        <p:sp>
          <p:nvSpPr>
            <p:cNvPr id="107" name="Text Box 68"/>
            <p:cNvSpPr txBox="1">
              <a:spLocks noChangeArrowheads="1"/>
            </p:cNvSpPr>
            <p:nvPr/>
          </p:nvSpPr>
          <p:spPr bwMode="auto">
            <a:xfrm>
              <a:off x="4356100" y="3324860"/>
              <a:ext cx="44640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邮包</a:t>
              </a:r>
            </a:p>
          </p:txBody>
        </p:sp>
        <p:sp>
          <p:nvSpPr>
            <p:cNvPr id="108" name="Text Box 69"/>
            <p:cNvSpPr txBox="1">
              <a:spLocks noChangeArrowheads="1"/>
            </p:cNvSpPr>
            <p:nvPr/>
          </p:nvSpPr>
          <p:spPr bwMode="auto">
            <a:xfrm>
              <a:off x="4411345" y="4608830"/>
              <a:ext cx="335915"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货物</a:t>
              </a:r>
            </a:p>
          </p:txBody>
        </p:sp>
        <p:sp>
          <p:nvSpPr>
            <p:cNvPr id="106" name="Text Box 67"/>
            <p:cNvSpPr txBox="1">
              <a:spLocks noChangeArrowheads="1"/>
            </p:cNvSpPr>
            <p:nvPr/>
          </p:nvSpPr>
          <p:spPr bwMode="auto">
            <a:xfrm>
              <a:off x="4315460" y="2085975"/>
              <a:ext cx="528320"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信件</a:t>
              </a:r>
            </a:p>
          </p:txBody>
        </p:sp>
      </p:grpSp>
      <p:sp>
        <p:nvSpPr>
          <p:cNvPr id="137" name="Text Box 67"/>
          <p:cNvSpPr txBox="1">
            <a:spLocks noChangeArrowheads="1"/>
          </p:cNvSpPr>
          <p:nvPr/>
        </p:nvSpPr>
        <p:spPr bwMode="auto">
          <a:xfrm>
            <a:off x="10659745" y="2059305"/>
            <a:ext cx="528320" cy="688256"/>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dirty="0">
                <a:latin typeface="微软雅黑" panose="020B0503020204020204" pitchFamily="34" charset="-122"/>
                <a:ea typeface="微软雅黑" panose="020B0503020204020204" pitchFamily="34" charset="-122"/>
              </a:rPr>
              <a:t>信件</a:t>
            </a:r>
          </a:p>
        </p:txBody>
      </p:sp>
      <p:sp>
        <p:nvSpPr>
          <p:cNvPr id="7" name="Line 62"/>
          <p:cNvSpPr>
            <a:spLocks noChangeShapeType="1"/>
          </p:cNvSpPr>
          <p:nvPr/>
        </p:nvSpPr>
        <p:spPr bwMode="auto">
          <a:xfrm>
            <a:off x="10605135" y="2071370"/>
            <a:ext cx="10795" cy="67246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8" name="Line 61"/>
          <p:cNvSpPr>
            <a:spLocks noChangeShapeType="1"/>
          </p:cNvSpPr>
          <p:nvPr/>
        </p:nvSpPr>
        <p:spPr bwMode="auto">
          <a:xfrm>
            <a:off x="10625455" y="3270885"/>
            <a:ext cx="6350" cy="807085"/>
          </a:xfrm>
          <a:prstGeom prst="line">
            <a:avLst/>
          </a:prstGeom>
          <a:noFill/>
          <a:ln w="38100">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3" name="灯片编号占位符 2">
            <a:extLst>
              <a:ext uri="{FF2B5EF4-FFF2-40B4-BE49-F238E27FC236}">
                <a16:creationId xmlns:a16="http://schemas.microsoft.com/office/drawing/2014/main" id="{FC189E7F-9B12-D546-8742-3E278D9B6B73}"/>
              </a:ext>
            </a:extLst>
          </p:cNvPr>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sp>
        <p:nvSpPr>
          <p:cNvPr id="72" name="文本框 71">
            <a:extLst>
              <a:ext uri="{FF2B5EF4-FFF2-40B4-BE49-F238E27FC236}">
                <a16:creationId xmlns:a16="http://schemas.microsoft.com/office/drawing/2014/main" id="{36F89C98-8F9D-3E4D-AC5C-0130AB68C682}"/>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spTree>
    <p:extLst>
      <p:ext uri="{BB962C8B-B14F-4D97-AF65-F5344CB8AC3E}">
        <p14:creationId xmlns:p14="http://schemas.microsoft.com/office/powerpoint/2010/main" val="21706534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微软雅黑" panose="020B0503020204020204" pitchFamily="34" charset="-122"/>
                <a:sym typeface="+mn-ea"/>
              </a:rPr>
              <a:t>协议分层结构</a:t>
            </a:r>
            <a:endParaRPr lang="zh-CN" altLang="en-US" dirty="0"/>
          </a:p>
        </p:txBody>
      </p:sp>
      <p:sp>
        <p:nvSpPr>
          <p:cNvPr id="3" name="内容占位符 2"/>
          <p:cNvSpPr>
            <a:spLocks noGrp="1"/>
          </p:cNvSpPr>
          <p:nvPr>
            <p:ph idx="1"/>
          </p:nvPr>
        </p:nvSpPr>
        <p:spPr>
          <a:xfrm>
            <a:off x="620535" y="1379855"/>
            <a:ext cx="5960110" cy="4846320"/>
          </a:xfrm>
        </p:spPr>
        <p:txBody>
          <a:bodyPr>
            <a:noAutofit/>
          </a:bodyPr>
          <a:lstStyle/>
          <a:p>
            <a:r>
              <a:rPr lang="zh-CN" altLang="en-US" sz="2400" dirty="0"/>
              <a:t>层次栈</a:t>
            </a:r>
          </a:p>
          <a:p>
            <a:pPr lvl="1">
              <a:buFont typeface="Arial" panose="020B0604020202020204" pitchFamily="34" charset="0"/>
              <a:buChar char="•"/>
            </a:pPr>
            <a:r>
              <a:rPr lang="zh-CN" altLang="en-US" sz="2000" dirty="0">
                <a:solidFill>
                  <a:schemeClr val="tx1"/>
                </a:solidFill>
              </a:rPr>
              <a:t>为降低网络设计的复杂性，网络使用层次结构的协议栈，每一层都</a:t>
            </a:r>
            <a:r>
              <a:rPr lang="zh-CN" altLang="en-US" sz="2000" dirty="0"/>
              <a:t>使用</a:t>
            </a:r>
            <a:r>
              <a:rPr lang="zh-CN" altLang="en-US" sz="2000" dirty="0">
                <a:solidFill>
                  <a:schemeClr val="tx1"/>
                </a:solidFill>
              </a:rPr>
              <a:t>其下一层所提供的服务，并为上层提供自己的服务</a:t>
            </a:r>
          </a:p>
          <a:p>
            <a:pPr>
              <a:buFont typeface="Wingdings" panose="05000000000000000000" charset="0"/>
              <a:buChar char="Ø"/>
            </a:pPr>
            <a:r>
              <a:rPr lang="zh-CN" altLang="en-US" sz="2400" dirty="0"/>
              <a:t>对等实体</a:t>
            </a:r>
          </a:p>
          <a:p>
            <a:pPr lvl="1">
              <a:buFont typeface="Arial" panose="020B0604020202020204" pitchFamily="34" charset="0"/>
              <a:buChar char="•"/>
            </a:pPr>
            <a:r>
              <a:rPr lang="zh-CN" altLang="en-US" sz="2000" dirty="0">
                <a:solidFill>
                  <a:schemeClr val="tx1"/>
                </a:solidFill>
              </a:rPr>
              <a:t>不同机器上构成相应层次的实体成为对等实体</a:t>
            </a:r>
          </a:p>
          <a:p>
            <a:r>
              <a:rPr lang="zh-CN" altLang="en-US" sz="2400" dirty="0"/>
              <a:t>接口</a:t>
            </a:r>
          </a:p>
          <a:p>
            <a:pPr lvl="1">
              <a:buFont typeface="Arial" panose="020B0604020202020204" pitchFamily="34" charset="0"/>
              <a:buChar char="•"/>
            </a:pPr>
            <a:r>
              <a:rPr lang="zh-CN" altLang="en-US" sz="2000" dirty="0">
                <a:solidFill>
                  <a:schemeClr val="tx1"/>
                </a:solidFill>
              </a:rPr>
              <a:t>在每一对相邻层次之间的是接口；接口定义了</a:t>
            </a:r>
          </a:p>
          <a:p>
            <a:pPr marL="457200" lvl="1" indent="0">
              <a:buNone/>
            </a:pPr>
            <a:r>
              <a:rPr lang="zh-CN" altLang="en-US" sz="2000" dirty="0">
                <a:solidFill>
                  <a:schemeClr val="tx1"/>
                </a:solidFill>
              </a:rPr>
              <a:t>   下层向上层提供</a:t>
            </a:r>
            <a:r>
              <a:rPr lang="zh-CN" altLang="en-US" sz="2000" dirty="0"/>
              <a:t>哪些</a:t>
            </a:r>
            <a:r>
              <a:rPr lang="zh-CN" altLang="en-US" sz="2000" dirty="0">
                <a:solidFill>
                  <a:srgbClr val="C00000"/>
                </a:solidFill>
              </a:rPr>
              <a:t>服务原语</a:t>
            </a:r>
          </a:p>
          <a:p>
            <a:r>
              <a:rPr lang="zh-CN" altLang="en-US" sz="2400" dirty="0"/>
              <a:t>网络体系结构</a:t>
            </a:r>
          </a:p>
          <a:p>
            <a:pPr lvl="1">
              <a:buFont typeface="Arial" panose="020B0604020202020204" pitchFamily="34" charset="0"/>
              <a:buChar char="•"/>
            </a:pPr>
            <a:r>
              <a:rPr lang="zh-CN" altLang="en-US" sz="2000" dirty="0">
                <a:solidFill>
                  <a:schemeClr val="tx1"/>
                </a:solidFill>
              </a:rPr>
              <a:t>层和协议的集合为网络体系结构，一个特定的</a:t>
            </a:r>
          </a:p>
          <a:p>
            <a:pPr marL="457200" lvl="1" indent="0">
              <a:buNone/>
            </a:pPr>
            <a:r>
              <a:rPr lang="zh-CN" altLang="en-US" sz="2000" dirty="0">
                <a:solidFill>
                  <a:schemeClr val="tx1"/>
                </a:solidFill>
              </a:rPr>
              <a:t>   系统所使用的一组协议，即每层的协议，称为</a:t>
            </a:r>
          </a:p>
          <a:p>
            <a:pPr marL="457200" lvl="1" indent="0">
              <a:buNone/>
            </a:pPr>
            <a:r>
              <a:rPr lang="zh-CN" altLang="en-US" sz="2000" dirty="0">
                <a:solidFill>
                  <a:schemeClr val="tx1"/>
                </a:solidFill>
              </a:rPr>
              <a:t>   协议栈</a:t>
            </a:r>
          </a:p>
        </p:txBody>
      </p:sp>
      <p:grpSp>
        <p:nvGrpSpPr>
          <p:cNvPr id="37" name="组合 36"/>
          <p:cNvGrpSpPr/>
          <p:nvPr/>
        </p:nvGrpSpPr>
        <p:grpSpPr>
          <a:xfrm>
            <a:off x="6763385" y="1479550"/>
            <a:ext cx="5062855" cy="4618990"/>
            <a:chOff x="10939" y="2042"/>
            <a:chExt cx="7973" cy="7274"/>
          </a:xfrm>
        </p:grpSpPr>
        <p:grpSp>
          <p:nvGrpSpPr>
            <p:cNvPr id="29" name="组合 28"/>
            <p:cNvGrpSpPr/>
            <p:nvPr/>
          </p:nvGrpSpPr>
          <p:grpSpPr>
            <a:xfrm>
              <a:off x="13650" y="2670"/>
              <a:ext cx="5262" cy="6646"/>
              <a:chOff x="13326" y="2670"/>
              <a:chExt cx="5262" cy="6646"/>
            </a:xfrm>
          </p:grpSpPr>
          <p:sp>
            <p:nvSpPr>
              <p:cNvPr id="5" name="矩形 4"/>
              <p:cNvSpPr/>
              <p:nvPr/>
            </p:nvSpPr>
            <p:spPr>
              <a:xfrm>
                <a:off x="13326" y="267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第五层</a:t>
                </a:r>
              </a:p>
            </p:txBody>
          </p:sp>
          <p:sp>
            <p:nvSpPr>
              <p:cNvPr id="6" name="矩形 5"/>
              <p:cNvSpPr/>
              <p:nvPr/>
            </p:nvSpPr>
            <p:spPr>
              <a:xfrm>
                <a:off x="13326" y="387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第四层</a:t>
                </a:r>
              </a:p>
            </p:txBody>
          </p:sp>
          <p:sp>
            <p:nvSpPr>
              <p:cNvPr id="7" name="矩形 6"/>
              <p:cNvSpPr/>
              <p:nvPr/>
            </p:nvSpPr>
            <p:spPr>
              <a:xfrm>
                <a:off x="13326" y="508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第三层</a:t>
                </a:r>
              </a:p>
            </p:txBody>
          </p:sp>
          <p:sp>
            <p:nvSpPr>
              <p:cNvPr id="8" name="矩形 7"/>
              <p:cNvSpPr/>
              <p:nvPr/>
            </p:nvSpPr>
            <p:spPr>
              <a:xfrm>
                <a:off x="13326" y="628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第二层</a:t>
                </a:r>
              </a:p>
            </p:txBody>
          </p:sp>
          <p:sp>
            <p:nvSpPr>
              <p:cNvPr id="12" name="矩形 11"/>
              <p:cNvSpPr/>
              <p:nvPr/>
            </p:nvSpPr>
            <p:spPr>
              <a:xfrm>
                <a:off x="13326" y="749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第一层</a:t>
                </a:r>
              </a:p>
            </p:txBody>
          </p:sp>
          <p:sp>
            <p:nvSpPr>
              <p:cNvPr id="13" name="矩形 12"/>
              <p:cNvSpPr/>
              <p:nvPr/>
            </p:nvSpPr>
            <p:spPr>
              <a:xfrm>
                <a:off x="13326" y="8695"/>
                <a:ext cx="5262"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物理介质</a:t>
                </a:r>
              </a:p>
            </p:txBody>
          </p:sp>
          <p:cxnSp>
            <p:nvCxnSpPr>
              <p:cNvPr id="14" name="直接箭头连接符 13"/>
              <p:cNvCxnSpPr>
                <a:stCxn id="5" idx="2"/>
                <a:endCxn id="6" idx="0"/>
              </p:cNvCxnSpPr>
              <p:nvPr/>
            </p:nvCxnSpPr>
            <p:spPr>
              <a:xfrm>
                <a:off x="14092" y="3291"/>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14110" y="449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4110" y="5667"/>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14110" y="690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4110" y="8111"/>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6946" y="267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第五层</a:t>
                </a:r>
              </a:p>
            </p:txBody>
          </p:sp>
          <p:sp>
            <p:nvSpPr>
              <p:cNvPr id="20" name="矩形 19"/>
              <p:cNvSpPr/>
              <p:nvPr/>
            </p:nvSpPr>
            <p:spPr>
              <a:xfrm>
                <a:off x="16946" y="387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第四层</a:t>
                </a:r>
              </a:p>
            </p:txBody>
          </p:sp>
          <p:sp>
            <p:nvSpPr>
              <p:cNvPr id="21" name="矩形 20"/>
              <p:cNvSpPr/>
              <p:nvPr/>
            </p:nvSpPr>
            <p:spPr>
              <a:xfrm>
                <a:off x="16946" y="508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第三层</a:t>
                </a:r>
              </a:p>
            </p:txBody>
          </p:sp>
          <p:sp>
            <p:nvSpPr>
              <p:cNvPr id="22" name="矩形 21"/>
              <p:cNvSpPr/>
              <p:nvPr/>
            </p:nvSpPr>
            <p:spPr>
              <a:xfrm>
                <a:off x="16946" y="6285"/>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第二层</a:t>
                </a:r>
              </a:p>
            </p:txBody>
          </p:sp>
          <p:sp>
            <p:nvSpPr>
              <p:cNvPr id="23" name="矩形 22"/>
              <p:cNvSpPr/>
              <p:nvPr/>
            </p:nvSpPr>
            <p:spPr>
              <a:xfrm>
                <a:off x="16946" y="7490"/>
                <a:ext cx="1568" cy="6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第一层</a:t>
                </a:r>
              </a:p>
            </p:txBody>
          </p:sp>
          <p:cxnSp>
            <p:nvCxnSpPr>
              <p:cNvPr id="24" name="直接箭头连接符 23"/>
              <p:cNvCxnSpPr>
                <a:stCxn id="19" idx="2"/>
                <a:endCxn id="20" idx="0"/>
              </p:cNvCxnSpPr>
              <p:nvPr/>
            </p:nvCxnSpPr>
            <p:spPr>
              <a:xfrm>
                <a:off x="17712" y="3291"/>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17730" y="449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17730" y="5685"/>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7730" y="6906"/>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17730" y="8149"/>
                <a:ext cx="0" cy="584"/>
              </a:xfrm>
              <a:prstGeom prst="straightConnector1">
                <a:avLst/>
              </a:prstGeom>
              <a:ln w="3175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30" name="文本框 29"/>
            <p:cNvSpPr txBox="1"/>
            <p:nvPr/>
          </p:nvSpPr>
          <p:spPr>
            <a:xfrm>
              <a:off x="13752" y="2042"/>
              <a:ext cx="1466"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主机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a:t>
              </a:r>
            </a:p>
          </p:txBody>
        </p:sp>
        <p:sp>
          <p:nvSpPr>
            <p:cNvPr id="31" name="文本框 30"/>
            <p:cNvSpPr txBox="1"/>
            <p:nvPr/>
          </p:nvSpPr>
          <p:spPr>
            <a:xfrm>
              <a:off x="17372" y="2042"/>
              <a:ext cx="1466"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主机</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a:t>
              </a:r>
            </a:p>
          </p:txBody>
        </p:sp>
        <p:sp>
          <p:nvSpPr>
            <p:cNvPr id="33" name="文本框 32"/>
            <p:cNvSpPr txBox="1"/>
            <p:nvPr/>
          </p:nvSpPr>
          <p:spPr>
            <a:xfrm>
              <a:off x="10939" y="3270"/>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第四</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五层接口</a:t>
              </a:r>
            </a:p>
          </p:txBody>
        </p:sp>
        <p:sp>
          <p:nvSpPr>
            <p:cNvPr id="34" name="文本框 33"/>
            <p:cNvSpPr txBox="1"/>
            <p:nvPr/>
          </p:nvSpPr>
          <p:spPr>
            <a:xfrm>
              <a:off x="10939" y="4452"/>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第三</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四层接口</a:t>
              </a:r>
            </a:p>
          </p:txBody>
        </p:sp>
        <p:sp>
          <p:nvSpPr>
            <p:cNvPr id="35" name="文本框 34"/>
            <p:cNvSpPr txBox="1"/>
            <p:nvPr/>
          </p:nvSpPr>
          <p:spPr>
            <a:xfrm>
              <a:off x="10939" y="5623"/>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第二</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三层接口</a:t>
              </a:r>
            </a:p>
          </p:txBody>
        </p:sp>
        <p:sp>
          <p:nvSpPr>
            <p:cNvPr id="36" name="文本框 35"/>
            <p:cNvSpPr txBox="1"/>
            <p:nvPr/>
          </p:nvSpPr>
          <p:spPr>
            <a:xfrm>
              <a:off x="10939" y="6862"/>
              <a:ext cx="2891"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第一</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二层接口</a:t>
              </a:r>
            </a:p>
          </p:txBody>
        </p:sp>
      </p:grpSp>
      <p:sp>
        <p:nvSpPr>
          <p:cNvPr id="38" name="Line 49">
            <a:extLst>
              <a:ext uri="{FF2B5EF4-FFF2-40B4-BE49-F238E27FC236}">
                <a16:creationId xmlns:a16="http://schemas.microsoft.com/office/drawing/2014/main" id="{6387FBA4-11A2-A64A-83A3-9EE26C9ABBA1}"/>
              </a:ext>
            </a:extLst>
          </p:cNvPr>
          <p:cNvSpPr>
            <a:spLocks noChangeShapeType="1"/>
          </p:cNvSpPr>
          <p:nvPr/>
        </p:nvSpPr>
        <p:spPr bwMode="auto">
          <a:xfrm flipV="1">
            <a:off x="9574530" y="2882283"/>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39" name="Text Box 73">
            <a:extLst>
              <a:ext uri="{FF2B5EF4-FFF2-40B4-BE49-F238E27FC236}">
                <a16:creationId xmlns:a16="http://schemas.microsoft.com/office/drawing/2014/main" id="{6CDD2DE5-E797-0644-BF41-45E092885904}"/>
              </a:ext>
            </a:extLst>
          </p:cNvPr>
          <p:cNvSpPr txBox="1">
            <a:spLocks noChangeArrowheads="1"/>
          </p:cNvSpPr>
          <p:nvPr/>
        </p:nvSpPr>
        <p:spPr bwMode="auto">
          <a:xfrm>
            <a:off x="9629143" y="2427648"/>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p>
        </p:txBody>
      </p:sp>
      <p:sp>
        <p:nvSpPr>
          <p:cNvPr id="40" name="Line 49">
            <a:extLst>
              <a:ext uri="{FF2B5EF4-FFF2-40B4-BE49-F238E27FC236}">
                <a16:creationId xmlns:a16="http://schemas.microsoft.com/office/drawing/2014/main" id="{12B5DA02-EC5D-B047-A7DA-E2ECDB4E85DF}"/>
              </a:ext>
            </a:extLst>
          </p:cNvPr>
          <p:cNvSpPr>
            <a:spLocks noChangeShapeType="1"/>
          </p:cNvSpPr>
          <p:nvPr/>
        </p:nvSpPr>
        <p:spPr bwMode="auto">
          <a:xfrm flipV="1">
            <a:off x="9574530" y="3647459"/>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1" name="Text Box 73">
            <a:extLst>
              <a:ext uri="{FF2B5EF4-FFF2-40B4-BE49-F238E27FC236}">
                <a16:creationId xmlns:a16="http://schemas.microsoft.com/office/drawing/2014/main" id="{C03D22A5-2DDE-2043-BEEA-2D41475A90AA}"/>
              </a:ext>
            </a:extLst>
          </p:cNvPr>
          <p:cNvSpPr txBox="1">
            <a:spLocks noChangeArrowheads="1"/>
          </p:cNvSpPr>
          <p:nvPr/>
        </p:nvSpPr>
        <p:spPr bwMode="auto">
          <a:xfrm>
            <a:off x="9629143" y="3192824"/>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p>
        </p:txBody>
      </p:sp>
      <p:sp>
        <p:nvSpPr>
          <p:cNvPr id="42" name="Line 49">
            <a:extLst>
              <a:ext uri="{FF2B5EF4-FFF2-40B4-BE49-F238E27FC236}">
                <a16:creationId xmlns:a16="http://schemas.microsoft.com/office/drawing/2014/main" id="{E598DBC3-7CEC-C849-A9C2-771AF06363B6}"/>
              </a:ext>
            </a:extLst>
          </p:cNvPr>
          <p:cNvSpPr>
            <a:spLocks noChangeShapeType="1"/>
          </p:cNvSpPr>
          <p:nvPr/>
        </p:nvSpPr>
        <p:spPr bwMode="auto">
          <a:xfrm flipV="1">
            <a:off x="9574530" y="4445271"/>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3" name="Text Box 73">
            <a:extLst>
              <a:ext uri="{FF2B5EF4-FFF2-40B4-BE49-F238E27FC236}">
                <a16:creationId xmlns:a16="http://schemas.microsoft.com/office/drawing/2014/main" id="{DB70096B-4149-CF47-9B28-55FE3E3A5AF6}"/>
              </a:ext>
            </a:extLst>
          </p:cNvPr>
          <p:cNvSpPr txBox="1">
            <a:spLocks noChangeArrowheads="1"/>
          </p:cNvSpPr>
          <p:nvPr/>
        </p:nvSpPr>
        <p:spPr bwMode="auto">
          <a:xfrm>
            <a:off x="9629143" y="3990636"/>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p>
        </p:txBody>
      </p:sp>
      <p:sp>
        <p:nvSpPr>
          <p:cNvPr id="44" name="Line 49">
            <a:extLst>
              <a:ext uri="{FF2B5EF4-FFF2-40B4-BE49-F238E27FC236}">
                <a16:creationId xmlns:a16="http://schemas.microsoft.com/office/drawing/2014/main" id="{A5E2BC77-B774-794F-AE26-BD829DADA16F}"/>
              </a:ext>
            </a:extLst>
          </p:cNvPr>
          <p:cNvSpPr>
            <a:spLocks noChangeShapeType="1"/>
          </p:cNvSpPr>
          <p:nvPr/>
        </p:nvSpPr>
        <p:spPr bwMode="auto">
          <a:xfrm flipV="1">
            <a:off x="9574530" y="5171440"/>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5" name="Text Box 73">
            <a:extLst>
              <a:ext uri="{FF2B5EF4-FFF2-40B4-BE49-F238E27FC236}">
                <a16:creationId xmlns:a16="http://schemas.microsoft.com/office/drawing/2014/main" id="{B134CF54-2139-CE4C-A42D-DE83E4C0E38C}"/>
              </a:ext>
            </a:extLst>
          </p:cNvPr>
          <p:cNvSpPr txBox="1">
            <a:spLocks noChangeArrowheads="1"/>
          </p:cNvSpPr>
          <p:nvPr/>
        </p:nvSpPr>
        <p:spPr bwMode="auto">
          <a:xfrm>
            <a:off x="9629143" y="4716805"/>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p>
        </p:txBody>
      </p:sp>
      <p:sp>
        <p:nvSpPr>
          <p:cNvPr id="46" name="Line 49">
            <a:extLst>
              <a:ext uri="{FF2B5EF4-FFF2-40B4-BE49-F238E27FC236}">
                <a16:creationId xmlns:a16="http://schemas.microsoft.com/office/drawing/2014/main" id="{E029BF18-7AB1-F741-AEC5-2C3ADB7A72E5}"/>
              </a:ext>
            </a:extLst>
          </p:cNvPr>
          <p:cNvSpPr>
            <a:spLocks noChangeShapeType="1"/>
          </p:cNvSpPr>
          <p:nvPr/>
        </p:nvSpPr>
        <p:spPr bwMode="auto">
          <a:xfrm flipV="1">
            <a:off x="9570811" y="2054463"/>
            <a:ext cx="1148080" cy="0"/>
          </a:xfrm>
          <a:prstGeom prst="line">
            <a:avLst/>
          </a:prstGeom>
          <a:noFill/>
          <a:ln w="381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endParaRPr lang="zh-CN" altLang="en-US" sz="1800" b="1">
              <a:latin typeface="+mj-ea"/>
              <a:ea typeface="+mj-ea"/>
            </a:endParaRPr>
          </a:p>
        </p:txBody>
      </p:sp>
      <p:sp>
        <p:nvSpPr>
          <p:cNvPr id="47" name="Text Box 73">
            <a:extLst>
              <a:ext uri="{FF2B5EF4-FFF2-40B4-BE49-F238E27FC236}">
                <a16:creationId xmlns:a16="http://schemas.microsoft.com/office/drawing/2014/main" id="{52B8CDBB-CA99-0640-910B-0E7EE6763628}"/>
              </a:ext>
            </a:extLst>
          </p:cNvPr>
          <p:cNvSpPr txBox="1">
            <a:spLocks noChangeArrowheads="1"/>
          </p:cNvSpPr>
          <p:nvPr/>
        </p:nvSpPr>
        <p:spPr bwMode="auto">
          <a:xfrm>
            <a:off x="9625424" y="1599828"/>
            <a:ext cx="1093467" cy="439278"/>
          </a:xfrm>
          <a:prstGeom prst="rect">
            <a:avLst/>
          </a:prstGeom>
          <a:noFill/>
          <a:ln w="1905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spcBef>
                <a:spcPct val="50000"/>
              </a:spcBef>
            </a:pPr>
            <a:r>
              <a:rPr kumimoji="1" lang="zh-CN" altLang="en-US" dirty="0">
                <a:latin typeface="微软雅黑" panose="020B0503020204020204" pitchFamily="34" charset="-122"/>
                <a:ea typeface="微软雅黑" panose="020B0503020204020204" pitchFamily="34" charset="-122"/>
              </a:rPr>
              <a:t>对等实体</a:t>
            </a:r>
          </a:p>
        </p:txBody>
      </p:sp>
      <p:sp>
        <p:nvSpPr>
          <p:cNvPr id="9" name="灯片编号占位符 8">
            <a:extLst>
              <a:ext uri="{FF2B5EF4-FFF2-40B4-BE49-F238E27FC236}">
                <a16:creationId xmlns:a16="http://schemas.microsoft.com/office/drawing/2014/main" id="{EB57F791-1EFD-BB46-A56D-D3A08C15E0E7}"/>
              </a:ext>
            </a:extLst>
          </p:cNvPr>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sp>
        <p:nvSpPr>
          <p:cNvPr id="48" name="文本框 47">
            <a:extLst>
              <a:ext uri="{FF2B5EF4-FFF2-40B4-BE49-F238E27FC236}">
                <a16:creationId xmlns:a16="http://schemas.microsoft.com/office/drawing/2014/main" id="{2FCC529C-0AA4-DD4E-97B7-65DEBEFDC9E9}"/>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pic>
        <p:nvPicPr>
          <p:cNvPr id="49" name="Picture 28" descr="015">
            <a:extLst>
              <a:ext uri="{FF2B5EF4-FFF2-40B4-BE49-F238E27FC236}">
                <a16:creationId xmlns:a16="http://schemas.microsoft.com/office/drawing/2014/main" id="{C335C703-1566-4A06-9557-A2A8E4AB3D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40059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cs typeface="微软雅黑" panose="020B0503020204020204" pitchFamily="34" charset="-122"/>
                <a:sym typeface="+mn-ea"/>
              </a:rPr>
              <a:t>协议分层结构</a:t>
            </a:r>
            <a:endParaRPr kumimoji="1" lang="zh-CN" altLang="en-US" dirty="0"/>
          </a:p>
        </p:txBody>
      </p:sp>
      <p:sp>
        <p:nvSpPr>
          <p:cNvPr id="65" name="内容占位符 64"/>
          <p:cNvSpPr>
            <a:spLocks noGrp="1"/>
          </p:cNvSpPr>
          <p:nvPr>
            <p:ph idx="1"/>
          </p:nvPr>
        </p:nvSpPr>
        <p:spPr>
          <a:xfrm>
            <a:off x="1087639" y="1371212"/>
            <a:ext cx="9596755" cy="853993"/>
          </a:xfrm>
        </p:spPr>
        <p:txBody>
          <a:bodyPr>
            <a:noAutofit/>
          </a:bodyPr>
          <a:lstStyle/>
          <a:p>
            <a:pPr marL="311150" indent="-311150">
              <a:spcBef>
                <a:spcPts val="400"/>
              </a:spcBef>
            </a:pPr>
            <a:r>
              <a:rPr kumimoji="1" lang="zh-CN" altLang="en-US" sz="2400" dirty="0"/>
              <a:t>发送端：层层封装；接收端：层层解封装</a:t>
            </a:r>
          </a:p>
          <a:p>
            <a:pPr marL="311150" indent="-311150">
              <a:spcBef>
                <a:spcPts val="400"/>
              </a:spcBef>
            </a:pPr>
            <a:r>
              <a:rPr kumimoji="1" lang="zh-CN" altLang="en-US" sz="2400" dirty="0"/>
              <a:t>不同层对应协议数据单元（</a:t>
            </a:r>
            <a:r>
              <a:rPr kumimoji="1" lang="en-US" altLang="zh-CN" sz="2400" dirty="0"/>
              <a:t>PDU Protocol Data Unit</a:t>
            </a:r>
            <a:r>
              <a:rPr kumimoji="1" lang="zh-CN" altLang="en-US" sz="2400" dirty="0"/>
              <a:t>）</a:t>
            </a:r>
          </a:p>
        </p:txBody>
      </p:sp>
      <p:sp>
        <p:nvSpPr>
          <p:cNvPr id="3" name="灯片编号占位符 2">
            <a:extLst>
              <a:ext uri="{FF2B5EF4-FFF2-40B4-BE49-F238E27FC236}">
                <a16:creationId xmlns:a16="http://schemas.microsoft.com/office/drawing/2014/main" id="{581E1A97-F737-9246-8E1D-3060C0ED72D7}"/>
              </a:ext>
            </a:extLst>
          </p:cNvPr>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graphicFrame>
        <p:nvGraphicFramePr>
          <p:cNvPr id="6" name="表格 5"/>
          <p:cNvGraphicFramePr/>
          <p:nvPr>
            <p:extLst>
              <p:ext uri="{D42A27DB-BD31-4B8C-83A1-F6EECF244321}">
                <p14:modId xmlns:p14="http://schemas.microsoft.com/office/powerpoint/2010/main" val="1335230420"/>
              </p:ext>
            </p:extLst>
          </p:nvPr>
        </p:nvGraphicFramePr>
        <p:xfrm>
          <a:off x="2923742" y="3062370"/>
          <a:ext cx="1154430" cy="2857500"/>
        </p:xfrm>
        <a:graphic>
          <a:graphicData uri="http://schemas.openxmlformats.org/drawingml/2006/table">
            <a:tbl>
              <a:tblPr firstRow="1" bandRow="1">
                <a:tableStyleId>{5940675A-B579-460E-94D1-54222C63F5DA}</a:tableStyleId>
              </a:tblPr>
              <a:tblGrid>
                <a:gridCol w="1154430">
                  <a:extLst>
                    <a:ext uri="{9D8B030D-6E8A-4147-A177-3AD203B41FA5}">
                      <a16:colId xmlns:a16="http://schemas.microsoft.com/office/drawing/2014/main" val="20000"/>
                    </a:ext>
                  </a:extLst>
                </a:gridCol>
              </a:tblGrid>
              <a:tr h="571500">
                <a:tc>
                  <a:txBody>
                    <a:bodyPr/>
                    <a:lstStyle/>
                    <a:p>
                      <a:pPr algn="ctr">
                        <a:buNone/>
                      </a:pPr>
                      <a:r>
                        <a:rPr lang="zh-CN" altLang="en-US" sz="1800" b="1" dirty="0"/>
                        <a:t>第五层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第四层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1800" b="1" dirty="0"/>
                        <a:t>第三层</a:t>
                      </a:r>
                    </a:p>
                  </a:txBody>
                  <a:tcPr anchor="ctr">
                    <a:noFill/>
                  </a:tcPr>
                </a:tc>
                <a:extLst>
                  <a:ext uri="{0D108BD9-81ED-4DB2-BD59-A6C34878D82A}">
                    <a16:rowId xmlns:a16="http://schemas.microsoft.com/office/drawing/2014/main" val="10002"/>
                  </a:ext>
                </a:extLst>
              </a:tr>
              <a:tr h="571500">
                <a:tc>
                  <a:txBody>
                    <a:bodyPr/>
                    <a:lstStyle/>
                    <a:p>
                      <a:pPr algn="ctr">
                        <a:buNone/>
                      </a:pPr>
                      <a:r>
                        <a:rPr lang="zh-CN" altLang="en-US" sz="1800" b="1" dirty="0"/>
                        <a:t>第二层</a:t>
                      </a:r>
                    </a:p>
                  </a:txBody>
                  <a:tcPr anchor="ctr">
                    <a:noFill/>
                  </a:tcPr>
                </a:tc>
                <a:extLst>
                  <a:ext uri="{0D108BD9-81ED-4DB2-BD59-A6C34878D82A}">
                    <a16:rowId xmlns:a16="http://schemas.microsoft.com/office/drawing/2014/main" val="10003"/>
                  </a:ext>
                </a:extLst>
              </a:tr>
              <a:tr h="571500">
                <a:tc>
                  <a:txBody>
                    <a:bodyPr/>
                    <a:lstStyle/>
                    <a:p>
                      <a:pPr algn="ctr">
                        <a:buNone/>
                      </a:pPr>
                      <a:r>
                        <a:rPr lang="zh-CN" altLang="en-US" sz="1800" b="1" dirty="0"/>
                        <a:t>第一层</a:t>
                      </a:r>
                    </a:p>
                  </a:txBody>
                  <a:tcPr anchor="ctr">
                    <a:noFill/>
                  </a:tcPr>
                </a:tc>
                <a:extLst>
                  <a:ext uri="{0D108BD9-81ED-4DB2-BD59-A6C34878D82A}">
                    <a16:rowId xmlns:a16="http://schemas.microsoft.com/office/drawing/2014/main" val="10004"/>
                  </a:ext>
                </a:extLst>
              </a:tr>
            </a:tbl>
          </a:graphicData>
        </a:graphic>
      </p:graphicFrame>
      <p:sp>
        <p:nvSpPr>
          <p:cNvPr id="7" name="内容占位符 2"/>
          <p:cNvSpPr>
            <a:spLocks noGrp="1"/>
          </p:cNvSpPr>
          <p:nvPr/>
        </p:nvSpPr>
        <p:spPr>
          <a:xfrm>
            <a:off x="2388437" y="256580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发送：</a:t>
            </a: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hello</a:t>
            </a:r>
          </a:p>
        </p:txBody>
      </p:sp>
      <p:pic>
        <p:nvPicPr>
          <p:cNvPr id="9" name="图片 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017597" y="2451500"/>
            <a:ext cx="396240" cy="536575"/>
          </a:xfrm>
          <a:prstGeom prst="rect">
            <a:avLst/>
          </a:prstGeom>
        </p:spPr>
      </p:pic>
      <p:graphicFrame>
        <p:nvGraphicFramePr>
          <p:cNvPr id="16" name="表格 15"/>
          <p:cNvGraphicFramePr/>
          <p:nvPr>
            <p:extLst>
              <p:ext uri="{D42A27DB-BD31-4B8C-83A1-F6EECF244321}">
                <p14:modId xmlns:p14="http://schemas.microsoft.com/office/powerpoint/2010/main" val="2273239222"/>
              </p:ext>
            </p:extLst>
          </p:nvPr>
        </p:nvGraphicFramePr>
        <p:xfrm>
          <a:off x="1956637" y="3207150"/>
          <a:ext cx="876935" cy="330200"/>
        </p:xfrm>
        <a:graphic>
          <a:graphicData uri="http://schemas.openxmlformats.org/drawingml/2006/table">
            <a:tbl>
              <a:tblPr firstRow="1" bandRow="1">
                <a:tableStyleId>{5C22544A-7EE6-4342-B048-85BDC9FD1C3A}</a:tableStyleId>
              </a:tblPr>
              <a:tblGrid>
                <a:gridCol w="876935">
                  <a:extLst>
                    <a:ext uri="{9D8B030D-6E8A-4147-A177-3AD203B41FA5}">
                      <a16:colId xmlns:a16="http://schemas.microsoft.com/office/drawing/2014/main" val="20000"/>
                    </a:ext>
                  </a:extLst>
                </a:gridCol>
              </a:tblGrid>
              <a:tr h="330200">
                <a:tc>
                  <a:txBody>
                    <a:bodyPr/>
                    <a:lstStyle/>
                    <a:p>
                      <a:pPr>
                        <a:buNone/>
                      </a:pPr>
                      <a:r>
                        <a:rPr lang="en-US" altLang="zh-CN" sz="2000" dirty="0">
                          <a:solidFill>
                            <a:schemeClr val="tx1"/>
                          </a:solidFill>
                        </a:rPr>
                        <a:t> </a:t>
                      </a:r>
                      <a:r>
                        <a:rPr lang="en-US" altLang="zh-CN" sz="2000" dirty="0">
                          <a:solidFill>
                            <a:srgbClr val="C00000"/>
                          </a:solidFill>
                        </a:rPr>
                        <a:t>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8" name="表格 17"/>
          <p:cNvGraphicFramePr/>
          <p:nvPr>
            <p:extLst>
              <p:ext uri="{D42A27DB-BD31-4B8C-83A1-F6EECF244321}">
                <p14:modId xmlns:p14="http://schemas.microsoft.com/office/powerpoint/2010/main" val="1483065668"/>
              </p:ext>
            </p:extLst>
          </p:nvPr>
        </p:nvGraphicFramePr>
        <p:xfrm>
          <a:off x="1575002" y="3727850"/>
          <a:ext cx="1271270" cy="330200"/>
        </p:xfrm>
        <a:graphic>
          <a:graphicData uri="http://schemas.openxmlformats.org/drawingml/2006/table">
            <a:tbl>
              <a:tblPr firstRow="1" bandRow="1">
                <a:tableStyleId>{5C22544A-7EE6-4342-B048-85BDC9FD1C3A}</a:tableStyleId>
              </a:tblPr>
              <a:tblGrid>
                <a:gridCol w="375285">
                  <a:extLst>
                    <a:ext uri="{9D8B030D-6E8A-4147-A177-3AD203B41FA5}">
                      <a16:colId xmlns:a16="http://schemas.microsoft.com/office/drawing/2014/main" val="20000"/>
                    </a:ext>
                  </a:extLst>
                </a:gridCol>
                <a:gridCol w="895985">
                  <a:extLst>
                    <a:ext uri="{9D8B030D-6E8A-4147-A177-3AD203B41FA5}">
                      <a16:colId xmlns:a16="http://schemas.microsoft.com/office/drawing/2014/main" val="20001"/>
                    </a:ext>
                  </a:extLst>
                </a:gridCol>
              </a:tblGrid>
              <a:tr h="330200">
                <a:tc>
                  <a:txBody>
                    <a:bodyPr/>
                    <a:lstStyle/>
                    <a:p>
                      <a:pPr>
                        <a:buNone/>
                      </a:pPr>
                      <a:r>
                        <a:rPr lang="en-US" altLang="zh-CN" sz="2000" dirty="0">
                          <a:solidFill>
                            <a:srgbClr val="C00000"/>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 name="表格 18"/>
          <p:cNvGraphicFramePr/>
          <p:nvPr>
            <p:extLst>
              <p:ext uri="{D42A27DB-BD31-4B8C-83A1-F6EECF244321}">
                <p14:modId xmlns:p14="http://schemas.microsoft.com/office/powerpoint/2010/main" val="2890388886"/>
              </p:ext>
            </p:extLst>
          </p:nvPr>
        </p:nvGraphicFramePr>
        <p:xfrm>
          <a:off x="1157172" y="4326020"/>
          <a:ext cx="1689100" cy="330200"/>
        </p:xfrm>
        <a:graphic>
          <a:graphicData uri="http://schemas.openxmlformats.org/drawingml/2006/table">
            <a:tbl>
              <a:tblPr firstRow="1" bandRow="1">
                <a:tableStyleId>{5C22544A-7EE6-4342-B048-85BDC9FD1C3A}</a:tableStyleId>
              </a:tblPr>
              <a:tblGrid>
                <a:gridCol w="39751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843915">
                  <a:extLst>
                    <a:ext uri="{9D8B030D-6E8A-4147-A177-3AD203B41FA5}">
                      <a16:colId xmlns:a16="http://schemas.microsoft.com/office/drawing/2014/main" val="20002"/>
                    </a:ext>
                  </a:extLst>
                </a:gridCol>
              </a:tblGrid>
              <a:tr h="330200">
                <a:tc>
                  <a:txBody>
                    <a:bodyPr/>
                    <a:lstStyle/>
                    <a:p>
                      <a:pPr>
                        <a:buNone/>
                      </a:pPr>
                      <a:r>
                        <a:rPr lang="en-US" altLang="zh-CN" sz="2000" dirty="0">
                          <a:solidFill>
                            <a:srgbClr val="C00000"/>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0" name="表格 19"/>
          <p:cNvGraphicFramePr/>
          <p:nvPr>
            <p:extLst>
              <p:ext uri="{D42A27DB-BD31-4B8C-83A1-F6EECF244321}">
                <p14:modId xmlns:p14="http://schemas.microsoft.com/office/powerpoint/2010/main" val="3980694856"/>
              </p:ext>
            </p:extLst>
          </p:nvPr>
        </p:nvGraphicFramePr>
        <p:xfrm>
          <a:off x="764107" y="4910220"/>
          <a:ext cx="2094865" cy="330200"/>
        </p:xfrm>
        <a:graphic>
          <a:graphicData uri="http://schemas.openxmlformats.org/drawingml/2006/table">
            <a:tbl>
              <a:tblPr firstRow="1" bandRow="1">
                <a:tableStyleId>{5C22544A-7EE6-4342-B048-85BDC9FD1C3A}</a:tableStyleId>
              </a:tblPr>
              <a:tblGrid>
                <a:gridCol w="31496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862330">
                  <a:extLst>
                    <a:ext uri="{9D8B030D-6E8A-4147-A177-3AD203B41FA5}">
                      <a16:colId xmlns:a16="http://schemas.microsoft.com/office/drawing/2014/main" val="20003"/>
                    </a:ext>
                  </a:extLst>
                </a:gridCol>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1" name="表格 20"/>
          <p:cNvGraphicFramePr/>
          <p:nvPr>
            <p:extLst>
              <p:ext uri="{D42A27DB-BD31-4B8C-83A1-F6EECF244321}">
                <p14:modId xmlns:p14="http://schemas.microsoft.com/office/powerpoint/2010/main" val="2757778117"/>
              </p:ext>
            </p:extLst>
          </p:nvPr>
        </p:nvGraphicFramePr>
        <p:xfrm>
          <a:off x="8654617" y="3062370"/>
          <a:ext cx="1170940" cy="2857500"/>
        </p:xfrm>
        <a:graphic>
          <a:graphicData uri="http://schemas.openxmlformats.org/drawingml/2006/table">
            <a:tbl>
              <a:tblPr firstRow="1" bandRow="1">
                <a:tableStyleId>{5940675A-B579-460E-94D1-54222C63F5DA}</a:tableStyleId>
              </a:tblPr>
              <a:tblGrid>
                <a:gridCol w="1170940">
                  <a:extLst>
                    <a:ext uri="{9D8B030D-6E8A-4147-A177-3AD203B41FA5}">
                      <a16:colId xmlns:a16="http://schemas.microsoft.com/office/drawing/2014/main" val="20000"/>
                    </a:ext>
                  </a:extLst>
                </a:gridCol>
              </a:tblGrid>
              <a:tr h="571500">
                <a:tc>
                  <a:txBody>
                    <a:bodyPr/>
                    <a:lstStyle/>
                    <a:p>
                      <a:pPr algn="ctr">
                        <a:buNone/>
                      </a:pPr>
                      <a:r>
                        <a:rPr lang="zh-CN" altLang="en-US" sz="1800" b="1" dirty="0"/>
                        <a:t>第五层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第四层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1800" b="1" dirty="0"/>
                        <a:t>第三层</a:t>
                      </a:r>
                    </a:p>
                  </a:txBody>
                  <a:tcPr anchor="ctr">
                    <a:noFill/>
                  </a:tcPr>
                </a:tc>
                <a:extLst>
                  <a:ext uri="{0D108BD9-81ED-4DB2-BD59-A6C34878D82A}">
                    <a16:rowId xmlns:a16="http://schemas.microsoft.com/office/drawing/2014/main" val="10002"/>
                  </a:ext>
                </a:extLst>
              </a:tr>
              <a:tr h="571500">
                <a:tc>
                  <a:txBody>
                    <a:bodyPr/>
                    <a:lstStyle/>
                    <a:p>
                      <a:pPr algn="ctr">
                        <a:buNone/>
                      </a:pPr>
                      <a:r>
                        <a:rPr lang="zh-CN" altLang="en-US" sz="1800" b="1" dirty="0"/>
                        <a:t>第二层</a:t>
                      </a:r>
                    </a:p>
                  </a:txBody>
                  <a:tcPr anchor="ctr">
                    <a:noFill/>
                  </a:tcPr>
                </a:tc>
                <a:extLst>
                  <a:ext uri="{0D108BD9-81ED-4DB2-BD59-A6C34878D82A}">
                    <a16:rowId xmlns:a16="http://schemas.microsoft.com/office/drawing/2014/main" val="10003"/>
                  </a:ext>
                </a:extLst>
              </a:tr>
              <a:tr h="571500">
                <a:tc>
                  <a:txBody>
                    <a:bodyPr/>
                    <a:lstStyle/>
                    <a:p>
                      <a:pPr algn="ctr">
                        <a:buNone/>
                      </a:pPr>
                      <a:r>
                        <a:rPr lang="zh-CN" altLang="en-US" sz="1800" b="1" dirty="0"/>
                        <a:t>第一层</a:t>
                      </a:r>
                    </a:p>
                  </a:txBody>
                  <a:tcPr anchor="ctr">
                    <a:noFill/>
                  </a:tcPr>
                </a:tc>
                <a:extLst>
                  <a:ext uri="{0D108BD9-81ED-4DB2-BD59-A6C34878D82A}">
                    <a16:rowId xmlns:a16="http://schemas.microsoft.com/office/drawing/2014/main" val="10004"/>
                  </a:ext>
                </a:extLst>
              </a:tr>
            </a:tbl>
          </a:graphicData>
        </a:graphic>
      </p:graphicFrame>
      <p:graphicFrame>
        <p:nvGraphicFramePr>
          <p:cNvPr id="22" name="表格 21"/>
          <p:cNvGraphicFramePr/>
          <p:nvPr>
            <p:extLst>
              <p:ext uri="{D42A27DB-BD31-4B8C-83A1-F6EECF244321}">
                <p14:modId xmlns:p14="http://schemas.microsoft.com/office/powerpoint/2010/main" val="2061221695"/>
              </p:ext>
            </p:extLst>
          </p:nvPr>
        </p:nvGraphicFramePr>
        <p:xfrm>
          <a:off x="4358842" y="4776870"/>
          <a:ext cx="1121410" cy="1143000"/>
        </p:xfrm>
        <a:graphic>
          <a:graphicData uri="http://schemas.openxmlformats.org/drawingml/2006/table">
            <a:tbl>
              <a:tblPr firstRow="1" bandRow="1">
                <a:tableStyleId>{5940675A-B579-460E-94D1-54222C63F5DA}</a:tableStyleId>
              </a:tblPr>
              <a:tblGrid>
                <a:gridCol w="1121410">
                  <a:extLst>
                    <a:ext uri="{9D8B030D-6E8A-4147-A177-3AD203B41FA5}">
                      <a16:colId xmlns:a16="http://schemas.microsoft.com/office/drawing/2014/main" val="20000"/>
                    </a:ext>
                  </a:extLst>
                </a:gridCol>
              </a:tblGrid>
              <a:tr h="571500">
                <a:tc>
                  <a:txBody>
                    <a:bodyPr/>
                    <a:lstStyle/>
                    <a:p>
                      <a:pPr algn="ctr">
                        <a:buNone/>
                      </a:pPr>
                      <a:r>
                        <a:rPr lang="zh-CN" altLang="en-US" sz="1800" b="1" dirty="0"/>
                        <a:t>第二层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第一层</a:t>
                      </a:r>
                    </a:p>
                  </a:txBody>
                  <a:tcPr anchor="ctr">
                    <a:noFill/>
                  </a:tcPr>
                </a:tc>
                <a:extLst>
                  <a:ext uri="{0D108BD9-81ED-4DB2-BD59-A6C34878D82A}">
                    <a16:rowId xmlns:a16="http://schemas.microsoft.com/office/drawing/2014/main" val="10001"/>
                  </a:ext>
                </a:extLst>
              </a:tr>
            </a:tbl>
          </a:graphicData>
        </a:graphic>
      </p:graphicFrame>
      <p:graphicFrame>
        <p:nvGraphicFramePr>
          <p:cNvPr id="23" name="表格 22"/>
          <p:cNvGraphicFramePr/>
          <p:nvPr>
            <p:extLst>
              <p:ext uri="{D42A27DB-BD31-4B8C-83A1-F6EECF244321}">
                <p14:modId xmlns:p14="http://schemas.microsoft.com/office/powerpoint/2010/main" val="290894347"/>
              </p:ext>
            </p:extLst>
          </p:nvPr>
        </p:nvGraphicFramePr>
        <p:xfrm>
          <a:off x="7191577" y="4776870"/>
          <a:ext cx="1104265" cy="1143000"/>
        </p:xfrm>
        <a:graphic>
          <a:graphicData uri="http://schemas.openxmlformats.org/drawingml/2006/table">
            <a:tbl>
              <a:tblPr firstRow="1" bandRow="1">
                <a:tableStyleId>{5940675A-B579-460E-94D1-54222C63F5DA}</a:tableStyleId>
              </a:tblPr>
              <a:tblGrid>
                <a:gridCol w="1104265">
                  <a:extLst>
                    <a:ext uri="{9D8B030D-6E8A-4147-A177-3AD203B41FA5}">
                      <a16:colId xmlns:a16="http://schemas.microsoft.com/office/drawing/2014/main" val="20000"/>
                    </a:ext>
                  </a:extLst>
                </a:gridCol>
              </a:tblGrid>
              <a:tr h="571500">
                <a:tc>
                  <a:txBody>
                    <a:bodyPr/>
                    <a:lstStyle/>
                    <a:p>
                      <a:pPr algn="ctr">
                        <a:buNone/>
                      </a:pPr>
                      <a:r>
                        <a:rPr lang="zh-CN" altLang="en-US" sz="1800" b="1" dirty="0"/>
                        <a:t>第二层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第一层</a:t>
                      </a:r>
                    </a:p>
                  </a:txBody>
                  <a:tcPr anchor="ctr">
                    <a:noFill/>
                  </a:tcPr>
                </a:tc>
                <a:extLst>
                  <a:ext uri="{0D108BD9-81ED-4DB2-BD59-A6C34878D82A}">
                    <a16:rowId xmlns:a16="http://schemas.microsoft.com/office/drawing/2014/main" val="10001"/>
                  </a:ext>
                </a:extLst>
              </a:tr>
            </a:tbl>
          </a:graphicData>
        </a:graphic>
      </p:graphicFrame>
      <p:graphicFrame>
        <p:nvGraphicFramePr>
          <p:cNvPr id="24" name="表格 23"/>
          <p:cNvGraphicFramePr/>
          <p:nvPr>
            <p:extLst>
              <p:ext uri="{D42A27DB-BD31-4B8C-83A1-F6EECF244321}">
                <p14:modId xmlns:p14="http://schemas.microsoft.com/office/powerpoint/2010/main" val="1126872521"/>
              </p:ext>
            </p:extLst>
          </p:nvPr>
        </p:nvGraphicFramePr>
        <p:xfrm>
          <a:off x="5760922" y="4205370"/>
          <a:ext cx="1095375" cy="1714500"/>
        </p:xfrm>
        <a:graphic>
          <a:graphicData uri="http://schemas.openxmlformats.org/drawingml/2006/table">
            <a:tbl>
              <a:tblPr firstRow="1" bandRow="1">
                <a:tableStyleId>{5940675A-B579-460E-94D1-54222C63F5DA}</a:tableStyleId>
              </a:tblPr>
              <a:tblGrid>
                <a:gridCol w="1095375">
                  <a:extLst>
                    <a:ext uri="{9D8B030D-6E8A-4147-A177-3AD203B41FA5}">
                      <a16:colId xmlns:a16="http://schemas.microsoft.com/office/drawing/2014/main" val="20000"/>
                    </a:ext>
                  </a:extLst>
                </a:gridCol>
              </a:tblGrid>
              <a:tr h="571500">
                <a:tc>
                  <a:txBody>
                    <a:bodyPr/>
                    <a:lstStyle/>
                    <a:p>
                      <a:pPr algn="ctr">
                        <a:buNone/>
                      </a:pPr>
                      <a:r>
                        <a:rPr lang="zh-CN" altLang="en-US" sz="1800" b="1" dirty="0"/>
                        <a:t>第三层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第二层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1800" b="1" dirty="0"/>
                        <a:t>第一层</a:t>
                      </a:r>
                    </a:p>
                  </a:txBody>
                  <a:tcPr anchor="ctr">
                    <a:noFill/>
                  </a:tcPr>
                </a:tc>
                <a:extLst>
                  <a:ext uri="{0D108BD9-81ED-4DB2-BD59-A6C34878D82A}">
                    <a16:rowId xmlns:a16="http://schemas.microsoft.com/office/drawing/2014/main" val="10002"/>
                  </a:ext>
                </a:extLst>
              </a:tr>
            </a:tbl>
          </a:graphicData>
        </a:graphic>
      </p:graphicFrame>
      <p:sp>
        <p:nvSpPr>
          <p:cNvPr id="27" name="内容占位符 2"/>
          <p:cNvSpPr>
            <a:spLocks noGrp="1"/>
          </p:cNvSpPr>
          <p:nvPr/>
        </p:nvSpPr>
        <p:spPr>
          <a:xfrm>
            <a:off x="8191067" y="256580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接收：</a:t>
            </a: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hello</a:t>
            </a:r>
          </a:p>
        </p:txBody>
      </p:sp>
      <p:pic>
        <p:nvPicPr>
          <p:cNvPr id="28" name="图片 2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13242" y="2451500"/>
            <a:ext cx="396240" cy="536575"/>
          </a:xfrm>
          <a:prstGeom prst="rect">
            <a:avLst/>
          </a:prstGeom>
        </p:spPr>
      </p:pic>
      <p:graphicFrame>
        <p:nvGraphicFramePr>
          <p:cNvPr id="29" name="表格 28"/>
          <p:cNvGraphicFramePr/>
          <p:nvPr>
            <p:extLst>
              <p:ext uri="{D42A27DB-BD31-4B8C-83A1-F6EECF244321}">
                <p14:modId xmlns:p14="http://schemas.microsoft.com/office/powerpoint/2010/main" val="2158729648"/>
              </p:ext>
            </p:extLst>
          </p:nvPr>
        </p:nvGraphicFramePr>
        <p:xfrm>
          <a:off x="838402" y="5455050"/>
          <a:ext cx="1969135" cy="330200"/>
        </p:xfrm>
        <a:graphic>
          <a:graphicData uri="http://schemas.openxmlformats.org/drawingml/2006/table">
            <a:tbl>
              <a:tblPr firstRow="1" bandRow="1">
                <a:tableStyleId>{5C22544A-7EE6-4342-B048-85BDC9FD1C3A}</a:tableStyleId>
              </a:tblPr>
              <a:tblGrid>
                <a:gridCol w="1969135">
                  <a:extLst>
                    <a:ext uri="{9D8B030D-6E8A-4147-A177-3AD203B41FA5}">
                      <a16:colId xmlns:a16="http://schemas.microsoft.com/office/drawing/2014/main" val="20000"/>
                    </a:ext>
                  </a:extLst>
                </a:gridCol>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0" name="表格 29"/>
          <p:cNvGraphicFramePr/>
          <p:nvPr>
            <p:extLst>
              <p:ext uri="{D42A27DB-BD31-4B8C-83A1-F6EECF244321}">
                <p14:modId xmlns:p14="http://schemas.microsoft.com/office/powerpoint/2010/main" val="2458475196"/>
              </p:ext>
            </p:extLst>
          </p:nvPr>
        </p:nvGraphicFramePr>
        <p:xfrm>
          <a:off x="9919537" y="3207150"/>
          <a:ext cx="876935" cy="330200"/>
        </p:xfrm>
        <a:graphic>
          <a:graphicData uri="http://schemas.openxmlformats.org/drawingml/2006/table">
            <a:tbl>
              <a:tblPr firstRow="1" bandRow="1">
                <a:tableStyleId>{5C22544A-7EE6-4342-B048-85BDC9FD1C3A}</a:tableStyleId>
              </a:tblPr>
              <a:tblGrid>
                <a:gridCol w="876935">
                  <a:extLst>
                    <a:ext uri="{9D8B030D-6E8A-4147-A177-3AD203B41FA5}">
                      <a16:colId xmlns:a16="http://schemas.microsoft.com/office/drawing/2014/main" val="20000"/>
                    </a:ext>
                  </a:extLst>
                </a:gridCol>
              </a:tblGrid>
              <a:tr h="330200">
                <a:tc>
                  <a:txBody>
                    <a:bodyPr/>
                    <a:lstStyle/>
                    <a:p>
                      <a:pPr>
                        <a:buNone/>
                      </a:pPr>
                      <a:r>
                        <a:rPr lang="en-US" altLang="zh-CN" sz="2000" dirty="0">
                          <a:solidFill>
                            <a:schemeClr val="tx1"/>
                          </a:solidFill>
                        </a:rPr>
                        <a:t> </a:t>
                      </a:r>
                      <a:r>
                        <a:rPr lang="en-US" altLang="zh-CN" sz="2000" dirty="0">
                          <a:solidFill>
                            <a:srgbClr val="C00000"/>
                          </a:solidFill>
                        </a:rPr>
                        <a:t>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1" name="表格 30"/>
          <p:cNvGraphicFramePr/>
          <p:nvPr>
            <p:extLst>
              <p:ext uri="{D42A27DB-BD31-4B8C-83A1-F6EECF244321}">
                <p14:modId xmlns:p14="http://schemas.microsoft.com/office/powerpoint/2010/main" val="3722697424"/>
              </p:ext>
            </p:extLst>
          </p:nvPr>
        </p:nvGraphicFramePr>
        <p:xfrm>
          <a:off x="9893502" y="3727850"/>
          <a:ext cx="1271270" cy="330200"/>
        </p:xfrm>
        <a:graphic>
          <a:graphicData uri="http://schemas.openxmlformats.org/drawingml/2006/table">
            <a:tbl>
              <a:tblPr firstRow="1" bandRow="1">
                <a:tableStyleId>{5C22544A-7EE6-4342-B048-85BDC9FD1C3A}</a:tableStyleId>
              </a:tblPr>
              <a:tblGrid>
                <a:gridCol w="375285">
                  <a:extLst>
                    <a:ext uri="{9D8B030D-6E8A-4147-A177-3AD203B41FA5}">
                      <a16:colId xmlns:a16="http://schemas.microsoft.com/office/drawing/2014/main" val="20000"/>
                    </a:ext>
                  </a:extLst>
                </a:gridCol>
                <a:gridCol w="895985">
                  <a:extLst>
                    <a:ext uri="{9D8B030D-6E8A-4147-A177-3AD203B41FA5}">
                      <a16:colId xmlns:a16="http://schemas.microsoft.com/office/drawing/2014/main" val="20001"/>
                    </a:ext>
                  </a:extLst>
                </a:gridCol>
              </a:tblGrid>
              <a:tr h="330200">
                <a:tc>
                  <a:txBody>
                    <a:bodyPr/>
                    <a:lstStyle/>
                    <a:p>
                      <a:pPr>
                        <a:buNone/>
                      </a:pPr>
                      <a:r>
                        <a:rPr lang="en-US" altLang="zh-CN" sz="2000" dirty="0">
                          <a:solidFill>
                            <a:schemeClr val="tx1"/>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2" name="表格 31"/>
          <p:cNvGraphicFramePr/>
          <p:nvPr>
            <p:extLst>
              <p:ext uri="{D42A27DB-BD31-4B8C-83A1-F6EECF244321}">
                <p14:modId xmlns:p14="http://schemas.microsoft.com/office/powerpoint/2010/main" val="3726262338"/>
              </p:ext>
            </p:extLst>
          </p:nvPr>
        </p:nvGraphicFramePr>
        <p:xfrm>
          <a:off x="9894772" y="4326020"/>
          <a:ext cx="1689100" cy="330200"/>
        </p:xfrm>
        <a:graphic>
          <a:graphicData uri="http://schemas.openxmlformats.org/drawingml/2006/table">
            <a:tbl>
              <a:tblPr firstRow="1" bandRow="1">
                <a:tableStyleId>{5C22544A-7EE6-4342-B048-85BDC9FD1C3A}</a:tableStyleId>
              </a:tblPr>
              <a:tblGrid>
                <a:gridCol w="39751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843915">
                  <a:extLst>
                    <a:ext uri="{9D8B030D-6E8A-4147-A177-3AD203B41FA5}">
                      <a16:colId xmlns:a16="http://schemas.microsoft.com/office/drawing/2014/main" val="20002"/>
                    </a:ext>
                  </a:extLst>
                </a:gridCol>
              </a:tblGrid>
              <a:tr h="330200">
                <a:tc>
                  <a:txBody>
                    <a:bodyPr/>
                    <a:lstStyle/>
                    <a:p>
                      <a:pPr>
                        <a:buNone/>
                      </a:pPr>
                      <a:r>
                        <a:rPr lang="en-US" altLang="zh-CN" sz="2000" dirty="0">
                          <a:solidFill>
                            <a:schemeClr val="tx1"/>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3" name="表格 32"/>
          <p:cNvGraphicFramePr/>
          <p:nvPr>
            <p:extLst>
              <p:ext uri="{D42A27DB-BD31-4B8C-83A1-F6EECF244321}">
                <p14:modId xmlns:p14="http://schemas.microsoft.com/office/powerpoint/2010/main" val="2069593965"/>
              </p:ext>
            </p:extLst>
          </p:nvPr>
        </p:nvGraphicFramePr>
        <p:xfrm>
          <a:off x="9895407" y="4910220"/>
          <a:ext cx="2094865" cy="330200"/>
        </p:xfrm>
        <a:graphic>
          <a:graphicData uri="http://schemas.openxmlformats.org/drawingml/2006/table">
            <a:tbl>
              <a:tblPr firstRow="1" bandRow="1">
                <a:tableStyleId>{5C22544A-7EE6-4342-B048-85BDC9FD1C3A}</a:tableStyleId>
              </a:tblPr>
              <a:tblGrid>
                <a:gridCol w="31496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862330">
                  <a:extLst>
                    <a:ext uri="{9D8B030D-6E8A-4147-A177-3AD203B41FA5}">
                      <a16:colId xmlns:a16="http://schemas.microsoft.com/office/drawing/2014/main" val="20003"/>
                    </a:ext>
                  </a:extLst>
                </a:gridCol>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4" name="表格 33"/>
          <p:cNvGraphicFramePr/>
          <p:nvPr>
            <p:extLst>
              <p:ext uri="{D42A27DB-BD31-4B8C-83A1-F6EECF244321}">
                <p14:modId xmlns:p14="http://schemas.microsoft.com/office/powerpoint/2010/main" val="2597356387"/>
              </p:ext>
            </p:extLst>
          </p:nvPr>
        </p:nvGraphicFramePr>
        <p:xfrm>
          <a:off x="9969702" y="5455050"/>
          <a:ext cx="1969135" cy="330200"/>
        </p:xfrm>
        <a:graphic>
          <a:graphicData uri="http://schemas.openxmlformats.org/drawingml/2006/table">
            <a:tbl>
              <a:tblPr firstRow="1" bandRow="1">
                <a:tableStyleId>{5C22544A-7EE6-4342-B048-85BDC9FD1C3A}</a:tableStyleId>
              </a:tblPr>
              <a:tblGrid>
                <a:gridCol w="1969135">
                  <a:extLst>
                    <a:ext uri="{9D8B030D-6E8A-4147-A177-3AD203B41FA5}">
                      <a16:colId xmlns:a16="http://schemas.microsoft.com/office/drawing/2014/main" val="20000"/>
                    </a:ext>
                  </a:extLst>
                </a:gridCol>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42" name="直接箭头连接符 41"/>
          <p:cNvCxnSpPr>
            <a:stCxn id="7" idx="3"/>
          </p:cNvCxnSpPr>
          <p:nvPr/>
        </p:nvCxnSpPr>
        <p:spPr>
          <a:xfrm flipH="1">
            <a:off x="3939107" y="2796305"/>
            <a:ext cx="12700" cy="265874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3926407" y="55820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5310707" y="55820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6747712" y="56201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8232342" y="562015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4567757" y="477687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5939357" y="4205370"/>
            <a:ext cx="0" cy="14147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7399857" y="477687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643322" y="486259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7505902" y="486259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032702" y="4326020"/>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6666432" y="4326020"/>
            <a:ext cx="0" cy="135763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5272607" y="482830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8134552" y="486259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8797492" y="2873775"/>
            <a:ext cx="0" cy="270827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sp>
        <p:nvSpPr>
          <p:cNvPr id="58" name="内容占位符 2"/>
          <p:cNvSpPr>
            <a:spLocks noGrp="1"/>
          </p:cNvSpPr>
          <p:nvPr/>
        </p:nvSpPr>
        <p:spPr>
          <a:xfrm>
            <a:off x="3062172" y="593217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a:t>
            </a:r>
          </a:p>
        </p:txBody>
      </p:sp>
      <p:sp>
        <p:nvSpPr>
          <p:cNvPr id="59" name="内容占位符 2"/>
          <p:cNvSpPr>
            <a:spLocks noGrp="1"/>
          </p:cNvSpPr>
          <p:nvPr/>
        </p:nvSpPr>
        <p:spPr>
          <a:xfrm>
            <a:off x="4485842" y="593217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交换机</a:t>
            </a:r>
          </a:p>
        </p:txBody>
      </p:sp>
      <p:sp>
        <p:nvSpPr>
          <p:cNvPr id="60" name="内容占位符 2"/>
          <p:cNvSpPr>
            <a:spLocks noGrp="1"/>
          </p:cNvSpPr>
          <p:nvPr/>
        </p:nvSpPr>
        <p:spPr>
          <a:xfrm>
            <a:off x="7300162" y="595884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交换机</a:t>
            </a:r>
          </a:p>
        </p:txBody>
      </p:sp>
      <p:sp>
        <p:nvSpPr>
          <p:cNvPr id="61" name="内容占位符 2"/>
          <p:cNvSpPr>
            <a:spLocks noGrp="1"/>
          </p:cNvSpPr>
          <p:nvPr/>
        </p:nvSpPr>
        <p:spPr>
          <a:xfrm>
            <a:off x="8863532" y="5957570"/>
            <a:ext cx="126365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B</a:t>
            </a:r>
          </a:p>
        </p:txBody>
      </p:sp>
      <p:sp>
        <p:nvSpPr>
          <p:cNvPr id="62" name="内容占位符 2"/>
          <p:cNvSpPr>
            <a:spLocks noGrp="1"/>
          </p:cNvSpPr>
          <p:nvPr/>
        </p:nvSpPr>
        <p:spPr>
          <a:xfrm>
            <a:off x="5886017" y="5957570"/>
            <a:ext cx="86868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路由器</a:t>
            </a:r>
          </a:p>
        </p:txBody>
      </p:sp>
      <p:sp>
        <p:nvSpPr>
          <p:cNvPr id="63" name="内容占位符 2"/>
          <p:cNvSpPr>
            <a:spLocks noGrp="1"/>
          </p:cNvSpPr>
          <p:nvPr/>
        </p:nvSpPr>
        <p:spPr>
          <a:xfrm>
            <a:off x="4131513" y="3156350"/>
            <a:ext cx="200132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封装</a:t>
            </a:r>
          </a:p>
          <a:p>
            <a:pPr marL="0" marR="0" lvl="0" indent="0" algn="l" defTabSz="914400" rtl="0" eaLnBrk="1" fontAlgn="auto" latinLnBrk="0" hangingPunct="1">
              <a:spcBef>
                <a:spcPts val="600"/>
              </a:spcBef>
              <a:spcAft>
                <a:spcPts val="0"/>
              </a:spcAft>
              <a:buClrTx/>
              <a:buSzTx/>
              <a:buFont typeface="Wingdings" panose="05000000000000000000" pitchFamily="2" charset="2"/>
              <a:buNone/>
              <a:tabLst/>
              <a:defRPr/>
            </a:pPr>
            <a:r>
              <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Encapsulation</a:t>
            </a:r>
          </a:p>
        </p:txBody>
      </p:sp>
      <p:sp>
        <p:nvSpPr>
          <p:cNvPr id="64" name="内容占位符 2"/>
          <p:cNvSpPr>
            <a:spLocks noGrp="1"/>
          </p:cNvSpPr>
          <p:nvPr/>
        </p:nvSpPr>
        <p:spPr>
          <a:xfrm>
            <a:off x="6420686" y="3127775"/>
            <a:ext cx="222885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解封装</a:t>
            </a:r>
          </a:p>
          <a:p>
            <a:pPr marL="0" marR="0" lvl="0" indent="0" algn="r" defTabSz="914400" rtl="0" eaLnBrk="1" fontAlgn="auto" latinLnBrk="0" hangingPunct="1">
              <a:spcBef>
                <a:spcPts val="600"/>
              </a:spcBef>
              <a:spcAft>
                <a:spcPts val="0"/>
              </a:spcAft>
              <a:buClrTx/>
              <a:buSzTx/>
              <a:buFont typeface="Wingdings" panose="05000000000000000000" pitchFamily="2" charset="2"/>
              <a:buNone/>
              <a:tabLst/>
              <a:defRPr/>
            </a:pPr>
            <a:r>
              <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De-encapsulation</a:t>
            </a:r>
          </a:p>
        </p:txBody>
      </p:sp>
      <p:sp>
        <p:nvSpPr>
          <p:cNvPr id="66" name="文本框 65">
            <a:extLst>
              <a:ext uri="{FF2B5EF4-FFF2-40B4-BE49-F238E27FC236}">
                <a16:creationId xmlns:a16="http://schemas.microsoft.com/office/drawing/2014/main" id="{A04ACF37-9C12-C944-BBC7-1DC6B11EF0BD}"/>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54" name="Picture 28" descr="015">
            <a:extLst>
              <a:ext uri="{FF2B5EF4-FFF2-40B4-BE49-F238E27FC236}">
                <a16:creationId xmlns:a16="http://schemas.microsoft.com/office/drawing/2014/main" id="{0E9B7D38-9C90-401B-BAF3-A658CA143B2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11284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服务原语</a:t>
            </a:r>
            <a:endParaRPr lang="zh-CN" altLang="en-US" dirty="0"/>
          </a:p>
        </p:txBody>
      </p:sp>
      <p:sp>
        <p:nvSpPr>
          <p:cNvPr id="3" name="内容占位符 2"/>
          <p:cNvSpPr>
            <a:spLocks noGrp="1"/>
          </p:cNvSpPr>
          <p:nvPr>
            <p:ph idx="1"/>
          </p:nvPr>
        </p:nvSpPr>
        <p:spPr>
          <a:xfrm>
            <a:off x="838200" y="1510758"/>
            <a:ext cx="10515600" cy="4982116"/>
          </a:xfrm>
        </p:spPr>
        <p:txBody>
          <a:bodyPr>
            <a:normAutofit lnSpcReduction="10000"/>
          </a:bodyPr>
          <a:lstStyle/>
          <a:p>
            <a:r>
              <a:rPr lang="zh-CN" altLang="en-US" dirty="0"/>
              <a:t>两种不同类型的服务：面向连接和无连接</a:t>
            </a:r>
          </a:p>
          <a:p>
            <a:pPr lvl="1"/>
            <a:r>
              <a:rPr lang="zh-CN" altLang="en-US" dirty="0">
                <a:solidFill>
                  <a:srgbClr val="C00000"/>
                </a:solidFill>
              </a:rPr>
              <a:t>面向连接</a:t>
            </a:r>
            <a:r>
              <a:rPr lang="zh-CN" altLang="en-US" dirty="0"/>
              <a:t>：按照电话系统模型建立的（一个常见的例子）</a:t>
            </a:r>
          </a:p>
          <a:p>
            <a:pPr lvl="2"/>
            <a:r>
              <a:rPr lang="zh-CN" altLang="en-US" sz="2200" dirty="0"/>
              <a:t>拨姑姑家的电话号码。</a:t>
            </a:r>
          </a:p>
          <a:p>
            <a:pPr lvl="2"/>
            <a:r>
              <a:rPr lang="zh-CN" altLang="en-US" sz="2200" dirty="0"/>
              <a:t>她家的电话铃响了。</a:t>
            </a:r>
          </a:p>
          <a:p>
            <a:pPr lvl="2"/>
            <a:r>
              <a:rPr lang="zh-CN" altLang="en-US" sz="2200" dirty="0"/>
              <a:t>她拿起电话。</a:t>
            </a:r>
          </a:p>
          <a:p>
            <a:pPr lvl="2"/>
            <a:r>
              <a:rPr lang="zh-CN" altLang="en-US" sz="2200" dirty="0"/>
              <a:t>你听到响铃停止。</a:t>
            </a:r>
          </a:p>
          <a:p>
            <a:pPr lvl="2"/>
            <a:r>
              <a:rPr lang="zh-CN" altLang="en-US" sz="2200" dirty="0"/>
              <a:t>你邀请她来喝茶。</a:t>
            </a:r>
          </a:p>
          <a:p>
            <a:pPr lvl="2"/>
            <a:r>
              <a:rPr lang="zh-CN" altLang="en-US" sz="2200" dirty="0"/>
              <a:t>她听到了你的邀请。</a:t>
            </a:r>
          </a:p>
          <a:p>
            <a:pPr lvl="2"/>
            <a:r>
              <a:rPr lang="zh-CN" altLang="en-US" sz="2200" dirty="0"/>
              <a:t>她说她很高兴来。</a:t>
            </a:r>
          </a:p>
          <a:p>
            <a:pPr lvl="2"/>
            <a:r>
              <a:rPr lang="zh-CN" altLang="en-US" sz="2200" dirty="0"/>
              <a:t>你听到她接受邀请。</a:t>
            </a:r>
          </a:p>
          <a:p>
            <a:pPr lvl="2"/>
            <a:r>
              <a:rPr lang="zh-CN" altLang="en-US" sz="2200" dirty="0"/>
              <a:t>你挂断电话。</a:t>
            </a:r>
          </a:p>
          <a:p>
            <a:pPr lvl="2"/>
            <a:r>
              <a:rPr lang="zh-CN" altLang="en-US" sz="2200" dirty="0"/>
              <a:t>她听到了，也挂断电话。</a:t>
            </a:r>
          </a:p>
          <a:p>
            <a:pPr marL="914400" lvl="2" indent="0">
              <a:buNone/>
            </a:pPr>
            <a:endParaRPr lang="zh-CN" altLang="en-US" dirty="0"/>
          </a:p>
        </p:txBody>
      </p:sp>
      <p:sp>
        <p:nvSpPr>
          <p:cNvPr id="6" name="矩形 5"/>
          <p:cNvSpPr/>
          <p:nvPr/>
        </p:nvSpPr>
        <p:spPr>
          <a:xfrm>
            <a:off x="5701553" y="3631210"/>
            <a:ext cx="5537947" cy="1485920"/>
          </a:xfrm>
          <a:prstGeom prst="rect">
            <a:avLst/>
          </a:prstGeom>
          <a:ln>
            <a:solidFill>
              <a:srgbClr val="7030A0"/>
            </a:solidFill>
          </a:ln>
        </p:spPr>
        <p:txBody>
          <a:bodyPr wrap="square">
            <a:spAutoFit/>
          </a:bodyPr>
          <a:lstStyle/>
          <a:p>
            <a:pPr algn="ctr">
              <a:lnSpc>
                <a:spcPct val="130000"/>
              </a:lnSpc>
            </a:pPr>
            <a:r>
              <a:rPr kumimoji="1" lang="zh-CN" altLang="en-US" sz="2400" dirty="0">
                <a:solidFill>
                  <a:prstClr val="black"/>
                </a:solidFill>
                <a:latin typeface="微软雅黑" panose="020B0503020204020204" pitchFamily="34" charset="-122"/>
                <a:ea typeface="微软雅黑" panose="020B0503020204020204" pitchFamily="34" charset="-122"/>
              </a:rPr>
              <a:t>面向连接的服务</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algn="l">
              <a:lnSpc>
                <a:spcPct val="130000"/>
              </a:lnSpc>
            </a:pPr>
            <a:r>
              <a:rPr kumimoji="1" lang="zh-CN" altLang="en-US" sz="2400" dirty="0">
                <a:solidFill>
                  <a:prstClr val="black"/>
                </a:solidFill>
                <a:latin typeface="微软雅黑" panose="020B0503020204020204" pitchFamily="34" charset="-122"/>
                <a:ea typeface="微软雅黑" panose="020B0503020204020204" pitchFamily="34" charset="-122"/>
              </a:rPr>
              <a:t>每个“请求”或“响应”后，都在对方产生一个“指示”或“确认”动作</a:t>
            </a:r>
          </a:p>
        </p:txBody>
      </p:sp>
      <p:sp>
        <p:nvSpPr>
          <p:cNvPr id="7" name="右中括号 6">
            <a:extLst>
              <a:ext uri="{FF2B5EF4-FFF2-40B4-BE49-F238E27FC236}">
                <a16:creationId xmlns:a16="http://schemas.microsoft.com/office/drawing/2014/main" id="{1759AD1F-D7C0-2B4E-85C6-3CA923A1AAF2}"/>
              </a:ext>
            </a:extLst>
          </p:cNvPr>
          <p:cNvSpPr/>
          <p:nvPr/>
        </p:nvSpPr>
        <p:spPr>
          <a:xfrm flipH="1">
            <a:off x="1645920" y="2468880"/>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3" name="右中括号 12">
            <a:extLst>
              <a:ext uri="{FF2B5EF4-FFF2-40B4-BE49-F238E27FC236}">
                <a16:creationId xmlns:a16="http://schemas.microsoft.com/office/drawing/2014/main" id="{543A7F0D-5952-584C-BC3F-81B406FFEAC5}"/>
              </a:ext>
            </a:extLst>
          </p:cNvPr>
          <p:cNvSpPr/>
          <p:nvPr/>
        </p:nvSpPr>
        <p:spPr>
          <a:xfrm flipH="1">
            <a:off x="1645920" y="3220337"/>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4" name="右中括号 13">
            <a:extLst>
              <a:ext uri="{FF2B5EF4-FFF2-40B4-BE49-F238E27FC236}">
                <a16:creationId xmlns:a16="http://schemas.microsoft.com/office/drawing/2014/main" id="{C8CDD241-282A-3F4A-8342-AF066ECFC196}"/>
              </a:ext>
            </a:extLst>
          </p:cNvPr>
          <p:cNvSpPr/>
          <p:nvPr/>
        </p:nvSpPr>
        <p:spPr>
          <a:xfrm flipH="1">
            <a:off x="1645920" y="3971794"/>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5" name="右中括号 14">
            <a:extLst>
              <a:ext uri="{FF2B5EF4-FFF2-40B4-BE49-F238E27FC236}">
                <a16:creationId xmlns:a16="http://schemas.microsoft.com/office/drawing/2014/main" id="{B42D5BC8-9B56-0C4C-9577-FC0EAE86A3C2}"/>
              </a:ext>
            </a:extLst>
          </p:cNvPr>
          <p:cNvSpPr/>
          <p:nvPr/>
        </p:nvSpPr>
        <p:spPr>
          <a:xfrm flipH="1">
            <a:off x="1645920" y="4723251"/>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6" name="右中括号 15">
            <a:extLst>
              <a:ext uri="{FF2B5EF4-FFF2-40B4-BE49-F238E27FC236}">
                <a16:creationId xmlns:a16="http://schemas.microsoft.com/office/drawing/2014/main" id="{BF1F1D8F-B7DF-B94E-BE58-349F28185649}"/>
              </a:ext>
            </a:extLst>
          </p:cNvPr>
          <p:cNvSpPr/>
          <p:nvPr/>
        </p:nvSpPr>
        <p:spPr>
          <a:xfrm flipH="1">
            <a:off x="1645920" y="5474709"/>
            <a:ext cx="129634" cy="594360"/>
          </a:xfrm>
          <a:prstGeom prst="rightBracket">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 name="灯片编号占位符 4">
            <a:extLst>
              <a:ext uri="{FF2B5EF4-FFF2-40B4-BE49-F238E27FC236}">
                <a16:creationId xmlns:a16="http://schemas.microsoft.com/office/drawing/2014/main" id="{589ABB25-985F-DC4D-8B79-6608A8205804}"/>
              </a:ext>
            </a:extLst>
          </p:cNvPr>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sp>
        <p:nvSpPr>
          <p:cNvPr id="12" name="文本框 11">
            <a:extLst>
              <a:ext uri="{FF2B5EF4-FFF2-40B4-BE49-F238E27FC236}">
                <a16:creationId xmlns:a16="http://schemas.microsoft.com/office/drawing/2014/main" id="{5BC32A04-F479-9348-80B4-64EF34B2477F}"/>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pic>
        <p:nvPicPr>
          <p:cNvPr id="17" name="Picture 28" descr="015">
            <a:extLst>
              <a:ext uri="{FF2B5EF4-FFF2-40B4-BE49-F238E27FC236}">
                <a16:creationId xmlns:a16="http://schemas.microsoft.com/office/drawing/2014/main" id="{D5E36DA3-D69C-4E4F-A40B-9C09A544BC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982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服务原语</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sym typeface="+mn-ea"/>
              </a:rPr>
              <a:t>无连接</a:t>
            </a:r>
            <a:r>
              <a:rPr lang="zh-CN" altLang="en-US" dirty="0">
                <a:sym typeface="+mn-ea"/>
              </a:rPr>
              <a:t>：按照邮政系统模型建立的（一个常见的例子）</a:t>
            </a:r>
            <a:endParaRPr lang="zh-CN" altLang="en-US" dirty="0"/>
          </a:p>
          <a:p>
            <a:pPr lvl="2"/>
            <a:r>
              <a:rPr lang="zh-CN" altLang="en-US" sz="2400" dirty="0">
                <a:solidFill>
                  <a:schemeClr val="tx1"/>
                </a:solidFill>
                <a:sym typeface="+mn-ea"/>
              </a:rPr>
              <a:t>有快递要发给朋友</a:t>
            </a:r>
            <a:endParaRPr lang="zh-CN" altLang="en-US" sz="2400" dirty="0">
              <a:solidFill>
                <a:schemeClr val="tx1"/>
              </a:solidFill>
            </a:endParaRPr>
          </a:p>
          <a:p>
            <a:pPr lvl="2"/>
            <a:r>
              <a:rPr lang="zh-CN" altLang="en-US" sz="2400" dirty="0">
                <a:solidFill>
                  <a:schemeClr val="tx1"/>
                </a:solidFill>
                <a:sym typeface="+mn-ea"/>
              </a:rPr>
              <a:t>快递员上门取件</a:t>
            </a:r>
            <a:endParaRPr lang="zh-CN" altLang="en-US" sz="2400" dirty="0">
              <a:solidFill>
                <a:schemeClr val="tx1"/>
              </a:solidFill>
            </a:endParaRPr>
          </a:p>
          <a:p>
            <a:pPr lvl="2"/>
            <a:r>
              <a:rPr lang="zh-CN" altLang="en-US" sz="2400" dirty="0">
                <a:solidFill>
                  <a:schemeClr val="tx1"/>
                </a:solidFill>
                <a:sym typeface="+mn-ea"/>
              </a:rPr>
              <a:t>快递进入区域集散中心</a:t>
            </a:r>
          </a:p>
          <a:p>
            <a:pPr lvl="2"/>
            <a:r>
              <a:rPr lang="zh-CN" altLang="en-US" sz="2400" dirty="0">
                <a:solidFill>
                  <a:schemeClr val="tx1"/>
                </a:solidFill>
                <a:sym typeface="+mn-ea"/>
              </a:rPr>
              <a:t>区域集散中心通过运输系统发到目的地</a:t>
            </a:r>
          </a:p>
          <a:p>
            <a:pPr lvl="2"/>
            <a:r>
              <a:rPr lang="zh-CN" altLang="en-US" sz="2400" dirty="0">
                <a:solidFill>
                  <a:schemeClr val="tx1"/>
                </a:solidFill>
              </a:rPr>
              <a:t>区域集散中心分发给目的地快递员</a:t>
            </a:r>
          </a:p>
          <a:p>
            <a:pPr lvl="2"/>
            <a:r>
              <a:rPr lang="zh-CN" altLang="en-US" sz="2400" dirty="0">
                <a:solidFill>
                  <a:schemeClr val="tx1"/>
                </a:solidFill>
                <a:sym typeface="+mn-ea"/>
              </a:rPr>
              <a:t>快递员按照地址派送</a:t>
            </a:r>
            <a:endParaRPr lang="zh-CN" altLang="en-US" sz="2400" dirty="0">
              <a:solidFill>
                <a:schemeClr val="tx1"/>
              </a:solidFill>
            </a:endParaRPr>
          </a:p>
          <a:p>
            <a:endParaRPr lang="zh-CN" altLang="en-US" sz="2400" dirty="0">
              <a:solidFill>
                <a:schemeClr val="tx1"/>
              </a:solidFill>
            </a:endParaRPr>
          </a:p>
        </p:txBody>
      </p:sp>
      <p:sp>
        <p:nvSpPr>
          <p:cNvPr id="6" name="矩形 5"/>
          <p:cNvSpPr/>
          <p:nvPr/>
        </p:nvSpPr>
        <p:spPr>
          <a:xfrm>
            <a:off x="2608081" y="4962398"/>
            <a:ext cx="6975837" cy="1135054"/>
          </a:xfrm>
          <a:prstGeom prst="rect">
            <a:avLst/>
          </a:prstGeom>
          <a:ln>
            <a:solidFill>
              <a:srgbClr val="7030A0"/>
            </a:solidFill>
          </a:ln>
        </p:spPr>
        <p:txBody>
          <a:bodyPr wrap="square">
            <a:spAutoFit/>
          </a:bodyPr>
          <a:lstStyle/>
          <a:p>
            <a:pPr algn="ctr">
              <a:lnSpc>
                <a:spcPct val="150000"/>
              </a:lnSpc>
            </a:pPr>
            <a:r>
              <a:rPr kumimoji="1" lang="zh-CN" altLang="en-US" sz="2400" dirty="0">
                <a:solidFill>
                  <a:prstClr val="black"/>
                </a:solidFill>
                <a:latin typeface="微软雅黑" panose="020B0503020204020204" pitchFamily="34" charset="-122"/>
                <a:ea typeface="微软雅黑" panose="020B0503020204020204" pitchFamily="34" charset="-122"/>
              </a:rPr>
              <a:t>无连接的服务</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algn="l">
              <a:lnSpc>
                <a:spcPct val="150000"/>
              </a:lnSpc>
            </a:pPr>
            <a:r>
              <a:rPr kumimoji="1" lang="zh-CN" altLang="en-US" sz="2400" dirty="0">
                <a:solidFill>
                  <a:prstClr val="black"/>
                </a:solidFill>
                <a:latin typeface="微软雅黑" panose="020B0503020204020204" pitchFamily="34" charset="-122"/>
                <a:ea typeface="微软雅黑" panose="020B0503020204020204" pitchFamily="34" charset="-122"/>
              </a:rPr>
              <a:t>邮件携带了完整的目标地址，传输过程不需要应答</a:t>
            </a:r>
          </a:p>
        </p:txBody>
      </p:sp>
      <p:sp>
        <p:nvSpPr>
          <p:cNvPr id="5" name="灯片编号占位符 4">
            <a:extLst>
              <a:ext uri="{FF2B5EF4-FFF2-40B4-BE49-F238E27FC236}">
                <a16:creationId xmlns:a16="http://schemas.microsoft.com/office/drawing/2014/main" id="{7BD9080A-A2B7-5E4E-B99D-9CA7F4A14B25}"/>
              </a:ext>
            </a:extLst>
          </p:cNvPr>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sp>
        <p:nvSpPr>
          <p:cNvPr id="7" name="文本框 6">
            <a:extLst>
              <a:ext uri="{FF2B5EF4-FFF2-40B4-BE49-F238E27FC236}">
                <a16:creationId xmlns:a16="http://schemas.microsoft.com/office/drawing/2014/main" id="{500D8BC3-5F82-7246-844A-D228C9C7CFCF}"/>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pic>
        <p:nvPicPr>
          <p:cNvPr id="8" name="Picture 28" descr="015">
            <a:extLst>
              <a:ext uri="{FF2B5EF4-FFF2-40B4-BE49-F238E27FC236}">
                <a16:creationId xmlns:a16="http://schemas.microsoft.com/office/drawing/2014/main" id="{154B0A43-B555-4335-8DFF-B23B97381A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686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服务原语</a:t>
            </a:r>
            <a:endParaRPr lang="zh-CN" altLang="en-US" dirty="0"/>
          </a:p>
        </p:txBody>
      </p:sp>
      <p:sp>
        <p:nvSpPr>
          <p:cNvPr id="3" name="内容占位符 2"/>
          <p:cNvSpPr>
            <a:spLocks noGrp="1"/>
          </p:cNvSpPr>
          <p:nvPr>
            <p:ph idx="1"/>
          </p:nvPr>
        </p:nvSpPr>
        <p:spPr>
          <a:xfrm>
            <a:off x="838200" y="1312638"/>
            <a:ext cx="10515600" cy="1979838"/>
          </a:xfrm>
        </p:spPr>
        <p:txBody>
          <a:bodyPr>
            <a:normAutofit fontScale="85000" lnSpcReduction="10000"/>
          </a:bodyPr>
          <a:lstStyle/>
          <a:p>
            <a:pPr>
              <a:lnSpc>
                <a:spcPct val="120000"/>
              </a:lnSpc>
              <a:spcBef>
                <a:spcPts val="200"/>
              </a:spcBef>
            </a:pPr>
            <a:r>
              <a:rPr lang="zh-CN" altLang="en-US" dirty="0"/>
              <a:t>服务</a:t>
            </a:r>
          </a:p>
          <a:p>
            <a:pPr lvl="1">
              <a:lnSpc>
                <a:spcPct val="120000"/>
              </a:lnSpc>
              <a:spcBef>
                <a:spcPts val="200"/>
              </a:spcBef>
            </a:pPr>
            <a:r>
              <a:rPr lang="zh-CN" altLang="en-US" dirty="0"/>
              <a:t>典型服务：面向连接传输服务，无连接传输服务</a:t>
            </a:r>
            <a:endParaRPr lang="en-US" altLang="zh-CN" dirty="0"/>
          </a:p>
          <a:p>
            <a:pPr lvl="1">
              <a:lnSpc>
                <a:spcPct val="120000"/>
              </a:lnSpc>
              <a:spcBef>
                <a:spcPts val="200"/>
              </a:spcBef>
            </a:pPr>
            <a:r>
              <a:rPr lang="zh-CN" altLang="en-US" dirty="0"/>
              <a:t>服务由一组可用于用户进程以访问服务的原语（操作）形式指定</a:t>
            </a:r>
          </a:p>
          <a:p>
            <a:pPr lvl="1">
              <a:lnSpc>
                <a:spcPct val="120000"/>
              </a:lnSpc>
              <a:spcBef>
                <a:spcPts val="200"/>
              </a:spcBef>
            </a:pPr>
            <a:r>
              <a:rPr lang="zh-CN" altLang="en-US" dirty="0"/>
              <a:t>原语告诉服务执行某些操作或报告对等实体所采取的操作</a:t>
            </a:r>
          </a:p>
          <a:p>
            <a:pPr marL="228600" lvl="0" indent="-228600">
              <a:lnSpc>
                <a:spcPct val="120000"/>
              </a:lnSpc>
              <a:spcBef>
                <a:spcPts val="200"/>
              </a:spcBef>
              <a:buFont typeface="Wingdings" panose="05000000000000000000" charset="0"/>
              <a:buChar char="Ø"/>
            </a:pPr>
            <a:r>
              <a:rPr lang="zh-CN" altLang="en-US" dirty="0">
                <a:solidFill>
                  <a:schemeClr val="tx1"/>
                </a:solidFill>
              </a:rPr>
              <a:t>六个核心服务原语（</a:t>
            </a:r>
            <a:r>
              <a:rPr lang="zh-CN" altLang="en-US" dirty="0">
                <a:solidFill>
                  <a:srgbClr val="C00000"/>
                </a:solidFill>
              </a:rPr>
              <a:t>以面向连接服务为例</a:t>
            </a:r>
            <a:r>
              <a:rPr lang="zh-CN" altLang="en-US" dirty="0">
                <a:solidFill>
                  <a:schemeClr val="tx1"/>
                </a:solidFill>
              </a:rPr>
              <a:t>）</a:t>
            </a:r>
          </a:p>
        </p:txBody>
      </p:sp>
      <p:grpSp>
        <p:nvGrpSpPr>
          <p:cNvPr id="6" name="组合 5">
            <a:extLst>
              <a:ext uri="{FF2B5EF4-FFF2-40B4-BE49-F238E27FC236}">
                <a16:creationId xmlns:a16="http://schemas.microsoft.com/office/drawing/2014/main" id="{9FFE4E97-3AC0-2844-A1EF-DD379318B73A}"/>
              </a:ext>
            </a:extLst>
          </p:cNvPr>
          <p:cNvGrpSpPr/>
          <p:nvPr/>
        </p:nvGrpSpPr>
        <p:grpSpPr>
          <a:xfrm>
            <a:off x="1437640" y="3582036"/>
            <a:ext cx="10169525" cy="3033394"/>
            <a:chOff x="2404" y="4153"/>
            <a:chExt cx="16015" cy="5449"/>
          </a:xfrm>
        </p:grpSpPr>
        <p:grpSp>
          <p:nvGrpSpPr>
            <p:cNvPr id="7" name="组合 6">
              <a:extLst>
                <a:ext uri="{FF2B5EF4-FFF2-40B4-BE49-F238E27FC236}">
                  <a16:creationId xmlns:a16="http://schemas.microsoft.com/office/drawing/2014/main" id="{0CFD999E-A43B-644C-912B-BEAE18FAF8F7}"/>
                </a:ext>
              </a:extLst>
            </p:cNvPr>
            <p:cNvGrpSpPr/>
            <p:nvPr/>
          </p:nvGrpSpPr>
          <p:grpSpPr>
            <a:xfrm>
              <a:off x="2419" y="4380"/>
              <a:ext cx="5314" cy="5222"/>
              <a:chOff x="2419" y="4380"/>
              <a:chExt cx="5314" cy="5222"/>
            </a:xfrm>
          </p:grpSpPr>
          <p:sp>
            <p:nvSpPr>
              <p:cNvPr id="34" name="矩形 33">
                <a:extLst>
                  <a:ext uri="{FF2B5EF4-FFF2-40B4-BE49-F238E27FC236}">
                    <a16:creationId xmlns:a16="http://schemas.microsoft.com/office/drawing/2014/main" id="{59C84980-15E5-714A-8D28-1F06EAAE3640}"/>
                  </a:ext>
                </a:extLst>
              </p:cNvPr>
              <p:cNvSpPr/>
              <p:nvPr/>
            </p:nvSpPr>
            <p:spPr>
              <a:xfrm>
                <a:off x="2419" y="4380"/>
                <a:ext cx="5314" cy="5222"/>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05E2E01B-EDF4-EA4D-B1F6-8D3756699CD2}"/>
                  </a:ext>
                </a:extLst>
              </p:cNvPr>
              <p:cNvSpPr/>
              <p:nvPr/>
            </p:nvSpPr>
            <p:spPr>
              <a:xfrm>
                <a:off x="4527" y="5527"/>
                <a:ext cx="1097" cy="114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1D8F001-6546-5840-ACD0-445E9AC7F15D}"/>
                  </a:ext>
                </a:extLst>
              </p:cNvPr>
              <p:cNvSpPr/>
              <p:nvPr/>
            </p:nvSpPr>
            <p:spPr>
              <a:xfrm>
                <a:off x="2419" y="8147"/>
                <a:ext cx="5314" cy="1455"/>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箭头连接符 11">
                <a:extLst>
                  <a:ext uri="{FF2B5EF4-FFF2-40B4-BE49-F238E27FC236}">
                    <a16:creationId xmlns:a16="http://schemas.microsoft.com/office/drawing/2014/main" id="{76DE37F0-68CE-B14B-99F7-7D2C88DED714}"/>
                  </a:ext>
                </a:extLst>
              </p:cNvPr>
              <p:cNvCxnSpPr>
                <a:stCxn id="35" idx="4"/>
              </p:cNvCxnSpPr>
              <p:nvPr/>
            </p:nvCxnSpPr>
            <p:spPr>
              <a:xfrm>
                <a:off x="5076" y="6674"/>
                <a:ext cx="0" cy="1473"/>
              </a:xfrm>
              <a:prstGeom prst="straightConnector1">
                <a:avLst/>
              </a:prstGeom>
              <a:ln w="44450">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连接符 12">
                <a:extLst>
                  <a:ext uri="{FF2B5EF4-FFF2-40B4-BE49-F238E27FC236}">
                    <a16:creationId xmlns:a16="http://schemas.microsoft.com/office/drawing/2014/main" id="{416A15AD-599A-B249-A55E-BD5971123400}"/>
                  </a:ext>
                </a:extLst>
              </p:cNvPr>
              <p:cNvCxnSpPr/>
              <p:nvPr/>
            </p:nvCxnSpPr>
            <p:spPr>
              <a:xfrm>
                <a:off x="4093" y="8147"/>
                <a:ext cx="0" cy="1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13">
                <a:extLst>
                  <a:ext uri="{FF2B5EF4-FFF2-40B4-BE49-F238E27FC236}">
                    <a16:creationId xmlns:a16="http://schemas.microsoft.com/office/drawing/2014/main" id="{3D90AA6D-6FB4-7848-86E9-AC873E11E1DD}"/>
                  </a:ext>
                </a:extLst>
              </p:cNvPr>
              <p:cNvCxnSpPr/>
              <p:nvPr/>
            </p:nvCxnSpPr>
            <p:spPr>
              <a:xfrm>
                <a:off x="6041" y="8147"/>
                <a:ext cx="0" cy="1436"/>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921E8618-8907-F645-9F24-F13574EEBA0B}"/>
                  </a:ext>
                </a:extLst>
              </p:cNvPr>
              <p:cNvSpPr txBox="1"/>
              <p:nvPr/>
            </p:nvSpPr>
            <p:spPr>
              <a:xfrm>
                <a:off x="5350" y="7097"/>
                <a:ext cx="2018"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系统调用</a:t>
                </a:r>
              </a:p>
            </p:txBody>
          </p:sp>
          <p:sp>
            <p:nvSpPr>
              <p:cNvPr id="41" name="文本框 40">
                <a:extLst>
                  <a:ext uri="{FF2B5EF4-FFF2-40B4-BE49-F238E27FC236}">
                    <a16:creationId xmlns:a16="http://schemas.microsoft.com/office/drawing/2014/main" id="{FCF14AAD-2885-8646-A2F9-F3815947AF31}"/>
                  </a:ext>
                </a:extLst>
              </p:cNvPr>
              <p:cNvSpPr txBox="1"/>
              <p:nvPr/>
            </p:nvSpPr>
            <p:spPr>
              <a:xfrm>
                <a:off x="2727" y="8561"/>
                <a:ext cx="1182"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内核</a:t>
                </a:r>
              </a:p>
            </p:txBody>
          </p:sp>
          <p:sp>
            <p:nvSpPr>
              <p:cNvPr id="42" name="文本框 41">
                <a:extLst>
                  <a:ext uri="{FF2B5EF4-FFF2-40B4-BE49-F238E27FC236}">
                    <a16:creationId xmlns:a16="http://schemas.microsoft.com/office/drawing/2014/main" id="{9CC43F73-58CD-EF44-AFC1-D419AB34C1F6}"/>
                  </a:ext>
                </a:extLst>
              </p:cNvPr>
              <p:cNvSpPr txBox="1"/>
              <p:nvPr/>
            </p:nvSpPr>
            <p:spPr>
              <a:xfrm>
                <a:off x="4322" y="8561"/>
                <a:ext cx="1507"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协议栈</a:t>
                </a:r>
              </a:p>
            </p:txBody>
          </p:sp>
          <p:sp>
            <p:nvSpPr>
              <p:cNvPr id="43" name="文本框 42">
                <a:extLst>
                  <a:ext uri="{FF2B5EF4-FFF2-40B4-BE49-F238E27FC236}">
                    <a16:creationId xmlns:a16="http://schemas.microsoft.com/office/drawing/2014/main" id="{7AD4909E-322E-6F47-915E-30392C2C7AA9}"/>
                  </a:ext>
                </a:extLst>
              </p:cNvPr>
              <p:cNvSpPr txBox="1"/>
              <p:nvPr/>
            </p:nvSpPr>
            <p:spPr>
              <a:xfrm>
                <a:off x="6188" y="8561"/>
                <a:ext cx="1545"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驱动器</a:t>
                </a:r>
              </a:p>
            </p:txBody>
          </p:sp>
        </p:grpSp>
        <p:grpSp>
          <p:nvGrpSpPr>
            <p:cNvPr id="8" name="组合 7">
              <a:extLst>
                <a:ext uri="{FF2B5EF4-FFF2-40B4-BE49-F238E27FC236}">
                  <a16:creationId xmlns:a16="http://schemas.microsoft.com/office/drawing/2014/main" id="{87DA2F71-3A7C-3A48-BBA1-3AAE808235D4}"/>
                </a:ext>
              </a:extLst>
            </p:cNvPr>
            <p:cNvGrpSpPr/>
            <p:nvPr/>
          </p:nvGrpSpPr>
          <p:grpSpPr>
            <a:xfrm>
              <a:off x="11991" y="4380"/>
              <a:ext cx="5314" cy="5222"/>
              <a:chOff x="2419" y="4380"/>
              <a:chExt cx="5314" cy="5222"/>
            </a:xfrm>
          </p:grpSpPr>
          <p:sp>
            <p:nvSpPr>
              <p:cNvPr id="24" name="矩形 23">
                <a:extLst>
                  <a:ext uri="{FF2B5EF4-FFF2-40B4-BE49-F238E27FC236}">
                    <a16:creationId xmlns:a16="http://schemas.microsoft.com/office/drawing/2014/main" id="{77F05FE3-7EAB-1E4F-9642-F81F844BB356}"/>
                  </a:ext>
                </a:extLst>
              </p:cNvPr>
              <p:cNvSpPr/>
              <p:nvPr/>
            </p:nvSpPr>
            <p:spPr>
              <a:xfrm>
                <a:off x="2419" y="4380"/>
                <a:ext cx="5314" cy="5222"/>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DBD10751-FE4D-AA42-B6B3-660E41480B8A}"/>
                  </a:ext>
                </a:extLst>
              </p:cNvPr>
              <p:cNvSpPr/>
              <p:nvPr/>
            </p:nvSpPr>
            <p:spPr>
              <a:xfrm>
                <a:off x="4527" y="5527"/>
                <a:ext cx="1097" cy="114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1ADC0616-0AA0-B748-9E85-C63C9C014C39}"/>
                  </a:ext>
                </a:extLst>
              </p:cNvPr>
              <p:cNvSpPr/>
              <p:nvPr/>
            </p:nvSpPr>
            <p:spPr>
              <a:xfrm>
                <a:off x="2419" y="8147"/>
                <a:ext cx="5314" cy="1455"/>
              </a:xfrm>
              <a:prstGeom prst="rect">
                <a:avLst/>
              </a:prstGeom>
              <a:solidFill>
                <a:schemeClr val="bg1"/>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3">
                <a:extLst>
                  <a:ext uri="{FF2B5EF4-FFF2-40B4-BE49-F238E27FC236}">
                    <a16:creationId xmlns:a16="http://schemas.microsoft.com/office/drawing/2014/main" id="{00E2365E-0515-8D49-84E6-CB8F7BE87070}"/>
                  </a:ext>
                </a:extLst>
              </p:cNvPr>
              <p:cNvCxnSpPr>
                <a:stCxn id="25" idx="4"/>
              </p:cNvCxnSpPr>
              <p:nvPr/>
            </p:nvCxnSpPr>
            <p:spPr>
              <a:xfrm>
                <a:off x="5076" y="6674"/>
                <a:ext cx="0" cy="1473"/>
              </a:xfrm>
              <a:prstGeom prst="straightConnector1">
                <a:avLst/>
              </a:prstGeom>
              <a:ln w="44450">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连接符 24">
                <a:extLst>
                  <a:ext uri="{FF2B5EF4-FFF2-40B4-BE49-F238E27FC236}">
                    <a16:creationId xmlns:a16="http://schemas.microsoft.com/office/drawing/2014/main" id="{CA87E4E1-5DBD-3A4D-8483-32147B2D710C}"/>
                  </a:ext>
                </a:extLst>
              </p:cNvPr>
              <p:cNvCxnSpPr/>
              <p:nvPr/>
            </p:nvCxnSpPr>
            <p:spPr>
              <a:xfrm>
                <a:off x="4093" y="8147"/>
                <a:ext cx="0" cy="1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5">
                <a:extLst>
                  <a:ext uri="{FF2B5EF4-FFF2-40B4-BE49-F238E27FC236}">
                    <a16:creationId xmlns:a16="http://schemas.microsoft.com/office/drawing/2014/main" id="{22CD65A3-0BB8-894F-9DEF-89D39C03C293}"/>
                  </a:ext>
                </a:extLst>
              </p:cNvPr>
              <p:cNvCxnSpPr/>
              <p:nvPr/>
            </p:nvCxnSpPr>
            <p:spPr>
              <a:xfrm>
                <a:off x="6041" y="8147"/>
                <a:ext cx="0" cy="1436"/>
              </a:xfrm>
              <a:prstGeom prst="line">
                <a:avLst/>
              </a:prstGeom>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7C123303-9676-AD42-BED3-E2686BC6FC03}"/>
                  </a:ext>
                </a:extLst>
              </p:cNvPr>
              <p:cNvSpPr txBox="1"/>
              <p:nvPr/>
            </p:nvSpPr>
            <p:spPr>
              <a:xfrm>
                <a:off x="5350" y="7097"/>
                <a:ext cx="2018"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系统调用</a:t>
                </a:r>
              </a:p>
            </p:txBody>
          </p:sp>
          <p:sp>
            <p:nvSpPr>
              <p:cNvPr id="31" name="文本框 30">
                <a:extLst>
                  <a:ext uri="{FF2B5EF4-FFF2-40B4-BE49-F238E27FC236}">
                    <a16:creationId xmlns:a16="http://schemas.microsoft.com/office/drawing/2014/main" id="{B5E4851C-43EE-764B-8976-6CD295B11228}"/>
                  </a:ext>
                </a:extLst>
              </p:cNvPr>
              <p:cNvSpPr txBox="1"/>
              <p:nvPr/>
            </p:nvSpPr>
            <p:spPr>
              <a:xfrm>
                <a:off x="2727" y="8561"/>
                <a:ext cx="1182"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内核</a:t>
                </a:r>
              </a:p>
            </p:txBody>
          </p:sp>
          <p:sp>
            <p:nvSpPr>
              <p:cNvPr id="32" name="文本框 31">
                <a:extLst>
                  <a:ext uri="{FF2B5EF4-FFF2-40B4-BE49-F238E27FC236}">
                    <a16:creationId xmlns:a16="http://schemas.microsoft.com/office/drawing/2014/main" id="{B544AEB0-4CD7-A440-9F96-57D4629C3424}"/>
                  </a:ext>
                </a:extLst>
              </p:cNvPr>
              <p:cNvSpPr txBox="1"/>
              <p:nvPr/>
            </p:nvSpPr>
            <p:spPr>
              <a:xfrm>
                <a:off x="4322" y="8561"/>
                <a:ext cx="1507"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协议栈</a:t>
                </a:r>
              </a:p>
            </p:txBody>
          </p:sp>
          <p:sp>
            <p:nvSpPr>
              <p:cNvPr id="33" name="文本框 32">
                <a:extLst>
                  <a:ext uri="{FF2B5EF4-FFF2-40B4-BE49-F238E27FC236}">
                    <a16:creationId xmlns:a16="http://schemas.microsoft.com/office/drawing/2014/main" id="{24EC25CE-5020-AE45-AA8A-7D8230340DA1}"/>
                  </a:ext>
                </a:extLst>
              </p:cNvPr>
              <p:cNvSpPr txBox="1"/>
              <p:nvPr/>
            </p:nvSpPr>
            <p:spPr>
              <a:xfrm>
                <a:off x="6188" y="8561"/>
                <a:ext cx="1545"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rPr>
                  <a:t>驱动器</a:t>
                </a:r>
              </a:p>
            </p:txBody>
          </p:sp>
        </p:grpSp>
        <p:cxnSp>
          <p:nvCxnSpPr>
            <p:cNvPr id="9" name="直接箭头连接符 30">
              <a:extLst>
                <a:ext uri="{FF2B5EF4-FFF2-40B4-BE49-F238E27FC236}">
                  <a16:creationId xmlns:a16="http://schemas.microsoft.com/office/drawing/2014/main" id="{EBC7496E-8FA2-F242-B365-0E05D930F033}"/>
                </a:ext>
              </a:extLst>
            </p:cNvPr>
            <p:cNvCxnSpPr/>
            <p:nvPr/>
          </p:nvCxnSpPr>
          <p:spPr>
            <a:xfrm>
              <a:off x="7752" y="4781"/>
              <a:ext cx="4239"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31">
              <a:extLst>
                <a:ext uri="{FF2B5EF4-FFF2-40B4-BE49-F238E27FC236}">
                  <a16:creationId xmlns:a16="http://schemas.microsoft.com/office/drawing/2014/main" id="{AC4F6CEF-EC4B-4543-8529-ABDEBC634F59}"/>
                </a:ext>
              </a:extLst>
            </p:cNvPr>
            <p:cNvCxnSpPr/>
            <p:nvPr/>
          </p:nvCxnSpPr>
          <p:spPr>
            <a:xfrm>
              <a:off x="7752" y="6487"/>
              <a:ext cx="4239"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32">
              <a:extLst>
                <a:ext uri="{FF2B5EF4-FFF2-40B4-BE49-F238E27FC236}">
                  <a16:creationId xmlns:a16="http://schemas.microsoft.com/office/drawing/2014/main" id="{89AF845B-2F96-2B41-ADF4-FB712E9AB143}"/>
                </a:ext>
              </a:extLst>
            </p:cNvPr>
            <p:cNvCxnSpPr/>
            <p:nvPr/>
          </p:nvCxnSpPr>
          <p:spPr>
            <a:xfrm>
              <a:off x="7733" y="8193"/>
              <a:ext cx="4239"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33">
              <a:extLst>
                <a:ext uri="{FF2B5EF4-FFF2-40B4-BE49-F238E27FC236}">
                  <a16:creationId xmlns:a16="http://schemas.microsoft.com/office/drawing/2014/main" id="{64B90745-17D2-EB48-806F-23095D394C77}"/>
                </a:ext>
              </a:extLst>
            </p:cNvPr>
            <p:cNvCxnSpPr/>
            <p:nvPr/>
          </p:nvCxnSpPr>
          <p:spPr>
            <a:xfrm flipH="1" flipV="1">
              <a:off x="7733" y="5625"/>
              <a:ext cx="4186" cy="18"/>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34">
              <a:extLst>
                <a:ext uri="{FF2B5EF4-FFF2-40B4-BE49-F238E27FC236}">
                  <a16:creationId xmlns:a16="http://schemas.microsoft.com/office/drawing/2014/main" id="{907AC033-FD73-684C-B016-23D9D54ADA02}"/>
                </a:ext>
              </a:extLst>
            </p:cNvPr>
            <p:cNvCxnSpPr/>
            <p:nvPr/>
          </p:nvCxnSpPr>
          <p:spPr>
            <a:xfrm flipH="1" flipV="1">
              <a:off x="7733" y="7331"/>
              <a:ext cx="4186" cy="18"/>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35">
              <a:extLst>
                <a:ext uri="{FF2B5EF4-FFF2-40B4-BE49-F238E27FC236}">
                  <a16:creationId xmlns:a16="http://schemas.microsoft.com/office/drawing/2014/main" id="{BC376C4C-0514-234B-BF87-BC67565CE2EB}"/>
                </a:ext>
              </a:extLst>
            </p:cNvPr>
            <p:cNvCxnSpPr/>
            <p:nvPr/>
          </p:nvCxnSpPr>
          <p:spPr>
            <a:xfrm flipH="1" flipV="1">
              <a:off x="7760" y="9037"/>
              <a:ext cx="4186" cy="18"/>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CDE73AE-83F6-254B-97E5-44EB8B0FA6DB}"/>
                </a:ext>
              </a:extLst>
            </p:cNvPr>
            <p:cNvSpPr txBox="1"/>
            <p:nvPr/>
          </p:nvSpPr>
          <p:spPr>
            <a:xfrm>
              <a:off x="8317" y="4153"/>
              <a:ext cx="3018" cy="719"/>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）连接请求</a:t>
              </a:r>
            </a:p>
          </p:txBody>
        </p:sp>
        <p:sp>
          <p:nvSpPr>
            <p:cNvPr id="17" name="文本框 16">
              <a:extLst>
                <a:ext uri="{FF2B5EF4-FFF2-40B4-BE49-F238E27FC236}">
                  <a16:creationId xmlns:a16="http://schemas.microsoft.com/office/drawing/2014/main" id="{E6E6DEA3-D7ED-AF46-93B1-9AEE79350E58}"/>
                </a:ext>
              </a:extLst>
            </p:cNvPr>
            <p:cNvSpPr txBox="1"/>
            <p:nvPr/>
          </p:nvSpPr>
          <p:spPr>
            <a:xfrm>
              <a:off x="8343" y="4899"/>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）接受响应</a:t>
              </a:r>
            </a:p>
          </p:txBody>
        </p:sp>
        <p:sp>
          <p:nvSpPr>
            <p:cNvPr id="18" name="文本框 17">
              <a:extLst>
                <a:ext uri="{FF2B5EF4-FFF2-40B4-BE49-F238E27FC236}">
                  <a16:creationId xmlns:a16="http://schemas.microsoft.com/office/drawing/2014/main" id="{329F1E13-7479-AF44-B6CD-B6BC1D02E844}"/>
                </a:ext>
              </a:extLst>
            </p:cNvPr>
            <p:cNvSpPr txBox="1"/>
            <p:nvPr/>
          </p:nvSpPr>
          <p:spPr>
            <a:xfrm>
              <a:off x="8363" y="5787"/>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）请求数据</a:t>
              </a:r>
            </a:p>
          </p:txBody>
        </p:sp>
        <p:sp>
          <p:nvSpPr>
            <p:cNvPr id="19" name="文本框 18">
              <a:extLst>
                <a:ext uri="{FF2B5EF4-FFF2-40B4-BE49-F238E27FC236}">
                  <a16:creationId xmlns:a16="http://schemas.microsoft.com/office/drawing/2014/main" id="{30DC6CA1-7224-8543-859D-DACDB64C1C26}"/>
                </a:ext>
              </a:extLst>
            </p:cNvPr>
            <p:cNvSpPr txBox="1"/>
            <p:nvPr/>
          </p:nvSpPr>
          <p:spPr>
            <a:xfrm>
              <a:off x="8363" y="6674"/>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）应答</a:t>
              </a:r>
            </a:p>
          </p:txBody>
        </p:sp>
        <p:sp>
          <p:nvSpPr>
            <p:cNvPr id="20" name="文本框 19">
              <a:extLst>
                <a:ext uri="{FF2B5EF4-FFF2-40B4-BE49-F238E27FC236}">
                  <a16:creationId xmlns:a16="http://schemas.microsoft.com/office/drawing/2014/main" id="{995677CA-285C-B94D-86B8-EED9FB192925}"/>
                </a:ext>
              </a:extLst>
            </p:cNvPr>
            <p:cNvSpPr txBox="1"/>
            <p:nvPr/>
          </p:nvSpPr>
          <p:spPr>
            <a:xfrm>
              <a:off x="8363" y="7519"/>
              <a:ext cx="3018" cy="719"/>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）请求断开</a:t>
              </a:r>
            </a:p>
          </p:txBody>
        </p:sp>
        <p:sp>
          <p:nvSpPr>
            <p:cNvPr id="21" name="文本框 20">
              <a:extLst>
                <a:ext uri="{FF2B5EF4-FFF2-40B4-BE49-F238E27FC236}">
                  <a16:creationId xmlns:a16="http://schemas.microsoft.com/office/drawing/2014/main" id="{7CB117F7-5E34-5F42-8518-31C9591A1511}"/>
                </a:ext>
              </a:extLst>
            </p:cNvPr>
            <p:cNvSpPr txBox="1"/>
            <p:nvPr/>
          </p:nvSpPr>
          <p:spPr>
            <a:xfrm>
              <a:off x="8363" y="8409"/>
              <a:ext cx="3018" cy="719"/>
            </a:xfrm>
            <a:prstGeom prst="rect">
              <a:avLst/>
            </a:prstGeom>
            <a:noFill/>
          </p:spPr>
          <p:txBody>
            <a:bodyPr wrap="square" rtlCol="0">
              <a:spAutoFit/>
            </a:bodyPr>
            <a:lstStyle/>
            <a:p>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）断开连接</a:t>
              </a:r>
            </a:p>
          </p:txBody>
        </p:sp>
        <p:sp>
          <p:nvSpPr>
            <p:cNvPr id="22" name="文本框 21">
              <a:extLst>
                <a:ext uri="{FF2B5EF4-FFF2-40B4-BE49-F238E27FC236}">
                  <a16:creationId xmlns:a16="http://schemas.microsoft.com/office/drawing/2014/main" id="{C4764BB4-0983-8349-BA12-0971FBB04CAF}"/>
                </a:ext>
              </a:extLst>
            </p:cNvPr>
            <p:cNvSpPr txBox="1"/>
            <p:nvPr/>
          </p:nvSpPr>
          <p:spPr>
            <a:xfrm>
              <a:off x="15401" y="4997"/>
              <a:ext cx="3018" cy="628"/>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服务进程</a:t>
              </a:r>
            </a:p>
          </p:txBody>
        </p:sp>
        <p:sp>
          <p:nvSpPr>
            <p:cNvPr id="23" name="文本框 22">
              <a:extLst>
                <a:ext uri="{FF2B5EF4-FFF2-40B4-BE49-F238E27FC236}">
                  <a16:creationId xmlns:a16="http://schemas.microsoft.com/office/drawing/2014/main" id="{4490DDC8-7FBD-EE41-982B-F07D6EB35F6A}"/>
                </a:ext>
              </a:extLst>
            </p:cNvPr>
            <p:cNvSpPr txBox="1"/>
            <p:nvPr/>
          </p:nvSpPr>
          <p:spPr>
            <a:xfrm>
              <a:off x="2404" y="4997"/>
              <a:ext cx="3018" cy="628"/>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客户进程</a:t>
              </a:r>
            </a:p>
          </p:txBody>
        </p:sp>
      </p:grpSp>
      <p:sp>
        <p:nvSpPr>
          <p:cNvPr id="44" name="文本框 43">
            <a:extLst>
              <a:ext uri="{FF2B5EF4-FFF2-40B4-BE49-F238E27FC236}">
                <a16:creationId xmlns:a16="http://schemas.microsoft.com/office/drawing/2014/main" id="{083FA384-191C-794E-9592-DEB016D6755B}"/>
              </a:ext>
            </a:extLst>
          </p:cNvPr>
          <p:cNvSpPr txBox="1"/>
          <p:nvPr/>
        </p:nvSpPr>
        <p:spPr>
          <a:xfrm>
            <a:off x="2653665" y="3289935"/>
            <a:ext cx="958850" cy="39878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客户机</a:t>
            </a:r>
          </a:p>
        </p:txBody>
      </p:sp>
      <p:sp>
        <p:nvSpPr>
          <p:cNvPr id="45" name="文本框 44">
            <a:extLst>
              <a:ext uri="{FF2B5EF4-FFF2-40B4-BE49-F238E27FC236}">
                <a16:creationId xmlns:a16="http://schemas.microsoft.com/office/drawing/2014/main" id="{65353FAF-170B-E949-BF0A-A4E3DF5AB3EB}"/>
              </a:ext>
            </a:extLst>
          </p:cNvPr>
          <p:cNvSpPr txBox="1"/>
          <p:nvPr/>
        </p:nvSpPr>
        <p:spPr>
          <a:xfrm>
            <a:off x="8731885" y="3289935"/>
            <a:ext cx="958850" cy="398780"/>
          </a:xfrm>
          <a:prstGeom prst="rect">
            <a:avLst/>
          </a:prstGeom>
          <a:noFill/>
        </p:spPr>
        <p:txBody>
          <a:bodyPr wrap="square" rtlCol="0">
            <a:sp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服务器</a:t>
            </a:r>
          </a:p>
        </p:txBody>
      </p:sp>
      <p:sp>
        <p:nvSpPr>
          <p:cNvPr id="5" name="灯片编号占位符 4">
            <a:extLst>
              <a:ext uri="{FF2B5EF4-FFF2-40B4-BE49-F238E27FC236}">
                <a16:creationId xmlns:a16="http://schemas.microsoft.com/office/drawing/2014/main" id="{D7BF165A-0535-3C49-8923-FD6E1181EF87}"/>
              </a:ext>
            </a:extLst>
          </p:cNvPr>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
        <p:nvSpPr>
          <p:cNvPr id="46" name="文本框 45">
            <a:extLst>
              <a:ext uri="{FF2B5EF4-FFF2-40B4-BE49-F238E27FC236}">
                <a16:creationId xmlns:a16="http://schemas.microsoft.com/office/drawing/2014/main" id="{81C469EA-4EAD-CF44-A0B8-432BB73B10DA}"/>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pic>
        <p:nvPicPr>
          <p:cNvPr id="47" name="Picture 28" descr="015">
            <a:extLst>
              <a:ext uri="{FF2B5EF4-FFF2-40B4-BE49-F238E27FC236}">
                <a16:creationId xmlns:a16="http://schemas.microsoft.com/office/drawing/2014/main" id="{F3078BC7-BF98-4647-BBC1-FA8B6EC881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17430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ym typeface="+mn-ea"/>
              </a:rPr>
              <a:t>服务与协议的关系</a:t>
            </a:r>
            <a:endParaRPr lang="zh-CN" altLang="en-US" dirty="0"/>
          </a:p>
        </p:txBody>
      </p:sp>
      <p:sp>
        <p:nvSpPr>
          <p:cNvPr id="3" name="内容占位符 2"/>
          <p:cNvSpPr>
            <a:spLocks noGrp="1"/>
          </p:cNvSpPr>
          <p:nvPr>
            <p:ph idx="1"/>
          </p:nvPr>
        </p:nvSpPr>
        <p:spPr>
          <a:xfrm>
            <a:off x="819787" y="1479397"/>
            <a:ext cx="10515600" cy="1399525"/>
          </a:xfrm>
        </p:spPr>
        <p:txBody>
          <a:bodyPr>
            <a:normAutofit fontScale="87500" lnSpcReduction="10000"/>
          </a:bodyPr>
          <a:lstStyle/>
          <a:p>
            <a:pPr>
              <a:lnSpc>
                <a:spcPct val="110000"/>
              </a:lnSpc>
              <a:buFont typeface="Wingdings" panose="05000000000000000000" charset="0"/>
              <a:buChar char="Ø"/>
            </a:pPr>
            <a:r>
              <a:rPr lang="zh-CN" altLang="en-US" dirty="0"/>
              <a:t>协议是</a:t>
            </a:r>
            <a:r>
              <a:rPr lang="en-US" altLang="zh-CN" dirty="0"/>
              <a:t>“</a:t>
            </a:r>
            <a:r>
              <a:rPr lang="zh-CN" altLang="en-US" dirty="0"/>
              <a:t>水平</a:t>
            </a:r>
            <a:r>
              <a:rPr lang="en-US" altLang="zh-CN" dirty="0"/>
              <a:t>”</a:t>
            </a:r>
            <a:r>
              <a:rPr lang="zh-CN" altLang="en-US" dirty="0"/>
              <a:t>的，服务是</a:t>
            </a:r>
            <a:r>
              <a:rPr lang="en-US" altLang="zh-CN" dirty="0"/>
              <a:t>“</a:t>
            </a:r>
            <a:r>
              <a:rPr lang="zh-CN" altLang="en-US" dirty="0"/>
              <a:t>垂直</a:t>
            </a:r>
            <a:r>
              <a:rPr lang="en-US" altLang="zh-CN" dirty="0"/>
              <a:t>”</a:t>
            </a:r>
            <a:r>
              <a:rPr lang="zh-CN" altLang="en-US" dirty="0"/>
              <a:t>的</a:t>
            </a:r>
            <a:endParaRPr lang="en-US" altLang="zh-CN" dirty="0"/>
          </a:p>
          <a:p>
            <a:pPr>
              <a:lnSpc>
                <a:spcPct val="110000"/>
              </a:lnSpc>
              <a:buFont typeface="Wingdings" panose="05000000000000000000" charset="0"/>
              <a:buChar char="Ø"/>
            </a:pPr>
            <a:r>
              <a:rPr lang="zh-CN" altLang="en-US" dirty="0"/>
              <a:t>实体使用协议来实现其定义的服务</a:t>
            </a:r>
            <a:endParaRPr lang="en-US" altLang="zh-CN" dirty="0"/>
          </a:p>
          <a:p>
            <a:pPr>
              <a:lnSpc>
                <a:spcPct val="110000"/>
              </a:lnSpc>
              <a:buFont typeface="Wingdings" panose="05000000000000000000" charset="0"/>
              <a:buChar char="Ø"/>
            </a:pPr>
            <a:r>
              <a:rPr lang="zh-CN" altLang="en-US" dirty="0"/>
              <a:t>上层实体通过接口使用下层实体的服务</a:t>
            </a:r>
          </a:p>
        </p:txBody>
      </p:sp>
      <p:sp>
        <p:nvSpPr>
          <p:cNvPr id="9" name="Rectangle 35"/>
          <p:cNvSpPr>
            <a:spLocks noChangeArrowheads="1"/>
          </p:cNvSpPr>
          <p:nvPr/>
        </p:nvSpPr>
        <p:spPr bwMode="auto">
          <a:xfrm>
            <a:off x="2279650" y="5291693"/>
            <a:ext cx="8001000" cy="990600"/>
          </a:xfrm>
          <a:prstGeom prst="rect">
            <a:avLst/>
          </a:prstGeom>
          <a:solidFill>
            <a:schemeClr val="accent4"/>
          </a:solidFill>
          <a:ln w="12700">
            <a:solidFill>
              <a:schemeClr val="tx1"/>
            </a:solidFill>
            <a:prstDash val="dash"/>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5" name="Rectangle 36"/>
          <p:cNvSpPr>
            <a:spLocks noChangeArrowheads="1"/>
          </p:cNvSpPr>
          <p:nvPr/>
        </p:nvSpPr>
        <p:spPr bwMode="auto">
          <a:xfrm>
            <a:off x="3613150" y="5258196"/>
            <a:ext cx="233363" cy="254000"/>
          </a:xfrm>
          <a:prstGeom prst="rect">
            <a:avLst/>
          </a:prstGeom>
          <a:solidFill>
            <a:srgbClr val="C00000"/>
          </a:solidFill>
          <a:ln w="19050">
            <a:solidFill>
              <a:srgbClr val="CC0000"/>
            </a:solidFill>
            <a:miter lim="800000"/>
          </a:ln>
          <a:effec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1" name="Line 37"/>
          <p:cNvSpPr>
            <a:spLocks noChangeShapeType="1"/>
          </p:cNvSpPr>
          <p:nvPr/>
        </p:nvSpPr>
        <p:spPr bwMode="auto">
          <a:xfrm>
            <a:off x="4664077" y="3510358"/>
            <a:ext cx="3038474" cy="0"/>
          </a:xfrm>
          <a:prstGeom prst="line">
            <a:avLst/>
          </a:prstGeom>
          <a:noFill/>
          <a:ln w="1270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j-ea"/>
              <a:ea typeface="+mj-ea"/>
            </a:endParaRPr>
          </a:p>
        </p:txBody>
      </p:sp>
      <p:sp>
        <p:nvSpPr>
          <p:cNvPr id="12" name="Text Box 38"/>
          <p:cNvSpPr txBox="1">
            <a:spLocks noChangeArrowheads="1"/>
          </p:cNvSpPr>
          <p:nvPr/>
        </p:nvSpPr>
        <p:spPr bwMode="auto">
          <a:xfrm>
            <a:off x="5254627" y="3299189"/>
            <a:ext cx="1600199" cy="400110"/>
          </a:xfrm>
          <a:prstGeom prst="rect">
            <a:avLst/>
          </a:prstGeom>
          <a:solidFill>
            <a:schemeClr val="bg1"/>
          </a:solidFill>
          <a:ln>
            <a:noFill/>
          </a:ln>
          <a:effectLst/>
        </p:spPr>
        <p:txBody>
          <a:bodyPr wrap="square">
            <a:spAutoFit/>
          </a:body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协议</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 + 1)</a:t>
            </a:r>
          </a:p>
        </p:txBody>
      </p:sp>
      <p:sp>
        <p:nvSpPr>
          <p:cNvPr id="13" name="Text Box 39"/>
          <p:cNvSpPr txBox="1">
            <a:spLocks noChangeArrowheads="1"/>
          </p:cNvSpPr>
          <p:nvPr/>
        </p:nvSpPr>
        <p:spPr bwMode="auto">
          <a:xfrm>
            <a:off x="3966451" y="485808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接口</a:t>
            </a:r>
          </a:p>
        </p:txBody>
      </p:sp>
      <p:sp>
        <p:nvSpPr>
          <p:cNvPr id="14" name="Text Box 40"/>
          <p:cNvSpPr txBox="1">
            <a:spLocks noChangeArrowheads="1"/>
          </p:cNvSpPr>
          <p:nvPr/>
        </p:nvSpPr>
        <p:spPr bwMode="auto">
          <a:xfrm>
            <a:off x="7784385" y="489148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接口</a:t>
            </a:r>
          </a:p>
        </p:txBody>
      </p:sp>
      <p:sp>
        <p:nvSpPr>
          <p:cNvPr id="15" name="Text Box 41"/>
          <p:cNvSpPr txBox="1">
            <a:spLocks noChangeArrowheads="1"/>
          </p:cNvSpPr>
          <p:nvPr/>
        </p:nvSpPr>
        <p:spPr bwMode="auto">
          <a:xfrm>
            <a:off x="3918168" y="3895080"/>
            <a:ext cx="1210588" cy="40011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交换信息</a:t>
            </a:r>
          </a:p>
        </p:txBody>
      </p:sp>
      <p:sp>
        <p:nvSpPr>
          <p:cNvPr id="16" name="AutoShape 42"/>
          <p:cNvSpPr>
            <a:spLocks noChangeArrowheads="1"/>
          </p:cNvSpPr>
          <p:nvPr/>
        </p:nvSpPr>
        <p:spPr bwMode="auto">
          <a:xfrm>
            <a:off x="3654425" y="3807221"/>
            <a:ext cx="158750" cy="1430337"/>
          </a:xfrm>
          <a:prstGeom prst="upDownArrow">
            <a:avLst>
              <a:gd name="adj1" fmla="val 50000"/>
              <a:gd name="adj2" fmla="val 180200"/>
            </a:avLst>
          </a:prstGeom>
          <a:solidFill>
            <a:srgbClr val="FF0000"/>
          </a:solidFill>
          <a:ln w="12700">
            <a:solidFill>
              <a:schemeClr val="tx1"/>
            </a:solidFill>
            <a:miter lim="800000"/>
            <a:headEnd type="none" w="med" len="lg"/>
            <a:tailEnd type="none" w="med" len="lg"/>
          </a:ln>
          <a:effectLst/>
        </p:spPr>
        <p:txBody>
          <a:bodyPr vert="eaVert" wrap="none" anchor="ctr"/>
          <a:lstStyle/>
          <a:p>
            <a:endParaRPr lang="zh-CN" altLang="en-US" sz="2000">
              <a:latin typeface="微软雅黑" panose="020B0503020204020204" pitchFamily="34" charset="-122"/>
              <a:ea typeface="微软雅黑" panose="020B0503020204020204" pitchFamily="34" charset="-122"/>
            </a:endParaRPr>
          </a:p>
        </p:txBody>
      </p:sp>
      <p:sp>
        <p:nvSpPr>
          <p:cNvPr id="17" name="Rectangle 43"/>
          <p:cNvSpPr>
            <a:spLocks noChangeArrowheads="1"/>
          </p:cNvSpPr>
          <p:nvPr/>
        </p:nvSpPr>
        <p:spPr bwMode="auto">
          <a:xfrm>
            <a:off x="8482012" y="5238352"/>
            <a:ext cx="236538" cy="254000"/>
          </a:xfrm>
          <a:prstGeom prst="rect">
            <a:avLst/>
          </a:prstGeom>
          <a:solidFill>
            <a:srgbClr val="C00000"/>
          </a:solidFill>
          <a:ln w="19050">
            <a:solidFill>
              <a:srgbClr val="CC0000"/>
            </a:solidFill>
            <a:miter lim="800000"/>
          </a:ln>
          <a:effec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18" name="AutoShape 44"/>
          <p:cNvSpPr>
            <a:spLocks noChangeArrowheads="1"/>
          </p:cNvSpPr>
          <p:nvPr/>
        </p:nvSpPr>
        <p:spPr bwMode="auto">
          <a:xfrm>
            <a:off x="8521700" y="3787377"/>
            <a:ext cx="158750" cy="1430337"/>
          </a:xfrm>
          <a:prstGeom prst="upDownArrow">
            <a:avLst>
              <a:gd name="adj1" fmla="val 50000"/>
              <a:gd name="adj2" fmla="val 180200"/>
            </a:avLst>
          </a:prstGeom>
          <a:solidFill>
            <a:srgbClr val="FF0000"/>
          </a:solidFill>
          <a:ln w="12700">
            <a:solidFill>
              <a:schemeClr val="tx1"/>
            </a:solidFill>
            <a:miter lim="800000"/>
            <a:headEnd type="none" w="med" len="lg"/>
            <a:tailEnd type="none" w="med" len="lg"/>
          </a:ln>
          <a:effectLst/>
        </p:spPr>
        <p:txBody>
          <a:bodyPr vert="eaVert" wrap="none" anchor="ctr"/>
          <a:lstStyle/>
          <a:p>
            <a:endParaRPr lang="zh-CN" altLang="en-US" sz="2000">
              <a:latin typeface="微软雅黑" panose="020B0503020204020204" pitchFamily="34" charset="-122"/>
              <a:ea typeface="微软雅黑" panose="020B0503020204020204" pitchFamily="34" charset="-122"/>
            </a:endParaRPr>
          </a:p>
        </p:txBody>
      </p:sp>
      <p:sp>
        <p:nvSpPr>
          <p:cNvPr id="19" name="Text Box 45"/>
          <p:cNvSpPr txBox="1">
            <a:spLocks noChangeArrowheads="1"/>
          </p:cNvSpPr>
          <p:nvPr/>
        </p:nvSpPr>
        <p:spPr bwMode="auto">
          <a:xfrm>
            <a:off x="7343311" y="3873439"/>
            <a:ext cx="1210588"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交换信息</a:t>
            </a:r>
          </a:p>
        </p:txBody>
      </p:sp>
      <p:sp>
        <p:nvSpPr>
          <p:cNvPr id="20" name="Rectangle 46"/>
          <p:cNvSpPr>
            <a:spLocks noChangeArrowheads="1"/>
          </p:cNvSpPr>
          <p:nvPr/>
        </p:nvSpPr>
        <p:spPr bwMode="auto">
          <a:xfrm>
            <a:off x="2851151" y="3278583"/>
            <a:ext cx="1791166" cy="525463"/>
          </a:xfrm>
          <a:prstGeom prst="rect">
            <a:avLst/>
          </a:prstGeom>
          <a:solidFill>
            <a:schemeClr val="accent6"/>
          </a:solidFill>
          <a:ln w="12700">
            <a:noFill/>
            <a:miter lim="800000"/>
          </a:ln>
          <a:effectLst>
            <a:outerShdw dist="45791" dir="2021404" algn="ctr" rotWithShape="0">
              <a:schemeClr val="bg2"/>
            </a:outerShdw>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21" name="Text Box 47"/>
          <p:cNvSpPr txBox="1">
            <a:spLocks noChangeArrowheads="1"/>
          </p:cNvSpPr>
          <p:nvPr/>
        </p:nvSpPr>
        <p:spPr bwMode="auto">
          <a:xfrm>
            <a:off x="3114907" y="3327734"/>
            <a:ext cx="1518364" cy="400110"/>
          </a:xfrm>
          <a:prstGeom prst="rect">
            <a:avLst/>
          </a:prstGeom>
          <a:noFill/>
          <a:ln>
            <a:noFill/>
          </a:ln>
          <a:effectLst/>
        </p:spPr>
        <p:txBody>
          <a:bodyPr wrap="non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 + 1)</a:t>
            </a:r>
          </a:p>
        </p:txBody>
      </p:sp>
      <p:sp>
        <p:nvSpPr>
          <p:cNvPr id="22" name="Text Box 48"/>
          <p:cNvSpPr txBox="1">
            <a:spLocks noChangeArrowheads="1"/>
          </p:cNvSpPr>
          <p:nvPr/>
        </p:nvSpPr>
        <p:spPr bwMode="auto">
          <a:xfrm>
            <a:off x="746726" y="556772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服务提供者</a:t>
            </a:r>
          </a:p>
        </p:txBody>
      </p:sp>
      <p:sp>
        <p:nvSpPr>
          <p:cNvPr id="24" name="Text Box 50"/>
          <p:cNvSpPr txBox="1">
            <a:spLocks noChangeArrowheads="1"/>
          </p:cNvSpPr>
          <p:nvPr/>
        </p:nvSpPr>
        <p:spPr bwMode="auto">
          <a:xfrm>
            <a:off x="10368670" y="5547121"/>
            <a:ext cx="1007007" cy="400110"/>
          </a:xfrm>
          <a:prstGeom prst="rect">
            <a:avLst/>
          </a:prstGeom>
          <a:noFill/>
          <a:ln>
            <a:noFill/>
          </a:ln>
          <a:effectLst/>
        </p:spPr>
        <p:txBody>
          <a:bodyPr wrap="none">
            <a:spAutoFit/>
          </a:body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 </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 </a:t>
            </a: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a:t>
            </a:r>
          </a:p>
        </p:txBody>
      </p:sp>
      <p:sp>
        <p:nvSpPr>
          <p:cNvPr id="25" name="Text Box 51"/>
          <p:cNvSpPr txBox="1">
            <a:spLocks noChangeArrowheads="1"/>
          </p:cNvSpPr>
          <p:nvPr/>
        </p:nvSpPr>
        <p:spPr bwMode="auto">
          <a:xfrm>
            <a:off x="10072401" y="3337706"/>
            <a:ext cx="1348446" cy="40011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 </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n+1 </a:t>
            </a: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a:t>
            </a:r>
          </a:p>
        </p:txBody>
      </p:sp>
      <p:sp>
        <p:nvSpPr>
          <p:cNvPr id="26" name="Rectangle 52"/>
          <p:cNvSpPr>
            <a:spLocks noChangeArrowheads="1"/>
          </p:cNvSpPr>
          <p:nvPr/>
        </p:nvSpPr>
        <p:spPr bwMode="auto">
          <a:xfrm>
            <a:off x="7654926" y="3278583"/>
            <a:ext cx="1825623" cy="525463"/>
          </a:xfrm>
          <a:prstGeom prst="rect">
            <a:avLst/>
          </a:prstGeom>
          <a:solidFill>
            <a:schemeClr val="accent6"/>
          </a:solidFill>
          <a:ln w="12700">
            <a:noFill/>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27" name="Text Box 53"/>
          <p:cNvSpPr txBox="1">
            <a:spLocks noChangeArrowheads="1"/>
          </p:cNvSpPr>
          <p:nvPr/>
        </p:nvSpPr>
        <p:spPr bwMode="auto">
          <a:xfrm>
            <a:off x="7865559" y="3350021"/>
            <a:ext cx="1614990" cy="400110"/>
          </a:xfrm>
          <a:prstGeom prst="rect">
            <a:avLst/>
          </a:prstGeom>
          <a:noFill/>
          <a:ln>
            <a:noFill/>
          </a:ln>
          <a:effectLst/>
        </p:spPr>
        <p:txBody>
          <a:bodyPr wrap="squar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 + 1)</a:t>
            </a:r>
          </a:p>
        </p:txBody>
      </p:sp>
      <p:sp>
        <p:nvSpPr>
          <p:cNvPr id="28" name="Text Box 55"/>
          <p:cNvSpPr txBox="1">
            <a:spLocks noChangeArrowheads="1"/>
          </p:cNvSpPr>
          <p:nvPr/>
        </p:nvSpPr>
        <p:spPr bwMode="auto">
          <a:xfrm>
            <a:off x="746726" y="3337706"/>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dirty="0">
                <a:latin typeface="微软雅黑" panose="020B0503020204020204" pitchFamily="34" charset="-122"/>
                <a:ea typeface="微软雅黑" panose="020B0503020204020204" pitchFamily="34" charset="-122"/>
              </a:rPr>
              <a:t>服务的用户</a:t>
            </a:r>
          </a:p>
        </p:txBody>
      </p:sp>
      <p:sp>
        <p:nvSpPr>
          <p:cNvPr id="29" name="Rectangle 56"/>
          <p:cNvSpPr>
            <a:spLocks noChangeArrowheads="1"/>
          </p:cNvSpPr>
          <p:nvPr/>
        </p:nvSpPr>
        <p:spPr bwMode="auto">
          <a:xfrm>
            <a:off x="2851151" y="5505846"/>
            <a:ext cx="1791165" cy="523875"/>
          </a:xfrm>
          <a:prstGeom prst="rect">
            <a:avLst/>
          </a:prstGeom>
          <a:solidFill>
            <a:schemeClr val="accent1"/>
          </a:solidFill>
          <a:ln w="12700">
            <a:noFill/>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30" name="Rectangle 57"/>
          <p:cNvSpPr>
            <a:spLocks noChangeArrowheads="1"/>
          </p:cNvSpPr>
          <p:nvPr/>
        </p:nvSpPr>
        <p:spPr bwMode="auto">
          <a:xfrm>
            <a:off x="7627938" y="5505846"/>
            <a:ext cx="1852611" cy="523875"/>
          </a:xfrm>
          <a:prstGeom prst="rect">
            <a:avLst/>
          </a:prstGeom>
          <a:solidFill>
            <a:schemeClr val="accent1"/>
          </a:solidFill>
          <a:ln w="12700">
            <a:noFill/>
            <a:miter lim="800000"/>
          </a:ln>
          <a:effectLst/>
        </p:spPr>
        <p:txBody>
          <a:bodyPr wrap="none" anchor="ctr"/>
          <a:lstStyle/>
          <a:p>
            <a:pPr algn="ctr"/>
            <a:endParaRPr kumimoji="1" lang="zh-CN" altLang="zh-CN" sz="2000">
              <a:solidFill>
                <a:schemeClr val="folHlink"/>
              </a:solidFill>
              <a:latin typeface="微软雅黑" panose="020B0503020204020204" pitchFamily="34" charset="-122"/>
              <a:ea typeface="微软雅黑" panose="020B0503020204020204" pitchFamily="34" charset="-122"/>
            </a:endParaRPr>
          </a:p>
        </p:txBody>
      </p:sp>
      <p:sp>
        <p:nvSpPr>
          <p:cNvPr id="31" name="Text Box 58"/>
          <p:cNvSpPr txBox="1">
            <a:spLocks noChangeArrowheads="1"/>
          </p:cNvSpPr>
          <p:nvPr/>
        </p:nvSpPr>
        <p:spPr bwMode="auto">
          <a:xfrm>
            <a:off x="3365966" y="5547121"/>
            <a:ext cx="1026243" cy="400110"/>
          </a:xfrm>
          <a:prstGeom prst="rect">
            <a:avLst/>
          </a:prstGeom>
          <a:noFill/>
          <a:ln>
            <a:noFill/>
          </a:ln>
          <a:effectLst/>
        </p:spPr>
        <p:txBody>
          <a:bodyPr wrap="non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a:t>
            </a:r>
          </a:p>
        </p:txBody>
      </p:sp>
      <p:sp>
        <p:nvSpPr>
          <p:cNvPr id="32" name="Text Box 59"/>
          <p:cNvSpPr txBox="1">
            <a:spLocks noChangeArrowheads="1"/>
          </p:cNvSpPr>
          <p:nvPr/>
        </p:nvSpPr>
        <p:spPr bwMode="auto">
          <a:xfrm>
            <a:off x="8103182" y="5583602"/>
            <a:ext cx="1026243" cy="400110"/>
          </a:xfrm>
          <a:prstGeom prst="rect">
            <a:avLst/>
          </a:prstGeom>
          <a:noFill/>
          <a:ln>
            <a:noFill/>
          </a:ln>
          <a:effectLst/>
        </p:spPr>
        <p:txBody>
          <a:bodyPr wrap="none">
            <a:spAutoFit/>
          </a:bodyPr>
          <a:lstStyle/>
          <a:p>
            <a:r>
              <a:rPr kumimoji="1"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实体</a:t>
            </a:r>
            <a:r>
              <a:rPr kumimoji="1" lang="en-US" altLang="zh-CN"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a:t>
            </a:r>
          </a:p>
        </p:txBody>
      </p:sp>
      <p:sp>
        <p:nvSpPr>
          <p:cNvPr id="33" name="Line 60"/>
          <p:cNvSpPr>
            <a:spLocks noChangeShapeType="1"/>
          </p:cNvSpPr>
          <p:nvPr/>
        </p:nvSpPr>
        <p:spPr bwMode="auto">
          <a:xfrm>
            <a:off x="4664078" y="5747176"/>
            <a:ext cx="3019424" cy="6320"/>
          </a:xfrm>
          <a:prstGeom prst="line">
            <a:avLst/>
          </a:prstGeom>
          <a:noFill/>
          <a:ln w="1270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mj-ea"/>
              <a:ea typeface="+mj-ea"/>
            </a:endParaRPr>
          </a:p>
        </p:txBody>
      </p:sp>
      <p:sp>
        <p:nvSpPr>
          <p:cNvPr id="34" name="Text Box 61"/>
          <p:cNvSpPr txBox="1">
            <a:spLocks noChangeArrowheads="1"/>
          </p:cNvSpPr>
          <p:nvPr/>
        </p:nvSpPr>
        <p:spPr bwMode="auto">
          <a:xfrm>
            <a:off x="5254627" y="5556674"/>
            <a:ext cx="1482723" cy="400110"/>
          </a:xfrm>
          <a:prstGeom prst="rect">
            <a:avLst/>
          </a:prstGeom>
          <a:solidFill>
            <a:schemeClr val="bg1"/>
          </a:solidFill>
          <a:ln>
            <a:noFill/>
          </a:ln>
          <a:effectLst/>
        </p:spPr>
        <p:txBody>
          <a:bodyPr wrap="square">
            <a:spAutoFit/>
          </a:bodyPr>
          <a:lstStyle/>
          <a:p>
            <a:pPr algn="ct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协议</a:t>
            </a:r>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(n)</a:t>
            </a:r>
          </a:p>
        </p:txBody>
      </p:sp>
      <p:sp>
        <p:nvSpPr>
          <p:cNvPr id="23" name="Line 49"/>
          <p:cNvSpPr>
            <a:spLocks noChangeShapeType="1"/>
          </p:cNvSpPr>
          <p:nvPr/>
        </p:nvSpPr>
        <p:spPr bwMode="auto">
          <a:xfrm>
            <a:off x="-21588" y="4538581"/>
            <a:ext cx="12198349" cy="0"/>
          </a:xfrm>
          <a:prstGeom prst="line">
            <a:avLst/>
          </a:prstGeom>
          <a:noFill/>
          <a:ln w="12700">
            <a:solidFill>
              <a:schemeClr val="tx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灯片编号占位符 5">
            <a:extLst>
              <a:ext uri="{FF2B5EF4-FFF2-40B4-BE49-F238E27FC236}">
                <a16:creationId xmlns:a16="http://schemas.microsoft.com/office/drawing/2014/main" id="{768446A6-73E4-4540-AEAC-CF4B05F15ACA}"/>
              </a:ext>
            </a:extLst>
          </p:cNvPr>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sp>
        <p:nvSpPr>
          <p:cNvPr id="35" name="文本框 34">
            <a:extLst>
              <a:ext uri="{FF2B5EF4-FFF2-40B4-BE49-F238E27FC236}">
                <a16:creationId xmlns:a16="http://schemas.microsoft.com/office/drawing/2014/main" id="{ABAF84D8-0C1F-0942-BF2F-7C85B9A83FE8}"/>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1.2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网络实例</a:t>
            </a:r>
          </a:p>
        </p:txBody>
      </p:sp>
      <p:pic>
        <p:nvPicPr>
          <p:cNvPr id="36" name="Picture 28" descr="015">
            <a:extLst>
              <a:ext uri="{FF2B5EF4-FFF2-40B4-BE49-F238E27FC236}">
                <a16:creationId xmlns:a16="http://schemas.microsoft.com/office/drawing/2014/main" id="{81BD5BF0-58C6-462B-A3BC-9DC697C8402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76272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xfrm>
            <a:off x="1739901" y="1268413"/>
            <a:ext cx="8316913" cy="5040312"/>
          </a:xfrm>
        </p:spPr>
        <p:txBody>
          <a:bodyPr>
            <a:normAutofit/>
          </a:bodyPr>
          <a:lstStyle/>
          <a:p>
            <a:pPr eaLnBrk="1" hangingPunct="1"/>
            <a:r>
              <a:rPr lang="zh-CN" altLang="en-US" sz="2400" dirty="0"/>
              <a:t>在层次间的数据交换中，数据的传输单元分为三类： </a:t>
            </a:r>
          </a:p>
        </p:txBody>
      </p:sp>
      <p:sp>
        <p:nvSpPr>
          <p:cNvPr id="129027" name="Rectangle 2"/>
          <p:cNvSpPr>
            <a:spLocks noGrp="1" noChangeArrowheads="1"/>
          </p:cNvSpPr>
          <p:nvPr>
            <p:ph type="title"/>
          </p:nvPr>
        </p:nvSpPr>
        <p:spPr>
          <a:xfrm>
            <a:off x="1274762" y="508000"/>
            <a:ext cx="7775575" cy="696913"/>
          </a:xfrm>
        </p:spPr>
        <p:txBody>
          <a:bodyPr/>
          <a:lstStyle/>
          <a:p>
            <a:pPr eaLnBrk="1" hangingPunct="1"/>
            <a:r>
              <a:rPr lang="zh-CN" altLang="en-US" sz="3600" dirty="0"/>
              <a:t>数据单元</a:t>
            </a:r>
          </a:p>
        </p:txBody>
      </p:sp>
      <p:sp>
        <p:nvSpPr>
          <p:cNvPr id="129028" name="Text Box 5"/>
          <p:cNvSpPr txBox="1">
            <a:spLocks noChangeArrowheads="1"/>
          </p:cNvSpPr>
          <p:nvPr/>
        </p:nvSpPr>
        <p:spPr bwMode="auto">
          <a:xfrm>
            <a:off x="2876550" y="1916113"/>
            <a:ext cx="6629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a:latin typeface="仿宋_GB2312" pitchFamily="49" charset="-122"/>
                <a:ea typeface="仿宋_GB2312" pitchFamily="49" charset="-122"/>
              </a:rPr>
              <a:t>协议数据单元（</a:t>
            </a:r>
            <a:r>
              <a:rPr kumimoji="1" lang="en-US" altLang="zh-CN" sz="1800">
                <a:latin typeface="仿宋_GB2312" pitchFamily="49" charset="-122"/>
                <a:ea typeface="仿宋_GB2312" pitchFamily="49" charset="-122"/>
              </a:rPr>
              <a:t>PDU</a:t>
            </a:r>
            <a:r>
              <a:rPr kumimoji="1" lang="zh-CN" altLang="en-US" sz="1800">
                <a:latin typeface="仿宋_GB2312" pitchFamily="49" charset="-122"/>
                <a:ea typeface="仿宋_GB2312" pitchFamily="49" charset="-122"/>
              </a:rPr>
              <a:t>）</a:t>
            </a:r>
            <a:r>
              <a:rPr kumimoji="1" lang="en-US" altLang="zh-CN" sz="1800">
                <a:latin typeface="仿宋_GB2312" pitchFamily="49" charset="-122"/>
                <a:ea typeface="仿宋_GB2312" pitchFamily="49" charset="-122"/>
              </a:rPr>
              <a:t>:</a:t>
            </a:r>
            <a:r>
              <a:rPr kumimoji="1" lang="zh-CN" altLang="en-US" sz="1800">
                <a:latin typeface="仿宋_GB2312" pitchFamily="49" charset="-122"/>
                <a:ea typeface="仿宋_GB2312" pitchFamily="49" charset="-122"/>
              </a:rPr>
              <a:t>在不同系统的对等实体之间根据协议要求			所交换的数据单元。</a:t>
            </a:r>
          </a:p>
        </p:txBody>
      </p:sp>
      <p:sp>
        <p:nvSpPr>
          <p:cNvPr id="129029" name="Text Box 6"/>
          <p:cNvSpPr txBox="1">
            <a:spLocks noChangeArrowheads="1"/>
          </p:cNvSpPr>
          <p:nvPr/>
        </p:nvSpPr>
        <p:spPr bwMode="auto">
          <a:xfrm>
            <a:off x="2876550" y="2798763"/>
            <a:ext cx="6629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a:latin typeface="仿宋_GB2312" pitchFamily="49" charset="-122"/>
                <a:ea typeface="仿宋_GB2312" pitchFamily="49" charset="-122"/>
              </a:rPr>
              <a:t>接口数据单元（</a:t>
            </a:r>
            <a:r>
              <a:rPr kumimoji="1" lang="en-US" altLang="zh-CN" sz="1800">
                <a:latin typeface="仿宋_GB2312" pitchFamily="49" charset="-122"/>
                <a:ea typeface="仿宋_GB2312" pitchFamily="49" charset="-122"/>
              </a:rPr>
              <a:t>IDU</a:t>
            </a:r>
            <a:r>
              <a:rPr kumimoji="1" lang="zh-CN" altLang="en-US" sz="1800">
                <a:latin typeface="仿宋_GB2312" pitchFamily="49" charset="-122"/>
                <a:ea typeface="仿宋_GB2312" pitchFamily="49" charset="-122"/>
              </a:rPr>
              <a:t>）</a:t>
            </a:r>
            <a:r>
              <a:rPr kumimoji="1" lang="en-US" altLang="zh-CN" sz="1800">
                <a:latin typeface="仿宋_GB2312" pitchFamily="49" charset="-122"/>
                <a:ea typeface="仿宋_GB2312" pitchFamily="49" charset="-122"/>
              </a:rPr>
              <a:t>:</a:t>
            </a:r>
            <a:r>
              <a:rPr kumimoji="1" lang="zh-CN" altLang="en-US" sz="1800">
                <a:latin typeface="仿宋_GB2312" pitchFamily="49" charset="-122"/>
                <a:ea typeface="仿宋_GB2312" pitchFamily="49" charset="-122"/>
              </a:rPr>
              <a:t>在同一系统中相邻两层实体经过层间接口			所交换的数据单元。</a:t>
            </a:r>
          </a:p>
        </p:txBody>
      </p:sp>
      <p:sp>
        <p:nvSpPr>
          <p:cNvPr id="129030" name="Text Box 7"/>
          <p:cNvSpPr txBox="1">
            <a:spLocks noChangeArrowheads="1"/>
          </p:cNvSpPr>
          <p:nvPr/>
        </p:nvSpPr>
        <p:spPr bwMode="auto">
          <a:xfrm>
            <a:off x="2876550" y="3713163"/>
            <a:ext cx="6629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zh-CN" altLang="en-US" sz="1800">
                <a:latin typeface="仿宋_GB2312" pitchFamily="49" charset="-122"/>
                <a:ea typeface="仿宋_GB2312" pitchFamily="49" charset="-122"/>
              </a:rPr>
              <a:t>服务数据单元（</a:t>
            </a:r>
            <a:r>
              <a:rPr kumimoji="1" lang="en-US" altLang="zh-CN" sz="1800">
                <a:latin typeface="仿宋_GB2312" pitchFamily="49" charset="-122"/>
                <a:ea typeface="仿宋_GB2312" pitchFamily="49" charset="-122"/>
              </a:rPr>
              <a:t>SDU</a:t>
            </a:r>
            <a:r>
              <a:rPr kumimoji="1" lang="zh-CN" altLang="en-US" sz="1800">
                <a:latin typeface="仿宋_GB2312" pitchFamily="49" charset="-122"/>
                <a:ea typeface="仿宋_GB2312" pitchFamily="49" charset="-122"/>
              </a:rPr>
              <a:t>）</a:t>
            </a:r>
            <a:r>
              <a:rPr kumimoji="1" lang="en-US" altLang="zh-CN" sz="1800">
                <a:latin typeface="仿宋_GB2312" pitchFamily="49" charset="-122"/>
                <a:ea typeface="仿宋_GB2312" pitchFamily="49" charset="-122"/>
              </a:rPr>
              <a:t>:</a:t>
            </a:r>
            <a:r>
              <a:rPr kumimoji="1" lang="zh-CN" altLang="en-US" sz="1800">
                <a:latin typeface="仿宋_GB2312" pitchFamily="49" charset="-122"/>
                <a:ea typeface="仿宋_GB2312" pitchFamily="49" charset="-122"/>
              </a:rPr>
              <a:t>本层实体为了完成服务用户请求所需要的			数据单元。</a:t>
            </a:r>
          </a:p>
        </p:txBody>
      </p:sp>
      <p:sp>
        <p:nvSpPr>
          <p:cNvPr id="129031" name="AutoShape 8"/>
          <p:cNvSpPr>
            <a:spLocks/>
          </p:cNvSpPr>
          <p:nvPr/>
        </p:nvSpPr>
        <p:spPr bwMode="auto">
          <a:xfrm>
            <a:off x="2495550" y="2068513"/>
            <a:ext cx="228600" cy="1905000"/>
          </a:xfrm>
          <a:prstGeom prst="leftBrace">
            <a:avLst>
              <a:gd name="adj1" fmla="val 69444"/>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kumimoji="1" lang="zh-CN" altLang="en-US" sz="2400">
              <a:latin typeface="Times New Roman" panose="02020603050405020304" pitchFamily="18" charset="0"/>
            </a:endParaRPr>
          </a:p>
        </p:txBody>
      </p:sp>
      <p:sp>
        <p:nvSpPr>
          <p:cNvPr id="129032" name="Text Box 9"/>
          <p:cNvSpPr txBox="1">
            <a:spLocks noChangeArrowheads="1"/>
          </p:cNvSpPr>
          <p:nvPr/>
        </p:nvSpPr>
        <p:spPr bwMode="auto">
          <a:xfrm>
            <a:off x="2495550" y="4583113"/>
            <a:ext cx="7696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PDU</a:t>
            </a:r>
            <a:r>
              <a:rPr kumimoji="1" lang="zh-CN" altLang="en-US" sz="1800">
                <a:solidFill>
                  <a:srgbClr val="0066FF"/>
                </a:solidFill>
                <a:latin typeface="仿宋_GB2312" pitchFamily="49" charset="-122"/>
                <a:ea typeface="仿宋_GB2312" pitchFamily="49" charset="-122"/>
              </a:rPr>
              <a:t>　＝　</a:t>
            </a:r>
            <a:r>
              <a:rPr kumimoji="1" lang="en-US" altLang="zh-CN" sz="1800">
                <a:solidFill>
                  <a:srgbClr val="0066FF"/>
                </a:solidFill>
                <a:latin typeface="仿宋_GB2312" pitchFamily="49" charset="-122"/>
                <a:ea typeface="仿宋_GB2312" pitchFamily="49" charset="-122"/>
              </a:rPr>
              <a:t>SDU</a:t>
            </a:r>
            <a:r>
              <a:rPr kumimoji="1" lang="zh-CN" altLang="en-US" sz="1800">
                <a:solidFill>
                  <a:srgbClr val="0066FF"/>
                </a:solidFill>
                <a:latin typeface="仿宋_GB2312" pitchFamily="49" charset="-122"/>
                <a:ea typeface="仿宋_GB2312" pitchFamily="49" charset="-122"/>
              </a:rPr>
              <a:t>　＋　</a:t>
            </a:r>
            <a:r>
              <a:rPr kumimoji="1" lang="en-US" altLang="zh-CN" sz="1800">
                <a:solidFill>
                  <a:srgbClr val="0066FF"/>
                </a:solidFill>
                <a:latin typeface="仿宋_GB2312" pitchFamily="49" charset="-122"/>
                <a:ea typeface="仿宋_GB2312" pitchFamily="49" charset="-122"/>
              </a:rPr>
              <a:t>PCI (Protocol Control Information)</a:t>
            </a:r>
          </a:p>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IDU</a:t>
            </a:r>
            <a:r>
              <a:rPr kumimoji="1" lang="zh-CN" altLang="en-US" sz="1800">
                <a:solidFill>
                  <a:srgbClr val="0066FF"/>
                </a:solidFill>
                <a:latin typeface="仿宋_GB2312" pitchFamily="49" charset="-122"/>
                <a:ea typeface="仿宋_GB2312" pitchFamily="49" charset="-122"/>
              </a:rPr>
              <a:t>　＝　</a:t>
            </a:r>
            <a:r>
              <a:rPr kumimoji="1" lang="en-US" altLang="zh-CN" sz="1800">
                <a:solidFill>
                  <a:srgbClr val="0066FF"/>
                </a:solidFill>
                <a:latin typeface="仿宋_GB2312" pitchFamily="49" charset="-122"/>
                <a:ea typeface="仿宋_GB2312" pitchFamily="49" charset="-122"/>
              </a:rPr>
              <a:t>PDU</a:t>
            </a:r>
            <a:r>
              <a:rPr kumimoji="1" lang="zh-CN" altLang="en-US" sz="1800">
                <a:solidFill>
                  <a:srgbClr val="0066FF"/>
                </a:solidFill>
                <a:latin typeface="仿宋_GB2312" pitchFamily="49" charset="-122"/>
                <a:ea typeface="仿宋_GB2312" pitchFamily="49" charset="-122"/>
              </a:rPr>
              <a:t>　＋　</a:t>
            </a:r>
            <a:r>
              <a:rPr kumimoji="1" lang="en-US" altLang="zh-CN" sz="1800">
                <a:solidFill>
                  <a:srgbClr val="0066FF"/>
                </a:solidFill>
                <a:latin typeface="仿宋_GB2312" pitchFamily="49" charset="-122"/>
                <a:ea typeface="仿宋_GB2312" pitchFamily="49" charset="-122"/>
              </a:rPr>
              <a:t>ICI(Interface Control Information)</a:t>
            </a:r>
          </a:p>
        </p:txBody>
      </p:sp>
      <p:grpSp>
        <p:nvGrpSpPr>
          <p:cNvPr id="129033" name="Group 17"/>
          <p:cNvGrpSpPr>
            <a:grpSpLocks/>
          </p:cNvGrpSpPr>
          <p:nvPr/>
        </p:nvGrpSpPr>
        <p:grpSpPr bwMode="auto">
          <a:xfrm>
            <a:off x="3562350" y="5726113"/>
            <a:ext cx="4267200" cy="519112"/>
            <a:chOff x="1248" y="3456"/>
            <a:chExt cx="2688" cy="327"/>
          </a:xfrm>
        </p:grpSpPr>
        <p:sp>
          <p:nvSpPr>
            <p:cNvPr id="129034" name="Text Box 10"/>
            <p:cNvSpPr txBox="1">
              <a:spLocks noChangeArrowheads="1"/>
            </p:cNvSpPr>
            <p:nvPr/>
          </p:nvSpPr>
          <p:spPr bwMode="auto">
            <a:xfrm>
              <a:off x="1248" y="345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SDU</a:t>
              </a:r>
            </a:p>
          </p:txBody>
        </p:sp>
        <p:sp>
          <p:nvSpPr>
            <p:cNvPr id="129035" name="Text Box 11"/>
            <p:cNvSpPr txBox="1">
              <a:spLocks noChangeArrowheads="1"/>
            </p:cNvSpPr>
            <p:nvPr/>
          </p:nvSpPr>
          <p:spPr bwMode="auto">
            <a:xfrm>
              <a:off x="2400" y="345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PDU</a:t>
              </a:r>
            </a:p>
          </p:txBody>
        </p:sp>
        <p:sp>
          <p:nvSpPr>
            <p:cNvPr id="129036" name="Text Box 12"/>
            <p:cNvSpPr txBox="1">
              <a:spLocks noChangeArrowheads="1"/>
            </p:cNvSpPr>
            <p:nvPr/>
          </p:nvSpPr>
          <p:spPr bwMode="auto">
            <a:xfrm>
              <a:off x="3552" y="345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IDU</a:t>
              </a:r>
            </a:p>
          </p:txBody>
        </p:sp>
        <p:sp>
          <p:nvSpPr>
            <p:cNvPr id="129037" name="Line 13"/>
            <p:cNvSpPr>
              <a:spLocks noChangeShapeType="1"/>
            </p:cNvSpPr>
            <p:nvPr/>
          </p:nvSpPr>
          <p:spPr bwMode="auto">
            <a:xfrm>
              <a:off x="1608" y="3576"/>
              <a:ext cx="768"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29038" name="Line 14"/>
            <p:cNvSpPr>
              <a:spLocks noChangeShapeType="1"/>
            </p:cNvSpPr>
            <p:nvPr/>
          </p:nvSpPr>
          <p:spPr bwMode="auto">
            <a:xfrm>
              <a:off x="2736" y="3576"/>
              <a:ext cx="768"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29039" name="Text Box 15"/>
            <p:cNvSpPr txBox="1">
              <a:spLocks noChangeArrowheads="1"/>
            </p:cNvSpPr>
            <p:nvPr/>
          </p:nvSpPr>
          <p:spPr bwMode="auto">
            <a:xfrm>
              <a:off x="1776" y="3552"/>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+PCI</a:t>
              </a:r>
            </a:p>
          </p:txBody>
        </p:sp>
        <p:sp>
          <p:nvSpPr>
            <p:cNvPr id="129040" name="Text Box 16"/>
            <p:cNvSpPr txBox="1">
              <a:spLocks noChangeArrowheads="1"/>
            </p:cNvSpPr>
            <p:nvPr/>
          </p:nvSpPr>
          <p:spPr bwMode="auto">
            <a:xfrm>
              <a:off x="2880" y="3552"/>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r>
                <a:rPr kumimoji="1" lang="en-US" altLang="zh-CN" sz="1800">
                  <a:solidFill>
                    <a:srgbClr val="0066FF"/>
                  </a:solidFill>
                  <a:latin typeface="仿宋_GB2312" pitchFamily="49" charset="-122"/>
                  <a:ea typeface="仿宋_GB2312" pitchFamily="49" charset="-122"/>
                </a:rPr>
                <a:t>+ICI</a:t>
              </a:r>
            </a:p>
          </p:txBody>
        </p:sp>
      </p:grpSp>
      <p:pic>
        <p:nvPicPr>
          <p:cNvPr id="17" name="Picture 28" descr="015">
            <a:extLst>
              <a:ext uri="{FF2B5EF4-FFF2-40B4-BE49-F238E27FC236}">
                <a16:creationId xmlns:a16="http://schemas.microsoft.com/office/drawing/2014/main" id="{7E84288A-EBD4-4934-99F6-E484B52693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08612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1559856" y="1196752"/>
            <a:ext cx="4824176" cy="3934578"/>
            <a:chOff x="35856" y="980728"/>
            <a:chExt cx="5400240" cy="4370711"/>
          </a:xfrm>
        </p:grpSpPr>
        <p:sp>
          <p:nvSpPr>
            <p:cNvPr id="3" name="矩形 2"/>
            <p:cNvSpPr/>
            <p:nvPr/>
          </p:nvSpPr>
          <p:spPr bwMode="auto">
            <a:xfrm>
              <a:off x="1115776" y="990020"/>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a:t>
              </a:r>
              <a:r>
                <a:rPr lang="en-US" altLang="zh-CN" dirty="0">
                  <a:solidFill>
                    <a:srgbClr val="0066FF"/>
                  </a:solidFill>
                  <a:latin typeface="Verdana" panose="020B0604030504040204" pitchFamily="34" charset="0"/>
                  <a:ea typeface="宋体" panose="02010600030101010101" pitchFamily="2" charset="-122"/>
                </a:rPr>
                <a:t>PCI</a:t>
              </a:r>
              <a:endParaRPr lang="zh-CN" altLang="en-US" dirty="0">
                <a:solidFill>
                  <a:srgbClr val="0066FF"/>
                </a:solidFill>
                <a:latin typeface="Verdana" panose="020B0604030504040204" pitchFamily="34" charset="0"/>
                <a:ea typeface="宋体" panose="02010600030101010101" pitchFamily="2" charset="-122"/>
              </a:endParaRPr>
            </a:p>
          </p:txBody>
        </p:sp>
        <p:sp>
          <p:nvSpPr>
            <p:cNvPr id="7" name="矩形 6"/>
            <p:cNvSpPr/>
            <p:nvPr/>
          </p:nvSpPr>
          <p:spPr bwMode="auto">
            <a:xfrm>
              <a:off x="2987984" y="980728"/>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(n)SDU</a:t>
              </a:r>
              <a:endParaRPr lang="zh-CN" altLang="en-US" dirty="0">
                <a:solidFill>
                  <a:srgbClr val="0066FF"/>
                </a:solidFill>
                <a:latin typeface="Verdana" panose="020B0604030504040204" pitchFamily="34" charset="0"/>
                <a:ea typeface="宋体" panose="02010600030101010101" pitchFamily="2" charset="-122"/>
              </a:endParaRPr>
            </a:p>
          </p:txBody>
        </p:sp>
        <p:sp>
          <p:nvSpPr>
            <p:cNvPr id="9" name="矩形 8"/>
            <p:cNvSpPr/>
            <p:nvPr/>
          </p:nvSpPr>
          <p:spPr bwMode="auto">
            <a:xfrm>
              <a:off x="3996096" y="1998132"/>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(n-1)ICI</a:t>
              </a:r>
              <a:endParaRPr lang="zh-CN" altLang="en-US" dirty="0">
                <a:solidFill>
                  <a:srgbClr val="0066FF"/>
                </a:solidFill>
                <a:latin typeface="Verdana" panose="020B0604030504040204" pitchFamily="34" charset="0"/>
                <a:ea typeface="宋体" panose="02010600030101010101" pitchFamily="2" charset="-122"/>
              </a:endParaRPr>
            </a:p>
          </p:txBody>
        </p:sp>
        <p:sp>
          <p:nvSpPr>
            <p:cNvPr id="10" name="矩形 9"/>
            <p:cNvSpPr/>
            <p:nvPr/>
          </p:nvSpPr>
          <p:spPr bwMode="auto">
            <a:xfrm>
              <a:off x="3060152" y="3019892"/>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(n-1)IDU</a:t>
              </a:r>
              <a:endParaRPr lang="zh-CN" altLang="en-US" dirty="0">
                <a:solidFill>
                  <a:srgbClr val="0066FF"/>
                </a:solidFill>
                <a:latin typeface="Verdana" panose="020B0604030504040204" pitchFamily="34" charset="0"/>
                <a:ea typeface="宋体" panose="02010600030101010101" pitchFamily="2" charset="-122"/>
              </a:endParaRPr>
            </a:p>
          </p:txBody>
        </p:sp>
        <p:sp>
          <p:nvSpPr>
            <p:cNvPr id="11" name="矩形 10"/>
            <p:cNvSpPr/>
            <p:nvPr/>
          </p:nvSpPr>
          <p:spPr bwMode="auto">
            <a:xfrm>
              <a:off x="2051880" y="3969644"/>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(n-1)SDU</a:t>
              </a:r>
              <a:endParaRPr lang="zh-CN" altLang="en-US" dirty="0">
                <a:solidFill>
                  <a:srgbClr val="0066FF"/>
                </a:solidFill>
                <a:latin typeface="Verdana" panose="020B0604030504040204" pitchFamily="34" charset="0"/>
                <a:ea typeface="宋体" panose="02010600030101010101" pitchFamily="2" charset="-122"/>
              </a:endParaRPr>
            </a:p>
          </p:txBody>
        </p:sp>
        <p:sp>
          <p:nvSpPr>
            <p:cNvPr id="12" name="矩形 11"/>
            <p:cNvSpPr/>
            <p:nvPr/>
          </p:nvSpPr>
          <p:spPr bwMode="auto">
            <a:xfrm>
              <a:off x="3996096" y="3969644"/>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(n-1)ICI</a:t>
              </a:r>
              <a:endParaRPr lang="zh-CN" altLang="en-US" dirty="0">
                <a:solidFill>
                  <a:srgbClr val="0066FF"/>
                </a:solidFill>
                <a:latin typeface="Verdana" panose="020B0604030504040204" pitchFamily="34" charset="0"/>
                <a:ea typeface="宋体" panose="02010600030101010101" pitchFamily="2" charset="-122"/>
              </a:endParaRPr>
            </a:p>
          </p:txBody>
        </p:sp>
        <p:sp>
          <p:nvSpPr>
            <p:cNvPr id="13" name="矩形 12"/>
            <p:cNvSpPr/>
            <p:nvPr/>
          </p:nvSpPr>
          <p:spPr bwMode="auto">
            <a:xfrm>
              <a:off x="107664" y="3969644"/>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(n-1)PCI</a:t>
              </a:r>
              <a:endParaRPr lang="zh-CN" altLang="en-US" dirty="0">
                <a:solidFill>
                  <a:srgbClr val="0066FF"/>
                </a:solidFill>
                <a:latin typeface="Verdana" panose="020B0604030504040204" pitchFamily="34" charset="0"/>
                <a:ea typeface="宋体" panose="02010600030101010101" pitchFamily="2" charset="-122"/>
              </a:endParaRPr>
            </a:p>
          </p:txBody>
        </p:sp>
        <p:sp>
          <p:nvSpPr>
            <p:cNvPr id="15" name="矩形 14"/>
            <p:cNvSpPr/>
            <p:nvPr/>
          </p:nvSpPr>
          <p:spPr bwMode="auto">
            <a:xfrm>
              <a:off x="1115616" y="4941168"/>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(n-1)PDU</a:t>
              </a:r>
              <a:endParaRPr lang="zh-CN" altLang="en-US" dirty="0">
                <a:solidFill>
                  <a:srgbClr val="0066FF"/>
                </a:solidFill>
                <a:latin typeface="Verdana" panose="020B0604030504040204" pitchFamily="34" charset="0"/>
                <a:ea typeface="宋体" panose="02010600030101010101" pitchFamily="2" charset="-122"/>
              </a:endParaRPr>
            </a:p>
          </p:txBody>
        </p:sp>
        <p:cxnSp>
          <p:nvCxnSpPr>
            <p:cNvPr id="5" name="直接连接符 4"/>
            <p:cNvCxnSpPr/>
            <p:nvPr/>
          </p:nvCxnSpPr>
          <p:spPr bwMode="auto">
            <a:xfrm flipV="1">
              <a:off x="35856" y="3204558"/>
              <a:ext cx="3024000" cy="0"/>
            </a:xfrm>
            <a:prstGeom prst="line">
              <a:avLst/>
            </a:prstGeom>
            <a:solidFill>
              <a:srgbClr val="0FDBA6"/>
            </a:solidFill>
            <a:ln w="9525" cap="flat" cmpd="sng" algn="ctr">
              <a:solidFill>
                <a:srgbClr val="00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p:cNvSpPr txBox="1"/>
            <p:nvPr/>
          </p:nvSpPr>
          <p:spPr>
            <a:xfrm>
              <a:off x="107664" y="2650560"/>
              <a:ext cx="1295983" cy="410271"/>
            </a:xfrm>
            <a:prstGeom prst="rect">
              <a:avLst/>
            </a:prstGeom>
            <a:noFill/>
          </p:spPr>
          <p:txBody>
            <a:bodyPr wrap="square" rtlCol="0">
              <a:spAutoFit/>
            </a:bodyPr>
            <a:lstStyle/>
            <a:p>
              <a:r>
                <a:rPr lang="en-US" altLang="zh-CN" dirty="0">
                  <a:solidFill>
                    <a:srgbClr val="0066FF"/>
                  </a:solidFill>
                </a:rPr>
                <a:t>(n</a:t>
              </a:r>
              <a:r>
                <a:rPr lang="zh-CN" altLang="en-US" dirty="0">
                  <a:solidFill>
                    <a:srgbClr val="0066FF"/>
                  </a:solidFill>
                </a:rPr>
                <a:t>层</a:t>
              </a:r>
              <a:r>
                <a:rPr lang="en-US" altLang="zh-CN" dirty="0">
                  <a:solidFill>
                    <a:srgbClr val="0066FF"/>
                  </a:solidFill>
                </a:rPr>
                <a:t>)</a:t>
              </a:r>
              <a:endParaRPr lang="zh-CN" altLang="en-US" dirty="0">
                <a:solidFill>
                  <a:srgbClr val="0066FF"/>
                </a:solidFill>
              </a:endParaRPr>
            </a:p>
          </p:txBody>
        </p:sp>
        <p:sp>
          <p:nvSpPr>
            <p:cNvPr id="16" name="矩形 15"/>
            <p:cNvSpPr/>
            <p:nvPr/>
          </p:nvSpPr>
          <p:spPr>
            <a:xfrm>
              <a:off x="107504" y="3257982"/>
              <a:ext cx="1023179" cy="410271"/>
            </a:xfrm>
            <a:prstGeom prst="rect">
              <a:avLst/>
            </a:prstGeom>
          </p:spPr>
          <p:txBody>
            <a:bodyPr wrap="none">
              <a:spAutoFit/>
            </a:bodyPr>
            <a:lstStyle/>
            <a:p>
              <a:r>
                <a:rPr lang="en-US" altLang="zh-CN" dirty="0">
                  <a:solidFill>
                    <a:srgbClr val="0066FF"/>
                  </a:solidFill>
                </a:rPr>
                <a:t>(n-1</a:t>
              </a:r>
              <a:r>
                <a:rPr lang="zh-CN" altLang="en-US" dirty="0">
                  <a:solidFill>
                    <a:srgbClr val="0066FF"/>
                  </a:solidFill>
                </a:rPr>
                <a:t>层</a:t>
              </a:r>
              <a:r>
                <a:rPr lang="en-US" altLang="zh-CN" dirty="0">
                  <a:solidFill>
                    <a:srgbClr val="0066FF"/>
                  </a:solidFill>
                </a:rPr>
                <a:t>)</a:t>
              </a:r>
              <a:endParaRPr lang="zh-CN" altLang="en-US" dirty="0"/>
            </a:p>
          </p:txBody>
        </p:sp>
        <p:cxnSp>
          <p:nvCxnSpPr>
            <p:cNvPr id="18" name="直接箭头连接符 17"/>
            <p:cNvCxnSpPr/>
            <p:nvPr/>
          </p:nvCxnSpPr>
          <p:spPr bwMode="auto">
            <a:xfrm>
              <a:off x="1763688" y="1422020"/>
              <a:ext cx="936104" cy="57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箭头连接符 21"/>
            <p:cNvCxnSpPr>
              <a:endCxn id="8" idx="0"/>
            </p:cNvCxnSpPr>
            <p:nvPr/>
          </p:nvCxnSpPr>
          <p:spPr bwMode="auto">
            <a:xfrm flipH="1">
              <a:off x="2771880" y="1422090"/>
              <a:ext cx="792168" cy="57604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箭头连接符 23"/>
            <p:cNvCxnSpPr/>
            <p:nvPr/>
          </p:nvCxnSpPr>
          <p:spPr bwMode="auto">
            <a:xfrm>
              <a:off x="2771800" y="2434536"/>
              <a:ext cx="936104" cy="57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箭头连接符 24"/>
            <p:cNvCxnSpPr/>
            <p:nvPr/>
          </p:nvCxnSpPr>
          <p:spPr bwMode="auto">
            <a:xfrm flipH="1">
              <a:off x="3779832" y="2434558"/>
              <a:ext cx="792168" cy="57604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bwMode="auto">
            <a:xfrm>
              <a:off x="2051880" y="1998132"/>
              <a:ext cx="1440000" cy="410271"/>
            </a:xfrm>
            <a:prstGeom prst="rect">
              <a:avLst/>
            </a:prstGeom>
            <a:noFill/>
            <a:ln>
              <a:solidFill>
                <a:srgbClr val="0066FF"/>
              </a:solidFill>
            </a:ln>
            <a:effec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US" altLang="zh-CN" dirty="0">
                  <a:solidFill>
                    <a:srgbClr val="0066FF"/>
                  </a:solidFill>
                </a:rPr>
                <a:t>(n)PDU</a:t>
              </a:r>
              <a:endParaRPr lang="zh-CN" altLang="en-US" dirty="0">
                <a:solidFill>
                  <a:srgbClr val="0066FF"/>
                </a:solidFill>
                <a:latin typeface="Verdana" panose="020B0604030504040204" pitchFamily="34" charset="0"/>
                <a:ea typeface="宋体" panose="02010600030101010101" pitchFamily="2" charset="-122"/>
              </a:endParaRPr>
            </a:p>
          </p:txBody>
        </p:sp>
        <p:cxnSp>
          <p:nvCxnSpPr>
            <p:cNvPr id="26" name="直接箭头连接符 25"/>
            <p:cNvCxnSpPr/>
            <p:nvPr/>
          </p:nvCxnSpPr>
          <p:spPr bwMode="auto">
            <a:xfrm>
              <a:off x="3851920" y="3384240"/>
              <a:ext cx="936104" cy="57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箭头连接符 26"/>
            <p:cNvCxnSpPr/>
            <p:nvPr/>
          </p:nvCxnSpPr>
          <p:spPr bwMode="auto">
            <a:xfrm flipH="1">
              <a:off x="2843808" y="3384310"/>
              <a:ext cx="792168" cy="57604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箭头连接符 27"/>
            <p:cNvCxnSpPr/>
            <p:nvPr/>
          </p:nvCxnSpPr>
          <p:spPr bwMode="auto">
            <a:xfrm>
              <a:off x="827584" y="4351408"/>
              <a:ext cx="936104" cy="57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箭头连接符 28"/>
            <p:cNvCxnSpPr/>
            <p:nvPr/>
          </p:nvCxnSpPr>
          <p:spPr bwMode="auto">
            <a:xfrm flipH="1">
              <a:off x="1979712" y="4334040"/>
              <a:ext cx="792168" cy="57604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4" name="组合 53"/>
          <p:cNvGrpSpPr/>
          <p:nvPr/>
        </p:nvGrpSpPr>
        <p:grpSpPr>
          <a:xfrm>
            <a:off x="6479294" y="404665"/>
            <a:ext cx="4153211" cy="5756865"/>
            <a:chOff x="4955293" y="44624"/>
            <a:chExt cx="4153211" cy="5756865"/>
          </a:xfrm>
        </p:grpSpPr>
        <p:pic>
          <p:nvPicPr>
            <p:cNvPr id="30" name="图片 29"/>
            <p:cNvPicPr>
              <a:picLocks noChangeAspect="1"/>
            </p:cNvPicPr>
            <p:nvPr/>
          </p:nvPicPr>
          <p:blipFill>
            <a:blip r:embed="rId2"/>
            <a:stretch>
              <a:fillRect/>
            </a:stretch>
          </p:blipFill>
          <p:spPr>
            <a:xfrm>
              <a:off x="5688314" y="67558"/>
              <a:ext cx="648000" cy="360000"/>
            </a:xfrm>
            <a:prstGeom prst="rect">
              <a:avLst/>
            </a:prstGeom>
          </p:spPr>
        </p:pic>
        <p:pic>
          <p:nvPicPr>
            <p:cNvPr id="31" name="图片 30"/>
            <p:cNvPicPr>
              <a:picLocks noChangeAspect="1"/>
            </p:cNvPicPr>
            <p:nvPr/>
          </p:nvPicPr>
          <p:blipFill>
            <a:blip r:embed="rId3"/>
            <a:stretch>
              <a:fillRect/>
            </a:stretch>
          </p:blipFill>
          <p:spPr>
            <a:xfrm>
              <a:off x="7179314" y="44624"/>
              <a:ext cx="460800" cy="576000"/>
            </a:xfrm>
            <a:prstGeom prst="rect">
              <a:avLst/>
            </a:prstGeom>
          </p:spPr>
        </p:pic>
        <p:pic>
          <p:nvPicPr>
            <p:cNvPr id="32" name="图片 31"/>
            <p:cNvPicPr>
              <a:picLocks noChangeAspect="1"/>
            </p:cNvPicPr>
            <p:nvPr/>
          </p:nvPicPr>
          <p:blipFill>
            <a:blip r:embed="rId4"/>
            <a:stretch>
              <a:fillRect/>
            </a:stretch>
          </p:blipFill>
          <p:spPr>
            <a:xfrm>
              <a:off x="6244640" y="1399709"/>
              <a:ext cx="914898" cy="396000"/>
            </a:xfrm>
            <a:prstGeom prst="rect">
              <a:avLst/>
            </a:prstGeom>
          </p:spPr>
        </p:pic>
        <p:pic>
          <p:nvPicPr>
            <p:cNvPr id="33" name="图片 32"/>
            <p:cNvPicPr>
              <a:picLocks noChangeAspect="1"/>
            </p:cNvPicPr>
            <p:nvPr/>
          </p:nvPicPr>
          <p:blipFill>
            <a:blip r:embed="rId5"/>
            <a:stretch>
              <a:fillRect/>
            </a:stretch>
          </p:blipFill>
          <p:spPr>
            <a:xfrm>
              <a:off x="7768764" y="1103546"/>
              <a:ext cx="757059" cy="468000"/>
            </a:xfrm>
            <a:prstGeom prst="rect">
              <a:avLst/>
            </a:prstGeom>
          </p:spPr>
        </p:pic>
        <p:pic>
          <p:nvPicPr>
            <p:cNvPr id="34" name="图片 33"/>
            <p:cNvPicPr>
              <a:picLocks noChangeAspect="1"/>
            </p:cNvPicPr>
            <p:nvPr/>
          </p:nvPicPr>
          <p:blipFill>
            <a:blip r:embed="rId6"/>
            <a:stretch>
              <a:fillRect/>
            </a:stretch>
          </p:blipFill>
          <p:spPr>
            <a:xfrm>
              <a:off x="7248760" y="2541957"/>
              <a:ext cx="557999" cy="504000"/>
            </a:xfrm>
            <a:prstGeom prst="rect">
              <a:avLst/>
            </a:prstGeom>
          </p:spPr>
        </p:pic>
        <p:pic>
          <p:nvPicPr>
            <p:cNvPr id="35" name="图片 34"/>
            <p:cNvPicPr>
              <a:picLocks noChangeAspect="1"/>
            </p:cNvPicPr>
            <p:nvPr/>
          </p:nvPicPr>
          <p:blipFill>
            <a:blip r:embed="rId7"/>
            <a:stretch>
              <a:fillRect/>
            </a:stretch>
          </p:blipFill>
          <p:spPr>
            <a:xfrm>
              <a:off x="5000564" y="3847981"/>
              <a:ext cx="1047790" cy="504000"/>
            </a:xfrm>
            <a:prstGeom prst="rect">
              <a:avLst/>
            </a:prstGeom>
          </p:spPr>
        </p:pic>
        <p:pic>
          <p:nvPicPr>
            <p:cNvPr id="36" name="图片 35"/>
            <p:cNvPicPr>
              <a:picLocks noChangeAspect="1"/>
            </p:cNvPicPr>
            <p:nvPr/>
          </p:nvPicPr>
          <p:blipFill>
            <a:blip r:embed="rId8"/>
            <a:stretch>
              <a:fillRect/>
            </a:stretch>
          </p:blipFill>
          <p:spPr>
            <a:xfrm>
              <a:off x="5616306" y="5000109"/>
              <a:ext cx="1052308" cy="540000"/>
            </a:xfrm>
            <a:prstGeom prst="rect">
              <a:avLst/>
            </a:prstGeom>
          </p:spPr>
        </p:pic>
        <p:sp>
          <p:nvSpPr>
            <p:cNvPr id="38" name="文本框 37"/>
            <p:cNvSpPr txBox="1"/>
            <p:nvPr/>
          </p:nvSpPr>
          <p:spPr>
            <a:xfrm>
              <a:off x="5400282" y="310878"/>
              <a:ext cx="1261884" cy="584775"/>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信封</a:t>
              </a:r>
              <a:endParaRPr lang="en-US" altLang="zh-CN" sz="1400" dirty="0">
                <a:solidFill>
                  <a:srgbClr val="0066FF"/>
                </a:solidFill>
              </a:endParaRPr>
            </a:p>
            <a:p>
              <a:pPr algn="ctr"/>
              <a:r>
                <a:rPr lang="zh-CN" altLang="en-US" sz="1400" dirty="0">
                  <a:solidFill>
                    <a:srgbClr val="0066FF"/>
                  </a:solidFill>
                </a:rPr>
                <a:t>（地址信息）</a:t>
              </a:r>
            </a:p>
          </p:txBody>
        </p:sp>
        <p:sp>
          <p:nvSpPr>
            <p:cNvPr id="42" name="文本框 41"/>
            <p:cNvSpPr txBox="1"/>
            <p:nvPr/>
          </p:nvSpPr>
          <p:spPr>
            <a:xfrm>
              <a:off x="6984458" y="526321"/>
              <a:ext cx="625492" cy="369332"/>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信纸</a:t>
              </a:r>
              <a:endParaRPr lang="en-US" altLang="zh-CN" sz="1400" dirty="0">
                <a:solidFill>
                  <a:srgbClr val="0066FF"/>
                </a:solidFill>
              </a:endParaRPr>
            </a:p>
          </p:txBody>
        </p:sp>
        <p:sp>
          <p:nvSpPr>
            <p:cNvPr id="43" name="文本框 42"/>
            <p:cNvSpPr txBox="1"/>
            <p:nvPr/>
          </p:nvSpPr>
          <p:spPr>
            <a:xfrm>
              <a:off x="6383707" y="1669794"/>
              <a:ext cx="625492" cy="369332"/>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信件</a:t>
              </a:r>
              <a:endParaRPr lang="en-US" altLang="zh-CN" sz="1400" dirty="0">
                <a:solidFill>
                  <a:srgbClr val="0066FF"/>
                </a:solidFill>
              </a:endParaRPr>
            </a:p>
          </p:txBody>
        </p:sp>
        <p:sp>
          <p:nvSpPr>
            <p:cNvPr id="44" name="文本框 43"/>
            <p:cNvSpPr txBox="1"/>
            <p:nvPr/>
          </p:nvSpPr>
          <p:spPr>
            <a:xfrm>
              <a:off x="7128474" y="1463586"/>
              <a:ext cx="1980030" cy="800219"/>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邮件处理单</a:t>
              </a:r>
              <a:endParaRPr lang="en-US" altLang="zh-CN" sz="1400" dirty="0">
                <a:solidFill>
                  <a:srgbClr val="0066FF"/>
                </a:solidFill>
              </a:endParaRPr>
            </a:p>
            <a:p>
              <a:pPr algn="ctr"/>
              <a:r>
                <a:rPr lang="zh-CN" altLang="en-US" sz="1400" dirty="0">
                  <a:solidFill>
                    <a:srgbClr val="0066FF"/>
                  </a:solidFill>
                </a:rPr>
                <a:t>（包括处理人等信息）</a:t>
              </a:r>
              <a:endParaRPr lang="en-US" altLang="zh-CN" sz="1400" dirty="0">
                <a:solidFill>
                  <a:srgbClr val="0066FF"/>
                </a:solidFill>
              </a:endParaRPr>
            </a:p>
            <a:p>
              <a:pPr algn="ctr"/>
              <a:endParaRPr lang="en-US" altLang="zh-CN" sz="1400" dirty="0">
                <a:solidFill>
                  <a:srgbClr val="0066FF"/>
                </a:solidFill>
              </a:endParaRPr>
            </a:p>
          </p:txBody>
        </p:sp>
        <p:sp>
          <p:nvSpPr>
            <p:cNvPr id="45" name="文本框 44"/>
            <p:cNvSpPr txBox="1"/>
            <p:nvPr/>
          </p:nvSpPr>
          <p:spPr>
            <a:xfrm>
              <a:off x="6764666" y="2972988"/>
              <a:ext cx="1343638" cy="369332"/>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邮件处理任务</a:t>
              </a:r>
              <a:endParaRPr lang="en-US" altLang="zh-CN" sz="1400" dirty="0">
                <a:solidFill>
                  <a:srgbClr val="0066FF"/>
                </a:solidFill>
              </a:endParaRPr>
            </a:p>
          </p:txBody>
        </p:sp>
        <p:pic>
          <p:nvPicPr>
            <p:cNvPr id="47" name="图片 46"/>
            <p:cNvPicPr>
              <a:picLocks noChangeAspect="1"/>
            </p:cNvPicPr>
            <p:nvPr/>
          </p:nvPicPr>
          <p:blipFill>
            <a:blip r:embed="rId4"/>
            <a:stretch>
              <a:fillRect/>
            </a:stretch>
          </p:blipFill>
          <p:spPr>
            <a:xfrm>
              <a:off x="6350975" y="3856636"/>
              <a:ext cx="914898" cy="396000"/>
            </a:xfrm>
            <a:prstGeom prst="rect">
              <a:avLst/>
            </a:prstGeom>
          </p:spPr>
        </p:pic>
        <p:pic>
          <p:nvPicPr>
            <p:cNvPr id="48" name="图片 47"/>
            <p:cNvPicPr>
              <a:picLocks noChangeAspect="1"/>
            </p:cNvPicPr>
            <p:nvPr/>
          </p:nvPicPr>
          <p:blipFill>
            <a:blip r:embed="rId5"/>
            <a:stretch>
              <a:fillRect/>
            </a:stretch>
          </p:blipFill>
          <p:spPr>
            <a:xfrm>
              <a:off x="7768764" y="3847981"/>
              <a:ext cx="757059" cy="468000"/>
            </a:xfrm>
            <a:prstGeom prst="rect">
              <a:avLst/>
            </a:prstGeom>
          </p:spPr>
        </p:pic>
        <p:sp>
          <p:nvSpPr>
            <p:cNvPr id="49" name="文本框 48"/>
            <p:cNvSpPr txBox="1"/>
            <p:nvPr/>
          </p:nvSpPr>
          <p:spPr>
            <a:xfrm>
              <a:off x="6490042" y="4126721"/>
              <a:ext cx="625492" cy="369332"/>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信件</a:t>
              </a:r>
              <a:endParaRPr lang="en-US" altLang="zh-CN" sz="1400" dirty="0">
                <a:solidFill>
                  <a:srgbClr val="0066FF"/>
                </a:solidFill>
              </a:endParaRPr>
            </a:p>
          </p:txBody>
        </p:sp>
        <p:sp>
          <p:nvSpPr>
            <p:cNvPr id="50" name="文本框 49"/>
            <p:cNvSpPr txBox="1"/>
            <p:nvPr/>
          </p:nvSpPr>
          <p:spPr>
            <a:xfrm>
              <a:off x="7128474" y="4208021"/>
              <a:ext cx="1980030" cy="800219"/>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邮件处理单</a:t>
              </a:r>
              <a:endParaRPr lang="en-US" altLang="zh-CN" sz="1400" dirty="0">
                <a:solidFill>
                  <a:srgbClr val="0066FF"/>
                </a:solidFill>
              </a:endParaRPr>
            </a:p>
            <a:p>
              <a:pPr algn="ctr"/>
              <a:r>
                <a:rPr lang="zh-CN" altLang="en-US" sz="1400" dirty="0">
                  <a:solidFill>
                    <a:srgbClr val="0066FF"/>
                  </a:solidFill>
                </a:rPr>
                <a:t>（包括处理人等信息）</a:t>
              </a:r>
              <a:endParaRPr lang="en-US" altLang="zh-CN" sz="1400" dirty="0">
                <a:solidFill>
                  <a:srgbClr val="0066FF"/>
                </a:solidFill>
              </a:endParaRPr>
            </a:p>
            <a:p>
              <a:pPr algn="ctr"/>
              <a:endParaRPr lang="en-US" altLang="zh-CN" sz="1400" dirty="0">
                <a:solidFill>
                  <a:srgbClr val="0066FF"/>
                </a:solidFill>
              </a:endParaRPr>
            </a:p>
          </p:txBody>
        </p:sp>
        <p:sp>
          <p:nvSpPr>
            <p:cNvPr id="51" name="文本框 50"/>
            <p:cNvSpPr txBox="1"/>
            <p:nvPr/>
          </p:nvSpPr>
          <p:spPr>
            <a:xfrm>
              <a:off x="4955293" y="4185081"/>
              <a:ext cx="984564" cy="369332"/>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邮政编码</a:t>
              </a:r>
              <a:endParaRPr lang="en-US" altLang="zh-CN" sz="1400" dirty="0">
                <a:solidFill>
                  <a:srgbClr val="0066FF"/>
                </a:solidFill>
              </a:endParaRPr>
            </a:p>
          </p:txBody>
        </p:sp>
        <p:sp>
          <p:nvSpPr>
            <p:cNvPr id="52" name="文本框 51"/>
            <p:cNvSpPr txBox="1"/>
            <p:nvPr/>
          </p:nvSpPr>
          <p:spPr>
            <a:xfrm>
              <a:off x="5633221" y="5432157"/>
              <a:ext cx="984564" cy="369332"/>
            </a:xfrm>
            <a:prstGeom prst="rect">
              <a:avLst/>
            </a:prstGeom>
            <a:noFill/>
          </p:spPr>
          <p:txBody>
            <a:bodyPr wrap="none" rtlCol="0">
              <a:spAutoFit/>
            </a:bodyPr>
            <a:lstStyle/>
            <a:p>
              <a:pPr algn="ctr"/>
              <a:r>
                <a:rPr lang="en-US" altLang="zh-CN" dirty="0">
                  <a:solidFill>
                    <a:srgbClr val="0066FF"/>
                  </a:solidFill>
                </a:rPr>
                <a:t> </a:t>
              </a:r>
              <a:r>
                <a:rPr lang="zh-CN" altLang="en-US" sz="1400" dirty="0">
                  <a:solidFill>
                    <a:srgbClr val="0066FF"/>
                  </a:solidFill>
                </a:rPr>
                <a:t>邮件包裹</a:t>
              </a:r>
              <a:endParaRPr lang="en-US" altLang="zh-CN" sz="1400" dirty="0">
                <a:solidFill>
                  <a:srgbClr val="0066FF"/>
                </a:solidFill>
              </a:endParaRPr>
            </a:p>
          </p:txBody>
        </p:sp>
        <p:cxnSp>
          <p:nvCxnSpPr>
            <p:cNvPr id="53" name="直接箭头连接符 52"/>
            <p:cNvCxnSpPr/>
            <p:nvPr/>
          </p:nvCxnSpPr>
          <p:spPr bwMode="auto">
            <a:xfrm>
              <a:off x="6031224" y="858589"/>
              <a:ext cx="630942" cy="46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箭头连接符 54"/>
            <p:cNvCxnSpPr/>
            <p:nvPr/>
          </p:nvCxnSpPr>
          <p:spPr bwMode="auto">
            <a:xfrm flipH="1">
              <a:off x="6716191" y="864117"/>
              <a:ext cx="630000" cy="468000"/>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箭头连接符 57"/>
            <p:cNvCxnSpPr/>
            <p:nvPr/>
          </p:nvCxnSpPr>
          <p:spPr bwMode="auto">
            <a:xfrm>
              <a:off x="6840442" y="2006301"/>
              <a:ext cx="630942" cy="46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箭头连接符 58"/>
            <p:cNvCxnSpPr/>
            <p:nvPr/>
          </p:nvCxnSpPr>
          <p:spPr bwMode="auto">
            <a:xfrm flipH="1">
              <a:off x="7525409" y="2011829"/>
              <a:ext cx="630000" cy="468000"/>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箭头连接符 59"/>
            <p:cNvCxnSpPr/>
            <p:nvPr/>
          </p:nvCxnSpPr>
          <p:spPr bwMode="auto">
            <a:xfrm>
              <a:off x="7541699" y="3302445"/>
              <a:ext cx="630942" cy="46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箭头连接符 60"/>
            <p:cNvCxnSpPr/>
            <p:nvPr/>
          </p:nvCxnSpPr>
          <p:spPr bwMode="auto">
            <a:xfrm flipH="1">
              <a:off x="6840442" y="3307973"/>
              <a:ext cx="630000" cy="468000"/>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箭头连接符 61"/>
            <p:cNvCxnSpPr/>
            <p:nvPr/>
          </p:nvCxnSpPr>
          <p:spPr bwMode="auto">
            <a:xfrm>
              <a:off x="5472290" y="4496053"/>
              <a:ext cx="630942" cy="466112"/>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箭头连接符 62"/>
            <p:cNvCxnSpPr/>
            <p:nvPr/>
          </p:nvCxnSpPr>
          <p:spPr bwMode="auto">
            <a:xfrm flipH="1">
              <a:off x="6157257" y="4501581"/>
              <a:ext cx="630000" cy="468000"/>
            </a:xfrm>
            <a:prstGeom prst="straightConnector1">
              <a:avLst/>
            </a:prstGeom>
            <a:solidFill>
              <a:srgbClr val="0FDBA6"/>
            </a:solidFill>
            <a:ln w="9525" cap="flat" cmpd="sng" algn="ctr">
              <a:solidFill>
                <a:srgbClr val="0066FF"/>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63"/>
            <p:cNvCxnSpPr/>
            <p:nvPr/>
          </p:nvCxnSpPr>
          <p:spPr bwMode="auto">
            <a:xfrm flipV="1">
              <a:off x="5436096" y="2775589"/>
              <a:ext cx="1800000" cy="0"/>
            </a:xfrm>
            <a:prstGeom prst="line">
              <a:avLst/>
            </a:prstGeom>
            <a:solidFill>
              <a:srgbClr val="0FDBA6"/>
            </a:solidFill>
            <a:ln w="9525" cap="flat" cmpd="sng" algn="ctr">
              <a:solidFill>
                <a:srgbClr val="0066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文本框 64"/>
            <p:cNvSpPr txBox="1"/>
            <p:nvPr/>
          </p:nvSpPr>
          <p:spPr>
            <a:xfrm>
              <a:off x="5286472" y="2376442"/>
              <a:ext cx="1157736" cy="369332"/>
            </a:xfrm>
            <a:prstGeom prst="rect">
              <a:avLst/>
            </a:prstGeom>
            <a:noFill/>
          </p:spPr>
          <p:txBody>
            <a:bodyPr wrap="square" rtlCol="0">
              <a:spAutoFit/>
            </a:bodyPr>
            <a:lstStyle/>
            <a:p>
              <a:r>
                <a:rPr lang="zh-CN" altLang="en-US" dirty="0">
                  <a:solidFill>
                    <a:srgbClr val="0066FF"/>
                  </a:solidFill>
                </a:rPr>
                <a:t>人的层次</a:t>
              </a:r>
            </a:p>
          </p:txBody>
        </p:sp>
        <p:sp>
          <p:nvSpPr>
            <p:cNvPr id="66" name="矩形 65"/>
            <p:cNvSpPr/>
            <p:nvPr/>
          </p:nvSpPr>
          <p:spPr>
            <a:xfrm>
              <a:off x="5321404" y="2823682"/>
              <a:ext cx="1338828" cy="369332"/>
            </a:xfrm>
            <a:prstGeom prst="rect">
              <a:avLst/>
            </a:prstGeom>
          </p:spPr>
          <p:txBody>
            <a:bodyPr wrap="none">
              <a:spAutoFit/>
            </a:bodyPr>
            <a:lstStyle/>
            <a:p>
              <a:r>
                <a:rPr lang="zh-CN" altLang="en-US" dirty="0">
                  <a:solidFill>
                    <a:srgbClr val="0066FF"/>
                  </a:solidFill>
                </a:rPr>
                <a:t>邮件的层次</a:t>
              </a:r>
            </a:p>
          </p:txBody>
        </p:sp>
      </p:grpSp>
      <p:sp>
        <p:nvSpPr>
          <p:cNvPr id="56" name="文本框 55"/>
          <p:cNvSpPr txBox="1"/>
          <p:nvPr/>
        </p:nvSpPr>
        <p:spPr>
          <a:xfrm>
            <a:off x="2910394" y="6165304"/>
            <a:ext cx="2701718" cy="523220"/>
          </a:xfrm>
          <a:prstGeom prst="rect">
            <a:avLst/>
          </a:prstGeom>
          <a:noFill/>
        </p:spPr>
        <p:txBody>
          <a:bodyPr wrap="square" rtlCol="0">
            <a:spAutoFit/>
          </a:bodyPr>
          <a:lstStyle/>
          <a:p>
            <a:pPr algn="ctr"/>
            <a:r>
              <a:rPr lang="zh-CN" altLang="en-US" sz="2800" b="1" dirty="0">
                <a:solidFill>
                  <a:srgbClr val="C00000"/>
                </a:solidFill>
              </a:rPr>
              <a:t>数据单元关系</a:t>
            </a:r>
          </a:p>
        </p:txBody>
      </p:sp>
      <p:sp>
        <p:nvSpPr>
          <p:cNvPr id="69" name="文本框 68"/>
          <p:cNvSpPr txBox="1"/>
          <p:nvPr/>
        </p:nvSpPr>
        <p:spPr>
          <a:xfrm>
            <a:off x="7032104" y="6165304"/>
            <a:ext cx="2701718" cy="523220"/>
          </a:xfrm>
          <a:prstGeom prst="rect">
            <a:avLst/>
          </a:prstGeom>
          <a:noFill/>
        </p:spPr>
        <p:txBody>
          <a:bodyPr wrap="square" rtlCol="0">
            <a:spAutoFit/>
          </a:bodyPr>
          <a:lstStyle/>
          <a:p>
            <a:pPr algn="ctr"/>
            <a:r>
              <a:rPr lang="zh-CN" altLang="en-US" sz="2800" b="1" dirty="0">
                <a:solidFill>
                  <a:srgbClr val="C00000"/>
                </a:solidFill>
              </a:rPr>
              <a:t>真实关系样例</a:t>
            </a:r>
          </a:p>
        </p:txBody>
      </p:sp>
      <p:pic>
        <p:nvPicPr>
          <p:cNvPr id="57" name="Picture 28" descr="015">
            <a:extLst>
              <a:ext uri="{FF2B5EF4-FFF2-40B4-BE49-F238E27FC236}">
                <a16:creationId xmlns:a16="http://schemas.microsoft.com/office/drawing/2014/main" id="{6BEA795D-E096-4A2F-AAFD-F302412FBC0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5948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1283667" y="357258"/>
            <a:ext cx="8001000" cy="892175"/>
          </a:xfrm>
        </p:spPr>
        <p:txBody>
          <a:bodyPr/>
          <a:lstStyle/>
          <a:p>
            <a:pPr eaLnBrk="1" hangingPunct="1"/>
            <a:r>
              <a:rPr lang="zh-CN" altLang="en-US" sz="3200" dirty="0"/>
              <a:t>最重要的数据单元（</a:t>
            </a:r>
            <a:r>
              <a:rPr lang="en-US" altLang="zh-CN" sz="3200" dirty="0"/>
              <a:t>DU</a:t>
            </a:r>
            <a:r>
              <a:rPr lang="zh-CN" altLang="en-US" sz="3200" dirty="0"/>
              <a:t>）</a:t>
            </a:r>
          </a:p>
        </p:txBody>
      </p:sp>
      <p:sp>
        <p:nvSpPr>
          <p:cNvPr id="130051" name="Rectangle 3"/>
          <p:cNvSpPr>
            <a:spLocks noGrp="1" noChangeArrowheads="1"/>
          </p:cNvSpPr>
          <p:nvPr>
            <p:ph type="body" idx="1"/>
          </p:nvPr>
        </p:nvSpPr>
        <p:spPr>
          <a:xfrm>
            <a:off x="1134579" y="1603582"/>
            <a:ext cx="9579803" cy="2940223"/>
          </a:xfrm>
        </p:spPr>
        <p:txBody>
          <a:bodyPr/>
          <a:lstStyle/>
          <a:p>
            <a:pPr eaLnBrk="1" hangingPunct="1"/>
            <a:r>
              <a:rPr lang="zh-CN" altLang="en-US" sz="2600" dirty="0"/>
              <a:t>服务数据单元</a:t>
            </a:r>
            <a:r>
              <a:rPr lang="en-US" altLang="zh-CN" sz="2600" dirty="0">
                <a:solidFill>
                  <a:srgbClr val="C00000"/>
                </a:solidFill>
              </a:rPr>
              <a:t>SDU</a:t>
            </a:r>
            <a:r>
              <a:rPr lang="zh-CN" altLang="en-US" sz="2600" dirty="0"/>
              <a:t>：为完成用户所要求的功能而应传送的数据。</a:t>
            </a:r>
            <a:endParaRPr lang="en-US" altLang="zh-CN" sz="2600" dirty="0"/>
          </a:p>
          <a:p>
            <a:pPr eaLnBrk="1" hangingPunct="1"/>
            <a:endParaRPr lang="zh-CN" altLang="en-US" sz="2600" dirty="0"/>
          </a:p>
          <a:p>
            <a:pPr eaLnBrk="1" hangingPunct="1"/>
            <a:r>
              <a:rPr lang="zh-CN" altLang="en-US" sz="2600" dirty="0"/>
              <a:t>协议控制信息</a:t>
            </a:r>
            <a:r>
              <a:rPr lang="en-US" altLang="zh-CN" sz="2600" dirty="0">
                <a:solidFill>
                  <a:srgbClr val="C00000"/>
                </a:solidFill>
              </a:rPr>
              <a:t>PCI</a:t>
            </a:r>
            <a:r>
              <a:rPr lang="zh-CN" altLang="en-US" sz="2600" dirty="0"/>
              <a:t>：控制协议操作的信息。</a:t>
            </a:r>
            <a:endParaRPr lang="en-US" altLang="zh-CN" sz="2600" dirty="0"/>
          </a:p>
          <a:p>
            <a:pPr eaLnBrk="1" hangingPunct="1"/>
            <a:endParaRPr lang="zh-CN" altLang="en-US" sz="2600" dirty="0"/>
          </a:p>
          <a:p>
            <a:pPr eaLnBrk="1" hangingPunct="1"/>
            <a:r>
              <a:rPr lang="zh-CN" altLang="en-US" sz="2600" dirty="0"/>
              <a:t>协议数据单元</a:t>
            </a:r>
            <a:r>
              <a:rPr lang="en-US" altLang="zh-CN" sz="2600" dirty="0">
                <a:solidFill>
                  <a:srgbClr val="C00000"/>
                </a:solidFill>
              </a:rPr>
              <a:t>PDU</a:t>
            </a:r>
            <a:r>
              <a:rPr lang="zh-CN" altLang="en-US" sz="2600" dirty="0"/>
              <a:t>：协议交换的数据单位。 </a:t>
            </a:r>
          </a:p>
        </p:txBody>
      </p:sp>
      <p:pic>
        <p:nvPicPr>
          <p:cNvPr id="4" name="Picture 28" descr="015">
            <a:extLst>
              <a:ext uri="{FF2B5EF4-FFF2-40B4-BE49-F238E27FC236}">
                <a16:creationId xmlns:a16="http://schemas.microsoft.com/office/drawing/2014/main" id="{E267F251-A15B-4FE5-90AE-BAA72C74B8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1837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303545" y="354429"/>
            <a:ext cx="8001000" cy="892175"/>
          </a:xfrm>
        </p:spPr>
        <p:txBody>
          <a:bodyPr/>
          <a:lstStyle/>
          <a:p>
            <a:pPr eaLnBrk="1" hangingPunct="1"/>
            <a:r>
              <a:rPr lang="zh-CN" altLang="en-US" sz="3200" dirty="0"/>
              <a:t>各层次的协议数据单元（</a:t>
            </a:r>
            <a:r>
              <a:rPr lang="en-US" altLang="zh-CN" sz="3200" dirty="0"/>
              <a:t>PDU</a:t>
            </a:r>
            <a:r>
              <a:rPr lang="zh-CN" altLang="en-US" sz="3200" dirty="0"/>
              <a:t>） </a:t>
            </a:r>
          </a:p>
        </p:txBody>
      </p:sp>
      <p:sp>
        <p:nvSpPr>
          <p:cNvPr id="132099" name="Rectangle 3"/>
          <p:cNvSpPr>
            <a:spLocks noGrp="1" noChangeArrowheads="1"/>
          </p:cNvSpPr>
          <p:nvPr>
            <p:ph type="body" idx="1"/>
          </p:nvPr>
        </p:nvSpPr>
        <p:spPr>
          <a:xfrm>
            <a:off x="646044" y="1441105"/>
            <a:ext cx="10704443" cy="5029200"/>
          </a:xfrm>
        </p:spPr>
        <p:txBody>
          <a:bodyPr/>
          <a:lstStyle/>
          <a:p>
            <a:pPr eaLnBrk="1" hangingPunct="1"/>
            <a:r>
              <a:rPr lang="zh-CN" altLang="en-US" dirty="0">
                <a:solidFill>
                  <a:srgbClr val="C00000"/>
                </a:solidFill>
              </a:rPr>
              <a:t>应用层</a:t>
            </a:r>
            <a:r>
              <a:rPr lang="zh-CN" altLang="en-US" dirty="0"/>
              <a:t>：用户数据，用户消息，</a:t>
            </a:r>
            <a:r>
              <a:rPr lang="zh-CN" altLang="en-US" dirty="0">
                <a:solidFill>
                  <a:srgbClr val="FF0000"/>
                </a:solidFill>
              </a:rPr>
              <a:t>报文</a:t>
            </a:r>
            <a:r>
              <a:rPr lang="zh-CN" altLang="en-US" dirty="0"/>
              <a:t>。</a:t>
            </a:r>
          </a:p>
          <a:p>
            <a:pPr eaLnBrk="1" hangingPunct="1"/>
            <a:r>
              <a:rPr lang="zh-CN" altLang="en-US" dirty="0">
                <a:solidFill>
                  <a:srgbClr val="C00000"/>
                </a:solidFill>
              </a:rPr>
              <a:t>传输层</a:t>
            </a:r>
            <a:r>
              <a:rPr lang="zh-CN" altLang="en-US" dirty="0"/>
              <a:t>：</a:t>
            </a:r>
            <a:r>
              <a:rPr lang="zh-CN" altLang="en-US" dirty="0">
                <a:solidFill>
                  <a:srgbClr val="FF0000"/>
                </a:solidFill>
              </a:rPr>
              <a:t>报文段</a:t>
            </a:r>
            <a:r>
              <a:rPr lang="zh-CN" altLang="en-US" dirty="0"/>
              <a:t>（</a:t>
            </a:r>
            <a:r>
              <a:rPr lang="en-US" altLang="zh-CN" dirty="0"/>
              <a:t>segment</a:t>
            </a:r>
            <a:r>
              <a:rPr lang="zh-CN" altLang="en-US" dirty="0"/>
              <a:t>），简称报文，一般不超过</a:t>
            </a:r>
            <a:r>
              <a:rPr lang="en-US" altLang="zh-CN" dirty="0"/>
              <a:t>64K</a:t>
            </a:r>
            <a:r>
              <a:rPr lang="zh-CN" altLang="en-US" dirty="0"/>
              <a:t>字节，当用户数据太长时，需要分成多个报文传送。</a:t>
            </a:r>
          </a:p>
          <a:p>
            <a:pPr eaLnBrk="1" hangingPunct="1"/>
            <a:r>
              <a:rPr lang="zh-CN" altLang="en-US" dirty="0">
                <a:solidFill>
                  <a:srgbClr val="C00000"/>
                </a:solidFill>
              </a:rPr>
              <a:t>网络层</a:t>
            </a:r>
            <a:r>
              <a:rPr lang="zh-CN" altLang="en-US" dirty="0"/>
              <a:t>：</a:t>
            </a:r>
            <a:r>
              <a:rPr lang="zh-CN" altLang="en-US" dirty="0">
                <a:solidFill>
                  <a:srgbClr val="FF0000"/>
                </a:solidFill>
              </a:rPr>
              <a:t>分组或包</a:t>
            </a:r>
            <a:r>
              <a:rPr lang="zh-CN" altLang="en-US" dirty="0"/>
              <a:t>（</a:t>
            </a:r>
            <a:r>
              <a:rPr lang="en-US" altLang="zh-CN" dirty="0"/>
              <a:t>packet</a:t>
            </a:r>
            <a:r>
              <a:rPr lang="zh-CN" altLang="en-US" dirty="0"/>
              <a:t>），长度较小。包在</a:t>
            </a:r>
            <a:r>
              <a:rPr lang="en-US" altLang="zh-CN" dirty="0"/>
              <a:t>IP</a:t>
            </a:r>
            <a:r>
              <a:rPr lang="zh-CN" altLang="en-US" dirty="0"/>
              <a:t>协议中也被称为数据报。</a:t>
            </a:r>
          </a:p>
          <a:p>
            <a:pPr eaLnBrk="1" hangingPunct="1"/>
            <a:r>
              <a:rPr lang="zh-CN" altLang="en-US" dirty="0">
                <a:solidFill>
                  <a:srgbClr val="C00000"/>
                </a:solidFill>
              </a:rPr>
              <a:t>数据链路层</a:t>
            </a:r>
            <a:r>
              <a:rPr lang="zh-CN" altLang="en-US" dirty="0"/>
              <a:t>：</a:t>
            </a:r>
            <a:r>
              <a:rPr lang="zh-CN" altLang="en-US" dirty="0">
                <a:solidFill>
                  <a:srgbClr val="FF0000"/>
                </a:solidFill>
              </a:rPr>
              <a:t>帧</a:t>
            </a:r>
            <a:r>
              <a:rPr lang="zh-CN" altLang="en-US" dirty="0"/>
              <a:t>（</a:t>
            </a:r>
            <a:r>
              <a:rPr lang="en-US" altLang="zh-CN" dirty="0"/>
              <a:t>frame</a:t>
            </a:r>
            <a:r>
              <a:rPr lang="zh-CN" altLang="en-US" dirty="0"/>
              <a:t>）。帧与包之间存在一一对应的关系。</a:t>
            </a:r>
          </a:p>
          <a:p>
            <a:pPr eaLnBrk="1" hangingPunct="1"/>
            <a:r>
              <a:rPr lang="zh-CN" altLang="en-US" dirty="0">
                <a:solidFill>
                  <a:srgbClr val="C00000"/>
                </a:solidFill>
              </a:rPr>
              <a:t>物理层</a:t>
            </a:r>
            <a:r>
              <a:rPr lang="zh-CN" altLang="en-US" dirty="0"/>
              <a:t>：</a:t>
            </a:r>
            <a:r>
              <a:rPr lang="zh-CN" altLang="en-US" dirty="0">
                <a:solidFill>
                  <a:srgbClr val="FF0000"/>
                </a:solidFill>
              </a:rPr>
              <a:t>位</a:t>
            </a:r>
            <a:r>
              <a:rPr lang="zh-CN" altLang="en-US" dirty="0"/>
              <a:t>（</a:t>
            </a:r>
            <a:r>
              <a:rPr lang="en-US" altLang="zh-CN" dirty="0"/>
              <a:t>bit</a:t>
            </a:r>
            <a:r>
              <a:rPr lang="zh-CN" altLang="en-US" dirty="0"/>
              <a:t>）。</a:t>
            </a:r>
          </a:p>
        </p:txBody>
      </p:sp>
    </p:spTree>
    <p:extLst>
      <p:ext uri="{BB962C8B-B14F-4D97-AF65-F5344CB8AC3E}">
        <p14:creationId xmlns:p14="http://schemas.microsoft.com/office/powerpoint/2010/main" val="13576420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t>1.2 </a:t>
            </a:r>
            <a:r>
              <a:rPr kumimoji="1" lang="zh-CN" altLang="en-US" dirty="0"/>
              <a:t>网络的分类</a:t>
            </a:r>
            <a:endParaRPr kumimoji="1" lang="en-US" altLang="zh-CN" dirty="0"/>
          </a:p>
          <a:p>
            <a:pPr marL="0" indent="0">
              <a:lnSpc>
                <a:spcPct val="130000"/>
              </a:lnSpc>
              <a:buNone/>
            </a:pPr>
            <a:r>
              <a:rPr kumimoji="1" lang="en-US" altLang="zh-CN" dirty="0"/>
              <a:t>1.3 </a:t>
            </a:r>
            <a:r>
              <a:rPr kumimoji="1" lang="zh-CN" altLang="en-US" dirty="0"/>
              <a:t>网络实例</a:t>
            </a:r>
            <a:endParaRPr kumimoji="1" lang="en-US" altLang="zh-CN" dirty="0"/>
          </a:p>
          <a:p>
            <a:pPr marL="0" indent="0">
              <a:lnSpc>
                <a:spcPct val="130000"/>
              </a:lnSpc>
              <a:buNone/>
            </a:pPr>
            <a:r>
              <a:rPr kumimoji="1" lang="en-US" altLang="zh-CN" dirty="0"/>
              <a:t>1.4 </a:t>
            </a:r>
            <a:r>
              <a:rPr kumimoji="1" lang="zh-CN" altLang="en-US" dirty="0"/>
              <a:t>协议与分层结构</a:t>
            </a:r>
            <a:endParaRPr kumimoji="1" lang="en-US" altLang="zh-CN" dirty="0"/>
          </a:p>
          <a:p>
            <a:pPr marL="0" indent="0">
              <a:lnSpc>
                <a:spcPct val="130000"/>
              </a:lnSpc>
              <a:buNone/>
            </a:pPr>
            <a:r>
              <a:rPr kumimoji="1" lang="en-US" altLang="zh-CN" dirty="0">
                <a:solidFill>
                  <a:srgbClr val="C00000"/>
                </a:solidFill>
              </a:rPr>
              <a:t>1.5 </a:t>
            </a:r>
            <a:r>
              <a:rPr kumimoji="1" lang="zh-CN" altLang="en-US" dirty="0">
                <a:solidFill>
                  <a:srgbClr val="C00000"/>
                </a:solidFill>
              </a:rPr>
              <a:t>参考模型</a:t>
            </a:r>
            <a:endParaRPr kumimoji="1" lang="en-US" altLang="zh-CN" dirty="0">
              <a:solidFill>
                <a:srgbClr val="C00000"/>
              </a:solidFill>
            </a:endParaRPr>
          </a:p>
          <a:p>
            <a:pPr marL="0" indent="0">
              <a:lnSpc>
                <a:spcPct val="130000"/>
              </a:lnSpc>
              <a:buNone/>
            </a:pPr>
            <a:r>
              <a:rPr kumimoji="1" lang="en-US" altLang="zh-CN" dirty="0"/>
              <a:t>1.6 </a:t>
            </a:r>
            <a:r>
              <a:rPr kumimoji="1" lang="zh-CN" altLang="en-US" dirty="0"/>
              <a:t>计算机网络度量单位</a:t>
            </a: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6174346" y="2460978"/>
            <a:ext cx="4768770" cy="3176660"/>
          </a:xfrm>
          <a:prstGeom prst="wedgeRectCallout">
            <a:avLst>
              <a:gd name="adj1" fmla="val -80589"/>
              <a:gd name="adj2" fmla="val -29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OSI</a:t>
            </a:r>
            <a:r>
              <a:rPr kumimoji="1" lang="zh-CN" altLang="en-US" sz="2400" dirty="0">
                <a:solidFill>
                  <a:prstClr val="black"/>
                </a:solidFill>
                <a:latin typeface="Microsoft YaHei" panose="020B0503020204020204" pitchFamily="34" charset="-122"/>
                <a:ea typeface="Microsoft YaHei" panose="020B0503020204020204" pitchFamily="34" charset="-122"/>
              </a:rPr>
              <a:t>参考模型</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TCP/IP</a:t>
            </a:r>
            <a:r>
              <a:rPr kumimoji="1" lang="zh-CN" altLang="en-US" sz="2400" dirty="0">
                <a:solidFill>
                  <a:prstClr val="black"/>
                </a:solidFill>
                <a:latin typeface="Microsoft YaHei" panose="020B0503020204020204" pitchFamily="34" charset="-122"/>
                <a:ea typeface="Microsoft YaHei" panose="020B0503020204020204" pitchFamily="34" charset="-122"/>
                <a:sym typeface="+mn-ea"/>
              </a:rPr>
              <a:t>参考</a:t>
            </a:r>
            <a:r>
              <a:rPr kumimoji="1" lang="zh-CN" altLang="en-US" sz="2400" dirty="0">
                <a:solidFill>
                  <a:prstClr val="black"/>
                </a:solidFill>
                <a:latin typeface="Microsoft YaHei" panose="020B0503020204020204" pitchFamily="34" charset="-122"/>
                <a:ea typeface="Microsoft YaHei" panose="020B0503020204020204" pitchFamily="34" charset="-122"/>
              </a:rPr>
              <a:t>模型</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OSI</a:t>
            </a:r>
            <a:r>
              <a:rPr kumimoji="1" lang="zh-CN" altLang="en-US" sz="2400" dirty="0">
                <a:solidFill>
                  <a:prstClr val="black"/>
                </a:solidFill>
                <a:latin typeface="Microsoft YaHei" panose="020B0503020204020204" pitchFamily="34" charset="-122"/>
                <a:ea typeface="Microsoft YaHei" panose="020B0503020204020204" pitchFamily="34" charset="-122"/>
              </a:rPr>
              <a:t>模型</a:t>
            </a:r>
            <a:r>
              <a:rPr kumimoji="1" lang="en-US" altLang="zh-CN" sz="2400" dirty="0">
                <a:solidFill>
                  <a:prstClr val="black"/>
                </a:solidFill>
                <a:latin typeface="Microsoft YaHei" panose="020B0503020204020204" pitchFamily="34" charset="-122"/>
                <a:ea typeface="Microsoft YaHei" panose="020B0503020204020204" pitchFamily="34" charset="-122"/>
              </a:rPr>
              <a:t>TCP/IP</a:t>
            </a:r>
            <a:r>
              <a:rPr kumimoji="1" lang="zh-CN" altLang="en-US" sz="2400" dirty="0">
                <a:solidFill>
                  <a:prstClr val="black"/>
                </a:solidFill>
                <a:latin typeface="Microsoft YaHei" panose="020B0503020204020204" pitchFamily="34" charset="-122"/>
                <a:ea typeface="Microsoft YaHei" panose="020B0503020204020204" pitchFamily="34" charset="-122"/>
              </a:rPr>
              <a:t>模型对比</a:t>
            </a: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课程内容的分层组织</a:t>
            </a: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模型与网络实例</a:t>
            </a:r>
          </a:p>
        </p:txBody>
      </p:sp>
    </p:spTree>
    <p:extLst>
      <p:ext uri="{BB962C8B-B14F-4D97-AF65-F5344CB8AC3E}">
        <p14:creationId xmlns:p14="http://schemas.microsoft.com/office/powerpoint/2010/main" val="41834676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p>
        </p:txBody>
      </p:sp>
      <p:sp>
        <p:nvSpPr>
          <p:cNvPr id="3" name="内容占位符 2"/>
          <p:cNvSpPr>
            <a:spLocks noGrp="1"/>
          </p:cNvSpPr>
          <p:nvPr>
            <p:ph idx="1"/>
          </p:nvPr>
        </p:nvSpPr>
        <p:spPr>
          <a:xfrm>
            <a:off x="838200" y="1510665"/>
            <a:ext cx="8408035" cy="4586605"/>
          </a:xfrm>
        </p:spPr>
        <p:txBody>
          <a:bodyPr>
            <a:normAutofit fontScale="92500" lnSpcReduction="10000"/>
          </a:bodyPr>
          <a:lstStyle/>
          <a:p>
            <a:pPr marL="360363" indent="-360363" fontAlgn="auto">
              <a:lnSpc>
                <a:spcPct val="120000"/>
              </a:lnSpc>
            </a:pPr>
            <a:r>
              <a:rPr kumimoji="1" lang="en-US" altLang="zh-CN" dirty="0"/>
              <a:t>OSI 7 </a:t>
            </a:r>
            <a:r>
              <a:rPr kumimoji="1" lang="zh-CN" altLang="en-US" dirty="0"/>
              <a:t>层模型 </a:t>
            </a:r>
            <a:endParaRPr kumimoji="1" lang="en-US" altLang="zh-CN" dirty="0"/>
          </a:p>
          <a:p>
            <a:pPr lvl="1">
              <a:lnSpc>
                <a:spcPct val="120000"/>
              </a:lnSpc>
            </a:pPr>
            <a:r>
              <a:rPr kumimoji="1" lang="en-US" altLang="zh-CN" dirty="0"/>
              <a:t>OSI</a:t>
            </a:r>
            <a:r>
              <a:rPr kumimoji="1" lang="zh-CN" altLang="en-US" dirty="0"/>
              <a:t>：</a:t>
            </a:r>
            <a:r>
              <a:rPr kumimoji="1" lang="en-US" altLang="zh-CN" dirty="0"/>
              <a:t>Open Systems Interconnection</a:t>
            </a:r>
          </a:p>
          <a:p>
            <a:pPr lvl="1">
              <a:lnSpc>
                <a:spcPct val="120000"/>
              </a:lnSpc>
            </a:pPr>
            <a:r>
              <a:rPr kumimoji="1" lang="en-US" altLang="zh-CN" dirty="0"/>
              <a:t>Day, Zimmermann, 1983</a:t>
            </a:r>
            <a:endParaRPr kumimoji="1" lang="zh-CN" altLang="en-US" dirty="0"/>
          </a:p>
          <a:p>
            <a:pPr marL="360363" indent="-360363" fontAlgn="auto">
              <a:lnSpc>
                <a:spcPct val="120000"/>
              </a:lnSpc>
            </a:pPr>
            <a:r>
              <a:rPr kumimoji="1" lang="zh-CN" altLang="en-US" dirty="0"/>
              <a:t>物理层（</a:t>
            </a:r>
            <a:r>
              <a:rPr kumimoji="1" lang="en-US" altLang="zh-CN" dirty="0"/>
              <a:t>Physical Layer</a:t>
            </a:r>
            <a:r>
              <a:rPr kumimoji="1" lang="zh-CN" altLang="en-US" dirty="0"/>
              <a:t>）</a:t>
            </a:r>
          </a:p>
          <a:p>
            <a:pPr lvl="1" fontAlgn="auto">
              <a:lnSpc>
                <a:spcPct val="120000"/>
              </a:lnSpc>
            </a:pPr>
            <a:r>
              <a:rPr kumimoji="1" lang="zh-CN" altLang="en-US" dirty="0">
                <a:solidFill>
                  <a:srgbClr val="C00000"/>
                </a:solidFill>
              </a:rPr>
              <a:t>定义如何在信道上传输0、1：Bits on the wire</a:t>
            </a:r>
            <a:endParaRPr kumimoji="1" lang="zh-CN" altLang="en-US" dirty="0"/>
          </a:p>
          <a:p>
            <a:pPr lvl="1" fontAlgn="auto">
              <a:lnSpc>
                <a:spcPct val="120000"/>
              </a:lnSpc>
            </a:pPr>
            <a:r>
              <a:rPr kumimoji="1" lang="zh-CN" altLang="en-US" dirty="0"/>
              <a:t>机械接口（</a:t>
            </a:r>
            <a:r>
              <a:rPr kumimoji="1" lang="en-US" altLang="zh-CN" dirty="0"/>
              <a:t>Mechanical</a:t>
            </a:r>
            <a:r>
              <a:rPr kumimoji="1" lang="zh-CN" altLang="en-US" dirty="0"/>
              <a:t>）：网线接口大小形状、线缆排列等</a:t>
            </a:r>
          </a:p>
          <a:p>
            <a:pPr lvl="1" fontAlgn="auto">
              <a:lnSpc>
                <a:spcPct val="120000"/>
              </a:lnSpc>
            </a:pPr>
            <a:r>
              <a:rPr kumimoji="1" lang="zh-CN" altLang="en-US" dirty="0"/>
              <a:t>电子信号（</a:t>
            </a:r>
            <a:r>
              <a:rPr kumimoji="1" lang="en-US" altLang="zh-CN" dirty="0"/>
              <a:t>E</a:t>
            </a:r>
            <a:r>
              <a:rPr kumimoji="1" lang="zh-CN" altLang="en-US" dirty="0"/>
              <a:t>lectronic）：电压、电流等</a:t>
            </a:r>
          </a:p>
          <a:p>
            <a:pPr lvl="1" fontAlgn="auto">
              <a:lnSpc>
                <a:spcPct val="120000"/>
              </a:lnSpc>
            </a:pPr>
            <a:r>
              <a:rPr kumimoji="1" lang="zh-CN" altLang="en-US" dirty="0"/>
              <a:t>时序接口（</a:t>
            </a:r>
            <a:r>
              <a:rPr kumimoji="1" lang="en-US" altLang="zh-CN" dirty="0"/>
              <a:t>Timing</a:t>
            </a:r>
            <a:r>
              <a:rPr kumimoji="1" lang="zh-CN" altLang="en-US" dirty="0"/>
              <a:t>）：采样频率、波特率、比特率等</a:t>
            </a:r>
          </a:p>
          <a:p>
            <a:pPr lvl="1" fontAlgn="auto">
              <a:lnSpc>
                <a:spcPct val="120000"/>
              </a:lnSpc>
            </a:pPr>
            <a:r>
              <a:rPr kumimoji="1" lang="zh-CN" altLang="en-US" dirty="0"/>
              <a:t>介质（</a:t>
            </a:r>
            <a:r>
              <a:rPr kumimoji="1" lang="en-US" altLang="zh-CN" dirty="0"/>
              <a:t>M</a:t>
            </a:r>
            <a:r>
              <a:rPr kumimoji="1" lang="zh-CN" altLang="en-US" dirty="0"/>
              <a:t>edium）：各种线缆、无线频谱等</a:t>
            </a:r>
          </a:p>
          <a:p>
            <a:pPr lvl="1" fontAlgn="auto">
              <a:lnSpc>
                <a:spcPct val="120000"/>
              </a:lnSpc>
            </a:pPr>
            <a:r>
              <a:rPr kumimoji="1" lang="en-US" altLang="zh-CN" dirty="0"/>
              <a:t>...</a:t>
            </a:r>
          </a:p>
        </p:txBody>
      </p:sp>
      <p:sp>
        <p:nvSpPr>
          <p:cNvPr id="5" name="灯片编号占位符 4">
            <a:extLst>
              <a:ext uri="{FF2B5EF4-FFF2-40B4-BE49-F238E27FC236}">
                <a16:creationId xmlns:a16="http://schemas.microsoft.com/office/drawing/2014/main" id="{058DEC51-54D0-3141-AC27-70F3D5B7A60B}"/>
              </a:ext>
            </a:extLst>
          </p:cNvPr>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graphicFrame>
        <p:nvGraphicFramePr>
          <p:cNvPr id="6" name="表格 5"/>
          <p:cNvGraphicFramePr/>
          <p:nvPr>
            <p:extLst>
              <p:ext uri="{D42A27DB-BD31-4B8C-83A1-F6EECF244321}">
                <p14:modId xmlns:p14="http://schemas.microsoft.com/office/powerpoint/2010/main" val="2001260311"/>
              </p:ext>
            </p:extLst>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extLst>
                    <a:ext uri="{9D8B030D-6E8A-4147-A177-3AD203B41FA5}">
                      <a16:colId xmlns:a16="http://schemas.microsoft.com/office/drawing/2014/main" val="20000"/>
                    </a:ext>
                  </a:extLst>
                </a:gridCol>
              </a:tblGrid>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应用层</a:t>
                      </a:r>
                    </a:p>
                    <a:p>
                      <a:pPr algn="ctr">
                        <a:buNone/>
                      </a:pPr>
                      <a:r>
                        <a:rPr lang="en-US" altLang="zh-CN" sz="2000" b="0">
                          <a:latin typeface="Microsoft YaHei" panose="020B0503020204020204" pitchFamily="34" charset="-122"/>
                          <a:ea typeface="Microsoft YaHei" panose="020B0503020204020204" pitchFamily="34" charset="-122"/>
                        </a:rPr>
                        <a:t>Application Layer</a:t>
                      </a:r>
                    </a:p>
                  </a:txBody>
                  <a:tcPr anchor="ctr">
                    <a:solidFill>
                      <a:schemeClr val="bg1">
                        <a:lumMod val="85000"/>
                      </a:schemeClr>
                    </a:solidFill>
                  </a:tcPr>
                </a:tc>
                <a:extLst>
                  <a:ext uri="{0D108BD9-81ED-4DB2-BD59-A6C34878D82A}">
                    <a16:rowId xmlns:a16="http://schemas.microsoft.com/office/drawing/2014/main" val="10000"/>
                  </a:ext>
                </a:extLst>
              </a:tr>
              <a:tr h="701040">
                <a:tc>
                  <a:txBody>
                    <a:bodyPr/>
                    <a:lstStyle/>
                    <a:p>
                      <a:pPr algn="ctr">
                        <a:buNone/>
                      </a:pPr>
                      <a:r>
                        <a:rPr lang="zh-CN" altLang="en-US" sz="2000" b="0">
                          <a:latin typeface="Microsoft YaHei" panose="020B0503020204020204" pitchFamily="34" charset="-122"/>
                          <a:ea typeface="Microsoft YaHei" panose="020B0503020204020204" pitchFamily="34" charset="-122"/>
                        </a:rPr>
                        <a:t>表示层</a:t>
                      </a:r>
                    </a:p>
                    <a:p>
                      <a:pPr algn="ctr">
                        <a:buNone/>
                      </a:pPr>
                      <a:r>
                        <a:rPr lang="en-US" altLang="zh-CN" sz="2000" b="0">
                          <a:latin typeface="Microsoft YaHei" panose="020B0503020204020204" pitchFamily="34" charset="-122"/>
                          <a:ea typeface="Microsoft YaHei" panose="020B0503020204020204" pitchFamily="34" charset="-122"/>
                        </a:rPr>
                        <a:t>Presentation Layer</a:t>
                      </a:r>
                    </a:p>
                  </a:txBody>
                  <a:tcPr anchor="ctr">
                    <a:solidFill>
                      <a:schemeClr val="bg1">
                        <a:lumMod val="85000"/>
                      </a:schemeClr>
                    </a:solidFill>
                  </a:tcPr>
                </a:tc>
                <a:extLst>
                  <a:ext uri="{0D108BD9-81ED-4DB2-BD59-A6C34878D82A}">
                    <a16:rowId xmlns:a16="http://schemas.microsoft.com/office/drawing/2014/main" val="10001"/>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会话层</a:t>
                      </a:r>
                    </a:p>
                    <a:p>
                      <a:pPr algn="ctr">
                        <a:buNone/>
                      </a:pPr>
                      <a:r>
                        <a:rPr lang="en-US" altLang="zh-CN" sz="2000" b="0">
                          <a:latin typeface="Microsoft YaHei" panose="020B0503020204020204" pitchFamily="34" charset="-122"/>
                          <a:ea typeface="Microsoft YaHei" panose="020B0503020204020204" pitchFamily="34" charset="-122"/>
                        </a:rPr>
                        <a:t>Session Layer</a:t>
                      </a:r>
                    </a:p>
                  </a:txBody>
                  <a:tcPr anchor="ctr">
                    <a:solidFill>
                      <a:schemeClr val="bg1">
                        <a:lumMod val="85000"/>
                      </a:schemeClr>
                    </a:solidFill>
                  </a:tcPr>
                </a:tc>
                <a:extLst>
                  <a:ext uri="{0D108BD9-81ED-4DB2-BD59-A6C34878D82A}">
                    <a16:rowId xmlns:a16="http://schemas.microsoft.com/office/drawing/2014/main" val="10002"/>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p>
                    <a:p>
                      <a:pPr algn="ctr">
                        <a:buNone/>
                      </a:pPr>
                      <a:r>
                        <a:rPr lang="en-US" altLang="zh-CN" sz="2000" b="0">
                          <a:latin typeface="Microsoft YaHei" panose="020B0503020204020204" pitchFamily="34" charset="-122"/>
                          <a:ea typeface="Microsoft YaHei" panose="020B0503020204020204" pitchFamily="34" charset="-122"/>
                        </a:rPr>
                        <a:t>Transport Layer</a:t>
                      </a:r>
                    </a:p>
                  </a:txBody>
                  <a:tcPr anchor="ctr">
                    <a:solidFill>
                      <a:schemeClr val="bg1">
                        <a:lumMod val="85000"/>
                      </a:schemeClr>
                    </a:solidFill>
                  </a:tcPr>
                </a:tc>
                <a:extLst>
                  <a:ext uri="{0D108BD9-81ED-4DB2-BD59-A6C34878D82A}">
                    <a16:rowId xmlns:a16="http://schemas.microsoft.com/office/drawing/2014/main" val="10003"/>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p>
                    <a:p>
                      <a:pPr algn="ctr">
                        <a:buNone/>
                      </a:pPr>
                      <a:r>
                        <a:rPr lang="en-US" altLang="zh-CN" sz="2000" b="0">
                          <a:latin typeface="Microsoft YaHei" panose="020B0503020204020204" pitchFamily="34" charset="-122"/>
                          <a:ea typeface="Microsoft YaHei" panose="020B0503020204020204" pitchFamily="34" charset="-122"/>
                        </a:rPr>
                        <a:t>Network Layer</a:t>
                      </a:r>
                    </a:p>
                  </a:txBody>
                  <a:tcPr anchor="ctr">
                    <a:solidFill>
                      <a:schemeClr val="bg1">
                        <a:lumMod val="85000"/>
                      </a:schemeClr>
                    </a:solidFill>
                  </a:tcPr>
                </a:tc>
                <a:extLst>
                  <a:ext uri="{0D108BD9-81ED-4DB2-BD59-A6C34878D82A}">
                    <a16:rowId xmlns:a16="http://schemas.microsoft.com/office/drawing/2014/main" val="10004"/>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数据链路层</a:t>
                      </a:r>
                    </a:p>
                    <a:p>
                      <a:pPr algn="ctr">
                        <a:buNone/>
                      </a:pPr>
                      <a:r>
                        <a:rPr lang="en-US" altLang="zh-CN" sz="2000" b="0">
                          <a:latin typeface="Microsoft YaHei" panose="020B0503020204020204" pitchFamily="34" charset="-122"/>
                          <a:ea typeface="Microsoft YaHei" panose="020B0503020204020204" pitchFamily="34" charset="-122"/>
                        </a:rPr>
                        <a:t>Data Link Layer</a:t>
                      </a:r>
                    </a:p>
                  </a:txBody>
                  <a:tcPr anchor="ctr">
                    <a:solidFill>
                      <a:schemeClr val="bg1">
                        <a:lumMod val="85000"/>
                      </a:schemeClr>
                    </a:solidFill>
                  </a:tcPr>
                </a:tc>
                <a:extLst>
                  <a:ext uri="{0D108BD9-81ED-4DB2-BD59-A6C34878D82A}">
                    <a16:rowId xmlns:a16="http://schemas.microsoft.com/office/drawing/2014/main" val="10005"/>
                  </a:ext>
                </a:extLst>
              </a:tr>
              <a:tr h="38100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物理层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Physical Layer</a:t>
                      </a:r>
                    </a:p>
                  </a:txBody>
                  <a:tcPr anchor="ctr">
                    <a:noFill/>
                  </a:tcPr>
                </a:tc>
                <a:extLst>
                  <a:ext uri="{0D108BD9-81ED-4DB2-BD59-A6C34878D82A}">
                    <a16:rowId xmlns:a16="http://schemas.microsoft.com/office/drawing/2014/main" val="10006"/>
                  </a:ext>
                </a:extLst>
              </a:tr>
            </a:tbl>
          </a:graphicData>
        </a:graphic>
      </p:graphicFrame>
      <p:sp>
        <p:nvSpPr>
          <p:cNvPr id="8" name="文本框 7">
            <a:extLst>
              <a:ext uri="{FF2B5EF4-FFF2-40B4-BE49-F238E27FC236}">
                <a16:creationId xmlns:a16="http://schemas.microsoft.com/office/drawing/2014/main" id="{AE9357E9-DF99-6D48-B9BF-585DC4479F72}"/>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7" name="Picture 28" descr="015">
            <a:extLst>
              <a:ext uri="{FF2B5EF4-FFF2-40B4-BE49-F238E27FC236}">
                <a16:creationId xmlns:a16="http://schemas.microsoft.com/office/drawing/2014/main" id="{AAF31E9E-C94B-4711-A502-FB908F237E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51013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p>
        </p:txBody>
      </p:sp>
      <p:sp>
        <p:nvSpPr>
          <p:cNvPr id="3" name="内容占位符 2"/>
          <p:cNvSpPr>
            <a:spLocks noGrp="1"/>
          </p:cNvSpPr>
          <p:nvPr>
            <p:ph idx="1"/>
          </p:nvPr>
        </p:nvSpPr>
        <p:spPr>
          <a:xfrm>
            <a:off x="838200" y="1510665"/>
            <a:ext cx="8431530" cy="4988560"/>
          </a:xfrm>
        </p:spPr>
        <p:txBody>
          <a:bodyPr>
            <a:normAutofit fontScale="90000" lnSpcReduction="10000"/>
          </a:bodyPr>
          <a:lstStyle/>
          <a:p>
            <a:pPr marL="360363" indent="-360363" fontAlgn="auto">
              <a:lnSpc>
                <a:spcPct val="120000"/>
              </a:lnSpc>
            </a:pPr>
            <a:r>
              <a:rPr kumimoji="1" lang="zh-CN" altLang="en-US" dirty="0"/>
              <a:t>数据链路层 </a:t>
            </a:r>
            <a:r>
              <a:rPr kumimoji="1" lang="en-US" altLang="zh-CN" dirty="0"/>
              <a:t>(Data Link Layer)</a:t>
            </a:r>
            <a:endParaRPr kumimoji="1" lang="zh-CN" altLang="en-US" dirty="0"/>
          </a:p>
          <a:p>
            <a:pPr lvl="1" fontAlgn="auto">
              <a:lnSpc>
                <a:spcPct val="120000"/>
              </a:lnSpc>
            </a:pPr>
            <a:r>
              <a:rPr kumimoji="1" lang="zh-CN" altLang="en-US" dirty="0">
                <a:solidFill>
                  <a:srgbClr val="C00000"/>
                </a:solidFill>
              </a:rPr>
              <a:t>实现相邻（</a:t>
            </a:r>
            <a:r>
              <a:rPr lang="en-US" altLang="en-US" noProof="0" dirty="0">
                <a:ln>
                  <a:noFill/>
                </a:ln>
                <a:solidFill>
                  <a:srgbClr val="C00000"/>
                </a:solidFill>
                <a:effectLst/>
                <a:uLnTx/>
                <a:uFillTx/>
                <a:sym typeface="+mn-ea"/>
              </a:rPr>
              <a:t>Neighboring</a:t>
            </a:r>
            <a:r>
              <a:rPr kumimoji="1" lang="zh-CN" altLang="en-US" dirty="0">
                <a:solidFill>
                  <a:srgbClr val="C00000"/>
                </a:solidFill>
              </a:rPr>
              <a:t>）网络实体间的数据传输</a:t>
            </a:r>
            <a:endParaRPr kumimoji="1" lang="zh-CN" altLang="en-US" dirty="0"/>
          </a:p>
          <a:p>
            <a:pPr lvl="1" fontAlgn="auto">
              <a:lnSpc>
                <a:spcPct val="120000"/>
              </a:lnSpc>
            </a:pPr>
            <a:r>
              <a:rPr kumimoji="1" lang="zh-CN" altLang="en-US" dirty="0">
                <a:solidFill>
                  <a:srgbClr val="C00000"/>
                </a:solidFill>
              </a:rPr>
              <a:t>成帧</a:t>
            </a:r>
            <a:r>
              <a:rPr kumimoji="1" lang="zh-CN" altLang="en-US" dirty="0"/>
              <a:t>（</a:t>
            </a:r>
            <a:r>
              <a:rPr kumimoji="1" lang="en-US" altLang="zh-CN" dirty="0"/>
              <a:t>Framing</a:t>
            </a:r>
            <a:r>
              <a:rPr kumimoji="1" lang="zh-CN" altLang="en-US" dirty="0"/>
              <a:t>）：</a:t>
            </a:r>
            <a:r>
              <a:rPr lang="zh-CN" altLang="zh-CN" dirty="0"/>
              <a:t>从物理层的比特流中提取出完整的帧 </a:t>
            </a:r>
            <a:endParaRPr kumimoji="1" lang="zh-CN" altLang="en-US" dirty="0"/>
          </a:p>
          <a:p>
            <a:pPr lvl="1" fontAlgn="auto">
              <a:lnSpc>
                <a:spcPct val="120000"/>
              </a:lnSpc>
            </a:pPr>
            <a:r>
              <a:rPr kumimoji="1" lang="zh-CN" altLang="en-US" dirty="0"/>
              <a:t>错误检测与纠正：为提供可靠数据通信提供可能</a:t>
            </a:r>
          </a:p>
          <a:p>
            <a:pPr lvl="1" fontAlgn="auto">
              <a:lnSpc>
                <a:spcPct val="120000"/>
              </a:lnSpc>
            </a:pPr>
            <a:r>
              <a:rPr kumimoji="1" lang="zh-CN" altLang="en-US" dirty="0"/>
              <a:t>物理地址（</a:t>
            </a:r>
            <a:r>
              <a:rPr kumimoji="1" lang="en-US" altLang="zh-CN" dirty="0"/>
              <a:t>MAC address</a:t>
            </a:r>
            <a:r>
              <a:rPr kumimoji="1" lang="zh-CN" altLang="en-US" dirty="0"/>
              <a:t>）：</a:t>
            </a:r>
            <a:r>
              <a:rPr kumimoji="1" lang="en-US" altLang="zh-CN" dirty="0"/>
              <a:t>48</a:t>
            </a:r>
            <a:r>
              <a:rPr kumimoji="1" lang="zh-CN" altLang="en-US" dirty="0"/>
              <a:t>位，理论上唯一网络标识，烧录在网卡，不便更改</a:t>
            </a:r>
          </a:p>
          <a:p>
            <a:pPr lvl="1" fontAlgn="auto">
              <a:lnSpc>
                <a:spcPct val="120000"/>
              </a:lnSpc>
            </a:pPr>
            <a:r>
              <a:rPr kumimoji="1" lang="zh-CN" altLang="en-US" dirty="0"/>
              <a:t>流量控制，避免</a:t>
            </a:r>
            <a:r>
              <a:rPr kumimoji="1" lang="en-US" altLang="zh-CN" dirty="0"/>
              <a:t>“</a:t>
            </a:r>
            <a:r>
              <a:rPr kumimoji="1" lang="zh-CN" altLang="en-US" dirty="0"/>
              <a:t>淹没</a:t>
            </a:r>
            <a:r>
              <a:rPr kumimoji="1" lang="en-US" altLang="zh-CN" dirty="0"/>
              <a:t>”</a:t>
            </a:r>
            <a:r>
              <a:rPr kumimoji="1" lang="zh-CN" altLang="en-US" dirty="0"/>
              <a:t>（</a:t>
            </a:r>
            <a:r>
              <a:rPr kumimoji="1" lang="en-US" altLang="zh-CN" dirty="0"/>
              <a:t>overwhelming</a:t>
            </a:r>
            <a:r>
              <a:rPr kumimoji="1" lang="zh-CN" altLang="en-US" dirty="0"/>
              <a:t>）</a:t>
            </a:r>
            <a:r>
              <a:rPr kumimoji="1" lang="en-US" altLang="zh-CN" dirty="0"/>
              <a:t>:</a:t>
            </a:r>
            <a:r>
              <a:rPr kumimoji="1" lang="zh-CN" altLang="en-US" dirty="0"/>
              <a:t>当快速的发送端遇上慢速的接收端，接收端缓存溢出</a:t>
            </a:r>
          </a:p>
          <a:p>
            <a:pPr lvl="1" fontAlgn="auto">
              <a:lnSpc>
                <a:spcPct val="120000"/>
              </a:lnSpc>
            </a:pPr>
            <a:r>
              <a:rPr kumimoji="1" lang="zh-CN" altLang="en-US" dirty="0"/>
              <a:t>共享信道上的访问控制（</a:t>
            </a:r>
            <a:r>
              <a:rPr kumimoji="1" lang="en-US" altLang="zh-CN" dirty="0"/>
              <a:t>MAC</a:t>
            </a:r>
            <a:r>
              <a:rPr kumimoji="1" lang="zh-CN" altLang="en-US" dirty="0"/>
              <a:t>）：同一个信道，同时传输信号。如同：同一间教室内，多人同时发言，需要纪律来控制</a:t>
            </a:r>
          </a:p>
          <a:p>
            <a:pPr lvl="1" fontAlgn="auto">
              <a:lnSpc>
                <a:spcPct val="120000"/>
              </a:lnSpc>
            </a:pPr>
            <a:r>
              <a:rPr kumimoji="1" lang="en-US" altLang="zh-CN" dirty="0"/>
              <a:t>...</a:t>
            </a:r>
          </a:p>
        </p:txBody>
      </p:sp>
      <p:sp>
        <p:nvSpPr>
          <p:cNvPr id="5" name="灯片编号占位符 4">
            <a:extLst>
              <a:ext uri="{FF2B5EF4-FFF2-40B4-BE49-F238E27FC236}">
                <a16:creationId xmlns:a16="http://schemas.microsoft.com/office/drawing/2014/main" id="{7E384B9A-C28E-E04F-B788-91C055B9A89A}"/>
              </a:ext>
            </a:extLst>
          </p:cNvPr>
          <p:cNvSpPr>
            <a:spLocks noGrp="1"/>
          </p:cNvSpPr>
          <p:nvPr>
            <p:ph type="sldNum" sz="quarter" idx="12"/>
          </p:nvPr>
        </p:nvSpPr>
        <p:spPr/>
        <p:txBody>
          <a:bodyPr/>
          <a:lstStyle/>
          <a:p>
            <a:fld id="{8D4D1E41-7A09-AB4A-A4E1-09765ADA2698}" type="slidenum">
              <a:rPr kumimoji="1" lang="zh-CN" altLang="en-US" smtClean="0"/>
              <a:t>76</a:t>
            </a:fld>
            <a:endParaRPr kumimoji="1" lang="zh-CN" altLang="en-US" dirty="0"/>
          </a:p>
        </p:txBody>
      </p:sp>
      <p:graphicFrame>
        <p:nvGraphicFramePr>
          <p:cNvPr id="6" name="表格 5"/>
          <p:cNvGraphicFramePr/>
          <p:nvPr>
            <p:extLst>
              <p:ext uri="{D42A27DB-BD31-4B8C-83A1-F6EECF244321}">
                <p14:modId xmlns:p14="http://schemas.microsoft.com/office/powerpoint/2010/main" val="2649532877"/>
              </p:ext>
            </p:extLst>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extLst>
                    <a:ext uri="{9D8B030D-6E8A-4147-A177-3AD203B41FA5}">
                      <a16:colId xmlns:a16="http://schemas.microsoft.com/office/drawing/2014/main" val="20000"/>
                    </a:ext>
                  </a:extLst>
                </a:gridCol>
              </a:tblGrid>
              <a:tr h="381000">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p>
                    <a:p>
                      <a:pPr algn="ctr">
                        <a:buNone/>
                      </a:pPr>
                      <a:r>
                        <a:rPr lang="en-US" altLang="zh-CN" sz="2000" b="0" dirty="0">
                          <a:latin typeface="Microsoft YaHei" panose="020B0503020204020204" pitchFamily="34" charset="-122"/>
                          <a:ea typeface="Microsoft YaHei" panose="020B0503020204020204" pitchFamily="34" charset="-122"/>
                        </a:rPr>
                        <a:t>Application Layer</a:t>
                      </a:r>
                    </a:p>
                  </a:txBody>
                  <a:tcPr anchor="ctr">
                    <a:solidFill>
                      <a:schemeClr val="bg1">
                        <a:lumMod val="85000"/>
                      </a:schemeClr>
                    </a:solidFill>
                  </a:tcPr>
                </a:tc>
                <a:extLst>
                  <a:ext uri="{0D108BD9-81ED-4DB2-BD59-A6C34878D82A}">
                    <a16:rowId xmlns:a16="http://schemas.microsoft.com/office/drawing/2014/main" val="10000"/>
                  </a:ext>
                </a:extLst>
              </a:tr>
              <a:tr h="701040">
                <a:tc>
                  <a:txBody>
                    <a:bodyPr/>
                    <a:lstStyle/>
                    <a:p>
                      <a:pPr algn="ctr">
                        <a:buNone/>
                      </a:pPr>
                      <a:r>
                        <a:rPr lang="zh-CN" altLang="en-US" sz="2000" b="0">
                          <a:latin typeface="Microsoft YaHei" panose="020B0503020204020204" pitchFamily="34" charset="-122"/>
                          <a:ea typeface="Microsoft YaHei" panose="020B0503020204020204" pitchFamily="34" charset="-122"/>
                        </a:rPr>
                        <a:t>表示层</a:t>
                      </a:r>
                    </a:p>
                    <a:p>
                      <a:pPr algn="ctr">
                        <a:buNone/>
                      </a:pPr>
                      <a:r>
                        <a:rPr lang="en-US" altLang="zh-CN" sz="2000" b="0">
                          <a:latin typeface="Microsoft YaHei" panose="020B0503020204020204" pitchFamily="34" charset="-122"/>
                          <a:ea typeface="Microsoft YaHei" panose="020B0503020204020204" pitchFamily="34" charset="-122"/>
                        </a:rPr>
                        <a:t>Presentation Layer</a:t>
                      </a:r>
                    </a:p>
                  </a:txBody>
                  <a:tcPr anchor="ctr">
                    <a:solidFill>
                      <a:schemeClr val="bg1">
                        <a:lumMod val="85000"/>
                      </a:schemeClr>
                    </a:solidFill>
                  </a:tcPr>
                </a:tc>
                <a:extLst>
                  <a:ext uri="{0D108BD9-81ED-4DB2-BD59-A6C34878D82A}">
                    <a16:rowId xmlns:a16="http://schemas.microsoft.com/office/drawing/2014/main" val="10001"/>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会话层</a:t>
                      </a:r>
                    </a:p>
                    <a:p>
                      <a:pPr algn="ctr">
                        <a:buNone/>
                      </a:pPr>
                      <a:r>
                        <a:rPr lang="en-US" altLang="zh-CN" sz="2000" b="0">
                          <a:latin typeface="Microsoft YaHei" panose="020B0503020204020204" pitchFamily="34" charset="-122"/>
                          <a:ea typeface="Microsoft YaHei" panose="020B0503020204020204" pitchFamily="34" charset="-122"/>
                        </a:rPr>
                        <a:t>Session Layer</a:t>
                      </a:r>
                    </a:p>
                  </a:txBody>
                  <a:tcPr anchor="ctr">
                    <a:solidFill>
                      <a:schemeClr val="bg1">
                        <a:lumMod val="85000"/>
                      </a:schemeClr>
                    </a:solidFill>
                  </a:tcPr>
                </a:tc>
                <a:extLst>
                  <a:ext uri="{0D108BD9-81ED-4DB2-BD59-A6C34878D82A}">
                    <a16:rowId xmlns:a16="http://schemas.microsoft.com/office/drawing/2014/main" val="10002"/>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p>
                    <a:p>
                      <a:pPr algn="ctr">
                        <a:buNone/>
                      </a:pPr>
                      <a:r>
                        <a:rPr lang="en-US" altLang="zh-CN" sz="2000" b="0">
                          <a:latin typeface="Microsoft YaHei" panose="020B0503020204020204" pitchFamily="34" charset="-122"/>
                          <a:ea typeface="Microsoft YaHei" panose="020B0503020204020204" pitchFamily="34" charset="-122"/>
                        </a:rPr>
                        <a:t>Transport Layer</a:t>
                      </a:r>
                    </a:p>
                  </a:txBody>
                  <a:tcPr anchor="ctr">
                    <a:solidFill>
                      <a:schemeClr val="bg1">
                        <a:lumMod val="85000"/>
                      </a:schemeClr>
                    </a:solidFill>
                  </a:tcPr>
                </a:tc>
                <a:extLst>
                  <a:ext uri="{0D108BD9-81ED-4DB2-BD59-A6C34878D82A}">
                    <a16:rowId xmlns:a16="http://schemas.microsoft.com/office/drawing/2014/main" val="10003"/>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p>
                    <a:p>
                      <a:pPr algn="ctr">
                        <a:buNone/>
                      </a:pPr>
                      <a:r>
                        <a:rPr lang="en-US" altLang="zh-CN" sz="2000" b="0">
                          <a:latin typeface="Microsoft YaHei" panose="020B0503020204020204" pitchFamily="34" charset="-122"/>
                          <a:ea typeface="Microsoft YaHei" panose="020B0503020204020204" pitchFamily="34" charset="-122"/>
                        </a:rPr>
                        <a:t>Network Layer</a:t>
                      </a:r>
                    </a:p>
                  </a:txBody>
                  <a:tcPr anchor="ctr">
                    <a:solidFill>
                      <a:schemeClr val="bg1">
                        <a:lumMod val="85000"/>
                      </a:schemeClr>
                    </a:solidFill>
                  </a:tcPr>
                </a:tc>
                <a:extLst>
                  <a:ext uri="{0D108BD9-81ED-4DB2-BD59-A6C34878D82A}">
                    <a16:rowId xmlns:a16="http://schemas.microsoft.com/office/drawing/2014/main" val="10004"/>
                  </a:ext>
                </a:extLst>
              </a:tr>
              <a:tr h="38100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数据链路层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Data Link Layer</a:t>
                      </a:r>
                    </a:p>
                  </a:txBody>
                  <a:tcPr anchor="ctr">
                    <a:noFill/>
                  </a:tcPr>
                </a:tc>
                <a:extLst>
                  <a:ext uri="{0D108BD9-81ED-4DB2-BD59-A6C34878D82A}">
                    <a16:rowId xmlns:a16="http://schemas.microsoft.com/office/drawing/2014/main" val="10005"/>
                  </a:ext>
                </a:extLst>
              </a:tr>
              <a:tr h="70104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p>
                    <a:p>
                      <a:pPr algn="ctr">
                        <a:buNone/>
                      </a:pPr>
                      <a:r>
                        <a:rPr lang="en-US" altLang="zh-CN" sz="2000" b="0" dirty="0">
                          <a:latin typeface="Microsoft YaHei" panose="020B0503020204020204" pitchFamily="34" charset="-122"/>
                          <a:ea typeface="Microsoft YaHei" panose="020B0503020204020204" pitchFamily="34" charset="-122"/>
                        </a:rPr>
                        <a:t>Physical Layer</a:t>
                      </a:r>
                    </a:p>
                  </a:txBody>
                  <a:tcPr anchor="c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8" name="文本框 7">
            <a:extLst>
              <a:ext uri="{FF2B5EF4-FFF2-40B4-BE49-F238E27FC236}">
                <a16:creationId xmlns:a16="http://schemas.microsoft.com/office/drawing/2014/main" id="{171AAADA-0090-B94E-9A93-241CF1A3F430}"/>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7" name="Picture 28" descr="015">
            <a:extLst>
              <a:ext uri="{FF2B5EF4-FFF2-40B4-BE49-F238E27FC236}">
                <a16:creationId xmlns:a16="http://schemas.microsoft.com/office/drawing/2014/main" id="{4D23B173-9F42-454A-8003-87978979969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46612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p>
        </p:txBody>
      </p:sp>
      <p:sp>
        <p:nvSpPr>
          <p:cNvPr id="3" name="内容占位符 2"/>
          <p:cNvSpPr>
            <a:spLocks noGrp="1"/>
          </p:cNvSpPr>
          <p:nvPr>
            <p:ph idx="1"/>
          </p:nvPr>
        </p:nvSpPr>
        <p:spPr>
          <a:xfrm>
            <a:off x="963769" y="1351402"/>
            <a:ext cx="8259441" cy="4398046"/>
          </a:xfrm>
        </p:spPr>
        <p:txBody>
          <a:bodyPr>
            <a:normAutofit fontScale="92500" lnSpcReduction="10000"/>
          </a:bodyPr>
          <a:lstStyle/>
          <a:p>
            <a:pPr marL="360363" indent="-360363" fontAlgn="auto">
              <a:lnSpc>
                <a:spcPct val="120000"/>
              </a:lnSpc>
            </a:pPr>
            <a:r>
              <a:rPr kumimoji="1" lang="zh-CN" altLang="en-US" dirty="0"/>
              <a:t>网络层 </a:t>
            </a:r>
            <a:r>
              <a:rPr kumimoji="1" lang="en-US" altLang="zh-CN" dirty="0"/>
              <a:t>(Network Layer)</a:t>
            </a:r>
            <a:endParaRPr kumimoji="1" lang="zh-CN" altLang="en-US" dirty="0"/>
          </a:p>
          <a:p>
            <a:pPr lvl="1" fontAlgn="auto">
              <a:lnSpc>
                <a:spcPct val="120000"/>
              </a:lnSpc>
            </a:pPr>
            <a:r>
              <a:rPr kumimoji="1" lang="zh-CN" altLang="en-US" dirty="0">
                <a:solidFill>
                  <a:srgbClr val="C00000"/>
                </a:solidFill>
              </a:rPr>
              <a:t>将数据包跨越网络</a:t>
            </a:r>
            <a:r>
              <a:rPr kumimoji="1" lang="zh-CN" altLang="en-US" dirty="0">
                <a:solidFill>
                  <a:srgbClr val="C00000"/>
                </a:solidFill>
                <a:sym typeface="+mn-ea"/>
              </a:rPr>
              <a:t>从源设备发送到目的设备（</a:t>
            </a:r>
            <a:r>
              <a:rPr kumimoji="1" lang="en-US" altLang="zh-CN" dirty="0">
                <a:solidFill>
                  <a:srgbClr val="C00000"/>
                </a:solidFill>
                <a:sym typeface="+mn-ea"/>
              </a:rPr>
              <a:t>host to host</a:t>
            </a:r>
            <a:r>
              <a:rPr kumimoji="1" lang="zh-CN" altLang="en-US" dirty="0">
                <a:solidFill>
                  <a:srgbClr val="C00000"/>
                </a:solidFill>
                <a:sym typeface="+mn-ea"/>
              </a:rPr>
              <a:t>）</a:t>
            </a:r>
            <a:endParaRPr kumimoji="1" lang="zh-CN" altLang="en-US" dirty="0"/>
          </a:p>
          <a:p>
            <a:pPr lvl="1" fontAlgn="auto">
              <a:lnSpc>
                <a:spcPct val="120000"/>
              </a:lnSpc>
            </a:pPr>
            <a:r>
              <a:rPr kumimoji="1" lang="zh-CN" altLang="en-US" dirty="0">
                <a:solidFill>
                  <a:srgbClr val="C00000"/>
                </a:solidFill>
              </a:rPr>
              <a:t>路由</a:t>
            </a:r>
            <a:r>
              <a:rPr kumimoji="1" lang="zh-CN" altLang="en-US" dirty="0"/>
              <a:t>（</a:t>
            </a:r>
            <a:r>
              <a:rPr kumimoji="1" lang="en-US" altLang="zh-CN" dirty="0"/>
              <a:t>Routing</a:t>
            </a:r>
            <a:r>
              <a:rPr kumimoji="1" lang="zh-CN" altLang="en-US" dirty="0"/>
              <a:t>）：在网络中选取从源端到目的端转发路径，常常会根据网络可达性动态选取最佳路径，也可以使用静态路由</a:t>
            </a:r>
            <a:endParaRPr kumimoji="1" lang="en-US" altLang="zh-CN" dirty="0"/>
          </a:p>
          <a:p>
            <a:pPr lvl="1" fontAlgn="auto">
              <a:lnSpc>
                <a:spcPct val="120000"/>
              </a:lnSpc>
            </a:pPr>
            <a:r>
              <a:rPr kumimoji="1" lang="zh-CN" altLang="en-US" dirty="0"/>
              <a:t>路由协议：路由器之间交互路由信息所遵循的协议规范，使得单个路由器能够获取网络的可达性等信息</a:t>
            </a:r>
            <a:endParaRPr kumimoji="1" lang="en-US" altLang="zh-CN" dirty="0"/>
          </a:p>
          <a:p>
            <a:pPr lvl="1">
              <a:lnSpc>
                <a:spcPct val="120000"/>
              </a:lnSpc>
            </a:pPr>
            <a:r>
              <a:rPr kumimoji="1" lang="zh-CN" altLang="en-US" dirty="0"/>
              <a:t>服务质量（</a:t>
            </a:r>
            <a:r>
              <a:rPr kumimoji="1" lang="en-US" altLang="zh-CN" dirty="0"/>
              <a:t>QoS</a:t>
            </a:r>
            <a:r>
              <a:rPr kumimoji="1" lang="zh-CN" altLang="en-US" dirty="0"/>
              <a:t>）控制：处理网络拥塞、负载均衡、准入控制、保障延迟</a:t>
            </a:r>
          </a:p>
          <a:p>
            <a:pPr lvl="1" fontAlgn="auto">
              <a:lnSpc>
                <a:spcPct val="120000"/>
              </a:lnSpc>
            </a:pPr>
            <a:r>
              <a:rPr kumimoji="1" lang="zh-CN" altLang="en-US" dirty="0"/>
              <a:t>异构网络互联：在异构编址和异构网络中路由寻址和转发</a:t>
            </a:r>
          </a:p>
        </p:txBody>
      </p:sp>
      <p:sp>
        <p:nvSpPr>
          <p:cNvPr id="8" name="灯片编号占位符 7">
            <a:extLst>
              <a:ext uri="{FF2B5EF4-FFF2-40B4-BE49-F238E27FC236}">
                <a16:creationId xmlns:a16="http://schemas.microsoft.com/office/drawing/2014/main" id="{674FB539-995C-1741-9A64-76A2D9338943}"/>
              </a:ext>
            </a:extLst>
          </p:cNvPr>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graphicFrame>
        <p:nvGraphicFramePr>
          <p:cNvPr id="6" name="表格 5"/>
          <p:cNvGraphicFramePr/>
          <p:nvPr>
            <p:extLst>
              <p:ext uri="{D42A27DB-BD31-4B8C-83A1-F6EECF244321}">
                <p14:modId xmlns:p14="http://schemas.microsoft.com/office/powerpoint/2010/main" val="3175936986"/>
              </p:ext>
            </p:extLst>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extLst>
                    <a:ext uri="{9D8B030D-6E8A-4147-A177-3AD203B41FA5}">
                      <a16:colId xmlns:a16="http://schemas.microsoft.com/office/drawing/2014/main" val="20000"/>
                    </a:ext>
                  </a:extLst>
                </a:gridCol>
              </a:tblGrid>
              <a:tr h="701040">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p>
                    <a:p>
                      <a:pPr algn="ctr">
                        <a:buNone/>
                      </a:pPr>
                      <a:r>
                        <a:rPr lang="en-US" altLang="zh-CN" sz="2000" b="0" dirty="0">
                          <a:latin typeface="Microsoft YaHei" panose="020B0503020204020204" pitchFamily="34" charset="-122"/>
                          <a:ea typeface="Microsoft YaHei" panose="020B0503020204020204" pitchFamily="34" charset="-122"/>
                        </a:rPr>
                        <a:t>Application Layer</a:t>
                      </a:r>
                    </a:p>
                  </a:txBody>
                  <a:tcPr anchor="ctr">
                    <a:solidFill>
                      <a:schemeClr val="bg1">
                        <a:lumMod val="85000"/>
                      </a:schemeClr>
                    </a:solidFill>
                  </a:tcPr>
                </a:tc>
                <a:extLst>
                  <a:ext uri="{0D108BD9-81ED-4DB2-BD59-A6C34878D82A}">
                    <a16:rowId xmlns:a16="http://schemas.microsoft.com/office/drawing/2014/main" val="10000"/>
                  </a:ext>
                </a:extLst>
              </a:tr>
              <a:tr h="701040">
                <a:tc>
                  <a:txBody>
                    <a:bodyPr/>
                    <a:lstStyle/>
                    <a:p>
                      <a:pPr algn="ctr">
                        <a:buNone/>
                      </a:pPr>
                      <a:r>
                        <a:rPr lang="zh-CN" altLang="en-US" sz="2000" b="0">
                          <a:latin typeface="Microsoft YaHei" panose="020B0503020204020204" pitchFamily="34" charset="-122"/>
                          <a:ea typeface="Microsoft YaHei" panose="020B0503020204020204" pitchFamily="34" charset="-122"/>
                        </a:rPr>
                        <a:t>表示层</a:t>
                      </a:r>
                    </a:p>
                    <a:p>
                      <a:pPr algn="ctr">
                        <a:buNone/>
                      </a:pPr>
                      <a:r>
                        <a:rPr lang="en-US" altLang="zh-CN" sz="2000" b="0">
                          <a:latin typeface="Microsoft YaHei" panose="020B0503020204020204" pitchFamily="34" charset="-122"/>
                          <a:ea typeface="Microsoft YaHei" panose="020B0503020204020204" pitchFamily="34" charset="-122"/>
                        </a:rPr>
                        <a:t>Presentation Layer</a:t>
                      </a:r>
                    </a:p>
                  </a:txBody>
                  <a:tcPr anchor="ctr">
                    <a:solidFill>
                      <a:schemeClr val="bg1">
                        <a:lumMod val="85000"/>
                      </a:schemeClr>
                    </a:solidFill>
                  </a:tcPr>
                </a:tc>
                <a:extLst>
                  <a:ext uri="{0D108BD9-81ED-4DB2-BD59-A6C34878D82A}">
                    <a16:rowId xmlns:a16="http://schemas.microsoft.com/office/drawing/2014/main" val="10001"/>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会话层</a:t>
                      </a:r>
                    </a:p>
                    <a:p>
                      <a:pPr algn="ctr">
                        <a:buNone/>
                      </a:pPr>
                      <a:r>
                        <a:rPr lang="en-US" altLang="zh-CN" sz="2000" b="0">
                          <a:latin typeface="Microsoft YaHei" panose="020B0503020204020204" pitchFamily="34" charset="-122"/>
                          <a:ea typeface="Microsoft YaHei" panose="020B0503020204020204" pitchFamily="34" charset="-122"/>
                        </a:rPr>
                        <a:t>Session Layer</a:t>
                      </a:r>
                    </a:p>
                  </a:txBody>
                  <a:tcPr anchor="ctr">
                    <a:solidFill>
                      <a:schemeClr val="bg1">
                        <a:lumMod val="85000"/>
                      </a:schemeClr>
                    </a:solidFill>
                  </a:tcPr>
                </a:tc>
                <a:extLst>
                  <a:ext uri="{0D108BD9-81ED-4DB2-BD59-A6C34878D82A}">
                    <a16:rowId xmlns:a16="http://schemas.microsoft.com/office/drawing/2014/main" val="10002"/>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p>
                    <a:p>
                      <a:pPr algn="ctr">
                        <a:buNone/>
                      </a:pPr>
                      <a:r>
                        <a:rPr lang="en-US" altLang="zh-CN" sz="2000" b="0">
                          <a:latin typeface="Microsoft YaHei" panose="020B0503020204020204" pitchFamily="34" charset="-122"/>
                          <a:ea typeface="Microsoft YaHei" panose="020B0503020204020204" pitchFamily="34" charset="-122"/>
                        </a:rPr>
                        <a:t>Transport Layer</a:t>
                      </a:r>
                    </a:p>
                  </a:txBody>
                  <a:tcPr anchor="ctr">
                    <a:solidFill>
                      <a:schemeClr val="bg1">
                        <a:lumMod val="85000"/>
                      </a:schemeClr>
                    </a:solidFill>
                  </a:tcPr>
                </a:tc>
                <a:extLst>
                  <a:ext uri="{0D108BD9-81ED-4DB2-BD59-A6C34878D82A}">
                    <a16:rowId xmlns:a16="http://schemas.microsoft.com/office/drawing/2014/main" val="10003"/>
                  </a:ext>
                </a:extLst>
              </a:tr>
              <a:tr h="38100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网络层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Network Layer</a:t>
                      </a:r>
                    </a:p>
                  </a:txBody>
                  <a:tcPr anchor="ctr">
                    <a:noFill/>
                  </a:tcPr>
                </a:tc>
                <a:extLst>
                  <a:ext uri="{0D108BD9-81ED-4DB2-BD59-A6C34878D82A}">
                    <a16:rowId xmlns:a16="http://schemas.microsoft.com/office/drawing/2014/main" val="10004"/>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数据链路层</a:t>
                      </a:r>
                    </a:p>
                    <a:p>
                      <a:pPr algn="ctr">
                        <a:buNone/>
                      </a:pPr>
                      <a:r>
                        <a:rPr lang="en-US" altLang="zh-CN" sz="2000" b="0">
                          <a:latin typeface="Microsoft YaHei" panose="020B0503020204020204" pitchFamily="34" charset="-122"/>
                          <a:ea typeface="Microsoft YaHei" panose="020B0503020204020204" pitchFamily="34" charset="-122"/>
                        </a:rPr>
                        <a:t>Data Link Layer</a:t>
                      </a:r>
                    </a:p>
                  </a:txBody>
                  <a:tcPr anchor="ctr">
                    <a:solidFill>
                      <a:schemeClr val="bg2">
                        <a:lumMod val="90000"/>
                      </a:schemeClr>
                    </a:solidFill>
                  </a:tcPr>
                </a:tc>
                <a:extLst>
                  <a:ext uri="{0D108BD9-81ED-4DB2-BD59-A6C34878D82A}">
                    <a16:rowId xmlns:a16="http://schemas.microsoft.com/office/drawing/2014/main" val="10005"/>
                  </a:ext>
                </a:extLst>
              </a:tr>
              <a:tr h="70104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p>
                    <a:p>
                      <a:pPr algn="ctr">
                        <a:buNone/>
                      </a:pPr>
                      <a:r>
                        <a:rPr lang="en-US" altLang="zh-CN" sz="2000" b="0" dirty="0">
                          <a:latin typeface="Microsoft YaHei" panose="020B0503020204020204" pitchFamily="34" charset="-122"/>
                          <a:ea typeface="Microsoft YaHei" panose="020B0503020204020204" pitchFamily="34" charset="-122"/>
                        </a:rPr>
                        <a:t>Physical Layer</a:t>
                      </a:r>
                    </a:p>
                  </a:txBody>
                  <a:tcPr anchor="c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5" name="矩形 4">
            <a:extLst>
              <a:ext uri="{FF2B5EF4-FFF2-40B4-BE49-F238E27FC236}">
                <a16:creationId xmlns:a16="http://schemas.microsoft.com/office/drawing/2014/main" id="{142C8AFF-4AFE-3F43-9CF3-11326F908E04}"/>
              </a:ext>
            </a:extLst>
          </p:cNvPr>
          <p:cNvSpPr/>
          <p:nvPr/>
        </p:nvSpPr>
        <p:spPr>
          <a:xfrm>
            <a:off x="986794" y="5918119"/>
            <a:ext cx="8259441" cy="461665"/>
          </a:xfrm>
          <a:prstGeom prst="rect">
            <a:avLst/>
          </a:prstGeom>
          <a:ln>
            <a:solidFill>
              <a:srgbClr val="C00000"/>
            </a:solidFill>
          </a:ln>
        </p:spPr>
        <p:txBody>
          <a:bodyPr wrap="none">
            <a:spAutoFit/>
          </a:bodyPr>
          <a:lstStyle/>
          <a:p>
            <a:r>
              <a:rPr kumimoji="1" lang="zh-CN" altLang="en-US" sz="2400" dirty="0">
                <a:solidFill>
                  <a:prstClr val="black"/>
                </a:solidFill>
                <a:latin typeface="Microsoft YaHei" panose="020B0503020204020204" pitchFamily="34" charset="-122"/>
                <a:ea typeface="Microsoft YaHei" panose="020B0503020204020204" pitchFamily="34" charset="-122"/>
              </a:rPr>
              <a:t>思考：为何在唯一的</a:t>
            </a:r>
            <a:r>
              <a:rPr kumimoji="1" lang="en-US" altLang="zh-CN" sz="2400" dirty="0">
                <a:solidFill>
                  <a:prstClr val="black"/>
                </a:solidFill>
                <a:latin typeface="Microsoft YaHei" panose="020B0503020204020204" pitchFamily="34" charset="-122"/>
                <a:ea typeface="Microsoft YaHei" panose="020B0503020204020204" pitchFamily="34" charset="-122"/>
              </a:rPr>
              <a:t>MAC</a:t>
            </a:r>
            <a:r>
              <a:rPr kumimoji="1" lang="zh-CN" altLang="en-US" sz="2400" dirty="0">
                <a:solidFill>
                  <a:prstClr val="black"/>
                </a:solidFill>
                <a:latin typeface="Microsoft YaHei" panose="020B0503020204020204" pitchFamily="34" charset="-122"/>
                <a:ea typeface="Microsoft YaHei" panose="020B0503020204020204" pitchFamily="34" charset="-122"/>
              </a:rPr>
              <a:t>地址之外，还需要唯一的</a:t>
            </a:r>
            <a:r>
              <a:rPr kumimoji="1" lang="en-US" altLang="zh-CN" sz="2400" dirty="0">
                <a:solidFill>
                  <a:prstClr val="black"/>
                </a:solidFill>
                <a:latin typeface="Microsoft YaHei" panose="020B0503020204020204" pitchFamily="34" charset="-122"/>
                <a:ea typeface="Microsoft YaHei" panose="020B0503020204020204" pitchFamily="34" charset="-122"/>
              </a:rPr>
              <a:t>IP</a:t>
            </a:r>
            <a:r>
              <a:rPr kumimoji="1" lang="zh-CN" altLang="en-US" sz="2400" dirty="0">
                <a:solidFill>
                  <a:prstClr val="black"/>
                </a:solidFill>
                <a:latin typeface="Microsoft YaHei" panose="020B0503020204020204" pitchFamily="34" charset="-122"/>
                <a:ea typeface="Microsoft YaHei" panose="020B0503020204020204" pitchFamily="34" charset="-122"/>
              </a:rPr>
              <a:t>地址？</a:t>
            </a:r>
            <a:endParaRPr lang="zh-CN" altLang="en-US" sz="2000" dirty="0"/>
          </a:p>
        </p:txBody>
      </p:sp>
      <p:sp>
        <p:nvSpPr>
          <p:cNvPr id="9" name="文本框 8">
            <a:extLst>
              <a:ext uri="{FF2B5EF4-FFF2-40B4-BE49-F238E27FC236}">
                <a16:creationId xmlns:a16="http://schemas.microsoft.com/office/drawing/2014/main" id="{31DC6E0A-AD86-0141-81E3-F9557F1FADB5}"/>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10" name="Picture 28" descr="015">
            <a:extLst>
              <a:ext uri="{FF2B5EF4-FFF2-40B4-BE49-F238E27FC236}">
                <a16:creationId xmlns:a16="http://schemas.microsoft.com/office/drawing/2014/main" id="{191D02DB-FE0F-456E-BF17-79CF938D72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32601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p>
        </p:txBody>
      </p:sp>
      <p:sp>
        <p:nvSpPr>
          <p:cNvPr id="3" name="内容占位符 2"/>
          <p:cNvSpPr>
            <a:spLocks noGrp="1"/>
          </p:cNvSpPr>
          <p:nvPr>
            <p:ph idx="1"/>
          </p:nvPr>
        </p:nvSpPr>
        <p:spPr>
          <a:xfrm>
            <a:off x="838200" y="1363928"/>
            <a:ext cx="8408035" cy="5269865"/>
          </a:xfrm>
        </p:spPr>
        <p:txBody>
          <a:bodyPr>
            <a:normAutofit fontScale="92500" lnSpcReduction="10000"/>
          </a:bodyPr>
          <a:lstStyle/>
          <a:p>
            <a:pPr marL="360363" indent="-360363"/>
            <a:r>
              <a:rPr kumimoji="1" lang="zh-CN" altLang="en-US" dirty="0"/>
              <a:t>传输层 </a:t>
            </a:r>
            <a:r>
              <a:rPr kumimoji="1" lang="en-US" altLang="zh-CN" dirty="0"/>
              <a:t>(Transport Layer)</a:t>
            </a:r>
            <a:endParaRPr kumimoji="1" lang="zh-CN" altLang="en-US" dirty="0"/>
          </a:p>
          <a:p>
            <a:pPr lvl="1" fontAlgn="auto">
              <a:lnSpc>
                <a:spcPct val="120000"/>
              </a:lnSpc>
            </a:pPr>
            <a:r>
              <a:rPr kumimoji="1" lang="zh-CN" altLang="en-US" dirty="0">
                <a:solidFill>
                  <a:srgbClr val="C00000"/>
                </a:solidFill>
              </a:rPr>
              <a:t>将数据从源端口发送到目的端口（</a:t>
            </a:r>
            <a:r>
              <a:rPr kumimoji="1" lang="zh-CN" altLang="en-US" b="1" dirty="0">
                <a:solidFill>
                  <a:srgbClr val="C00000"/>
                </a:solidFill>
              </a:rPr>
              <a:t>进程到进程</a:t>
            </a:r>
            <a:r>
              <a:rPr kumimoji="1" lang="zh-CN" altLang="en-US" dirty="0">
                <a:solidFill>
                  <a:srgbClr val="C00000"/>
                </a:solidFill>
              </a:rPr>
              <a:t>）</a:t>
            </a:r>
            <a:endParaRPr kumimoji="1" lang="zh-CN" altLang="en-US" dirty="0"/>
          </a:p>
          <a:p>
            <a:pPr lvl="1" fontAlgn="auto">
              <a:lnSpc>
                <a:spcPct val="120000"/>
              </a:lnSpc>
            </a:pPr>
            <a:r>
              <a:rPr kumimoji="1" lang="zh-CN" altLang="en-US" dirty="0"/>
              <a:t>网络层定位到一台主机（</a:t>
            </a:r>
            <a:r>
              <a:rPr kumimoji="1" lang="en-US" altLang="zh-CN" dirty="0"/>
              <a:t>host</a:t>
            </a:r>
            <a:r>
              <a:rPr kumimoji="1" lang="zh-CN" altLang="en-US" dirty="0"/>
              <a:t>），传输层的作用域具体到主机上的某一个进程</a:t>
            </a:r>
          </a:p>
          <a:p>
            <a:pPr lvl="1" fontAlgn="auto">
              <a:lnSpc>
                <a:spcPct val="120000"/>
              </a:lnSpc>
            </a:pPr>
            <a:r>
              <a:rPr kumimoji="1" lang="zh-CN" altLang="en-US" dirty="0"/>
              <a:t>网络层的控制主要面向运营商，传输层为</a:t>
            </a:r>
            <a:r>
              <a:rPr kumimoji="1" lang="zh-CN" altLang="en-US" dirty="0">
                <a:solidFill>
                  <a:srgbClr val="C00000"/>
                </a:solidFill>
              </a:rPr>
              <a:t>终端用户</a:t>
            </a:r>
            <a:r>
              <a:rPr kumimoji="1" lang="zh-CN" altLang="en-US" dirty="0"/>
              <a:t>提供端到端的数据传输控制</a:t>
            </a:r>
            <a:endParaRPr kumimoji="1" lang="en-US" altLang="zh-CN" dirty="0"/>
          </a:p>
          <a:p>
            <a:pPr lvl="1" fontAlgn="auto">
              <a:lnSpc>
                <a:spcPct val="120000"/>
              </a:lnSpc>
            </a:pPr>
            <a:r>
              <a:rPr kumimoji="1" lang="zh-CN" altLang="en-US" dirty="0"/>
              <a:t>两类模式：可靠的传输模式，或不可靠传输模式</a:t>
            </a:r>
          </a:p>
          <a:p>
            <a:pPr lvl="1" fontAlgn="auto">
              <a:lnSpc>
                <a:spcPct val="120000"/>
              </a:lnSpc>
            </a:pPr>
            <a:r>
              <a:rPr kumimoji="1" lang="zh-CN" altLang="en-US" dirty="0"/>
              <a:t>可靠传输：可靠的端到端数据传输，适合于对通信质量有要求的应用场景，如文件传输等</a:t>
            </a:r>
            <a:endParaRPr kumimoji="1" lang="en-US" altLang="zh-CN" dirty="0"/>
          </a:p>
          <a:p>
            <a:pPr lvl="1" fontAlgn="auto">
              <a:lnSpc>
                <a:spcPct val="120000"/>
              </a:lnSpc>
            </a:pPr>
            <a:r>
              <a:rPr kumimoji="1" lang="zh-CN" altLang="en-US" dirty="0"/>
              <a:t>不可靠传输：更快捷、更轻量的端到端数据传输，适合于对通信质量要求不高，对通信响应速度要求高的应用场景，如语音对话、视频会议等</a:t>
            </a:r>
          </a:p>
          <a:p>
            <a:pPr lvl="1"/>
            <a:endParaRPr kumimoji="1" lang="zh-CN" altLang="en-US" dirty="0"/>
          </a:p>
        </p:txBody>
      </p:sp>
      <p:sp>
        <p:nvSpPr>
          <p:cNvPr id="5" name="灯片编号占位符 4">
            <a:extLst>
              <a:ext uri="{FF2B5EF4-FFF2-40B4-BE49-F238E27FC236}">
                <a16:creationId xmlns:a16="http://schemas.microsoft.com/office/drawing/2014/main" id="{5C4C1A8F-64FD-2846-9D27-52092ED28F1D}"/>
              </a:ext>
            </a:extLst>
          </p:cNvPr>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graphicFrame>
        <p:nvGraphicFramePr>
          <p:cNvPr id="6" name="表格 5"/>
          <p:cNvGraphicFramePr/>
          <p:nvPr>
            <p:extLst>
              <p:ext uri="{D42A27DB-BD31-4B8C-83A1-F6EECF244321}">
                <p14:modId xmlns:p14="http://schemas.microsoft.com/office/powerpoint/2010/main" val="4167396353"/>
              </p:ext>
            </p:extLst>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extLst>
                    <a:ext uri="{9D8B030D-6E8A-4147-A177-3AD203B41FA5}">
                      <a16:colId xmlns:a16="http://schemas.microsoft.com/office/drawing/2014/main" val="20000"/>
                    </a:ext>
                  </a:extLst>
                </a:gridCol>
              </a:tblGrid>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应用层</a:t>
                      </a:r>
                    </a:p>
                    <a:p>
                      <a:pPr algn="ctr">
                        <a:buNone/>
                      </a:pPr>
                      <a:r>
                        <a:rPr lang="en-US" altLang="zh-CN" sz="2000" b="0">
                          <a:latin typeface="Microsoft YaHei" panose="020B0503020204020204" pitchFamily="34" charset="-122"/>
                          <a:ea typeface="Microsoft YaHei" panose="020B0503020204020204" pitchFamily="34" charset="-122"/>
                        </a:rPr>
                        <a:t>Application Layer</a:t>
                      </a:r>
                    </a:p>
                  </a:txBody>
                  <a:tcPr anchor="ctr">
                    <a:solidFill>
                      <a:schemeClr val="bg1">
                        <a:lumMod val="85000"/>
                      </a:schemeClr>
                    </a:solidFill>
                  </a:tcPr>
                </a:tc>
                <a:extLst>
                  <a:ext uri="{0D108BD9-81ED-4DB2-BD59-A6C34878D82A}">
                    <a16:rowId xmlns:a16="http://schemas.microsoft.com/office/drawing/2014/main" val="10000"/>
                  </a:ext>
                </a:extLst>
              </a:tr>
              <a:tr h="701040">
                <a:tc>
                  <a:txBody>
                    <a:bodyPr/>
                    <a:lstStyle/>
                    <a:p>
                      <a:pPr algn="ctr">
                        <a:buNone/>
                      </a:pPr>
                      <a:r>
                        <a:rPr lang="zh-CN" altLang="en-US" sz="2000" b="0">
                          <a:latin typeface="Microsoft YaHei" panose="020B0503020204020204" pitchFamily="34" charset="-122"/>
                          <a:ea typeface="Microsoft YaHei" panose="020B0503020204020204" pitchFamily="34" charset="-122"/>
                        </a:rPr>
                        <a:t>表示层</a:t>
                      </a:r>
                    </a:p>
                    <a:p>
                      <a:pPr algn="ctr">
                        <a:buNone/>
                      </a:pPr>
                      <a:r>
                        <a:rPr lang="en-US" altLang="zh-CN" sz="2000" b="0">
                          <a:latin typeface="Microsoft YaHei" panose="020B0503020204020204" pitchFamily="34" charset="-122"/>
                          <a:ea typeface="Microsoft YaHei" panose="020B0503020204020204" pitchFamily="34" charset="-122"/>
                        </a:rPr>
                        <a:t>Presentation Layer</a:t>
                      </a:r>
                    </a:p>
                  </a:txBody>
                  <a:tcPr anchor="ctr">
                    <a:solidFill>
                      <a:schemeClr val="bg1">
                        <a:lumMod val="85000"/>
                      </a:schemeClr>
                    </a:solidFill>
                  </a:tcPr>
                </a:tc>
                <a:extLst>
                  <a:ext uri="{0D108BD9-81ED-4DB2-BD59-A6C34878D82A}">
                    <a16:rowId xmlns:a16="http://schemas.microsoft.com/office/drawing/2014/main" val="10001"/>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会话层</a:t>
                      </a:r>
                    </a:p>
                    <a:p>
                      <a:pPr algn="ctr">
                        <a:buNone/>
                      </a:pPr>
                      <a:r>
                        <a:rPr lang="en-US" altLang="zh-CN" sz="2000" b="0">
                          <a:latin typeface="Microsoft YaHei" panose="020B0503020204020204" pitchFamily="34" charset="-122"/>
                          <a:ea typeface="Microsoft YaHei" panose="020B0503020204020204" pitchFamily="34" charset="-122"/>
                        </a:rPr>
                        <a:t>Session Layer</a:t>
                      </a:r>
                    </a:p>
                  </a:txBody>
                  <a:tcPr anchor="ctr">
                    <a:solidFill>
                      <a:schemeClr val="bg1">
                        <a:lumMod val="85000"/>
                      </a:schemeClr>
                    </a:solidFill>
                  </a:tcPr>
                </a:tc>
                <a:extLst>
                  <a:ext uri="{0D108BD9-81ED-4DB2-BD59-A6C34878D82A}">
                    <a16:rowId xmlns:a16="http://schemas.microsoft.com/office/drawing/2014/main" val="10002"/>
                  </a:ext>
                </a:extLst>
              </a:tr>
              <a:tr h="38100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传输层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Transport Layer</a:t>
                      </a:r>
                    </a:p>
                  </a:txBody>
                  <a:tcPr anchor="ctr">
                    <a:noFill/>
                  </a:tcPr>
                </a:tc>
                <a:extLst>
                  <a:ext uri="{0D108BD9-81ED-4DB2-BD59-A6C34878D82A}">
                    <a16:rowId xmlns:a16="http://schemas.microsoft.com/office/drawing/2014/main" val="10003"/>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p>
                    <a:p>
                      <a:pPr algn="ctr">
                        <a:buNone/>
                      </a:pPr>
                      <a:r>
                        <a:rPr lang="en-US" altLang="zh-CN" sz="2000" b="0">
                          <a:latin typeface="Microsoft YaHei" panose="020B0503020204020204" pitchFamily="34" charset="-122"/>
                          <a:ea typeface="Microsoft YaHei" panose="020B0503020204020204" pitchFamily="34" charset="-122"/>
                        </a:rPr>
                        <a:t>Network Layer</a:t>
                      </a:r>
                    </a:p>
                  </a:txBody>
                  <a:tcPr anchor="ctr">
                    <a:solidFill>
                      <a:schemeClr val="bg2">
                        <a:lumMod val="90000"/>
                      </a:schemeClr>
                    </a:solidFill>
                  </a:tcPr>
                </a:tc>
                <a:extLst>
                  <a:ext uri="{0D108BD9-81ED-4DB2-BD59-A6C34878D82A}">
                    <a16:rowId xmlns:a16="http://schemas.microsoft.com/office/drawing/2014/main" val="10004"/>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数据链路层</a:t>
                      </a:r>
                    </a:p>
                    <a:p>
                      <a:pPr algn="ctr">
                        <a:buNone/>
                      </a:pPr>
                      <a:r>
                        <a:rPr lang="en-US" altLang="zh-CN" sz="2000" b="0">
                          <a:latin typeface="Microsoft YaHei" panose="020B0503020204020204" pitchFamily="34" charset="-122"/>
                          <a:ea typeface="Microsoft YaHei" panose="020B0503020204020204" pitchFamily="34" charset="-122"/>
                        </a:rPr>
                        <a:t>Data Link Layer</a:t>
                      </a:r>
                    </a:p>
                  </a:txBody>
                  <a:tcPr anchor="ctr">
                    <a:solidFill>
                      <a:schemeClr val="bg2">
                        <a:lumMod val="90000"/>
                      </a:schemeClr>
                    </a:solidFill>
                  </a:tcPr>
                </a:tc>
                <a:extLst>
                  <a:ext uri="{0D108BD9-81ED-4DB2-BD59-A6C34878D82A}">
                    <a16:rowId xmlns:a16="http://schemas.microsoft.com/office/drawing/2014/main" val="10005"/>
                  </a:ext>
                </a:extLst>
              </a:tr>
              <a:tr h="70104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p>
                    <a:p>
                      <a:pPr algn="ctr">
                        <a:buNone/>
                      </a:pPr>
                      <a:r>
                        <a:rPr lang="en-US" altLang="zh-CN" sz="2000" b="0" dirty="0">
                          <a:latin typeface="Microsoft YaHei" panose="020B0503020204020204" pitchFamily="34" charset="-122"/>
                          <a:ea typeface="Microsoft YaHei" panose="020B0503020204020204" pitchFamily="34" charset="-122"/>
                        </a:rPr>
                        <a:t>Physical Layer</a:t>
                      </a:r>
                    </a:p>
                  </a:txBody>
                  <a:tcPr anchor="c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8" name="文本框 7">
            <a:extLst>
              <a:ext uri="{FF2B5EF4-FFF2-40B4-BE49-F238E27FC236}">
                <a16:creationId xmlns:a16="http://schemas.microsoft.com/office/drawing/2014/main" id="{F3B6B2D2-92D7-3244-B002-F05C1F58E08B}"/>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7" name="Picture 28" descr="015">
            <a:extLst>
              <a:ext uri="{FF2B5EF4-FFF2-40B4-BE49-F238E27FC236}">
                <a16:creationId xmlns:a16="http://schemas.microsoft.com/office/drawing/2014/main" id="{ADBDACF3-E8D2-4E02-852F-0205BD670C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28112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OSI</a:t>
            </a:r>
            <a:r>
              <a:rPr kumimoji="1" lang="zh-CN" altLang="en-US" dirty="0"/>
              <a:t>参考模型</a:t>
            </a:r>
          </a:p>
        </p:txBody>
      </p:sp>
      <p:sp>
        <p:nvSpPr>
          <p:cNvPr id="3" name="内容占位符 2"/>
          <p:cNvSpPr>
            <a:spLocks noGrp="1"/>
          </p:cNvSpPr>
          <p:nvPr>
            <p:ph idx="1"/>
          </p:nvPr>
        </p:nvSpPr>
        <p:spPr>
          <a:xfrm>
            <a:off x="838200" y="1510665"/>
            <a:ext cx="8408035" cy="4586605"/>
          </a:xfrm>
        </p:spPr>
        <p:txBody>
          <a:bodyPr>
            <a:normAutofit/>
          </a:bodyPr>
          <a:lstStyle/>
          <a:p>
            <a:pPr marL="360363" indent="-360363" fontAlgn="auto">
              <a:lnSpc>
                <a:spcPct val="120000"/>
              </a:lnSpc>
            </a:pPr>
            <a:r>
              <a:rPr kumimoji="1" lang="zh-CN" altLang="en-US" dirty="0"/>
              <a:t>会话层 </a:t>
            </a:r>
            <a:r>
              <a:rPr kumimoji="1" lang="en-US" altLang="zh-CN" dirty="0"/>
              <a:t>(Session Layer)</a:t>
            </a:r>
            <a:endParaRPr kumimoji="1" lang="zh-CN" altLang="en-US" dirty="0"/>
          </a:p>
          <a:p>
            <a:pPr lvl="1" fontAlgn="auto">
              <a:lnSpc>
                <a:spcPct val="120000"/>
              </a:lnSpc>
            </a:pPr>
            <a:r>
              <a:rPr kumimoji="1" lang="zh-CN" altLang="en-US" dirty="0"/>
              <a:t>利用传输层提供的服务，在应用程序之间建立和维持会话，并能使会话获得同步</a:t>
            </a:r>
          </a:p>
          <a:p>
            <a:pPr marL="360363" lvl="0" indent="-360363" fontAlgn="auto">
              <a:lnSpc>
                <a:spcPct val="120000"/>
              </a:lnSpc>
            </a:pPr>
            <a:r>
              <a:rPr kumimoji="1" lang="zh-CN" altLang="en-US" dirty="0"/>
              <a:t>表示层（</a:t>
            </a:r>
            <a:r>
              <a:rPr kumimoji="1" lang="en-US" altLang="zh-CN" dirty="0"/>
              <a:t>Presentation Layer</a:t>
            </a:r>
            <a:r>
              <a:rPr kumimoji="1" lang="zh-CN" altLang="en-US" dirty="0"/>
              <a:t>）</a:t>
            </a:r>
          </a:p>
          <a:p>
            <a:pPr lvl="1" fontAlgn="auto">
              <a:lnSpc>
                <a:spcPct val="120000"/>
              </a:lnSpc>
            </a:pPr>
            <a:r>
              <a:rPr kumimoji="1" lang="zh-CN" altLang="en-US" sz="2400" dirty="0"/>
              <a:t>关注所传递信息的语法和语义，管理数据的表示方法，传输的数据结构</a:t>
            </a:r>
            <a:endParaRPr kumimoji="1" lang="zh-CN" altLang="en-US" dirty="0"/>
          </a:p>
          <a:p>
            <a:pPr marL="360363" lvl="0" indent="-360363" fontAlgn="auto">
              <a:lnSpc>
                <a:spcPct val="120000"/>
              </a:lnSpc>
            </a:pPr>
            <a:r>
              <a:rPr kumimoji="1" lang="zh-CN" altLang="en-US" dirty="0"/>
              <a:t>应用层</a:t>
            </a:r>
            <a:r>
              <a:rPr kumimoji="1" lang="zh-CN" altLang="en-US" dirty="0">
                <a:sym typeface="+mn-ea"/>
              </a:rPr>
              <a:t>（</a:t>
            </a:r>
            <a:r>
              <a:rPr kumimoji="1" lang="en-US" altLang="zh-CN" dirty="0">
                <a:sym typeface="+mn-ea"/>
              </a:rPr>
              <a:t>Application Layer</a:t>
            </a:r>
            <a:r>
              <a:rPr kumimoji="1" lang="zh-CN" altLang="en-US" dirty="0">
                <a:sym typeface="+mn-ea"/>
              </a:rPr>
              <a:t>）</a:t>
            </a:r>
          </a:p>
          <a:p>
            <a:pPr lvl="1" fontAlgn="auto">
              <a:lnSpc>
                <a:spcPct val="120000"/>
              </a:lnSpc>
            </a:pPr>
            <a:r>
              <a:rPr kumimoji="1" lang="zh-CN" altLang="en-US" dirty="0"/>
              <a:t>通过应用层协议，提供应用程序便捷的网络服务调用</a:t>
            </a:r>
          </a:p>
        </p:txBody>
      </p:sp>
      <p:sp>
        <p:nvSpPr>
          <p:cNvPr id="5" name="灯片编号占位符 4">
            <a:extLst>
              <a:ext uri="{FF2B5EF4-FFF2-40B4-BE49-F238E27FC236}">
                <a16:creationId xmlns:a16="http://schemas.microsoft.com/office/drawing/2014/main" id="{BAC9FB1B-EF07-6C45-9E05-FEB7184B956C}"/>
              </a:ext>
            </a:extLst>
          </p:cNvPr>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graphicFrame>
        <p:nvGraphicFramePr>
          <p:cNvPr id="6" name="表格 5"/>
          <p:cNvGraphicFramePr/>
          <p:nvPr>
            <p:extLst>
              <p:ext uri="{D42A27DB-BD31-4B8C-83A1-F6EECF244321}">
                <p14:modId xmlns:p14="http://schemas.microsoft.com/office/powerpoint/2010/main" val="2631552351"/>
              </p:ext>
            </p:extLst>
          </p:nvPr>
        </p:nvGraphicFramePr>
        <p:xfrm>
          <a:off x="9350375" y="1451610"/>
          <a:ext cx="2463165" cy="4907280"/>
        </p:xfrm>
        <a:graphic>
          <a:graphicData uri="http://schemas.openxmlformats.org/drawingml/2006/table">
            <a:tbl>
              <a:tblPr firstRow="1" bandRow="1">
                <a:tableStyleId>{5940675A-B579-460E-94D1-54222C63F5DA}</a:tableStyleId>
              </a:tblPr>
              <a:tblGrid>
                <a:gridCol w="2463165">
                  <a:extLst>
                    <a:ext uri="{9D8B030D-6E8A-4147-A177-3AD203B41FA5}">
                      <a16:colId xmlns:a16="http://schemas.microsoft.com/office/drawing/2014/main" val="20000"/>
                    </a:ext>
                  </a:extLst>
                </a:gridCol>
              </a:tblGrid>
              <a:tr h="38100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应用层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Application Layer</a:t>
                      </a:r>
                    </a:p>
                  </a:txBody>
                  <a:tcPr anchor="ctr">
                    <a:noFill/>
                  </a:tcPr>
                </a:tc>
                <a:extLst>
                  <a:ext uri="{0D108BD9-81ED-4DB2-BD59-A6C34878D82A}">
                    <a16:rowId xmlns:a16="http://schemas.microsoft.com/office/drawing/2014/main" val="10000"/>
                  </a:ext>
                </a:extLst>
              </a:tr>
              <a:tr h="70104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表示层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Presentation Layer</a:t>
                      </a:r>
                    </a:p>
                  </a:txBody>
                  <a:tcPr anchor="ctr">
                    <a:noFill/>
                  </a:tcPr>
                </a:tc>
                <a:extLst>
                  <a:ext uri="{0D108BD9-81ED-4DB2-BD59-A6C34878D82A}">
                    <a16:rowId xmlns:a16="http://schemas.microsoft.com/office/drawing/2014/main" val="10001"/>
                  </a:ext>
                </a:extLst>
              </a:tr>
              <a:tr h="381000">
                <a:tc>
                  <a:txBody>
                    <a:bodyPr/>
                    <a:lstStyle/>
                    <a:p>
                      <a:pPr algn="ctr">
                        <a:buNone/>
                      </a:pPr>
                      <a:r>
                        <a:rPr lang="zh-CN" altLang="en-US" sz="2000" b="0" dirty="0">
                          <a:solidFill>
                            <a:srgbClr val="C00000"/>
                          </a:solidFill>
                          <a:latin typeface="Microsoft YaHei" panose="020B0503020204020204" pitchFamily="34" charset="-122"/>
                          <a:ea typeface="Microsoft YaHei" panose="020B0503020204020204" pitchFamily="34" charset="-122"/>
                        </a:rPr>
                        <a:t>会话层</a:t>
                      </a:r>
                    </a:p>
                    <a:p>
                      <a:pPr algn="ctr">
                        <a:buNone/>
                      </a:pPr>
                      <a:r>
                        <a:rPr lang="en-US" altLang="zh-CN" sz="2000" b="0" dirty="0">
                          <a:solidFill>
                            <a:srgbClr val="C00000"/>
                          </a:solidFill>
                          <a:latin typeface="Microsoft YaHei" panose="020B0503020204020204" pitchFamily="34" charset="-122"/>
                          <a:ea typeface="Microsoft YaHei" panose="020B0503020204020204" pitchFamily="34" charset="-122"/>
                        </a:rPr>
                        <a:t>Session Layer</a:t>
                      </a:r>
                    </a:p>
                  </a:txBody>
                  <a:tcPr anchor="ctr">
                    <a:noFill/>
                  </a:tcPr>
                </a:tc>
                <a:extLst>
                  <a:ext uri="{0D108BD9-81ED-4DB2-BD59-A6C34878D82A}">
                    <a16:rowId xmlns:a16="http://schemas.microsoft.com/office/drawing/2014/main" val="10002"/>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p>
                    <a:p>
                      <a:pPr algn="ctr">
                        <a:buNone/>
                      </a:pPr>
                      <a:r>
                        <a:rPr lang="en-US" altLang="zh-CN" sz="2000" b="0">
                          <a:latin typeface="Microsoft YaHei" panose="020B0503020204020204" pitchFamily="34" charset="-122"/>
                          <a:ea typeface="Microsoft YaHei" panose="020B0503020204020204" pitchFamily="34" charset="-122"/>
                        </a:rPr>
                        <a:t>Transport Layer</a:t>
                      </a:r>
                    </a:p>
                  </a:txBody>
                  <a:tcPr anchor="ctr">
                    <a:solidFill>
                      <a:schemeClr val="bg2">
                        <a:lumMod val="90000"/>
                      </a:schemeClr>
                    </a:solidFill>
                  </a:tcPr>
                </a:tc>
                <a:extLst>
                  <a:ext uri="{0D108BD9-81ED-4DB2-BD59-A6C34878D82A}">
                    <a16:rowId xmlns:a16="http://schemas.microsoft.com/office/drawing/2014/main" val="10003"/>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p>
                    <a:p>
                      <a:pPr algn="ctr">
                        <a:buNone/>
                      </a:pPr>
                      <a:r>
                        <a:rPr lang="en-US" altLang="zh-CN" sz="2000" b="0">
                          <a:latin typeface="Microsoft YaHei" panose="020B0503020204020204" pitchFamily="34" charset="-122"/>
                          <a:ea typeface="Microsoft YaHei" panose="020B0503020204020204" pitchFamily="34" charset="-122"/>
                        </a:rPr>
                        <a:t>Network Layer</a:t>
                      </a:r>
                    </a:p>
                  </a:txBody>
                  <a:tcPr anchor="ctr">
                    <a:solidFill>
                      <a:schemeClr val="bg2">
                        <a:lumMod val="90000"/>
                      </a:schemeClr>
                    </a:solidFill>
                  </a:tcPr>
                </a:tc>
                <a:extLst>
                  <a:ext uri="{0D108BD9-81ED-4DB2-BD59-A6C34878D82A}">
                    <a16:rowId xmlns:a16="http://schemas.microsoft.com/office/drawing/2014/main" val="10004"/>
                  </a:ext>
                </a:extLst>
              </a:tr>
              <a:tr h="381000">
                <a:tc>
                  <a:txBody>
                    <a:bodyPr/>
                    <a:lstStyle/>
                    <a:p>
                      <a:pPr algn="ctr">
                        <a:buNone/>
                      </a:pPr>
                      <a:r>
                        <a:rPr lang="zh-CN" altLang="en-US" sz="2000" b="0">
                          <a:latin typeface="Microsoft YaHei" panose="020B0503020204020204" pitchFamily="34" charset="-122"/>
                          <a:ea typeface="Microsoft YaHei" panose="020B0503020204020204" pitchFamily="34" charset="-122"/>
                        </a:rPr>
                        <a:t>数据链路层</a:t>
                      </a:r>
                    </a:p>
                    <a:p>
                      <a:pPr algn="ctr">
                        <a:buNone/>
                      </a:pPr>
                      <a:r>
                        <a:rPr lang="en-US" altLang="zh-CN" sz="2000" b="0">
                          <a:latin typeface="Microsoft YaHei" panose="020B0503020204020204" pitchFamily="34" charset="-122"/>
                          <a:ea typeface="Microsoft YaHei" panose="020B0503020204020204" pitchFamily="34" charset="-122"/>
                        </a:rPr>
                        <a:t>Data Link Layer</a:t>
                      </a:r>
                    </a:p>
                  </a:txBody>
                  <a:tcPr anchor="ctr">
                    <a:solidFill>
                      <a:schemeClr val="bg2">
                        <a:lumMod val="90000"/>
                      </a:schemeClr>
                    </a:solidFill>
                  </a:tcPr>
                </a:tc>
                <a:extLst>
                  <a:ext uri="{0D108BD9-81ED-4DB2-BD59-A6C34878D82A}">
                    <a16:rowId xmlns:a16="http://schemas.microsoft.com/office/drawing/2014/main" val="10005"/>
                  </a:ext>
                </a:extLst>
              </a:tr>
              <a:tr h="70104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p>
                    <a:p>
                      <a:pPr algn="ctr">
                        <a:buNone/>
                      </a:pPr>
                      <a:r>
                        <a:rPr lang="en-US" altLang="zh-CN" sz="2000" b="0" dirty="0">
                          <a:latin typeface="Microsoft YaHei" panose="020B0503020204020204" pitchFamily="34" charset="-122"/>
                          <a:ea typeface="Microsoft YaHei" panose="020B0503020204020204" pitchFamily="34" charset="-122"/>
                        </a:rPr>
                        <a:t>Physical Layer</a:t>
                      </a:r>
                    </a:p>
                  </a:txBody>
                  <a:tcPr anchor="c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8" name="文本框 7">
            <a:extLst>
              <a:ext uri="{FF2B5EF4-FFF2-40B4-BE49-F238E27FC236}">
                <a16:creationId xmlns:a16="http://schemas.microsoft.com/office/drawing/2014/main" id="{F6230B31-5B66-DC48-A97C-9059E39ACFEF}"/>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7" name="Picture 28" descr="015">
            <a:extLst>
              <a:ext uri="{FF2B5EF4-FFF2-40B4-BE49-F238E27FC236}">
                <a16:creationId xmlns:a16="http://schemas.microsoft.com/office/drawing/2014/main" id="{507DB455-1700-43EB-BAD0-192B237AC6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11075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TCP/IP</a:t>
            </a:r>
            <a:r>
              <a:rPr kumimoji="1" lang="zh-CN" altLang="en-US" dirty="0"/>
              <a:t>参考模型</a:t>
            </a:r>
          </a:p>
        </p:txBody>
      </p:sp>
      <p:sp>
        <p:nvSpPr>
          <p:cNvPr id="9" name="内容占位符 2">
            <a:extLst>
              <a:ext uri="{FF2B5EF4-FFF2-40B4-BE49-F238E27FC236}">
                <a16:creationId xmlns:a16="http://schemas.microsoft.com/office/drawing/2014/main" id="{F3321CCD-8AD3-F74A-89DC-B2B06368FC04}"/>
              </a:ext>
            </a:extLst>
          </p:cNvPr>
          <p:cNvSpPr>
            <a:spLocks noGrp="1"/>
          </p:cNvSpPr>
          <p:nvPr>
            <p:ph idx="1"/>
          </p:nvPr>
        </p:nvSpPr>
        <p:spPr>
          <a:xfrm>
            <a:off x="838200" y="1379349"/>
            <a:ext cx="8220812" cy="4718103"/>
          </a:xfrm>
        </p:spPr>
        <p:txBody>
          <a:bodyPr>
            <a:noAutofit/>
          </a:bodyPr>
          <a:lstStyle/>
          <a:p>
            <a:pPr>
              <a:lnSpc>
                <a:spcPct val="120000"/>
              </a:lnSpc>
              <a:spcBef>
                <a:spcPts val="0"/>
              </a:spcBef>
            </a:pPr>
            <a:r>
              <a:rPr kumimoji="1" lang="en-US" altLang="zh-CN" sz="2400" dirty="0"/>
              <a:t>TCP/IP</a:t>
            </a:r>
            <a:r>
              <a:rPr kumimoji="1" lang="zh-CN" altLang="en-US" sz="2400" dirty="0"/>
              <a:t>参考模型：</a:t>
            </a:r>
            <a:r>
              <a:rPr kumimoji="1" lang="en-US" altLang="zh-CN" sz="2400" dirty="0"/>
              <a:t>ARPANET</a:t>
            </a:r>
            <a:r>
              <a:rPr kumimoji="1" lang="zh-CN" altLang="en-US" sz="2400" dirty="0"/>
              <a:t>所采用</a:t>
            </a:r>
            <a:endParaRPr kumimoji="1" lang="en-US" altLang="zh-CN" sz="2400" dirty="0"/>
          </a:p>
          <a:p>
            <a:pPr lvl="1">
              <a:lnSpc>
                <a:spcPct val="120000"/>
              </a:lnSpc>
              <a:spcBef>
                <a:spcPts val="0"/>
              </a:spcBef>
            </a:pPr>
            <a:r>
              <a:rPr kumimoji="1" lang="zh-CN" altLang="en-US" sz="2000" dirty="0"/>
              <a:t>以其中最主要的两个协议</a:t>
            </a:r>
            <a:r>
              <a:rPr kumimoji="1" lang="en-US" altLang="zh-CN" sz="2000" dirty="0"/>
              <a:t>TCP/IP</a:t>
            </a:r>
            <a:r>
              <a:rPr kumimoji="1" lang="zh-CN" altLang="en-US" sz="2000" dirty="0"/>
              <a:t>命名</a:t>
            </a:r>
            <a:endParaRPr kumimoji="1" lang="en-US" altLang="zh-CN" sz="2000" dirty="0"/>
          </a:p>
          <a:p>
            <a:pPr lvl="1">
              <a:lnSpc>
                <a:spcPct val="120000"/>
              </a:lnSpc>
              <a:spcBef>
                <a:spcPts val="0"/>
              </a:spcBef>
            </a:pPr>
            <a:r>
              <a:rPr kumimoji="1" lang="en-US" altLang="zh-CN" sz="2000" dirty="0" err="1"/>
              <a:t>Vint</a:t>
            </a:r>
            <a:r>
              <a:rPr kumimoji="1" lang="zh-CN" altLang="en-US" sz="2000" dirty="0"/>
              <a:t> </a:t>
            </a:r>
            <a:r>
              <a:rPr kumimoji="1" lang="en-US" altLang="zh-CN" sz="2000" dirty="0"/>
              <a:t>Cerf</a:t>
            </a:r>
            <a:r>
              <a:rPr kumimoji="1" lang="zh-CN" altLang="en-US" sz="2000" dirty="0"/>
              <a:t>和</a:t>
            </a:r>
            <a:r>
              <a:rPr kumimoji="1" lang="en-US" altLang="zh-CN" sz="2000" dirty="0"/>
              <a:t>Bob</a:t>
            </a:r>
            <a:r>
              <a:rPr kumimoji="1" lang="zh-CN" altLang="en-US" sz="2000" dirty="0"/>
              <a:t> </a:t>
            </a:r>
            <a:r>
              <a:rPr kumimoji="1" lang="en-US" altLang="zh-CN" sz="2000" dirty="0"/>
              <a:t>Kahn</a:t>
            </a:r>
            <a:r>
              <a:rPr kumimoji="1" lang="zh-CN" altLang="en-US" sz="2000" dirty="0"/>
              <a:t>于</a:t>
            </a:r>
            <a:r>
              <a:rPr kumimoji="1" lang="en-US" altLang="zh-CN" sz="2000" dirty="0"/>
              <a:t>1974</a:t>
            </a:r>
            <a:r>
              <a:rPr kumimoji="1" lang="zh-CN" altLang="en-US" sz="2000" dirty="0"/>
              <a:t>年提出</a:t>
            </a:r>
          </a:p>
          <a:p>
            <a:pPr fontAlgn="auto">
              <a:lnSpc>
                <a:spcPct val="120000"/>
              </a:lnSpc>
              <a:spcBef>
                <a:spcPts val="0"/>
              </a:spcBef>
            </a:pPr>
            <a:r>
              <a:rPr kumimoji="1" lang="zh-CN" altLang="en-US" sz="2400" dirty="0"/>
              <a:t>链路层（</a:t>
            </a:r>
            <a:r>
              <a:rPr kumimoji="1" lang="en-US" altLang="zh-CN" sz="2400" dirty="0"/>
              <a:t>Link Layer</a:t>
            </a:r>
            <a:r>
              <a:rPr kumimoji="1" lang="zh-CN" altLang="en-US" sz="2400" dirty="0"/>
              <a:t>）</a:t>
            </a:r>
            <a:endParaRPr kumimoji="1" lang="zh-CN" altLang="en-US" dirty="0"/>
          </a:p>
          <a:p>
            <a:pPr lvl="1" fontAlgn="auto">
              <a:lnSpc>
                <a:spcPct val="120000"/>
              </a:lnSpc>
              <a:spcBef>
                <a:spcPts val="0"/>
              </a:spcBef>
            </a:pPr>
            <a:r>
              <a:rPr kumimoji="1" lang="zh-CN" altLang="en-US" sz="2000" dirty="0"/>
              <a:t>描述了为满足无连接的互联网络层需求，链路必须具备的功能</a:t>
            </a:r>
          </a:p>
          <a:p>
            <a:pPr fontAlgn="auto">
              <a:lnSpc>
                <a:spcPct val="120000"/>
              </a:lnSpc>
              <a:spcBef>
                <a:spcPts val="0"/>
              </a:spcBef>
            </a:pPr>
            <a:r>
              <a:rPr kumimoji="1" lang="zh-CN" altLang="en-US" sz="2400" dirty="0"/>
              <a:t>互联网层（</a:t>
            </a:r>
            <a:r>
              <a:rPr kumimoji="1" lang="en-US" altLang="zh-CN" sz="2400" dirty="0"/>
              <a:t>Internet Layer</a:t>
            </a:r>
            <a:r>
              <a:rPr kumimoji="1" lang="zh-CN" altLang="en-US" sz="2400" dirty="0"/>
              <a:t>）</a:t>
            </a:r>
            <a:endParaRPr kumimoji="1" lang="zh-CN" altLang="en-US" dirty="0"/>
          </a:p>
          <a:p>
            <a:pPr lvl="1" fontAlgn="auto">
              <a:lnSpc>
                <a:spcPct val="120000"/>
              </a:lnSpc>
              <a:spcBef>
                <a:spcPts val="0"/>
              </a:spcBef>
            </a:pPr>
            <a:r>
              <a:rPr kumimoji="1" lang="zh-CN" altLang="en-US" sz="2000" dirty="0"/>
              <a:t>允许主机将数据包注入网络，让这些数据包独立的传输至目的地，并定义了数据包格式和协议（</a:t>
            </a:r>
            <a:r>
              <a:rPr kumimoji="1" lang="en-US" altLang="zh-CN" sz="2000" dirty="0"/>
              <a:t>IPv4</a:t>
            </a:r>
            <a:r>
              <a:rPr kumimoji="1" lang="zh-CN" altLang="en-US" sz="2000" dirty="0"/>
              <a:t>协议和</a:t>
            </a:r>
            <a:r>
              <a:rPr kumimoji="1" lang="en-US" altLang="zh-CN" sz="2000" dirty="0"/>
              <a:t>IPv6</a:t>
            </a:r>
            <a:r>
              <a:rPr kumimoji="1" lang="zh-CN" altLang="en-US" sz="2000" dirty="0"/>
              <a:t>协议）</a:t>
            </a:r>
          </a:p>
          <a:p>
            <a:pPr fontAlgn="auto">
              <a:lnSpc>
                <a:spcPct val="120000"/>
              </a:lnSpc>
              <a:spcBef>
                <a:spcPts val="0"/>
              </a:spcBef>
            </a:pPr>
            <a:r>
              <a:rPr kumimoji="1" lang="zh-CN" altLang="en-US" sz="2400" dirty="0"/>
              <a:t>传输层（</a:t>
            </a:r>
            <a:r>
              <a:rPr kumimoji="1" lang="en-US" altLang="zh-CN" sz="2400" dirty="0"/>
              <a:t>Transport Layer</a:t>
            </a:r>
            <a:r>
              <a:rPr kumimoji="1" lang="zh-CN" altLang="en-US" sz="2400" dirty="0"/>
              <a:t>）</a:t>
            </a:r>
            <a:endParaRPr kumimoji="1" lang="zh-CN" altLang="en-US" dirty="0"/>
          </a:p>
          <a:p>
            <a:pPr lvl="1" fontAlgn="auto">
              <a:lnSpc>
                <a:spcPct val="120000"/>
              </a:lnSpc>
              <a:spcBef>
                <a:spcPts val="0"/>
              </a:spcBef>
            </a:pPr>
            <a:r>
              <a:rPr kumimoji="1" lang="zh-CN" altLang="en-US" sz="2000" dirty="0"/>
              <a:t>允许源主机与目标主机上的对等实体，进行端到端的数据传输：</a:t>
            </a:r>
            <a:r>
              <a:rPr kumimoji="1" lang="en-US" altLang="zh-CN" sz="2000" dirty="0"/>
              <a:t>TCP</a:t>
            </a:r>
            <a:r>
              <a:rPr kumimoji="1" lang="zh-CN" altLang="en-US" sz="2000" dirty="0"/>
              <a:t>，</a:t>
            </a:r>
            <a:r>
              <a:rPr kumimoji="1" lang="en-US" altLang="zh-CN" sz="2000" dirty="0"/>
              <a:t>UDP</a:t>
            </a:r>
            <a:endParaRPr kumimoji="1" lang="zh-CN" altLang="en-US" sz="2000" dirty="0"/>
          </a:p>
          <a:p>
            <a:pPr fontAlgn="auto">
              <a:lnSpc>
                <a:spcPct val="120000"/>
              </a:lnSpc>
              <a:spcBef>
                <a:spcPts val="0"/>
              </a:spcBef>
            </a:pPr>
            <a:r>
              <a:rPr kumimoji="1" lang="zh-CN" altLang="en-US" sz="2400" dirty="0"/>
              <a:t>应用层（</a:t>
            </a:r>
            <a:r>
              <a:rPr kumimoji="1" lang="en-US" altLang="zh-CN" sz="2400" dirty="0"/>
              <a:t>Application Layer</a:t>
            </a:r>
            <a:r>
              <a:rPr kumimoji="1" lang="zh-CN" altLang="en-US" sz="2400" dirty="0"/>
              <a:t>）</a:t>
            </a:r>
            <a:endParaRPr kumimoji="1" lang="zh-CN" altLang="en-US" dirty="0"/>
          </a:p>
          <a:p>
            <a:pPr lvl="1" fontAlgn="auto">
              <a:lnSpc>
                <a:spcPct val="120000"/>
              </a:lnSpc>
              <a:spcBef>
                <a:spcPts val="0"/>
              </a:spcBef>
            </a:pPr>
            <a:r>
              <a:rPr kumimoji="1" lang="zh-CN" altLang="en-US" sz="2000" dirty="0"/>
              <a:t>传输层之上的所有高层协议：</a:t>
            </a:r>
            <a:r>
              <a:rPr kumimoji="1" lang="en-US" altLang="zh-CN" sz="2000" dirty="0"/>
              <a:t>DNS</a:t>
            </a:r>
            <a:r>
              <a:rPr kumimoji="1" lang="zh-CN" altLang="en-US" sz="2000" dirty="0"/>
              <a:t>、</a:t>
            </a:r>
            <a:r>
              <a:rPr kumimoji="1" lang="en-US" altLang="zh-CN" sz="2000" dirty="0"/>
              <a:t>HTTP</a:t>
            </a:r>
            <a:r>
              <a:rPr kumimoji="1" lang="zh-CN" altLang="en-US" sz="2000" dirty="0"/>
              <a:t>、</a:t>
            </a:r>
            <a:r>
              <a:rPr kumimoji="1" lang="en-US" altLang="zh-CN" sz="2000" dirty="0"/>
              <a:t>FTP</a:t>
            </a:r>
            <a:r>
              <a:rPr kumimoji="1" lang="zh-CN" altLang="en-US" sz="2000" dirty="0"/>
              <a:t>、</a:t>
            </a:r>
            <a:r>
              <a:rPr kumimoji="1" lang="en-US" altLang="zh-CN" sz="2000" dirty="0"/>
              <a:t>SMTP...</a:t>
            </a:r>
          </a:p>
        </p:txBody>
      </p:sp>
      <p:sp>
        <p:nvSpPr>
          <p:cNvPr id="3" name="灯片编号占位符 2">
            <a:extLst>
              <a:ext uri="{FF2B5EF4-FFF2-40B4-BE49-F238E27FC236}">
                <a16:creationId xmlns:a16="http://schemas.microsoft.com/office/drawing/2014/main" id="{9E4C32FE-0BFA-464B-A875-0EBF2430ED34}"/>
              </a:ext>
            </a:extLst>
          </p:cNvPr>
          <p:cNvSpPr>
            <a:spLocks noGrp="1"/>
          </p:cNvSpPr>
          <p:nvPr>
            <p:ph type="sldNum" sz="quarter" idx="12"/>
          </p:nvPr>
        </p:nvSpPr>
        <p:spPr/>
        <p:txBody>
          <a:bodyPr/>
          <a:lstStyle/>
          <a:p>
            <a:fld id="{8D4D1E41-7A09-AB4A-A4E1-09765ADA2698}" type="slidenum">
              <a:rPr kumimoji="1" lang="zh-CN" altLang="en-US" smtClean="0"/>
              <a:t>80</a:t>
            </a:fld>
            <a:endParaRPr kumimoji="1" lang="zh-CN" altLang="en-US" dirty="0"/>
          </a:p>
        </p:txBody>
      </p:sp>
      <p:graphicFrame>
        <p:nvGraphicFramePr>
          <p:cNvPr id="6" name="表格 5"/>
          <p:cNvGraphicFramePr/>
          <p:nvPr>
            <p:extLst>
              <p:ext uri="{D42A27DB-BD31-4B8C-83A1-F6EECF244321}">
                <p14:modId xmlns:p14="http://schemas.microsoft.com/office/powerpoint/2010/main" val="3621723537"/>
              </p:ext>
            </p:extLst>
          </p:nvPr>
        </p:nvGraphicFramePr>
        <p:xfrm>
          <a:off x="9333980" y="1753949"/>
          <a:ext cx="2463165" cy="3108960"/>
        </p:xfrm>
        <a:graphic>
          <a:graphicData uri="http://schemas.openxmlformats.org/drawingml/2006/table">
            <a:tbl>
              <a:tblPr firstRow="1" bandRow="1">
                <a:tableStyleId>{5940675A-B579-460E-94D1-54222C63F5DA}</a:tableStyleId>
              </a:tblPr>
              <a:tblGrid>
                <a:gridCol w="2463165">
                  <a:extLst>
                    <a:ext uri="{9D8B030D-6E8A-4147-A177-3AD203B41FA5}">
                      <a16:colId xmlns:a16="http://schemas.microsoft.com/office/drawing/2014/main" val="20000"/>
                    </a:ext>
                  </a:extLst>
                </a:gridCol>
              </a:tblGrid>
              <a:tr h="586740">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p>
                    <a:p>
                      <a:pPr algn="ctr">
                        <a:buNone/>
                      </a:pPr>
                      <a:r>
                        <a:rPr lang="en-US" altLang="zh-CN" sz="2000" b="0" dirty="0">
                          <a:latin typeface="Microsoft YaHei" panose="020B0503020204020204" pitchFamily="34" charset="-122"/>
                          <a:ea typeface="Microsoft YaHei" panose="020B0503020204020204" pitchFamily="34" charset="-122"/>
                        </a:rPr>
                        <a:t>application Layer</a:t>
                      </a:r>
                    </a:p>
                  </a:txBody>
                  <a:tcPr anchor="ctr">
                    <a:solidFill>
                      <a:schemeClr val="bg2">
                        <a:lumMod val="90000"/>
                      </a:schemeClr>
                    </a:solidFill>
                  </a:tcPr>
                </a:tc>
                <a:extLst>
                  <a:ext uri="{0D108BD9-81ED-4DB2-BD59-A6C34878D82A}">
                    <a16:rowId xmlns:a16="http://schemas.microsoft.com/office/drawing/2014/main" val="10000"/>
                  </a:ext>
                </a:extLst>
              </a:tr>
              <a:tr h="381000">
                <a:tc>
                  <a:txBody>
                    <a:bodyPr/>
                    <a:lstStyle/>
                    <a:p>
                      <a:pPr algn="ctr">
                        <a:buNone/>
                      </a:pPr>
                      <a:r>
                        <a:rPr lang="zh-CN" altLang="en-US" sz="2000" b="0" dirty="0">
                          <a:latin typeface="Microsoft YaHei" panose="020B0503020204020204" pitchFamily="34" charset="-122"/>
                          <a:ea typeface="Microsoft YaHei" panose="020B0503020204020204" pitchFamily="34" charset="-122"/>
                          <a:sym typeface="+mn-ea"/>
                        </a:rPr>
                        <a:t>传输层</a:t>
                      </a:r>
                    </a:p>
                    <a:p>
                      <a:pPr algn="ctr">
                        <a:buNone/>
                      </a:pPr>
                      <a:r>
                        <a:rPr lang="en-US" altLang="zh-CN" sz="2000" b="0" dirty="0">
                          <a:latin typeface="Microsoft YaHei" panose="020B0503020204020204" pitchFamily="34" charset="-122"/>
                          <a:ea typeface="Microsoft YaHei" panose="020B0503020204020204" pitchFamily="34" charset="-122"/>
                          <a:sym typeface="+mn-ea"/>
                        </a:rPr>
                        <a:t>transport Layer</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1"/>
                  </a:ext>
                </a:extLst>
              </a:tr>
              <a:tr h="381000">
                <a:tc>
                  <a:txBody>
                    <a:bodyPr/>
                    <a:lstStyle/>
                    <a:p>
                      <a:pPr algn="ctr">
                        <a:buNone/>
                      </a:pPr>
                      <a:r>
                        <a:rPr lang="zh-CN" altLang="en-US" sz="2000" b="0" dirty="0">
                          <a:latin typeface="Microsoft YaHei" panose="020B0503020204020204" pitchFamily="34" charset="-122"/>
                          <a:ea typeface="Microsoft YaHei" panose="020B0503020204020204" pitchFamily="34" charset="-122"/>
                        </a:rPr>
                        <a:t>互联网层</a:t>
                      </a:r>
                    </a:p>
                    <a:p>
                      <a:pPr algn="ctr">
                        <a:buNone/>
                      </a:pPr>
                      <a:r>
                        <a:rPr lang="en-US" altLang="zh-CN" sz="2000" b="0" dirty="0">
                          <a:latin typeface="Microsoft YaHei" panose="020B0503020204020204" pitchFamily="34" charset="-122"/>
                          <a:ea typeface="Microsoft YaHei" panose="020B0503020204020204" pitchFamily="34" charset="-122"/>
                        </a:rPr>
                        <a:t>internet Layer</a:t>
                      </a:r>
                    </a:p>
                  </a:txBody>
                  <a:tcPr anchor="ctr">
                    <a:solidFill>
                      <a:schemeClr val="bg2">
                        <a:lumMod val="90000"/>
                      </a:schemeClr>
                    </a:solidFill>
                  </a:tcPr>
                </a:tc>
                <a:extLst>
                  <a:ext uri="{0D108BD9-81ED-4DB2-BD59-A6C34878D82A}">
                    <a16:rowId xmlns:a16="http://schemas.microsoft.com/office/drawing/2014/main" val="10002"/>
                  </a:ext>
                </a:extLst>
              </a:tr>
              <a:tr h="208026">
                <a:tc>
                  <a:txBody>
                    <a:bodyPr/>
                    <a:lstStyle/>
                    <a:p>
                      <a:pPr algn="ctr">
                        <a:buNone/>
                      </a:pPr>
                      <a:r>
                        <a:rPr lang="zh-CN" altLang="en-US" sz="2000" b="0" dirty="0">
                          <a:latin typeface="Microsoft YaHei" panose="020B0503020204020204" pitchFamily="34" charset="-122"/>
                          <a:ea typeface="Microsoft YaHei" panose="020B0503020204020204" pitchFamily="34" charset="-122"/>
                        </a:rPr>
                        <a:t>网络接口层</a:t>
                      </a:r>
                    </a:p>
                    <a:p>
                      <a:pPr algn="ctr">
                        <a:buNone/>
                      </a:pPr>
                      <a:r>
                        <a:rPr lang="en-US" altLang="zh-CN" sz="2000" b="0" kern="1200" dirty="0">
                          <a:solidFill>
                            <a:schemeClr val="tx1"/>
                          </a:solidFill>
                          <a:latin typeface="Microsoft YaHei" panose="020B0503020204020204" pitchFamily="34" charset="-122"/>
                          <a:ea typeface="Microsoft YaHei" panose="020B0503020204020204" pitchFamily="34" charset="-122"/>
                          <a:cs typeface="+mn-cs"/>
                        </a:rPr>
                        <a:t>host-to-network</a:t>
                      </a:r>
                      <a:r>
                        <a:rPr lang="zh-CN" altLang="zh-CN" sz="2000" b="0" kern="1200" dirty="0">
                          <a:solidFill>
                            <a:schemeClr val="tx1"/>
                          </a:solidFill>
                          <a:latin typeface="Microsoft YaHei" panose="020B0503020204020204" pitchFamily="34" charset="-122"/>
                          <a:ea typeface="Microsoft YaHei" panose="020B0503020204020204" pitchFamily="34" charset="-122"/>
                          <a:cs typeface="+mn-cs"/>
                        </a:rPr>
                        <a:t> </a:t>
                      </a:r>
                      <a:r>
                        <a:rPr lang="en-US" altLang="zh-CN" sz="2000" b="0" kern="1200" dirty="0">
                          <a:solidFill>
                            <a:schemeClr val="tx1"/>
                          </a:solidFill>
                          <a:latin typeface="Microsoft YaHei" panose="020B0503020204020204" pitchFamily="34" charset="-122"/>
                          <a:ea typeface="Microsoft YaHei" panose="020B0503020204020204" pitchFamily="34" charset="-122"/>
                          <a:cs typeface="+mn-cs"/>
                        </a:rPr>
                        <a:t>Layer</a:t>
                      </a:r>
                    </a:p>
                  </a:txBody>
                  <a:tcPr anchor="ctr">
                    <a:solidFill>
                      <a:schemeClr val="bg1">
                        <a:lumMod val="85000"/>
                      </a:schemeClr>
                    </a:solidFill>
                  </a:tcPr>
                </a:tc>
                <a:extLst>
                  <a:ext uri="{0D108BD9-81ED-4DB2-BD59-A6C34878D82A}">
                    <a16:rowId xmlns:a16="http://schemas.microsoft.com/office/drawing/2014/main" val="10003"/>
                  </a:ext>
                </a:extLst>
              </a:tr>
            </a:tbl>
          </a:graphicData>
        </a:graphic>
      </p:graphicFrame>
      <p:sp>
        <p:nvSpPr>
          <p:cNvPr id="8" name="文本框 7">
            <a:extLst>
              <a:ext uri="{FF2B5EF4-FFF2-40B4-BE49-F238E27FC236}">
                <a16:creationId xmlns:a16="http://schemas.microsoft.com/office/drawing/2014/main" id="{C7A76EB1-61F1-184E-874F-5CB47E76D504}"/>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sp>
        <p:nvSpPr>
          <p:cNvPr id="4" name="矩形 3">
            <a:extLst>
              <a:ext uri="{FF2B5EF4-FFF2-40B4-BE49-F238E27FC236}">
                <a16:creationId xmlns:a16="http://schemas.microsoft.com/office/drawing/2014/main" id="{FD0E5403-D03A-5143-89B3-D3F4CE4A38C4}"/>
              </a:ext>
            </a:extLst>
          </p:cNvPr>
          <p:cNvSpPr/>
          <p:nvPr/>
        </p:nvSpPr>
        <p:spPr>
          <a:xfrm>
            <a:off x="9166714" y="5042015"/>
            <a:ext cx="2797695" cy="1200329"/>
          </a:xfrm>
          <a:prstGeom prst="rect">
            <a:avLst/>
          </a:prstGeom>
          <a:ln>
            <a:solidFill>
              <a:srgbClr val="C00000"/>
            </a:solidFill>
          </a:ln>
        </p:spPr>
        <p:txBody>
          <a:bodyPr wrap="square">
            <a:spAutoFit/>
          </a:bodyPr>
          <a:lstStyle/>
          <a:p>
            <a:pPr marL="285750" indent="-285750">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cs typeface="Times New Roman" panose="02020603050405020304" pitchFamily="18" charset="0"/>
              </a:rPr>
              <a:t>先有</a:t>
            </a:r>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TCP/IP</a:t>
            </a:r>
            <a:r>
              <a:rPr lang="zh-CN" altLang="zh-CN" dirty="0">
                <a:latin typeface="Microsoft YaHei" panose="020B0503020204020204" pitchFamily="34" charset="-122"/>
                <a:ea typeface="Microsoft YaHei" panose="020B0503020204020204" pitchFamily="34" charset="-122"/>
                <a:cs typeface="Times New Roman" panose="02020603050405020304" pitchFamily="18" charset="0"/>
              </a:rPr>
              <a:t>协议栈，然后有</a:t>
            </a:r>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TCP/IP</a:t>
            </a:r>
            <a:r>
              <a:rPr lang="zh-CN" altLang="zh-CN" dirty="0">
                <a:latin typeface="Microsoft YaHei" panose="020B0503020204020204" pitchFamily="34" charset="-122"/>
                <a:ea typeface="Microsoft YaHei" panose="020B0503020204020204" pitchFamily="34" charset="-122"/>
                <a:cs typeface="Times New Roman" panose="02020603050405020304" pitchFamily="18" charset="0"/>
              </a:rPr>
              <a:t>参考模型</a:t>
            </a:r>
            <a:endParaRPr lang="en-US" altLang="zh-CN" dirty="0">
              <a:latin typeface="Microsoft YaHei" panose="020B0503020204020204" pitchFamily="34" charset="-122"/>
              <a:ea typeface="Microsoft YaHei" panose="020B0503020204020204" pitchFamily="34" charset="-122"/>
              <a:cs typeface="Times New Roman" panose="02020603050405020304" pitchFamily="18" charset="0"/>
            </a:endParaRPr>
          </a:p>
          <a:p>
            <a:pPr marL="285750" indent="-285750">
              <a:buFont typeface="Arial" panose="020B0604020202020204" pitchFamily="34" charset="0"/>
              <a:buChar char="•"/>
            </a:pPr>
            <a:r>
              <a:rPr lang="zh-CN" altLang="zh-CN" dirty="0">
                <a:latin typeface="Microsoft YaHei" panose="020B0503020204020204" pitchFamily="34" charset="-122"/>
                <a:ea typeface="Microsoft YaHei" panose="020B0503020204020204" pitchFamily="34" charset="-122"/>
                <a:cs typeface="Times New Roman" panose="02020603050405020304" pitchFamily="18" charset="0"/>
              </a:rPr>
              <a:t>参考模型只是用来描述协议栈的</a:t>
            </a:r>
            <a:r>
              <a:rPr lang="zh-CN" altLang="zh-CN" dirty="0">
                <a:latin typeface="Microsoft YaHei" panose="020B0503020204020204" pitchFamily="34" charset="-122"/>
                <a:ea typeface="Microsoft YaHei" panose="020B0503020204020204" pitchFamily="34" charset="-122"/>
              </a:rPr>
              <a:t> </a:t>
            </a:r>
            <a:endParaRPr lang="zh-CN" altLang="en-US" dirty="0">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E752A819-E3E4-E248-8706-ACE0EAC83300}"/>
              </a:ext>
            </a:extLst>
          </p:cNvPr>
          <p:cNvSpPr/>
          <p:nvPr/>
        </p:nvSpPr>
        <p:spPr>
          <a:xfrm>
            <a:off x="6571488" y="1753949"/>
            <a:ext cx="2194560" cy="1015663"/>
          </a:xfrm>
          <a:prstGeom prst="rect">
            <a:avLst/>
          </a:prstGeom>
          <a:ln>
            <a:solidFill>
              <a:srgbClr val="C00000"/>
            </a:solidFill>
          </a:ln>
        </p:spPr>
        <p:txBody>
          <a:bodyPr wrap="square">
            <a:spAutoFit/>
          </a:bodyPr>
          <a:lstStyle/>
          <a:p>
            <a:pPr algn="ctr"/>
            <a:r>
              <a:rPr lang="en-US" altLang="zh-CN" sz="2000" dirty="0">
                <a:solidFill>
                  <a:srgbClr val="C00000"/>
                </a:solidFill>
                <a:latin typeface="Microsoft YaHei" panose="020B0503020204020204" pitchFamily="34" charset="-122"/>
                <a:ea typeface="Microsoft YaHei" panose="020B0503020204020204" pitchFamily="34" charset="-122"/>
              </a:rPr>
              <a:t>ARPNET</a:t>
            </a:r>
            <a:br>
              <a:rPr lang="en-US" altLang="zh-CN" sz="2000" dirty="0">
                <a:solidFill>
                  <a:srgbClr val="C00000"/>
                </a:solidFill>
                <a:latin typeface="Microsoft YaHei" panose="020B0503020204020204" pitchFamily="34" charset="-122"/>
                <a:ea typeface="Microsoft YaHei" panose="020B0503020204020204" pitchFamily="34" charset="-122"/>
              </a:rPr>
            </a:br>
            <a:r>
              <a:rPr lang="zh-CN" altLang="en-US" sz="2000" dirty="0">
                <a:solidFill>
                  <a:srgbClr val="C00000"/>
                </a:solidFill>
                <a:latin typeface="Microsoft YaHei" panose="020B0503020204020204" pitchFamily="34" charset="-122"/>
                <a:ea typeface="Microsoft YaHei" panose="020B0503020204020204" pitchFamily="34" charset="-122"/>
              </a:rPr>
              <a:t>最终采用</a:t>
            </a:r>
            <a:r>
              <a:rPr lang="en-US" altLang="zh-CN" sz="2000" dirty="0">
                <a:solidFill>
                  <a:srgbClr val="C00000"/>
                </a:solidFill>
                <a:latin typeface="Microsoft YaHei" panose="020B0503020204020204" pitchFamily="34" charset="-122"/>
                <a:ea typeface="Microsoft YaHei" panose="020B0503020204020204" pitchFamily="34" charset="-122"/>
              </a:rPr>
              <a:t>TCP</a:t>
            </a:r>
            <a:r>
              <a:rPr lang="zh-CN" altLang="en-US" sz="2000" dirty="0">
                <a:solidFill>
                  <a:srgbClr val="C00000"/>
                </a:solidFill>
                <a:latin typeface="Microsoft YaHei" panose="020B0503020204020204" pitchFamily="34" charset="-122"/>
                <a:ea typeface="Microsoft YaHei" panose="020B0503020204020204" pitchFamily="34" charset="-122"/>
              </a:rPr>
              <a:t>和</a:t>
            </a:r>
            <a:r>
              <a:rPr lang="en-US" altLang="zh-CN" sz="2000" dirty="0">
                <a:solidFill>
                  <a:srgbClr val="C00000"/>
                </a:solidFill>
                <a:latin typeface="Microsoft YaHei" panose="020B0503020204020204" pitchFamily="34" charset="-122"/>
                <a:ea typeface="Microsoft YaHei" panose="020B0503020204020204" pitchFamily="34" charset="-122"/>
              </a:rPr>
              <a:t>IP</a:t>
            </a:r>
            <a:r>
              <a:rPr lang="zh-CN" altLang="en-US" sz="2000" dirty="0">
                <a:solidFill>
                  <a:srgbClr val="C00000"/>
                </a:solidFill>
                <a:latin typeface="Microsoft YaHei" panose="020B0503020204020204" pitchFamily="34" charset="-122"/>
                <a:ea typeface="Microsoft YaHei" panose="020B0503020204020204" pitchFamily="34" charset="-122"/>
              </a:rPr>
              <a:t>为主要协议</a:t>
            </a:r>
          </a:p>
        </p:txBody>
      </p:sp>
      <p:pic>
        <p:nvPicPr>
          <p:cNvPr id="11" name="Picture 28" descr="015">
            <a:extLst>
              <a:ext uri="{FF2B5EF4-FFF2-40B4-BE49-F238E27FC236}">
                <a16:creationId xmlns:a16="http://schemas.microsoft.com/office/drawing/2014/main" id="{0B763422-D3A9-44AE-9B8C-EAE08CDFBA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73279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TCP/IP</a:t>
            </a:r>
            <a:r>
              <a:rPr kumimoji="1" lang="zh-CN" altLang="en-US" dirty="0"/>
              <a:t>参考模型</a:t>
            </a:r>
          </a:p>
        </p:txBody>
      </p:sp>
      <p:sp>
        <p:nvSpPr>
          <p:cNvPr id="9" name="内容占位符 2">
            <a:extLst>
              <a:ext uri="{FF2B5EF4-FFF2-40B4-BE49-F238E27FC236}">
                <a16:creationId xmlns:a16="http://schemas.microsoft.com/office/drawing/2014/main" id="{F3321CCD-8AD3-F74A-89DC-B2B06368FC04}"/>
              </a:ext>
            </a:extLst>
          </p:cNvPr>
          <p:cNvSpPr>
            <a:spLocks noGrp="1"/>
          </p:cNvSpPr>
          <p:nvPr>
            <p:ph idx="1"/>
          </p:nvPr>
        </p:nvSpPr>
        <p:spPr>
          <a:xfrm>
            <a:off x="648216" y="1351948"/>
            <a:ext cx="7755487" cy="5004402"/>
          </a:xfrm>
        </p:spPr>
        <p:txBody>
          <a:bodyPr>
            <a:noAutofit/>
          </a:bodyPr>
          <a:lstStyle/>
          <a:p>
            <a:pPr>
              <a:lnSpc>
                <a:spcPct val="120000"/>
              </a:lnSpc>
              <a:spcBef>
                <a:spcPts val="300"/>
              </a:spcBef>
            </a:pPr>
            <a:r>
              <a:rPr kumimoji="1" lang="en-US" altLang="zh-CN" dirty="0"/>
              <a:t>TCP/IP</a:t>
            </a:r>
            <a:r>
              <a:rPr kumimoji="1" lang="zh-CN" altLang="en-US" dirty="0"/>
              <a:t>参考模型</a:t>
            </a:r>
            <a:endParaRPr lang="en-US" altLang="zh-CN" dirty="0">
              <a:solidFill>
                <a:srgbClr val="000000"/>
              </a:solidFill>
            </a:endParaRPr>
          </a:p>
          <a:p>
            <a:pPr lvl="1">
              <a:lnSpc>
                <a:spcPct val="120000"/>
              </a:lnSpc>
              <a:spcBef>
                <a:spcPts val="300"/>
              </a:spcBef>
            </a:pPr>
            <a:r>
              <a:rPr lang="zh-CN" altLang="en-US" dirty="0"/>
              <a:t>摒弃电话系统中“笨终端</a:t>
            </a:r>
            <a:r>
              <a:rPr lang="en-US" altLang="zh-CN" dirty="0"/>
              <a:t>&amp;</a:t>
            </a:r>
            <a:r>
              <a:rPr lang="zh-CN" altLang="en-US" dirty="0"/>
              <a:t>聪明网络”的设计思路</a:t>
            </a:r>
            <a:endParaRPr lang="en-US" altLang="zh-CN" dirty="0"/>
          </a:p>
          <a:p>
            <a:pPr lvl="1">
              <a:lnSpc>
                <a:spcPct val="120000"/>
              </a:lnSpc>
              <a:spcBef>
                <a:spcPts val="300"/>
              </a:spcBef>
            </a:pPr>
            <a:r>
              <a:rPr lang="zh-CN" altLang="en-US" dirty="0">
                <a:solidFill>
                  <a:srgbClr val="C00000"/>
                </a:solidFill>
              </a:rPr>
              <a:t>端对端原则</a:t>
            </a:r>
            <a:r>
              <a:rPr lang="zh-CN" altLang="en-US" dirty="0"/>
              <a:t>：采用</a:t>
            </a:r>
            <a:r>
              <a:rPr lang="zh-CN" altLang="en-US" dirty="0">
                <a:solidFill>
                  <a:srgbClr val="C00000"/>
                </a:solidFill>
              </a:rPr>
              <a:t>聪明终端</a:t>
            </a:r>
            <a:r>
              <a:rPr lang="en-US" altLang="zh-CN" dirty="0">
                <a:solidFill>
                  <a:srgbClr val="C00000"/>
                </a:solidFill>
              </a:rPr>
              <a:t>&amp;</a:t>
            </a:r>
            <a:r>
              <a:rPr lang="zh-CN" altLang="en-US" dirty="0">
                <a:solidFill>
                  <a:srgbClr val="C00000"/>
                </a:solidFill>
              </a:rPr>
              <a:t>简单网络</a:t>
            </a:r>
            <a:r>
              <a:rPr lang="zh-CN" altLang="en-US" dirty="0"/>
              <a:t>，由</a:t>
            </a:r>
            <a:r>
              <a:rPr lang="zh-CN" altLang="en-US" dirty="0">
                <a:solidFill>
                  <a:srgbClr val="C00000"/>
                </a:solidFill>
              </a:rPr>
              <a:t>端系统</a:t>
            </a:r>
            <a:r>
              <a:rPr lang="zh-CN" altLang="en-US" dirty="0"/>
              <a:t>负责丢失恢复等，简单的网络大大提升了可扩展性</a:t>
            </a:r>
          </a:p>
          <a:p>
            <a:pPr lvl="1">
              <a:lnSpc>
                <a:spcPct val="120000"/>
              </a:lnSpc>
              <a:spcBef>
                <a:spcPts val="300"/>
              </a:spcBef>
            </a:pPr>
            <a:r>
              <a:rPr lang="zh-CN" altLang="en-US" dirty="0"/>
              <a:t>实现了建立在简单的、不可靠部件上的可靠系统</a:t>
            </a:r>
            <a:endParaRPr lang="en-US" altLang="zh-CN" dirty="0"/>
          </a:p>
          <a:p>
            <a:pPr>
              <a:lnSpc>
                <a:spcPct val="120000"/>
              </a:lnSpc>
              <a:spcBef>
                <a:spcPts val="300"/>
              </a:spcBef>
            </a:pPr>
            <a:r>
              <a:rPr lang="en-US" altLang="zh-CN" dirty="0">
                <a:solidFill>
                  <a:srgbClr val="000000"/>
                </a:solidFill>
              </a:rPr>
              <a:t>IP</a:t>
            </a:r>
            <a:r>
              <a:rPr lang="zh-CN" altLang="en-US" dirty="0">
                <a:solidFill>
                  <a:srgbClr val="000000"/>
                </a:solidFill>
              </a:rPr>
              <a:t>分组交换的特点</a:t>
            </a:r>
            <a:endParaRPr lang="en-US" altLang="zh-CN" dirty="0">
              <a:solidFill>
                <a:srgbClr val="000000"/>
              </a:solidFill>
            </a:endParaRPr>
          </a:p>
          <a:p>
            <a:pPr lvl="1">
              <a:lnSpc>
                <a:spcPct val="120000"/>
              </a:lnSpc>
              <a:spcBef>
                <a:spcPts val="300"/>
              </a:spcBef>
            </a:pPr>
            <a:r>
              <a:rPr lang="zh-CN" altLang="en-US" dirty="0">
                <a:solidFill>
                  <a:srgbClr val="000000"/>
                </a:solidFill>
              </a:rPr>
              <a:t>可在各种底层物理网络上运行</a:t>
            </a:r>
            <a:r>
              <a:rPr lang="en-US" altLang="zh-CN" dirty="0">
                <a:solidFill>
                  <a:srgbClr val="000000"/>
                </a:solidFill>
              </a:rPr>
              <a:t>(</a:t>
            </a:r>
            <a:r>
              <a:rPr lang="en-US" altLang="zh-CN" dirty="0">
                <a:solidFill>
                  <a:srgbClr val="C00000"/>
                </a:solidFill>
              </a:rPr>
              <a:t>IP over everything</a:t>
            </a:r>
            <a:r>
              <a:rPr lang="en-US" altLang="zh-CN" dirty="0">
                <a:solidFill>
                  <a:srgbClr val="000000"/>
                </a:solidFill>
              </a:rPr>
              <a:t>)</a:t>
            </a:r>
          </a:p>
          <a:p>
            <a:pPr lvl="1">
              <a:lnSpc>
                <a:spcPct val="120000"/>
              </a:lnSpc>
              <a:spcBef>
                <a:spcPts val="300"/>
              </a:spcBef>
            </a:pPr>
            <a:r>
              <a:rPr lang="zh-CN" altLang="en-US" dirty="0">
                <a:solidFill>
                  <a:srgbClr val="000000"/>
                </a:solidFill>
              </a:rPr>
              <a:t>可支持各类上层应用</a:t>
            </a:r>
            <a:r>
              <a:rPr lang="en-US" altLang="zh-CN" dirty="0">
                <a:solidFill>
                  <a:srgbClr val="000000"/>
                </a:solidFill>
              </a:rPr>
              <a:t>(</a:t>
            </a:r>
            <a:r>
              <a:rPr lang="en-US" altLang="zh-CN" dirty="0">
                <a:solidFill>
                  <a:srgbClr val="C00000"/>
                </a:solidFill>
              </a:rPr>
              <a:t>Everything over IP)</a:t>
            </a:r>
          </a:p>
          <a:p>
            <a:pPr lvl="1">
              <a:lnSpc>
                <a:spcPct val="120000"/>
              </a:lnSpc>
              <a:spcBef>
                <a:spcPts val="300"/>
              </a:spcBef>
            </a:pPr>
            <a:r>
              <a:rPr lang="zh-CN" altLang="en-US" dirty="0">
                <a:solidFill>
                  <a:srgbClr val="000000"/>
                </a:solidFill>
              </a:rPr>
              <a:t>每个</a:t>
            </a:r>
            <a:r>
              <a:rPr lang="en-US" altLang="zh-CN" dirty="0">
                <a:solidFill>
                  <a:srgbClr val="000000"/>
                </a:solidFill>
              </a:rPr>
              <a:t>IP</a:t>
            </a:r>
            <a:r>
              <a:rPr lang="zh-CN" altLang="en-US" dirty="0">
                <a:solidFill>
                  <a:srgbClr val="000000"/>
                </a:solidFill>
              </a:rPr>
              <a:t>分组携带各自的目的地址，网络核心功能</a:t>
            </a:r>
            <a:br>
              <a:rPr lang="en-US" altLang="zh-CN" dirty="0">
                <a:solidFill>
                  <a:srgbClr val="000000"/>
                </a:solidFill>
              </a:rPr>
            </a:br>
            <a:r>
              <a:rPr lang="zh-CN" altLang="en-US" dirty="0">
                <a:solidFill>
                  <a:srgbClr val="000000"/>
                </a:solidFill>
              </a:rPr>
              <a:t>简单（通过路由表转发分组），适应爆炸性增长</a:t>
            </a:r>
            <a:endParaRPr kumimoji="1" lang="en-US" altLang="zh-CN" sz="2000" dirty="0"/>
          </a:p>
        </p:txBody>
      </p:sp>
      <p:sp>
        <p:nvSpPr>
          <p:cNvPr id="3" name="灯片编号占位符 2">
            <a:extLst>
              <a:ext uri="{FF2B5EF4-FFF2-40B4-BE49-F238E27FC236}">
                <a16:creationId xmlns:a16="http://schemas.microsoft.com/office/drawing/2014/main" id="{9E4C32FE-0BFA-464B-A875-0EBF2430ED34}"/>
              </a:ext>
            </a:extLst>
          </p:cNvPr>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sp>
        <p:nvSpPr>
          <p:cNvPr id="8" name="文本框 7">
            <a:extLst>
              <a:ext uri="{FF2B5EF4-FFF2-40B4-BE49-F238E27FC236}">
                <a16:creationId xmlns:a16="http://schemas.microsoft.com/office/drawing/2014/main" id="{C7A76EB1-61F1-184E-874F-5CB47E76D504}"/>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grpSp>
        <p:nvGrpSpPr>
          <p:cNvPr id="22" name="组合 21">
            <a:extLst>
              <a:ext uri="{FF2B5EF4-FFF2-40B4-BE49-F238E27FC236}">
                <a16:creationId xmlns:a16="http://schemas.microsoft.com/office/drawing/2014/main" id="{144193DE-29EB-1540-8179-835E7E78AAB9}"/>
              </a:ext>
            </a:extLst>
          </p:cNvPr>
          <p:cNvGrpSpPr/>
          <p:nvPr/>
        </p:nvGrpSpPr>
        <p:grpSpPr>
          <a:xfrm>
            <a:off x="8195716" y="1881568"/>
            <a:ext cx="3669218" cy="1721447"/>
            <a:chOff x="6808963" y="3301194"/>
            <a:chExt cx="1877837" cy="965486"/>
          </a:xfrm>
        </p:grpSpPr>
        <p:pic>
          <p:nvPicPr>
            <p:cNvPr id="36" name="Picture 2">
              <a:extLst>
                <a:ext uri="{FF2B5EF4-FFF2-40B4-BE49-F238E27FC236}">
                  <a16:creationId xmlns:a16="http://schemas.microsoft.com/office/drawing/2014/main" id="{BBFEFEC6-F20C-034C-A67D-EE2E19F3E6DC}"/>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b="47988"/>
            <a:stretch>
              <a:fillRect/>
            </a:stretch>
          </p:blipFill>
          <p:spPr bwMode="auto">
            <a:xfrm flipV="1">
              <a:off x="6808963" y="3301194"/>
              <a:ext cx="1877837" cy="965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10" descr="http://tbn0.google.com/images?q=tbn:uG9PhuBLX4dJJM:http://www.uberreview.com/wp-content/uploads/youtube_logo.jpg">
              <a:hlinkClick r:id="rId4"/>
              <a:extLst>
                <a:ext uri="{FF2B5EF4-FFF2-40B4-BE49-F238E27FC236}">
                  <a16:creationId xmlns:a16="http://schemas.microsoft.com/office/drawing/2014/main" id="{F20A7502-6D96-D44A-BB11-2BAC6ED92A97}"/>
                </a:ext>
              </a:extLst>
            </p:cNvPr>
            <p:cNvPicPr>
              <a:picLocks noChangeAspect="1" noChangeArrowheads="1"/>
            </p:cNvPicPr>
            <p:nvPr/>
          </p:nvPicPr>
          <p:blipFill>
            <a:blip r:embed="rId5" cstate="print">
              <a:clrChange>
                <a:clrFrom>
                  <a:srgbClr val="FCFCFC"/>
                </a:clrFrom>
                <a:clrTo>
                  <a:srgbClr val="FCFCFC">
                    <a:alpha val="0"/>
                  </a:srgbClr>
                </a:clrTo>
              </a:clrChange>
              <a:extLst>
                <a:ext uri="{28A0092B-C50C-407E-A947-70E740481C1C}">
                  <a14:useLocalDpi xmlns:a14="http://schemas.microsoft.com/office/drawing/2010/main"/>
                </a:ext>
              </a:extLst>
            </a:blip>
            <a:srcRect/>
            <a:stretch>
              <a:fillRect/>
            </a:stretch>
          </p:blipFill>
          <p:spPr bwMode="auto">
            <a:xfrm>
              <a:off x="7000141" y="3600649"/>
              <a:ext cx="454599" cy="226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6" descr="http://static.ak.fbcdn.net/images/welcome/welcome_3.gif">
              <a:hlinkClick r:id="rId6"/>
              <a:extLst>
                <a:ext uri="{FF2B5EF4-FFF2-40B4-BE49-F238E27FC236}">
                  <a16:creationId xmlns:a16="http://schemas.microsoft.com/office/drawing/2014/main" id="{424B901D-36B2-824D-B683-F08FE129E1E9}"/>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7500678" y="3609941"/>
              <a:ext cx="405788" cy="20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44" descr="From collectibles to cars, buy and sell all kinds of items on eBay">
              <a:hlinkClick r:id="rId8"/>
              <a:extLst>
                <a:ext uri="{FF2B5EF4-FFF2-40B4-BE49-F238E27FC236}">
                  <a16:creationId xmlns:a16="http://schemas.microsoft.com/office/drawing/2014/main" id="{5D0F6115-2C22-3144-BEDB-675A9BC7D708}"/>
                </a:ext>
              </a:extLst>
            </p:cNvPr>
            <p:cNvPicPr>
              <a:picLocks noChangeAspect="1" noChangeArrowheads="1"/>
            </p:cNvPicPr>
            <p:nvPr/>
          </p:nvPicPr>
          <p:blipFill>
            <a:blip r:embed="rId9"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a:ext>
              </a:extLst>
            </a:blip>
            <a:srcRect/>
            <a:stretch>
              <a:fillRect/>
            </a:stretch>
          </p:blipFill>
          <p:spPr bwMode="auto">
            <a:xfrm>
              <a:off x="7118579" y="3859562"/>
              <a:ext cx="251162" cy="109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11" descr="C:\Users\yxia\Desktop\搜狗截图13年10月19日1936_2.jpg">
              <a:extLst>
                <a:ext uri="{FF2B5EF4-FFF2-40B4-BE49-F238E27FC236}">
                  <a16:creationId xmlns:a16="http://schemas.microsoft.com/office/drawing/2014/main" id="{F3E7B90C-6232-354D-9F07-902C2C8C5EBA}"/>
                </a:ext>
              </a:extLst>
            </p:cNvPr>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418061" y="3330776"/>
              <a:ext cx="628605" cy="282726"/>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2" descr="C:\Users\yxia\Desktop\搜狗截图13年10月19日1936_3.jpg">
              <a:extLst>
                <a:ext uri="{FF2B5EF4-FFF2-40B4-BE49-F238E27FC236}">
                  <a16:creationId xmlns:a16="http://schemas.microsoft.com/office/drawing/2014/main" id="{3BC475BE-8ABA-434C-B7A5-ABA9120EA362}"/>
                </a:ext>
              </a:extLst>
            </p:cNvPr>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838289" y="3841986"/>
              <a:ext cx="437517" cy="22545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3" descr="C:\Users\yxia\Desktop\搜狗截图13年10月19日1937_4.jpg">
              <a:extLst>
                <a:ext uri="{FF2B5EF4-FFF2-40B4-BE49-F238E27FC236}">
                  <a16:creationId xmlns:a16="http://schemas.microsoft.com/office/drawing/2014/main" id="{D0019D23-6242-514F-B7DC-371E15977986}"/>
                </a:ext>
              </a:extLst>
            </p:cNvPr>
            <p:cNvPicPr>
              <a:picLocks noChangeAspect="1" noChangeArrowheads="1"/>
            </p:cNvPicPr>
            <p:nvPr/>
          </p:nvPicPr>
          <p:blipFill>
            <a:blip r:embed="rId13" cstate="print">
              <a:clrChange>
                <a:clrFrom>
                  <a:srgbClr val="FEFEFE"/>
                </a:clrFrom>
                <a:clrTo>
                  <a:srgbClr val="FEFEFE">
                    <a:alpha val="0"/>
                  </a:srgbClr>
                </a:clrTo>
              </a:clrChange>
              <a:extLst>
                <a:ext uri="{28A0092B-C50C-407E-A947-70E740481C1C}">
                  <a14:useLocalDpi xmlns:a14="http://schemas.microsoft.com/office/drawing/2010/main"/>
                </a:ext>
              </a:extLst>
            </a:blip>
            <a:srcRect/>
            <a:stretch>
              <a:fillRect/>
            </a:stretch>
          </p:blipFill>
          <p:spPr bwMode="auto">
            <a:xfrm>
              <a:off x="8069933" y="3411612"/>
              <a:ext cx="430488" cy="19832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4" descr="C:\Users\yxia\Desktop\搜狗截图13年10月19日1938_5.jpg">
              <a:extLst>
                <a:ext uri="{FF2B5EF4-FFF2-40B4-BE49-F238E27FC236}">
                  <a16:creationId xmlns:a16="http://schemas.microsoft.com/office/drawing/2014/main" id="{2365134C-8A9D-CE47-B9F0-4AC1829DF8EA}"/>
                </a:ext>
              </a:extLst>
            </p:cNvPr>
            <p:cNvPicPr>
              <a:picLocks noChangeAspect="1" noChangeArrowheads="1"/>
            </p:cNvPicPr>
            <p:nvPr/>
          </p:nvPicPr>
          <p:blipFill>
            <a:blip r:embed="rId14" cstate="print">
              <a:clrChange>
                <a:clrFrom>
                  <a:srgbClr val="F6F6F6"/>
                </a:clrFrom>
                <a:clrTo>
                  <a:srgbClr val="F6F6F6">
                    <a:alpha val="0"/>
                  </a:srgbClr>
                </a:clrTo>
              </a:clrChange>
              <a:extLst>
                <a:ext uri="{28A0092B-C50C-407E-A947-70E740481C1C}">
                  <a14:useLocalDpi xmlns:a14="http://schemas.microsoft.com/office/drawing/2010/main"/>
                </a:ext>
              </a:extLst>
            </a:blip>
            <a:srcRect/>
            <a:stretch>
              <a:fillRect/>
            </a:stretch>
          </p:blipFill>
          <p:spPr bwMode="auto">
            <a:xfrm>
              <a:off x="7348885" y="3982162"/>
              <a:ext cx="541729" cy="17056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5" descr="C:\Users\yxia\Desktop\搜狗截图13年10月19日1938_6.jpg">
              <a:extLst>
                <a:ext uri="{FF2B5EF4-FFF2-40B4-BE49-F238E27FC236}">
                  <a16:creationId xmlns:a16="http://schemas.microsoft.com/office/drawing/2014/main" id="{F4FE633A-0FDD-4946-9ED3-E6D9540C6354}"/>
                </a:ext>
              </a:extLst>
            </p:cNvPr>
            <p:cNvPicPr>
              <a:picLocks noChangeAspect="1" noChangeArrowheads="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22520" y="3645318"/>
              <a:ext cx="577902" cy="1817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6" descr="C:\Users\yxia\Desktop\google_logo_41.png">
              <a:extLst>
                <a:ext uri="{FF2B5EF4-FFF2-40B4-BE49-F238E27FC236}">
                  <a16:creationId xmlns:a16="http://schemas.microsoft.com/office/drawing/2014/main" id="{FDFA76DC-89D9-3041-813B-402BD15D9567}"/>
                </a:ext>
              </a:extLst>
            </p:cNvPr>
            <p:cNvPicPr>
              <a:picLocks noChangeAspect="1" noChangeArrowheads="1"/>
            </p:cNvPicPr>
            <p:nvPr/>
          </p:nvPicPr>
          <p:blipFill>
            <a:blip r:embed="rId16" cstate="print">
              <a:extLst>
                <a:ext uri="{BEBA8EAE-BF5A-486C-A8C5-ECC9F3942E4B}">
                  <a14:imgProps xmlns:a14="http://schemas.microsoft.com/office/drawing/2010/main">
                    <a14:imgLayer r:embed="rId17">
                      <a14:imgEffect>
                        <a14:saturation sat="400000"/>
                      </a14:imgEffect>
                      <a14:imgEffect>
                        <a14:sharpenSoften amount="25000"/>
                      </a14:imgEffect>
                    </a14:imgLayer>
                  </a14:imgProps>
                </a:ext>
                <a:ext uri="{28A0092B-C50C-407E-A947-70E740481C1C}">
                  <a14:useLocalDpi xmlns:a14="http://schemas.microsoft.com/office/drawing/2010/main"/>
                </a:ext>
              </a:extLst>
            </a:blip>
            <a:srcRect/>
            <a:stretch>
              <a:fillRect/>
            </a:stretch>
          </p:blipFill>
          <p:spPr bwMode="auto">
            <a:xfrm>
              <a:off x="6978720" y="3433397"/>
              <a:ext cx="441733" cy="16822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7" descr="C:\Users\yxia\Desktop\搜狗截图13年10月19日1946_7.jpg">
              <a:extLst>
                <a:ext uri="{FF2B5EF4-FFF2-40B4-BE49-F238E27FC236}">
                  <a16:creationId xmlns:a16="http://schemas.microsoft.com/office/drawing/2014/main" id="{791E3B8D-44D9-5248-AC25-CFB43FC6396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406462" y="3827070"/>
              <a:ext cx="445541" cy="1846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组合 22">
            <a:extLst>
              <a:ext uri="{FF2B5EF4-FFF2-40B4-BE49-F238E27FC236}">
                <a16:creationId xmlns:a16="http://schemas.microsoft.com/office/drawing/2014/main" id="{0737D0A4-1694-BE4A-89F7-50FB58F9A75D}"/>
              </a:ext>
            </a:extLst>
          </p:cNvPr>
          <p:cNvGrpSpPr/>
          <p:nvPr/>
        </p:nvGrpSpPr>
        <p:grpSpPr>
          <a:xfrm>
            <a:off x="8175812" y="3958004"/>
            <a:ext cx="3669218" cy="1721447"/>
            <a:chOff x="6804682" y="4350467"/>
            <a:chExt cx="1877837" cy="965486"/>
          </a:xfrm>
        </p:grpSpPr>
        <p:pic>
          <p:nvPicPr>
            <p:cNvPr id="25" name="Picture 2">
              <a:extLst>
                <a:ext uri="{FF2B5EF4-FFF2-40B4-BE49-F238E27FC236}">
                  <a16:creationId xmlns:a16="http://schemas.microsoft.com/office/drawing/2014/main" id="{DAC00A37-0A5B-514E-86AF-0605497DA5B3}"/>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b="47988"/>
            <a:stretch>
              <a:fillRect/>
            </a:stretch>
          </p:blipFill>
          <p:spPr bwMode="auto">
            <a:xfrm>
              <a:off x="6804682" y="4350467"/>
              <a:ext cx="1877837" cy="965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6" descr="C:\Users\yxia\Desktop\Img320639468.jpg">
              <a:extLst>
                <a:ext uri="{FF2B5EF4-FFF2-40B4-BE49-F238E27FC236}">
                  <a16:creationId xmlns:a16="http://schemas.microsoft.com/office/drawing/2014/main" id="{09338F12-A144-484D-A9D8-F6EF41ACF415}"/>
                </a:ext>
              </a:extLst>
            </p:cNvPr>
            <p:cNvPicPr>
              <a:picLocks noChangeAspect="1" noChangeArrowheads="1"/>
            </p:cNvPicPr>
            <p:nvPr/>
          </p:nvPicPr>
          <p:blipFill>
            <a:blip r:embed="rId19" cstate="print">
              <a:clrChange>
                <a:clrFrom>
                  <a:srgbClr val="FFFFFF"/>
                </a:clrFrom>
                <a:clrTo>
                  <a:srgbClr val="FFFFFF">
                    <a:alpha val="0"/>
                  </a:srgbClr>
                </a:clrTo>
              </a:clrChange>
              <a:extLst>
                <a:ext uri="{BEBA8EAE-BF5A-486C-A8C5-ECC9F3942E4B}">
                  <a14:imgProps xmlns:a14="http://schemas.microsoft.com/office/drawing/2010/main">
                    <a14:imgLayer r:embed="rId20">
                      <a14:imgEffect>
                        <a14:brightnessContrast bright="20000" contrast="-40000"/>
                      </a14:imgEffect>
                      <a14:imgEffect>
                        <a14:sharpenSoften amount="50000"/>
                      </a14:imgEffect>
                    </a14:imgLayer>
                  </a14:imgProps>
                </a:ext>
                <a:ext uri="{28A0092B-C50C-407E-A947-70E740481C1C}">
                  <a14:useLocalDpi xmlns:a14="http://schemas.microsoft.com/office/drawing/2010/main"/>
                </a:ext>
              </a:extLst>
            </a:blip>
            <a:srcRect/>
            <a:stretch>
              <a:fillRect/>
            </a:stretch>
          </p:blipFill>
          <p:spPr bwMode="auto">
            <a:xfrm>
              <a:off x="7348930" y="4717523"/>
              <a:ext cx="809734" cy="53447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C:\Users\yxia\Desktop\20111222064702697103.jpg">
              <a:extLst>
                <a:ext uri="{FF2B5EF4-FFF2-40B4-BE49-F238E27FC236}">
                  <a16:creationId xmlns:a16="http://schemas.microsoft.com/office/drawing/2014/main" id="{5C37D890-F77B-F849-A5EE-0667C8B2E279}"/>
                </a:ext>
              </a:extLst>
            </p:cNvPr>
            <p:cNvPicPr>
              <a:picLocks noChangeAspect="1" noChangeArrowheads="1"/>
            </p:cNvPicPr>
            <p:nvPr/>
          </p:nvPicPr>
          <p:blipFill>
            <a:blip r:embed="rId21"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bwMode="auto">
            <a:xfrm rot="20983091">
              <a:off x="7835377" y="4801157"/>
              <a:ext cx="113215" cy="276349"/>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8" name="Picture 20" descr="C:\Users\yxia\Desktop\2178222.jpg">
              <a:extLst>
                <a:ext uri="{FF2B5EF4-FFF2-40B4-BE49-F238E27FC236}">
                  <a16:creationId xmlns:a16="http://schemas.microsoft.com/office/drawing/2014/main" id="{DC48B771-6EC3-4C40-AFA4-B1230318C467}"/>
                </a:ext>
              </a:extLst>
            </p:cNvPr>
            <p:cNvPicPr>
              <a:picLocks noChangeAspect="1" noChangeArrowheads="1"/>
            </p:cNvPicPr>
            <p:nvPr/>
          </p:nvPicPr>
          <p:blipFill>
            <a:blip r:embed="rId22" cstate="print">
              <a:clrChange>
                <a:clrFrom>
                  <a:srgbClr val="FFFFFF"/>
                </a:clrFrom>
                <a:clrTo>
                  <a:srgbClr val="FFFFFF">
                    <a:alpha val="0"/>
                  </a:srgbClr>
                </a:clrTo>
              </a:clrChange>
              <a:extLst>
                <a:ext uri="{BEBA8EAE-BF5A-486C-A8C5-ECC9F3942E4B}">
                  <a14:imgProps xmlns:a14="http://schemas.microsoft.com/office/drawing/2010/main">
                    <a14:imgLayer r:embed="rId23">
                      <a14:imgEffect>
                        <a14:sharpenSoften amount="50000"/>
                      </a14:imgEffect>
                    </a14:imgLayer>
                  </a14:imgProps>
                </a:ext>
                <a:ext uri="{28A0092B-C50C-407E-A947-70E740481C1C}">
                  <a14:useLocalDpi xmlns:a14="http://schemas.microsoft.com/office/drawing/2010/main"/>
                </a:ext>
              </a:extLst>
            </a:blip>
            <a:srcRect/>
            <a:stretch>
              <a:fillRect/>
            </a:stretch>
          </p:blipFill>
          <p:spPr bwMode="auto">
            <a:xfrm>
              <a:off x="8191259" y="4819431"/>
              <a:ext cx="307107" cy="44109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2" descr="C:\Users\yxia\Desktop\3770652009510221234.jpg">
              <a:extLst>
                <a:ext uri="{FF2B5EF4-FFF2-40B4-BE49-F238E27FC236}">
                  <a16:creationId xmlns:a16="http://schemas.microsoft.com/office/drawing/2014/main" id="{9B4AB5B5-63EB-8849-B9E3-CA9C2F8206B2}"/>
                </a:ext>
              </a:extLst>
            </p:cNvPr>
            <p:cNvPicPr>
              <a:picLocks noChangeAspect="1" noChangeArrowheads="1"/>
            </p:cNvPicPr>
            <p:nvPr/>
          </p:nvPicPr>
          <p:blipFill>
            <a:blip r:embed="rId24" cstate="print">
              <a:clrChange>
                <a:clrFrom>
                  <a:srgbClr val="FEFEFE"/>
                </a:clrFrom>
                <a:clrTo>
                  <a:srgbClr val="FEFEFE">
                    <a:alpha val="0"/>
                  </a:srgbClr>
                </a:clrTo>
              </a:clrChange>
              <a:extLst>
                <a:ext uri="{28A0092B-C50C-407E-A947-70E740481C1C}">
                  <a14:useLocalDpi xmlns:a14="http://schemas.microsoft.com/office/drawing/2010/main"/>
                </a:ext>
              </a:extLst>
            </a:blip>
            <a:srcRect/>
            <a:stretch>
              <a:fillRect/>
            </a:stretch>
          </p:blipFill>
          <p:spPr bwMode="auto">
            <a:xfrm rot="4506236" flipV="1">
              <a:off x="7130563" y="4550437"/>
              <a:ext cx="312481" cy="27022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8" descr="http://tbn0.google.com/images?q=tbn:8sTVCGh5uzf1gM:http://www.wpclipart.com/telephone/telephone_cartoon.png">
              <a:hlinkClick r:id="rId25"/>
              <a:extLst>
                <a:ext uri="{FF2B5EF4-FFF2-40B4-BE49-F238E27FC236}">
                  <a16:creationId xmlns:a16="http://schemas.microsoft.com/office/drawing/2014/main" id="{6C011140-C84A-6946-A5A2-B8366715CF63}"/>
                </a:ext>
              </a:extLst>
            </p:cNvPr>
            <p:cNvPicPr>
              <a:picLocks noChangeAspect="1" noChangeArrowheads="1"/>
            </p:cNvPicPr>
            <p:nvPr/>
          </p:nvPicPr>
          <p:blipFill>
            <a:blip r:embed="rId26" cstate="print">
              <a:extLst>
                <a:ext uri="{28A0092B-C50C-407E-A947-70E740481C1C}">
                  <a14:useLocalDpi xmlns:a14="http://schemas.microsoft.com/office/drawing/2010/main"/>
                </a:ext>
              </a:extLst>
            </a:blip>
            <a:srcRect/>
            <a:stretch>
              <a:fillRect/>
            </a:stretch>
          </p:blipFill>
          <p:spPr bwMode="auto">
            <a:xfrm>
              <a:off x="7378061" y="4476450"/>
              <a:ext cx="169795" cy="17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26" descr="http://tbn0.google.com/images?q=tbn:xT9wMZ61r7KFCM:http://rtmulcahy.files.wordpress.com/2007/06/cellphone.gif">
              <a:hlinkClick r:id="rId27"/>
              <a:extLst>
                <a:ext uri="{FF2B5EF4-FFF2-40B4-BE49-F238E27FC236}">
                  <a16:creationId xmlns:a16="http://schemas.microsoft.com/office/drawing/2014/main" id="{6CDA6400-B00F-1C40-A4B2-F4DA5D6C7639}"/>
                </a:ext>
              </a:extLst>
            </p:cNvPr>
            <p:cNvPicPr>
              <a:picLocks noChangeAspect="1" noChangeArrowheads="1"/>
            </p:cNvPicPr>
            <p:nvPr/>
          </p:nvPicPr>
          <p:blipFill>
            <a:blip r:embed="rId28" cstate="print">
              <a:clrChange>
                <a:clrFrom>
                  <a:srgbClr val="FCFDFF"/>
                </a:clrFrom>
                <a:clrTo>
                  <a:srgbClr val="FCFDFF">
                    <a:alpha val="0"/>
                  </a:srgbClr>
                </a:clrTo>
              </a:clrChange>
              <a:extLst>
                <a:ext uri="{28A0092B-C50C-407E-A947-70E740481C1C}">
                  <a14:useLocalDpi xmlns:a14="http://schemas.microsoft.com/office/drawing/2010/main"/>
                </a:ext>
              </a:extLst>
            </a:blip>
            <a:srcRect/>
            <a:stretch>
              <a:fillRect/>
            </a:stretch>
          </p:blipFill>
          <p:spPr bwMode="auto">
            <a:xfrm flipH="1">
              <a:off x="7952219" y="4457219"/>
              <a:ext cx="207916" cy="214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21" descr="C:\Users\yxia\Desktop\3374535_010108632321_2.jpg">
              <a:extLst>
                <a:ext uri="{FF2B5EF4-FFF2-40B4-BE49-F238E27FC236}">
                  <a16:creationId xmlns:a16="http://schemas.microsoft.com/office/drawing/2014/main" id="{1C6FF930-AC0C-F449-9966-A01B4970D4E3}"/>
                </a:ext>
              </a:extLst>
            </p:cNvPr>
            <p:cNvPicPr>
              <a:picLocks noChangeAspect="1" noChangeArrowheads="1"/>
            </p:cNvPicPr>
            <p:nvPr/>
          </p:nvPicPr>
          <p:blipFill>
            <a:blip r:embed="rId29" cstate="print">
              <a:clrChange>
                <a:clrFrom>
                  <a:srgbClr val="FFFFFF"/>
                </a:clrFrom>
                <a:clrTo>
                  <a:srgbClr val="FFFFFF">
                    <a:alpha val="0"/>
                  </a:srgbClr>
                </a:clrTo>
              </a:clrChange>
              <a:grayscl/>
              <a:extLst>
                <a:ext uri="{28A0092B-C50C-407E-A947-70E740481C1C}">
                  <a14:useLocalDpi xmlns:a14="http://schemas.microsoft.com/office/drawing/2010/main"/>
                </a:ext>
              </a:extLst>
            </a:blip>
            <a:srcRect/>
            <a:stretch>
              <a:fillRect/>
            </a:stretch>
          </p:blipFill>
          <p:spPr bwMode="auto">
            <a:xfrm rot="786443">
              <a:off x="7068316" y="4728057"/>
              <a:ext cx="318250" cy="2073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8" descr="C:\Users\yxia\Desktop\vgoixh91ud6k.jpg">
              <a:extLst>
                <a:ext uri="{FF2B5EF4-FFF2-40B4-BE49-F238E27FC236}">
                  <a16:creationId xmlns:a16="http://schemas.microsoft.com/office/drawing/2014/main" id="{11CDE1A7-3A17-E843-875E-70B7411223E8}"/>
                </a:ext>
              </a:extLst>
            </p:cNvPr>
            <p:cNvPicPr>
              <a:picLocks noChangeAspect="1" noChangeArrowheads="1"/>
            </p:cNvPicPr>
            <p:nvPr/>
          </p:nvPicPr>
          <p:blipFill>
            <a:blip r:embed="rId30"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132234" y="4590085"/>
              <a:ext cx="195598" cy="22934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7" descr="C:\Users\yxia\Desktop\2078815_171043034636_2.jpg">
              <a:extLst>
                <a:ext uri="{FF2B5EF4-FFF2-40B4-BE49-F238E27FC236}">
                  <a16:creationId xmlns:a16="http://schemas.microsoft.com/office/drawing/2014/main" id="{7112D5FE-7FE5-7A40-B694-1B79893A2515}"/>
                </a:ext>
              </a:extLst>
            </p:cNvPr>
            <p:cNvPicPr>
              <a:picLocks noChangeAspect="1" noChangeArrowheads="1"/>
            </p:cNvPicPr>
            <p:nvPr/>
          </p:nvPicPr>
          <p:blipFill>
            <a:blip r:embed="rId31" cstate="print">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flipH="1">
              <a:off x="6922278" y="4917756"/>
              <a:ext cx="309610" cy="32624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0" descr="C:\Users\yxia\Desktop\1077466119.jpg">
              <a:extLst>
                <a:ext uri="{FF2B5EF4-FFF2-40B4-BE49-F238E27FC236}">
                  <a16:creationId xmlns:a16="http://schemas.microsoft.com/office/drawing/2014/main" id="{FD24A2FD-DF40-AB4D-9961-14C571299AF0}"/>
                </a:ext>
              </a:extLst>
            </p:cNvPr>
            <p:cNvPicPr>
              <a:picLocks noChangeAspect="1" noChangeArrowheads="1"/>
            </p:cNvPicPr>
            <p:nvPr/>
          </p:nvPicPr>
          <p:blipFill>
            <a:blip r:embed="rId3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562205" y="4425885"/>
              <a:ext cx="407018" cy="450422"/>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矩形 23">
            <a:extLst>
              <a:ext uri="{FF2B5EF4-FFF2-40B4-BE49-F238E27FC236}">
                <a16:creationId xmlns:a16="http://schemas.microsoft.com/office/drawing/2014/main" id="{0DB6C02F-05B1-A343-8670-C5D5E109E1B1}"/>
              </a:ext>
            </a:extLst>
          </p:cNvPr>
          <p:cNvSpPr/>
          <p:nvPr/>
        </p:nvSpPr>
        <p:spPr>
          <a:xfrm>
            <a:off x="9413766" y="3489683"/>
            <a:ext cx="1136867" cy="584921"/>
          </a:xfrm>
          <a:prstGeom prst="rect">
            <a:avLst/>
          </a:prstGeom>
          <a:solidFill>
            <a:schemeClr val="bg1"/>
          </a:solidFill>
          <a:ln w="28575">
            <a:solidFill>
              <a:srgbClr val="7030A0"/>
            </a:solidFill>
          </a:ln>
        </p:spPr>
        <p:style>
          <a:lnRef idx="2">
            <a:schemeClr val="accent1"/>
          </a:lnRef>
          <a:fillRef idx="1">
            <a:schemeClr val="lt1"/>
          </a:fillRef>
          <a:effectRef idx="0">
            <a:schemeClr val="accent1"/>
          </a:effectRef>
          <a:fontRef idx="minor">
            <a:schemeClr val="dk1"/>
          </a:fontRef>
        </p:style>
        <p:txBody>
          <a:bodyPr lIns="36000" rIns="36000" rtlCol="0" anchor="ctr"/>
          <a:lstStyle/>
          <a:p>
            <a:pPr algn="ctr"/>
            <a:r>
              <a:rPr lang="en-US" altLang="zh-CN" sz="2000" b="1" dirty="0">
                <a:latin typeface="微软雅黑" panose="020B0503020204020204" pitchFamily="34" charset="-122"/>
                <a:ea typeface="微软雅黑" panose="020B0503020204020204" pitchFamily="34" charset="-122"/>
              </a:rPr>
              <a:t>TCP/IP</a:t>
            </a:r>
            <a:endParaRPr lang="zh-CN" altLang="en-US" sz="2000" b="1"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B1FFA5CD-701E-6D49-B271-9902C60894D3}"/>
              </a:ext>
            </a:extLst>
          </p:cNvPr>
          <p:cNvSpPr/>
          <p:nvPr/>
        </p:nvSpPr>
        <p:spPr>
          <a:xfrm>
            <a:off x="8681930" y="5641615"/>
            <a:ext cx="2686505" cy="461665"/>
          </a:xfrm>
          <a:prstGeom prst="rect">
            <a:avLst/>
          </a:prstGeom>
        </p:spPr>
        <p:txBody>
          <a:bodyPr wrap="none">
            <a:spAutoFit/>
          </a:bodyPr>
          <a:lstStyle/>
          <a:p>
            <a:r>
              <a:rPr kumimoji="1" lang="en-US" altLang="zh-CN" sz="2400" dirty="0">
                <a:solidFill>
                  <a:prstClr val="black"/>
                </a:solidFill>
                <a:latin typeface="Microsoft YaHei" panose="020B0503020204020204" pitchFamily="34" charset="-122"/>
                <a:ea typeface="Microsoft YaHei" panose="020B0503020204020204" pitchFamily="34" charset="-122"/>
                <a:cs typeface="+mj-cs"/>
              </a:rPr>
              <a:t>TCP/IP</a:t>
            </a:r>
            <a:r>
              <a:rPr kumimoji="1" lang="zh-CN" altLang="en-US" sz="2400" dirty="0">
                <a:solidFill>
                  <a:prstClr val="black"/>
                </a:solidFill>
                <a:latin typeface="Microsoft YaHei" panose="020B0503020204020204" pitchFamily="34" charset="-122"/>
                <a:ea typeface="Microsoft YaHei" panose="020B0503020204020204" pitchFamily="34" charset="-122"/>
                <a:cs typeface="+mj-cs"/>
              </a:rPr>
              <a:t>的沙漏模型</a:t>
            </a:r>
            <a:endParaRPr lang="zh-CN" altLang="en-US" sz="1100" dirty="0"/>
          </a:p>
        </p:txBody>
      </p:sp>
    </p:spTree>
    <p:extLst>
      <p:ext uri="{BB962C8B-B14F-4D97-AF65-F5344CB8AC3E}">
        <p14:creationId xmlns:p14="http://schemas.microsoft.com/office/powerpoint/2010/main" val="20392768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OSI</a:t>
            </a:r>
            <a:r>
              <a:rPr kumimoji="1" lang="zh-CN" altLang="en-US" dirty="0"/>
              <a:t>模型与</a:t>
            </a:r>
            <a:r>
              <a:rPr kumimoji="1" lang="en-US" altLang="zh-CN" dirty="0"/>
              <a:t>TCP/IP</a:t>
            </a:r>
            <a:r>
              <a:rPr kumimoji="1" lang="zh-CN" altLang="en-US" dirty="0"/>
              <a:t>模型比较</a:t>
            </a:r>
          </a:p>
        </p:txBody>
      </p:sp>
      <p:sp>
        <p:nvSpPr>
          <p:cNvPr id="3" name="内容占位符 2"/>
          <p:cNvSpPr>
            <a:spLocks noGrp="1"/>
          </p:cNvSpPr>
          <p:nvPr>
            <p:ph idx="1"/>
          </p:nvPr>
        </p:nvSpPr>
        <p:spPr>
          <a:xfrm>
            <a:off x="749054" y="1276977"/>
            <a:ext cx="6187440" cy="5444497"/>
          </a:xfrm>
        </p:spPr>
        <p:txBody>
          <a:bodyPr>
            <a:noAutofit/>
          </a:bodyPr>
          <a:lstStyle/>
          <a:p>
            <a:pPr>
              <a:spcBef>
                <a:spcPts val="400"/>
              </a:spcBef>
            </a:pPr>
            <a:r>
              <a:rPr kumimoji="1" lang="en-US" altLang="zh-CN" sz="2400" dirty="0">
                <a:solidFill>
                  <a:srgbClr val="C00000"/>
                </a:solidFill>
              </a:rPr>
              <a:t>7</a:t>
            </a:r>
            <a:r>
              <a:rPr kumimoji="1" lang="zh-CN" altLang="en-US" sz="2400" dirty="0">
                <a:solidFill>
                  <a:srgbClr val="C00000"/>
                </a:solidFill>
              </a:rPr>
              <a:t>层模型与</a:t>
            </a:r>
            <a:r>
              <a:rPr kumimoji="1" lang="en-US" altLang="zh-CN" sz="2400" dirty="0">
                <a:solidFill>
                  <a:srgbClr val="C00000"/>
                </a:solidFill>
              </a:rPr>
              <a:t>4</a:t>
            </a:r>
            <a:r>
              <a:rPr kumimoji="1" lang="zh-CN" altLang="en-US" sz="2400" dirty="0">
                <a:solidFill>
                  <a:srgbClr val="C00000"/>
                </a:solidFill>
              </a:rPr>
              <a:t>层模型</a:t>
            </a:r>
            <a:endParaRPr kumimoji="1" lang="en-US" altLang="zh-CN" sz="2400" dirty="0"/>
          </a:p>
          <a:p>
            <a:pPr lvl="1">
              <a:spcBef>
                <a:spcPts val="400"/>
              </a:spcBef>
            </a:pPr>
            <a:r>
              <a:rPr kumimoji="1" lang="en-US" altLang="zh-CN" sz="2000" dirty="0"/>
              <a:t>TCP/IP</a:t>
            </a:r>
            <a:r>
              <a:rPr kumimoji="1" lang="zh-CN" altLang="en-US" sz="2000" dirty="0"/>
              <a:t>模型的网络接口层定义主机与传输线路之间的接口，描述了链路为无连接的互联网层必须提供的基本功能</a:t>
            </a:r>
          </a:p>
          <a:p>
            <a:pPr lvl="1">
              <a:spcBef>
                <a:spcPts val="400"/>
              </a:spcBef>
            </a:pPr>
            <a:r>
              <a:rPr kumimoji="1" lang="en-US" altLang="zh-CN" sz="2000" dirty="0"/>
              <a:t>TCP/IP</a:t>
            </a:r>
            <a:r>
              <a:rPr kumimoji="1" lang="zh-CN" altLang="en-US" sz="2000" dirty="0"/>
              <a:t>模型的互联网层、传输层与</a:t>
            </a:r>
            <a:r>
              <a:rPr kumimoji="1" lang="en-US" altLang="zh-CN" sz="2000" dirty="0"/>
              <a:t>OSI</a:t>
            </a:r>
            <a:r>
              <a:rPr kumimoji="1" lang="zh-CN" altLang="en-US" sz="2000" dirty="0"/>
              <a:t>模型的</a:t>
            </a:r>
            <a:r>
              <a:rPr kumimoji="1" lang="zh-CN" altLang="en-US" sz="2000" dirty="0">
                <a:sym typeface="+mn-ea"/>
              </a:rPr>
              <a:t>网络层、传输层</a:t>
            </a:r>
            <a:r>
              <a:rPr kumimoji="1" lang="zh-CN" altLang="en-US" sz="2000" dirty="0"/>
              <a:t>大致对应</a:t>
            </a:r>
          </a:p>
          <a:p>
            <a:pPr lvl="1">
              <a:spcBef>
                <a:spcPts val="400"/>
              </a:spcBef>
            </a:pPr>
            <a:r>
              <a:rPr kumimoji="1" lang="en-US" altLang="zh-CN" sz="2000" dirty="0"/>
              <a:t>TCP/IP</a:t>
            </a:r>
            <a:r>
              <a:rPr kumimoji="1" lang="zh-CN" altLang="en-US" sz="2000" dirty="0"/>
              <a:t>模型的应用层包含了</a:t>
            </a:r>
            <a:r>
              <a:rPr kumimoji="1" lang="en-US" altLang="zh-CN" sz="2000" dirty="0"/>
              <a:t>OSI</a:t>
            </a:r>
            <a:r>
              <a:rPr kumimoji="1" lang="zh-CN" altLang="en-US" sz="2000" dirty="0"/>
              <a:t>模型的表示层与会话层</a:t>
            </a:r>
          </a:p>
          <a:p>
            <a:pPr lvl="0">
              <a:spcBef>
                <a:spcPts val="400"/>
              </a:spcBef>
            </a:pPr>
            <a:r>
              <a:rPr kumimoji="1" lang="zh-CN" altLang="en-US" sz="2400" dirty="0">
                <a:solidFill>
                  <a:srgbClr val="C00000"/>
                </a:solidFill>
              </a:rPr>
              <a:t>基本设计思想：通用性与实用性</a:t>
            </a:r>
            <a:endParaRPr kumimoji="1" lang="zh-CN" altLang="en-US" sz="2400" dirty="0"/>
          </a:p>
          <a:p>
            <a:pPr lvl="1">
              <a:spcBef>
                <a:spcPts val="400"/>
              </a:spcBef>
            </a:pPr>
            <a:r>
              <a:rPr kumimoji="1" lang="en-US" altLang="zh-CN" sz="2000" dirty="0"/>
              <a:t>OSI</a:t>
            </a:r>
            <a:r>
              <a:rPr kumimoji="1" lang="zh-CN" altLang="en-US" sz="2000" dirty="0"/>
              <a:t>：先有模型后设计协议，不局限于特定协议，</a:t>
            </a:r>
            <a:r>
              <a:rPr kumimoji="1" lang="zh-CN" altLang="en-US" sz="2000" dirty="0">
                <a:solidFill>
                  <a:srgbClr val="C00000"/>
                </a:solidFill>
              </a:rPr>
              <a:t>明确了服务、协议、接口等概念</a:t>
            </a:r>
            <a:r>
              <a:rPr kumimoji="1" lang="zh-CN" altLang="en-US" sz="2000" dirty="0"/>
              <a:t>，更具通用性</a:t>
            </a:r>
          </a:p>
          <a:p>
            <a:pPr lvl="1">
              <a:spcBef>
                <a:spcPts val="400"/>
              </a:spcBef>
            </a:pPr>
            <a:r>
              <a:rPr kumimoji="1" lang="en-US" altLang="zh-CN" sz="2000" dirty="0"/>
              <a:t>TCP/IP</a:t>
            </a:r>
            <a:r>
              <a:rPr kumimoji="1" lang="zh-CN" altLang="en-US" sz="2000" dirty="0"/>
              <a:t>模型：仅仅是对已有协议的描述</a:t>
            </a:r>
          </a:p>
          <a:p>
            <a:pPr lvl="0">
              <a:spcBef>
                <a:spcPts val="400"/>
              </a:spcBef>
            </a:pPr>
            <a:r>
              <a:rPr kumimoji="1" lang="zh-CN" altLang="en-US" sz="2400" dirty="0">
                <a:solidFill>
                  <a:srgbClr val="C00000"/>
                </a:solidFill>
              </a:rPr>
              <a:t>无连接与面向连接</a:t>
            </a:r>
            <a:endParaRPr kumimoji="1" lang="zh-CN" altLang="en-US" sz="2400" dirty="0"/>
          </a:p>
          <a:p>
            <a:pPr lvl="1">
              <a:spcBef>
                <a:spcPts val="400"/>
              </a:spcBef>
            </a:pPr>
            <a:r>
              <a:rPr kumimoji="1" lang="en-US" altLang="zh-CN" sz="2000" dirty="0"/>
              <a:t>OSI</a:t>
            </a:r>
            <a:r>
              <a:rPr kumimoji="1" lang="zh-CN" altLang="en-US" sz="2000" dirty="0"/>
              <a:t>模型网络层能够支持无连接和面向连接通信</a:t>
            </a:r>
          </a:p>
          <a:p>
            <a:pPr lvl="1">
              <a:spcBef>
                <a:spcPts val="400"/>
              </a:spcBef>
            </a:pPr>
            <a:r>
              <a:rPr kumimoji="1" lang="en-US" altLang="zh-CN" sz="2000" dirty="0"/>
              <a:t>TCP/IP</a:t>
            </a:r>
            <a:r>
              <a:rPr kumimoji="1" lang="zh-CN" altLang="en-US" sz="2000" dirty="0"/>
              <a:t>模型的网络层仅支持无连接通信（</a:t>
            </a:r>
            <a:r>
              <a:rPr kumimoji="1" lang="en-US" altLang="zh-CN" sz="2000" dirty="0"/>
              <a:t>IP</a:t>
            </a:r>
            <a:r>
              <a:rPr kumimoji="1" lang="zh-CN" altLang="en-US" sz="2000" dirty="0"/>
              <a:t>）</a:t>
            </a:r>
          </a:p>
          <a:p>
            <a:pPr lvl="1">
              <a:spcBef>
                <a:spcPts val="400"/>
              </a:spcBef>
            </a:pPr>
            <a:endParaRPr kumimoji="1" lang="zh-CN" altLang="en-US" sz="2000" dirty="0"/>
          </a:p>
        </p:txBody>
      </p:sp>
      <p:sp>
        <p:nvSpPr>
          <p:cNvPr id="6" name="灯片编号占位符 5">
            <a:extLst>
              <a:ext uri="{FF2B5EF4-FFF2-40B4-BE49-F238E27FC236}">
                <a16:creationId xmlns:a16="http://schemas.microsoft.com/office/drawing/2014/main" id="{889CEAF8-A0CD-DC48-B0E2-D34CC579B424}"/>
              </a:ext>
            </a:extLst>
          </p:cNvPr>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graphicFrame>
        <p:nvGraphicFramePr>
          <p:cNvPr id="5" name="表格 4"/>
          <p:cNvGraphicFramePr/>
          <p:nvPr>
            <p:extLst>
              <p:ext uri="{D42A27DB-BD31-4B8C-83A1-F6EECF244321}">
                <p14:modId xmlns:p14="http://schemas.microsoft.com/office/powerpoint/2010/main" val="2169180749"/>
              </p:ext>
            </p:extLst>
          </p:nvPr>
        </p:nvGraphicFramePr>
        <p:xfrm>
          <a:off x="6936494" y="1718310"/>
          <a:ext cx="2527300" cy="3702685"/>
        </p:xfrm>
        <a:graphic>
          <a:graphicData uri="http://schemas.openxmlformats.org/drawingml/2006/table">
            <a:tbl>
              <a:tblPr firstRow="1" bandRow="1">
                <a:tableStyleId>{5940675A-B579-460E-94D1-54222C63F5DA}</a:tableStyleId>
              </a:tblPr>
              <a:tblGrid>
                <a:gridCol w="2527300">
                  <a:extLst>
                    <a:ext uri="{9D8B030D-6E8A-4147-A177-3AD203B41FA5}">
                      <a16:colId xmlns:a16="http://schemas.microsoft.com/office/drawing/2014/main" val="20000"/>
                    </a:ext>
                  </a:extLst>
                </a:gridCol>
              </a:tblGrid>
              <a:tr h="551180">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endParaRPr lang="en-US" altLang="zh-CN" sz="2000" b="0" dirty="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0"/>
                  </a:ext>
                </a:extLst>
              </a:tr>
              <a:tr h="551815">
                <a:tc>
                  <a:txBody>
                    <a:bodyPr/>
                    <a:lstStyle/>
                    <a:p>
                      <a:pPr algn="ctr">
                        <a:buNone/>
                      </a:pPr>
                      <a:r>
                        <a:rPr lang="zh-CN" altLang="en-US" sz="2000" b="0">
                          <a:latin typeface="Microsoft YaHei" panose="020B0503020204020204" pitchFamily="34" charset="-122"/>
                          <a:ea typeface="Microsoft YaHei" panose="020B0503020204020204" pitchFamily="34" charset="-122"/>
                        </a:rPr>
                        <a:t>表示层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1"/>
                  </a:ext>
                </a:extLst>
              </a:tr>
              <a:tr h="511810">
                <a:tc>
                  <a:txBody>
                    <a:bodyPr/>
                    <a:lstStyle/>
                    <a:p>
                      <a:pPr algn="ctr">
                        <a:buNone/>
                      </a:pPr>
                      <a:r>
                        <a:rPr lang="zh-CN" altLang="en-US" sz="2000" b="0">
                          <a:latin typeface="Microsoft YaHei" panose="020B0503020204020204" pitchFamily="34" charset="-122"/>
                          <a:ea typeface="Microsoft YaHei" panose="020B0503020204020204" pitchFamily="34" charset="-122"/>
                        </a:rPr>
                        <a:t>会话层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2"/>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3"/>
                  </a:ext>
                </a:extLst>
              </a:tr>
              <a:tr h="51181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4"/>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数据链路层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5"/>
                  </a:ext>
                </a:extLst>
              </a:tr>
              <a:tr h="55118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endParaRPr lang="en-US" altLang="zh-CN" sz="2000" b="0" dirty="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6"/>
                  </a:ext>
                </a:extLst>
              </a:tr>
            </a:tbl>
          </a:graphicData>
        </a:graphic>
      </p:graphicFrame>
      <p:graphicFrame>
        <p:nvGraphicFramePr>
          <p:cNvPr id="8" name="表格 7"/>
          <p:cNvGraphicFramePr/>
          <p:nvPr>
            <p:extLst>
              <p:ext uri="{D42A27DB-BD31-4B8C-83A1-F6EECF244321}">
                <p14:modId xmlns:p14="http://schemas.microsoft.com/office/powerpoint/2010/main" val="1325061214"/>
              </p:ext>
            </p:extLst>
          </p:nvPr>
        </p:nvGraphicFramePr>
        <p:xfrm>
          <a:off x="9678670" y="1718310"/>
          <a:ext cx="2249804" cy="3702685"/>
        </p:xfrm>
        <a:graphic>
          <a:graphicData uri="http://schemas.openxmlformats.org/drawingml/2006/table">
            <a:tbl>
              <a:tblPr firstRow="1" bandRow="1">
                <a:tableStyleId>{5940675A-B579-460E-94D1-54222C63F5DA}</a:tableStyleId>
              </a:tblPr>
              <a:tblGrid>
                <a:gridCol w="2249804">
                  <a:extLst>
                    <a:ext uri="{9D8B030D-6E8A-4147-A177-3AD203B41FA5}">
                      <a16:colId xmlns:a16="http://schemas.microsoft.com/office/drawing/2014/main" val="20000"/>
                    </a:ext>
                  </a:extLst>
                </a:gridCol>
              </a:tblGrid>
              <a:tr h="1614805">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endParaRPr lang="en-US" altLang="zh-CN" sz="2000" b="0" dirty="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0"/>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1"/>
                  </a:ext>
                </a:extLst>
              </a:tr>
              <a:tr h="511810">
                <a:tc>
                  <a:txBody>
                    <a:bodyPr/>
                    <a:lstStyle/>
                    <a:p>
                      <a:pPr algn="ctr">
                        <a:buNone/>
                      </a:pPr>
                      <a:r>
                        <a:rPr lang="zh-CN" altLang="en-US" sz="2000" b="0">
                          <a:latin typeface="Microsoft YaHei" panose="020B0503020204020204" pitchFamily="34" charset="-122"/>
                          <a:ea typeface="Microsoft YaHei" panose="020B0503020204020204" pitchFamily="34" charset="-122"/>
                          <a:sym typeface="+mn-ea"/>
                        </a:rPr>
                        <a:t>互联网层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2"/>
                  </a:ext>
                </a:extLst>
              </a:tr>
              <a:tr h="1063625">
                <a:tc>
                  <a:txBody>
                    <a:bodyPr/>
                    <a:lstStyle/>
                    <a:p>
                      <a:pPr algn="ctr">
                        <a:buNone/>
                      </a:pPr>
                      <a:r>
                        <a:rPr lang="zh-CN" altLang="en-US" sz="2000" b="0" dirty="0">
                          <a:latin typeface="Microsoft YaHei" panose="020B0503020204020204" pitchFamily="34" charset="-122"/>
                          <a:ea typeface="Microsoft YaHei" panose="020B0503020204020204" pitchFamily="34" charset="-122"/>
                        </a:rPr>
                        <a:t>网络接口层</a:t>
                      </a:r>
                      <a:endParaRPr lang="en-US" altLang="zh-CN" sz="2000" b="0" dirty="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3"/>
                  </a:ext>
                </a:extLst>
              </a:tr>
            </a:tbl>
          </a:graphicData>
        </a:graphic>
      </p:graphicFrame>
      <p:sp>
        <p:nvSpPr>
          <p:cNvPr id="10" name="内容占位符 2"/>
          <p:cNvSpPr>
            <a:spLocks noGrp="1"/>
          </p:cNvSpPr>
          <p:nvPr/>
        </p:nvSpPr>
        <p:spPr>
          <a:xfrm>
            <a:off x="7302889" y="5551487"/>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OSI 7</a:t>
            </a: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层模型</a:t>
            </a:r>
          </a:p>
        </p:txBody>
      </p:sp>
      <p:sp>
        <p:nvSpPr>
          <p:cNvPr id="11" name="内容占位符 2"/>
          <p:cNvSpPr>
            <a:spLocks noGrp="1"/>
          </p:cNvSpPr>
          <p:nvPr/>
        </p:nvSpPr>
        <p:spPr>
          <a:xfrm>
            <a:off x="9678670" y="5535295"/>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TCP/IP 4</a:t>
            </a: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层模型</a:t>
            </a:r>
          </a:p>
        </p:txBody>
      </p:sp>
      <p:sp>
        <p:nvSpPr>
          <p:cNvPr id="12" name="文本框 11">
            <a:extLst>
              <a:ext uri="{FF2B5EF4-FFF2-40B4-BE49-F238E27FC236}">
                <a16:creationId xmlns:a16="http://schemas.microsoft.com/office/drawing/2014/main" id="{C4A2B1E1-5781-3B44-BD52-27298BC51705}"/>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spTree>
    <p:extLst>
      <p:ext uri="{BB962C8B-B14F-4D97-AF65-F5344CB8AC3E}">
        <p14:creationId xmlns:p14="http://schemas.microsoft.com/office/powerpoint/2010/main" val="32134651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OSI</a:t>
            </a:r>
            <a:r>
              <a:rPr kumimoji="1" lang="zh-CN" altLang="en-US" dirty="0"/>
              <a:t>模型与</a:t>
            </a:r>
            <a:r>
              <a:rPr kumimoji="1" lang="en-US" altLang="zh-CN" dirty="0"/>
              <a:t>TCP/IP</a:t>
            </a:r>
            <a:r>
              <a:rPr kumimoji="1" lang="zh-CN" altLang="en-US" dirty="0"/>
              <a:t>模型比较</a:t>
            </a:r>
          </a:p>
        </p:txBody>
      </p:sp>
      <p:sp>
        <p:nvSpPr>
          <p:cNvPr id="3" name="内容占位符 2"/>
          <p:cNvSpPr>
            <a:spLocks noGrp="1"/>
          </p:cNvSpPr>
          <p:nvPr>
            <p:ph idx="1"/>
          </p:nvPr>
        </p:nvSpPr>
        <p:spPr>
          <a:xfrm>
            <a:off x="501042" y="2505329"/>
            <a:ext cx="5726192" cy="3858895"/>
          </a:xfrm>
          <a:ln w="6350" cmpd="sng">
            <a:solidFill>
              <a:srgbClr val="C00000"/>
            </a:solidFill>
            <a:prstDash val="solid"/>
          </a:ln>
        </p:spPr>
        <p:txBody>
          <a:bodyPr>
            <a:noAutofit/>
          </a:bodyPr>
          <a:lstStyle/>
          <a:p>
            <a:pPr>
              <a:spcBef>
                <a:spcPts val="400"/>
              </a:spcBef>
            </a:pPr>
            <a:r>
              <a:rPr kumimoji="1" lang="zh-CN" altLang="en-US" sz="2000" dirty="0">
                <a:solidFill>
                  <a:srgbClr val="C00000"/>
                </a:solidFill>
              </a:rPr>
              <a:t>从未真正被实现</a:t>
            </a:r>
            <a:endParaRPr kumimoji="1" lang="zh-CN" altLang="en-US" sz="2000" dirty="0"/>
          </a:p>
          <a:p>
            <a:pPr lvl="1">
              <a:spcBef>
                <a:spcPts val="400"/>
              </a:spcBef>
            </a:pPr>
            <a:r>
              <a:rPr kumimoji="1" lang="en-US" altLang="zh-CN" sz="2000" dirty="0"/>
              <a:t>TCP/IP</a:t>
            </a:r>
            <a:r>
              <a:rPr kumimoji="1" lang="zh-CN" altLang="en-US" sz="2000" dirty="0"/>
              <a:t>已成为事实标准，</a:t>
            </a:r>
            <a:r>
              <a:rPr kumimoji="1" lang="en-US" altLang="zh-CN" sz="2000" dirty="0"/>
              <a:t>OSI</a:t>
            </a:r>
            <a:r>
              <a:rPr kumimoji="1" lang="zh-CN" altLang="en-US" sz="2000" dirty="0"/>
              <a:t>缺少厂家支持</a:t>
            </a:r>
          </a:p>
          <a:p>
            <a:pPr>
              <a:spcBef>
                <a:spcPts val="400"/>
              </a:spcBef>
            </a:pPr>
            <a:r>
              <a:rPr kumimoji="1" lang="zh-CN" altLang="en-US" sz="2000" dirty="0">
                <a:solidFill>
                  <a:srgbClr val="C00000"/>
                </a:solidFill>
              </a:rPr>
              <a:t>技术实现糟糕</a:t>
            </a:r>
            <a:endParaRPr kumimoji="1" lang="zh-CN" altLang="en-US" sz="2000" dirty="0"/>
          </a:p>
          <a:p>
            <a:pPr lvl="1">
              <a:spcBef>
                <a:spcPts val="400"/>
              </a:spcBef>
            </a:pPr>
            <a:r>
              <a:rPr kumimoji="1" lang="en-US" altLang="zh-CN" sz="2000" dirty="0"/>
              <a:t>OSI</a:t>
            </a:r>
            <a:r>
              <a:rPr kumimoji="1" lang="zh-CN" altLang="en-US" sz="2000" dirty="0"/>
              <a:t>分层欠缺技术考虑：会话层、表示层很少内容；数据链路层、网络层内容繁杂。模型和协议过于复杂</a:t>
            </a:r>
          </a:p>
          <a:p>
            <a:pPr lvl="1">
              <a:spcBef>
                <a:spcPts val="400"/>
              </a:spcBef>
            </a:pPr>
            <a:r>
              <a:rPr kumimoji="1" lang="zh-CN" altLang="en-US" sz="2000" dirty="0"/>
              <a:t>分层间功能重复：差错控制、流量控制等在不同层反复出现</a:t>
            </a:r>
          </a:p>
          <a:p>
            <a:pPr lvl="0">
              <a:spcBef>
                <a:spcPts val="400"/>
              </a:spcBef>
            </a:pPr>
            <a:r>
              <a:rPr kumimoji="1" lang="zh-CN" altLang="en-US" sz="2000" dirty="0">
                <a:solidFill>
                  <a:srgbClr val="C00000"/>
                </a:solidFill>
              </a:rPr>
              <a:t>非技术因素</a:t>
            </a:r>
            <a:endParaRPr kumimoji="1" lang="zh-CN" altLang="en-US" sz="2000" dirty="0"/>
          </a:p>
          <a:p>
            <a:pPr lvl="1">
              <a:spcBef>
                <a:spcPts val="400"/>
              </a:spcBef>
            </a:pPr>
            <a:r>
              <a:rPr kumimoji="1" lang="en-US" altLang="zh-CN" sz="2000" dirty="0"/>
              <a:t>TCP/IP</a:t>
            </a:r>
            <a:r>
              <a:rPr kumimoji="1" lang="zh-CN" altLang="en-US" sz="2000" dirty="0"/>
              <a:t>实现为</a:t>
            </a:r>
            <a:r>
              <a:rPr kumimoji="1" lang="en-US" altLang="zh-CN" sz="2000" dirty="0"/>
              <a:t>UNIX</a:t>
            </a:r>
            <a:r>
              <a:rPr kumimoji="1" lang="zh-CN" altLang="en-US" sz="2000" dirty="0"/>
              <a:t>一部分，免费</a:t>
            </a:r>
          </a:p>
          <a:p>
            <a:pPr lvl="1">
              <a:spcBef>
                <a:spcPts val="400"/>
              </a:spcBef>
            </a:pPr>
            <a:r>
              <a:rPr kumimoji="1" lang="en-US" altLang="zh-CN" sz="2000" dirty="0"/>
              <a:t>OSI</a:t>
            </a:r>
            <a:r>
              <a:rPr kumimoji="1" lang="zh-CN" altLang="en-US" sz="2000" dirty="0"/>
              <a:t>被认为是政府和机构的强加标准</a:t>
            </a:r>
          </a:p>
        </p:txBody>
      </p:sp>
      <p:sp>
        <p:nvSpPr>
          <p:cNvPr id="5" name="灯片编号占位符 4">
            <a:extLst>
              <a:ext uri="{FF2B5EF4-FFF2-40B4-BE49-F238E27FC236}">
                <a16:creationId xmlns:a16="http://schemas.microsoft.com/office/drawing/2014/main" id="{736001B1-4190-9943-9E51-CDE73AF6A14D}"/>
              </a:ext>
            </a:extLst>
          </p:cNvPr>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sp>
        <p:nvSpPr>
          <p:cNvPr id="6" name="内容占位符 2"/>
          <p:cNvSpPr>
            <a:spLocks noGrp="1"/>
          </p:cNvSpPr>
          <p:nvPr/>
        </p:nvSpPr>
        <p:spPr>
          <a:xfrm>
            <a:off x="2184399" y="2037461"/>
            <a:ext cx="2577042"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OSI</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模型的不足</a:t>
            </a:r>
          </a:p>
        </p:txBody>
      </p:sp>
      <p:sp>
        <p:nvSpPr>
          <p:cNvPr id="7" name="内容占位符 2"/>
          <p:cNvSpPr>
            <a:spLocks noGrp="1"/>
          </p:cNvSpPr>
          <p:nvPr/>
        </p:nvSpPr>
        <p:spPr>
          <a:xfrm>
            <a:off x="6404402" y="2505329"/>
            <a:ext cx="5473698" cy="3858895"/>
          </a:xfrm>
          <a:prstGeom prst="rect">
            <a:avLst/>
          </a:prstGeom>
          <a:ln w="6350" cmpd="sng">
            <a:solidFill>
              <a:srgbClr val="C00000"/>
            </a:solidFill>
            <a:prstDash val="solid"/>
          </a:ln>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核心概念未能体现</a:t>
            </a:r>
            <a:endPar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90204"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未明确区分服务、接口和协议等核心概念</a:t>
            </a:r>
          </a:p>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不具备通用性</a:t>
            </a:r>
            <a:endPar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90204"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不适于描述</a:t>
            </a: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TCP/IP</a:t>
            </a: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之外的其它协议栈</a:t>
            </a:r>
          </a:p>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混用接口与分层的设计</a:t>
            </a:r>
            <a:endPar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90204"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链路层和物理层一起被定义为网络接口层，而非真正意思上的分层</a:t>
            </a:r>
          </a:p>
          <a:p>
            <a:pPr marL="228600" marR="0" lvl="0"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模型欠缺完整性</a:t>
            </a:r>
            <a:endPar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685800" marR="0" lvl="1" indent="-228600" algn="l" defTabSz="914400" rtl="0" eaLnBrk="1" fontAlgn="auto" latinLnBrk="0" hangingPunct="1">
              <a:lnSpc>
                <a:spcPct val="100000"/>
              </a:lnSpc>
              <a:spcBef>
                <a:spcPts val="600"/>
              </a:spcBef>
              <a:spcAft>
                <a:spcPts val="0"/>
              </a:spcAft>
              <a:buClrTx/>
              <a:buSzTx/>
              <a:buFont typeface="Arial" panose="020B0604020202090204"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未包含物理层与数据链路层</a:t>
            </a:r>
          </a:p>
          <a:p>
            <a:pPr marL="685800" marR="0" lvl="1" indent="-228600" algn="l" defTabSz="914400" rtl="0" eaLnBrk="1" fontAlgn="auto" latinLnBrk="0" hangingPunct="1">
              <a:lnSpc>
                <a:spcPct val="100000"/>
              </a:lnSpc>
              <a:spcBef>
                <a:spcPts val="600"/>
              </a:spcBef>
              <a:spcAft>
                <a:spcPts val="0"/>
              </a:spcAft>
              <a:buClrTx/>
              <a:buSzTx/>
              <a:buFont typeface="Arial" panose="020B0604020202090204"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物理层与数据链路层是至关重要的部分</a:t>
            </a:r>
          </a:p>
        </p:txBody>
      </p:sp>
      <p:sp>
        <p:nvSpPr>
          <p:cNvPr id="9" name="内容占位符 2"/>
          <p:cNvSpPr>
            <a:spLocks noGrp="1"/>
          </p:cNvSpPr>
          <p:nvPr/>
        </p:nvSpPr>
        <p:spPr>
          <a:xfrm>
            <a:off x="7760970" y="2037461"/>
            <a:ext cx="30626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en-US" altLang="zh-CN"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TCP/IP</a:t>
            </a:r>
            <a:r>
              <a:rPr kumimoji="1"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模型的不足</a:t>
            </a:r>
          </a:p>
        </p:txBody>
      </p:sp>
      <p:sp>
        <p:nvSpPr>
          <p:cNvPr id="10" name="文本框 9">
            <a:extLst>
              <a:ext uri="{FF2B5EF4-FFF2-40B4-BE49-F238E27FC236}">
                <a16:creationId xmlns:a16="http://schemas.microsoft.com/office/drawing/2014/main" id="{4DD61ACE-C562-9449-9C0B-1CDF0A629F5A}"/>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sp>
        <p:nvSpPr>
          <p:cNvPr id="11" name="矩形 10">
            <a:extLst>
              <a:ext uri="{FF2B5EF4-FFF2-40B4-BE49-F238E27FC236}">
                <a16:creationId xmlns:a16="http://schemas.microsoft.com/office/drawing/2014/main" id="{494D3E04-2057-094E-9683-C53934258D3D}"/>
              </a:ext>
            </a:extLst>
          </p:cNvPr>
          <p:cNvSpPr/>
          <p:nvPr/>
        </p:nvSpPr>
        <p:spPr>
          <a:xfrm>
            <a:off x="2816520" y="1371600"/>
            <a:ext cx="6475752" cy="461665"/>
          </a:xfrm>
          <a:prstGeom prst="rect">
            <a:avLst/>
          </a:prstGeom>
          <a:ln>
            <a:solidFill>
              <a:srgbClr val="C00000"/>
            </a:solidFill>
          </a:ln>
        </p:spPr>
        <p:txBody>
          <a:bodyPr wrap="square">
            <a:spAutoFit/>
          </a:bodyPr>
          <a:lstStyle/>
          <a:p>
            <a:r>
              <a:rPr lang="en-US" altLang="zh-CN" sz="2400" dirty="0">
                <a:latin typeface="Microsoft YaHei" panose="020B0503020204020204" pitchFamily="34" charset="-122"/>
                <a:ea typeface="Microsoft YaHei" panose="020B0503020204020204" pitchFamily="34" charset="-122"/>
              </a:rPr>
              <a:t>OSI</a:t>
            </a:r>
            <a:r>
              <a:rPr lang="zh-CN" altLang="en-US" sz="2400" dirty="0">
                <a:latin typeface="Microsoft YaHei" panose="020B0503020204020204" pitchFamily="34" charset="-122"/>
                <a:ea typeface="Microsoft YaHei" panose="020B0503020204020204" pitchFamily="34" charset="-122"/>
              </a:rPr>
              <a:t>的失败：糟糕的时机、技术、实现、政策</a:t>
            </a:r>
          </a:p>
        </p:txBody>
      </p:sp>
    </p:spTree>
    <p:extLst>
      <p:ext uri="{BB962C8B-B14F-4D97-AF65-F5344CB8AC3E}">
        <p14:creationId xmlns:p14="http://schemas.microsoft.com/office/powerpoint/2010/main" val="42201500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本教程内容的分层组织</a:t>
            </a:r>
          </a:p>
        </p:txBody>
      </p:sp>
      <p:sp>
        <p:nvSpPr>
          <p:cNvPr id="17" name="内容占位符 16"/>
          <p:cNvSpPr>
            <a:spLocks noGrp="1"/>
          </p:cNvSpPr>
          <p:nvPr>
            <p:ph idx="1"/>
          </p:nvPr>
        </p:nvSpPr>
        <p:spPr>
          <a:xfrm>
            <a:off x="8506979" y="2091847"/>
            <a:ext cx="3506470" cy="3204531"/>
          </a:xfrm>
        </p:spPr>
        <p:txBody>
          <a:bodyPr>
            <a:normAutofit/>
          </a:bodyPr>
          <a:lstStyle/>
          <a:p>
            <a:pPr>
              <a:lnSpc>
                <a:spcPct val="150000"/>
              </a:lnSpc>
            </a:pPr>
            <a:r>
              <a:rPr kumimoji="1" lang="zh-CN" altLang="en-US" sz="2400" dirty="0"/>
              <a:t>突出核心概念</a:t>
            </a:r>
          </a:p>
          <a:p>
            <a:pPr>
              <a:lnSpc>
                <a:spcPct val="150000"/>
              </a:lnSpc>
            </a:pPr>
            <a:r>
              <a:rPr kumimoji="1" lang="zh-CN" altLang="en-US" sz="2400" dirty="0"/>
              <a:t>区分接口与分层</a:t>
            </a:r>
          </a:p>
          <a:p>
            <a:pPr>
              <a:lnSpc>
                <a:spcPct val="150000"/>
              </a:lnSpc>
            </a:pPr>
            <a:r>
              <a:rPr kumimoji="1" lang="zh-CN" altLang="en-US" sz="2400" dirty="0"/>
              <a:t>体现完整性</a:t>
            </a:r>
          </a:p>
          <a:p>
            <a:pPr>
              <a:lnSpc>
                <a:spcPct val="150000"/>
              </a:lnSpc>
            </a:pPr>
            <a:r>
              <a:rPr kumimoji="1" lang="zh-CN" altLang="en-US" sz="2400" dirty="0"/>
              <a:t>体现通用性</a:t>
            </a:r>
          </a:p>
          <a:p>
            <a:pPr>
              <a:lnSpc>
                <a:spcPct val="150000"/>
              </a:lnSpc>
            </a:pPr>
            <a:r>
              <a:rPr kumimoji="1" lang="zh-CN" altLang="en-US" sz="2400" dirty="0">
                <a:sym typeface="+mn-ea"/>
              </a:rPr>
              <a:t>简化分层，易于教学</a:t>
            </a:r>
          </a:p>
        </p:txBody>
      </p:sp>
      <p:sp>
        <p:nvSpPr>
          <p:cNvPr id="3" name="灯片编号占位符 2">
            <a:extLst>
              <a:ext uri="{FF2B5EF4-FFF2-40B4-BE49-F238E27FC236}">
                <a16:creationId xmlns:a16="http://schemas.microsoft.com/office/drawing/2014/main" id="{E00C22C7-8890-F14C-8C84-DD9AA62CFF77}"/>
              </a:ext>
            </a:extLst>
          </p:cNvPr>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graphicFrame>
        <p:nvGraphicFramePr>
          <p:cNvPr id="5" name="表格 4"/>
          <p:cNvGraphicFramePr/>
          <p:nvPr>
            <p:extLst>
              <p:ext uri="{D42A27DB-BD31-4B8C-83A1-F6EECF244321}">
                <p14:modId xmlns:p14="http://schemas.microsoft.com/office/powerpoint/2010/main" val="3842721343"/>
              </p:ext>
            </p:extLst>
          </p:nvPr>
        </p:nvGraphicFramePr>
        <p:xfrm>
          <a:off x="841375" y="1726565"/>
          <a:ext cx="1804035" cy="3702685"/>
        </p:xfrm>
        <a:graphic>
          <a:graphicData uri="http://schemas.openxmlformats.org/drawingml/2006/table">
            <a:tbl>
              <a:tblPr firstRow="1" bandRow="1">
                <a:tableStyleId>{5940675A-B579-460E-94D1-54222C63F5DA}</a:tableStyleId>
              </a:tblPr>
              <a:tblGrid>
                <a:gridCol w="1804035">
                  <a:extLst>
                    <a:ext uri="{9D8B030D-6E8A-4147-A177-3AD203B41FA5}">
                      <a16:colId xmlns:a16="http://schemas.microsoft.com/office/drawing/2014/main" val="20000"/>
                    </a:ext>
                  </a:extLst>
                </a:gridCol>
              </a:tblGrid>
              <a:tr h="551180">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0"/>
                  </a:ext>
                </a:extLst>
              </a:tr>
              <a:tr h="551815">
                <a:tc>
                  <a:txBody>
                    <a:bodyPr/>
                    <a:lstStyle/>
                    <a:p>
                      <a:pPr algn="ctr">
                        <a:buNone/>
                      </a:pPr>
                      <a:r>
                        <a:rPr lang="zh-CN" altLang="en-US" sz="2000" b="0" dirty="0">
                          <a:latin typeface="Microsoft YaHei" panose="020B0503020204020204" pitchFamily="34" charset="-122"/>
                          <a:ea typeface="Microsoft YaHei" panose="020B0503020204020204" pitchFamily="34" charset="-122"/>
                        </a:rPr>
                        <a:t>表示层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1"/>
                  </a:ext>
                </a:extLst>
              </a:tr>
              <a:tr h="511810">
                <a:tc>
                  <a:txBody>
                    <a:bodyPr/>
                    <a:lstStyle/>
                    <a:p>
                      <a:pPr algn="ctr">
                        <a:buNone/>
                      </a:pPr>
                      <a:r>
                        <a:rPr lang="zh-CN" altLang="en-US" sz="2000" b="0" dirty="0">
                          <a:latin typeface="Microsoft YaHei" panose="020B0503020204020204" pitchFamily="34" charset="-122"/>
                          <a:ea typeface="Microsoft YaHei" panose="020B0503020204020204" pitchFamily="34" charset="-122"/>
                        </a:rPr>
                        <a:t>会话层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2"/>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endParaRPr lang="en-US" altLang="zh-CN" sz="2000" b="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3"/>
                  </a:ext>
                </a:extLst>
              </a:tr>
              <a:tr h="51181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endParaRPr lang="en-US" altLang="zh-CN" sz="2000" b="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4"/>
                  </a:ext>
                </a:extLst>
              </a:tr>
              <a:tr h="512445">
                <a:tc>
                  <a:txBody>
                    <a:bodyPr/>
                    <a:lstStyle/>
                    <a:p>
                      <a:pPr algn="ctr">
                        <a:buNone/>
                      </a:pPr>
                      <a:r>
                        <a:rPr lang="zh-CN" altLang="en-US" sz="2000" b="0" dirty="0">
                          <a:latin typeface="Microsoft YaHei" panose="020B0503020204020204" pitchFamily="34" charset="-122"/>
                          <a:ea typeface="Microsoft YaHei" panose="020B0503020204020204" pitchFamily="34" charset="-122"/>
                        </a:rPr>
                        <a:t>数据链路层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5"/>
                  </a:ext>
                </a:extLst>
              </a:tr>
              <a:tr h="55118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6"/>
                  </a:ext>
                </a:extLst>
              </a:tr>
            </a:tbl>
          </a:graphicData>
        </a:graphic>
      </p:graphicFrame>
      <p:graphicFrame>
        <p:nvGraphicFramePr>
          <p:cNvPr id="8" name="表格 7"/>
          <p:cNvGraphicFramePr/>
          <p:nvPr>
            <p:extLst>
              <p:ext uri="{D42A27DB-BD31-4B8C-83A1-F6EECF244321}">
                <p14:modId xmlns:p14="http://schemas.microsoft.com/office/powerpoint/2010/main" val="3620554510"/>
              </p:ext>
            </p:extLst>
          </p:nvPr>
        </p:nvGraphicFramePr>
        <p:xfrm>
          <a:off x="3051175" y="1713865"/>
          <a:ext cx="1727200" cy="3702685"/>
        </p:xfrm>
        <a:graphic>
          <a:graphicData uri="http://schemas.openxmlformats.org/drawingml/2006/table">
            <a:tbl>
              <a:tblPr firstRow="1" bandRow="1">
                <a:tableStyleId>{5940675A-B579-460E-94D1-54222C63F5DA}</a:tableStyleId>
              </a:tblPr>
              <a:tblGrid>
                <a:gridCol w="1727200">
                  <a:extLst>
                    <a:ext uri="{9D8B030D-6E8A-4147-A177-3AD203B41FA5}">
                      <a16:colId xmlns:a16="http://schemas.microsoft.com/office/drawing/2014/main" val="20000"/>
                    </a:ext>
                  </a:extLst>
                </a:gridCol>
              </a:tblGrid>
              <a:tr h="1614805">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0"/>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endParaRPr lang="en-US" altLang="zh-CN" sz="2000" b="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1"/>
                  </a:ext>
                </a:extLst>
              </a:tr>
              <a:tr h="511810">
                <a:tc>
                  <a:txBody>
                    <a:bodyPr/>
                    <a:lstStyle/>
                    <a:p>
                      <a:pPr algn="ctr">
                        <a:buNone/>
                      </a:pPr>
                      <a:r>
                        <a:rPr lang="zh-CN" altLang="en-US" sz="2000" b="0">
                          <a:latin typeface="Microsoft YaHei" panose="020B0503020204020204" pitchFamily="34" charset="-122"/>
                          <a:ea typeface="Microsoft YaHei" panose="020B0503020204020204" pitchFamily="34" charset="-122"/>
                          <a:sym typeface="+mn-ea"/>
                        </a:rPr>
                        <a:t>互联网层</a:t>
                      </a:r>
                      <a:endParaRPr lang="en-US" altLang="zh-CN" sz="2000" b="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2"/>
                  </a:ext>
                </a:extLst>
              </a:tr>
              <a:tr h="1063625">
                <a:tc>
                  <a:txBody>
                    <a:bodyPr/>
                    <a:lstStyle/>
                    <a:p>
                      <a:pPr algn="ctr">
                        <a:buNone/>
                      </a:pPr>
                      <a:r>
                        <a:rPr lang="zh-CN" altLang="en-US" sz="2000" b="0" dirty="0">
                          <a:latin typeface="Microsoft YaHei" panose="020B0503020204020204" pitchFamily="34" charset="-122"/>
                          <a:ea typeface="Microsoft YaHei" panose="020B0503020204020204" pitchFamily="34" charset="-122"/>
                        </a:rPr>
                        <a:t>网络接口层</a:t>
                      </a:r>
                      <a:endParaRPr lang="en-US" altLang="zh-CN" sz="2000" b="0" dirty="0">
                        <a:latin typeface="Microsoft YaHei" panose="020B0503020204020204" pitchFamily="34" charset="-122"/>
                        <a:ea typeface="Microsoft YaHei" panose="020B0503020204020204" pitchFamily="34" charset="-122"/>
                      </a:endParaRPr>
                    </a:p>
                  </a:txBody>
                  <a:tcPr anchor="ctr">
                    <a:solidFill>
                      <a:schemeClr val="bg2">
                        <a:lumMod val="90000"/>
                      </a:schemeClr>
                    </a:solidFill>
                  </a:tcPr>
                </a:tc>
                <a:extLst>
                  <a:ext uri="{0D108BD9-81ED-4DB2-BD59-A6C34878D82A}">
                    <a16:rowId xmlns:a16="http://schemas.microsoft.com/office/drawing/2014/main" val="10003"/>
                  </a:ext>
                </a:extLst>
              </a:tr>
            </a:tbl>
          </a:graphicData>
        </a:graphic>
      </p:graphicFrame>
      <p:sp>
        <p:nvSpPr>
          <p:cNvPr id="10" name="内容占位符 2"/>
          <p:cNvSpPr>
            <a:spLocks noGrp="1"/>
          </p:cNvSpPr>
          <p:nvPr/>
        </p:nvSpPr>
        <p:spPr>
          <a:xfrm>
            <a:off x="864870" y="5543550"/>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OSI 7</a:t>
            </a: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层模型</a:t>
            </a:r>
          </a:p>
        </p:txBody>
      </p:sp>
      <p:sp>
        <p:nvSpPr>
          <p:cNvPr id="11" name="内容占位符 2"/>
          <p:cNvSpPr>
            <a:spLocks noGrp="1"/>
          </p:cNvSpPr>
          <p:nvPr/>
        </p:nvSpPr>
        <p:spPr>
          <a:xfrm>
            <a:off x="2947670" y="5530850"/>
            <a:ext cx="2160905"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TCP/IP 4</a:t>
            </a: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层模型</a:t>
            </a:r>
          </a:p>
        </p:txBody>
      </p:sp>
      <p:graphicFrame>
        <p:nvGraphicFramePr>
          <p:cNvPr id="13" name="表格 12"/>
          <p:cNvGraphicFramePr/>
          <p:nvPr>
            <p:extLst>
              <p:ext uri="{D42A27DB-BD31-4B8C-83A1-F6EECF244321}">
                <p14:modId xmlns:p14="http://schemas.microsoft.com/office/powerpoint/2010/main" val="2954692876"/>
              </p:ext>
            </p:extLst>
          </p:nvPr>
        </p:nvGraphicFramePr>
        <p:xfrm>
          <a:off x="6121400" y="1726565"/>
          <a:ext cx="2197100" cy="3702685"/>
        </p:xfrm>
        <a:graphic>
          <a:graphicData uri="http://schemas.openxmlformats.org/drawingml/2006/table">
            <a:tbl>
              <a:tblPr firstRow="1" bandRow="1">
                <a:tableStyleId>{5940675A-B579-460E-94D1-54222C63F5DA}</a:tableStyleId>
              </a:tblPr>
              <a:tblGrid>
                <a:gridCol w="2197100">
                  <a:extLst>
                    <a:ext uri="{9D8B030D-6E8A-4147-A177-3AD203B41FA5}">
                      <a16:colId xmlns:a16="http://schemas.microsoft.com/office/drawing/2014/main" val="20000"/>
                    </a:ext>
                  </a:extLst>
                </a:gridCol>
              </a:tblGrid>
              <a:tr h="1614805">
                <a:tc>
                  <a:txBody>
                    <a:bodyPr/>
                    <a:lstStyle/>
                    <a:p>
                      <a:pPr algn="ctr">
                        <a:buNone/>
                      </a:pPr>
                      <a:r>
                        <a:rPr lang="zh-CN" altLang="en-US" sz="2000" b="0" dirty="0">
                          <a:latin typeface="Microsoft YaHei" panose="020B0503020204020204" pitchFamily="34" charset="-122"/>
                          <a:ea typeface="Microsoft YaHei" panose="020B0503020204020204" pitchFamily="34" charset="-122"/>
                        </a:rPr>
                        <a:t>应用层</a:t>
                      </a:r>
                      <a:endParaRPr lang="en-US" altLang="zh-CN" sz="2000" b="0" dirty="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0"/>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传输层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1"/>
                  </a:ext>
                </a:extLst>
              </a:tr>
              <a:tr h="511810">
                <a:tc>
                  <a:txBody>
                    <a:bodyPr/>
                    <a:lstStyle/>
                    <a:p>
                      <a:pPr algn="ctr">
                        <a:buNone/>
                      </a:pPr>
                      <a:r>
                        <a:rPr lang="zh-CN" altLang="en-US" sz="2000" b="0">
                          <a:latin typeface="Microsoft YaHei" panose="020B0503020204020204" pitchFamily="34" charset="-122"/>
                          <a:ea typeface="Microsoft YaHei" panose="020B0503020204020204" pitchFamily="34" charset="-122"/>
                        </a:rPr>
                        <a:t>网络层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2"/>
                  </a:ext>
                </a:extLst>
              </a:tr>
              <a:tr h="512445">
                <a:tc>
                  <a:txBody>
                    <a:bodyPr/>
                    <a:lstStyle/>
                    <a:p>
                      <a:pPr algn="ctr">
                        <a:buNone/>
                      </a:pPr>
                      <a:r>
                        <a:rPr lang="zh-CN" altLang="en-US" sz="2000" b="0">
                          <a:latin typeface="Microsoft YaHei" panose="020B0503020204020204" pitchFamily="34" charset="-122"/>
                          <a:ea typeface="Microsoft YaHei" panose="020B0503020204020204" pitchFamily="34" charset="-122"/>
                        </a:rPr>
                        <a:t>数据链路层</a:t>
                      </a:r>
                      <a:endParaRPr lang="en-US" altLang="zh-CN" sz="2000" b="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3"/>
                  </a:ext>
                </a:extLst>
              </a:tr>
              <a:tr h="551180">
                <a:tc>
                  <a:txBody>
                    <a:bodyPr/>
                    <a:lstStyle/>
                    <a:p>
                      <a:pPr algn="ctr">
                        <a:buNone/>
                      </a:pPr>
                      <a:r>
                        <a:rPr lang="zh-CN" altLang="en-US" sz="2000" b="0" dirty="0">
                          <a:latin typeface="Microsoft YaHei" panose="020B0503020204020204" pitchFamily="34" charset="-122"/>
                          <a:ea typeface="Microsoft YaHei" panose="020B0503020204020204" pitchFamily="34" charset="-122"/>
                        </a:rPr>
                        <a:t>物理层</a:t>
                      </a:r>
                      <a:endParaRPr lang="en-US" altLang="zh-CN" sz="2000" b="0" dirty="0">
                        <a:latin typeface="Microsoft YaHei" panose="020B0503020204020204" pitchFamily="34" charset="-122"/>
                        <a:ea typeface="Microsoft YaHei" panose="020B0503020204020204" pitchFamily="34" charset="-122"/>
                      </a:endParaRPr>
                    </a:p>
                  </a:txBody>
                  <a:tcPr anchor="ctr">
                    <a:noFill/>
                  </a:tcPr>
                </a:tc>
                <a:extLst>
                  <a:ext uri="{0D108BD9-81ED-4DB2-BD59-A6C34878D82A}">
                    <a16:rowId xmlns:a16="http://schemas.microsoft.com/office/drawing/2014/main" val="10004"/>
                  </a:ext>
                </a:extLst>
              </a:tr>
            </a:tbl>
          </a:graphicData>
        </a:graphic>
      </p:graphicFrame>
      <p:sp>
        <p:nvSpPr>
          <p:cNvPr id="14" name="内容占位符 2"/>
          <p:cNvSpPr>
            <a:spLocks noGrp="1"/>
          </p:cNvSpPr>
          <p:nvPr/>
        </p:nvSpPr>
        <p:spPr>
          <a:xfrm>
            <a:off x="6094095" y="5543550"/>
            <a:ext cx="23634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本教程的分层组织</a:t>
            </a:r>
          </a:p>
        </p:txBody>
      </p:sp>
      <p:sp>
        <p:nvSpPr>
          <p:cNvPr id="15" name="燕尾形箭头 14"/>
          <p:cNvSpPr/>
          <p:nvPr/>
        </p:nvSpPr>
        <p:spPr>
          <a:xfrm>
            <a:off x="5007610" y="3201670"/>
            <a:ext cx="871220" cy="1004570"/>
          </a:xfrm>
          <a:prstGeom prst="notchedRight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8" name="文本框 17">
            <a:extLst>
              <a:ext uri="{FF2B5EF4-FFF2-40B4-BE49-F238E27FC236}">
                <a16:creationId xmlns:a16="http://schemas.microsoft.com/office/drawing/2014/main" id="{AB18EC4F-CFB8-7B4B-A775-8EB89B7EF9E3}"/>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16" name="Picture 28" descr="015">
            <a:extLst>
              <a:ext uri="{FF2B5EF4-FFF2-40B4-BE49-F238E27FC236}">
                <a16:creationId xmlns:a16="http://schemas.microsoft.com/office/drawing/2014/main" id="{71124F32-8172-4A05-B8DA-5DAD2AC625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11237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分层模型与网络实例</a:t>
            </a:r>
          </a:p>
        </p:txBody>
      </p:sp>
      <p:sp>
        <p:nvSpPr>
          <p:cNvPr id="65" name="内容占位符 64"/>
          <p:cNvSpPr>
            <a:spLocks noGrp="1"/>
          </p:cNvSpPr>
          <p:nvPr>
            <p:ph idx="1"/>
          </p:nvPr>
        </p:nvSpPr>
        <p:spPr>
          <a:xfrm>
            <a:off x="1239837" y="5412105"/>
            <a:ext cx="9596755" cy="749935"/>
          </a:xfrm>
        </p:spPr>
        <p:txBody>
          <a:bodyPr>
            <a:noAutofit/>
          </a:bodyPr>
          <a:lstStyle/>
          <a:p>
            <a:pPr marL="311150" indent="-311150">
              <a:spcBef>
                <a:spcPts val="400"/>
              </a:spcBef>
            </a:pPr>
            <a:r>
              <a:rPr kumimoji="1" lang="zh-CN" altLang="en-US" sz="2200" dirty="0"/>
              <a:t>端到端通信实例：主机</a:t>
            </a:r>
            <a:r>
              <a:rPr kumimoji="1" lang="en-US" altLang="zh-CN" sz="2200" dirty="0"/>
              <a:t>A</a:t>
            </a:r>
            <a:r>
              <a:rPr kumimoji="1" lang="zh-CN" altLang="en-US" sz="2200" dirty="0"/>
              <a:t>上的</a:t>
            </a:r>
            <a:r>
              <a:rPr kumimoji="1" lang="en-US" altLang="zh-CN" sz="2200" dirty="0"/>
              <a:t>QQ</a:t>
            </a:r>
            <a:r>
              <a:rPr kumimoji="1" lang="zh-CN" altLang="en-US" sz="2200" dirty="0"/>
              <a:t>，发送消息；主机</a:t>
            </a:r>
            <a:r>
              <a:rPr kumimoji="1" lang="en-US" altLang="zh-CN" sz="2200" dirty="0"/>
              <a:t>B</a:t>
            </a:r>
            <a:r>
              <a:rPr kumimoji="1" lang="zh-CN" altLang="en-US" sz="2200" dirty="0"/>
              <a:t>上的</a:t>
            </a:r>
            <a:r>
              <a:rPr kumimoji="1" lang="en-US" altLang="zh-CN" sz="2200" dirty="0"/>
              <a:t>QQ</a:t>
            </a:r>
            <a:r>
              <a:rPr kumimoji="1" lang="zh-CN" altLang="en-US" sz="2200" dirty="0"/>
              <a:t>，接收消息</a:t>
            </a:r>
          </a:p>
          <a:p>
            <a:pPr marL="311150" indent="-311150">
              <a:spcBef>
                <a:spcPts val="400"/>
              </a:spcBef>
            </a:pPr>
            <a:r>
              <a:rPr kumimoji="1" lang="zh-CN" altLang="en-US" sz="2200" dirty="0"/>
              <a:t>发送端层层封装，接收端层层解封装</a:t>
            </a:r>
          </a:p>
          <a:p>
            <a:pPr marL="311150" indent="-311150">
              <a:spcBef>
                <a:spcPts val="400"/>
              </a:spcBef>
            </a:pPr>
            <a:r>
              <a:rPr kumimoji="1" lang="zh-CN" altLang="en-US" sz="2200" dirty="0"/>
              <a:t>不同层对应协议数据单元（</a:t>
            </a:r>
            <a:r>
              <a:rPr kumimoji="1" lang="en-US" altLang="zh-CN" sz="2200" dirty="0"/>
              <a:t>PDU Protocol Data Unit</a:t>
            </a:r>
            <a:r>
              <a:rPr kumimoji="1" lang="zh-CN" altLang="en-US" sz="2200" dirty="0"/>
              <a:t>）</a:t>
            </a:r>
          </a:p>
        </p:txBody>
      </p:sp>
      <p:sp>
        <p:nvSpPr>
          <p:cNvPr id="3" name="灯片编号占位符 2">
            <a:extLst>
              <a:ext uri="{FF2B5EF4-FFF2-40B4-BE49-F238E27FC236}">
                <a16:creationId xmlns:a16="http://schemas.microsoft.com/office/drawing/2014/main" id="{581E1A97-F737-9246-8E1D-3060C0ED72D7}"/>
              </a:ext>
            </a:extLst>
          </p:cNvPr>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graphicFrame>
        <p:nvGraphicFramePr>
          <p:cNvPr id="6" name="表格 5"/>
          <p:cNvGraphicFramePr/>
          <p:nvPr>
            <p:extLst>
              <p:ext uri="{D42A27DB-BD31-4B8C-83A1-F6EECF244321}">
                <p14:modId xmlns:p14="http://schemas.microsoft.com/office/powerpoint/2010/main" val="3657795070"/>
              </p:ext>
            </p:extLst>
          </p:nvPr>
        </p:nvGraphicFramePr>
        <p:xfrm>
          <a:off x="3022600" y="2115820"/>
          <a:ext cx="1154430" cy="2857500"/>
        </p:xfrm>
        <a:graphic>
          <a:graphicData uri="http://schemas.openxmlformats.org/drawingml/2006/table">
            <a:tbl>
              <a:tblPr firstRow="1" bandRow="1">
                <a:tableStyleId>{5940675A-B579-460E-94D1-54222C63F5DA}</a:tableStyleId>
              </a:tblPr>
              <a:tblGrid>
                <a:gridCol w="1154430">
                  <a:extLst>
                    <a:ext uri="{9D8B030D-6E8A-4147-A177-3AD203B41FA5}">
                      <a16:colId xmlns:a16="http://schemas.microsoft.com/office/drawing/2014/main" val="20000"/>
                    </a:ext>
                  </a:extLst>
                </a:gridCol>
              </a:tblGrid>
              <a:tr h="571500">
                <a:tc>
                  <a:txBody>
                    <a:bodyPr/>
                    <a:lstStyle/>
                    <a:p>
                      <a:pPr algn="ctr">
                        <a:buNone/>
                      </a:pPr>
                      <a:r>
                        <a:rPr lang="zh-CN" altLang="en-US" sz="1800" b="1" dirty="0"/>
                        <a:t>应用层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传输层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1800" b="1" dirty="0"/>
                        <a:t>网络层</a:t>
                      </a:r>
                    </a:p>
                  </a:txBody>
                  <a:tcPr anchor="ctr">
                    <a:noFill/>
                  </a:tcPr>
                </a:tc>
                <a:extLst>
                  <a:ext uri="{0D108BD9-81ED-4DB2-BD59-A6C34878D82A}">
                    <a16:rowId xmlns:a16="http://schemas.microsoft.com/office/drawing/2014/main" val="10002"/>
                  </a:ext>
                </a:extLst>
              </a:tr>
              <a:tr h="571500">
                <a:tc>
                  <a:txBody>
                    <a:bodyPr/>
                    <a:lstStyle/>
                    <a:p>
                      <a:pPr algn="ctr">
                        <a:buNone/>
                      </a:pPr>
                      <a:r>
                        <a:rPr lang="zh-CN" altLang="en-US" sz="1800" b="1" dirty="0"/>
                        <a:t>链路层</a:t>
                      </a:r>
                    </a:p>
                  </a:txBody>
                  <a:tcPr anchor="ctr">
                    <a:noFill/>
                  </a:tcPr>
                </a:tc>
                <a:extLst>
                  <a:ext uri="{0D108BD9-81ED-4DB2-BD59-A6C34878D82A}">
                    <a16:rowId xmlns:a16="http://schemas.microsoft.com/office/drawing/2014/main" val="10003"/>
                  </a:ext>
                </a:extLst>
              </a:tr>
              <a:tr h="571500">
                <a:tc>
                  <a:txBody>
                    <a:bodyPr/>
                    <a:lstStyle/>
                    <a:p>
                      <a:pPr algn="ctr">
                        <a:buNone/>
                      </a:pPr>
                      <a:r>
                        <a:rPr lang="zh-CN" altLang="en-US" sz="1800" b="1" dirty="0"/>
                        <a:t>物理层</a:t>
                      </a:r>
                    </a:p>
                  </a:txBody>
                  <a:tcPr anchor="ctr">
                    <a:noFill/>
                  </a:tcPr>
                </a:tc>
                <a:extLst>
                  <a:ext uri="{0D108BD9-81ED-4DB2-BD59-A6C34878D82A}">
                    <a16:rowId xmlns:a16="http://schemas.microsoft.com/office/drawing/2014/main" val="10004"/>
                  </a:ext>
                </a:extLst>
              </a:tr>
            </a:tbl>
          </a:graphicData>
        </a:graphic>
      </p:graphicFrame>
      <p:sp>
        <p:nvSpPr>
          <p:cNvPr id="7" name="内容占位符 2"/>
          <p:cNvSpPr>
            <a:spLocks noGrp="1"/>
          </p:cNvSpPr>
          <p:nvPr/>
        </p:nvSpPr>
        <p:spPr>
          <a:xfrm>
            <a:off x="2487295" y="161925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发送：</a:t>
            </a: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hello</a:t>
            </a:r>
          </a:p>
        </p:txBody>
      </p:sp>
      <p:pic>
        <p:nvPicPr>
          <p:cNvPr id="9" name="图片 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16455" y="1504950"/>
            <a:ext cx="396240" cy="536575"/>
          </a:xfrm>
          <a:prstGeom prst="rect">
            <a:avLst/>
          </a:prstGeom>
        </p:spPr>
      </p:pic>
      <p:graphicFrame>
        <p:nvGraphicFramePr>
          <p:cNvPr id="16" name="表格 15"/>
          <p:cNvGraphicFramePr/>
          <p:nvPr>
            <p:extLst>
              <p:ext uri="{D42A27DB-BD31-4B8C-83A1-F6EECF244321}">
                <p14:modId xmlns:p14="http://schemas.microsoft.com/office/powerpoint/2010/main" val="389941034"/>
              </p:ext>
            </p:extLst>
          </p:nvPr>
        </p:nvGraphicFramePr>
        <p:xfrm>
          <a:off x="2055495" y="2260600"/>
          <a:ext cx="876935" cy="330200"/>
        </p:xfrm>
        <a:graphic>
          <a:graphicData uri="http://schemas.openxmlformats.org/drawingml/2006/table">
            <a:tbl>
              <a:tblPr firstRow="1" bandRow="1">
                <a:tableStyleId>{5C22544A-7EE6-4342-B048-85BDC9FD1C3A}</a:tableStyleId>
              </a:tblPr>
              <a:tblGrid>
                <a:gridCol w="876935">
                  <a:extLst>
                    <a:ext uri="{9D8B030D-6E8A-4147-A177-3AD203B41FA5}">
                      <a16:colId xmlns:a16="http://schemas.microsoft.com/office/drawing/2014/main" val="20000"/>
                    </a:ext>
                  </a:extLst>
                </a:gridCol>
              </a:tblGrid>
              <a:tr h="330200">
                <a:tc>
                  <a:txBody>
                    <a:bodyPr/>
                    <a:lstStyle/>
                    <a:p>
                      <a:pPr>
                        <a:buNone/>
                      </a:pPr>
                      <a:r>
                        <a:rPr lang="en-US" altLang="zh-CN" sz="2000" dirty="0">
                          <a:solidFill>
                            <a:schemeClr val="tx1"/>
                          </a:solidFill>
                        </a:rPr>
                        <a:t> </a:t>
                      </a:r>
                      <a:r>
                        <a:rPr lang="en-US" altLang="zh-CN" sz="2000" dirty="0">
                          <a:solidFill>
                            <a:srgbClr val="C00000"/>
                          </a:solidFill>
                        </a:rPr>
                        <a:t>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8" name="表格 17"/>
          <p:cNvGraphicFramePr/>
          <p:nvPr>
            <p:extLst>
              <p:ext uri="{D42A27DB-BD31-4B8C-83A1-F6EECF244321}">
                <p14:modId xmlns:p14="http://schemas.microsoft.com/office/powerpoint/2010/main" val="1477192753"/>
              </p:ext>
            </p:extLst>
          </p:nvPr>
        </p:nvGraphicFramePr>
        <p:xfrm>
          <a:off x="1673860" y="2781300"/>
          <a:ext cx="1271270" cy="330200"/>
        </p:xfrm>
        <a:graphic>
          <a:graphicData uri="http://schemas.openxmlformats.org/drawingml/2006/table">
            <a:tbl>
              <a:tblPr firstRow="1" bandRow="1">
                <a:tableStyleId>{5C22544A-7EE6-4342-B048-85BDC9FD1C3A}</a:tableStyleId>
              </a:tblPr>
              <a:tblGrid>
                <a:gridCol w="375285">
                  <a:extLst>
                    <a:ext uri="{9D8B030D-6E8A-4147-A177-3AD203B41FA5}">
                      <a16:colId xmlns:a16="http://schemas.microsoft.com/office/drawing/2014/main" val="20000"/>
                    </a:ext>
                  </a:extLst>
                </a:gridCol>
                <a:gridCol w="895985">
                  <a:extLst>
                    <a:ext uri="{9D8B030D-6E8A-4147-A177-3AD203B41FA5}">
                      <a16:colId xmlns:a16="http://schemas.microsoft.com/office/drawing/2014/main" val="20001"/>
                    </a:ext>
                  </a:extLst>
                </a:gridCol>
              </a:tblGrid>
              <a:tr h="330200">
                <a:tc>
                  <a:txBody>
                    <a:bodyPr/>
                    <a:lstStyle/>
                    <a:p>
                      <a:pPr>
                        <a:buNone/>
                      </a:pPr>
                      <a:r>
                        <a:rPr lang="en-US" altLang="zh-CN" sz="2000" dirty="0">
                          <a:solidFill>
                            <a:srgbClr val="C00000"/>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 name="表格 18"/>
          <p:cNvGraphicFramePr/>
          <p:nvPr>
            <p:extLst>
              <p:ext uri="{D42A27DB-BD31-4B8C-83A1-F6EECF244321}">
                <p14:modId xmlns:p14="http://schemas.microsoft.com/office/powerpoint/2010/main" val="368273199"/>
              </p:ext>
            </p:extLst>
          </p:nvPr>
        </p:nvGraphicFramePr>
        <p:xfrm>
          <a:off x="1256030" y="3379470"/>
          <a:ext cx="1689100" cy="330200"/>
        </p:xfrm>
        <a:graphic>
          <a:graphicData uri="http://schemas.openxmlformats.org/drawingml/2006/table">
            <a:tbl>
              <a:tblPr firstRow="1" bandRow="1">
                <a:tableStyleId>{5C22544A-7EE6-4342-B048-85BDC9FD1C3A}</a:tableStyleId>
              </a:tblPr>
              <a:tblGrid>
                <a:gridCol w="39751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843915">
                  <a:extLst>
                    <a:ext uri="{9D8B030D-6E8A-4147-A177-3AD203B41FA5}">
                      <a16:colId xmlns:a16="http://schemas.microsoft.com/office/drawing/2014/main" val="20002"/>
                    </a:ext>
                  </a:extLst>
                </a:gridCol>
              </a:tblGrid>
              <a:tr h="330200">
                <a:tc>
                  <a:txBody>
                    <a:bodyPr/>
                    <a:lstStyle/>
                    <a:p>
                      <a:pPr>
                        <a:buNone/>
                      </a:pPr>
                      <a:r>
                        <a:rPr lang="en-US" altLang="zh-CN" sz="2000" dirty="0">
                          <a:solidFill>
                            <a:srgbClr val="C00000"/>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0" name="表格 19"/>
          <p:cNvGraphicFramePr/>
          <p:nvPr>
            <p:extLst>
              <p:ext uri="{D42A27DB-BD31-4B8C-83A1-F6EECF244321}">
                <p14:modId xmlns:p14="http://schemas.microsoft.com/office/powerpoint/2010/main" val="3215106683"/>
              </p:ext>
            </p:extLst>
          </p:nvPr>
        </p:nvGraphicFramePr>
        <p:xfrm>
          <a:off x="862965" y="3963670"/>
          <a:ext cx="2094865" cy="330200"/>
        </p:xfrm>
        <a:graphic>
          <a:graphicData uri="http://schemas.openxmlformats.org/drawingml/2006/table">
            <a:tbl>
              <a:tblPr firstRow="1" bandRow="1">
                <a:tableStyleId>{5C22544A-7EE6-4342-B048-85BDC9FD1C3A}</a:tableStyleId>
              </a:tblPr>
              <a:tblGrid>
                <a:gridCol w="31496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862330">
                  <a:extLst>
                    <a:ext uri="{9D8B030D-6E8A-4147-A177-3AD203B41FA5}">
                      <a16:colId xmlns:a16="http://schemas.microsoft.com/office/drawing/2014/main" val="20003"/>
                    </a:ext>
                  </a:extLst>
                </a:gridCol>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1" name="表格 20"/>
          <p:cNvGraphicFramePr/>
          <p:nvPr>
            <p:extLst>
              <p:ext uri="{D42A27DB-BD31-4B8C-83A1-F6EECF244321}">
                <p14:modId xmlns:p14="http://schemas.microsoft.com/office/powerpoint/2010/main" val="3026077746"/>
              </p:ext>
            </p:extLst>
          </p:nvPr>
        </p:nvGraphicFramePr>
        <p:xfrm>
          <a:off x="8753475" y="2115820"/>
          <a:ext cx="1170940" cy="2857500"/>
        </p:xfrm>
        <a:graphic>
          <a:graphicData uri="http://schemas.openxmlformats.org/drawingml/2006/table">
            <a:tbl>
              <a:tblPr firstRow="1" bandRow="1">
                <a:tableStyleId>{5940675A-B579-460E-94D1-54222C63F5DA}</a:tableStyleId>
              </a:tblPr>
              <a:tblGrid>
                <a:gridCol w="1170940">
                  <a:extLst>
                    <a:ext uri="{9D8B030D-6E8A-4147-A177-3AD203B41FA5}">
                      <a16:colId xmlns:a16="http://schemas.microsoft.com/office/drawing/2014/main" val="20000"/>
                    </a:ext>
                  </a:extLst>
                </a:gridCol>
              </a:tblGrid>
              <a:tr h="571500">
                <a:tc>
                  <a:txBody>
                    <a:bodyPr/>
                    <a:lstStyle/>
                    <a:p>
                      <a:pPr algn="ctr">
                        <a:buNone/>
                      </a:pPr>
                      <a:r>
                        <a:rPr lang="zh-CN" altLang="en-US" sz="1800" b="1"/>
                        <a:t>应用层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传输层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1800" b="1"/>
                        <a:t>网络层</a:t>
                      </a:r>
                    </a:p>
                  </a:txBody>
                  <a:tcPr anchor="ctr">
                    <a:noFill/>
                  </a:tcPr>
                </a:tc>
                <a:extLst>
                  <a:ext uri="{0D108BD9-81ED-4DB2-BD59-A6C34878D82A}">
                    <a16:rowId xmlns:a16="http://schemas.microsoft.com/office/drawing/2014/main" val="10002"/>
                  </a:ext>
                </a:extLst>
              </a:tr>
              <a:tr h="571500">
                <a:tc>
                  <a:txBody>
                    <a:bodyPr/>
                    <a:lstStyle/>
                    <a:p>
                      <a:pPr algn="ctr">
                        <a:buNone/>
                      </a:pPr>
                      <a:r>
                        <a:rPr lang="zh-CN" altLang="en-US" sz="1800" b="1" dirty="0"/>
                        <a:t>链路层</a:t>
                      </a:r>
                    </a:p>
                  </a:txBody>
                  <a:tcPr anchor="ctr">
                    <a:noFill/>
                  </a:tcPr>
                </a:tc>
                <a:extLst>
                  <a:ext uri="{0D108BD9-81ED-4DB2-BD59-A6C34878D82A}">
                    <a16:rowId xmlns:a16="http://schemas.microsoft.com/office/drawing/2014/main" val="10003"/>
                  </a:ext>
                </a:extLst>
              </a:tr>
              <a:tr h="571500">
                <a:tc>
                  <a:txBody>
                    <a:bodyPr/>
                    <a:lstStyle/>
                    <a:p>
                      <a:pPr algn="ctr">
                        <a:buNone/>
                      </a:pPr>
                      <a:r>
                        <a:rPr lang="zh-CN" altLang="en-US" sz="1800" b="1" dirty="0"/>
                        <a:t>物理层</a:t>
                      </a:r>
                    </a:p>
                  </a:txBody>
                  <a:tcPr anchor="ctr">
                    <a:noFill/>
                  </a:tcPr>
                </a:tc>
                <a:extLst>
                  <a:ext uri="{0D108BD9-81ED-4DB2-BD59-A6C34878D82A}">
                    <a16:rowId xmlns:a16="http://schemas.microsoft.com/office/drawing/2014/main" val="10004"/>
                  </a:ext>
                </a:extLst>
              </a:tr>
            </a:tbl>
          </a:graphicData>
        </a:graphic>
      </p:graphicFrame>
      <p:graphicFrame>
        <p:nvGraphicFramePr>
          <p:cNvPr id="22" name="表格 21"/>
          <p:cNvGraphicFramePr/>
          <p:nvPr>
            <p:extLst>
              <p:ext uri="{D42A27DB-BD31-4B8C-83A1-F6EECF244321}">
                <p14:modId xmlns:p14="http://schemas.microsoft.com/office/powerpoint/2010/main" val="1642429901"/>
              </p:ext>
            </p:extLst>
          </p:nvPr>
        </p:nvGraphicFramePr>
        <p:xfrm>
          <a:off x="4457700" y="3830320"/>
          <a:ext cx="1121410" cy="1143000"/>
        </p:xfrm>
        <a:graphic>
          <a:graphicData uri="http://schemas.openxmlformats.org/drawingml/2006/table">
            <a:tbl>
              <a:tblPr firstRow="1" bandRow="1">
                <a:tableStyleId>{5940675A-B579-460E-94D1-54222C63F5DA}</a:tableStyleId>
              </a:tblPr>
              <a:tblGrid>
                <a:gridCol w="1121410">
                  <a:extLst>
                    <a:ext uri="{9D8B030D-6E8A-4147-A177-3AD203B41FA5}">
                      <a16:colId xmlns:a16="http://schemas.microsoft.com/office/drawing/2014/main" val="20000"/>
                    </a:ext>
                  </a:extLst>
                </a:gridCol>
              </a:tblGrid>
              <a:tr h="571500">
                <a:tc>
                  <a:txBody>
                    <a:bodyPr/>
                    <a:lstStyle/>
                    <a:p>
                      <a:pPr algn="ctr">
                        <a:buNone/>
                      </a:pPr>
                      <a:r>
                        <a:rPr lang="zh-CN" altLang="en-US" sz="1800" b="1" dirty="0"/>
                        <a:t>链路层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物理层</a:t>
                      </a:r>
                    </a:p>
                  </a:txBody>
                  <a:tcPr anchor="ctr">
                    <a:noFill/>
                  </a:tcPr>
                </a:tc>
                <a:extLst>
                  <a:ext uri="{0D108BD9-81ED-4DB2-BD59-A6C34878D82A}">
                    <a16:rowId xmlns:a16="http://schemas.microsoft.com/office/drawing/2014/main" val="10001"/>
                  </a:ext>
                </a:extLst>
              </a:tr>
            </a:tbl>
          </a:graphicData>
        </a:graphic>
      </p:graphicFrame>
      <p:graphicFrame>
        <p:nvGraphicFramePr>
          <p:cNvPr id="23" name="表格 22"/>
          <p:cNvGraphicFramePr/>
          <p:nvPr>
            <p:extLst>
              <p:ext uri="{D42A27DB-BD31-4B8C-83A1-F6EECF244321}">
                <p14:modId xmlns:p14="http://schemas.microsoft.com/office/powerpoint/2010/main" val="1294888136"/>
              </p:ext>
            </p:extLst>
          </p:nvPr>
        </p:nvGraphicFramePr>
        <p:xfrm>
          <a:off x="7290435" y="3830320"/>
          <a:ext cx="1104265" cy="1143000"/>
        </p:xfrm>
        <a:graphic>
          <a:graphicData uri="http://schemas.openxmlformats.org/drawingml/2006/table">
            <a:tbl>
              <a:tblPr firstRow="1" bandRow="1">
                <a:tableStyleId>{5940675A-B579-460E-94D1-54222C63F5DA}</a:tableStyleId>
              </a:tblPr>
              <a:tblGrid>
                <a:gridCol w="1104265">
                  <a:extLst>
                    <a:ext uri="{9D8B030D-6E8A-4147-A177-3AD203B41FA5}">
                      <a16:colId xmlns:a16="http://schemas.microsoft.com/office/drawing/2014/main" val="20000"/>
                    </a:ext>
                  </a:extLst>
                </a:gridCol>
              </a:tblGrid>
              <a:tr h="571500">
                <a:tc>
                  <a:txBody>
                    <a:bodyPr/>
                    <a:lstStyle/>
                    <a:p>
                      <a:pPr algn="ctr">
                        <a:buNone/>
                      </a:pPr>
                      <a:r>
                        <a:rPr lang="zh-CN" altLang="en-US" sz="1800" b="1" dirty="0"/>
                        <a:t>链路层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物理层</a:t>
                      </a:r>
                    </a:p>
                  </a:txBody>
                  <a:tcPr anchor="ctr">
                    <a:noFill/>
                  </a:tcPr>
                </a:tc>
                <a:extLst>
                  <a:ext uri="{0D108BD9-81ED-4DB2-BD59-A6C34878D82A}">
                    <a16:rowId xmlns:a16="http://schemas.microsoft.com/office/drawing/2014/main" val="10001"/>
                  </a:ext>
                </a:extLst>
              </a:tr>
            </a:tbl>
          </a:graphicData>
        </a:graphic>
      </p:graphicFrame>
      <p:graphicFrame>
        <p:nvGraphicFramePr>
          <p:cNvPr id="24" name="表格 23"/>
          <p:cNvGraphicFramePr/>
          <p:nvPr>
            <p:extLst>
              <p:ext uri="{D42A27DB-BD31-4B8C-83A1-F6EECF244321}">
                <p14:modId xmlns:p14="http://schemas.microsoft.com/office/powerpoint/2010/main" val="2881271145"/>
              </p:ext>
            </p:extLst>
          </p:nvPr>
        </p:nvGraphicFramePr>
        <p:xfrm>
          <a:off x="5859780" y="3258820"/>
          <a:ext cx="1095375" cy="1714500"/>
        </p:xfrm>
        <a:graphic>
          <a:graphicData uri="http://schemas.openxmlformats.org/drawingml/2006/table">
            <a:tbl>
              <a:tblPr firstRow="1" bandRow="1">
                <a:tableStyleId>{5940675A-B579-460E-94D1-54222C63F5DA}</a:tableStyleId>
              </a:tblPr>
              <a:tblGrid>
                <a:gridCol w="1095375">
                  <a:extLst>
                    <a:ext uri="{9D8B030D-6E8A-4147-A177-3AD203B41FA5}">
                      <a16:colId xmlns:a16="http://schemas.microsoft.com/office/drawing/2014/main" val="20000"/>
                    </a:ext>
                  </a:extLst>
                </a:gridCol>
              </a:tblGrid>
              <a:tr h="571500">
                <a:tc>
                  <a:txBody>
                    <a:bodyPr/>
                    <a:lstStyle/>
                    <a:p>
                      <a:pPr algn="ctr">
                        <a:buNone/>
                      </a:pPr>
                      <a:r>
                        <a:rPr lang="zh-CN" altLang="en-US" sz="1800" b="1"/>
                        <a:t>网络层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1800" b="1" dirty="0"/>
                        <a:t>链路层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1800" b="1" dirty="0"/>
                        <a:t>物理层</a:t>
                      </a:r>
                    </a:p>
                  </a:txBody>
                  <a:tcPr anchor="ctr">
                    <a:noFill/>
                  </a:tcPr>
                </a:tc>
                <a:extLst>
                  <a:ext uri="{0D108BD9-81ED-4DB2-BD59-A6C34878D82A}">
                    <a16:rowId xmlns:a16="http://schemas.microsoft.com/office/drawing/2014/main" val="10002"/>
                  </a:ext>
                </a:extLst>
              </a:tr>
            </a:tbl>
          </a:graphicData>
        </a:graphic>
      </p:graphicFrame>
      <p:sp>
        <p:nvSpPr>
          <p:cNvPr id="27" name="内容占位符 2"/>
          <p:cNvSpPr>
            <a:spLocks noGrp="1"/>
          </p:cNvSpPr>
          <p:nvPr/>
        </p:nvSpPr>
        <p:spPr>
          <a:xfrm>
            <a:off x="8289925" y="1619250"/>
            <a:ext cx="1550670"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接收：</a:t>
            </a:r>
            <a:r>
              <a:rPr kumimoji="1"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hello</a:t>
            </a:r>
          </a:p>
        </p:txBody>
      </p:sp>
      <p:pic>
        <p:nvPicPr>
          <p:cNvPr id="28" name="图片 2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912100" y="1504950"/>
            <a:ext cx="396240" cy="536575"/>
          </a:xfrm>
          <a:prstGeom prst="rect">
            <a:avLst/>
          </a:prstGeom>
        </p:spPr>
      </p:pic>
      <p:graphicFrame>
        <p:nvGraphicFramePr>
          <p:cNvPr id="29" name="表格 28"/>
          <p:cNvGraphicFramePr/>
          <p:nvPr/>
        </p:nvGraphicFramePr>
        <p:xfrm>
          <a:off x="937260" y="4508500"/>
          <a:ext cx="1969135" cy="330200"/>
        </p:xfrm>
        <a:graphic>
          <a:graphicData uri="http://schemas.openxmlformats.org/drawingml/2006/table">
            <a:tbl>
              <a:tblPr firstRow="1" bandRow="1">
                <a:tableStyleId>{5C22544A-7EE6-4342-B048-85BDC9FD1C3A}</a:tableStyleId>
              </a:tblPr>
              <a:tblGrid>
                <a:gridCol w="1969135">
                  <a:extLst>
                    <a:ext uri="{9D8B030D-6E8A-4147-A177-3AD203B41FA5}">
                      <a16:colId xmlns:a16="http://schemas.microsoft.com/office/drawing/2014/main" val="20000"/>
                    </a:ext>
                  </a:extLst>
                </a:gridCol>
              </a:tblGrid>
              <a:tr h="330200">
                <a:tc>
                  <a:txBody>
                    <a:bodyPr/>
                    <a:lstStyle/>
                    <a:p>
                      <a:pPr>
                        <a:buNone/>
                      </a:pPr>
                      <a:r>
                        <a:rPr lang="en-US" altLang="zh-CN" sz="2000">
                          <a:solidFill>
                            <a:schemeClr val="tx1"/>
                          </a:solidFill>
                        </a:rPr>
                        <a:t>101101010000...</a:t>
                      </a:r>
                      <a:endParaRPr lang="zh-CN" altLang="en-US" sz="2000">
                        <a:solidFill>
                          <a:schemeClr val="tx1"/>
                        </a:solidFill>
                      </a:endParaRPr>
                    </a:p>
                  </a:txBody>
                  <a:tcPr marL="0" marR="0" marT="0" marB="0">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0" name="表格 29"/>
          <p:cNvGraphicFramePr/>
          <p:nvPr>
            <p:extLst>
              <p:ext uri="{D42A27DB-BD31-4B8C-83A1-F6EECF244321}">
                <p14:modId xmlns:p14="http://schemas.microsoft.com/office/powerpoint/2010/main" val="2382049401"/>
              </p:ext>
            </p:extLst>
          </p:nvPr>
        </p:nvGraphicFramePr>
        <p:xfrm>
          <a:off x="10018395" y="2260600"/>
          <a:ext cx="876935" cy="330200"/>
        </p:xfrm>
        <a:graphic>
          <a:graphicData uri="http://schemas.openxmlformats.org/drawingml/2006/table">
            <a:tbl>
              <a:tblPr firstRow="1" bandRow="1">
                <a:tableStyleId>{5C22544A-7EE6-4342-B048-85BDC9FD1C3A}</a:tableStyleId>
              </a:tblPr>
              <a:tblGrid>
                <a:gridCol w="876935">
                  <a:extLst>
                    <a:ext uri="{9D8B030D-6E8A-4147-A177-3AD203B41FA5}">
                      <a16:colId xmlns:a16="http://schemas.microsoft.com/office/drawing/2014/main" val="20000"/>
                    </a:ext>
                  </a:extLst>
                </a:gridCol>
              </a:tblGrid>
              <a:tr h="330200">
                <a:tc>
                  <a:txBody>
                    <a:bodyPr/>
                    <a:lstStyle/>
                    <a:p>
                      <a:pPr>
                        <a:buNone/>
                      </a:pPr>
                      <a:r>
                        <a:rPr lang="en-US" altLang="zh-CN" sz="2000" dirty="0">
                          <a:solidFill>
                            <a:schemeClr val="tx1"/>
                          </a:solidFill>
                        </a:rPr>
                        <a:t> </a:t>
                      </a:r>
                      <a:r>
                        <a:rPr lang="en-US" altLang="zh-CN" sz="2000" dirty="0">
                          <a:solidFill>
                            <a:srgbClr val="C00000"/>
                          </a:solidFill>
                        </a:rPr>
                        <a:t>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1" name="表格 30"/>
          <p:cNvGraphicFramePr/>
          <p:nvPr>
            <p:extLst>
              <p:ext uri="{D42A27DB-BD31-4B8C-83A1-F6EECF244321}">
                <p14:modId xmlns:p14="http://schemas.microsoft.com/office/powerpoint/2010/main" val="2808231806"/>
              </p:ext>
            </p:extLst>
          </p:nvPr>
        </p:nvGraphicFramePr>
        <p:xfrm>
          <a:off x="9992360" y="2781300"/>
          <a:ext cx="1271270" cy="330200"/>
        </p:xfrm>
        <a:graphic>
          <a:graphicData uri="http://schemas.openxmlformats.org/drawingml/2006/table">
            <a:tbl>
              <a:tblPr firstRow="1" bandRow="1">
                <a:tableStyleId>{5C22544A-7EE6-4342-B048-85BDC9FD1C3A}</a:tableStyleId>
              </a:tblPr>
              <a:tblGrid>
                <a:gridCol w="375285">
                  <a:extLst>
                    <a:ext uri="{9D8B030D-6E8A-4147-A177-3AD203B41FA5}">
                      <a16:colId xmlns:a16="http://schemas.microsoft.com/office/drawing/2014/main" val="20000"/>
                    </a:ext>
                  </a:extLst>
                </a:gridCol>
                <a:gridCol w="895985">
                  <a:extLst>
                    <a:ext uri="{9D8B030D-6E8A-4147-A177-3AD203B41FA5}">
                      <a16:colId xmlns:a16="http://schemas.microsoft.com/office/drawing/2014/main" val="20001"/>
                    </a:ext>
                  </a:extLst>
                </a:gridCol>
              </a:tblGrid>
              <a:tr h="330200">
                <a:tc>
                  <a:txBody>
                    <a:bodyPr/>
                    <a:lstStyle/>
                    <a:p>
                      <a:pPr>
                        <a:buNone/>
                      </a:pPr>
                      <a:r>
                        <a:rPr lang="en-US" altLang="zh-CN" sz="2000" dirty="0">
                          <a:solidFill>
                            <a:schemeClr val="tx1"/>
                          </a:solidFill>
                        </a:rPr>
                        <a:t> </a:t>
                      </a:r>
                      <a:r>
                        <a:rPr lang="en-US" altLang="zh-CN" sz="2000" dirty="0" err="1">
                          <a:solidFill>
                            <a:srgbClr val="C00000"/>
                          </a:solidFill>
                        </a:rPr>
                        <a:t>H</a:t>
                      </a:r>
                      <a:r>
                        <a:rPr lang="en-US" altLang="zh-CN" sz="2800" baseline="-25000" dirty="0" err="1">
                          <a:solidFill>
                            <a:srgbClr val="C00000"/>
                          </a:solidFill>
                        </a:rPr>
                        <a:t>t</a:t>
                      </a:r>
                      <a:endParaRPr lang="en-US" altLang="zh-CN" sz="2800" baseline="-25000" dirty="0">
                        <a:solidFill>
                          <a:srgbClr val="C00000"/>
                        </a:solidFill>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2" name="表格 31"/>
          <p:cNvGraphicFramePr/>
          <p:nvPr>
            <p:extLst>
              <p:ext uri="{D42A27DB-BD31-4B8C-83A1-F6EECF244321}">
                <p14:modId xmlns:p14="http://schemas.microsoft.com/office/powerpoint/2010/main" val="2054106670"/>
              </p:ext>
            </p:extLst>
          </p:nvPr>
        </p:nvGraphicFramePr>
        <p:xfrm>
          <a:off x="9993630" y="3379470"/>
          <a:ext cx="1689100" cy="330200"/>
        </p:xfrm>
        <a:graphic>
          <a:graphicData uri="http://schemas.openxmlformats.org/drawingml/2006/table">
            <a:tbl>
              <a:tblPr firstRow="1" bandRow="1">
                <a:tableStyleId>{5C22544A-7EE6-4342-B048-85BDC9FD1C3A}</a:tableStyleId>
              </a:tblPr>
              <a:tblGrid>
                <a:gridCol w="39751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843915">
                  <a:extLst>
                    <a:ext uri="{9D8B030D-6E8A-4147-A177-3AD203B41FA5}">
                      <a16:colId xmlns:a16="http://schemas.microsoft.com/office/drawing/2014/main" val="20002"/>
                    </a:ext>
                  </a:extLst>
                </a:gridCol>
              </a:tblGrid>
              <a:tr h="330200">
                <a:tc>
                  <a:txBody>
                    <a:bodyPr/>
                    <a:lstStyle/>
                    <a:p>
                      <a:pPr>
                        <a:buNone/>
                      </a:pPr>
                      <a:r>
                        <a:rPr lang="en-US" altLang="zh-CN" sz="2000" dirty="0">
                          <a:solidFill>
                            <a:schemeClr val="tx1"/>
                          </a:solidFill>
                          <a:sym typeface="+mn-ea"/>
                        </a:rPr>
                        <a:t> </a:t>
                      </a:r>
                      <a:r>
                        <a:rPr lang="en-US" altLang="zh-CN" sz="2000" dirty="0" err="1">
                          <a:solidFill>
                            <a:srgbClr val="C00000"/>
                          </a:solidFill>
                          <a:sym typeface="+mn-ea"/>
                        </a:rPr>
                        <a:t>H</a:t>
                      </a:r>
                      <a:r>
                        <a:rPr lang="en-US" altLang="zh-CN" sz="2000" baseline="-25000" dirty="0" err="1">
                          <a:solidFill>
                            <a:srgbClr val="C00000"/>
                          </a:solidFill>
                          <a:sym typeface="+mn-ea"/>
                        </a:rPr>
                        <a:t>n</a:t>
                      </a:r>
                      <a:endParaRPr lang="en-US" altLang="zh-CN" sz="2000" baseline="-25000" dirty="0">
                        <a:solidFill>
                          <a:srgbClr val="C00000"/>
                        </a:solidFill>
                        <a:sym typeface="+mn-ea"/>
                      </a:endParaRP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3" name="表格 32"/>
          <p:cNvGraphicFramePr/>
          <p:nvPr>
            <p:extLst>
              <p:ext uri="{D42A27DB-BD31-4B8C-83A1-F6EECF244321}">
                <p14:modId xmlns:p14="http://schemas.microsoft.com/office/powerpoint/2010/main" val="1560397619"/>
              </p:ext>
            </p:extLst>
          </p:nvPr>
        </p:nvGraphicFramePr>
        <p:xfrm>
          <a:off x="9994265" y="3963670"/>
          <a:ext cx="2094865" cy="330200"/>
        </p:xfrm>
        <a:graphic>
          <a:graphicData uri="http://schemas.openxmlformats.org/drawingml/2006/table">
            <a:tbl>
              <a:tblPr firstRow="1" bandRow="1">
                <a:tableStyleId>{5C22544A-7EE6-4342-B048-85BDC9FD1C3A}</a:tableStyleId>
              </a:tblPr>
              <a:tblGrid>
                <a:gridCol w="314960">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862330">
                  <a:extLst>
                    <a:ext uri="{9D8B030D-6E8A-4147-A177-3AD203B41FA5}">
                      <a16:colId xmlns:a16="http://schemas.microsoft.com/office/drawing/2014/main" val="20003"/>
                    </a:ext>
                  </a:extLst>
                </a:gridCol>
              </a:tblGrid>
              <a:tr h="330200">
                <a:tc>
                  <a:txBody>
                    <a:bodyPr/>
                    <a:lstStyle/>
                    <a:p>
                      <a:pPr>
                        <a:buNone/>
                      </a:pPr>
                      <a:r>
                        <a:rPr lang="en-US" altLang="zh-CN" sz="2000" dirty="0">
                          <a:solidFill>
                            <a:schemeClr val="tx1"/>
                          </a:solidFill>
                          <a:sym typeface="+mn-ea"/>
                        </a:rPr>
                        <a:t> </a:t>
                      </a:r>
                      <a:r>
                        <a:rPr lang="en-US" altLang="zh-CN" sz="2000" dirty="0">
                          <a:solidFill>
                            <a:srgbClr val="C00000"/>
                          </a:solidFill>
                          <a:sym typeface="+mn-ea"/>
                        </a:rPr>
                        <a:t>H</a:t>
                      </a:r>
                      <a:r>
                        <a:rPr lang="en-US" altLang="zh-CN" sz="2000" baseline="-25000" dirty="0">
                          <a:solidFill>
                            <a:srgbClr val="C00000"/>
                          </a:solidFill>
                          <a:sym typeface="+mn-ea"/>
                        </a:rPr>
                        <a:t>l</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sym typeface="+mn-ea"/>
                        </a:rPr>
                        <a:t> H</a:t>
                      </a:r>
                      <a:r>
                        <a:rPr lang="en-US" altLang="zh-CN" sz="2000" baseline="-25000">
                          <a:solidFill>
                            <a:schemeClr val="tx1"/>
                          </a:solidFill>
                          <a:sym typeface="+mn-ea"/>
                        </a:rPr>
                        <a:t>n</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a:solidFill>
                            <a:schemeClr val="tx1"/>
                          </a:solidFill>
                        </a:rPr>
                        <a:t> H</a:t>
                      </a:r>
                      <a:r>
                        <a:rPr lang="en-US" altLang="zh-CN" sz="2000" baseline="-25000">
                          <a:solidFill>
                            <a:schemeClr val="tx1"/>
                          </a:solidFill>
                        </a:rPr>
                        <a:t>t</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a:buNone/>
                      </a:pPr>
                      <a:r>
                        <a:rPr lang="en-US" altLang="zh-CN" sz="2000" dirty="0">
                          <a:solidFill>
                            <a:schemeClr val="tx1"/>
                          </a:solidFill>
                        </a:rPr>
                        <a:t> hello</a:t>
                      </a:r>
                    </a:p>
                  </a:txBody>
                  <a:tcPr marL="0" marR="0"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4" name="表格 33"/>
          <p:cNvGraphicFramePr/>
          <p:nvPr/>
        </p:nvGraphicFramePr>
        <p:xfrm>
          <a:off x="10068560" y="4508500"/>
          <a:ext cx="1969135" cy="330200"/>
        </p:xfrm>
        <a:graphic>
          <a:graphicData uri="http://schemas.openxmlformats.org/drawingml/2006/table">
            <a:tbl>
              <a:tblPr firstRow="1" bandRow="1">
                <a:tableStyleId>{5C22544A-7EE6-4342-B048-85BDC9FD1C3A}</a:tableStyleId>
              </a:tblPr>
              <a:tblGrid>
                <a:gridCol w="1969135">
                  <a:extLst>
                    <a:ext uri="{9D8B030D-6E8A-4147-A177-3AD203B41FA5}">
                      <a16:colId xmlns:a16="http://schemas.microsoft.com/office/drawing/2014/main" val="20000"/>
                    </a:ext>
                  </a:extLst>
                </a:gridCol>
              </a:tblGrid>
              <a:tr h="330200">
                <a:tc>
                  <a:txBody>
                    <a:bodyPr/>
                    <a:lstStyle/>
                    <a:p>
                      <a:pPr>
                        <a:buNone/>
                      </a:pPr>
                      <a:r>
                        <a:rPr lang="en-US" altLang="zh-CN" sz="2000" dirty="0">
                          <a:solidFill>
                            <a:schemeClr val="tx1"/>
                          </a:solidFill>
                        </a:rPr>
                        <a:t>101101010000...</a:t>
                      </a:r>
                      <a:endParaRPr lang="zh-CN" altLang="en-US" sz="2000" dirty="0">
                        <a:solidFill>
                          <a:schemeClr val="tx1"/>
                        </a:solidFill>
                      </a:endParaRPr>
                    </a:p>
                  </a:txBody>
                  <a:tcPr marL="0" marR="0" marT="0" marB="0">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5" name="内容占位符 2"/>
          <p:cNvSpPr>
            <a:spLocks noGrp="1"/>
          </p:cNvSpPr>
          <p:nvPr/>
        </p:nvSpPr>
        <p:spPr>
          <a:xfrm>
            <a:off x="175896" y="2260600"/>
            <a:ext cx="1673859"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消息</a:t>
            </a:r>
            <a:r>
              <a:rPr kumimoji="1" lang="en-US" altLang="zh-CN"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message</a:t>
            </a:r>
          </a:p>
        </p:txBody>
      </p:sp>
      <p:sp>
        <p:nvSpPr>
          <p:cNvPr id="36" name="内容占位符 2"/>
          <p:cNvSpPr>
            <a:spLocks noGrp="1"/>
          </p:cNvSpPr>
          <p:nvPr/>
        </p:nvSpPr>
        <p:spPr>
          <a:xfrm>
            <a:off x="176530" y="2752725"/>
            <a:ext cx="1497329"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段</a:t>
            </a:r>
            <a:r>
              <a:rPr kumimoji="1" lang="en-US" altLang="zh-CN"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segment</a:t>
            </a:r>
          </a:p>
        </p:txBody>
      </p:sp>
      <p:sp>
        <p:nvSpPr>
          <p:cNvPr id="37" name="内容占位符 2"/>
          <p:cNvSpPr>
            <a:spLocks noGrp="1"/>
          </p:cNvSpPr>
          <p:nvPr/>
        </p:nvSpPr>
        <p:spPr>
          <a:xfrm>
            <a:off x="195581" y="3253927"/>
            <a:ext cx="1334768"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数据报</a:t>
            </a:r>
          </a:p>
          <a:p>
            <a:pPr marL="0" marR="0" lvl="0" indent="0" algn="l" defTabSz="914400" rtl="0" eaLnBrk="1" fontAlgn="auto" latinLnBrk="0" hangingPunct="1">
              <a:spcBef>
                <a:spcPts val="0"/>
              </a:spcBef>
              <a:spcAft>
                <a:spcPts val="0"/>
              </a:spcAft>
              <a:buClrTx/>
              <a:buSzTx/>
              <a:buFont typeface="Wingdings" panose="05000000000000000000" pitchFamily="2" charset="2"/>
              <a:buNone/>
              <a:tabLst/>
              <a:defRPr/>
            </a:pPr>
            <a:r>
              <a:rPr kumimoji="1" lang="en-US" altLang="zh-CN"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packet</a:t>
            </a:r>
          </a:p>
        </p:txBody>
      </p:sp>
      <p:sp>
        <p:nvSpPr>
          <p:cNvPr id="39" name="内容占位符 2"/>
          <p:cNvSpPr>
            <a:spLocks noGrp="1"/>
          </p:cNvSpPr>
          <p:nvPr/>
        </p:nvSpPr>
        <p:spPr>
          <a:xfrm>
            <a:off x="75565" y="3873314"/>
            <a:ext cx="861696"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spcBef>
                <a:spcPts val="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帧</a:t>
            </a:r>
          </a:p>
          <a:p>
            <a:pPr marL="0" marR="0" lvl="0" indent="0" algn="ctr" defTabSz="914400" rtl="0" eaLnBrk="1" fontAlgn="auto" latinLnBrk="0" hangingPunct="1">
              <a:spcBef>
                <a:spcPts val="0"/>
              </a:spcBef>
              <a:spcAft>
                <a:spcPts val="0"/>
              </a:spcAft>
              <a:buClrTx/>
              <a:buSzTx/>
              <a:buFont typeface="Wingdings" panose="05000000000000000000" pitchFamily="2" charset="2"/>
              <a:buNone/>
              <a:tabLst/>
              <a:defRPr/>
            </a:pPr>
            <a:r>
              <a:rPr kumimoji="1" lang="en-US" altLang="zh-CN"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frame</a:t>
            </a:r>
          </a:p>
        </p:txBody>
      </p:sp>
      <p:cxnSp>
        <p:nvCxnSpPr>
          <p:cNvPr id="42" name="直接箭头连接符 41"/>
          <p:cNvCxnSpPr>
            <a:stCxn id="7" idx="3"/>
          </p:cNvCxnSpPr>
          <p:nvPr/>
        </p:nvCxnSpPr>
        <p:spPr>
          <a:xfrm flipH="1">
            <a:off x="4037965" y="1849755"/>
            <a:ext cx="12700" cy="265874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4025265" y="46355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5409565" y="46355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6846570" y="46736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8331200" y="4673600"/>
            <a:ext cx="552450" cy="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4666615" y="383032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6038215" y="3258820"/>
            <a:ext cx="0" cy="14147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V="1">
            <a:off x="7498715" y="3830320"/>
            <a:ext cx="0" cy="843280"/>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4742180" y="391604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7604760" y="3916045"/>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131560" y="3379470"/>
            <a:ext cx="552450" cy="0"/>
          </a:xfrm>
          <a:prstGeom prst="straightConnector1">
            <a:avLst/>
          </a:prstGeom>
          <a:ln w="28575" cmpd="sng">
            <a:solidFill>
              <a:srgbClr val="FF0000"/>
            </a:solidFill>
            <a:prstDash val="sysDash"/>
            <a:tailEnd type="none"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6765290" y="3379470"/>
            <a:ext cx="0" cy="135763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5371465" y="388175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8233410" y="3916045"/>
            <a:ext cx="0" cy="843280"/>
          </a:xfrm>
          <a:prstGeom prst="straightConnector1">
            <a:avLst/>
          </a:prstGeom>
          <a:ln w="28575" cmpd="sng">
            <a:solidFill>
              <a:srgbClr val="FF0000"/>
            </a:solidFill>
            <a:prstDash val="sysDash"/>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8896350" y="1927225"/>
            <a:ext cx="0" cy="2708275"/>
          </a:xfrm>
          <a:prstGeom prst="straightConnector1">
            <a:avLst/>
          </a:prstGeom>
          <a:ln w="28575" cmpd="sng">
            <a:solidFill>
              <a:srgbClr val="FF0000"/>
            </a:solidFill>
            <a:prstDash val="sysDash"/>
            <a:tailEnd type="triangle" w="lg" len="lg"/>
          </a:ln>
        </p:spPr>
        <p:style>
          <a:lnRef idx="1">
            <a:schemeClr val="accent1"/>
          </a:lnRef>
          <a:fillRef idx="0">
            <a:schemeClr val="accent1"/>
          </a:fillRef>
          <a:effectRef idx="0">
            <a:schemeClr val="accent1"/>
          </a:effectRef>
          <a:fontRef idx="minor">
            <a:schemeClr val="tx1"/>
          </a:fontRef>
        </p:style>
      </p:cxnSp>
      <p:sp>
        <p:nvSpPr>
          <p:cNvPr id="58" name="内容占位符 2"/>
          <p:cNvSpPr>
            <a:spLocks noGrp="1"/>
          </p:cNvSpPr>
          <p:nvPr/>
        </p:nvSpPr>
        <p:spPr>
          <a:xfrm>
            <a:off x="3161030" y="498562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a:t>
            </a:r>
          </a:p>
        </p:txBody>
      </p:sp>
      <p:sp>
        <p:nvSpPr>
          <p:cNvPr id="59" name="内容占位符 2"/>
          <p:cNvSpPr>
            <a:spLocks noGrp="1"/>
          </p:cNvSpPr>
          <p:nvPr/>
        </p:nvSpPr>
        <p:spPr>
          <a:xfrm>
            <a:off x="4584700" y="498562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交换机</a:t>
            </a:r>
          </a:p>
        </p:txBody>
      </p:sp>
      <p:sp>
        <p:nvSpPr>
          <p:cNvPr id="60" name="内容占位符 2"/>
          <p:cNvSpPr>
            <a:spLocks noGrp="1"/>
          </p:cNvSpPr>
          <p:nvPr/>
        </p:nvSpPr>
        <p:spPr>
          <a:xfrm>
            <a:off x="7399020" y="5012290"/>
            <a:ext cx="95123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交换机</a:t>
            </a:r>
          </a:p>
        </p:txBody>
      </p:sp>
      <p:sp>
        <p:nvSpPr>
          <p:cNvPr id="61" name="内容占位符 2"/>
          <p:cNvSpPr>
            <a:spLocks noGrp="1"/>
          </p:cNvSpPr>
          <p:nvPr/>
        </p:nvSpPr>
        <p:spPr>
          <a:xfrm>
            <a:off x="8962390" y="5011020"/>
            <a:ext cx="126365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主机</a:t>
            </a:r>
            <a:r>
              <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B</a:t>
            </a:r>
          </a:p>
        </p:txBody>
      </p:sp>
      <p:sp>
        <p:nvSpPr>
          <p:cNvPr id="62" name="内容占位符 2"/>
          <p:cNvSpPr>
            <a:spLocks noGrp="1"/>
          </p:cNvSpPr>
          <p:nvPr/>
        </p:nvSpPr>
        <p:spPr>
          <a:xfrm>
            <a:off x="5984875" y="5011020"/>
            <a:ext cx="86868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pitchFamily="2" charset="2"/>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路由器</a:t>
            </a:r>
          </a:p>
        </p:txBody>
      </p:sp>
      <p:sp>
        <p:nvSpPr>
          <p:cNvPr id="63" name="内容占位符 2"/>
          <p:cNvSpPr>
            <a:spLocks noGrp="1"/>
          </p:cNvSpPr>
          <p:nvPr/>
        </p:nvSpPr>
        <p:spPr>
          <a:xfrm>
            <a:off x="4230371" y="2209800"/>
            <a:ext cx="200132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封装</a:t>
            </a:r>
          </a:p>
          <a:p>
            <a:pPr marL="0" marR="0" lvl="0" indent="0" algn="l" defTabSz="914400" rtl="0" eaLnBrk="1" fontAlgn="auto" latinLnBrk="0" hangingPunct="1">
              <a:spcBef>
                <a:spcPts val="600"/>
              </a:spcBef>
              <a:spcAft>
                <a:spcPts val="0"/>
              </a:spcAft>
              <a:buClrTx/>
              <a:buSzTx/>
              <a:buFont typeface="Wingdings" panose="05000000000000000000" pitchFamily="2" charset="2"/>
              <a:buNone/>
              <a:tabLst/>
              <a:defRPr/>
            </a:pPr>
            <a:r>
              <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Encapsulation</a:t>
            </a:r>
          </a:p>
        </p:txBody>
      </p:sp>
      <p:sp>
        <p:nvSpPr>
          <p:cNvPr id="64" name="内容占位符 2"/>
          <p:cNvSpPr>
            <a:spLocks noGrp="1"/>
          </p:cNvSpPr>
          <p:nvPr/>
        </p:nvSpPr>
        <p:spPr>
          <a:xfrm>
            <a:off x="6519544" y="2181225"/>
            <a:ext cx="2228851" cy="46037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spcBef>
                <a:spcPts val="600"/>
              </a:spcBef>
              <a:spcAft>
                <a:spcPts val="0"/>
              </a:spcAft>
              <a:buClrTx/>
              <a:buSzTx/>
              <a:buFont typeface="Wingdings" panose="05000000000000000000" pitchFamily="2" charset="2"/>
              <a:buNone/>
              <a:tabLst/>
              <a:defRPr/>
            </a:pPr>
            <a:r>
              <a:rPr kumimoji="1" lang="zh-CN" altLang="en-US" sz="20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解封装</a:t>
            </a:r>
          </a:p>
          <a:p>
            <a:pPr marL="0" marR="0" lvl="0" indent="0" algn="r" defTabSz="914400" rtl="0" eaLnBrk="1" fontAlgn="auto" latinLnBrk="0" hangingPunct="1">
              <a:spcBef>
                <a:spcPts val="600"/>
              </a:spcBef>
              <a:spcAft>
                <a:spcPts val="0"/>
              </a:spcAft>
              <a:buClrTx/>
              <a:buSzTx/>
              <a:buFont typeface="Wingdings" panose="05000000000000000000" pitchFamily="2" charset="2"/>
              <a:buNone/>
              <a:tabLst/>
              <a:defRPr/>
            </a:pPr>
            <a:r>
              <a:rPr kumimoji="1" lang="en-US" altLang="zh-CN" sz="1800" b="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mn-cs"/>
              </a:rPr>
              <a:t>De-encapsulation</a:t>
            </a:r>
          </a:p>
        </p:txBody>
      </p:sp>
      <p:sp>
        <p:nvSpPr>
          <p:cNvPr id="66" name="文本框 65">
            <a:extLst>
              <a:ext uri="{FF2B5EF4-FFF2-40B4-BE49-F238E27FC236}">
                <a16:creationId xmlns:a16="http://schemas.microsoft.com/office/drawing/2014/main" id="{A04ACF37-9C12-C944-BBC7-1DC6B11EF0BD}"/>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1.4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参考模型</a:t>
            </a:r>
          </a:p>
        </p:txBody>
      </p:sp>
      <p:pic>
        <p:nvPicPr>
          <p:cNvPr id="54" name="Picture 28" descr="015">
            <a:extLst>
              <a:ext uri="{FF2B5EF4-FFF2-40B4-BE49-F238E27FC236}">
                <a16:creationId xmlns:a16="http://schemas.microsoft.com/office/drawing/2014/main" id="{C934150A-689A-44BE-AC94-F3C1777BC1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18721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t>1.2 </a:t>
            </a:r>
            <a:r>
              <a:rPr kumimoji="1" lang="zh-CN" altLang="en-US" dirty="0"/>
              <a:t>网络的分类</a:t>
            </a:r>
            <a:endParaRPr kumimoji="1" lang="en-US" altLang="zh-CN" dirty="0"/>
          </a:p>
          <a:p>
            <a:pPr marL="0" indent="0">
              <a:lnSpc>
                <a:spcPct val="130000"/>
              </a:lnSpc>
              <a:buNone/>
            </a:pPr>
            <a:r>
              <a:rPr kumimoji="1" lang="en-US" altLang="zh-CN" dirty="0"/>
              <a:t>1.3 </a:t>
            </a:r>
            <a:r>
              <a:rPr kumimoji="1" lang="zh-CN" altLang="en-US" dirty="0"/>
              <a:t>网络实例</a:t>
            </a:r>
            <a:endParaRPr kumimoji="1" lang="en-US" altLang="zh-CN" dirty="0"/>
          </a:p>
          <a:p>
            <a:pPr marL="0" indent="0">
              <a:lnSpc>
                <a:spcPct val="130000"/>
              </a:lnSpc>
              <a:buNone/>
            </a:pPr>
            <a:r>
              <a:rPr kumimoji="1" lang="en-US" altLang="zh-CN" dirty="0"/>
              <a:t>1.4 </a:t>
            </a:r>
            <a:r>
              <a:rPr kumimoji="1" lang="zh-CN" altLang="en-US" dirty="0"/>
              <a:t>协议与分层结构</a:t>
            </a:r>
            <a:endParaRPr kumimoji="1" lang="en-US" altLang="zh-CN" dirty="0"/>
          </a:p>
          <a:p>
            <a:pPr marL="0" indent="0">
              <a:lnSpc>
                <a:spcPct val="130000"/>
              </a:lnSpc>
              <a:buNone/>
            </a:pPr>
            <a:r>
              <a:rPr kumimoji="1" lang="en-US" altLang="zh-CN" dirty="0"/>
              <a:t>1.5 </a:t>
            </a:r>
            <a:r>
              <a:rPr kumimoji="1" lang="zh-CN" altLang="en-US" dirty="0"/>
              <a:t>参考模型</a:t>
            </a:r>
            <a:endParaRPr kumimoji="1" lang="en-US" altLang="zh-CN" dirty="0"/>
          </a:p>
          <a:p>
            <a:pPr marL="0" indent="0">
              <a:lnSpc>
                <a:spcPct val="130000"/>
              </a:lnSpc>
              <a:buNone/>
            </a:pPr>
            <a:r>
              <a:rPr kumimoji="1" lang="en-US" altLang="zh-CN" dirty="0">
                <a:solidFill>
                  <a:srgbClr val="C00000"/>
                </a:solidFill>
              </a:rPr>
              <a:t>1.6 </a:t>
            </a:r>
            <a:r>
              <a:rPr kumimoji="1" lang="zh-CN" altLang="en-US" dirty="0">
                <a:solidFill>
                  <a:srgbClr val="C00000"/>
                </a:solidFill>
              </a:rPr>
              <a:t>计算机网络度量单位</a:t>
            </a: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8" name="矩形标注 7">
            <a:extLst>
              <a:ext uri="{FF2B5EF4-FFF2-40B4-BE49-F238E27FC236}">
                <a16:creationId xmlns:a16="http://schemas.microsoft.com/office/drawing/2014/main" id="{E4BFCB96-0FA1-7740-8F94-683CEFB67F89}"/>
              </a:ext>
            </a:extLst>
          </p:cNvPr>
          <p:cNvSpPr/>
          <p:nvPr/>
        </p:nvSpPr>
        <p:spPr>
          <a:xfrm>
            <a:off x="6393290" y="1985699"/>
            <a:ext cx="5008214" cy="3794563"/>
          </a:xfrm>
          <a:prstGeom prst="wedgeRectCallout">
            <a:avLst>
              <a:gd name="adj1" fmla="val -72313"/>
              <a:gd name="adj2" fmla="val 2068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49225" lvl="0">
              <a:lnSpc>
                <a:spcPct val="130000"/>
              </a:lnSpc>
              <a:spcBef>
                <a:spcPts val="600"/>
              </a:spcBef>
            </a:pP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graphicFrame>
        <p:nvGraphicFramePr>
          <p:cNvPr id="9" name="表格 5">
            <a:extLst>
              <a:ext uri="{FF2B5EF4-FFF2-40B4-BE49-F238E27FC236}">
                <a16:creationId xmlns:a16="http://schemas.microsoft.com/office/drawing/2014/main" id="{C08FB3CE-5627-9D44-A43F-2F20F6D88C23}"/>
              </a:ext>
            </a:extLst>
          </p:cNvPr>
          <p:cNvGraphicFramePr>
            <a:graphicFrameLocks noGrp="1"/>
          </p:cNvGraphicFramePr>
          <p:nvPr>
            <p:extLst>
              <p:ext uri="{D42A27DB-BD31-4B8C-83A1-F6EECF244321}">
                <p14:modId xmlns:p14="http://schemas.microsoft.com/office/powerpoint/2010/main" val="3049069712"/>
              </p:ext>
            </p:extLst>
          </p:nvPr>
        </p:nvGraphicFramePr>
        <p:xfrm>
          <a:off x="6615751" y="2244597"/>
          <a:ext cx="4563291" cy="3234845"/>
        </p:xfrm>
        <a:graphic>
          <a:graphicData uri="http://schemas.openxmlformats.org/drawingml/2006/table">
            <a:tbl>
              <a:tblPr firstRow="1" bandRow="1">
                <a:tableStyleId>{5C22544A-7EE6-4342-B048-85BDC9FD1C3A}</a:tableStyleId>
              </a:tblPr>
              <a:tblGrid>
                <a:gridCol w="2502956">
                  <a:extLst>
                    <a:ext uri="{9D8B030D-6E8A-4147-A177-3AD203B41FA5}">
                      <a16:colId xmlns:a16="http://schemas.microsoft.com/office/drawing/2014/main" val="3085357534"/>
                    </a:ext>
                  </a:extLst>
                </a:gridCol>
                <a:gridCol w="2060335">
                  <a:extLst>
                    <a:ext uri="{9D8B030D-6E8A-4147-A177-3AD203B41FA5}">
                      <a16:colId xmlns:a16="http://schemas.microsoft.com/office/drawing/2014/main" val="758960929"/>
                    </a:ext>
                  </a:extLst>
                </a:gridCol>
              </a:tblGrid>
              <a:tr h="646969">
                <a:tc>
                  <a:txBody>
                    <a:bodyPr/>
                    <a:lstStyle/>
                    <a:p>
                      <a:pPr marL="317500" indent="-317500">
                        <a:lnSpc>
                          <a:spcPct val="130000"/>
                        </a:lnSpc>
                        <a:spcAft>
                          <a:spcPts val="0"/>
                        </a:spcAft>
                        <a:buFont typeface="Arial" panose="020B0604020202020204" pitchFamily="34" charset="0"/>
                        <a:buChar char="•"/>
                        <a:tabLst/>
                      </a:pPr>
                      <a:r>
                        <a:rPr kumimoji="1" lang="zh-CN" altLang="en-US" sz="2400" b="0" dirty="0">
                          <a:solidFill>
                            <a:schemeClr val="tx1"/>
                          </a:solidFill>
                          <a:latin typeface="Microsoft YaHei" panose="020B0503020204020204" pitchFamily="34" charset="-122"/>
                          <a:ea typeface="Microsoft YaHei" panose="020B0503020204020204" pitchFamily="34" charset="-122"/>
                        </a:rPr>
                        <a:t>比特率</a:t>
                      </a:r>
                    </a:p>
                  </a:txBody>
                  <a:tcPr>
                    <a:noFill/>
                  </a:tcPr>
                </a:tc>
                <a:tc>
                  <a:txBody>
                    <a:bodyPr/>
                    <a:lstStyle/>
                    <a:p>
                      <a:pPr marL="342900" lvl="1" indent="-342900" algn="l">
                        <a:lnSpc>
                          <a:spcPct val="130000"/>
                        </a:lnSpc>
                        <a:spcAft>
                          <a:spcPts val="0"/>
                        </a:spcAft>
                        <a:buClrTx/>
                        <a:buSzTx/>
                        <a:buFont typeface="Arial" panose="020B0604020202020204" pitchFamily="34" charset="0"/>
                        <a:buChar cha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时延带宽积</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extLst>
                  <a:ext uri="{0D108BD9-81ED-4DB2-BD59-A6C34878D82A}">
                    <a16:rowId xmlns:a16="http://schemas.microsoft.com/office/drawing/2014/main" val="1772823711"/>
                  </a:ext>
                </a:extLst>
              </a:tr>
              <a:tr h="646969">
                <a:tc>
                  <a:txBody>
                    <a:bodyPr/>
                    <a:lstStyle/>
                    <a:p>
                      <a:pPr marL="342900" indent="-342900">
                        <a:buFont typeface="Arial" panose="020B0604020202020204" pitchFamily="34" charset="0"/>
                        <a:buChar cha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带宽</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吞吐量</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extLst>
                  <a:ext uri="{0D108BD9-81ED-4DB2-BD59-A6C34878D82A}">
                    <a16:rowId xmlns:a16="http://schemas.microsoft.com/office/drawing/2014/main" val="535779347"/>
                  </a:ext>
                </a:extLst>
              </a:tr>
              <a:tr h="646969">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rPr>
                        <a:t>包转发率</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rPr>
                        <a:t>丢包率</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extLst>
                  <a:ext uri="{0D108BD9-81ED-4DB2-BD59-A6C34878D82A}">
                    <a16:rowId xmlns:a16="http://schemas.microsoft.com/office/drawing/2014/main" val="1981169489"/>
                  </a:ext>
                </a:extLst>
              </a:tr>
              <a:tr h="646969">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时延</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利用率</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extLst>
                  <a:ext uri="{0D108BD9-81ED-4DB2-BD59-A6C34878D82A}">
                    <a16:rowId xmlns:a16="http://schemas.microsoft.com/office/drawing/2014/main" val="570593792"/>
                  </a:ext>
                </a:extLst>
              </a:tr>
              <a:tr h="646969">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往返时间 RTT</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dirty="0">
                          <a:solidFill>
                            <a:schemeClr val="tx1"/>
                          </a:solidFill>
                          <a:latin typeface="Microsoft YaHei" panose="020B0503020204020204" pitchFamily="34" charset="-122"/>
                          <a:ea typeface="Microsoft YaHei" panose="020B0503020204020204" pitchFamily="34" charset="-122"/>
                          <a:sym typeface="+mn-ea"/>
                        </a:rPr>
                        <a:t>时延抖动</a:t>
                      </a:r>
                      <a:endParaRPr lang="zh-CN" altLang="en-US" sz="2400" b="0" dirty="0">
                        <a:solidFill>
                          <a:schemeClr val="tx1"/>
                        </a:solidFill>
                        <a:latin typeface="Microsoft YaHei" panose="020B0503020204020204" pitchFamily="34" charset="-122"/>
                        <a:ea typeface="Microsoft YaHei" panose="020B0503020204020204" pitchFamily="34" charset="-122"/>
                      </a:endParaRPr>
                    </a:p>
                  </a:txBody>
                  <a:tcPr>
                    <a:noFill/>
                  </a:tcPr>
                </a:tc>
                <a:extLst>
                  <a:ext uri="{0D108BD9-81ED-4DB2-BD59-A6C34878D82A}">
                    <a16:rowId xmlns:a16="http://schemas.microsoft.com/office/drawing/2014/main" val="3079514311"/>
                  </a:ext>
                </a:extLst>
              </a:tr>
            </a:tbl>
          </a:graphicData>
        </a:graphic>
      </p:graphicFrame>
    </p:spTree>
    <p:extLst>
      <p:ext uri="{BB962C8B-B14F-4D97-AF65-F5344CB8AC3E}">
        <p14:creationId xmlns:p14="http://schemas.microsoft.com/office/powerpoint/2010/main" val="14784562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计算机网络度量单位</a:t>
            </a:r>
          </a:p>
        </p:txBody>
      </p:sp>
      <p:sp>
        <p:nvSpPr>
          <p:cNvPr id="3" name="内容占位符 2"/>
          <p:cNvSpPr>
            <a:spLocks noGrp="1"/>
          </p:cNvSpPr>
          <p:nvPr>
            <p:ph idx="1"/>
          </p:nvPr>
        </p:nvSpPr>
        <p:spPr>
          <a:xfrm>
            <a:off x="825500" y="1388110"/>
            <a:ext cx="7138670" cy="5210175"/>
          </a:xfrm>
        </p:spPr>
        <p:txBody>
          <a:bodyPr>
            <a:noAutofit/>
          </a:bodyPr>
          <a:lstStyle/>
          <a:p>
            <a:pPr lvl="0" algn="l">
              <a:lnSpc>
                <a:spcPct val="110000"/>
              </a:lnSpc>
              <a:spcBef>
                <a:spcPts val="0"/>
              </a:spcBef>
              <a:spcAft>
                <a:spcPts val="0"/>
              </a:spcAft>
              <a:buClrTx/>
              <a:buSzTx/>
              <a:buChar char="Ø"/>
            </a:pPr>
            <a:r>
              <a:rPr kumimoji="1" lang="zh-CN" altLang="en-US" dirty="0"/>
              <a:t>比特率</a:t>
            </a:r>
            <a:r>
              <a:rPr kumimoji="1" lang="zh-CN" altLang="en-US" dirty="0">
                <a:sym typeface="+mn-ea"/>
              </a:rPr>
              <a:t>(bit rate)</a:t>
            </a:r>
          </a:p>
          <a:p>
            <a:pPr lvl="1">
              <a:lnSpc>
                <a:spcPct val="110000"/>
              </a:lnSpc>
              <a:spcBef>
                <a:spcPts val="0"/>
              </a:spcBef>
              <a:spcAft>
                <a:spcPts val="0"/>
              </a:spcAft>
              <a:buFont typeface="Arial" panose="020B0604020202020204" pitchFamily="34" charset="0"/>
              <a:buChar char="•"/>
            </a:pPr>
            <a:r>
              <a:rPr lang="zh-CN" altLang="en-US" sz="2200" dirty="0">
                <a:effectLst/>
                <a:cs typeface="微软雅黑" panose="020B0503020204020204" pitchFamily="34" charset="-122"/>
              </a:rPr>
              <a:t>主机在数字信道上传送数据的速率，也称数据率</a:t>
            </a:r>
          </a:p>
          <a:p>
            <a:pPr lvl="1">
              <a:lnSpc>
                <a:spcPct val="110000"/>
              </a:lnSpc>
              <a:spcBef>
                <a:spcPts val="0"/>
              </a:spcBef>
              <a:spcAft>
                <a:spcPts val="0"/>
              </a:spcAft>
              <a:buFont typeface="Arial" panose="020B0604020202020204" pitchFamily="34" charset="0"/>
              <a:buChar char="•"/>
            </a:pPr>
            <a:r>
              <a:rPr lang="zh-CN" altLang="en-US" sz="2200" dirty="0">
                <a:effectLst/>
                <a:cs typeface="微软雅黑" panose="020B0503020204020204" pitchFamily="34" charset="-122"/>
              </a:rPr>
              <a:t>比特率的单位是</a:t>
            </a:r>
            <a:r>
              <a:rPr lang="en-US" altLang="zh-CN" sz="2200" dirty="0">
                <a:effectLst/>
                <a:cs typeface="微软雅黑" panose="020B0503020204020204" pitchFamily="34" charset="-122"/>
              </a:rPr>
              <a:t>b/s(</a:t>
            </a:r>
            <a:r>
              <a:rPr lang="zh-CN" altLang="en-US" sz="2200" dirty="0">
                <a:effectLst/>
                <a:cs typeface="微软雅黑" panose="020B0503020204020204" pitchFamily="34" charset="-122"/>
              </a:rPr>
              <a:t>比特每秒</a:t>
            </a:r>
            <a:r>
              <a:rPr lang="en-US" altLang="zh-CN" sz="2200" dirty="0">
                <a:effectLst/>
                <a:cs typeface="微软雅黑" panose="020B0503020204020204" pitchFamily="34" charset="-122"/>
              </a:rPr>
              <a:t>)</a:t>
            </a:r>
            <a:r>
              <a:rPr lang="zh-CN" altLang="en-US" sz="2200" dirty="0">
                <a:effectLst/>
                <a:cs typeface="微软雅黑" panose="020B0503020204020204" pitchFamily="34" charset="-122"/>
              </a:rPr>
              <a:t>，也可以写为</a:t>
            </a:r>
            <a:r>
              <a:rPr lang="en-US" altLang="zh-CN" sz="2200" dirty="0">
                <a:effectLst/>
                <a:cs typeface="微软雅黑" panose="020B0503020204020204" pitchFamily="34" charset="-122"/>
              </a:rPr>
              <a:t>bps</a:t>
            </a:r>
            <a:r>
              <a:rPr lang="zh-CN" altLang="en-US" sz="2200" dirty="0">
                <a:effectLst/>
                <a:cs typeface="微软雅黑" panose="020B0503020204020204" pitchFamily="34" charset="-122"/>
              </a:rPr>
              <a:t>，</a:t>
            </a:r>
            <a:r>
              <a:rPr lang="en-US" altLang="zh-CN" sz="2200" dirty="0">
                <a:effectLst/>
                <a:cs typeface="微软雅黑" panose="020B0503020204020204" pitchFamily="34" charset="-122"/>
              </a:rPr>
              <a:t>(bit per second)</a:t>
            </a:r>
            <a:r>
              <a:rPr lang="zh-CN" altLang="en-US" sz="2200" dirty="0">
                <a:effectLst/>
                <a:cs typeface="微软雅黑" panose="020B0503020204020204" pitchFamily="34" charset="-122"/>
              </a:rPr>
              <a:t>，</a:t>
            </a:r>
            <a:r>
              <a:rPr lang="zh-CN" altLang="en-US" sz="2200" dirty="0">
                <a:sym typeface="+mn-ea"/>
              </a:rPr>
              <a:t>或 </a:t>
            </a:r>
            <a:r>
              <a:rPr lang="en-US" altLang="zh-CN" sz="2200" dirty="0" err="1">
                <a:sym typeface="+mn-ea"/>
              </a:rPr>
              <a:t>kbit</a:t>
            </a:r>
            <a:r>
              <a:rPr lang="en-US" altLang="zh-CN" sz="2200" dirty="0">
                <a:sym typeface="+mn-ea"/>
              </a:rPr>
              <a:t>/s</a:t>
            </a:r>
            <a:r>
              <a:rPr lang="zh-CN" altLang="en-US" sz="2200" dirty="0">
                <a:sym typeface="+mn-ea"/>
              </a:rPr>
              <a:t>、</a:t>
            </a:r>
            <a:r>
              <a:rPr lang="en-US" altLang="zh-CN" sz="2200" dirty="0">
                <a:sym typeface="+mn-ea"/>
              </a:rPr>
              <a:t>Mbit/s</a:t>
            </a:r>
            <a:r>
              <a:rPr lang="zh-CN" altLang="en-US" sz="2200" dirty="0">
                <a:sym typeface="+mn-ea"/>
              </a:rPr>
              <a:t>、</a:t>
            </a:r>
            <a:r>
              <a:rPr lang="en-US" altLang="zh-CN" sz="2200" dirty="0">
                <a:sym typeface="+mn-ea"/>
              </a:rPr>
              <a:t> Gbit/s</a:t>
            </a:r>
            <a:r>
              <a:rPr lang="zh-CN" altLang="en-US" sz="2200" dirty="0">
                <a:sym typeface="+mn-ea"/>
              </a:rPr>
              <a:t>等</a:t>
            </a:r>
          </a:p>
          <a:p>
            <a:pPr>
              <a:lnSpc>
                <a:spcPct val="110000"/>
              </a:lnSpc>
            </a:pPr>
            <a:r>
              <a:rPr kumimoji="1" lang="zh-CN" altLang="en-US" dirty="0">
                <a:sym typeface="+mn-ea"/>
              </a:rPr>
              <a:t>带宽</a:t>
            </a:r>
            <a:endParaRPr kumimoji="1" lang="zh-CN" altLang="en-US" dirty="0"/>
          </a:p>
          <a:p>
            <a:pPr lvl="1" algn="l">
              <a:lnSpc>
                <a:spcPct val="110000"/>
              </a:lnSpc>
              <a:spcBef>
                <a:spcPts val="0"/>
              </a:spcBef>
              <a:spcAft>
                <a:spcPts val="0"/>
              </a:spcAft>
            </a:pPr>
            <a:r>
              <a:rPr lang="zh-CN" altLang="zh-CN" sz="2200" dirty="0">
                <a:sym typeface="+mn-ea"/>
              </a:rPr>
              <a:t>网络中某通道传送数据的能力</a:t>
            </a:r>
            <a:r>
              <a:rPr lang="zh-CN" altLang="en-US" sz="2200" dirty="0">
                <a:sym typeface="+mn-ea"/>
              </a:rPr>
              <a:t>，即</a:t>
            </a:r>
            <a:r>
              <a:rPr lang="zh-CN" altLang="zh-CN" sz="2200" dirty="0">
                <a:sym typeface="+mn-ea"/>
              </a:rPr>
              <a:t>单位时间</a:t>
            </a:r>
            <a:br>
              <a:rPr lang="en-US" altLang="zh-CN" sz="2200" dirty="0">
                <a:sym typeface="+mn-ea"/>
              </a:rPr>
            </a:br>
            <a:r>
              <a:rPr lang="zh-CN" altLang="zh-CN" sz="2200" dirty="0">
                <a:sym typeface="+mn-ea"/>
              </a:rPr>
              <a:t>内网络中的某信道所能通过的“</a:t>
            </a:r>
            <a:r>
              <a:rPr lang="zh-CN" altLang="zh-CN" sz="2200" dirty="0">
                <a:solidFill>
                  <a:srgbClr val="C00000"/>
                </a:solidFill>
                <a:sym typeface="+mn-ea"/>
              </a:rPr>
              <a:t>最高数据率</a:t>
            </a:r>
            <a:r>
              <a:rPr lang="zh-CN" altLang="zh-CN" sz="2200" dirty="0">
                <a:sym typeface="+mn-ea"/>
              </a:rPr>
              <a:t>”</a:t>
            </a:r>
            <a:endParaRPr lang="en-US" altLang="zh-CN" sz="2200" dirty="0">
              <a:sym typeface="+mn-ea"/>
            </a:endParaRPr>
          </a:p>
          <a:p>
            <a:pPr lvl="1" algn="l">
              <a:lnSpc>
                <a:spcPct val="110000"/>
              </a:lnSpc>
              <a:spcBef>
                <a:spcPts val="0"/>
              </a:spcBef>
              <a:spcAft>
                <a:spcPts val="0"/>
              </a:spcAft>
            </a:pPr>
            <a:r>
              <a:rPr lang="zh-CN" altLang="en-US" sz="2200" dirty="0">
                <a:sym typeface="+mn-ea"/>
              </a:rPr>
              <a:t>单位是 </a:t>
            </a:r>
            <a:r>
              <a:rPr lang="en-US" altLang="zh-CN" sz="2200" dirty="0">
                <a:sym typeface="+mn-ea"/>
              </a:rPr>
              <a:t>bit/s</a:t>
            </a:r>
            <a:r>
              <a:rPr lang="zh-CN" altLang="en-US" sz="2200" dirty="0">
                <a:sym typeface="+mn-ea"/>
              </a:rPr>
              <a:t>，即</a:t>
            </a:r>
            <a:r>
              <a:rPr lang="en-US" altLang="zh-CN" sz="2200" dirty="0">
                <a:sym typeface="+mn-ea"/>
              </a:rPr>
              <a:t> </a:t>
            </a:r>
            <a:r>
              <a:rPr lang="zh-CN" altLang="en-US" sz="2200" dirty="0">
                <a:sym typeface="+mn-ea"/>
              </a:rPr>
              <a:t>“比特每秒”</a:t>
            </a:r>
          </a:p>
          <a:p>
            <a:pPr lvl="0" algn="l">
              <a:lnSpc>
                <a:spcPct val="110000"/>
              </a:lnSpc>
              <a:spcBef>
                <a:spcPts val="0"/>
              </a:spcBef>
              <a:spcAft>
                <a:spcPts val="0"/>
              </a:spcAft>
              <a:buClrTx/>
              <a:buSzTx/>
              <a:buChar char="Ø"/>
            </a:pPr>
            <a:r>
              <a:rPr kumimoji="1" lang="zh-CN" altLang="en-US" dirty="0">
                <a:sym typeface="+mn-ea"/>
              </a:rPr>
              <a:t>包转发率</a:t>
            </a:r>
            <a:r>
              <a:rPr kumimoji="1" lang="en-US" altLang="zh-CN" dirty="0">
                <a:sym typeface="+mn-ea"/>
              </a:rPr>
              <a:t>(</a:t>
            </a:r>
            <a:r>
              <a:rPr kumimoji="1" lang="zh-CN" altLang="en-US" dirty="0">
                <a:sym typeface="+mn-ea"/>
              </a:rPr>
              <a:t>PPS</a:t>
            </a:r>
            <a:r>
              <a:rPr kumimoji="1" lang="en-US" altLang="zh-CN" dirty="0">
                <a:sym typeface="+mn-ea"/>
              </a:rPr>
              <a:t>)</a:t>
            </a:r>
            <a:endParaRPr kumimoji="1" lang="zh-CN" altLang="en-US" dirty="0">
              <a:sym typeface="+mn-ea"/>
            </a:endParaRPr>
          </a:p>
          <a:p>
            <a:pPr lvl="1" algn="l">
              <a:lnSpc>
                <a:spcPct val="110000"/>
              </a:lnSpc>
              <a:spcBef>
                <a:spcPts val="0"/>
              </a:spcBef>
              <a:spcAft>
                <a:spcPts val="0"/>
              </a:spcAft>
              <a:buClrTx/>
              <a:buSzTx/>
              <a:buChar char="•"/>
            </a:pPr>
            <a:r>
              <a:rPr lang="zh-CN" altLang="en-US" sz="2200" dirty="0">
                <a:effectLst/>
                <a:cs typeface="微软雅黑" panose="020B0503020204020204" pitchFamily="34" charset="-122"/>
                <a:sym typeface="+mn-ea"/>
              </a:rPr>
              <a:t>全称是Packet Per Second</a:t>
            </a:r>
            <a:r>
              <a:rPr lang="en-US" altLang="zh-CN" sz="2200" dirty="0">
                <a:effectLst/>
                <a:cs typeface="微软雅黑" panose="020B0503020204020204" pitchFamily="34" charset="-122"/>
                <a:sym typeface="+mn-ea"/>
              </a:rPr>
              <a:t>(</a:t>
            </a:r>
            <a:r>
              <a:rPr lang="zh-CN" altLang="en-US" sz="2200" dirty="0">
                <a:effectLst/>
                <a:cs typeface="微软雅黑" panose="020B0503020204020204" pitchFamily="34" charset="-122"/>
                <a:sym typeface="+mn-ea"/>
              </a:rPr>
              <a:t>包/秒</a:t>
            </a:r>
            <a:r>
              <a:rPr lang="en-US" altLang="zh-CN" sz="2200" dirty="0">
                <a:effectLst/>
                <a:cs typeface="微软雅黑" panose="020B0503020204020204" pitchFamily="34" charset="-122"/>
                <a:sym typeface="+mn-ea"/>
              </a:rPr>
              <a:t>)</a:t>
            </a:r>
            <a:r>
              <a:rPr lang="zh-CN" altLang="en-US" sz="2200" dirty="0">
                <a:effectLst/>
                <a:cs typeface="微软雅黑" panose="020B0503020204020204" pitchFamily="34" charset="-122"/>
                <a:sym typeface="+mn-ea"/>
              </a:rPr>
              <a:t>，表示交换机或路由器等网络设备以包为单位的转发速率</a:t>
            </a:r>
          </a:p>
          <a:p>
            <a:pPr lvl="1" algn="l">
              <a:lnSpc>
                <a:spcPct val="110000"/>
              </a:lnSpc>
              <a:spcBef>
                <a:spcPts val="0"/>
              </a:spcBef>
              <a:spcAft>
                <a:spcPts val="0"/>
              </a:spcAft>
              <a:buClrTx/>
              <a:buSzTx/>
              <a:buChar char="•"/>
            </a:pPr>
            <a:r>
              <a:rPr lang="zh-CN" altLang="en-US" sz="2200" dirty="0">
                <a:solidFill>
                  <a:srgbClr val="C00000"/>
                </a:solidFill>
                <a:effectLst/>
                <a:cs typeface="微软雅黑" panose="020B0503020204020204" pitchFamily="34" charset="-122"/>
                <a:sym typeface="+mn-ea"/>
              </a:rPr>
              <a:t>线速转发</a:t>
            </a:r>
            <a:r>
              <a:rPr lang="zh-CN" altLang="en-US" sz="2200" dirty="0">
                <a:sym typeface="+mn-ea"/>
              </a:rPr>
              <a:t>：交换机</a:t>
            </a:r>
            <a:r>
              <a:rPr lang="zh-CN" altLang="en-US" sz="2200" dirty="0">
                <a:effectLst/>
                <a:cs typeface="微软雅黑" panose="020B0503020204020204" pitchFamily="34" charset="-122"/>
                <a:sym typeface="+mn-ea"/>
              </a:rPr>
              <a:t>端口在满负载的情况下，对帧进行转发时能够达到该端口线路的最高速度</a:t>
            </a:r>
          </a:p>
        </p:txBody>
      </p:sp>
      <p:sp>
        <p:nvSpPr>
          <p:cNvPr id="7" name="灯片编号占位符 6">
            <a:extLst>
              <a:ext uri="{FF2B5EF4-FFF2-40B4-BE49-F238E27FC236}">
                <a16:creationId xmlns:a16="http://schemas.microsoft.com/office/drawing/2014/main" id="{B82A368B-CB10-514F-9770-E91294615D70}"/>
              </a:ext>
            </a:extLst>
          </p:cNvPr>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grpSp>
        <p:nvGrpSpPr>
          <p:cNvPr id="6" name="组合 5"/>
          <p:cNvGrpSpPr/>
          <p:nvPr/>
        </p:nvGrpSpPr>
        <p:grpSpPr>
          <a:xfrm>
            <a:off x="7222000" y="2121104"/>
            <a:ext cx="4612640" cy="2004060"/>
            <a:chOff x="11535" y="3329"/>
            <a:chExt cx="7264" cy="3156"/>
          </a:xfrm>
        </p:grpSpPr>
        <p:cxnSp>
          <p:nvCxnSpPr>
            <p:cNvPr id="77837" name="Straight Connector 42"/>
            <p:cNvCxnSpPr/>
            <p:nvPr/>
          </p:nvCxnSpPr>
          <p:spPr>
            <a:xfrm flipV="1">
              <a:off x="12845" y="5817"/>
              <a:ext cx="1526" cy="7"/>
            </a:xfrm>
            <a:prstGeom prst="line">
              <a:avLst/>
            </a:prstGeom>
            <a:ln w="19050" cap="flat" cmpd="sng">
              <a:solidFill>
                <a:srgbClr val="000000"/>
              </a:solidFill>
              <a:prstDash val="solid"/>
              <a:round/>
              <a:headEnd type="none" w="med" len="med"/>
              <a:tailEnd type="none" w="med" len="med"/>
            </a:ln>
          </p:spPr>
        </p:cxnSp>
        <p:cxnSp>
          <p:nvCxnSpPr>
            <p:cNvPr id="77854" name="Straight Connector 47"/>
            <p:cNvCxnSpPr/>
            <p:nvPr/>
          </p:nvCxnSpPr>
          <p:spPr>
            <a:xfrm flipV="1">
              <a:off x="15399" y="5824"/>
              <a:ext cx="2737" cy="0"/>
            </a:xfrm>
            <a:prstGeom prst="line">
              <a:avLst/>
            </a:prstGeom>
            <a:ln w="19050" cap="flat" cmpd="sng">
              <a:solidFill>
                <a:srgbClr val="000000"/>
              </a:solidFill>
              <a:prstDash val="solid"/>
              <a:round/>
              <a:headEnd type="none" w="med" len="med"/>
              <a:tailEnd type="none" w="med" len="med"/>
            </a:ln>
          </p:spPr>
        </p:cxnSp>
        <p:grpSp>
          <p:nvGrpSpPr>
            <p:cNvPr id="5" name="组合 4"/>
            <p:cNvGrpSpPr/>
            <p:nvPr/>
          </p:nvGrpSpPr>
          <p:grpSpPr>
            <a:xfrm>
              <a:off x="14660" y="5111"/>
              <a:ext cx="975" cy="452"/>
              <a:chOff x="3168" y="4055"/>
              <a:chExt cx="975" cy="452"/>
            </a:xfrm>
          </p:grpSpPr>
          <p:sp>
            <p:nvSpPr>
              <p:cNvPr id="77859" name="TextBox 52"/>
              <p:cNvSpPr txBox="1"/>
              <p:nvPr/>
            </p:nvSpPr>
            <p:spPr>
              <a:xfrm>
                <a:off x="3773" y="4055"/>
                <a:ext cx="370" cy="443"/>
              </a:xfrm>
              <a:prstGeom prst="rect">
                <a:avLst/>
              </a:prstGeom>
              <a:noFill/>
              <a:ln w="9525">
                <a:noFill/>
              </a:ln>
            </p:spPr>
            <p:txBody>
              <a:bodyPr wrap="none" anchor="t">
                <a:spAutoFit/>
              </a:bodyPr>
              <a:lstStyle/>
              <a:p>
                <a:r>
                  <a:rPr lang="en-US" altLang="zh-CN" sz="1600">
                    <a:solidFill>
                      <a:srgbClr val="000000"/>
                    </a:solidFill>
                    <a:latin typeface="Calibri" panose="020F0502020204030204" pitchFamily="34" charset="0"/>
                  </a:rPr>
                  <a:t>1</a:t>
                </a:r>
              </a:p>
            </p:txBody>
          </p:sp>
          <p:sp>
            <p:nvSpPr>
              <p:cNvPr id="77860" name="TextBox 53"/>
              <p:cNvSpPr txBox="1"/>
              <p:nvPr/>
            </p:nvSpPr>
            <p:spPr>
              <a:xfrm>
                <a:off x="3463" y="4065"/>
                <a:ext cx="370" cy="443"/>
              </a:xfrm>
              <a:prstGeom prst="rect">
                <a:avLst/>
              </a:prstGeom>
              <a:noFill/>
              <a:ln w="9525">
                <a:noFill/>
              </a:ln>
            </p:spPr>
            <p:txBody>
              <a:bodyPr wrap="none" anchor="t">
                <a:spAutoFit/>
              </a:bodyPr>
              <a:lstStyle/>
              <a:p>
                <a:r>
                  <a:rPr lang="en-US" altLang="zh-CN" sz="1600">
                    <a:solidFill>
                      <a:srgbClr val="000000"/>
                    </a:solidFill>
                    <a:latin typeface="Calibri" panose="020F0502020204030204" pitchFamily="34" charset="0"/>
                  </a:rPr>
                  <a:t>2</a:t>
                </a:r>
              </a:p>
            </p:txBody>
          </p:sp>
          <p:sp>
            <p:nvSpPr>
              <p:cNvPr id="77861" name="TextBox 54"/>
              <p:cNvSpPr txBox="1"/>
              <p:nvPr/>
            </p:nvSpPr>
            <p:spPr>
              <a:xfrm>
                <a:off x="3168" y="4060"/>
                <a:ext cx="370" cy="443"/>
              </a:xfrm>
              <a:prstGeom prst="rect">
                <a:avLst/>
              </a:prstGeom>
              <a:noFill/>
              <a:ln w="9525">
                <a:noFill/>
              </a:ln>
            </p:spPr>
            <p:txBody>
              <a:bodyPr wrap="none" anchor="t">
                <a:spAutoFit/>
              </a:bodyPr>
              <a:lstStyle/>
              <a:p>
                <a:r>
                  <a:rPr lang="en-US" altLang="zh-CN" sz="1600">
                    <a:solidFill>
                      <a:srgbClr val="000000"/>
                    </a:solidFill>
                    <a:latin typeface="Calibri" panose="020F0502020204030204" pitchFamily="34" charset="0"/>
                  </a:rPr>
                  <a:t>3</a:t>
                </a:r>
              </a:p>
            </p:txBody>
          </p:sp>
        </p:grpSp>
        <p:grpSp>
          <p:nvGrpSpPr>
            <p:cNvPr id="77862" name="Group 55"/>
            <p:cNvGrpSpPr/>
            <p:nvPr/>
          </p:nvGrpSpPr>
          <p:grpSpPr>
            <a:xfrm>
              <a:off x="14000" y="4020"/>
              <a:ext cx="3943" cy="1325"/>
              <a:chOff x="593766" y="5264055"/>
              <a:chExt cx="3597129" cy="1011695"/>
            </a:xfrm>
          </p:grpSpPr>
          <p:grpSp>
            <p:nvGrpSpPr>
              <p:cNvPr id="77863" name="Group 56"/>
              <p:cNvGrpSpPr/>
              <p:nvPr/>
            </p:nvGrpSpPr>
            <p:grpSpPr>
              <a:xfrm>
                <a:off x="3527077" y="5264055"/>
                <a:ext cx="617671" cy="927313"/>
                <a:chOff x="2105936" y="5387204"/>
                <a:chExt cx="617671" cy="927313"/>
              </a:xfrm>
            </p:grpSpPr>
            <p:sp>
              <p:nvSpPr>
                <p:cNvPr id="78" name="Rectangle 77"/>
                <p:cNvSpPr/>
                <p:nvPr/>
              </p:nvSpPr>
              <p:spPr>
                <a:xfrm>
                  <a:off x="2577155" y="6049578"/>
                  <a:ext cx="140072" cy="265331"/>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9" name="Freeform 78"/>
                <p:cNvSpPr/>
                <p:nvPr/>
              </p:nvSpPr>
              <p:spPr>
                <a:xfrm>
                  <a:off x="2110248" y="5705984"/>
                  <a:ext cx="466907" cy="608925"/>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0 w 967997"/>
                    <a:gd name="connsiteY0-2" fmla="*/ 0 h 2138362"/>
                    <a:gd name="connsiteX1-3" fmla="*/ 0 w 967997"/>
                    <a:gd name="connsiteY1-4" fmla="*/ 1190625 h 2138362"/>
                    <a:gd name="connsiteX2-5" fmla="*/ 966787 w 967997"/>
                    <a:gd name="connsiteY2-6" fmla="*/ 2138362 h 2138362"/>
                    <a:gd name="connsiteX3-7" fmla="*/ 967618 w 967997"/>
                    <a:gd name="connsiteY3-8" fmla="*/ 1495143 h 2138362"/>
                    <a:gd name="connsiteX4-9" fmla="*/ 0 w 967997"/>
                    <a:gd name="connsiteY4-10" fmla="*/ 0 h 2138362"/>
                    <a:gd name="connsiteX0-11" fmla="*/ 0 w 967997"/>
                    <a:gd name="connsiteY0-12" fmla="*/ 0 h 1424095"/>
                    <a:gd name="connsiteX1-13" fmla="*/ 0 w 967997"/>
                    <a:gd name="connsiteY1-14" fmla="*/ 476358 h 1424095"/>
                    <a:gd name="connsiteX2-15" fmla="*/ 966787 w 967997"/>
                    <a:gd name="connsiteY2-16" fmla="*/ 1424095 h 1424095"/>
                    <a:gd name="connsiteX3-17" fmla="*/ 967618 w 967997"/>
                    <a:gd name="connsiteY3-18" fmla="*/ 780876 h 1424095"/>
                    <a:gd name="connsiteX4-19" fmla="*/ 0 w 967997"/>
                    <a:gd name="connsiteY4-20" fmla="*/ 0 h 14240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7997" h="1424095">
                      <a:moveTo>
                        <a:pt x="0" y="0"/>
                      </a:moveTo>
                      <a:lnTo>
                        <a:pt x="0" y="476358"/>
                      </a:lnTo>
                      <a:lnTo>
                        <a:pt x="966787" y="1424095"/>
                      </a:lnTo>
                      <a:cubicBezTo>
                        <a:pt x="965200" y="958958"/>
                        <a:pt x="969205" y="1246013"/>
                        <a:pt x="967618" y="780876"/>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80" name="Freeform 79"/>
                <p:cNvSpPr/>
                <p:nvPr/>
              </p:nvSpPr>
              <p:spPr>
                <a:xfrm>
                  <a:off x="2106358" y="5688804"/>
                  <a:ext cx="616705" cy="355048"/>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 name="connsiteX0-161" fmla="*/ 233363 w 1277416"/>
                    <a:gd name="connsiteY0-162" fmla="*/ 0 h 813350"/>
                    <a:gd name="connsiteX1-163" fmla="*/ 0 w 1277416"/>
                    <a:gd name="connsiteY1-164" fmla="*/ 9439 h 813350"/>
                    <a:gd name="connsiteX2-165" fmla="*/ 952500 w 1277416"/>
                    <a:gd name="connsiteY2-166" fmla="*/ 752735 h 813350"/>
                    <a:gd name="connsiteX3-167" fmla="*/ 1277416 w 1277416"/>
                    <a:gd name="connsiteY3-168" fmla="*/ 813350 h 813350"/>
                    <a:gd name="connsiteX4-169" fmla="*/ 233363 w 1277416"/>
                    <a:gd name="connsiteY4-170" fmla="*/ 0 h 813350"/>
                    <a:gd name="connsiteX0-171" fmla="*/ 233363 w 1277416"/>
                    <a:gd name="connsiteY0-172" fmla="*/ 0 h 814795"/>
                    <a:gd name="connsiteX1-173" fmla="*/ 0 w 1277416"/>
                    <a:gd name="connsiteY1-174" fmla="*/ 9439 h 814795"/>
                    <a:gd name="connsiteX2-175" fmla="*/ 980474 w 1277416"/>
                    <a:gd name="connsiteY2-176" fmla="*/ 814795 h 814795"/>
                    <a:gd name="connsiteX3-177" fmla="*/ 1277416 w 1277416"/>
                    <a:gd name="connsiteY3-178" fmla="*/ 813350 h 814795"/>
                    <a:gd name="connsiteX4-179" fmla="*/ 233363 w 1277416"/>
                    <a:gd name="connsiteY4-180" fmla="*/ 0 h 8147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7416" h="814795">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81" name="Freeform 80"/>
                <p:cNvSpPr/>
                <p:nvPr/>
              </p:nvSpPr>
              <p:spPr>
                <a:xfrm>
                  <a:off x="2114139" y="5396749"/>
                  <a:ext cx="595306" cy="647102"/>
                </a:xfrm>
                <a:custGeom>
                  <a:avLst/>
                  <a:gdLst>
                    <a:gd name="connsiteX0" fmla="*/ 5411 w 597877"/>
                    <a:gd name="connsiteY0" fmla="*/ 13527 h 646573"/>
                    <a:gd name="connsiteX1" fmla="*/ 0 w 597877"/>
                    <a:gd name="connsiteY1" fmla="*/ 305702 h 646573"/>
                    <a:gd name="connsiteX2" fmla="*/ 457200 w 597877"/>
                    <a:gd name="connsiteY2" fmla="*/ 646573 h 646573"/>
                    <a:gd name="connsiteX3" fmla="*/ 597877 w 597877"/>
                    <a:gd name="connsiteY3" fmla="*/ 646573 h 646573"/>
                    <a:gd name="connsiteX4" fmla="*/ 595172 w 597877"/>
                    <a:gd name="connsiteY4" fmla="*/ 321934 h 646573"/>
                    <a:gd name="connsiteX5" fmla="*/ 110919 w 597877"/>
                    <a:gd name="connsiteY5" fmla="*/ 0 h 646573"/>
                    <a:gd name="connsiteX6" fmla="*/ 5411 w 597877"/>
                    <a:gd name="connsiteY6" fmla="*/ 13527 h 64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77" h="646573">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w="12700" cap="flat" cmpd="sng" algn="ctr">
                  <a:solidFill>
                    <a:sysClr val="windowText" lastClr="000000"/>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cxnSp>
              <p:nvCxnSpPr>
                <p:cNvPr id="77868" name="Straight Connector 81"/>
                <p:cNvCxnSpPr>
                  <a:stCxn id="81" idx="0"/>
                </p:cNvCxnSpPr>
                <p:nvPr/>
              </p:nvCxnSpPr>
              <p:spPr>
                <a:xfrm>
                  <a:off x="2118270" y="5410651"/>
                  <a:ext cx="446379" cy="311112"/>
                </a:xfrm>
                <a:prstGeom prst="line">
                  <a:avLst/>
                </a:prstGeom>
                <a:ln w="12700" cap="flat" cmpd="sng">
                  <a:solidFill>
                    <a:srgbClr val="000000"/>
                  </a:solidFill>
                  <a:prstDash val="sysDash"/>
                  <a:round/>
                  <a:headEnd type="none" w="med" len="med"/>
                  <a:tailEnd type="none" w="med" len="med"/>
                </a:ln>
              </p:spPr>
            </p:cxnSp>
            <p:cxnSp>
              <p:nvCxnSpPr>
                <p:cNvPr id="77869" name="Straight Connector 82"/>
                <p:cNvCxnSpPr>
                  <a:stCxn id="81" idx="0"/>
                  <a:endCxn id="81" idx="4"/>
                </p:cNvCxnSpPr>
                <p:nvPr/>
              </p:nvCxnSpPr>
              <p:spPr>
                <a:xfrm flipV="1">
                  <a:off x="2567354" y="5719058"/>
                  <a:ext cx="140677" cy="2705"/>
                </a:xfrm>
                <a:prstGeom prst="line">
                  <a:avLst/>
                </a:prstGeom>
                <a:ln w="12700" cap="flat" cmpd="sng">
                  <a:solidFill>
                    <a:srgbClr val="000000"/>
                  </a:solidFill>
                  <a:prstDash val="sysDash"/>
                  <a:round/>
                  <a:headEnd type="none" w="med" len="med"/>
                  <a:tailEnd type="none" w="med" len="med"/>
                </a:ln>
              </p:spPr>
            </p:cxnSp>
            <p:cxnSp>
              <p:nvCxnSpPr>
                <p:cNvPr id="77870" name="Straight Connector 83"/>
                <p:cNvCxnSpPr>
                  <a:stCxn id="81" idx="0"/>
                  <a:endCxn id="81" idx="2"/>
                </p:cNvCxnSpPr>
                <p:nvPr/>
              </p:nvCxnSpPr>
              <p:spPr>
                <a:xfrm flipH="1">
                  <a:off x="2570059" y="5721763"/>
                  <a:ext cx="2705" cy="321934"/>
                </a:xfrm>
                <a:prstGeom prst="line">
                  <a:avLst/>
                </a:prstGeom>
                <a:ln w="12700" cap="flat" cmpd="sng">
                  <a:solidFill>
                    <a:srgbClr val="000000"/>
                  </a:solidFill>
                  <a:prstDash val="sysDash"/>
                  <a:round/>
                  <a:headEnd type="none" w="med" len="med"/>
                  <a:tailEnd type="none" w="med" len="med"/>
                </a:ln>
              </p:spPr>
            </p:cxnSp>
            <p:cxnSp>
              <p:nvCxnSpPr>
                <p:cNvPr id="77871" name="Straight Connector 84"/>
                <p:cNvCxnSpPr>
                  <a:stCxn id="81" idx="0"/>
                  <a:endCxn id="81" idx="2"/>
                </p:cNvCxnSpPr>
                <p:nvPr/>
              </p:nvCxnSpPr>
              <p:spPr>
                <a:xfrm flipH="1">
                  <a:off x="2221974" y="5387204"/>
                  <a:ext cx="2705" cy="321934"/>
                </a:xfrm>
                <a:prstGeom prst="line">
                  <a:avLst/>
                </a:prstGeom>
                <a:ln w="12700" cap="flat" cmpd="sng">
                  <a:solidFill>
                    <a:srgbClr val="000000"/>
                  </a:solidFill>
                  <a:prstDash val="sysDash"/>
                  <a:round/>
                  <a:headEnd type="none" w="med" len="med"/>
                  <a:tailEnd type="none" w="med" len="med"/>
                </a:ln>
              </p:spPr>
            </p:cxnSp>
          </p:grpSp>
          <p:grpSp>
            <p:nvGrpSpPr>
              <p:cNvPr id="77872" name="Group 57"/>
              <p:cNvGrpSpPr/>
              <p:nvPr/>
            </p:nvGrpSpPr>
            <p:grpSpPr>
              <a:xfrm>
                <a:off x="1326802" y="5273580"/>
                <a:ext cx="617671" cy="927313"/>
                <a:chOff x="2105936" y="5387204"/>
                <a:chExt cx="617671" cy="927313"/>
              </a:xfrm>
            </p:grpSpPr>
            <p:sp>
              <p:nvSpPr>
                <p:cNvPr id="70" name="Freeform 69"/>
                <p:cNvSpPr/>
                <p:nvPr/>
              </p:nvSpPr>
              <p:spPr>
                <a:xfrm>
                  <a:off x="2110224" y="5706003"/>
                  <a:ext cx="466907" cy="60892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0 w 967997"/>
                    <a:gd name="connsiteY0-2" fmla="*/ 0 h 2138362"/>
                    <a:gd name="connsiteX1-3" fmla="*/ 0 w 967997"/>
                    <a:gd name="connsiteY1-4" fmla="*/ 1190625 h 2138362"/>
                    <a:gd name="connsiteX2-5" fmla="*/ 966787 w 967997"/>
                    <a:gd name="connsiteY2-6" fmla="*/ 2138362 h 2138362"/>
                    <a:gd name="connsiteX3-7" fmla="*/ 967618 w 967997"/>
                    <a:gd name="connsiteY3-8" fmla="*/ 1495143 h 2138362"/>
                    <a:gd name="connsiteX4-9" fmla="*/ 0 w 967997"/>
                    <a:gd name="connsiteY4-10" fmla="*/ 0 h 2138362"/>
                    <a:gd name="connsiteX0-11" fmla="*/ 0 w 967997"/>
                    <a:gd name="connsiteY0-12" fmla="*/ 0 h 1424095"/>
                    <a:gd name="connsiteX1-13" fmla="*/ 0 w 967997"/>
                    <a:gd name="connsiteY1-14" fmla="*/ 476358 h 1424095"/>
                    <a:gd name="connsiteX2-15" fmla="*/ 966787 w 967997"/>
                    <a:gd name="connsiteY2-16" fmla="*/ 1424095 h 1424095"/>
                    <a:gd name="connsiteX3-17" fmla="*/ 967618 w 967997"/>
                    <a:gd name="connsiteY3-18" fmla="*/ 780876 h 1424095"/>
                    <a:gd name="connsiteX4-19" fmla="*/ 0 w 967997"/>
                    <a:gd name="connsiteY4-20" fmla="*/ 0 h 14240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7997" h="1424095">
                      <a:moveTo>
                        <a:pt x="0" y="0"/>
                      </a:moveTo>
                      <a:lnTo>
                        <a:pt x="0" y="476358"/>
                      </a:lnTo>
                      <a:lnTo>
                        <a:pt x="966787" y="1424095"/>
                      </a:lnTo>
                      <a:cubicBezTo>
                        <a:pt x="965200" y="958958"/>
                        <a:pt x="969205" y="1246013"/>
                        <a:pt x="967618" y="780876"/>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1" name="Freeform 70"/>
                <p:cNvSpPr/>
                <p:nvPr/>
              </p:nvSpPr>
              <p:spPr>
                <a:xfrm>
                  <a:off x="2106333" y="5688824"/>
                  <a:ext cx="616707" cy="355048"/>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 name="connsiteX0-161" fmla="*/ 233363 w 1277416"/>
                    <a:gd name="connsiteY0-162" fmla="*/ 0 h 813350"/>
                    <a:gd name="connsiteX1-163" fmla="*/ 0 w 1277416"/>
                    <a:gd name="connsiteY1-164" fmla="*/ 9439 h 813350"/>
                    <a:gd name="connsiteX2-165" fmla="*/ 952500 w 1277416"/>
                    <a:gd name="connsiteY2-166" fmla="*/ 752735 h 813350"/>
                    <a:gd name="connsiteX3-167" fmla="*/ 1277416 w 1277416"/>
                    <a:gd name="connsiteY3-168" fmla="*/ 813350 h 813350"/>
                    <a:gd name="connsiteX4-169" fmla="*/ 233363 w 1277416"/>
                    <a:gd name="connsiteY4-170" fmla="*/ 0 h 813350"/>
                    <a:gd name="connsiteX0-171" fmla="*/ 233363 w 1277416"/>
                    <a:gd name="connsiteY0-172" fmla="*/ 0 h 814795"/>
                    <a:gd name="connsiteX1-173" fmla="*/ 0 w 1277416"/>
                    <a:gd name="connsiteY1-174" fmla="*/ 9439 h 814795"/>
                    <a:gd name="connsiteX2-175" fmla="*/ 980474 w 1277416"/>
                    <a:gd name="connsiteY2-176" fmla="*/ 814795 h 814795"/>
                    <a:gd name="connsiteX3-177" fmla="*/ 1277416 w 1277416"/>
                    <a:gd name="connsiteY3-178" fmla="*/ 813350 h 814795"/>
                    <a:gd name="connsiteX4-179" fmla="*/ 233363 w 1277416"/>
                    <a:gd name="connsiteY4-180" fmla="*/ 0 h 81479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7416" h="814795">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2" name="Rectangle 71"/>
                <p:cNvSpPr/>
                <p:nvPr/>
              </p:nvSpPr>
              <p:spPr>
                <a:xfrm>
                  <a:off x="2577131" y="6049598"/>
                  <a:ext cx="140072" cy="265332"/>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73" name="Freeform 72"/>
                <p:cNvSpPr/>
                <p:nvPr/>
              </p:nvSpPr>
              <p:spPr>
                <a:xfrm>
                  <a:off x="2114115" y="5396768"/>
                  <a:ext cx="595306" cy="647103"/>
                </a:xfrm>
                <a:custGeom>
                  <a:avLst/>
                  <a:gdLst>
                    <a:gd name="connsiteX0" fmla="*/ 5411 w 597877"/>
                    <a:gd name="connsiteY0" fmla="*/ 13527 h 646573"/>
                    <a:gd name="connsiteX1" fmla="*/ 0 w 597877"/>
                    <a:gd name="connsiteY1" fmla="*/ 305702 h 646573"/>
                    <a:gd name="connsiteX2" fmla="*/ 457200 w 597877"/>
                    <a:gd name="connsiteY2" fmla="*/ 646573 h 646573"/>
                    <a:gd name="connsiteX3" fmla="*/ 597877 w 597877"/>
                    <a:gd name="connsiteY3" fmla="*/ 646573 h 646573"/>
                    <a:gd name="connsiteX4" fmla="*/ 595172 w 597877"/>
                    <a:gd name="connsiteY4" fmla="*/ 321934 h 646573"/>
                    <a:gd name="connsiteX5" fmla="*/ 110919 w 597877"/>
                    <a:gd name="connsiteY5" fmla="*/ 0 h 646573"/>
                    <a:gd name="connsiteX6" fmla="*/ 5411 w 597877"/>
                    <a:gd name="connsiteY6" fmla="*/ 13527 h 64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877" h="646573">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w="12700" cap="flat" cmpd="sng" algn="ctr">
                  <a:solidFill>
                    <a:sysClr val="windowText" lastClr="000000"/>
                  </a:solidFill>
                  <a:prstDash val="sysDash"/>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cxnSp>
              <p:nvCxnSpPr>
                <p:cNvPr id="77877" name="Straight Connector 73"/>
                <p:cNvCxnSpPr>
                  <a:stCxn id="73" idx="0"/>
                  <a:endCxn id="81" idx="2"/>
                </p:cNvCxnSpPr>
                <p:nvPr/>
              </p:nvCxnSpPr>
              <p:spPr>
                <a:xfrm>
                  <a:off x="2118270" y="5410651"/>
                  <a:ext cx="446379" cy="311112"/>
                </a:xfrm>
                <a:prstGeom prst="line">
                  <a:avLst/>
                </a:prstGeom>
                <a:ln w="12700" cap="flat" cmpd="sng">
                  <a:solidFill>
                    <a:srgbClr val="000000"/>
                  </a:solidFill>
                  <a:prstDash val="sysDash"/>
                  <a:round/>
                  <a:headEnd type="none" w="med" len="med"/>
                  <a:tailEnd type="none" w="med" len="med"/>
                </a:ln>
              </p:spPr>
            </p:cxnSp>
            <p:cxnSp>
              <p:nvCxnSpPr>
                <p:cNvPr id="77878" name="Straight Connector 74"/>
                <p:cNvCxnSpPr>
                  <a:stCxn id="73" idx="0"/>
                  <a:endCxn id="73" idx="4"/>
                </p:cNvCxnSpPr>
                <p:nvPr/>
              </p:nvCxnSpPr>
              <p:spPr>
                <a:xfrm flipV="1">
                  <a:off x="2567354" y="5719058"/>
                  <a:ext cx="140677" cy="2705"/>
                </a:xfrm>
                <a:prstGeom prst="line">
                  <a:avLst/>
                </a:prstGeom>
                <a:ln w="12700" cap="flat" cmpd="sng">
                  <a:solidFill>
                    <a:srgbClr val="000000"/>
                  </a:solidFill>
                  <a:prstDash val="sysDash"/>
                  <a:round/>
                  <a:headEnd type="none" w="med" len="med"/>
                  <a:tailEnd type="none" w="med" len="med"/>
                </a:ln>
              </p:spPr>
            </p:cxnSp>
            <p:cxnSp>
              <p:nvCxnSpPr>
                <p:cNvPr id="77879" name="Straight Connector 75"/>
                <p:cNvCxnSpPr>
                  <a:stCxn id="73" idx="0"/>
                  <a:endCxn id="73" idx="2"/>
                </p:cNvCxnSpPr>
                <p:nvPr/>
              </p:nvCxnSpPr>
              <p:spPr>
                <a:xfrm flipH="1">
                  <a:off x="2570059" y="5721763"/>
                  <a:ext cx="2705" cy="321934"/>
                </a:xfrm>
                <a:prstGeom prst="line">
                  <a:avLst/>
                </a:prstGeom>
                <a:ln w="12700" cap="flat" cmpd="sng">
                  <a:solidFill>
                    <a:srgbClr val="000000"/>
                  </a:solidFill>
                  <a:prstDash val="sysDash"/>
                  <a:round/>
                  <a:headEnd type="none" w="med" len="med"/>
                  <a:tailEnd type="none" w="med" len="med"/>
                </a:ln>
              </p:spPr>
            </p:cxnSp>
            <p:cxnSp>
              <p:nvCxnSpPr>
                <p:cNvPr id="77880" name="Straight Connector 76"/>
                <p:cNvCxnSpPr>
                  <a:stCxn id="73" idx="0"/>
                  <a:endCxn id="73" idx="2"/>
                </p:cNvCxnSpPr>
                <p:nvPr/>
              </p:nvCxnSpPr>
              <p:spPr>
                <a:xfrm flipH="1">
                  <a:off x="2221974" y="5387204"/>
                  <a:ext cx="2705" cy="321934"/>
                </a:xfrm>
                <a:prstGeom prst="line">
                  <a:avLst/>
                </a:prstGeom>
                <a:ln w="12700" cap="flat" cmpd="sng">
                  <a:solidFill>
                    <a:srgbClr val="000000"/>
                  </a:solidFill>
                  <a:prstDash val="sysDash"/>
                  <a:round/>
                  <a:headEnd type="none" w="med" len="med"/>
                  <a:tailEnd type="none" w="med" len="med"/>
                </a:ln>
              </p:spPr>
            </p:cxnSp>
          </p:grpSp>
          <p:grpSp>
            <p:nvGrpSpPr>
              <p:cNvPr id="77881" name="Group 58"/>
              <p:cNvGrpSpPr/>
              <p:nvPr/>
            </p:nvGrpSpPr>
            <p:grpSpPr>
              <a:xfrm>
                <a:off x="971797" y="5294415"/>
                <a:ext cx="605641" cy="915203"/>
                <a:chOff x="335231" y="4405745"/>
                <a:chExt cx="1252537" cy="2138362"/>
              </a:xfrm>
            </p:grpSpPr>
            <p:sp>
              <p:nvSpPr>
                <p:cNvPr id="67" name="Freeform 66"/>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8" name="Freeform 67"/>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9" name="Rectangle 68"/>
                <p:cNvSpPr/>
                <p:nvPr/>
              </p:nvSpPr>
              <p:spPr>
                <a:xfrm>
                  <a:off x="1299580" y="5177755"/>
                  <a:ext cx="289686" cy="1351386"/>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sp>
            <p:nvSpPr>
              <p:cNvPr id="60" name="Rectangle 59"/>
              <p:cNvSpPr/>
              <p:nvPr/>
            </p:nvSpPr>
            <p:spPr>
              <a:xfrm>
                <a:off x="1838851" y="6126859"/>
                <a:ext cx="2180844" cy="64901"/>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1" name="Right Arrow 60"/>
              <p:cNvSpPr/>
              <p:nvPr/>
            </p:nvSpPr>
            <p:spPr>
              <a:xfrm>
                <a:off x="2556720" y="6056232"/>
                <a:ext cx="266527" cy="219518"/>
              </a:xfrm>
              <a:prstGeom prst="rightArrow">
                <a:avLst>
                  <a:gd name="adj1" fmla="val 13889"/>
                  <a:gd name="adj2" fmla="val 53704"/>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77887" name="Group 61"/>
              <p:cNvGrpSpPr/>
              <p:nvPr/>
            </p:nvGrpSpPr>
            <p:grpSpPr>
              <a:xfrm>
                <a:off x="593766" y="5284519"/>
                <a:ext cx="605641" cy="915203"/>
                <a:chOff x="335231" y="4405745"/>
                <a:chExt cx="1252537" cy="2138362"/>
              </a:xfrm>
            </p:grpSpPr>
            <p:sp>
              <p:nvSpPr>
                <p:cNvPr id="64" name="Freeform 63"/>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5" name="Freeform 64"/>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1" fmla="*/ 928688 w 1895475"/>
                    <a:gd name="connsiteY0-2" fmla="*/ 0 h 2138362"/>
                    <a:gd name="connsiteX1-3" fmla="*/ 0 w 1895475"/>
                    <a:gd name="connsiteY1-4" fmla="*/ 461963 h 2138362"/>
                    <a:gd name="connsiteX2-5" fmla="*/ 1895475 w 1895475"/>
                    <a:gd name="connsiteY2-6" fmla="*/ 2138362 h 2138362"/>
                    <a:gd name="connsiteX3-7" fmla="*/ 1890713 w 1895475"/>
                    <a:gd name="connsiteY3-8" fmla="*/ 742950 h 2138362"/>
                    <a:gd name="connsiteX4-9" fmla="*/ 928688 w 1895475"/>
                    <a:gd name="connsiteY4-10" fmla="*/ 0 h 2138362"/>
                    <a:gd name="connsiteX0-11" fmla="*/ 247650 w 1895475"/>
                    <a:gd name="connsiteY0-12" fmla="*/ 0 h 1738312"/>
                    <a:gd name="connsiteX1-13" fmla="*/ 0 w 1895475"/>
                    <a:gd name="connsiteY1-14" fmla="*/ 61913 h 1738312"/>
                    <a:gd name="connsiteX2-15" fmla="*/ 1895475 w 1895475"/>
                    <a:gd name="connsiteY2-16" fmla="*/ 1738312 h 1738312"/>
                    <a:gd name="connsiteX3-17" fmla="*/ 1890713 w 1895475"/>
                    <a:gd name="connsiteY3-18" fmla="*/ 342900 h 1738312"/>
                    <a:gd name="connsiteX4-19" fmla="*/ 247650 w 1895475"/>
                    <a:gd name="connsiteY4-20" fmla="*/ 0 h 1738312"/>
                    <a:gd name="connsiteX0-21" fmla="*/ 247650 w 1895475"/>
                    <a:gd name="connsiteY0-22" fmla="*/ 0 h 1738312"/>
                    <a:gd name="connsiteX1-23" fmla="*/ 0 w 1895475"/>
                    <a:gd name="connsiteY1-24" fmla="*/ 61913 h 1738312"/>
                    <a:gd name="connsiteX2-25" fmla="*/ 1895475 w 1895475"/>
                    <a:gd name="connsiteY2-26" fmla="*/ 1738312 h 1738312"/>
                    <a:gd name="connsiteX3-27" fmla="*/ 1143000 w 1895475"/>
                    <a:gd name="connsiteY3-28" fmla="*/ 776288 h 1738312"/>
                    <a:gd name="connsiteX4-29" fmla="*/ 247650 w 1895475"/>
                    <a:gd name="connsiteY4-30" fmla="*/ 0 h 1738312"/>
                    <a:gd name="connsiteX0-31" fmla="*/ 247650 w 1895475"/>
                    <a:gd name="connsiteY0-32" fmla="*/ 0 h 1738312"/>
                    <a:gd name="connsiteX1-33" fmla="*/ 0 w 1895475"/>
                    <a:gd name="connsiteY1-34" fmla="*/ 61913 h 1738312"/>
                    <a:gd name="connsiteX2-35" fmla="*/ 1895475 w 1895475"/>
                    <a:gd name="connsiteY2-36" fmla="*/ 1738312 h 1738312"/>
                    <a:gd name="connsiteX3-37" fmla="*/ 1143000 w 1895475"/>
                    <a:gd name="connsiteY3-38" fmla="*/ 776288 h 1738312"/>
                    <a:gd name="connsiteX4-39" fmla="*/ 247650 w 1895475"/>
                    <a:gd name="connsiteY4-40" fmla="*/ 0 h 1738312"/>
                    <a:gd name="connsiteX0-41" fmla="*/ 247650 w 1895475"/>
                    <a:gd name="connsiteY0-42" fmla="*/ 0 h 1738312"/>
                    <a:gd name="connsiteX1-43" fmla="*/ 0 w 1895475"/>
                    <a:gd name="connsiteY1-44" fmla="*/ 61913 h 1738312"/>
                    <a:gd name="connsiteX2-45" fmla="*/ 1895475 w 1895475"/>
                    <a:gd name="connsiteY2-46" fmla="*/ 1738312 h 1738312"/>
                    <a:gd name="connsiteX3-47" fmla="*/ 1238250 w 1895475"/>
                    <a:gd name="connsiteY3-48" fmla="*/ 814388 h 1738312"/>
                    <a:gd name="connsiteX4-49" fmla="*/ 247650 w 1895475"/>
                    <a:gd name="connsiteY4-50" fmla="*/ 0 h 1738312"/>
                    <a:gd name="connsiteX0-51" fmla="*/ 247650 w 1895475"/>
                    <a:gd name="connsiteY0-52" fmla="*/ 0 h 1738312"/>
                    <a:gd name="connsiteX1-53" fmla="*/ 0 w 1895475"/>
                    <a:gd name="connsiteY1-54" fmla="*/ 61913 h 1738312"/>
                    <a:gd name="connsiteX2-55" fmla="*/ 1895475 w 1895475"/>
                    <a:gd name="connsiteY2-56" fmla="*/ 1738312 h 1738312"/>
                    <a:gd name="connsiteX3-57" fmla="*/ 1238250 w 1895475"/>
                    <a:gd name="connsiteY3-58" fmla="*/ 814388 h 1738312"/>
                    <a:gd name="connsiteX4-59" fmla="*/ 247650 w 1895475"/>
                    <a:gd name="connsiteY4-60" fmla="*/ 0 h 1738312"/>
                    <a:gd name="connsiteX0-61" fmla="*/ 247650 w 1238250"/>
                    <a:gd name="connsiteY0-62" fmla="*/ 0 h 862012"/>
                    <a:gd name="connsiteX1-63" fmla="*/ 0 w 1238250"/>
                    <a:gd name="connsiteY1-64" fmla="*/ 61913 h 862012"/>
                    <a:gd name="connsiteX2-65" fmla="*/ 947738 w 1238250"/>
                    <a:gd name="connsiteY2-66" fmla="*/ 862012 h 862012"/>
                    <a:gd name="connsiteX3-67" fmla="*/ 1238250 w 1238250"/>
                    <a:gd name="connsiteY3-68" fmla="*/ 814388 h 862012"/>
                    <a:gd name="connsiteX4-69" fmla="*/ 247650 w 1238250"/>
                    <a:gd name="connsiteY4-70" fmla="*/ 0 h 862012"/>
                    <a:gd name="connsiteX0-71" fmla="*/ 247650 w 1238250"/>
                    <a:gd name="connsiteY0-72" fmla="*/ 0 h 823912"/>
                    <a:gd name="connsiteX1-73" fmla="*/ 0 w 1238250"/>
                    <a:gd name="connsiteY1-74" fmla="*/ 61913 h 823912"/>
                    <a:gd name="connsiteX2-75" fmla="*/ 952500 w 1238250"/>
                    <a:gd name="connsiteY2-76" fmla="*/ 823912 h 823912"/>
                    <a:gd name="connsiteX3-77" fmla="*/ 1238250 w 1238250"/>
                    <a:gd name="connsiteY3-78" fmla="*/ 814388 h 823912"/>
                    <a:gd name="connsiteX4-79" fmla="*/ 247650 w 1238250"/>
                    <a:gd name="connsiteY4-80" fmla="*/ 0 h 823912"/>
                    <a:gd name="connsiteX0-81" fmla="*/ 247650 w 1238250"/>
                    <a:gd name="connsiteY0-82" fmla="*/ 0 h 823912"/>
                    <a:gd name="connsiteX1-83" fmla="*/ 0 w 1238250"/>
                    <a:gd name="connsiteY1-84" fmla="*/ 61913 h 823912"/>
                    <a:gd name="connsiteX2-85" fmla="*/ 952500 w 1238250"/>
                    <a:gd name="connsiteY2-86" fmla="*/ 823912 h 823912"/>
                    <a:gd name="connsiteX3-87" fmla="*/ 1238250 w 1238250"/>
                    <a:gd name="connsiteY3-88" fmla="*/ 814388 h 823912"/>
                    <a:gd name="connsiteX4-89" fmla="*/ 247650 w 1238250"/>
                    <a:gd name="connsiteY4-90" fmla="*/ 0 h 823912"/>
                    <a:gd name="connsiteX0-91" fmla="*/ 233363 w 1238250"/>
                    <a:gd name="connsiteY0-92" fmla="*/ 0 h 766762"/>
                    <a:gd name="connsiteX1-93" fmla="*/ 0 w 1238250"/>
                    <a:gd name="connsiteY1-94" fmla="*/ 4763 h 766762"/>
                    <a:gd name="connsiteX2-95" fmla="*/ 952500 w 1238250"/>
                    <a:gd name="connsiteY2-96" fmla="*/ 766762 h 766762"/>
                    <a:gd name="connsiteX3-97" fmla="*/ 1238250 w 1238250"/>
                    <a:gd name="connsiteY3-98" fmla="*/ 757238 h 766762"/>
                    <a:gd name="connsiteX4-99" fmla="*/ 233363 w 1238250"/>
                    <a:gd name="connsiteY4-100" fmla="*/ 0 h 766762"/>
                    <a:gd name="connsiteX0-101" fmla="*/ 233363 w 1238250"/>
                    <a:gd name="connsiteY0-102" fmla="*/ 0 h 773376"/>
                    <a:gd name="connsiteX1-103" fmla="*/ 0 w 1238250"/>
                    <a:gd name="connsiteY1-104" fmla="*/ 4763 h 773376"/>
                    <a:gd name="connsiteX2-105" fmla="*/ 952500 w 1238250"/>
                    <a:gd name="connsiteY2-106" fmla="*/ 766762 h 773376"/>
                    <a:gd name="connsiteX3-107" fmla="*/ 1238250 w 1238250"/>
                    <a:gd name="connsiteY3-108" fmla="*/ 771525 h 773376"/>
                    <a:gd name="connsiteX4-109" fmla="*/ 233363 w 1238250"/>
                    <a:gd name="connsiteY4-110" fmla="*/ 0 h 773376"/>
                    <a:gd name="connsiteX0-111" fmla="*/ 233363 w 1238250"/>
                    <a:gd name="connsiteY0-112" fmla="*/ 0 h 766762"/>
                    <a:gd name="connsiteX1-113" fmla="*/ 0 w 1238250"/>
                    <a:gd name="connsiteY1-114" fmla="*/ 4763 h 766762"/>
                    <a:gd name="connsiteX2-115" fmla="*/ 952500 w 1238250"/>
                    <a:gd name="connsiteY2-116" fmla="*/ 766762 h 766762"/>
                    <a:gd name="connsiteX3-117" fmla="*/ 1238250 w 1238250"/>
                    <a:gd name="connsiteY3-118" fmla="*/ 757236 h 766762"/>
                    <a:gd name="connsiteX4-119" fmla="*/ 233363 w 1238250"/>
                    <a:gd name="connsiteY4-120" fmla="*/ 0 h 766762"/>
                    <a:gd name="connsiteX0-121" fmla="*/ 233363 w 1238250"/>
                    <a:gd name="connsiteY0-122" fmla="*/ 0 h 773375"/>
                    <a:gd name="connsiteX1-123" fmla="*/ 0 w 1238250"/>
                    <a:gd name="connsiteY1-124" fmla="*/ 4763 h 773375"/>
                    <a:gd name="connsiteX2-125" fmla="*/ 952500 w 1238250"/>
                    <a:gd name="connsiteY2-126" fmla="*/ 766762 h 773375"/>
                    <a:gd name="connsiteX3-127" fmla="*/ 1238250 w 1238250"/>
                    <a:gd name="connsiteY3-128" fmla="*/ 771523 h 773375"/>
                    <a:gd name="connsiteX4-129" fmla="*/ 233363 w 1238250"/>
                    <a:gd name="connsiteY4-130" fmla="*/ 0 h 773375"/>
                    <a:gd name="connsiteX0-131" fmla="*/ 233363 w 1238250"/>
                    <a:gd name="connsiteY0-132" fmla="*/ 0 h 771523"/>
                    <a:gd name="connsiteX1-133" fmla="*/ 0 w 1238250"/>
                    <a:gd name="connsiteY1-134" fmla="*/ 4763 h 771523"/>
                    <a:gd name="connsiteX2-135" fmla="*/ 952500 w 1238250"/>
                    <a:gd name="connsiteY2-136" fmla="*/ 766762 h 771523"/>
                    <a:gd name="connsiteX3-137" fmla="*/ 1238250 w 1238250"/>
                    <a:gd name="connsiteY3-138" fmla="*/ 771523 h 771523"/>
                    <a:gd name="connsiteX4-139" fmla="*/ 233363 w 1238250"/>
                    <a:gd name="connsiteY4-140" fmla="*/ 0 h 771523"/>
                    <a:gd name="connsiteX0-141" fmla="*/ 233363 w 1238250"/>
                    <a:gd name="connsiteY0-142" fmla="*/ 0 h 771523"/>
                    <a:gd name="connsiteX1-143" fmla="*/ 0 w 1238250"/>
                    <a:gd name="connsiteY1-144" fmla="*/ 23466 h 771523"/>
                    <a:gd name="connsiteX2-145" fmla="*/ 952500 w 1238250"/>
                    <a:gd name="connsiteY2-146" fmla="*/ 766762 h 771523"/>
                    <a:gd name="connsiteX3-147" fmla="*/ 1238250 w 1238250"/>
                    <a:gd name="connsiteY3-148" fmla="*/ 771523 h 771523"/>
                    <a:gd name="connsiteX4-149" fmla="*/ 233363 w 1238250"/>
                    <a:gd name="connsiteY4-150" fmla="*/ 0 h 771523"/>
                    <a:gd name="connsiteX0-151" fmla="*/ 233363 w 1238250"/>
                    <a:gd name="connsiteY0-152" fmla="*/ 0 h 757496"/>
                    <a:gd name="connsiteX1-153" fmla="*/ 0 w 1238250"/>
                    <a:gd name="connsiteY1-154" fmla="*/ 9439 h 757496"/>
                    <a:gd name="connsiteX2-155" fmla="*/ 952500 w 1238250"/>
                    <a:gd name="connsiteY2-156" fmla="*/ 752735 h 757496"/>
                    <a:gd name="connsiteX3-157" fmla="*/ 1238250 w 1238250"/>
                    <a:gd name="connsiteY3-158" fmla="*/ 757496 h 757496"/>
                    <a:gd name="connsiteX4-159" fmla="*/ 233363 w 1238250"/>
                    <a:gd name="connsiteY4-160" fmla="*/ 0 h 75749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66" name="Rectangle 65"/>
                <p:cNvSpPr/>
                <p:nvPr/>
              </p:nvSpPr>
              <p:spPr>
                <a:xfrm>
                  <a:off x="1296825" y="5178575"/>
                  <a:ext cx="289686" cy="1351389"/>
                </a:xfrm>
                <a:prstGeom prst="rect">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sp>
            <p:nvSpPr>
              <p:cNvPr id="63" name="Right Arrow 62"/>
              <p:cNvSpPr/>
              <p:nvPr/>
            </p:nvSpPr>
            <p:spPr>
              <a:xfrm rot="16354074">
                <a:off x="3947347" y="5684790"/>
                <a:ext cx="267240" cy="219835"/>
              </a:xfrm>
              <a:prstGeom prst="rightArrow">
                <a:avLst>
                  <a:gd name="adj1" fmla="val 13889"/>
                  <a:gd name="adj2" fmla="val 53704"/>
                </a:avLst>
              </a:prstGeom>
              <a:solidFill>
                <a:srgbClr val="33CCFF"/>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77892" name="TextBox 101"/>
            <p:cNvSpPr txBox="1"/>
            <p:nvPr/>
          </p:nvSpPr>
          <p:spPr>
            <a:xfrm>
              <a:off x="13488" y="3329"/>
              <a:ext cx="3797" cy="487"/>
            </a:xfrm>
            <a:prstGeom prst="rect">
              <a:avLst/>
            </a:prstGeom>
            <a:noFill/>
            <a:ln w="9525">
              <a:noFill/>
            </a:ln>
          </p:spPr>
          <p:txBody>
            <a:bodyPr wrap="square" anchor="t">
              <a:spAutoFit/>
            </a:bodyPr>
            <a:lstStyle/>
            <a:p>
              <a:pPr>
                <a:lnSpc>
                  <a:spcPts val="1700"/>
                </a:lnSpc>
              </a:pPr>
              <a:r>
                <a:rPr lang="en-US" altLang="zh-CN" sz="2400" i="1" dirty="0">
                  <a:solidFill>
                    <a:srgbClr val="000000"/>
                  </a:solidFill>
                  <a:latin typeface="Times New Roman" panose="02020603050405020304" pitchFamily="18" charset="0"/>
                  <a:cs typeface="Times New Roman" panose="02020603050405020304" pitchFamily="18" charset="0"/>
                </a:rPr>
                <a:t>L</a:t>
              </a:r>
              <a:r>
                <a:rPr lang="en-US" altLang="zh-CN" sz="2400" dirty="0">
                  <a:solidFill>
                    <a:srgbClr val="000000"/>
                  </a:solidFill>
                  <a:latin typeface="Times New Roman" panose="02020603050405020304" pitchFamily="18" charset="0"/>
                  <a:cs typeface="Times New Roman" panose="02020603050405020304" pitchFamily="18" charset="0"/>
                </a:rPr>
                <a:t> bits per packet</a:t>
              </a:r>
            </a:p>
          </p:txBody>
        </p:sp>
        <p:grpSp>
          <p:nvGrpSpPr>
            <p:cNvPr id="28" name="Group 137"/>
            <p:cNvGrpSpPr/>
            <p:nvPr/>
          </p:nvGrpSpPr>
          <p:grpSpPr>
            <a:xfrm>
              <a:off x="13917" y="5520"/>
              <a:ext cx="1890" cy="752"/>
              <a:chOff x="3668110" y="2448910"/>
              <a:chExt cx="3794234" cy="2165130"/>
            </a:xfrm>
          </p:grpSpPr>
          <p:sp>
            <p:nvSpPr>
              <p:cNvPr id="29" name="Rectangle 138"/>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Freeform 139"/>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1" name="Group 140"/>
              <p:cNvGrpSpPr/>
              <p:nvPr/>
            </p:nvGrpSpPr>
            <p:grpSpPr>
              <a:xfrm>
                <a:off x="3941378" y="2603243"/>
                <a:ext cx="3202061" cy="1066110"/>
                <a:chOff x="7939341" y="3037317"/>
                <a:chExt cx="897649" cy="353919"/>
              </a:xfrm>
            </p:grpSpPr>
            <p:sp>
              <p:nvSpPr>
                <p:cNvPr id="32" name="Freeform 141"/>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1" fmla="*/ 3725333 w 4641485"/>
                    <a:gd name="connsiteY0-2" fmla="*/ 0 h 1049866"/>
                    <a:gd name="connsiteX1-3" fmla="*/ 4641485 w 4641485"/>
                    <a:gd name="connsiteY1-4" fmla="*/ 239402 h 1049866"/>
                    <a:gd name="connsiteX2-5" fmla="*/ 3962400 w 4641485"/>
                    <a:gd name="connsiteY2-6" fmla="*/ 541866 h 1049866"/>
                    <a:gd name="connsiteX3-7" fmla="*/ 3742267 w 4641485"/>
                    <a:gd name="connsiteY3-8" fmla="*/ 457200 h 1049866"/>
                    <a:gd name="connsiteX4-9" fmla="*/ 2269067 w 4641485"/>
                    <a:gd name="connsiteY4-10" fmla="*/ 1049866 h 1049866"/>
                    <a:gd name="connsiteX5-11" fmla="*/ 880533 w 4641485"/>
                    <a:gd name="connsiteY5-12" fmla="*/ 457200 h 1049866"/>
                    <a:gd name="connsiteX6-13" fmla="*/ 592667 w 4641485"/>
                    <a:gd name="connsiteY6-14" fmla="*/ 541866 h 1049866"/>
                    <a:gd name="connsiteX7-15" fmla="*/ 0 w 4641485"/>
                    <a:gd name="connsiteY7-16" fmla="*/ 254000 h 1049866"/>
                    <a:gd name="connsiteX8-17" fmla="*/ 880533 w 4641485"/>
                    <a:gd name="connsiteY8-18" fmla="*/ 16933 h 1049866"/>
                    <a:gd name="connsiteX9-19" fmla="*/ 2302933 w 4641485"/>
                    <a:gd name="connsiteY9-20" fmla="*/ 626533 h 1049866"/>
                    <a:gd name="connsiteX10-21" fmla="*/ 3725333 w 4641485"/>
                    <a:gd name="connsiteY10-22" fmla="*/ 0 h 1049866"/>
                    <a:gd name="connsiteX0-23" fmla="*/ 3756864 w 4673016"/>
                    <a:gd name="connsiteY0-24" fmla="*/ 0 h 1049866"/>
                    <a:gd name="connsiteX1-25" fmla="*/ 4673016 w 4673016"/>
                    <a:gd name="connsiteY1-26" fmla="*/ 239402 h 1049866"/>
                    <a:gd name="connsiteX2-27" fmla="*/ 3993931 w 4673016"/>
                    <a:gd name="connsiteY2-28" fmla="*/ 541866 h 1049866"/>
                    <a:gd name="connsiteX3-29" fmla="*/ 3773798 w 4673016"/>
                    <a:gd name="connsiteY3-30" fmla="*/ 457200 h 1049866"/>
                    <a:gd name="connsiteX4-31" fmla="*/ 2300598 w 4673016"/>
                    <a:gd name="connsiteY4-32" fmla="*/ 1049866 h 1049866"/>
                    <a:gd name="connsiteX5-33" fmla="*/ 912064 w 4673016"/>
                    <a:gd name="connsiteY5-34" fmla="*/ 457200 h 1049866"/>
                    <a:gd name="connsiteX6-35" fmla="*/ 624198 w 4673016"/>
                    <a:gd name="connsiteY6-36" fmla="*/ 541866 h 1049866"/>
                    <a:gd name="connsiteX7-37" fmla="*/ 0 w 4673016"/>
                    <a:gd name="connsiteY7-38" fmla="*/ 232979 h 1049866"/>
                    <a:gd name="connsiteX8-39" fmla="*/ 912064 w 4673016"/>
                    <a:gd name="connsiteY8-40" fmla="*/ 16933 h 1049866"/>
                    <a:gd name="connsiteX9-41" fmla="*/ 2334464 w 4673016"/>
                    <a:gd name="connsiteY9-42" fmla="*/ 626533 h 1049866"/>
                    <a:gd name="connsiteX10-43" fmla="*/ 3756864 w 4673016"/>
                    <a:gd name="connsiteY10-44" fmla="*/ 0 h 1049866"/>
                    <a:gd name="connsiteX0-45" fmla="*/ 3756864 w 4673016"/>
                    <a:gd name="connsiteY0-46" fmla="*/ 0 h 1049866"/>
                    <a:gd name="connsiteX1-47" fmla="*/ 4673016 w 4673016"/>
                    <a:gd name="connsiteY1-48" fmla="*/ 239402 h 1049866"/>
                    <a:gd name="connsiteX2-49" fmla="*/ 3993931 w 4673016"/>
                    <a:gd name="connsiteY2-50" fmla="*/ 541866 h 1049866"/>
                    <a:gd name="connsiteX3-51" fmla="*/ 3784308 w 4673016"/>
                    <a:gd name="connsiteY3-52" fmla="*/ 404648 h 1049866"/>
                    <a:gd name="connsiteX4-53" fmla="*/ 2300598 w 4673016"/>
                    <a:gd name="connsiteY4-54" fmla="*/ 1049866 h 1049866"/>
                    <a:gd name="connsiteX5-55" fmla="*/ 912064 w 4673016"/>
                    <a:gd name="connsiteY5-56" fmla="*/ 457200 h 1049866"/>
                    <a:gd name="connsiteX6-57" fmla="*/ 624198 w 4673016"/>
                    <a:gd name="connsiteY6-58" fmla="*/ 541866 h 1049866"/>
                    <a:gd name="connsiteX7-59" fmla="*/ 0 w 4673016"/>
                    <a:gd name="connsiteY7-60" fmla="*/ 232979 h 1049866"/>
                    <a:gd name="connsiteX8-61" fmla="*/ 912064 w 4673016"/>
                    <a:gd name="connsiteY8-62" fmla="*/ 16933 h 1049866"/>
                    <a:gd name="connsiteX9-63" fmla="*/ 2334464 w 4673016"/>
                    <a:gd name="connsiteY9-64" fmla="*/ 626533 h 1049866"/>
                    <a:gd name="connsiteX10-65" fmla="*/ 3756864 w 4673016"/>
                    <a:gd name="connsiteY10-66" fmla="*/ 0 h 1049866"/>
                    <a:gd name="connsiteX0-67" fmla="*/ 3756864 w 4673016"/>
                    <a:gd name="connsiteY0-68" fmla="*/ 0 h 1049866"/>
                    <a:gd name="connsiteX1-69" fmla="*/ 4673016 w 4673016"/>
                    <a:gd name="connsiteY1-70" fmla="*/ 239402 h 1049866"/>
                    <a:gd name="connsiteX2-71" fmla="*/ 3993931 w 4673016"/>
                    <a:gd name="connsiteY2-72" fmla="*/ 541866 h 1049866"/>
                    <a:gd name="connsiteX3-73" fmla="*/ 3794818 w 4673016"/>
                    <a:gd name="connsiteY3-74" fmla="*/ 436179 h 1049866"/>
                    <a:gd name="connsiteX4-75" fmla="*/ 2300598 w 4673016"/>
                    <a:gd name="connsiteY4-76" fmla="*/ 1049866 h 1049866"/>
                    <a:gd name="connsiteX5-77" fmla="*/ 912064 w 4673016"/>
                    <a:gd name="connsiteY5-78" fmla="*/ 457200 h 1049866"/>
                    <a:gd name="connsiteX6-79" fmla="*/ 624198 w 4673016"/>
                    <a:gd name="connsiteY6-80" fmla="*/ 541866 h 1049866"/>
                    <a:gd name="connsiteX7-81" fmla="*/ 0 w 4673016"/>
                    <a:gd name="connsiteY7-82" fmla="*/ 232979 h 1049866"/>
                    <a:gd name="connsiteX8-83" fmla="*/ 912064 w 4673016"/>
                    <a:gd name="connsiteY8-84" fmla="*/ 16933 h 1049866"/>
                    <a:gd name="connsiteX9-85" fmla="*/ 2334464 w 4673016"/>
                    <a:gd name="connsiteY9-86" fmla="*/ 626533 h 1049866"/>
                    <a:gd name="connsiteX10-87" fmla="*/ 3756864 w 4673016"/>
                    <a:gd name="connsiteY10-88" fmla="*/ 0 h 1049866"/>
                    <a:gd name="connsiteX0-89" fmla="*/ 3756864 w 4673016"/>
                    <a:gd name="connsiteY0-90" fmla="*/ 0 h 1049866"/>
                    <a:gd name="connsiteX1-91" fmla="*/ 4673016 w 4673016"/>
                    <a:gd name="connsiteY1-92" fmla="*/ 239402 h 1049866"/>
                    <a:gd name="connsiteX2-93" fmla="*/ 3993931 w 4673016"/>
                    <a:gd name="connsiteY2-94" fmla="*/ 541866 h 1049866"/>
                    <a:gd name="connsiteX3-95" fmla="*/ 3794818 w 4673016"/>
                    <a:gd name="connsiteY3-96" fmla="*/ 436179 h 1049866"/>
                    <a:gd name="connsiteX4-97" fmla="*/ 2300598 w 4673016"/>
                    <a:gd name="connsiteY4-98" fmla="*/ 1049866 h 1049866"/>
                    <a:gd name="connsiteX5-99" fmla="*/ 912064 w 4673016"/>
                    <a:gd name="connsiteY5-100" fmla="*/ 457200 h 1049866"/>
                    <a:gd name="connsiteX6-101" fmla="*/ 624198 w 4673016"/>
                    <a:gd name="connsiteY6-102" fmla="*/ 541866 h 1049866"/>
                    <a:gd name="connsiteX7-103" fmla="*/ 0 w 4673016"/>
                    <a:gd name="connsiteY7-104" fmla="*/ 232979 h 1049866"/>
                    <a:gd name="connsiteX8-105" fmla="*/ 912064 w 4673016"/>
                    <a:gd name="connsiteY8-106" fmla="*/ 16933 h 1049866"/>
                    <a:gd name="connsiteX9-107" fmla="*/ 2323954 w 4673016"/>
                    <a:gd name="connsiteY9-108" fmla="*/ 616023 h 1049866"/>
                    <a:gd name="connsiteX10-109" fmla="*/ 3756864 w 4673016"/>
                    <a:gd name="connsiteY10-110" fmla="*/ 0 h 1049866"/>
                    <a:gd name="connsiteX0-111" fmla="*/ 3756864 w 4673016"/>
                    <a:gd name="connsiteY0-112" fmla="*/ 0 h 1049866"/>
                    <a:gd name="connsiteX1-113" fmla="*/ 4673016 w 4673016"/>
                    <a:gd name="connsiteY1-114" fmla="*/ 239402 h 1049866"/>
                    <a:gd name="connsiteX2-115" fmla="*/ 3993931 w 4673016"/>
                    <a:gd name="connsiteY2-116" fmla="*/ 541866 h 1049866"/>
                    <a:gd name="connsiteX3-117" fmla="*/ 3794818 w 4673016"/>
                    <a:gd name="connsiteY3-118" fmla="*/ 436179 h 1049866"/>
                    <a:gd name="connsiteX4-119" fmla="*/ 2300598 w 4673016"/>
                    <a:gd name="connsiteY4-120" fmla="*/ 1049866 h 1049866"/>
                    <a:gd name="connsiteX5-121" fmla="*/ 912064 w 4673016"/>
                    <a:gd name="connsiteY5-122" fmla="*/ 457200 h 1049866"/>
                    <a:gd name="connsiteX6-123" fmla="*/ 624198 w 4673016"/>
                    <a:gd name="connsiteY6-124" fmla="*/ 541866 h 1049866"/>
                    <a:gd name="connsiteX7-125" fmla="*/ 0 w 4673016"/>
                    <a:gd name="connsiteY7-126" fmla="*/ 275021 h 1049866"/>
                    <a:gd name="connsiteX8-127" fmla="*/ 912064 w 4673016"/>
                    <a:gd name="connsiteY8-128" fmla="*/ 16933 h 1049866"/>
                    <a:gd name="connsiteX9-129" fmla="*/ 2323954 w 4673016"/>
                    <a:gd name="connsiteY9-130" fmla="*/ 616023 h 1049866"/>
                    <a:gd name="connsiteX10-131" fmla="*/ 3756864 w 4673016"/>
                    <a:gd name="connsiteY10-132" fmla="*/ 0 h 1049866"/>
                    <a:gd name="connsiteX0-133" fmla="*/ 3756864 w 4673016"/>
                    <a:gd name="connsiteY0-134" fmla="*/ 0 h 1049866"/>
                    <a:gd name="connsiteX1-135" fmla="*/ 4673016 w 4673016"/>
                    <a:gd name="connsiteY1-136" fmla="*/ 239402 h 1049866"/>
                    <a:gd name="connsiteX2-137" fmla="*/ 3993931 w 4673016"/>
                    <a:gd name="connsiteY2-138" fmla="*/ 541866 h 1049866"/>
                    <a:gd name="connsiteX3-139" fmla="*/ 3815839 w 4673016"/>
                    <a:gd name="connsiteY3-140" fmla="*/ 467710 h 1049866"/>
                    <a:gd name="connsiteX4-141" fmla="*/ 2300598 w 4673016"/>
                    <a:gd name="connsiteY4-142" fmla="*/ 1049866 h 1049866"/>
                    <a:gd name="connsiteX5-143" fmla="*/ 912064 w 4673016"/>
                    <a:gd name="connsiteY5-144" fmla="*/ 457200 h 1049866"/>
                    <a:gd name="connsiteX6-145" fmla="*/ 624198 w 4673016"/>
                    <a:gd name="connsiteY6-146" fmla="*/ 541866 h 1049866"/>
                    <a:gd name="connsiteX7-147" fmla="*/ 0 w 4673016"/>
                    <a:gd name="connsiteY7-148" fmla="*/ 275021 h 1049866"/>
                    <a:gd name="connsiteX8-149" fmla="*/ 912064 w 4673016"/>
                    <a:gd name="connsiteY8-150" fmla="*/ 16933 h 1049866"/>
                    <a:gd name="connsiteX9-151" fmla="*/ 2323954 w 4673016"/>
                    <a:gd name="connsiteY9-152" fmla="*/ 616023 h 1049866"/>
                    <a:gd name="connsiteX10-153" fmla="*/ 3756864 w 4673016"/>
                    <a:gd name="connsiteY10-154" fmla="*/ 0 h 104986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142"/>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Freeform 143"/>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144"/>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1" fmla="*/ 168165 w 3731172"/>
                    <a:gd name="connsiteY0-2" fmla="*/ 73572 h 1418896"/>
                    <a:gd name="connsiteX1-3" fmla="*/ 451945 w 3731172"/>
                    <a:gd name="connsiteY1-4" fmla="*/ 0 h 1418896"/>
                    <a:gd name="connsiteX2-5" fmla="*/ 1881352 w 3731172"/>
                    <a:gd name="connsiteY2-6" fmla="*/ 599089 h 1418896"/>
                    <a:gd name="connsiteX3-7" fmla="*/ 3363310 w 3731172"/>
                    <a:gd name="connsiteY3-8" fmla="*/ 0 h 1418896"/>
                    <a:gd name="connsiteX4-9" fmla="*/ 3584027 w 3731172"/>
                    <a:gd name="connsiteY4-10" fmla="*/ 73572 h 1418896"/>
                    <a:gd name="connsiteX5-11" fmla="*/ 2627586 w 3731172"/>
                    <a:gd name="connsiteY5-12" fmla="*/ 441434 h 1418896"/>
                    <a:gd name="connsiteX6-13" fmla="*/ 2596055 w 3731172"/>
                    <a:gd name="connsiteY6-14" fmla="*/ 914400 h 1418896"/>
                    <a:gd name="connsiteX7-15" fmla="*/ 3731172 w 3731172"/>
                    <a:gd name="connsiteY7-16" fmla="*/ 1345324 h 1418896"/>
                    <a:gd name="connsiteX8-17" fmla="*/ 3447393 w 3731172"/>
                    <a:gd name="connsiteY8-18" fmla="*/ 1408386 h 1418896"/>
                    <a:gd name="connsiteX9-19" fmla="*/ 1870841 w 3731172"/>
                    <a:gd name="connsiteY9-20" fmla="*/ 746234 h 1418896"/>
                    <a:gd name="connsiteX10-21" fmla="*/ 262758 w 3731172"/>
                    <a:gd name="connsiteY10-22" fmla="*/ 1418896 h 1418896"/>
                    <a:gd name="connsiteX11-23" fmla="*/ 0 w 3731172"/>
                    <a:gd name="connsiteY11-24" fmla="*/ 1324303 h 1418896"/>
                    <a:gd name="connsiteX12-25" fmla="*/ 1145627 w 3731172"/>
                    <a:gd name="connsiteY12-26" fmla="*/ 882869 h 1418896"/>
                    <a:gd name="connsiteX13-27" fmla="*/ 1114096 w 3731172"/>
                    <a:gd name="connsiteY13-28" fmla="*/ 409903 h 1418896"/>
                    <a:gd name="connsiteX14-29" fmla="*/ 441434 w 3731172"/>
                    <a:gd name="connsiteY14-30" fmla="*/ 10510 h 1418896"/>
                    <a:gd name="connsiteX15-31" fmla="*/ 441434 w 3731172"/>
                    <a:gd name="connsiteY15-32" fmla="*/ 10510 h 1418896"/>
                    <a:gd name="connsiteX0-33" fmla="*/ 168165 w 3731172"/>
                    <a:gd name="connsiteY0-34" fmla="*/ 73572 h 1418896"/>
                    <a:gd name="connsiteX1-35" fmla="*/ 451945 w 3731172"/>
                    <a:gd name="connsiteY1-36" fmla="*/ 0 h 1418896"/>
                    <a:gd name="connsiteX2-37" fmla="*/ 1881352 w 3731172"/>
                    <a:gd name="connsiteY2-38" fmla="*/ 599089 h 1418896"/>
                    <a:gd name="connsiteX3-39" fmla="*/ 3363310 w 3731172"/>
                    <a:gd name="connsiteY3-40" fmla="*/ 0 h 1418896"/>
                    <a:gd name="connsiteX4-41" fmla="*/ 3584027 w 3731172"/>
                    <a:gd name="connsiteY4-42" fmla="*/ 73572 h 1418896"/>
                    <a:gd name="connsiteX5-43" fmla="*/ 2627586 w 3731172"/>
                    <a:gd name="connsiteY5-44" fmla="*/ 441434 h 1418896"/>
                    <a:gd name="connsiteX6-45" fmla="*/ 2596055 w 3731172"/>
                    <a:gd name="connsiteY6-46" fmla="*/ 914400 h 1418896"/>
                    <a:gd name="connsiteX7-47" fmla="*/ 3731172 w 3731172"/>
                    <a:gd name="connsiteY7-48" fmla="*/ 1345324 h 1418896"/>
                    <a:gd name="connsiteX8-49" fmla="*/ 3447393 w 3731172"/>
                    <a:gd name="connsiteY8-50" fmla="*/ 1408386 h 1418896"/>
                    <a:gd name="connsiteX9-51" fmla="*/ 1870841 w 3731172"/>
                    <a:gd name="connsiteY9-52" fmla="*/ 746234 h 1418896"/>
                    <a:gd name="connsiteX10-53" fmla="*/ 262758 w 3731172"/>
                    <a:gd name="connsiteY10-54" fmla="*/ 1418896 h 1418896"/>
                    <a:gd name="connsiteX11-55" fmla="*/ 0 w 3731172"/>
                    <a:gd name="connsiteY11-56" fmla="*/ 1324303 h 1418896"/>
                    <a:gd name="connsiteX12-57" fmla="*/ 1145627 w 3731172"/>
                    <a:gd name="connsiteY12-58" fmla="*/ 882869 h 1418896"/>
                    <a:gd name="connsiteX13-59" fmla="*/ 1114096 w 3731172"/>
                    <a:gd name="connsiteY13-60" fmla="*/ 409903 h 1418896"/>
                    <a:gd name="connsiteX14-61" fmla="*/ 441434 w 3731172"/>
                    <a:gd name="connsiteY14-62" fmla="*/ 10510 h 1418896"/>
                    <a:gd name="connsiteX0-63" fmla="*/ 168165 w 3731172"/>
                    <a:gd name="connsiteY0-64" fmla="*/ 73572 h 1418896"/>
                    <a:gd name="connsiteX1-65" fmla="*/ 451945 w 3731172"/>
                    <a:gd name="connsiteY1-66" fmla="*/ 0 h 1418896"/>
                    <a:gd name="connsiteX2-67" fmla="*/ 1881352 w 3731172"/>
                    <a:gd name="connsiteY2-68" fmla="*/ 599089 h 1418896"/>
                    <a:gd name="connsiteX3-69" fmla="*/ 3363310 w 3731172"/>
                    <a:gd name="connsiteY3-70" fmla="*/ 0 h 1418896"/>
                    <a:gd name="connsiteX4-71" fmla="*/ 3584027 w 3731172"/>
                    <a:gd name="connsiteY4-72" fmla="*/ 73572 h 1418896"/>
                    <a:gd name="connsiteX5-73" fmla="*/ 2627586 w 3731172"/>
                    <a:gd name="connsiteY5-74" fmla="*/ 441434 h 1418896"/>
                    <a:gd name="connsiteX6-75" fmla="*/ 2596055 w 3731172"/>
                    <a:gd name="connsiteY6-76" fmla="*/ 914400 h 1418896"/>
                    <a:gd name="connsiteX7-77" fmla="*/ 3731172 w 3731172"/>
                    <a:gd name="connsiteY7-78" fmla="*/ 1345324 h 1418896"/>
                    <a:gd name="connsiteX8-79" fmla="*/ 3447393 w 3731172"/>
                    <a:gd name="connsiteY8-80" fmla="*/ 1408386 h 1418896"/>
                    <a:gd name="connsiteX9-81" fmla="*/ 1870841 w 3731172"/>
                    <a:gd name="connsiteY9-82" fmla="*/ 746234 h 1418896"/>
                    <a:gd name="connsiteX10-83" fmla="*/ 262758 w 3731172"/>
                    <a:gd name="connsiteY10-84" fmla="*/ 1418896 h 1418896"/>
                    <a:gd name="connsiteX11-85" fmla="*/ 0 w 3731172"/>
                    <a:gd name="connsiteY11-86" fmla="*/ 1324303 h 1418896"/>
                    <a:gd name="connsiteX12-87" fmla="*/ 1145627 w 3731172"/>
                    <a:gd name="connsiteY12-88" fmla="*/ 882869 h 1418896"/>
                    <a:gd name="connsiteX13-89" fmla="*/ 1114096 w 3731172"/>
                    <a:gd name="connsiteY13-90" fmla="*/ 409903 h 1418896"/>
                    <a:gd name="connsiteX14-91" fmla="*/ 357351 w 3731172"/>
                    <a:gd name="connsiteY14-92" fmla="*/ 115613 h 1418896"/>
                    <a:gd name="connsiteX0-93" fmla="*/ 168165 w 3731172"/>
                    <a:gd name="connsiteY0-94" fmla="*/ 73572 h 1418896"/>
                    <a:gd name="connsiteX1-95" fmla="*/ 451945 w 3731172"/>
                    <a:gd name="connsiteY1-96" fmla="*/ 0 h 1418896"/>
                    <a:gd name="connsiteX2-97" fmla="*/ 1881352 w 3731172"/>
                    <a:gd name="connsiteY2-98" fmla="*/ 599089 h 1418896"/>
                    <a:gd name="connsiteX3-99" fmla="*/ 3363310 w 3731172"/>
                    <a:gd name="connsiteY3-100" fmla="*/ 0 h 1418896"/>
                    <a:gd name="connsiteX4-101" fmla="*/ 3584027 w 3731172"/>
                    <a:gd name="connsiteY4-102" fmla="*/ 73572 h 1418896"/>
                    <a:gd name="connsiteX5-103" fmla="*/ 2627586 w 3731172"/>
                    <a:gd name="connsiteY5-104" fmla="*/ 441434 h 1418896"/>
                    <a:gd name="connsiteX6-105" fmla="*/ 2596055 w 3731172"/>
                    <a:gd name="connsiteY6-106" fmla="*/ 914400 h 1418896"/>
                    <a:gd name="connsiteX7-107" fmla="*/ 3731172 w 3731172"/>
                    <a:gd name="connsiteY7-108" fmla="*/ 1345324 h 1418896"/>
                    <a:gd name="connsiteX8-109" fmla="*/ 3447393 w 3731172"/>
                    <a:gd name="connsiteY8-110" fmla="*/ 1408386 h 1418896"/>
                    <a:gd name="connsiteX9-111" fmla="*/ 1870841 w 3731172"/>
                    <a:gd name="connsiteY9-112" fmla="*/ 746234 h 1418896"/>
                    <a:gd name="connsiteX10-113" fmla="*/ 262758 w 3731172"/>
                    <a:gd name="connsiteY10-114" fmla="*/ 1418896 h 1418896"/>
                    <a:gd name="connsiteX11-115" fmla="*/ 0 w 3731172"/>
                    <a:gd name="connsiteY11-116" fmla="*/ 1324303 h 1418896"/>
                    <a:gd name="connsiteX12-117" fmla="*/ 1145627 w 3731172"/>
                    <a:gd name="connsiteY12-118" fmla="*/ 882869 h 1418896"/>
                    <a:gd name="connsiteX13-119" fmla="*/ 1114096 w 3731172"/>
                    <a:gd name="connsiteY13-120" fmla="*/ 409903 h 1418896"/>
                    <a:gd name="connsiteX14-121" fmla="*/ 147144 w 3731172"/>
                    <a:gd name="connsiteY14-122" fmla="*/ 63061 h 1418896"/>
                    <a:gd name="connsiteX0-123" fmla="*/ 168165 w 3731172"/>
                    <a:gd name="connsiteY0-124" fmla="*/ 73572 h 1418896"/>
                    <a:gd name="connsiteX1-125" fmla="*/ 451945 w 3731172"/>
                    <a:gd name="connsiteY1-126" fmla="*/ 0 h 1418896"/>
                    <a:gd name="connsiteX2-127" fmla="*/ 1881352 w 3731172"/>
                    <a:gd name="connsiteY2-128" fmla="*/ 599089 h 1418896"/>
                    <a:gd name="connsiteX3-129" fmla="*/ 3363310 w 3731172"/>
                    <a:gd name="connsiteY3-130" fmla="*/ 0 h 1418896"/>
                    <a:gd name="connsiteX4-131" fmla="*/ 3584027 w 3731172"/>
                    <a:gd name="connsiteY4-132" fmla="*/ 73572 h 1418896"/>
                    <a:gd name="connsiteX5-133" fmla="*/ 2627586 w 3731172"/>
                    <a:gd name="connsiteY5-134" fmla="*/ 441434 h 1418896"/>
                    <a:gd name="connsiteX6-135" fmla="*/ 2596055 w 3731172"/>
                    <a:gd name="connsiteY6-136" fmla="*/ 914400 h 1418896"/>
                    <a:gd name="connsiteX7-137" fmla="*/ 3731172 w 3731172"/>
                    <a:gd name="connsiteY7-138" fmla="*/ 1345324 h 1418896"/>
                    <a:gd name="connsiteX8-139" fmla="*/ 3447393 w 3731172"/>
                    <a:gd name="connsiteY8-140" fmla="*/ 1408386 h 1418896"/>
                    <a:gd name="connsiteX9-141" fmla="*/ 1870841 w 3731172"/>
                    <a:gd name="connsiteY9-142" fmla="*/ 746234 h 1418896"/>
                    <a:gd name="connsiteX10-143" fmla="*/ 262758 w 3731172"/>
                    <a:gd name="connsiteY10-144" fmla="*/ 1418896 h 1418896"/>
                    <a:gd name="connsiteX11-145" fmla="*/ 0 w 3731172"/>
                    <a:gd name="connsiteY11-146" fmla="*/ 1324303 h 1418896"/>
                    <a:gd name="connsiteX12-147" fmla="*/ 1145627 w 3731172"/>
                    <a:gd name="connsiteY12-148" fmla="*/ 882869 h 1418896"/>
                    <a:gd name="connsiteX13-149" fmla="*/ 1114096 w 3731172"/>
                    <a:gd name="connsiteY13-150" fmla="*/ 420413 h 1418896"/>
                    <a:gd name="connsiteX14-151" fmla="*/ 147144 w 3731172"/>
                    <a:gd name="connsiteY14-152" fmla="*/ 63061 h 1418896"/>
                    <a:gd name="connsiteX0-153" fmla="*/ 168165 w 3731172"/>
                    <a:gd name="connsiteY0-154" fmla="*/ 73572 h 1418896"/>
                    <a:gd name="connsiteX1-155" fmla="*/ 451945 w 3731172"/>
                    <a:gd name="connsiteY1-156" fmla="*/ 0 h 1418896"/>
                    <a:gd name="connsiteX2-157" fmla="*/ 1881352 w 3731172"/>
                    <a:gd name="connsiteY2-158" fmla="*/ 599089 h 1418896"/>
                    <a:gd name="connsiteX3-159" fmla="*/ 3363310 w 3731172"/>
                    <a:gd name="connsiteY3-160" fmla="*/ 0 h 1418896"/>
                    <a:gd name="connsiteX4-161" fmla="*/ 3584027 w 3731172"/>
                    <a:gd name="connsiteY4-162" fmla="*/ 73572 h 1418896"/>
                    <a:gd name="connsiteX5-163" fmla="*/ 2627586 w 3731172"/>
                    <a:gd name="connsiteY5-164" fmla="*/ 441434 h 1418896"/>
                    <a:gd name="connsiteX6-165" fmla="*/ 2596055 w 3731172"/>
                    <a:gd name="connsiteY6-166" fmla="*/ 914400 h 1418896"/>
                    <a:gd name="connsiteX7-167" fmla="*/ 3731172 w 3731172"/>
                    <a:gd name="connsiteY7-168" fmla="*/ 1345324 h 1418896"/>
                    <a:gd name="connsiteX8-169" fmla="*/ 3447393 w 3731172"/>
                    <a:gd name="connsiteY8-170" fmla="*/ 1408386 h 1418896"/>
                    <a:gd name="connsiteX9-171" fmla="*/ 1870841 w 3731172"/>
                    <a:gd name="connsiteY9-172" fmla="*/ 746234 h 1418896"/>
                    <a:gd name="connsiteX10-173" fmla="*/ 262758 w 3731172"/>
                    <a:gd name="connsiteY10-174" fmla="*/ 1418896 h 1418896"/>
                    <a:gd name="connsiteX11-175" fmla="*/ 0 w 3731172"/>
                    <a:gd name="connsiteY11-176" fmla="*/ 1324303 h 1418896"/>
                    <a:gd name="connsiteX12-177" fmla="*/ 1145627 w 3731172"/>
                    <a:gd name="connsiteY12-178" fmla="*/ 882869 h 1418896"/>
                    <a:gd name="connsiteX13-179" fmla="*/ 1114096 w 3731172"/>
                    <a:gd name="connsiteY13-180" fmla="*/ 420413 h 1418896"/>
                    <a:gd name="connsiteX14-181" fmla="*/ 189185 w 3731172"/>
                    <a:gd name="connsiteY14-182" fmla="*/ 84081 h 1418896"/>
                    <a:gd name="connsiteX0-183" fmla="*/ 168165 w 3731172"/>
                    <a:gd name="connsiteY0-184" fmla="*/ 73572 h 1418896"/>
                    <a:gd name="connsiteX1-185" fmla="*/ 451945 w 3731172"/>
                    <a:gd name="connsiteY1-186" fmla="*/ 0 h 1418896"/>
                    <a:gd name="connsiteX2-187" fmla="*/ 1881352 w 3731172"/>
                    <a:gd name="connsiteY2-188" fmla="*/ 599089 h 1418896"/>
                    <a:gd name="connsiteX3-189" fmla="*/ 3363310 w 3731172"/>
                    <a:gd name="connsiteY3-190" fmla="*/ 0 h 1418896"/>
                    <a:gd name="connsiteX4-191" fmla="*/ 3584027 w 3731172"/>
                    <a:gd name="connsiteY4-192" fmla="*/ 73572 h 1418896"/>
                    <a:gd name="connsiteX5-193" fmla="*/ 2627586 w 3731172"/>
                    <a:gd name="connsiteY5-194" fmla="*/ 441434 h 1418896"/>
                    <a:gd name="connsiteX6-195" fmla="*/ 2596055 w 3731172"/>
                    <a:gd name="connsiteY6-196" fmla="*/ 914400 h 1418896"/>
                    <a:gd name="connsiteX7-197" fmla="*/ 3731172 w 3731172"/>
                    <a:gd name="connsiteY7-198" fmla="*/ 1345324 h 1418896"/>
                    <a:gd name="connsiteX8-199" fmla="*/ 3447393 w 3731172"/>
                    <a:gd name="connsiteY8-200" fmla="*/ 1408386 h 1418896"/>
                    <a:gd name="connsiteX9-201" fmla="*/ 1870841 w 3731172"/>
                    <a:gd name="connsiteY9-202" fmla="*/ 746234 h 1418896"/>
                    <a:gd name="connsiteX10-203" fmla="*/ 262758 w 3731172"/>
                    <a:gd name="connsiteY10-204" fmla="*/ 1418896 h 1418896"/>
                    <a:gd name="connsiteX11-205" fmla="*/ 0 w 3731172"/>
                    <a:gd name="connsiteY11-206" fmla="*/ 1324303 h 1418896"/>
                    <a:gd name="connsiteX12-207" fmla="*/ 1145627 w 3731172"/>
                    <a:gd name="connsiteY12-208" fmla="*/ 882869 h 1418896"/>
                    <a:gd name="connsiteX13-209" fmla="*/ 1114096 w 3731172"/>
                    <a:gd name="connsiteY13-210" fmla="*/ 420413 h 1418896"/>
                    <a:gd name="connsiteX14-211" fmla="*/ 189185 w 3731172"/>
                    <a:gd name="connsiteY14-212" fmla="*/ 84081 h 1418896"/>
                    <a:gd name="connsiteX15-213" fmla="*/ 168165 w 3731172"/>
                    <a:gd name="connsiteY15-214" fmla="*/ 73572 h 1418896"/>
                    <a:gd name="connsiteX0-215" fmla="*/ 168165 w 3731172"/>
                    <a:gd name="connsiteY0-216" fmla="*/ 73572 h 1418896"/>
                    <a:gd name="connsiteX1-217" fmla="*/ 451945 w 3731172"/>
                    <a:gd name="connsiteY1-218" fmla="*/ 0 h 1418896"/>
                    <a:gd name="connsiteX2-219" fmla="*/ 1881352 w 3731172"/>
                    <a:gd name="connsiteY2-220" fmla="*/ 599089 h 1418896"/>
                    <a:gd name="connsiteX3-221" fmla="*/ 3363310 w 3731172"/>
                    <a:gd name="connsiteY3-222" fmla="*/ 0 h 1418896"/>
                    <a:gd name="connsiteX4-223" fmla="*/ 3584027 w 3731172"/>
                    <a:gd name="connsiteY4-224" fmla="*/ 73572 h 1418896"/>
                    <a:gd name="connsiteX5-225" fmla="*/ 2627586 w 3731172"/>
                    <a:gd name="connsiteY5-226" fmla="*/ 441434 h 1418896"/>
                    <a:gd name="connsiteX6-227" fmla="*/ 2596055 w 3731172"/>
                    <a:gd name="connsiteY6-228" fmla="*/ 914400 h 1418896"/>
                    <a:gd name="connsiteX7-229" fmla="*/ 3731172 w 3731172"/>
                    <a:gd name="connsiteY7-230" fmla="*/ 1345324 h 1418896"/>
                    <a:gd name="connsiteX8-231" fmla="*/ 3447393 w 3731172"/>
                    <a:gd name="connsiteY8-232" fmla="*/ 1408386 h 1418896"/>
                    <a:gd name="connsiteX9-233" fmla="*/ 1870841 w 3731172"/>
                    <a:gd name="connsiteY9-234" fmla="*/ 746234 h 1418896"/>
                    <a:gd name="connsiteX10-235" fmla="*/ 262758 w 3731172"/>
                    <a:gd name="connsiteY10-236" fmla="*/ 1418896 h 1418896"/>
                    <a:gd name="connsiteX11-237" fmla="*/ 0 w 3731172"/>
                    <a:gd name="connsiteY11-238" fmla="*/ 1324303 h 1418896"/>
                    <a:gd name="connsiteX12-239" fmla="*/ 1145627 w 3731172"/>
                    <a:gd name="connsiteY12-240" fmla="*/ 882869 h 1418896"/>
                    <a:gd name="connsiteX13-241" fmla="*/ 1156137 w 3731172"/>
                    <a:gd name="connsiteY13-242" fmla="*/ 441434 h 1418896"/>
                    <a:gd name="connsiteX14-243" fmla="*/ 189185 w 3731172"/>
                    <a:gd name="connsiteY14-244" fmla="*/ 84081 h 1418896"/>
                    <a:gd name="connsiteX15-245" fmla="*/ 168165 w 3731172"/>
                    <a:gd name="connsiteY15-246" fmla="*/ 73572 h 1418896"/>
                    <a:gd name="connsiteX0-247" fmla="*/ 168165 w 3731172"/>
                    <a:gd name="connsiteY0-248" fmla="*/ 73572 h 1418896"/>
                    <a:gd name="connsiteX1-249" fmla="*/ 451945 w 3731172"/>
                    <a:gd name="connsiteY1-250" fmla="*/ 0 h 1418896"/>
                    <a:gd name="connsiteX2-251" fmla="*/ 1881352 w 3731172"/>
                    <a:gd name="connsiteY2-252" fmla="*/ 599089 h 1418896"/>
                    <a:gd name="connsiteX3-253" fmla="*/ 3363310 w 3731172"/>
                    <a:gd name="connsiteY3-254" fmla="*/ 0 h 1418896"/>
                    <a:gd name="connsiteX4-255" fmla="*/ 3584027 w 3731172"/>
                    <a:gd name="connsiteY4-256" fmla="*/ 73572 h 1418896"/>
                    <a:gd name="connsiteX5-257" fmla="*/ 2627586 w 3731172"/>
                    <a:gd name="connsiteY5-258" fmla="*/ 441434 h 1418896"/>
                    <a:gd name="connsiteX6-259" fmla="*/ 2596055 w 3731172"/>
                    <a:gd name="connsiteY6-260" fmla="*/ 914400 h 1418896"/>
                    <a:gd name="connsiteX7-261" fmla="*/ 3731172 w 3731172"/>
                    <a:gd name="connsiteY7-262" fmla="*/ 1345324 h 1418896"/>
                    <a:gd name="connsiteX8-263" fmla="*/ 3447393 w 3731172"/>
                    <a:gd name="connsiteY8-264" fmla="*/ 1408386 h 1418896"/>
                    <a:gd name="connsiteX9-265" fmla="*/ 1870841 w 3731172"/>
                    <a:gd name="connsiteY9-266" fmla="*/ 746234 h 1418896"/>
                    <a:gd name="connsiteX10-267" fmla="*/ 262758 w 3731172"/>
                    <a:gd name="connsiteY10-268" fmla="*/ 1418896 h 1418896"/>
                    <a:gd name="connsiteX11-269" fmla="*/ 0 w 3731172"/>
                    <a:gd name="connsiteY11-270" fmla="*/ 1324303 h 1418896"/>
                    <a:gd name="connsiteX12-271" fmla="*/ 1145627 w 3731172"/>
                    <a:gd name="connsiteY12-272" fmla="*/ 882869 h 1418896"/>
                    <a:gd name="connsiteX13-273" fmla="*/ 1145626 w 3731172"/>
                    <a:gd name="connsiteY13-274" fmla="*/ 451945 h 1418896"/>
                    <a:gd name="connsiteX14-275" fmla="*/ 189185 w 3731172"/>
                    <a:gd name="connsiteY14-276" fmla="*/ 84081 h 1418896"/>
                    <a:gd name="connsiteX15-277" fmla="*/ 168165 w 3731172"/>
                    <a:gd name="connsiteY15-278" fmla="*/ 73572 h 1418896"/>
                    <a:gd name="connsiteX0-279" fmla="*/ 168165 w 3731172"/>
                    <a:gd name="connsiteY0-280" fmla="*/ 73572 h 1418896"/>
                    <a:gd name="connsiteX1-281" fmla="*/ 451945 w 3731172"/>
                    <a:gd name="connsiteY1-282" fmla="*/ 0 h 1418896"/>
                    <a:gd name="connsiteX2-283" fmla="*/ 1881352 w 3731172"/>
                    <a:gd name="connsiteY2-284" fmla="*/ 599089 h 1418896"/>
                    <a:gd name="connsiteX3-285" fmla="*/ 3363310 w 3731172"/>
                    <a:gd name="connsiteY3-286" fmla="*/ 0 h 1418896"/>
                    <a:gd name="connsiteX4-287" fmla="*/ 3584027 w 3731172"/>
                    <a:gd name="connsiteY4-288" fmla="*/ 73572 h 1418896"/>
                    <a:gd name="connsiteX5-289" fmla="*/ 2627586 w 3731172"/>
                    <a:gd name="connsiteY5-290" fmla="*/ 441434 h 1418896"/>
                    <a:gd name="connsiteX6-291" fmla="*/ 2596055 w 3731172"/>
                    <a:gd name="connsiteY6-292" fmla="*/ 914400 h 1418896"/>
                    <a:gd name="connsiteX7-293" fmla="*/ 3731172 w 3731172"/>
                    <a:gd name="connsiteY7-294" fmla="*/ 1345324 h 1418896"/>
                    <a:gd name="connsiteX8-295" fmla="*/ 3447393 w 3731172"/>
                    <a:gd name="connsiteY8-296" fmla="*/ 1408386 h 1418896"/>
                    <a:gd name="connsiteX9-297" fmla="*/ 1870841 w 3731172"/>
                    <a:gd name="connsiteY9-298" fmla="*/ 746234 h 1418896"/>
                    <a:gd name="connsiteX10-299" fmla="*/ 262758 w 3731172"/>
                    <a:gd name="connsiteY10-300" fmla="*/ 1418896 h 1418896"/>
                    <a:gd name="connsiteX11-301" fmla="*/ 0 w 3731172"/>
                    <a:gd name="connsiteY11-302" fmla="*/ 1324303 h 1418896"/>
                    <a:gd name="connsiteX12-303" fmla="*/ 1145627 w 3731172"/>
                    <a:gd name="connsiteY12-304" fmla="*/ 903890 h 1418896"/>
                    <a:gd name="connsiteX13-305" fmla="*/ 1145626 w 3731172"/>
                    <a:gd name="connsiteY13-306" fmla="*/ 451945 h 1418896"/>
                    <a:gd name="connsiteX14-307" fmla="*/ 189185 w 3731172"/>
                    <a:gd name="connsiteY14-308" fmla="*/ 84081 h 1418896"/>
                    <a:gd name="connsiteX15-309" fmla="*/ 168165 w 3731172"/>
                    <a:gd name="connsiteY15-310" fmla="*/ 73572 h 1418896"/>
                    <a:gd name="connsiteX0-311" fmla="*/ 147144 w 3710151"/>
                    <a:gd name="connsiteY0-312" fmla="*/ 73572 h 1418896"/>
                    <a:gd name="connsiteX1-313" fmla="*/ 430924 w 3710151"/>
                    <a:gd name="connsiteY1-314" fmla="*/ 0 h 1418896"/>
                    <a:gd name="connsiteX2-315" fmla="*/ 1860331 w 3710151"/>
                    <a:gd name="connsiteY2-316" fmla="*/ 599089 h 1418896"/>
                    <a:gd name="connsiteX3-317" fmla="*/ 3342289 w 3710151"/>
                    <a:gd name="connsiteY3-318" fmla="*/ 0 h 1418896"/>
                    <a:gd name="connsiteX4-319" fmla="*/ 3563006 w 3710151"/>
                    <a:gd name="connsiteY4-320" fmla="*/ 73572 h 1418896"/>
                    <a:gd name="connsiteX5-321" fmla="*/ 2606565 w 3710151"/>
                    <a:gd name="connsiteY5-322" fmla="*/ 441434 h 1418896"/>
                    <a:gd name="connsiteX6-323" fmla="*/ 2575034 w 3710151"/>
                    <a:gd name="connsiteY6-324" fmla="*/ 914400 h 1418896"/>
                    <a:gd name="connsiteX7-325" fmla="*/ 3710151 w 3710151"/>
                    <a:gd name="connsiteY7-326" fmla="*/ 1345324 h 1418896"/>
                    <a:gd name="connsiteX8-327" fmla="*/ 3426372 w 3710151"/>
                    <a:gd name="connsiteY8-328" fmla="*/ 1408386 h 1418896"/>
                    <a:gd name="connsiteX9-329" fmla="*/ 1849820 w 3710151"/>
                    <a:gd name="connsiteY9-330" fmla="*/ 746234 h 1418896"/>
                    <a:gd name="connsiteX10-331" fmla="*/ 241737 w 3710151"/>
                    <a:gd name="connsiteY10-332" fmla="*/ 1418896 h 1418896"/>
                    <a:gd name="connsiteX11-333" fmla="*/ 0 w 3710151"/>
                    <a:gd name="connsiteY11-334" fmla="*/ 1334814 h 1418896"/>
                    <a:gd name="connsiteX12-335" fmla="*/ 1124606 w 3710151"/>
                    <a:gd name="connsiteY12-336" fmla="*/ 903890 h 1418896"/>
                    <a:gd name="connsiteX13-337" fmla="*/ 1124605 w 3710151"/>
                    <a:gd name="connsiteY13-338" fmla="*/ 451945 h 1418896"/>
                    <a:gd name="connsiteX14-339" fmla="*/ 168164 w 3710151"/>
                    <a:gd name="connsiteY14-340" fmla="*/ 84081 h 1418896"/>
                    <a:gd name="connsiteX15-341" fmla="*/ 147144 w 3710151"/>
                    <a:gd name="connsiteY15-342" fmla="*/ 73572 h 1418896"/>
                    <a:gd name="connsiteX0-343" fmla="*/ 147144 w 3710151"/>
                    <a:gd name="connsiteY0-344" fmla="*/ 73572 h 1418896"/>
                    <a:gd name="connsiteX1-345" fmla="*/ 430924 w 3710151"/>
                    <a:gd name="connsiteY1-346" fmla="*/ 0 h 1418896"/>
                    <a:gd name="connsiteX2-347" fmla="*/ 1860331 w 3710151"/>
                    <a:gd name="connsiteY2-348" fmla="*/ 599089 h 1418896"/>
                    <a:gd name="connsiteX3-349" fmla="*/ 3342289 w 3710151"/>
                    <a:gd name="connsiteY3-350" fmla="*/ 0 h 1418896"/>
                    <a:gd name="connsiteX4-351" fmla="*/ 3563006 w 3710151"/>
                    <a:gd name="connsiteY4-352" fmla="*/ 73572 h 1418896"/>
                    <a:gd name="connsiteX5-353" fmla="*/ 2606565 w 3710151"/>
                    <a:gd name="connsiteY5-354" fmla="*/ 441434 h 1418896"/>
                    <a:gd name="connsiteX6-355" fmla="*/ 2606565 w 3710151"/>
                    <a:gd name="connsiteY6-356" fmla="*/ 924910 h 1418896"/>
                    <a:gd name="connsiteX7-357" fmla="*/ 3710151 w 3710151"/>
                    <a:gd name="connsiteY7-358" fmla="*/ 1345324 h 1418896"/>
                    <a:gd name="connsiteX8-359" fmla="*/ 3426372 w 3710151"/>
                    <a:gd name="connsiteY8-360" fmla="*/ 1408386 h 1418896"/>
                    <a:gd name="connsiteX9-361" fmla="*/ 1849820 w 3710151"/>
                    <a:gd name="connsiteY9-362" fmla="*/ 746234 h 1418896"/>
                    <a:gd name="connsiteX10-363" fmla="*/ 241737 w 3710151"/>
                    <a:gd name="connsiteY10-364" fmla="*/ 1418896 h 1418896"/>
                    <a:gd name="connsiteX11-365" fmla="*/ 0 w 3710151"/>
                    <a:gd name="connsiteY11-366" fmla="*/ 1334814 h 1418896"/>
                    <a:gd name="connsiteX12-367" fmla="*/ 1124606 w 3710151"/>
                    <a:gd name="connsiteY12-368" fmla="*/ 903890 h 1418896"/>
                    <a:gd name="connsiteX13-369" fmla="*/ 1124605 w 3710151"/>
                    <a:gd name="connsiteY13-370" fmla="*/ 451945 h 1418896"/>
                    <a:gd name="connsiteX14-371" fmla="*/ 168164 w 3710151"/>
                    <a:gd name="connsiteY14-372" fmla="*/ 84081 h 1418896"/>
                    <a:gd name="connsiteX15-373" fmla="*/ 147144 w 3710151"/>
                    <a:gd name="connsiteY15-374" fmla="*/ 73572 h 1418896"/>
                    <a:gd name="connsiteX0-375" fmla="*/ 147144 w 3710151"/>
                    <a:gd name="connsiteY0-376" fmla="*/ 73572 h 1418896"/>
                    <a:gd name="connsiteX1-377" fmla="*/ 430924 w 3710151"/>
                    <a:gd name="connsiteY1-378" fmla="*/ 0 h 1418896"/>
                    <a:gd name="connsiteX2-379" fmla="*/ 1860331 w 3710151"/>
                    <a:gd name="connsiteY2-380" fmla="*/ 599089 h 1418896"/>
                    <a:gd name="connsiteX3-381" fmla="*/ 3342289 w 3710151"/>
                    <a:gd name="connsiteY3-382" fmla="*/ 0 h 1418896"/>
                    <a:gd name="connsiteX4-383" fmla="*/ 3563006 w 3710151"/>
                    <a:gd name="connsiteY4-384" fmla="*/ 73572 h 1418896"/>
                    <a:gd name="connsiteX5-385" fmla="*/ 2606565 w 3710151"/>
                    <a:gd name="connsiteY5-386" fmla="*/ 441434 h 1418896"/>
                    <a:gd name="connsiteX6-387" fmla="*/ 2610282 w 3710151"/>
                    <a:gd name="connsiteY6-388" fmla="*/ 902607 h 1418896"/>
                    <a:gd name="connsiteX7-389" fmla="*/ 3710151 w 3710151"/>
                    <a:gd name="connsiteY7-390" fmla="*/ 1345324 h 1418896"/>
                    <a:gd name="connsiteX8-391" fmla="*/ 3426372 w 3710151"/>
                    <a:gd name="connsiteY8-392" fmla="*/ 1408386 h 1418896"/>
                    <a:gd name="connsiteX9-393" fmla="*/ 1849820 w 3710151"/>
                    <a:gd name="connsiteY9-394" fmla="*/ 746234 h 1418896"/>
                    <a:gd name="connsiteX10-395" fmla="*/ 241737 w 3710151"/>
                    <a:gd name="connsiteY10-396" fmla="*/ 1418896 h 1418896"/>
                    <a:gd name="connsiteX11-397" fmla="*/ 0 w 3710151"/>
                    <a:gd name="connsiteY11-398" fmla="*/ 1334814 h 1418896"/>
                    <a:gd name="connsiteX12-399" fmla="*/ 1124606 w 3710151"/>
                    <a:gd name="connsiteY12-400" fmla="*/ 903890 h 1418896"/>
                    <a:gd name="connsiteX13-401" fmla="*/ 1124605 w 3710151"/>
                    <a:gd name="connsiteY13-402" fmla="*/ 451945 h 1418896"/>
                    <a:gd name="connsiteX14-403" fmla="*/ 168164 w 3710151"/>
                    <a:gd name="connsiteY14-404" fmla="*/ 84081 h 1418896"/>
                    <a:gd name="connsiteX15-405" fmla="*/ 147144 w 3710151"/>
                    <a:gd name="connsiteY15-406" fmla="*/ 73572 h 1418896"/>
                    <a:gd name="connsiteX0-407" fmla="*/ 147144 w 3710151"/>
                    <a:gd name="connsiteY0-408" fmla="*/ 73572 h 1418896"/>
                    <a:gd name="connsiteX1-409" fmla="*/ 430924 w 3710151"/>
                    <a:gd name="connsiteY1-410" fmla="*/ 0 h 1418896"/>
                    <a:gd name="connsiteX2-411" fmla="*/ 1860331 w 3710151"/>
                    <a:gd name="connsiteY2-412" fmla="*/ 599089 h 1418896"/>
                    <a:gd name="connsiteX3-413" fmla="*/ 3342289 w 3710151"/>
                    <a:gd name="connsiteY3-414" fmla="*/ 0 h 1418896"/>
                    <a:gd name="connsiteX4-415" fmla="*/ 3563006 w 3710151"/>
                    <a:gd name="connsiteY4-416" fmla="*/ 73572 h 1418896"/>
                    <a:gd name="connsiteX5-417" fmla="*/ 2617717 w 3710151"/>
                    <a:gd name="connsiteY5-418" fmla="*/ 445151 h 1418896"/>
                    <a:gd name="connsiteX6-419" fmla="*/ 2610282 w 3710151"/>
                    <a:gd name="connsiteY6-420" fmla="*/ 902607 h 1418896"/>
                    <a:gd name="connsiteX7-421" fmla="*/ 3710151 w 3710151"/>
                    <a:gd name="connsiteY7-422" fmla="*/ 1345324 h 1418896"/>
                    <a:gd name="connsiteX8-423" fmla="*/ 3426372 w 3710151"/>
                    <a:gd name="connsiteY8-424" fmla="*/ 1408386 h 1418896"/>
                    <a:gd name="connsiteX9-425" fmla="*/ 1849820 w 3710151"/>
                    <a:gd name="connsiteY9-426" fmla="*/ 746234 h 1418896"/>
                    <a:gd name="connsiteX10-427" fmla="*/ 241737 w 3710151"/>
                    <a:gd name="connsiteY10-428" fmla="*/ 1418896 h 1418896"/>
                    <a:gd name="connsiteX11-429" fmla="*/ 0 w 3710151"/>
                    <a:gd name="connsiteY11-430" fmla="*/ 1334814 h 1418896"/>
                    <a:gd name="connsiteX12-431" fmla="*/ 1124606 w 3710151"/>
                    <a:gd name="connsiteY12-432" fmla="*/ 903890 h 1418896"/>
                    <a:gd name="connsiteX13-433" fmla="*/ 1124605 w 3710151"/>
                    <a:gd name="connsiteY13-434" fmla="*/ 451945 h 1418896"/>
                    <a:gd name="connsiteX14-435" fmla="*/ 168164 w 3710151"/>
                    <a:gd name="connsiteY14-436" fmla="*/ 84081 h 1418896"/>
                    <a:gd name="connsiteX15-437" fmla="*/ 147144 w 3710151"/>
                    <a:gd name="connsiteY15-438" fmla="*/ 73572 h 1418896"/>
                    <a:gd name="connsiteX0-439" fmla="*/ 147144 w 3710151"/>
                    <a:gd name="connsiteY0-440" fmla="*/ 73572 h 1418896"/>
                    <a:gd name="connsiteX1-441" fmla="*/ 430924 w 3710151"/>
                    <a:gd name="connsiteY1-442" fmla="*/ 0 h 1418896"/>
                    <a:gd name="connsiteX2-443" fmla="*/ 1860331 w 3710151"/>
                    <a:gd name="connsiteY2-444" fmla="*/ 599089 h 1418896"/>
                    <a:gd name="connsiteX3-445" fmla="*/ 3342289 w 3710151"/>
                    <a:gd name="connsiteY3-446" fmla="*/ 0 h 1418896"/>
                    <a:gd name="connsiteX4-447" fmla="*/ 3563006 w 3710151"/>
                    <a:gd name="connsiteY4-448" fmla="*/ 73572 h 1418896"/>
                    <a:gd name="connsiteX5-449" fmla="*/ 2617717 w 3710151"/>
                    <a:gd name="connsiteY5-450" fmla="*/ 448868 h 1418896"/>
                    <a:gd name="connsiteX6-451" fmla="*/ 2610282 w 3710151"/>
                    <a:gd name="connsiteY6-452" fmla="*/ 902607 h 1418896"/>
                    <a:gd name="connsiteX7-453" fmla="*/ 3710151 w 3710151"/>
                    <a:gd name="connsiteY7-454" fmla="*/ 1345324 h 1418896"/>
                    <a:gd name="connsiteX8-455" fmla="*/ 3426372 w 3710151"/>
                    <a:gd name="connsiteY8-456" fmla="*/ 1408386 h 1418896"/>
                    <a:gd name="connsiteX9-457" fmla="*/ 1849820 w 3710151"/>
                    <a:gd name="connsiteY9-458" fmla="*/ 746234 h 1418896"/>
                    <a:gd name="connsiteX10-459" fmla="*/ 241737 w 3710151"/>
                    <a:gd name="connsiteY10-460" fmla="*/ 1418896 h 1418896"/>
                    <a:gd name="connsiteX11-461" fmla="*/ 0 w 3710151"/>
                    <a:gd name="connsiteY11-462" fmla="*/ 1334814 h 1418896"/>
                    <a:gd name="connsiteX12-463" fmla="*/ 1124606 w 3710151"/>
                    <a:gd name="connsiteY12-464" fmla="*/ 903890 h 1418896"/>
                    <a:gd name="connsiteX13-465" fmla="*/ 1124605 w 3710151"/>
                    <a:gd name="connsiteY13-466" fmla="*/ 451945 h 1418896"/>
                    <a:gd name="connsiteX14-467" fmla="*/ 168164 w 3710151"/>
                    <a:gd name="connsiteY14-468" fmla="*/ 84081 h 1418896"/>
                    <a:gd name="connsiteX15-469" fmla="*/ 147144 w 3710151"/>
                    <a:gd name="connsiteY15-470" fmla="*/ 73572 h 1418896"/>
                    <a:gd name="connsiteX0-471" fmla="*/ 147144 w 3710151"/>
                    <a:gd name="connsiteY0-472" fmla="*/ 73572 h 1418896"/>
                    <a:gd name="connsiteX1-473" fmla="*/ 430924 w 3710151"/>
                    <a:gd name="connsiteY1-474" fmla="*/ 0 h 1418896"/>
                    <a:gd name="connsiteX2-475" fmla="*/ 1838028 w 3710151"/>
                    <a:gd name="connsiteY2-476" fmla="*/ 591655 h 1418896"/>
                    <a:gd name="connsiteX3-477" fmla="*/ 3342289 w 3710151"/>
                    <a:gd name="connsiteY3-478" fmla="*/ 0 h 1418896"/>
                    <a:gd name="connsiteX4-479" fmla="*/ 3563006 w 3710151"/>
                    <a:gd name="connsiteY4-480" fmla="*/ 73572 h 1418896"/>
                    <a:gd name="connsiteX5-481" fmla="*/ 2617717 w 3710151"/>
                    <a:gd name="connsiteY5-482" fmla="*/ 448868 h 1418896"/>
                    <a:gd name="connsiteX6-483" fmla="*/ 2610282 w 3710151"/>
                    <a:gd name="connsiteY6-484" fmla="*/ 902607 h 1418896"/>
                    <a:gd name="connsiteX7-485" fmla="*/ 3710151 w 3710151"/>
                    <a:gd name="connsiteY7-486" fmla="*/ 1345324 h 1418896"/>
                    <a:gd name="connsiteX8-487" fmla="*/ 3426372 w 3710151"/>
                    <a:gd name="connsiteY8-488" fmla="*/ 1408386 h 1418896"/>
                    <a:gd name="connsiteX9-489" fmla="*/ 1849820 w 3710151"/>
                    <a:gd name="connsiteY9-490" fmla="*/ 746234 h 1418896"/>
                    <a:gd name="connsiteX10-491" fmla="*/ 241737 w 3710151"/>
                    <a:gd name="connsiteY10-492" fmla="*/ 1418896 h 1418896"/>
                    <a:gd name="connsiteX11-493" fmla="*/ 0 w 3710151"/>
                    <a:gd name="connsiteY11-494" fmla="*/ 1334814 h 1418896"/>
                    <a:gd name="connsiteX12-495" fmla="*/ 1124606 w 3710151"/>
                    <a:gd name="connsiteY12-496" fmla="*/ 903890 h 1418896"/>
                    <a:gd name="connsiteX13-497" fmla="*/ 1124605 w 3710151"/>
                    <a:gd name="connsiteY13-498" fmla="*/ 451945 h 1418896"/>
                    <a:gd name="connsiteX14-499" fmla="*/ 168164 w 3710151"/>
                    <a:gd name="connsiteY14-500" fmla="*/ 84081 h 1418896"/>
                    <a:gd name="connsiteX15-501" fmla="*/ 147144 w 3710151"/>
                    <a:gd name="connsiteY15-502" fmla="*/ 73572 h 1418896"/>
                    <a:gd name="connsiteX0-503" fmla="*/ 147144 w 3710151"/>
                    <a:gd name="connsiteY0-504" fmla="*/ 73572 h 1418896"/>
                    <a:gd name="connsiteX1-505" fmla="*/ 430924 w 3710151"/>
                    <a:gd name="connsiteY1-506" fmla="*/ 0 h 1418896"/>
                    <a:gd name="connsiteX2-507" fmla="*/ 1838028 w 3710151"/>
                    <a:gd name="connsiteY2-508" fmla="*/ 591655 h 1418896"/>
                    <a:gd name="connsiteX3-509" fmla="*/ 3342289 w 3710151"/>
                    <a:gd name="connsiteY3-510" fmla="*/ 0 h 1418896"/>
                    <a:gd name="connsiteX4-511" fmla="*/ 3563006 w 3710151"/>
                    <a:gd name="connsiteY4-512" fmla="*/ 73572 h 1418896"/>
                    <a:gd name="connsiteX5-513" fmla="*/ 2617717 w 3710151"/>
                    <a:gd name="connsiteY5-514" fmla="*/ 448868 h 1418896"/>
                    <a:gd name="connsiteX6-515" fmla="*/ 2610282 w 3710151"/>
                    <a:gd name="connsiteY6-516" fmla="*/ 902607 h 1418896"/>
                    <a:gd name="connsiteX7-517" fmla="*/ 3710151 w 3710151"/>
                    <a:gd name="connsiteY7-518" fmla="*/ 1345324 h 1418896"/>
                    <a:gd name="connsiteX8-519" fmla="*/ 3426372 w 3710151"/>
                    <a:gd name="connsiteY8-520" fmla="*/ 1408386 h 1418896"/>
                    <a:gd name="connsiteX9-521" fmla="*/ 1849820 w 3710151"/>
                    <a:gd name="connsiteY9-522" fmla="*/ 746234 h 1418896"/>
                    <a:gd name="connsiteX10-523" fmla="*/ 241737 w 3710151"/>
                    <a:gd name="connsiteY10-524" fmla="*/ 1418896 h 1418896"/>
                    <a:gd name="connsiteX11-525" fmla="*/ 0 w 3710151"/>
                    <a:gd name="connsiteY11-526" fmla="*/ 1334814 h 1418896"/>
                    <a:gd name="connsiteX12-527" fmla="*/ 1124606 w 3710151"/>
                    <a:gd name="connsiteY12-528" fmla="*/ 903890 h 1418896"/>
                    <a:gd name="connsiteX13-529" fmla="*/ 1087434 w 3710151"/>
                    <a:gd name="connsiteY13-530" fmla="*/ 451945 h 1418896"/>
                    <a:gd name="connsiteX14-531" fmla="*/ 168164 w 3710151"/>
                    <a:gd name="connsiteY14-532" fmla="*/ 84081 h 1418896"/>
                    <a:gd name="connsiteX15-533" fmla="*/ 147144 w 3710151"/>
                    <a:gd name="connsiteY15-534" fmla="*/ 73572 h 1418896"/>
                    <a:gd name="connsiteX0-535" fmla="*/ 147144 w 3710151"/>
                    <a:gd name="connsiteY0-536" fmla="*/ 73572 h 1418896"/>
                    <a:gd name="connsiteX1-537" fmla="*/ 430924 w 3710151"/>
                    <a:gd name="connsiteY1-538" fmla="*/ 0 h 1418896"/>
                    <a:gd name="connsiteX2-539" fmla="*/ 1838028 w 3710151"/>
                    <a:gd name="connsiteY2-540" fmla="*/ 591655 h 1418896"/>
                    <a:gd name="connsiteX3-541" fmla="*/ 3342289 w 3710151"/>
                    <a:gd name="connsiteY3-542" fmla="*/ 0 h 1418896"/>
                    <a:gd name="connsiteX4-543" fmla="*/ 3563006 w 3710151"/>
                    <a:gd name="connsiteY4-544" fmla="*/ 73572 h 1418896"/>
                    <a:gd name="connsiteX5-545" fmla="*/ 2617717 w 3710151"/>
                    <a:gd name="connsiteY5-546" fmla="*/ 448868 h 1418896"/>
                    <a:gd name="connsiteX6-547" fmla="*/ 2610282 w 3710151"/>
                    <a:gd name="connsiteY6-548" fmla="*/ 902607 h 1418896"/>
                    <a:gd name="connsiteX7-549" fmla="*/ 3710151 w 3710151"/>
                    <a:gd name="connsiteY7-550" fmla="*/ 1345324 h 1418896"/>
                    <a:gd name="connsiteX8-551" fmla="*/ 3426372 w 3710151"/>
                    <a:gd name="connsiteY8-552" fmla="*/ 1408386 h 1418896"/>
                    <a:gd name="connsiteX9-553" fmla="*/ 1849820 w 3710151"/>
                    <a:gd name="connsiteY9-554" fmla="*/ 746234 h 1418896"/>
                    <a:gd name="connsiteX10-555" fmla="*/ 241737 w 3710151"/>
                    <a:gd name="connsiteY10-556" fmla="*/ 1418896 h 1418896"/>
                    <a:gd name="connsiteX11-557" fmla="*/ 0 w 3710151"/>
                    <a:gd name="connsiteY11-558" fmla="*/ 1334814 h 1418896"/>
                    <a:gd name="connsiteX12-559" fmla="*/ 1098586 w 3710151"/>
                    <a:gd name="connsiteY12-560" fmla="*/ 903890 h 1418896"/>
                    <a:gd name="connsiteX13-561" fmla="*/ 1087434 w 3710151"/>
                    <a:gd name="connsiteY13-562" fmla="*/ 451945 h 1418896"/>
                    <a:gd name="connsiteX14-563" fmla="*/ 168164 w 3710151"/>
                    <a:gd name="connsiteY14-564" fmla="*/ 84081 h 1418896"/>
                    <a:gd name="connsiteX15-565" fmla="*/ 147144 w 3710151"/>
                    <a:gd name="connsiteY15-566" fmla="*/ 73572 h 1418896"/>
                    <a:gd name="connsiteX0-567" fmla="*/ 162012 w 3725019"/>
                    <a:gd name="connsiteY0-568" fmla="*/ 73572 h 1418896"/>
                    <a:gd name="connsiteX1-569" fmla="*/ 445792 w 3725019"/>
                    <a:gd name="connsiteY1-570" fmla="*/ 0 h 1418896"/>
                    <a:gd name="connsiteX2-571" fmla="*/ 1852896 w 3725019"/>
                    <a:gd name="connsiteY2-572" fmla="*/ 591655 h 1418896"/>
                    <a:gd name="connsiteX3-573" fmla="*/ 3357157 w 3725019"/>
                    <a:gd name="connsiteY3-574" fmla="*/ 0 h 1418896"/>
                    <a:gd name="connsiteX4-575" fmla="*/ 3577874 w 3725019"/>
                    <a:gd name="connsiteY4-576" fmla="*/ 73572 h 1418896"/>
                    <a:gd name="connsiteX5-577" fmla="*/ 2632585 w 3725019"/>
                    <a:gd name="connsiteY5-578" fmla="*/ 448868 h 1418896"/>
                    <a:gd name="connsiteX6-579" fmla="*/ 2625150 w 3725019"/>
                    <a:gd name="connsiteY6-580" fmla="*/ 902607 h 1418896"/>
                    <a:gd name="connsiteX7-581" fmla="*/ 3725019 w 3725019"/>
                    <a:gd name="connsiteY7-582" fmla="*/ 1345324 h 1418896"/>
                    <a:gd name="connsiteX8-583" fmla="*/ 3441240 w 3725019"/>
                    <a:gd name="connsiteY8-584" fmla="*/ 1408386 h 1418896"/>
                    <a:gd name="connsiteX9-585" fmla="*/ 1864688 w 3725019"/>
                    <a:gd name="connsiteY9-586" fmla="*/ 746234 h 1418896"/>
                    <a:gd name="connsiteX10-587" fmla="*/ 256605 w 3725019"/>
                    <a:gd name="connsiteY10-588" fmla="*/ 1418896 h 1418896"/>
                    <a:gd name="connsiteX11-589" fmla="*/ 0 w 3725019"/>
                    <a:gd name="connsiteY11-590" fmla="*/ 1331097 h 1418896"/>
                    <a:gd name="connsiteX12-591" fmla="*/ 1113454 w 3725019"/>
                    <a:gd name="connsiteY12-592" fmla="*/ 903890 h 1418896"/>
                    <a:gd name="connsiteX13-593" fmla="*/ 1102302 w 3725019"/>
                    <a:gd name="connsiteY13-594" fmla="*/ 451945 h 1418896"/>
                    <a:gd name="connsiteX14-595" fmla="*/ 183032 w 3725019"/>
                    <a:gd name="connsiteY14-596" fmla="*/ 84081 h 1418896"/>
                    <a:gd name="connsiteX15-597" fmla="*/ 162012 w 3725019"/>
                    <a:gd name="connsiteY15-598" fmla="*/ 73572 h 14188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8" name="Group 347"/>
            <p:cNvGrpSpPr/>
            <p:nvPr/>
          </p:nvGrpSpPr>
          <p:grpSpPr bwMode="auto">
            <a:xfrm>
              <a:off x="17355" y="5420"/>
              <a:ext cx="1444" cy="765"/>
              <a:chOff x="1871277" y="1576300"/>
              <a:chExt cx="1128371" cy="437861"/>
            </a:xfrm>
          </p:grpSpPr>
          <p:sp>
            <p:nvSpPr>
              <p:cNvPr id="39" name="Oval 201"/>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84" charset="-128"/>
                  </a:defRPr>
                </a:lvl1pPr>
                <a:lvl2pPr marL="742950" indent="-285750">
                  <a:defRPr sz="2400">
                    <a:solidFill>
                      <a:schemeClr val="tx1"/>
                    </a:solidFill>
                    <a:latin typeface="Arial" panose="020B0604020202020204" pitchFamily="34" charset="0"/>
                    <a:ea typeface="MS PGothic" panose="020B0600070205080204" pitchFamily="-84" charset="-128"/>
                  </a:defRPr>
                </a:lvl2pPr>
                <a:lvl3pPr marL="1143000" indent="-228600">
                  <a:defRPr sz="2400">
                    <a:solidFill>
                      <a:schemeClr val="tx1"/>
                    </a:solidFill>
                    <a:latin typeface="Arial" panose="020B0604020202020204" pitchFamily="34" charset="0"/>
                    <a:ea typeface="MS PGothic" panose="020B0600070205080204" pitchFamily="-84" charset="-128"/>
                  </a:defRPr>
                </a:lvl3pPr>
                <a:lvl4pPr marL="1600200" indent="-228600">
                  <a:defRPr sz="2400">
                    <a:solidFill>
                      <a:schemeClr val="tx1"/>
                    </a:solidFill>
                    <a:latin typeface="Arial" panose="020B0604020202020204" pitchFamily="34" charset="0"/>
                    <a:ea typeface="MS PGothic" panose="020B0600070205080204" pitchFamily="-84" charset="-128"/>
                  </a:defRPr>
                </a:lvl4pPr>
                <a:lvl5pPr marL="2057400" indent="-228600">
                  <a:defRPr sz="2400">
                    <a:solidFill>
                      <a:schemeClr val="tx1"/>
                    </a:solidFill>
                    <a:latin typeface="Arial" panose="020B0604020202020204" pitchFamily="34" charset="0"/>
                    <a:ea typeface="MS PGothic" panose="020B0600070205080204" pitchFamily="-8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9pPr>
              </a:lstStyle>
              <a:p>
                <a:pPr algn="ctr"/>
                <a:endParaRPr lang="zh-CN" altLang="zh-CN" sz="18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Rectangle 202"/>
              <p:cNvSpPr/>
              <p:nvPr/>
            </p:nvSpPr>
            <p:spPr bwMode="auto">
              <a:xfrm>
                <a:off x="1871277" y="1739425"/>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Oval 203"/>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MS PGothic" panose="020B0600070205080204" pitchFamily="-84" charset="-128"/>
                  </a:defRPr>
                </a:lvl1pPr>
                <a:lvl2pPr marL="742950" indent="-285750">
                  <a:defRPr sz="2400">
                    <a:solidFill>
                      <a:schemeClr val="tx1"/>
                    </a:solidFill>
                    <a:latin typeface="Arial" panose="020B0604020202020204" pitchFamily="34" charset="0"/>
                    <a:ea typeface="MS PGothic" panose="020B0600070205080204" pitchFamily="-84" charset="-128"/>
                  </a:defRPr>
                </a:lvl2pPr>
                <a:lvl3pPr marL="1143000" indent="-228600">
                  <a:defRPr sz="2400">
                    <a:solidFill>
                      <a:schemeClr val="tx1"/>
                    </a:solidFill>
                    <a:latin typeface="Arial" panose="020B0604020202020204" pitchFamily="34" charset="0"/>
                    <a:ea typeface="MS PGothic" panose="020B0600070205080204" pitchFamily="-84" charset="-128"/>
                  </a:defRPr>
                </a:lvl3pPr>
                <a:lvl4pPr marL="1600200" indent="-228600">
                  <a:defRPr sz="2400">
                    <a:solidFill>
                      <a:schemeClr val="tx1"/>
                    </a:solidFill>
                    <a:latin typeface="Arial" panose="020B0604020202020204" pitchFamily="34" charset="0"/>
                    <a:ea typeface="MS PGothic" panose="020B0600070205080204" pitchFamily="-84" charset="-128"/>
                  </a:defRPr>
                </a:lvl4pPr>
                <a:lvl5pPr marL="2057400" indent="-228600">
                  <a:defRPr sz="2400">
                    <a:solidFill>
                      <a:schemeClr val="tx1"/>
                    </a:solidFill>
                    <a:latin typeface="Arial" panose="020B0604020202020204" pitchFamily="34" charset="0"/>
                    <a:ea typeface="MS PGothic" panose="020B0600070205080204" pitchFamily="-8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84" charset="-128"/>
                  </a:defRPr>
                </a:lvl9pPr>
              </a:lstStyle>
              <a:p>
                <a:pPr algn="ctr"/>
                <a:endParaRPr lang="zh-CN" altLang="zh-CN" sz="1800">
                  <a:solidFill>
                    <a:srgbClr val="FFFF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Freeform 204"/>
              <p:cNvSpPr/>
              <p:nvPr/>
            </p:nvSpPr>
            <p:spPr bwMode="auto">
              <a:xfrm>
                <a:off x="2159402" y="1672887"/>
                <a:ext cx="549283" cy="16097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1" fmla="*/ 1486231 w 2944854"/>
                  <a:gd name="connsiteY0-2" fmla="*/ 727041 h 1316375"/>
                  <a:gd name="connsiteX1-3" fmla="*/ 257675 w 2944854"/>
                  <a:gd name="connsiteY1-4" fmla="*/ 1302232 h 1316375"/>
                  <a:gd name="connsiteX2-5" fmla="*/ 0 w 2944854"/>
                  <a:gd name="connsiteY2-6" fmla="*/ 1228607 h 1316375"/>
                  <a:gd name="connsiteX3-7" fmla="*/ 911064 w 2944854"/>
                  <a:gd name="connsiteY3-8" fmla="*/ 837478 h 1316375"/>
                  <a:gd name="connsiteX4-9" fmla="*/ 883456 w 2944854"/>
                  <a:gd name="connsiteY4-10" fmla="*/ 450949 h 1316375"/>
                  <a:gd name="connsiteX5-11" fmla="*/ 161047 w 2944854"/>
                  <a:gd name="connsiteY5-12" fmla="*/ 119640 h 1316375"/>
                  <a:gd name="connsiteX6-13" fmla="*/ 404917 w 2944854"/>
                  <a:gd name="connsiteY6-14" fmla="*/ 50617 h 1316375"/>
                  <a:gd name="connsiteX7-15" fmla="*/ 1477028 w 2944854"/>
                  <a:gd name="connsiteY7-16" fmla="*/ 501566 h 1316375"/>
                  <a:gd name="connsiteX8-17" fmla="*/ 2572146 w 2944854"/>
                  <a:gd name="connsiteY8-18" fmla="*/ 0 h 1316375"/>
                  <a:gd name="connsiteX9-19" fmla="*/ 2875834 w 2944854"/>
                  <a:gd name="connsiteY9-20" fmla="*/ 96632 h 1316375"/>
                  <a:gd name="connsiteX10-21" fmla="*/ 2079803 w 2944854"/>
                  <a:gd name="connsiteY10-22" fmla="*/ 432543 h 1316375"/>
                  <a:gd name="connsiteX11-23" fmla="*/ 2240850 w 2944854"/>
                  <a:gd name="connsiteY11-24" fmla="*/ 920305 h 1316375"/>
                  <a:gd name="connsiteX12-25" fmla="*/ 2944854 w 2944854"/>
                  <a:gd name="connsiteY12-26" fmla="*/ 1228607 h 1316375"/>
                  <a:gd name="connsiteX13-27" fmla="*/ 2756623 w 2944854"/>
                  <a:gd name="connsiteY13-28" fmla="*/ 1316375 h 1316375"/>
                  <a:gd name="connsiteX14-29" fmla="*/ 1486231 w 2944854"/>
                  <a:gd name="connsiteY14-30" fmla="*/ 727041 h 1316375"/>
                  <a:gd name="connsiteX0-31" fmla="*/ 1486231 w 3024520"/>
                  <a:gd name="connsiteY0-32" fmla="*/ 727041 h 1316375"/>
                  <a:gd name="connsiteX1-33" fmla="*/ 257675 w 3024520"/>
                  <a:gd name="connsiteY1-34" fmla="*/ 1302232 h 1316375"/>
                  <a:gd name="connsiteX2-35" fmla="*/ 0 w 3024520"/>
                  <a:gd name="connsiteY2-36" fmla="*/ 1228607 h 1316375"/>
                  <a:gd name="connsiteX3-37" fmla="*/ 911064 w 3024520"/>
                  <a:gd name="connsiteY3-38" fmla="*/ 837478 h 1316375"/>
                  <a:gd name="connsiteX4-39" fmla="*/ 883456 w 3024520"/>
                  <a:gd name="connsiteY4-40" fmla="*/ 450949 h 1316375"/>
                  <a:gd name="connsiteX5-41" fmla="*/ 161047 w 3024520"/>
                  <a:gd name="connsiteY5-42" fmla="*/ 119640 h 1316375"/>
                  <a:gd name="connsiteX6-43" fmla="*/ 404917 w 3024520"/>
                  <a:gd name="connsiteY6-44" fmla="*/ 50617 h 1316375"/>
                  <a:gd name="connsiteX7-45" fmla="*/ 1477028 w 3024520"/>
                  <a:gd name="connsiteY7-46" fmla="*/ 501566 h 1316375"/>
                  <a:gd name="connsiteX8-47" fmla="*/ 2572146 w 3024520"/>
                  <a:gd name="connsiteY8-48" fmla="*/ 0 h 1316375"/>
                  <a:gd name="connsiteX9-49" fmla="*/ 2875834 w 3024520"/>
                  <a:gd name="connsiteY9-50" fmla="*/ 96632 h 1316375"/>
                  <a:gd name="connsiteX10-51" fmla="*/ 2079803 w 3024520"/>
                  <a:gd name="connsiteY10-52" fmla="*/ 432543 h 1316375"/>
                  <a:gd name="connsiteX11-53" fmla="*/ 2240850 w 3024520"/>
                  <a:gd name="connsiteY11-54" fmla="*/ 920305 h 1316375"/>
                  <a:gd name="connsiteX12-55" fmla="*/ 3024520 w 3024520"/>
                  <a:gd name="connsiteY12-56" fmla="*/ 1228607 h 1316375"/>
                  <a:gd name="connsiteX13-57" fmla="*/ 2756623 w 3024520"/>
                  <a:gd name="connsiteY13-58" fmla="*/ 1316375 h 1316375"/>
                  <a:gd name="connsiteX14-59" fmla="*/ 1486231 w 3024520"/>
                  <a:gd name="connsiteY14-60" fmla="*/ 727041 h 1316375"/>
                  <a:gd name="connsiteX0-61" fmla="*/ 1537780 w 3076069"/>
                  <a:gd name="connsiteY0-62" fmla="*/ 727041 h 1316375"/>
                  <a:gd name="connsiteX1-63" fmla="*/ 309224 w 3076069"/>
                  <a:gd name="connsiteY1-64" fmla="*/ 1302232 h 1316375"/>
                  <a:gd name="connsiteX2-65" fmla="*/ 0 w 3076069"/>
                  <a:gd name="connsiteY2-66" fmla="*/ 1228607 h 1316375"/>
                  <a:gd name="connsiteX3-67" fmla="*/ 962613 w 3076069"/>
                  <a:gd name="connsiteY3-68" fmla="*/ 837478 h 1316375"/>
                  <a:gd name="connsiteX4-69" fmla="*/ 935005 w 3076069"/>
                  <a:gd name="connsiteY4-70" fmla="*/ 450949 h 1316375"/>
                  <a:gd name="connsiteX5-71" fmla="*/ 212596 w 3076069"/>
                  <a:gd name="connsiteY5-72" fmla="*/ 119640 h 1316375"/>
                  <a:gd name="connsiteX6-73" fmla="*/ 456466 w 3076069"/>
                  <a:gd name="connsiteY6-74" fmla="*/ 50617 h 1316375"/>
                  <a:gd name="connsiteX7-75" fmla="*/ 1528577 w 3076069"/>
                  <a:gd name="connsiteY7-76" fmla="*/ 501566 h 1316375"/>
                  <a:gd name="connsiteX8-77" fmla="*/ 2623695 w 3076069"/>
                  <a:gd name="connsiteY8-78" fmla="*/ 0 h 1316375"/>
                  <a:gd name="connsiteX9-79" fmla="*/ 2927383 w 3076069"/>
                  <a:gd name="connsiteY9-80" fmla="*/ 96632 h 1316375"/>
                  <a:gd name="connsiteX10-81" fmla="*/ 2131352 w 3076069"/>
                  <a:gd name="connsiteY10-82" fmla="*/ 432543 h 1316375"/>
                  <a:gd name="connsiteX11-83" fmla="*/ 2292399 w 3076069"/>
                  <a:gd name="connsiteY11-84" fmla="*/ 920305 h 1316375"/>
                  <a:gd name="connsiteX12-85" fmla="*/ 3076069 w 3076069"/>
                  <a:gd name="connsiteY12-86" fmla="*/ 1228607 h 1316375"/>
                  <a:gd name="connsiteX13-87" fmla="*/ 2808172 w 3076069"/>
                  <a:gd name="connsiteY13-88" fmla="*/ 1316375 h 1316375"/>
                  <a:gd name="connsiteX14-89" fmla="*/ 1537780 w 3076069"/>
                  <a:gd name="connsiteY14-90" fmla="*/ 727041 h 1316375"/>
                  <a:gd name="connsiteX0-91" fmla="*/ 1537780 w 3076069"/>
                  <a:gd name="connsiteY0-92" fmla="*/ 727041 h 1321259"/>
                  <a:gd name="connsiteX1-93" fmla="*/ 313981 w 3076069"/>
                  <a:gd name="connsiteY1-94" fmla="*/ 1321259 h 1321259"/>
                  <a:gd name="connsiteX2-95" fmla="*/ 0 w 3076069"/>
                  <a:gd name="connsiteY2-96" fmla="*/ 1228607 h 1321259"/>
                  <a:gd name="connsiteX3-97" fmla="*/ 962613 w 3076069"/>
                  <a:gd name="connsiteY3-98" fmla="*/ 837478 h 1321259"/>
                  <a:gd name="connsiteX4-99" fmla="*/ 935005 w 3076069"/>
                  <a:gd name="connsiteY4-100" fmla="*/ 450949 h 1321259"/>
                  <a:gd name="connsiteX5-101" fmla="*/ 212596 w 3076069"/>
                  <a:gd name="connsiteY5-102" fmla="*/ 119640 h 1321259"/>
                  <a:gd name="connsiteX6-103" fmla="*/ 456466 w 3076069"/>
                  <a:gd name="connsiteY6-104" fmla="*/ 50617 h 1321259"/>
                  <a:gd name="connsiteX7-105" fmla="*/ 1528577 w 3076069"/>
                  <a:gd name="connsiteY7-106" fmla="*/ 501566 h 1321259"/>
                  <a:gd name="connsiteX8-107" fmla="*/ 2623695 w 3076069"/>
                  <a:gd name="connsiteY8-108" fmla="*/ 0 h 1321259"/>
                  <a:gd name="connsiteX9-109" fmla="*/ 2927383 w 3076069"/>
                  <a:gd name="connsiteY9-110" fmla="*/ 96632 h 1321259"/>
                  <a:gd name="connsiteX10-111" fmla="*/ 2131352 w 3076069"/>
                  <a:gd name="connsiteY10-112" fmla="*/ 432543 h 1321259"/>
                  <a:gd name="connsiteX11-113" fmla="*/ 2292399 w 3076069"/>
                  <a:gd name="connsiteY11-114" fmla="*/ 920305 h 1321259"/>
                  <a:gd name="connsiteX12-115" fmla="*/ 3076069 w 3076069"/>
                  <a:gd name="connsiteY12-116" fmla="*/ 1228607 h 1321259"/>
                  <a:gd name="connsiteX13-117" fmla="*/ 2808172 w 3076069"/>
                  <a:gd name="connsiteY13-118" fmla="*/ 1316375 h 1321259"/>
                  <a:gd name="connsiteX14-119" fmla="*/ 1537780 w 3076069"/>
                  <a:gd name="connsiteY14-120" fmla="*/ 727041 h 1321259"/>
                  <a:gd name="connsiteX0-121" fmla="*/ 1537780 w 3076069"/>
                  <a:gd name="connsiteY0-122" fmla="*/ 750825 h 1321259"/>
                  <a:gd name="connsiteX1-123" fmla="*/ 313981 w 3076069"/>
                  <a:gd name="connsiteY1-124" fmla="*/ 1321259 h 1321259"/>
                  <a:gd name="connsiteX2-125" fmla="*/ 0 w 3076069"/>
                  <a:gd name="connsiteY2-126" fmla="*/ 1228607 h 1321259"/>
                  <a:gd name="connsiteX3-127" fmla="*/ 962613 w 3076069"/>
                  <a:gd name="connsiteY3-128" fmla="*/ 837478 h 1321259"/>
                  <a:gd name="connsiteX4-129" fmla="*/ 935005 w 3076069"/>
                  <a:gd name="connsiteY4-130" fmla="*/ 450949 h 1321259"/>
                  <a:gd name="connsiteX5-131" fmla="*/ 212596 w 3076069"/>
                  <a:gd name="connsiteY5-132" fmla="*/ 119640 h 1321259"/>
                  <a:gd name="connsiteX6-133" fmla="*/ 456466 w 3076069"/>
                  <a:gd name="connsiteY6-134" fmla="*/ 50617 h 1321259"/>
                  <a:gd name="connsiteX7-135" fmla="*/ 1528577 w 3076069"/>
                  <a:gd name="connsiteY7-136" fmla="*/ 501566 h 1321259"/>
                  <a:gd name="connsiteX8-137" fmla="*/ 2623695 w 3076069"/>
                  <a:gd name="connsiteY8-138" fmla="*/ 0 h 1321259"/>
                  <a:gd name="connsiteX9-139" fmla="*/ 2927383 w 3076069"/>
                  <a:gd name="connsiteY9-140" fmla="*/ 96632 h 1321259"/>
                  <a:gd name="connsiteX10-141" fmla="*/ 2131352 w 3076069"/>
                  <a:gd name="connsiteY10-142" fmla="*/ 432543 h 1321259"/>
                  <a:gd name="connsiteX11-143" fmla="*/ 2292399 w 3076069"/>
                  <a:gd name="connsiteY11-144" fmla="*/ 920305 h 1321259"/>
                  <a:gd name="connsiteX12-145" fmla="*/ 3076069 w 3076069"/>
                  <a:gd name="connsiteY12-146" fmla="*/ 1228607 h 1321259"/>
                  <a:gd name="connsiteX13-147" fmla="*/ 2808172 w 3076069"/>
                  <a:gd name="connsiteY13-148" fmla="*/ 1316375 h 1321259"/>
                  <a:gd name="connsiteX14-149" fmla="*/ 1537780 w 3076069"/>
                  <a:gd name="connsiteY14-150" fmla="*/ 750825 h 132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Freeform 205"/>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Freeform 206"/>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Freeform 207"/>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prstDash val="solid"/>
                    <a:round/>
                  </a14:hiddenLine>
                </a:ext>
              </a:extLst>
            </p:spPr>
            <p:txBody>
              <a:bodyPr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6" name="Straight Connector 208"/>
              <p:cNvCxnSpPr>
                <a:cxnSpLocks noChangeShapeType="1"/>
                <a:endCxn id="41" idx="2"/>
              </p:cNvCxnSpPr>
              <p:nvPr/>
            </p:nvCxnSpPr>
            <p:spPr bwMode="auto">
              <a:xfrm flipH="1" flipV="1">
                <a:off x="1871277" y="1737243"/>
                <a:ext cx="3169"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7" name="Straight Connector 209"/>
              <p:cNvCxnSpPr>
                <a:cxnSpLocks noChangeShapeType="1"/>
              </p:cNvCxnSpPr>
              <p:nvPr/>
            </p:nvCxnSpPr>
            <p:spPr bwMode="auto">
              <a:xfrm flipH="1" flipV="1">
                <a:off x="2996477" y="1734877"/>
                <a:ext cx="3171" cy="123074"/>
              </a:xfrm>
              <a:prstGeom prst="line">
                <a:avLst/>
              </a:prstGeom>
              <a:noFill/>
              <a:ln w="6350">
                <a:solidFill>
                  <a:schemeClr val="tx1"/>
                </a:solidFill>
                <a:rou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pic>
          <p:nvPicPr>
            <p:cNvPr id="181302" name="Picture 70" descr="desktop_computer_stylized_medium"/>
            <p:cNvPicPr>
              <a:picLocks noChangeAspect="1"/>
            </p:cNvPicPr>
            <p:nvPr/>
          </p:nvPicPr>
          <p:blipFill>
            <a:blip r:embed="rId3"/>
            <a:stretch>
              <a:fillRect/>
            </a:stretch>
          </p:blipFill>
          <p:spPr>
            <a:xfrm flipH="1">
              <a:off x="11535" y="5034"/>
              <a:ext cx="1633" cy="1451"/>
            </a:xfrm>
            <a:prstGeom prst="rect">
              <a:avLst/>
            </a:prstGeom>
            <a:noFill/>
            <a:ln w="9525">
              <a:noFill/>
            </a:ln>
          </p:spPr>
        </p:pic>
      </p:grpSp>
      <p:sp>
        <p:nvSpPr>
          <p:cNvPr id="8" name="圆角矩形标注 7">
            <a:extLst>
              <a:ext uri="{FF2B5EF4-FFF2-40B4-BE49-F238E27FC236}">
                <a16:creationId xmlns:a16="http://schemas.microsoft.com/office/drawing/2014/main" id="{241C4CBB-058E-E14A-9AE4-AE3D017CBFB8}"/>
              </a:ext>
            </a:extLst>
          </p:cNvPr>
          <p:cNvSpPr/>
          <p:nvPr/>
        </p:nvSpPr>
        <p:spPr>
          <a:xfrm>
            <a:off x="8462156" y="4851467"/>
            <a:ext cx="2628115" cy="1269976"/>
          </a:xfrm>
          <a:prstGeom prst="wedgeRoundRectCallout">
            <a:avLst>
              <a:gd name="adj1" fmla="val -23110"/>
              <a:gd name="adj2" fmla="val -106704"/>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zh-CN" altLang="en-US" sz="2200" dirty="0">
                <a:solidFill>
                  <a:prstClr val="black"/>
                </a:solidFill>
                <a:latin typeface="Microsoft YaHei" panose="020B0503020204020204" pitchFamily="34" charset="-122"/>
                <a:ea typeface="Microsoft YaHei" panose="020B0503020204020204" pitchFamily="34" charset="-122"/>
                <a:sym typeface="+mn-ea"/>
              </a:rPr>
              <a:t>在交换机上：大包和小包，哪个更容易实现</a:t>
            </a:r>
            <a:r>
              <a:rPr lang="zh-CN" altLang="en-US" sz="2200" dirty="0">
                <a:solidFill>
                  <a:srgbClr val="C00000"/>
                </a:solidFill>
                <a:latin typeface="Microsoft YaHei" panose="020B0503020204020204" pitchFamily="34" charset="-122"/>
                <a:ea typeface="Microsoft YaHei" panose="020B0503020204020204" pitchFamily="34" charset="-122"/>
                <a:sym typeface="+mn-ea"/>
              </a:rPr>
              <a:t>线速</a:t>
            </a:r>
            <a:r>
              <a:rPr lang="zh-CN" altLang="en-US" sz="2200" dirty="0">
                <a:solidFill>
                  <a:prstClr val="black"/>
                </a:solidFill>
                <a:latin typeface="Microsoft YaHei" panose="020B0503020204020204" pitchFamily="34" charset="-122"/>
                <a:ea typeface="Microsoft YaHei" panose="020B0503020204020204" pitchFamily="34" charset="-122"/>
                <a:sym typeface="+mn-ea"/>
              </a:rPr>
              <a:t>？</a:t>
            </a:r>
            <a:endParaRPr lang="zh-CN" altLang="en-US" dirty="0">
              <a:solidFill>
                <a:prstClr val="black"/>
              </a:solidFill>
            </a:endParaRPr>
          </a:p>
        </p:txBody>
      </p:sp>
      <p:sp>
        <p:nvSpPr>
          <p:cNvPr id="74" name="文本框 73">
            <a:extLst>
              <a:ext uri="{FF2B5EF4-FFF2-40B4-BE49-F238E27FC236}">
                <a16:creationId xmlns:a16="http://schemas.microsoft.com/office/drawing/2014/main" id="{C8B0CA96-5792-684F-B69D-75EFD6C6EB1C}"/>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pic>
        <p:nvPicPr>
          <p:cNvPr id="75" name="Picture 28" descr="015">
            <a:extLst>
              <a:ext uri="{FF2B5EF4-FFF2-40B4-BE49-F238E27FC236}">
                <a16:creationId xmlns:a16="http://schemas.microsoft.com/office/drawing/2014/main" id="{C8D49BDB-257F-4903-8304-8CF50BECC1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011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计算机网络度量单位</a:t>
            </a:r>
          </a:p>
        </p:txBody>
      </p:sp>
      <p:sp>
        <p:nvSpPr>
          <p:cNvPr id="3" name="内容占位符 2"/>
          <p:cNvSpPr>
            <a:spLocks noGrp="1"/>
          </p:cNvSpPr>
          <p:nvPr>
            <p:ph idx="1"/>
          </p:nvPr>
        </p:nvSpPr>
        <p:spPr>
          <a:xfrm>
            <a:off x="838200" y="1349560"/>
            <a:ext cx="10938510" cy="5146675"/>
          </a:xfrm>
        </p:spPr>
        <p:txBody>
          <a:bodyPr>
            <a:noAutofit/>
          </a:bodyPr>
          <a:lstStyle/>
          <a:p>
            <a:pPr>
              <a:lnSpc>
                <a:spcPct val="120000"/>
              </a:lnSpc>
            </a:pPr>
            <a:r>
              <a:rPr kumimoji="1" lang="zh-CN" altLang="en-US" dirty="0"/>
              <a:t>时延</a:t>
            </a:r>
            <a:r>
              <a:rPr kumimoji="1" lang="en-US" altLang="zh-CN" dirty="0"/>
              <a:t>(Delay)</a:t>
            </a:r>
            <a:endParaRPr lang="zh-CN" altLang="en-US" kern="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sym typeface="+mn-ea"/>
            </a:endParaRPr>
          </a:p>
          <a:p>
            <a:pPr lvl="1" algn="l">
              <a:lnSpc>
                <a:spcPct val="130000"/>
              </a:lnSpc>
              <a:spcBef>
                <a:spcPts val="0"/>
              </a:spcBef>
              <a:spcAft>
                <a:spcPts val="0"/>
              </a:spcAft>
              <a:buClrTx/>
              <a:buSzTx/>
              <a:buChar char="•"/>
            </a:pPr>
            <a:r>
              <a:rPr lang="zh-CN" altLang="zh-CN" dirty="0">
                <a:sym typeface="+mn-ea"/>
              </a:rPr>
              <a:t>时延 (delay 或 latency) 是指数据（一个报文或分组）从网络（或链路）的一端传送到另一端所需的时间</a:t>
            </a:r>
            <a:r>
              <a:rPr lang="zh-CN" altLang="en-US" dirty="0">
                <a:sym typeface="+mn-ea"/>
              </a:rPr>
              <a:t>，</a:t>
            </a:r>
            <a:r>
              <a:rPr lang="zh-CN" altLang="zh-CN" dirty="0">
                <a:sym typeface="+mn-ea"/>
              </a:rPr>
              <a:t>也称为延迟</a:t>
            </a:r>
            <a:endParaRPr lang="zh-CN" altLang="zh-CN" dirty="0">
              <a:latin typeface="微软雅黑" panose="020B0503020204020204" pitchFamily="34" charset="-122"/>
              <a:ea typeface="微软雅黑" panose="020B0503020204020204" pitchFamily="34" charset="-122"/>
            </a:endParaRPr>
          </a:p>
          <a:p>
            <a:pPr lvl="1">
              <a:lnSpc>
                <a:spcPct val="130000"/>
              </a:lnSpc>
              <a:spcBef>
                <a:spcPts val="0"/>
              </a:spcBef>
            </a:pPr>
            <a:r>
              <a:rPr kumimoji="1" lang="zh-CN" altLang="en-US" dirty="0">
                <a:solidFill>
                  <a:srgbClr val="C00000"/>
                </a:solidFill>
              </a:rPr>
              <a:t>传输时延</a:t>
            </a:r>
            <a:r>
              <a:rPr kumimoji="1" lang="en-US" altLang="zh-CN" dirty="0">
                <a:solidFill>
                  <a:srgbClr val="C00000"/>
                </a:solidFill>
              </a:rPr>
              <a:t>(</a:t>
            </a:r>
            <a:r>
              <a:rPr kumimoji="1" lang="zh-CN" altLang="en-US" dirty="0">
                <a:solidFill>
                  <a:srgbClr val="C00000"/>
                </a:solidFill>
                <a:sym typeface="+mn-ea"/>
              </a:rPr>
              <a:t>transmission delay</a:t>
            </a:r>
            <a:r>
              <a:rPr kumimoji="1" lang="en-US" altLang="zh-CN" dirty="0">
                <a:solidFill>
                  <a:srgbClr val="C00000"/>
                </a:solidFill>
                <a:sym typeface="+mn-ea"/>
              </a:rPr>
              <a:t>)</a:t>
            </a:r>
            <a:r>
              <a:rPr kumimoji="1" lang="zh-CN" altLang="en-US" dirty="0"/>
              <a:t>：</a:t>
            </a:r>
            <a:r>
              <a:rPr kumimoji="1" lang="zh-CN" altLang="en-US" dirty="0">
                <a:sym typeface="+mn-ea"/>
              </a:rPr>
              <a:t>数据从结点进入到传输媒体所需要的时间，</a:t>
            </a:r>
            <a:r>
              <a:rPr kumimoji="1" lang="zh-CN" altLang="en-US" dirty="0"/>
              <a:t>传输时延又称为</a:t>
            </a:r>
            <a:r>
              <a:rPr kumimoji="1" lang="zh-CN" altLang="en-US" dirty="0">
                <a:solidFill>
                  <a:srgbClr val="C00000"/>
                </a:solidFill>
              </a:rPr>
              <a:t>发送时延</a:t>
            </a:r>
            <a:endParaRPr kumimoji="1" lang="zh-CN" altLang="en-US" dirty="0"/>
          </a:p>
          <a:p>
            <a:pPr lvl="1" algn="l">
              <a:lnSpc>
                <a:spcPct val="130000"/>
              </a:lnSpc>
              <a:spcBef>
                <a:spcPts val="0"/>
              </a:spcBef>
              <a:spcAft>
                <a:spcPts val="0"/>
              </a:spcAft>
              <a:buClrTx/>
              <a:buSzTx/>
            </a:pPr>
            <a:r>
              <a:rPr kumimoji="1" lang="zh-CN" altLang="en-US" dirty="0">
                <a:solidFill>
                  <a:srgbClr val="C00000"/>
                </a:solidFill>
              </a:rPr>
              <a:t>传播时延</a:t>
            </a:r>
            <a:r>
              <a:rPr kumimoji="1" lang="en-US" altLang="zh-CN" dirty="0">
                <a:solidFill>
                  <a:srgbClr val="C00000"/>
                </a:solidFill>
              </a:rPr>
              <a:t>(</a:t>
            </a:r>
            <a:r>
              <a:rPr kumimoji="1" lang="zh-CN" altLang="en-US" dirty="0">
                <a:solidFill>
                  <a:srgbClr val="C00000"/>
                </a:solidFill>
                <a:sym typeface="+mn-ea"/>
              </a:rPr>
              <a:t>propagation delay</a:t>
            </a:r>
            <a:r>
              <a:rPr kumimoji="1" lang="en-US" altLang="zh-CN" dirty="0">
                <a:solidFill>
                  <a:srgbClr val="C00000"/>
                </a:solidFill>
                <a:sym typeface="+mn-ea"/>
              </a:rPr>
              <a:t>)</a:t>
            </a:r>
            <a:r>
              <a:rPr kumimoji="1" lang="zh-CN" altLang="en-US" dirty="0"/>
              <a:t>：</a:t>
            </a:r>
            <a:r>
              <a:rPr kumimoji="1" lang="zh-CN" altLang="en-US" dirty="0">
                <a:sym typeface="+mn-ea"/>
              </a:rPr>
              <a:t>电磁波在信道中需要传播一定距离而花费的时间</a:t>
            </a:r>
            <a:endParaRPr kumimoji="1" lang="zh-CN" altLang="en-US" dirty="0"/>
          </a:p>
          <a:p>
            <a:pPr lvl="1" algn="l">
              <a:lnSpc>
                <a:spcPct val="130000"/>
              </a:lnSpc>
              <a:spcBef>
                <a:spcPts val="0"/>
              </a:spcBef>
              <a:spcAft>
                <a:spcPts val="0"/>
              </a:spcAft>
              <a:buClrTx/>
              <a:buSzTx/>
            </a:pPr>
            <a:r>
              <a:rPr kumimoji="1" lang="zh-CN" altLang="en-US" dirty="0">
                <a:solidFill>
                  <a:srgbClr val="C00000"/>
                </a:solidFill>
              </a:rPr>
              <a:t>处理时延</a:t>
            </a:r>
            <a:r>
              <a:rPr kumimoji="1" lang="en-US" altLang="zh-CN" dirty="0">
                <a:solidFill>
                  <a:srgbClr val="C00000"/>
                </a:solidFill>
              </a:rPr>
              <a:t>(</a:t>
            </a:r>
            <a:r>
              <a:rPr kumimoji="1" lang="zh-CN" altLang="en-US" dirty="0">
                <a:solidFill>
                  <a:srgbClr val="C00000"/>
                </a:solidFill>
                <a:sym typeface="+mn-ea"/>
              </a:rPr>
              <a:t>processing delay</a:t>
            </a:r>
            <a:r>
              <a:rPr kumimoji="1" lang="en-US" altLang="zh-CN" dirty="0">
                <a:solidFill>
                  <a:srgbClr val="C00000"/>
                </a:solidFill>
                <a:sym typeface="+mn-ea"/>
              </a:rPr>
              <a:t>)</a:t>
            </a:r>
            <a:r>
              <a:rPr kumimoji="1" lang="zh-CN" altLang="en-US" dirty="0"/>
              <a:t>：</a:t>
            </a:r>
            <a:r>
              <a:rPr kumimoji="1" lang="zh-CN" altLang="en-US" dirty="0">
                <a:sym typeface="+mn-ea"/>
              </a:rPr>
              <a:t>主机或路由器在收到分组时，为处理分组（例如分析首部、提取数据、差错检验或查找路由）所花费的时间</a:t>
            </a:r>
            <a:endParaRPr kumimoji="1" lang="zh-CN" altLang="en-US" dirty="0"/>
          </a:p>
          <a:p>
            <a:pPr lvl="1" algn="l">
              <a:lnSpc>
                <a:spcPct val="130000"/>
              </a:lnSpc>
              <a:spcBef>
                <a:spcPts val="0"/>
              </a:spcBef>
              <a:spcAft>
                <a:spcPts val="0"/>
              </a:spcAft>
              <a:buClrTx/>
              <a:buSzTx/>
            </a:pPr>
            <a:r>
              <a:rPr kumimoji="1" lang="zh-CN" altLang="en-US" dirty="0">
                <a:solidFill>
                  <a:srgbClr val="C00000"/>
                </a:solidFill>
              </a:rPr>
              <a:t>排队时延</a:t>
            </a:r>
            <a:r>
              <a:rPr kumimoji="1" lang="en-US" altLang="zh-CN" dirty="0">
                <a:solidFill>
                  <a:srgbClr val="C00000"/>
                </a:solidFill>
              </a:rPr>
              <a:t>(</a:t>
            </a:r>
            <a:r>
              <a:rPr kumimoji="1" lang="zh-CN" altLang="en-US" dirty="0">
                <a:solidFill>
                  <a:srgbClr val="C00000"/>
                </a:solidFill>
                <a:sym typeface="+mn-ea"/>
              </a:rPr>
              <a:t>queueing delay</a:t>
            </a:r>
            <a:r>
              <a:rPr kumimoji="1" lang="en-US" altLang="zh-CN" dirty="0">
                <a:solidFill>
                  <a:srgbClr val="C00000"/>
                </a:solidFill>
                <a:sym typeface="+mn-ea"/>
              </a:rPr>
              <a:t>)</a:t>
            </a:r>
            <a:r>
              <a:rPr kumimoji="1" lang="zh-CN" altLang="en-US" dirty="0"/>
              <a:t>：</a:t>
            </a:r>
            <a:r>
              <a:rPr kumimoji="1" lang="zh-CN" altLang="en-US" dirty="0">
                <a:sym typeface="+mn-ea"/>
              </a:rPr>
              <a:t>分组在路由器输入输出队列中排队等待处理所经历的时延</a:t>
            </a:r>
            <a:endParaRPr kumimoji="1" lang="zh-CN" altLang="en-US" dirty="0"/>
          </a:p>
          <a:p>
            <a:endParaRPr kumimoji="1" lang="zh-CN" altLang="en-US" dirty="0"/>
          </a:p>
        </p:txBody>
      </p:sp>
      <p:sp>
        <p:nvSpPr>
          <p:cNvPr id="5" name="灯片编号占位符 4">
            <a:extLst>
              <a:ext uri="{FF2B5EF4-FFF2-40B4-BE49-F238E27FC236}">
                <a16:creationId xmlns:a16="http://schemas.microsoft.com/office/drawing/2014/main" id="{3E31E858-C3E8-6644-9841-A37EA09EFCA9}"/>
              </a:ext>
            </a:extLst>
          </p:cNvPr>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sp>
        <p:nvSpPr>
          <p:cNvPr id="6" name="文本框 5">
            <a:extLst>
              <a:ext uri="{FF2B5EF4-FFF2-40B4-BE49-F238E27FC236}">
                <a16:creationId xmlns:a16="http://schemas.microsoft.com/office/drawing/2014/main" id="{76E5B3A3-36FF-934F-BEAE-F716686390F5}"/>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sp>
        <p:nvSpPr>
          <p:cNvPr id="4" name="矩形 3">
            <a:extLst>
              <a:ext uri="{FF2B5EF4-FFF2-40B4-BE49-F238E27FC236}">
                <a16:creationId xmlns:a16="http://schemas.microsoft.com/office/drawing/2014/main" id="{097B6360-05FC-4A4B-9C9E-33B078F8F4A5}"/>
              </a:ext>
            </a:extLst>
          </p:cNvPr>
          <p:cNvSpPr/>
          <p:nvPr/>
        </p:nvSpPr>
        <p:spPr>
          <a:xfrm>
            <a:off x="3952580" y="1349560"/>
            <a:ext cx="6185333" cy="461665"/>
          </a:xfrm>
          <a:prstGeom prst="rect">
            <a:avLst/>
          </a:prstGeom>
          <a:ln>
            <a:solidFill>
              <a:srgbClr val="C00000"/>
            </a:solidFill>
          </a:ln>
        </p:spPr>
        <p:txBody>
          <a:bodyPr wrap="square">
            <a:spAutoFit/>
          </a:bodyPr>
          <a:lstStyle/>
          <a:p>
            <a:pPr algn="ctr"/>
            <a:r>
              <a:rPr lang="zh-CN" altLang="en-US" sz="2400" dirty="0">
                <a:solidFill>
                  <a:srgbClr val="C00000"/>
                </a:solidFill>
                <a:latin typeface="Microsoft YaHei" panose="020B0503020204020204" pitchFamily="34" charset="-122"/>
                <a:ea typeface="Microsoft YaHei" panose="020B0503020204020204" pitchFamily="34" charset="-122"/>
                <a:sym typeface="+mn-ea"/>
              </a:rPr>
              <a:t>通用方法：将一个大问题分成多个小问题</a:t>
            </a:r>
            <a:endParaRPr lang="zh-CN" altLang="en-US" sz="1600" dirty="0">
              <a:solidFill>
                <a:srgbClr val="C00000"/>
              </a:solidFill>
            </a:endParaRPr>
          </a:p>
        </p:txBody>
      </p:sp>
      <p:pic>
        <p:nvPicPr>
          <p:cNvPr id="7" name="Picture 28" descr="015">
            <a:extLst>
              <a:ext uri="{FF2B5EF4-FFF2-40B4-BE49-F238E27FC236}">
                <a16:creationId xmlns:a16="http://schemas.microsoft.com/office/drawing/2014/main" id="{FAC4561A-E65E-4568-932A-36480CD084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486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计算机网络度量单位</a:t>
            </a:r>
            <a:endParaRPr lang="zh-CN" altLang="en-US"/>
          </a:p>
        </p:txBody>
      </p:sp>
      <p:sp>
        <p:nvSpPr>
          <p:cNvPr id="9" name="内容占位符 8"/>
          <p:cNvSpPr>
            <a:spLocks noGrp="1"/>
          </p:cNvSpPr>
          <p:nvPr>
            <p:ph idx="1"/>
          </p:nvPr>
        </p:nvSpPr>
        <p:spPr>
          <a:xfrm>
            <a:off x="838200" y="1480185"/>
            <a:ext cx="10938510" cy="797560"/>
          </a:xfrm>
        </p:spPr>
        <p:txBody>
          <a:bodyPr>
            <a:noAutofit/>
          </a:bodyPr>
          <a:lstStyle/>
          <a:p>
            <a:r>
              <a:rPr kumimoji="1" lang="zh-CN" altLang="en-US" dirty="0"/>
              <a:t>四种时延产生的地方</a:t>
            </a:r>
          </a:p>
        </p:txBody>
      </p:sp>
      <p:sp>
        <p:nvSpPr>
          <p:cNvPr id="6" name="灯片编号占位符 5">
            <a:extLst>
              <a:ext uri="{FF2B5EF4-FFF2-40B4-BE49-F238E27FC236}">
                <a16:creationId xmlns:a16="http://schemas.microsoft.com/office/drawing/2014/main" id="{13213D07-A074-534B-AE82-FEB1667684E8}"/>
              </a:ext>
            </a:extLst>
          </p:cNvPr>
          <p:cNvSpPr>
            <a:spLocks noGrp="1"/>
          </p:cNvSpPr>
          <p:nvPr>
            <p:ph type="sldNum" sz="quarter" idx="12"/>
          </p:nvPr>
        </p:nvSpPr>
        <p:spPr/>
        <p:txBody>
          <a:bodyPr/>
          <a:lstStyle/>
          <a:p>
            <a:fld id="{8D4D1E41-7A09-AB4A-A4E1-09765ADA2698}" type="slidenum">
              <a:rPr kumimoji="1" lang="zh-CN" altLang="en-US" smtClean="0"/>
              <a:t>89</a:t>
            </a:fld>
            <a:endParaRPr kumimoji="1" lang="zh-CN" altLang="en-US" dirty="0"/>
          </a:p>
        </p:txBody>
      </p:sp>
      <p:grpSp>
        <p:nvGrpSpPr>
          <p:cNvPr id="10" name="组合 9"/>
          <p:cNvGrpSpPr/>
          <p:nvPr/>
        </p:nvGrpSpPr>
        <p:grpSpPr>
          <a:xfrm>
            <a:off x="3980180" y="2330450"/>
            <a:ext cx="7874635" cy="2943225"/>
            <a:chOff x="2745" y="1968"/>
            <a:chExt cx="9325" cy="3418"/>
          </a:xfrm>
        </p:grpSpPr>
        <p:sp>
          <p:nvSpPr>
            <p:cNvPr id="181252" name="Oval 7"/>
            <p:cNvSpPr/>
            <p:nvPr/>
          </p:nvSpPr>
          <p:spPr>
            <a:xfrm>
              <a:off x="5278" y="3495"/>
              <a:ext cx="1887" cy="583"/>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53" name="Rectangle 8"/>
            <p:cNvSpPr/>
            <p:nvPr/>
          </p:nvSpPr>
          <p:spPr>
            <a:xfrm>
              <a:off x="5278" y="3388"/>
              <a:ext cx="1887" cy="415"/>
            </a:xfrm>
            <a:prstGeom prst="rect">
              <a:avLst/>
            </a:prstGeom>
            <a:solidFill>
              <a:schemeClr val="hlink"/>
            </a:solidFill>
            <a:ln w="12700">
              <a:noFill/>
            </a:ln>
          </p:spPr>
          <p:txBody>
            <a:bodyPr wrap="none" anchor="ctr"/>
            <a:lstStyle/>
            <a:p>
              <a:pPr algn="ctr"/>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54" name="Oval 9"/>
            <p:cNvSpPr/>
            <p:nvPr/>
          </p:nvSpPr>
          <p:spPr>
            <a:xfrm>
              <a:off x="5293" y="3028"/>
              <a:ext cx="1887" cy="677"/>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grpSp>
          <p:nvGrpSpPr>
            <p:cNvPr id="181255" name="Group 10"/>
            <p:cNvGrpSpPr/>
            <p:nvPr/>
          </p:nvGrpSpPr>
          <p:grpSpPr>
            <a:xfrm>
              <a:off x="5838" y="3075"/>
              <a:ext cx="785" cy="188"/>
              <a:chOff x="2208" y="2184"/>
              <a:chExt cx="176" cy="69"/>
            </a:xfrm>
          </p:grpSpPr>
          <p:grpSp>
            <p:nvGrpSpPr>
              <p:cNvPr id="181256" name="Group 11"/>
              <p:cNvGrpSpPr/>
              <p:nvPr/>
            </p:nvGrpSpPr>
            <p:grpSpPr>
              <a:xfrm>
                <a:off x="2208" y="2185"/>
                <a:ext cx="176" cy="68"/>
                <a:chOff x="2848" y="848"/>
                <a:chExt cx="140" cy="98"/>
              </a:xfrm>
            </p:grpSpPr>
            <p:sp>
              <p:nvSpPr>
                <p:cNvPr id="181257" name="Line 1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1258" name="Line 1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1259" name="Line 1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1260" name="Group 15"/>
              <p:cNvGrpSpPr/>
              <p:nvPr/>
            </p:nvGrpSpPr>
            <p:grpSpPr>
              <a:xfrm flipV="1">
                <a:off x="2208" y="2184"/>
                <a:ext cx="176" cy="68"/>
                <a:chOff x="2848" y="848"/>
                <a:chExt cx="140" cy="98"/>
              </a:xfrm>
            </p:grpSpPr>
            <p:sp>
              <p:nvSpPr>
                <p:cNvPr id="181261" name="Line 1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1262" name="Line 1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1263" name="Line 1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81264" name="Oval 19"/>
            <p:cNvSpPr/>
            <p:nvPr/>
          </p:nvSpPr>
          <p:spPr>
            <a:xfrm>
              <a:off x="10153" y="3525"/>
              <a:ext cx="1887" cy="583"/>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65" name="Line 20"/>
            <p:cNvSpPr/>
            <p:nvPr/>
          </p:nvSpPr>
          <p:spPr>
            <a:xfrm>
              <a:off x="10168" y="3493"/>
              <a:ext cx="0" cy="360"/>
            </a:xfrm>
            <a:prstGeom prst="line">
              <a:avLst/>
            </a:prstGeom>
            <a:ln w="12700" cap="flat" cmpd="sng">
              <a:solidFill>
                <a:schemeClr val="tx1"/>
              </a:solidFill>
              <a:prstDash val="solid"/>
              <a:round/>
              <a:headEnd type="none" w="med" len="med"/>
              <a:tailEnd type="none" w="med" len="med"/>
            </a:ln>
          </p:spPr>
        </p:sp>
        <p:sp>
          <p:nvSpPr>
            <p:cNvPr id="181266" name="Rectangle 21"/>
            <p:cNvSpPr/>
            <p:nvPr/>
          </p:nvSpPr>
          <p:spPr>
            <a:xfrm>
              <a:off x="10168" y="3433"/>
              <a:ext cx="1887" cy="415"/>
            </a:xfrm>
            <a:prstGeom prst="rect">
              <a:avLst/>
            </a:prstGeom>
            <a:solidFill>
              <a:schemeClr val="hlink"/>
            </a:solidFill>
            <a:ln w="12700">
              <a:noFill/>
            </a:ln>
          </p:spPr>
          <p:txBody>
            <a:bodyPr wrap="none" anchor="ctr"/>
            <a:lstStyle/>
            <a:p>
              <a:pPr algn="ctr"/>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67" name="Oval 22"/>
            <p:cNvSpPr/>
            <p:nvPr/>
          </p:nvSpPr>
          <p:spPr>
            <a:xfrm>
              <a:off x="10183" y="3073"/>
              <a:ext cx="1887" cy="677"/>
            </a:xfrm>
            <a:prstGeom prst="ellipse">
              <a:avLst/>
            </a:prstGeom>
            <a:solidFill>
              <a:schemeClr val="hlink"/>
            </a:solidFill>
            <a:ln w="12700">
              <a:noFill/>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68" name="Line 24"/>
            <p:cNvSpPr/>
            <p:nvPr/>
          </p:nvSpPr>
          <p:spPr>
            <a:xfrm>
              <a:off x="4128" y="2925"/>
              <a:ext cx="1167" cy="560"/>
            </a:xfrm>
            <a:prstGeom prst="line">
              <a:avLst/>
            </a:prstGeom>
            <a:ln w="19050" cap="flat" cmpd="sng">
              <a:solidFill>
                <a:schemeClr val="tx1"/>
              </a:solidFill>
              <a:prstDash val="solid"/>
              <a:round/>
              <a:headEnd type="none" w="med" len="med"/>
              <a:tailEnd type="none" w="med" len="med"/>
            </a:ln>
          </p:spPr>
        </p:sp>
        <p:sp>
          <p:nvSpPr>
            <p:cNvPr id="181269" name="Line 25"/>
            <p:cNvSpPr/>
            <p:nvPr/>
          </p:nvSpPr>
          <p:spPr>
            <a:xfrm flipV="1">
              <a:off x="4608" y="3775"/>
              <a:ext cx="675" cy="710"/>
            </a:xfrm>
            <a:prstGeom prst="line">
              <a:avLst/>
            </a:prstGeom>
            <a:ln w="19050" cap="flat" cmpd="sng">
              <a:solidFill>
                <a:schemeClr val="tx1"/>
              </a:solidFill>
              <a:prstDash val="solid"/>
              <a:round/>
              <a:headEnd type="none" w="med" len="med"/>
              <a:tailEnd type="none" w="med" len="med"/>
            </a:ln>
          </p:spPr>
        </p:sp>
        <p:sp>
          <p:nvSpPr>
            <p:cNvPr id="181270" name="Line 26"/>
            <p:cNvSpPr/>
            <p:nvPr/>
          </p:nvSpPr>
          <p:spPr>
            <a:xfrm>
              <a:off x="7158" y="3585"/>
              <a:ext cx="3045" cy="15"/>
            </a:xfrm>
            <a:prstGeom prst="line">
              <a:avLst/>
            </a:prstGeom>
            <a:ln w="19050" cap="flat" cmpd="sng">
              <a:solidFill>
                <a:schemeClr val="tx1"/>
              </a:solidFill>
              <a:prstDash val="solid"/>
              <a:round/>
              <a:headEnd type="none" w="med" len="med"/>
              <a:tailEnd type="none" w="med" len="med"/>
            </a:ln>
          </p:spPr>
        </p:sp>
        <p:sp>
          <p:nvSpPr>
            <p:cNvPr id="181271" name="Rectangle 29"/>
            <p:cNvSpPr/>
            <p:nvPr/>
          </p:nvSpPr>
          <p:spPr>
            <a:xfrm>
              <a:off x="8605" y="3270"/>
              <a:ext cx="233"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2" name="Rectangle 30"/>
            <p:cNvSpPr/>
            <p:nvPr/>
          </p:nvSpPr>
          <p:spPr>
            <a:xfrm>
              <a:off x="6633" y="3383"/>
              <a:ext cx="232"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3" name="Rectangle 31"/>
            <p:cNvSpPr/>
            <p:nvPr/>
          </p:nvSpPr>
          <p:spPr>
            <a:xfrm>
              <a:off x="6888" y="3383"/>
              <a:ext cx="232" cy="31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4" name="Rectangle 32"/>
            <p:cNvSpPr/>
            <p:nvPr/>
          </p:nvSpPr>
          <p:spPr>
            <a:xfrm>
              <a:off x="4975" y="3225"/>
              <a:ext cx="233"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75" name="Line 33"/>
            <p:cNvSpPr/>
            <p:nvPr/>
          </p:nvSpPr>
          <p:spPr>
            <a:xfrm>
              <a:off x="4898" y="3125"/>
              <a:ext cx="332" cy="0"/>
            </a:xfrm>
            <a:prstGeom prst="line">
              <a:avLst/>
            </a:prstGeom>
            <a:ln w="9525" cap="flat" cmpd="sng">
              <a:solidFill>
                <a:schemeClr val="tx1"/>
              </a:solidFill>
              <a:prstDash val="solid"/>
              <a:round/>
              <a:headEnd type="none" w="med" len="med"/>
              <a:tailEnd type="triangle" w="med" len="med"/>
            </a:ln>
          </p:spPr>
        </p:sp>
        <p:sp>
          <p:nvSpPr>
            <p:cNvPr id="181276" name="Line 35"/>
            <p:cNvSpPr/>
            <p:nvPr/>
          </p:nvSpPr>
          <p:spPr>
            <a:xfrm flipV="1">
              <a:off x="9820" y="2955"/>
              <a:ext cx="578" cy="0"/>
            </a:xfrm>
            <a:prstGeom prst="line">
              <a:avLst/>
            </a:prstGeom>
            <a:ln w="9525" cap="flat" cmpd="sng">
              <a:solidFill>
                <a:schemeClr val="tx1"/>
              </a:solidFill>
              <a:prstDash val="solid"/>
              <a:round/>
              <a:headEnd type="none" w="med" len="med"/>
              <a:tailEnd type="triangle" w="med" len="med"/>
            </a:ln>
          </p:spPr>
        </p:sp>
        <p:sp>
          <p:nvSpPr>
            <p:cNvPr id="181277" name="Text Box 36"/>
            <p:cNvSpPr txBox="1"/>
            <p:nvPr/>
          </p:nvSpPr>
          <p:spPr>
            <a:xfrm>
              <a:off x="2745" y="2428"/>
              <a:ext cx="610" cy="463"/>
            </a:xfrm>
            <a:prstGeom prst="rect">
              <a:avLst/>
            </a:prstGeom>
            <a:noFill/>
            <a:ln w="9525">
              <a:noFill/>
            </a:ln>
          </p:spPr>
          <p:txBody>
            <a:bodyPr wrap="square" anchor="t">
              <a:spAutoFit/>
            </a:bodyPr>
            <a:lstStyle/>
            <a:p>
              <a:r>
                <a:rPr lang="en-US" altLang="zh-CN" sz="2000" dirty="0">
                  <a:solidFill>
                    <a:srgbClr val="006600"/>
                  </a:solidFill>
                  <a:latin typeface="微软雅黑" panose="020B0503020204020204" pitchFamily="34" charset="-122"/>
                  <a:ea typeface="微软雅黑" panose="020B0503020204020204" pitchFamily="34" charset="-122"/>
                </a:rPr>
                <a:t>A</a:t>
              </a:r>
            </a:p>
          </p:txBody>
        </p:sp>
        <p:sp>
          <p:nvSpPr>
            <p:cNvPr id="181278" name="Text Box 37"/>
            <p:cNvSpPr txBox="1"/>
            <p:nvPr/>
          </p:nvSpPr>
          <p:spPr>
            <a:xfrm>
              <a:off x="3023" y="3928"/>
              <a:ext cx="610" cy="463"/>
            </a:xfrm>
            <a:prstGeom prst="rect">
              <a:avLst/>
            </a:prstGeom>
            <a:noFill/>
            <a:ln w="9525">
              <a:noFill/>
            </a:ln>
          </p:spPr>
          <p:txBody>
            <a:bodyPr wrap="square" anchor="t">
              <a:spAutoFit/>
            </a:bodyPr>
            <a:lstStyle/>
            <a:p>
              <a:r>
                <a:rPr lang="en-US" altLang="zh-CN" sz="2000" dirty="0">
                  <a:solidFill>
                    <a:srgbClr val="000099"/>
                  </a:solidFill>
                  <a:latin typeface="微软雅黑" panose="020B0503020204020204" pitchFamily="34" charset="-122"/>
                  <a:ea typeface="微软雅黑" panose="020B0503020204020204" pitchFamily="34" charset="-122"/>
                </a:rPr>
                <a:t>B</a:t>
              </a:r>
            </a:p>
          </p:txBody>
        </p:sp>
        <p:sp>
          <p:nvSpPr>
            <p:cNvPr id="181279" name="Rectangle 38"/>
            <p:cNvSpPr/>
            <p:nvPr/>
          </p:nvSpPr>
          <p:spPr>
            <a:xfrm>
              <a:off x="7090" y="3383"/>
              <a:ext cx="233" cy="31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zh-CN" sz="2000" dirty="0">
                <a:solidFill>
                  <a:srgbClr val="000000"/>
                </a:solidFill>
                <a:latin typeface="微软雅黑" panose="020B0503020204020204" pitchFamily="34" charset="-122"/>
                <a:ea typeface="微软雅黑" panose="020B0503020204020204" pitchFamily="34" charset="-122"/>
              </a:endParaRPr>
            </a:p>
          </p:txBody>
        </p:sp>
        <p:sp>
          <p:nvSpPr>
            <p:cNvPr id="181280" name="Text Box 39"/>
            <p:cNvSpPr txBox="1"/>
            <p:nvPr/>
          </p:nvSpPr>
          <p:spPr>
            <a:xfrm>
              <a:off x="7731" y="2629"/>
              <a:ext cx="2667" cy="535"/>
            </a:xfrm>
            <a:prstGeom prst="rect">
              <a:avLst/>
            </a:prstGeom>
            <a:noFill/>
            <a:ln w="9525">
              <a:noFill/>
            </a:ln>
          </p:spPr>
          <p:txBody>
            <a:bodyPr wrap="square" anchor="t">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传播时延</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prop</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181281" name="Line 40"/>
            <p:cNvSpPr/>
            <p:nvPr/>
          </p:nvSpPr>
          <p:spPr>
            <a:xfrm rot="10800000">
              <a:off x="7315" y="2955"/>
              <a:ext cx="503" cy="0"/>
            </a:xfrm>
            <a:prstGeom prst="line">
              <a:avLst/>
            </a:prstGeom>
            <a:ln w="9525" cap="flat" cmpd="sng">
              <a:solidFill>
                <a:schemeClr val="tx1"/>
              </a:solidFill>
              <a:prstDash val="solid"/>
              <a:round/>
              <a:headEnd type="none" w="med" len="med"/>
              <a:tailEnd type="triangle" w="med" len="med"/>
            </a:ln>
          </p:spPr>
        </p:sp>
        <p:sp>
          <p:nvSpPr>
            <p:cNvPr id="181282" name="Text Box 41"/>
            <p:cNvSpPr txBox="1"/>
            <p:nvPr/>
          </p:nvSpPr>
          <p:spPr>
            <a:xfrm>
              <a:off x="4705" y="1968"/>
              <a:ext cx="2618" cy="536"/>
            </a:xfrm>
            <a:prstGeom prst="rect">
              <a:avLst/>
            </a:prstGeom>
            <a:noFill/>
            <a:ln w="9525">
              <a:noFill/>
            </a:ln>
          </p:spPr>
          <p:txBody>
            <a:bodyPr wrap="square" anchor="t">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传输时延</a:t>
              </a:r>
              <a:r>
                <a:rPr lang="zh-CN" altLang="en-US" sz="2400" dirty="0">
                  <a:solidFill>
                    <a:schemeClr val="tx1"/>
                  </a:solidFill>
                  <a:latin typeface="微软雅黑" panose="020B0503020204020204" pitchFamily="34" charset="-122"/>
                  <a:ea typeface="微软雅黑" panose="020B0503020204020204" pitchFamily="34" charset="-122"/>
                </a:rPr>
                <a:t> </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trans</a:t>
              </a:r>
            </a:p>
          </p:txBody>
        </p:sp>
        <p:sp>
          <p:nvSpPr>
            <p:cNvPr id="181283" name="Line 42"/>
            <p:cNvSpPr/>
            <p:nvPr/>
          </p:nvSpPr>
          <p:spPr>
            <a:xfrm rot="10800000" flipH="1" flipV="1">
              <a:off x="6360" y="2488"/>
              <a:ext cx="833" cy="840"/>
            </a:xfrm>
            <a:prstGeom prst="line">
              <a:avLst/>
            </a:prstGeom>
            <a:ln w="9525" cap="flat" cmpd="sng">
              <a:solidFill>
                <a:schemeClr val="tx1"/>
              </a:solidFill>
              <a:prstDash val="solid"/>
              <a:round/>
              <a:headEnd type="none" w="med" len="med"/>
              <a:tailEnd type="none" w="med" len="med"/>
            </a:ln>
          </p:spPr>
        </p:sp>
        <p:sp>
          <p:nvSpPr>
            <p:cNvPr id="181284" name="Text Box 43"/>
            <p:cNvSpPr txBox="1"/>
            <p:nvPr/>
          </p:nvSpPr>
          <p:spPr>
            <a:xfrm>
              <a:off x="4899" y="4415"/>
              <a:ext cx="2191" cy="821"/>
            </a:xfrm>
            <a:prstGeom prst="rect">
              <a:avLst/>
            </a:prstGeom>
            <a:noFill/>
            <a:ln w="9525">
              <a:noFill/>
            </a:ln>
          </p:spPr>
          <p:txBody>
            <a:bodyPr wrap="square" anchor="t">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节点处理时延</a:t>
              </a:r>
            </a:p>
            <a:p>
              <a:pPr algn="ctr"/>
              <a:r>
                <a:rPr lang="en-US" altLang="zh-CN" sz="20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0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proc</a:t>
              </a:r>
              <a:endParaRPr lang="zh-CN" altLang="en-US" sz="2000" baseline="-25000" dirty="0">
                <a:solidFill>
                  <a:srgbClr val="C00000"/>
                </a:solidFill>
                <a:latin typeface="微软雅黑" panose="020B0503020204020204" pitchFamily="34" charset="-122"/>
                <a:ea typeface="微软雅黑" panose="020B0503020204020204" pitchFamily="34" charset="-122"/>
              </a:endParaRPr>
            </a:p>
          </p:txBody>
        </p:sp>
        <p:sp>
          <p:nvSpPr>
            <p:cNvPr id="181285" name="Line 44"/>
            <p:cNvSpPr/>
            <p:nvPr/>
          </p:nvSpPr>
          <p:spPr>
            <a:xfrm rot="10800000">
              <a:off x="5357" y="4415"/>
              <a:ext cx="1492" cy="1"/>
            </a:xfrm>
            <a:prstGeom prst="line">
              <a:avLst/>
            </a:prstGeom>
            <a:ln w="9525" cap="flat" cmpd="sng">
              <a:solidFill>
                <a:schemeClr val="tx1"/>
              </a:solidFill>
              <a:prstDash val="solid"/>
              <a:round/>
              <a:headEnd type="triangle" w="med" len="med"/>
              <a:tailEnd type="triangle" w="med" len="med"/>
            </a:ln>
          </p:spPr>
        </p:sp>
        <p:sp>
          <p:nvSpPr>
            <p:cNvPr id="181286" name="Line 45"/>
            <p:cNvSpPr/>
            <p:nvPr/>
          </p:nvSpPr>
          <p:spPr>
            <a:xfrm rot="-10800000" flipV="1">
              <a:off x="6595" y="4110"/>
              <a:ext cx="608" cy="0"/>
            </a:xfrm>
            <a:prstGeom prst="line">
              <a:avLst/>
            </a:prstGeom>
            <a:ln w="9525" cap="flat" cmpd="sng">
              <a:solidFill>
                <a:schemeClr val="tx1"/>
              </a:solidFill>
              <a:prstDash val="solid"/>
              <a:round/>
              <a:headEnd type="triangle" w="med" len="med"/>
              <a:tailEnd type="triangle" w="med" len="med"/>
            </a:ln>
          </p:spPr>
        </p:sp>
        <p:sp>
          <p:nvSpPr>
            <p:cNvPr id="181287" name="Text Box 46"/>
            <p:cNvSpPr txBox="1"/>
            <p:nvPr/>
          </p:nvSpPr>
          <p:spPr>
            <a:xfrm>
              <a:off x="7203" y="4851"/>
              <a:ext cx="2806" cy="535"/>
            </a:xfrm>
            <a:prstGeom prst="rect">
              <a:avLst/>
            </a:prstGeom>
            <a:noFill/>
            <a:ln w="9525">
              <a:noFill/>
            </a:ln>
          </p:spPr>
          <p:txBody>
            <a:bodyPr wrap="square" anchor="t">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排队时延</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400" b="1" i="1"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queue</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
          <p:nvSpPr>
            <p:cNvPr id="181288" name="Line 47"/>
            <p:cNvSpPr/>
            <p:nvPr/>
          </p:nvSpPr>
          <p:spPr>
            <a:xfrm rot="10800000">
              <a:off x="6850" y="4110"/>
              <a:ext cx="938" cy="870"/>
            </a:xfrm>
            <a:prstGeom prst="line">
              <a:avLst/>
            </a:prstGeom>
            <a:ln w="9525" cap="flat" cmpd="sng">
              <a:solidFill>
                <a:schemeClr val="tx1"/>
              </a:solidFill>
              <a:prstDash val="solid"/>
              <a:round/>
              <a:headEnd type="none" w="med" len="med"/>
              <a:tailEnd type="none" w="med" len="med"/>
            </a:ln>
          </p:spPr>
        </p:sp>
        <p:grpSp>
          <p:nvGrpSpPr>
            <p:cNvPr id="181289" name="Group 48"/>
            <p:cNvGrpSpPr/>
            <p:nvPr/>
          </p:nvGrpSpPr>
          <p:grpSpPr>
            <a:xfrm>
              <a:off x="10698" y="3165"/>
              <a:ext cx="785" cy="188"/>
              <a:chOff x="2208" y="2184"/>
              <a:chExt cx="176" cy="69"/>
            </a:xfrm>
          </p:grpSpPr>
          <p:grpSp>
            <p:nvGrpSpPr>
              <p:cNvPr id="181290" name="Group 49"/>
              <p:cNvGrpSpPr/>
              <p:nvPr/>
            </p:nvGrpSpPr>
            <p:grpSpPr>
              <a:xfrm>
                <a:off x="2208" y="2185"/>
                <a:ext cx="176" cy="68"/>
                <a:chOff x="2848" y="848"/>
                <a:chExt cx="140" cy="98"/>
              </a:xfrm>
            </p:grpSpPr>
            <p:sp>
              <p:nvSpPr>
                <p:cNvPr id="181291" name="Line 50"/>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1292" name="Line 51"/>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1293" name="Line 52"/>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81294" name="Group 53"/>
              <p:cNvGrpSpPr/>
              <p:nvPr/>
            </p:nvGrpSpPr>
            <p:grpSpPr>
              <a:xfrm flipV="1">
                <a:off x="2208" y="2184"/>
                <a:ext cx="176" cy="68"/>
                <a:chOff x="2848" y="848"/>
                <a:chExt cx="140" cy="98"/>
              </a:xfrm>
            </p:grpSpPr>
            <p:sp>
              <p:nvSpPr>
                <p:cNvPr id="181295" name="Line 54"/>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81296" name="Line 55"/>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81297" name="Line 56"/>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grpSp>
          <p:nvGrpSpPr>
            <p:cNvPr id="181298" name="Group 66"/>
            <p:cNvGrpSpPr/>
            <p:nvPr/>
          </p:nvGrpSpPr>
          <p:grpSpPr>
            <a:xfrm>
              <a:off x="2983" y="2428"/>
              <a:ext cx="1227" cy="1070"/>
              <a:chOff x="-44" y="1473"/>
              <a:chExt cx="981" cy="1105"/>
            </a:xfrm>
          </p:grpSpPr>
          <p:pic>
            <p:nvPicPr>
              <p:cNvPr id="181299" name="Picture 67" descr="desktop_computer_stylized_medium"/>
              <p:cNvPicPr>
                <a:picLocks noChangeAspect="1"/>
              </p:cNvPicPr>
              <p:nvPr/>
            </p:nvPicPr>
            <p:blipFill>
              <a:blip r:embed="rId3"/>
              <a:stretch>
                <a:fillRect/>
              </a:stretch>
            </p:blipFill>
            <p:spPr>
              <a:xfrm flipH="1">
                <a:off x="-44" y="1473"/>
                <a:ext cx="981" cy="1105"/>
              </a:xfrm>
              <a:prstGeom prst="rect">
                <a:avLst/>
              </a:prstGeom>
              <a:noFill/>
              <a:ln w="9525">
                <a:noFill/>
              </a:ln>
            </p:spPr>
          </p:pic>
          <p:sp>
            <p:nvSpPr>
              <p:cNvPr id="181300" name="Freeform 68"/>
              <p:cNvSpPr/>
              <p:nvPr/>
            </p:nvSpPr>
            <p:spPr>
              <a:xfrm flipH="1">
                <a:off x="374" y="1579"/>
                <a:ext cx="477" cy="506"/>
              </a:xfrm>
              <a:custGeom>
                <a:avLst/>
                <a:gdLst/>
                <a:ahLst/>
                <a:cxnLst>
                  <a:cxn ang="0">
                    <a:pos x="0" y="0"/>
                  </a:cxn>
                  <a:cxn ang="0">
                    <a:pos x="1736" y="95"/>
                  </a:cxn>
                  <a:cxn ang="0">
                    <a:pos x="2059" y="1990"/>
                  </a:cxn>
                  <a:cxn ang="0">
                    <a:pos x="454" y="2489"/>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sz="2000">
                  <a:latin typeface="微软雅黑" panose="020B0503020204020204" pitchFamily="34" charset="-122"/>
                  <a:ea typeface="微软雅黑" panose="020B0503020204020204" pitchFamily="34" charset="-122"/>
                </a:endParaRPr>
              </a:p>
            </p:txBody>
          </p:sp>
        </p:grpSp>
        <p:grpSp>
          <p:nvGrpSpPr>
            <p:cNvPr id="181301" name="Group 69"/>
            <p:cNvGrpSpPr/>
            <p:nvPr/>
          </p:nvGrpSpPr>
          <p:grpSpPr>
            <a:xfrm>
              <a:off x="3415" y="3975"/>
              <a:ext cx="1228" cy="1070"/>
              <a:chOff x="-44" y="1473"/>
              <a:chExt cx="981" cy="1105"/>
            </a:xfrm>
          </p:grpSpPr>
          <p:pic>
            <p:nvPicPr>
              <p:cNvPr id="181302" name="Picture 70" descr="desktop_computer_stylized_medium"/>
              <p:cNvPicPr>
                <a:picLocks noChangeAspect="1"/>
              </p:cNvPicPr>
              <p:nvPr/>
            </p:nvPicPr>
            <p:blipFill>
              <a:blip r:embed="rId3"/>
              <a:stretch>
                <a:fillRect/>
              </a:stretch>
            </p:blipFill>
            <p:spPr>
              <a:xfrm flipH="1">
                <a:off x="-44" y="1473"/>
                <a:ext cx="981" cy="1105"/>
              </a:xfrm>
              <a:prstGeom prst="rect">
                <a:avLst/>
              </a:prstGeom>
              <a:noFill/>
              <a:ln w="9525">
                <a:noFill/>
              </a:ln>
            </p:spPr>
          </p:pic>
          <p:sp>
            <p:nvSpPr>
              <p:cNvPr id="181303" name="Freeform 71"/>
              <p:cNvSpPr/>
              <p:nvPr/>
            </p:nvSpPr>
            <p:spPr>
              <a:xfrm flipH="1">
                <a:off x="374" y="1579"/>
                <a:ext cx="477" cy="506"/>
              </a:xfrm>
              <a:custGeom>
                <a:avLst/>
                <a:gdLst/>
                <a:ahLst/>
                <a:cxnLst>
                  <a:cxn ang="0">
                    <a:pos x="0" y="0"/>
                  </a:cxn>
                  <a:cxn ang="0">
                    <a:pos x="1736" y="95"/>
                  </a:cxn>
                  <a:cxn ang="0">
                    <a:pos x="2059" y="1990"/>
                  </a:cxn>
                  <a:cxn ang="0">
                    <a:pos x="454" y="2489"/>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sz="2000">
                  <a:latin typeface="微软雅黑" panose="020B0503020204020204" pitchFamily="34" charset="-122"/>
                  <a:ea typeface="微软雅黑" panose="020B0503020204020204" pitchFamily="34" charset="-122"/>
                </a:endParaRPr>
              </a:p>
            </p:txBody>
          </p:sp>
        </p:grpSp>
      </p:grpSp>
      <p:sp>
        <p:nvSpPr>
          <p:cNvPr id="56" name="Rectangle 3"/>
          <p:cNvSpPr/>
          <p:nvPr/>
        </p:nvSpPr>
        <p:spPr>
          <a:xfrm>
            <a:off x="2204085" y="5915660"/>
            <a:ext cx="7397750" cy="554355"/>
          </a:xfrm>
          <a:prstGeom prst="rect">
            <a:avLst/>
          </a:prstGeom>
          <a:noFill/>
          <a:ln w="19050" cap="flat" cmpd="sng">
            <a:solidFill>
              <a:srgbClr val="FF0000"/>
            </a:solidFill>
            <a:prstDash val="solid"/>
            <a:miter/>
            <a:headEnd type="none" w="med" len="med"/>
            <a:tailEnd type="none" w="med" len="med"/>
          </a:ln>
        </p:spPr>
        <p:txBody>
          <a:bodyPr anchor="t"/>
          <a:lstStyle/>
          <a:p>
            <a:pPr marL="285750" indent="-285750" algn="ctr">
              <a:lnSpc>
                <a:spcPct val="85000"/>
              </a:lnSpc>
              <a:spcBef>
                <a:spcPct val="20000"/>
              </a:spcBef>
              <a:buClr>
                <a:srgbClr val="000099"/>
              </a:buClr>
              <a:buSzPct val="75000"/>
              <a:buFont typeface="Wingdings" panose="05000000000000000000" pitchFamily="2" charset="2"/>
            </a:pPr>
            <a:r>
              <a:rPr lang="en-US" altLang="zh-CN" sz="3200" i="1" dirty="0" err="1">
                <a:solidFill>
                  <a:srgbClr val="000000"/>
                </a:solidFill>
                <a:latin typeface="Times New Roman" panose="02020603050405020304" pitchFamily="18" charset="0"/>
                <a:ea typeface="宋体" panose="02010600030101010101" pitchFamily="2" charset="-122"/>
              </a:rPr>
              <a:t>d</a:t>
            </a:r>
            <a:r>
              <a:rPr lang="en-US" altLang="zh-CN" sz="3200" i="1" baseline="-25000" dirty="0" err="1">
                <a:solidFill>
                  <a:srgbClr val="000000"/>
                </a:solidFill>
                <a:latin typeface="Times New Roman" panose="02020603050405020304" pitchFamily="18" charset="0"/>
                <a:ea typeface="宋体" panose="02010600030101010101" pitchFamily="2" charset="-122"/>
              </a:rPr>
              <a:t>total</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proc</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queue</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trans</a:t>
            </a:r>
            <a:r>
              <a:rPr lang="en-US" altLang="zh-CN" sz="3200" i="1" dirty="0">
                <a:solidFill>
                  <a:srgbClr val="000000"/>
                </a:solidFill>
                <a:latin typeface="Times New Roman" panose="02020603050405020304" pitchFamily="18" charset="0"/>
                <a:ea typeface="宋体" panose="02010600030101010101" pitchFamily="2" charset="-122"/>
              </a:rPr>
              <a:t> +  d</a:t>
            </a:r>
            <a:r>
              <a:rPr lang="en-US" altLang="zh-CN" sz="3200" i="1" baseline="-25000" dirty="0">
                <a:solidFill>
                  <a:srgbClr val="000000"/>
                </a:solidFill>
                <a:latin typeface="Times New Roman" panose="02020603050405020304" pitchFamily="18" charset="0"/>
                <a:ea typeface="宋体" panose="02010600030101010101" pitchFamily="2" charset="-122"/>
              </a:rPr>
              <a:t>prop</a:t>
            </a:r>
          </a:p>
        </p:txBody>
      </p:sp>
      <p:grpSp>
        <p:nvGrpSpPr>
          <p:cNvPr id="18" name="组合 17"/>
          <p:cNvGrpSpPr/>
          <p:nvPr/>
        </p:nvGrpSpPr>
        <p:grpSpPr>
          <a:xfrm>
            <a:off x="848995" y="2776220"/>
            <a:ext cx="3131185" cy="921385"/>
            <a:chOff x="1031" y="4389"/>
            <a:chExt cx="4931" cy="1451"/>
          </a:xfrm>
        </p:grpSpPr>
        <p:sp>
          <p:nvSpPr>
            <p:cNvPr id="14" name="文本框 13"/>
            <p:cNvSpPr txBox="1"/>
            <p:nvPr/>
          </p:nvSpPr>
          <p:spPr>
            <a:xfrm>
              <a:off x="1031" y="4665"/>
              <a:ext cx="1801" cy="822"/>
            </a:xfrm>
            <a:prstGeom prst="rect">
              <a:avLst/>
            </a:prstGeom>
            <a:noFill/>
          </p:spPr>
          <p:txBody>
            <a:bodyPr wrap="square" rtlCol="0" anchor="t">
              <a:spAutoFit/>
            </a:bodyPr>
            <a:lstStyle/>
            <a:p>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800" b="1" i="1"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trans</a:t>
              </a:r>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p:txBody>
        </p:sp>
        <p:sp>
          <p:nvSpPr>
            <p:cNvPr id="15" name="Line 12"/>
            <p:cNvSpPr>
              <a:spLocks noChangeShapeType="1"/>
            </p:cNvSpPr>
            <p:nvPr/>
          </p:nvSpPr>
          <p:spPr bwMode="auto">
            <a:xfrm>
              <a:off x="2960" y="5114"/>
              <a:ext cx="2729" cy="1"/>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16" name="文本框 15"/>
            <p:cNvSpPr txBox="1"/>
            <p:nvPr/>
          </p:nvSpPr>
          <p:spPr>
            <a:xfrm>
              <a:off x="3142" y="4389"/>
              <a:ext cx="2820" cy="725"/>
            </a:xfrm>
            <a:prstGeom prst="rect">
              <a:avLst/>
            </a:prstGeom>
            <a:noFill/>
          </p:spPr>
          <p:txBody>
            <a:bodyPr wrap="square" rtlCol="0" anchor="t">
              <a:spAutoFit/>
            </a:body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Length </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(bit)</a:t>
              </a:r>
            </a:p>
          </p:txBody>
        </p:sp>
        <p:sp>
          <p:nvSpPr>
            <p:cNvPr id="17" name="Text Box 11"/>
            <p:cNvSpPr txBox="1">
              <a:spLocks noChangeArrowheads="1"/>
            </p:cNvSpPr>
            <p:nvPr/>
          </p:nvSpPr>
          <p:spPr bwMode="auto">
            <a:xfrm>
              <a:off x="3244" y="5115"/>
              <a:ext cx="2325"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bit/s</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grpSp>
        <p:nvGrpSpPr>
          <p:cNvPr id="19" name="组合 18"/>
          <p:cNvGrpSpPr/>
          <p:nvPr/>
        </p:nvGrpSpPr>
        <p:grpSpPr>
          <a:xfrm>
            <a:off x="864235" y="4074160"/>
            <a:ext cx="3317240" cy="904240"/>
            <a:chOff x="1031" y="4350"/>
            <a:chExt cx="5224" cy="1424"/>
          </a:xfrm>
        </p:grpSpPr>
        <p:sp>
          <p:nvSpPr>
            <p:cNvPr id="20" name="文本框 19"/>
            <p:cNvSpPr txBox="1"/>
            <p:nvPr/>
          </p:nvSpPr>
          <p:spPr>
            <a:xfrm>
              <a:off x="1031" y="4665"/>
              <a:ext cx="1801" cy="822"/>
            </a:xfrm>
            <a:prstGeom prst="rect">
              <a:avLst/>
            </a:prstGeom>
            <a:noFill/>
          </p:spPr>
          <p:txBody>
            <a:bodyPr wrap="square" rtlCol="0" anchor="t">
              <a:spAutoFit/>
            </a:bodyPr>
            <a:lstStyle/>
            <a:p>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a:t>
              </a:r>
              <a:r>
                <a:rPr lang="en-US" altLang="zh-CN" sz="2800" b="1" i="1"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prop</a:t>
              </a:r>
              <a:r>
                <a:rPr lang="en-US" altLang="zh-CN" sz="28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p:txBody>
        </p:sp>
        <p:sp>
          <p:nvSpPr>
            <p:cNvPr id="21" name="Line 12"/>
            <p:cNvSpPr>
              <a:spLocks noChangeShapeType="1"/>
            </p:cNvSpPr>
            <p:nvPr/>
          </p:nvSpPr>
          <p:spPr bwMode="auto">
            <a:xfrm>
              <a:off x="2936" y="5127"/>
              <a:ext cx="2881" cy="1"/>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22" name="文本框 21"/>
            <p:cNvSpPr txBox="1"/>
            <p:nvPr/>
          </p:nvSpPr>
          <p:spPr>
            <a:xfrm>
              <a:off x="3141" y="4350"/>
              <a:ext cx="3114" cy="725"/>
            </a:xfrm>
            <a:prstGeom prst="rect">
              <a:avLst/>
            </a:prstGeom>
            <a:noFill/>
          </p:spPr>
          <p:txBody>
            <a:bodyPr wrap="square" rtlCol="0" anchor="t">
              <a:spAutoFit/>
            </a:body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Distance </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(m)</a:t>
              </a:r>
            </a:p>
          </p:txBody>
        </p:sp>
        <p:sp>
          <p:nvSpPr>
            <p:cNvPr id="23" name="Text Box 11"/>
            <p:cNvSpPr txBox="1">
              <a:spLocks noChangeArrowheads="1"/>
            </p:cNvSpPr>
            <p:nvPr/>
          </p:nvSpPr>
          <p:spPr bwMode="auto">
            <a:xfrm>
              <a:off x="3220" y="5049"/>
              <a:ext cx="2889"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c</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m/s</a:t>
              </a:r>
              <a:r>
                <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3" name="矩形 2">
            <a:extLst>
              <a:ext uri="{FF2B5EF4-FFF2-40B4-BE49-F238E27FC236}">
                <a16:creationId xmlns:a16="http://schemas.microsoft.com/office/drawing/2014/main" id="{A6E1A8C6-6711-2A47-92CE-0CE72C40AA85}"/>
              </a:ext>
            </a:extLst>
          </p:cNvPr>
          <p:cNvSpPr/>
          <p:nvPr/>
        </p:nvSpPr>
        <p:spPr>
          <a:xfrm>
            <a:off x="674426" y="2513718"/>
            <a:ext cx="1301959" cy="461665"/>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传输时延</a:t>
            </a:r>
            <a:r>
              <a:rPr lang="zh-CN" altLang="en-US" sz="2400" dirty="0">
                <a:latin typeface="微软雅黑" panose="020B0503020204020204" pitchFamily="34" charset="-122"/>
                <a:ea typeface="微软雅黑" panose="020B0503020204020204" pitchFamily="34" charset="-122"/>
              </a:rPr>
              <a:t> </a:t>
            </a:r>
            <a:endParaRPr lang="zh-CN" altLang="en-US" sz="2000" dirty="0"/>
          </a:p>
        </p:txBody>
      </p:sp>
      <p:sp>
        <p:nvSpPr>
          <p:cNvPr id="5" name="矩形 4">
            <a:extLst>
              <a:ext uri="{FF2B5EF4-FFF2-40B4-BE49-F238E27FC236}">
                <a16:creationId xmlns:a16="http://schemas.microsoft.com/office/drawing/2014/main" id="{EEAB435F-6E51-6946-9A26-BFDC7E707E0A}"/>
              </a:ext>
            </a:extLst>
          </p:cNvPr>
          <p:cNvSpPr/>
          <p:nvPr/>
        </p:nvSpPr>
        <p:spPr>
          <a:xfrm>
            <a:off x="674426" y="3962388"/>
            <a:ext cx="1210588"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传播时延</a:t>
            </a:r>
            <a:endParaRPr lang="zh-CN" altLang="en-US" sz="2000" dirty="0"/>
          </a:p>
        </p:txBody>
      </p:sp>
      <p:sp>
        <p:nvSpPr>
          <p:cNvPr id="71" name="文本框 70">
            <a:extLst>
              <a:ext uri="{FF2B5EF4-FFF2-40B4-BE49-F238E27FC236}">
                <a16:creationId xmlns:a16="http://schemas.microsoft.com/office/drawing/2014/main" id="{2A56B481-D9EC-B249-954E-091C336BBB7D}"/>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pic>
        <p:nvPicPr>
          <p:cNvPr id="72" name="Picture 28" descr="015">
            <a:extLst>
              <a:ext uri="{FF2B5EF4-FFF2-40B4-BE49-F238E27FC236}">
                <a16:creationId xmlns:a16="http://schemas.microsoft.com/office/drawing/2014/main" id="{1CAEAC9A-1F1C-4870-9F02-265EF16E623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40128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计算机网络度量单位</a:t>
            </a:r>
            <a:endParaRPr lang="en-US" altLang="zh-CN"/>
          </a:p>
        </p:txBody>
      </p:sp>
      <p:sp>
        <p:nvSpPr>
          <p:cNvPr id="9" name="内容占位符 8"/>
          <p:cNvSpPr>
            <a:spLocks noGrp="1"/>
          </p:cNvSpPr>
          <p:nvPr>
            <p:ph idx="1"/>
          </p:nvPr>
        </p:nvSpPr>
        <p:spPr>
          <a:xfrm>
            <a:off x="845130" y="1372568"/>
            <a:ext cx="6248400" cy="2701290"/>
          </a:xfrm>
        </p:spPr>
        <p:txBody>
          <a:bodyPr>
            <a:noAutofit/>
          </a:bodyPr>
          <a:lstStyle/>
          <a:p>
            <a:pPr marL="342900" indent="-342900" algn="just" eaLnBrk="1" hangingPunct="1">
              <a:lnSpc>
                <a:spcPct val="125000"/>
              </a:lnSpc>
              <a:spcBef>
                <a:spcPts val="20"/>
              </a:spcBef>
              <a:spcAft>
                <a:spcPts val="0"/>
              </a:spcAft>
              <a:buClrTx/>
              <a:buSzTx/>
              <a:buFont typeface="Wingdings" panose="05000000000000000000" charset="0"/>
              <a:buChar char="Ø"/>
              <a:defRPr/>
            </a:pPr>
            <a:r>
              <a:rPr lang="zh-CN" altLang="en-US" dirty="0">
                <a:latin typeface="Times New Roman" panose="02020603050405020304" pitchFamily="18" charset="0"/>
                <a:cs typeface="Times New Roman" panose="02020603050405020304" pitchFamily="18" charset="0"/>
                <a:sym typeface="+mn-ea"/>
              </a:rPr>
              <a:t>往返时延RTT(Round-Trip Time)</a:t>
            </a:r>
            <a:endParaRPr lang="zh-CN" altLang="en-US" dirty="0">
              <a:latin typeface="Times New Roman" panose="02020603050405020304" pitchFamily="18" charset="0"/>
              <a:cs typeface="Times New Roman" panose="02020603050405020304" pitchFamily="18" charset="0"/>
            </a:endParaRPr>
          </a:p>
          <a:p>
            <a:pPr lvl="1" algn="just" eaLnBrk="1" hangingPunct="1">
              <a:lnSpc>
                <a:spcPct val="125000"/>
              </a:lnSpc>
              <a:spcBef>
                <a:spcPts val="20"/>
              </a:spcBef>
              <a:spcAft>
                <a:spcPts val="0"/>
              </a:spcAft>
              <a:buFont typeface="Arial" panose="020B0604020202020204" pitchFamily="34" charset="0"/>
              <a:buChar char="•"/>
              <a:defRPr/>
            </a:pPr>
            <a:r>
              <a:rPr lang="zh-CN" altLang="en-US" dirty="0">
                <a:cs typeface="微软雅黑" panose="020B0503020204020204" pitchFamily="34" charset="-122"/>
                <a:sym typeface="+mn-ea"/>
              </a:rPr>
              <a:t>从发送方发送数据开始，到发送方收到来自接收方的确认，经历的</a:t>
            </a:r>
            <a:r>
              <a:rPr lang="zh-CN" altLang="en-US" dirty="0">
                <a:solidFill>
                  <a:srgbClr val="C00000"/>
                </a:solidFill>
                <a:cs typeface="微软雅黑" panose="020B0503020204020204" pitchFamily="34" charset="-122"/>
                <a:sym typeface="+mn-ea"/>
              </a:rPr>
              <a:t>总时间</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gn="just">
              <a:lnSpc>
                <a:spcPct val="125000"/>
              </a:lnSpc>
              <a:spcBef>
                <a:spcPts val="20"/>
              </a:spcBef>
              <a:buFont typeface="Arial" panose="020B0604020202020204" pitchFamily="34" charset="0"/>
              <a:buChar char="•"/>
              <a:defRPr/>
            </a:pPr>
            <a:r>
              <a:rPr lang="zh-CN" altLang="en-US" dirty="0">
                <a:cs typeface="微软雅黑" panose="020B0503020204020204" pitchFamily="34" charset="-122"/>
                <a:sym typeface="+mn-ea"/>
              </a:rPr>
              <a:t>可用于判断网络的通断性、测试网络时延、计算数据包丢失率等</a:t>
            </a:r>
            <a:endParaRPr kumimoji="1" lang="zh-CN" altLang="en-US" dirty="0">
              <a:cs typeface="微软雅黑" panose="020B0503020204020204" pitchFamily="34" charset="-122"/>
              <a:sym typeface="+mn-ea"/>
            </a:endParaRPr>
          </a:p>
        </p:txBody>
      </p:sp>
      <p:sp>
        <p:nvSpPr>
          <p:cNvPr id="3" name="灯片编号占位符 2">
            <a:extLst>
              <a:ext uri="{FF2B5EF4-FFF2-40B4-BE49-F238E27FC236}">
                <a16:creationId xmlns:a16="http://schemas.microsoft.com/office/drawing/2014/main" id="{89DB2F27-36CC-0B42-A93E-8B6FCB3828AB}"/>
              </a:ext>
            </a:extLst>
          </p:cNvPr>
          <p:cNvSpPr>
            <a:spLocks noGrp="1"/>
          </p:cNvSpPr>
          <p:nvPr>
            <p:ph type="sldNum" sz="quarter" idx="12"/>
          </p:nvPr>
        </p:nvSpPr>
        <p:spPr/>
        <p:txBody>
          <a:bodyPr/>
          <a:lstStyle/>
          <a:p>
            <a:fld id="{8D4D1E41-7A09-AB4A-A4E1-09765ADA2698}" type="slidenum">
              <a:rPr kumimoji="1" lang="zh-CN" altLang="en-US" smtClean="0"/>
              <a:t>90</a:t>
            </a:fld>
            <a:endParaRPr kumimoji="1" lang="zh-CN" altLang="en-US" dirty="0"/>
          </a:p>
        </p:txBody>
      </p:sp>
      <p:grpSp>
        <p:nvGrpSpPr>
          <p:cNvPr id="14" name="组合 13"/>
          <p:cNvGrpSpPr/>
          <p:nvPr/>
        </p:nvGrpSpPr>
        <p:grpSpPr>
          <a:xfrm>
            <a:off x="7433432" y="1291975"/>
            <a:ext cx="4461795" cy="2642996"/>
            <a:chOff x="2358" y="6477"/>
            <a:chExt cx="7026" cy="3953"/>
          </a:xfrm>
        </p:grpSpPr>
        <p:grpSp>
          <p:nvGrpSpPr>
            <p:cNvPr id="7" name="组合 6"/>
            <p:cNvGrpSpPr/>
            <p:nvPr/>
          </p:nvGrpSpPr>
          <p:grpSpPr>
            <a:xfrm>
              <a:off x="2358" y="6477"/>
              <a:ext cx="7026" cy="3953"/>
              <a:chOff x="7575" y="2705"/>
              <a:chExt cx="5168" cy="3851"/>
            </a:xfrm>
          </p:grpSpPr>
          <p:sp>
            <p:nvSpPr>
              <p:cNvPr id="183353" name="Line 15"/>
              <p:cNvSpPr/>
              <p:nvPr/>
            </p:nvSpPr>
            <p:spPr>
              <a:xfrm>
                <a:off x="9653" y="3902"/>
                <a:ext cx="42" cy="2158"/>
              </a:xfrm>
              <a:prstGeom prst="line">
                <a:avLst/>
              </a:prstGeom>
              <a:ln w="9525" cap="flat" cmpd="sng">
                <a:solidFill>
                  <a:srgbClr val="FF0000"/>
                </a:solidFill>
                <a:prstDash val="sysDot"/>
                <a:round/>
                <a:headEnd type="none" w="med" len="med"/>
                <a:tailEnd type="triangle" w="med" len="med"/>
              </a:ln>
            </p:spPr>
          </p:sp>
          <p:sp>
            <p:nvSpPr>
              <p:cNvPr id="183354" name="Line 16"/>
              <p:cNvSpPr/>
              <p:nvPr/>
            </p:nvSpPr>
            <p:spPr>
              <a:xfrm>
                <a:off x="12296" y="3913"/>
                <a:ext cx="17" cy="2158"/>
              </a:xfrm>
              <a:prstGeom prst="line">
                <a:avLst/>
              </a:prstGeom>
              <a:ln w="9525" cap="flat" cmpd="sng">
                <a:solidFill>
                  <a:srgbClr val="FF0000"/>
                </a:solidFill>
                <a:prstDash val="sysDot"/>
                <a:round/>
                <a:headEnd type="none" w="med" len="med"/>
                <a:tailEnd type="triangle" w="med" len="med"/>
              </a:ln>
            </p:spPr>
          </p:sp>
          <p:sp>
            <p:nvSpPr>
              <p:cNvPr id="183357" name="Line 19"/>
              <p:cNvSpPr/>
              <p:nvPr/>
            </p:nvSpPr>
            <p:spPr>
              <a:xfrm>
                <a:off x="9661" y="4064"/>
                <a:ext cx="2653" cy="615"/>
              </a:xfrm>
              <a:prstGeom prst="line">
                <a:avLst/>
              </a:prstGeom>
              <a:ln w="57150">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sp>
          <p:sp>
            <p:nvSpPr>
              <p:cNvPr id="183365" name="Line 27"/>
              <p:cNvSpPr/>
              <p:nvPr/>
            </p:nvSpPr>
            <p:spPr>
              <a:xfrm>
                <a:off x="9121" y="4078"/>
                <a:ext cx="558" cy="0"/>
              </a:xfrm>
              <a:prstGeom prst="line">
                <a:avLst/>
              </a:prstGeom>
              <a:ln w="9525" cap="flat" cmpd="sng">
                <a:solidFill>
                  <a:schemeClr val="tx1"/>
                </a:solidFill>
                <a:prstDash val="solid"/>
                <a:round/>
                <a:headEnd type="none" w="med" len="med"/>
                <a:tailEnd type="none" w="med" len="med"/>
              </a:ln>
            </p:spPr>
          </p:sp>
          <p:sp>
            <p:nvSpPr>
              <p:cNvPr id="183366" name="Text Box 28"/>
              <p:cNvSpPr txBox="1"/>
              <p:nvPr/>
            </p:nvSpPr>
            <p:spPr>
              <a:xfrm>
                <a:off x="7575" y="3822"/>
                <a:ext cx="1696" cy="513"/>
              </a:xfrm>
              <a:prstGeom prst="rect">
                <a:avLst/>
              </a:prstGeom>
              <a:noFill/>
              <a:ln w="9525">
                <a:noFill/>
              </a:ln>
            </p:spPr>
            <p:txBody>
              <a:bodyPr wrap="square" anchor="t">
                <a:spAutoFit/>
              </a:bodyPr>
              <a:lstStyle/>
              <a:p>
                <a:pPr algn="ctr">
                  <a:lnSpc>
                    <a:spcPct val="85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p>
            </p:txBody>
          </p:sp>
          <p:sp>
            <p:nvSpPr>
              <p:cNvPr id="183367" name="AutoShape 29"/>
              <p:cNvSpPr/>
              <p:nvPr/>
            </p:nvSpPr>
            <p:spPr>
              <a:xfrm>
                <a:off x="9297" y="4144"/>
                <a:ext cx="218" cy="1596"/>
              </a:xfrm>
              <a:prstGeom prst="leftBrace">
                <a:avLst>
                  <a:gd name="adj1" fmla="val 51756"/>
                  <a:gd name="adj2" fmla="val 50000"/>
                </a:avLst>
              </a:prstGeom>
              <a:noFill/>
              <a:ln w="6350" cap="flat" cmpd="sng">
                <a:solidFill>
                  <a:schemeClr val="tx1"/>
                </a:solidFill>
                <a:prstDash val="solid"/>
                <a:round/>
                <a:headEnd type="none" w="med" len="med"/>
                <a:tailEnd type="none" w="med" len="med"/>
              </a:ln>
            </p:spPr>
            <p:txBody>
              <a:bodyPr wrap="none" anchor="ctr"/>
              <a:lstStyle/>
              <a:p>
                <a:pPr>
                  <a:lnSpc>
                    <a:spcPct val="85000"/>
                  </a:lnSpc>
                </a:pPr>
                <a:endParaRPr lang="zh-CN" altLang="zh-CN" sz="2400" dirty="0">
                  <a:latin typeface="微软雅黑" panose="020B0503020204020204" pitchFamily="34" charset="-122"/>
                  <a:ea typeface="微软雅黑" panose="020B0503020204020204" pitchFamily="34" charset="-122"/>
                </a:endParaRPr>
              </a:p>
            </p:txBody>
          </p:sp>
          <p:sp>
            <p:nvSpPr>
              <p:cNvPr id="183368" name="Text Box 30"/>
              <p:cNvSpPr txBox="1"/>
              <p:nvPr/>
            </p:nvSpPr>
            <p:spPr>
              <a:xfrm>
                <a:off x="8228" y="4772"/>
                <a:ext cx="979" cy="513"/>
              </a:xfrm>
              <a:prstGeom prst="rect">
                <a:avLst/>
              </a:prstGeom>
              <a:noFill/>
              <a:ln w="9525">
                <a:noFill/>
              </a:ln>
            </p:spPr>
            <p:txBody>
              <a:bodyPr wrap="square" anchor="t">
                <a:spAutoFit/>
              </a:bodyPr>
              <a:lstStyle/>
              <a:p>
                <a:pPr>
                  <a:lnSpc>
                    <a:spcPct val="85000"/>
                  </a:lnSpc>
                </a:pPr>
                <a:r>
                  <a:rPr lang="en-US" altLang="zh-CN" sz="2000" dirty="0">
                    <a:latin typeface="微软雅黑" panose="020B0503020204020204" pitchFamily="34" charset="-122"/>
                    <a:ea typeface="微软雅黑" panose="020B0503020204020204" pitchFamily="34" charset="-122"/>
                  </a:rPr>
                  <a:t>RTT</a:t>
                </a:r>
              </a:p>
            </p:txBody>
          </p:sp>
          <p:sp>
            <p:nvSpPr>
              <p:cNvPr id="183369" name="Line 35"/>
              <p:cNvSpPr/>
              <p:nvPr/>
            </p:nvSpPr>
            <p:spPr>
              <a:xfrm flipH="1">
                <a:off x="9113" y="5819"/>
                <a:ext cx="540" cy="3"/>
              </a:xfrm>
              <a:prstGeom prst="line">
                <a:avLst/>
              </a:prstGeom>
              <a:ln w="12700" cap="flat" cmpd="sng">
                <a:solidFill>
                  <a:schemeClr val="tx1"/>
                </a:solidFill>
                <a:prstDash val="solid"/>
                <a:round/>
                <a:headEnd type="none" w="med" len="med"/>
                <a:tailEnd type="none" w="med" len="med"/>
              </a:ln>
            </p:spPr>
          </p:sp>
          <p:sp>
            <p:nvSpPr>
              <p:cNvPr id="183370" name="Text Box 36"/>
              <p:cNvSpPr txBox="1"/>
              <p:nvPr/>
            </p:nvSpPr>
            <p:spPr>
              <a:xfrm>
                <a:off x="7681" y="5475"/>
                <a:ext cx="1536" cy="897"/>
              </a:xfrm>
              <a:prstGeom prst="rect">
                <a:avLst/>
              </a:prstGeom>
              <a:noFill/>
              <a:ln w="9525">
                <a:noFill/>
              </a:ln>
            </p:spPr>
            <p:txBody>
              <a:bodyPr wrap="square" anchor="t">
                <a:spAutoFit/>
              </a:bodyPr>
              <a:lstStyle/>
              <a:p>
                <a:pPr>
                  <a:lnSpc>
                    <a:spcPct val="85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收到</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response</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3371" name="Text Box 37"/>
              <p:cNvSpPr txBox="1"/>
              <p:nvPr/>
            </p:nvSpPr>
            <p:spPr>
              <a:xfrm>
                <a:off x="9297" y="6093"/>
                <a:ext cx="895" cy="438"/>
              </a:xfrm>
              <a:prstGeom prst="rect">
                <a:avLst/>
              </a:prstGeom>
              <a:noFill/>
              <a:ln w="9525">
                <a:noFill/>
              </a:ln>
            </p:spPr>
            <p:txBody>
              <a:bodyPr wrap="square" anchor="t">
                <a:spAutoFit/>
              </a:bodyPr>
              <a:lstStyle/>
              <a:p>
                <a:pPr>
                  <a:lnSpc>
                    <a:spcPct val="85000"/>
                  </a:lnSpc>
                </a:pPr>
                <a:r>
                  <a:rPr lang="en-US" altLang="zh-CN" sz="1600" dirty="0">
                    <a:latin typeface="微软雅黑" panose="020B0503020204020204" pitchFamily="34" charset="-122"/>
                    <a:ea typeface="微软雅黑" panose="020B0503020204020204" pitchFamily="34" charset="-122"/>
                  </a:rPr>
                  <a:t>time</a:t>
                </a:r>
              </a:p>
            </p:txBody>
          </p:sp>
          <p:sp>
            <p:nvSpPr>
              <p:cNvPr id="183372" name="Text Box 38"/>
              <p:cNvSpPr txBox="1"/>
              <p:nvPr/>
            </p:nvSpPr>
            <p:spPr>
              <a:xfrm>
                <a:off x="11848" y="6065"/>
                <a:ext cx="895" cy="491"/>
              </a:xfrm>
              <a:prstGeom prst="rect">
                <a:avLst/>
              </a:prstGeom>
              <a:noFill/>
              <a:ln w="9525">
                <a:noFill/>
              </a:ln>
            </p:spPr>
            <p:txBody>
              <a:bodyPr wrap="square" anchor="t">
                <a:spAutoFit/>
              </a:bodyPr>
              <a:lstStyle/>
              <a:p>
                <a:r>
                  <a:rPr lang="en-US" altLang="zh-CN" sz="1600" dirty="0">
                    <a:latin typeface="微软雅黑" panose="020B0503020204020204" pitchFamily="34" charset="-122"/>
                    <a:ea typeface="微软雅黑" panose="020B0503020204020204" pitchFamily="34" charset="-122"/>
                  </a:rPr>
                  <a:t>time</a:t>
                </a:r>
              </a:p>
            </p:txBody>
          </p:sp>
          <p:grpSp>
            <p:nvGrpSpPr>
              <p:cNvPr id="183373" name="Group 43"/>
              <p:cNvGrpSpPr/>
              <p:nvPr/>
            </p:nvGrpSpPr>
            <p:grpSpPr>
              <a:xfrm>
                <a:off x="11980" y="2705"/>
                <a:ext cx="668" cy="1078"/>
                <a:chOff x="4140" y="429"/>
                <a:chExt cx="1425" cy="2396"/>
              </a:xfrm>
            </p:grpSpPr>
            <p:sp>
              <p:nvSpPr>
                <p:cNvPr id="183374" name="Freeform 44"/>
                <p:cNvSpPr/>
                <p:nvPr/>
              </p:nvSpPr>
              <p:spPr>
                <a:xfrm>
                  <a:off x="5268" y="433"/>
                  <a:ext cx="283" cy="2286"/>
                </a:xfrm>
                <a:custGeom>
                  <a:avLst/>
                  <a:gdLst/>
                  <a:ahLst/>
                  <a:cxnLst>
                    <a:cxn ang="0">
                      <a:pos x="2" y="0"/>
                    </a:cxn>
                    <a:cxn ang="0">
                      <a:pos x="5" y="11"/>
                    </a:cxn>
                    <a:cxn ang="0">
                      <a:pos x="5" y="83"/>
                    </a:cxn>
                    <a:cxn ang="0">
                      <a:pos x="0" y="86"/>
                    </a:cxn>
                    <a:cxn ang="0">
                      <a:pos x="2" y="0"/>
                    </a:cxn>
                  </a:cxnLst>
                  <a:rect l="0" t="0" r="0" b="0"/>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75" name="Rectangle 45"/>
                <p:cNvSpPr/>
                <p:nvPr/>
              </p:nvSpPr>
              <p:spPr>
                <a:xfrm>
                  <a:off x="4204" y="429"/>
                  <a:ext cx="1051" cy="2285"/>
                </a:xfrm>
                <a:prstGeom prst="rect">
                  <a:avLst/>
                </a:prstGeom>
                <a:gradFill rotWithShape="1">
                  <a:gsLst>
                    <a:gs pos="0">
                      <a:srgbClr val="292929"/>
                    </a:gs>
                    <a:gs pos="100000">
                      <a:srgbClr val="808080"/>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76" name="Freeform 46"/>
                <p:cNvSpPr/>
                <p:nvPr/>
              </p:nvSpPr>
              <p:spPr>
                <a:xfrm>
                  <a:off x="5321" y="570"/>
                  <a:ext cx="169" cy="2115"/>
                </a:xfrm>
                <a:custGeom>
                  <a:avLst/>
                  <a:gdLst/>
                  <a:ahLst/>
                  <a:cxnLst>
                    <a:cxn ang="0">
                      <a:pos x="2" y="0"/>
                    </a:cxn>
                    <a:cxn ang="0">
                      <a:pos x="3" y="8"/>
                    </a:cxn>
                    <a:cxn ang="0">
                      <a:pos x="2" y="78"/>
                    </a:cxn>
                    <a:cxn ang="0">
                      <a:pos x="2" y="0"/>
                    </a:cxn>
                  </a:cxnLst>
                  <a:rect l="0" t="0" r="0" b="0"/>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77" name="Freeform 47"/>
                <p:cNvSpPr/>
                <p:nvPr/>
              </p:nvSpPr>
              <p:spPr>
                <a:xfrm>
                  <a:off x="5284" y="1640"/>
                  <a:ext cx="263" cy="189"/>
                </a:xfrm>
                <a:custGeom>
                  <a:avLst/>
                  <a:gdLst/>
                  <a:ahLst/>
                  <a:cxnLst>
                    <a:cxn ang="0">
                      <a:pos x="2" y="0"/>
                    </a:cxn>
                    <a:cxn ang="0">
                      <a:pos x="5" y="5"/>
                    </a:cxn>
                    <a:cxn ang="0">
                      <a:pos x="5" y="8"/>
                    </a:cxn>
                    <a:cxn ang="0">
                      <a:pos x="0" y="3"/>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78" name="Rectangle 48"/>
                <p:cNvSpPr/>
                <p:nvPr/>
              </p:nvSpPr>
              <p:spPr>
                <a:xfrm>
                  <a:off x="4209" y="690"/>
                  <a:ext cx="598" cy="5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nvGrpSpPr>
                <p:cNvPr id="183379" name="Group 49"/>
                <p:cNvGrpSpPr/>
                <p:nvPr/>
              </p:nvGrpSpPr>
              <p:grpSpPr>
                <a:xfrm>
                  <a:off x="4749" y="668"/>
                  <a:ext cx="581" cy="145"/>
                  <a:chOff x="614" y="2568"/>
                  <a:chExt cx="725" cy="139"/>
                </a:xfrm>
              </p:grpSpPr>
              <p:sp>
                <p:nvSpPr>
                  <p:cNvPr id="183380" name="AutoShape 50"/>
                  <p:cNvSpPr/>
                  <p:nvPr/>
                </p:nvSpPr>
                <p:spPr>
                  <a:xfrm>
                    <a:off x="613" y="2568"/>
                    <a:ext cx="726" cy="139"/>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81" name="AutoShape 51"/>
                  <p:cNvSpPr/>
                  <p:nvPr/>
                </p:nvSpPr>
                <p:spPr>
                  <a:xfrm>
                    <a:off x="627" y="2584"/>
                    <a:ext cx="693" cy="107"/>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82" name="Rectangle 52"/>
                <p:cNvSpPr/>
                <p:nvPr/>
              </p:nvSpPr>
              <p:spPr>
                <a:xfrm>
                  <a:off x="4225" y="1018"/>
                  <a:ext cx="592" cy="5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nvGrpSpPr>
                <p:cNvPr id="183383" name="Group 53"/>
                <p:cNvGrpSpPr/>
                <p:nvPr/>
              </p:nvGrpSpPr>
              <p:grpSpPr>
                <a:xfrm>
                  <a:off x="4747" y="994"/>
                  <a:ext cx="581" cy="134"/>
                  <a:chOff x="614" y="2568"/>
                  <a:chExt cx="725" cy="139"/>
                </a:xfrm>
              </p:grpSpPr>
              <p:sp>
                <p:nvSpPr>
                  <p:cNvPr id="183384" name="AutoShape 54"/>
                  <p:cNvSpPr/>
                  <p:nvPr/>
                </p:nvSpPr>
                <p:spPr>
                  <a:xfrm>
                    <a:off x="616" y="2570"/>
                    <a:ext cx="726" cy="138"/>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85" name="AutoShape 55"/>
                  <p:cNvSpPr/>
                  <p:nvPr/>
                </p:nvSpPr>
                <p:spPr>
                  <a:xfrm>
                    <a:off x="629" y="2587"/>
                    <a:ext cx="693"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86" name="Rectangle 56"/>
                <p:cNvSpPr/>
                <p:nvPr/>
              </p:nvSpPr>
              <p:spPr>
                <a:xfrm>
                  <a:off x="4215" y="1357"/>
                  <a:ext cx="598"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87" name="Rectangle 57"/>
                <p:cNvSpPr/>
                <p:nvPr/>
              </p:nvSpPr>
              <p:spPr>
                <a:xfrm>
                  <a:off x="4225" y="1658"/>
                  <a:ext cx="598"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nvGrpSpPr>
                <p:cNvPr id="183388" name="Group 58"/>
                <p:cNvGrpSpPr/>
                <p:nvPr/>
              </p:nvGrpSpPr>
              <p:grpSpPr>
                <a:xfrm>
                  <a:off x="4735" y="1627"/>
                  <a:ext cx="582" cy="151"/>
                  <a:chOff x="614" y="2568"/>
                  <a:chExt cx="725" cy="139"/>
                </a:xfrm>
              </p:grpSpPr>
              <p:sp>
                <p:nvSpPr>
                  <p:cNvPr id="183389" name="AutoShape 59"/>
                  <p:cNvSpPr/>
                  <p:nvPr/>
                </p:nvSpPr>
                <p:spPr>
                  <a:xfrm>
                    <a:off x="611" y="2581"/>
                    <a:ext cx="731" cy="128"/>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0" name="AutoShape 60"/>
                  <p:cNvSpPr/>
                  <p:nvPr/>
                </p:nvSpPr>
                <p:spPr>
                  <a:xfrm>
                    <a:off x="624" y="2586"/>
                    <a:ext cx="698" cy="107"/>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91" name="Freeform 61"/>
                <p:cNvSpPr/>
                <p:nvPr/>
              </p:nvSpPr>
              <p:spPr>
                <a:xfrm>
                  <a:off x="5288" y="1354"/>
                  <a:ext cx="263" cy="188"/>
                </a:xfrm>
                <a:custGeom>
                  <a:avLst/>
                  <a:gdLst/>
                  <a:ahLst/>
                  <a:cxnLst>
                    <a:cxn ang="0">
                      <a:pos x="2" y="0"/>
                    </a:cxn>
                    <a:cxn ang="0">
                      <a:pos x="5" y="4"/>
                    </a:cxn>
                    <a:cxn ang="0">
                      <a:pos x="5" y="7"/>
                    </a:cxn>
                    <a:cxn ang="0">
                      <a:pos x="0" y="2"/>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83392" name="Group 62"/>
                <p:cNvGrpSpPr/>
                <p:nvPr/>
              </p:nvGrpSpPr>
              <p:grpSpPr>
                <a:xfrm>
                  <a:off x="4739" y="1327"/>
                  <a:ext cx="582" cy="139"/>
                  <a:chOff x="614" y="2568"/>
                  <a:chExt cx="725" cy="139"/>
                </a:xfrm>
              </p:grpSpPr>
              <p:sp>
                <p:nvSpPr>
                  <p:cNvPr id="183393" name="AutoShape 63"/>
                  <p:cNvSpPr/>
                  <p:nvPr/>
                </p:nvSpPr>
                <p:spPr>
                  <a:xfrm>
                    <a:off x="612" y="2576"/>
                    <a:ext cx="725" cy="139"/>
                  </a:xfrm>
                  <a:prstGeom prst="roundRect">
                    <a:avLst>
                      <a:gd name="adj" fmla="val 50000"/>
                    </a:avLst>
                  </a:prstGeom>
                  <a:solidFill>
                    <a:schemeClr val="tx1"/>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4" name="AutoShape 64"/>
                  <p:cNvSpPr/>
                  <p:nvPr/>
                </p:nvSpPr>
                <p:spPr>
                  <a:xfrm>
                    <a:off x="626" y="2587"/>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sp>
              <p:nvSpPr>
                <p:cNvPr id="183395" name="Rectangle 65"/>
                <p:cNvSpPr/>
                <p:nvPr/>
              </p:nvSpPr>
              <p:spPr>
                <a:xfrm>
                  <a:off x="5250" y="429"/>
                  <a:ext cx="69" cy="2290"/>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6" name="Freeform 66"/>
                <p:cNvSpPr/>
                <p:nvPr/>
              </p:nvSpPr>
              <p:spPr>
                <a:xfrm>
                  <a:off x="5312" y="1007"/>
                  <a:ext cx="237" cy="213"/>
                </a:xfrm>
                <a:custGeom>
                  <a:avLst/>
                  <a:gdLst/>
                  <a:ahLst/>
                  <a:cxnLst>
                    <a:cxn ang="0">
                      <a:pos x="2" y="0"/>
                    </a:cxn>
                    <a:cxn ang="0">
                      <a:pos x="5" y="4"/>
                    </a:cxn>
                    <a:cxn ang="0">
                      <a:pos x="5" y="7"/>
                    </a:cxn>
                    <a:cxn ang="0">
                      <a:pos x="0" y="2"/>
                    </a:cxn>
                    <a:cxn ang="0">
                      <a:pos x="2" y="0"/>
                    </a:cxn>
                  </a:cxnLst>
                  <a:rect l="0" t="0" r="0" b="0"/>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97" name="Freeform 67"/>
                <p:cNvSpPr/>
                <p:nvPr/>
              </p:nvSpPr>
              <p:spPr>
                <a:xfrm>
                  <a:off x="5315" y="680"/>
                  <a:ext cx="244" cy="240"/>
                </a:xfrm>
                <a:custGeom>
                  <a:avLst/>
                  <a:gdLst/>
                  <a:ahLst/>
                  <a:cxnLst>
                    <a:cxn ang="0">
                      <a:pos x="0" y="0"/>
                    </a:cxn>
                    <a:cxn ang="0">
                      <a:pos x="5" y="6"/>
                    </a:cxn>
                    <a:cxn ang="0">
                      <a:pos x="4" y="9"/>
                    </a:cxn>
                    <a:cxn ang="0">
                      <a:pos x="2" y="4"/>
                    </a:cxn>
                    <a:cxn ang="0">
                      <a:pos x="0" y="0"/>
                    </a:cxn>
                  </a:cxnLst>
                  <a:rect l="0" t="0" r="0" b="0"/>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398" name="Oval 68"/>
                <p:cNvSpPr/>
                <p:nvPr/>
              </p:nvSpPr>
              <p:spPr>
                <a:xfrm>
                  <a:off x="5517" y="2614"/>
                  <a:ext cx="48" cy="95"/>
                </a:xfrm>
                <a:prstGeom prst="ellipse">
                  <a:avLst/>
                </a:prstGeom>
                <a:solidFill>
                  <a:srgbClr val="333333"/>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399" name="Freeform 69"/>
                <p:cNvSpPr/>
                <p:nvPr/>
              </p:nvSpPr>
              <p:spPr>
                <a:xfrm>
                  <a:off x="5302" y="2614"/>
                  <a:ext cx="245" cy="200"/>
                </a:xfrm>
                <a:custGeom>
                  <a:avLst/>
                  <a:gdLst/>
                  <a:ahLst/>
                  <a:cxnLst>
                    <a:cxn ang="0">
                      <a:pos x="0" y="4"/>
                    </a:cxn>
                    <a:cxn ang="0">
                      <a:pos x="2" y="8"/>
                    </a:cxn>
                    <a:cxn ang="0">
                      <a:pos x="5" y="4"/>
                    </a:cxn>
                    <a:cxn ang="0">
                      <a:pos x="5" y="0"/>
                    </a:cxn>
                    <a:cxn ang="0">
                      <a:pos x="0" y="4"/>
                    </a:cxn>
                  </a:cxnLst>
                  <a:rect l="0" t="0" r="0" b="0"/>
                  <a:pathLst>
                    <a:path w="306" h="240">
                      <a:moveTo>
                        <a:pt x="0" y="106"/>
                      </a:moveTo>
                      <a:lnTo>
                        <a:pt x="2" y="240"/>
                      </a:lnTo>
                      <a:lnTo>
                        <a:pt x="306" y="110"/>
                      </a:lnTo>
                      <a:lnTo>
                        <a:pt x="300" y="0"/>
                      </a:lnTo>
                      <a:lnTo>
                        <a:pt x="0" y="106"/>
                      </a:lnTo>
                      <a:close/>
                    </a:path>
                  </a:pathLst>
                </a:custGeom>
                <a:solidFill>
                  <a:srgbClr val="333333"/>
                </a:soli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183400" name="AutoShape 70"/>
                <p:cNvSpPr/>
                <p:nvPr/>
              </p:nvSpPr>
              <p:spPr>
                <a:xfrm>
                  <a:off x="4140" y="2680"/>
                  <a:ext cx="1201" cy="145"/>
                </a:xfrm>
                <a:prstGeom prst="roundRect">
                  <a:avLst>
                    <a:gd name="adj" fmla="val 50000"/>
                  </a:avLst>
                </a:prstGeom>
                <a:solidFill>
                  <a:srgbClr val="DDDDDD"/>
                </a:solidFill>
                <a:ln w="9525" cap="flat" cmpd="sng">
                  <a:solidFill>
                    <a:schemeClr val="tx1"/>
                  </a:solidFill>
                  <a:prstDash val="solid"/>
                  <a:round/>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1" name="AutoShape 71"/>
                <p:cNvSpPr/>
                <p:nvPr/>
              </p:nvSpPr>
              <p:spPr>
                <a:xfrm>
                  <a:off x="4204" y="2708"/>
                  <a:ext cx="1073" cy="83"/>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round/>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2" name="Oval 72"/>
                <p:cNvSpPr/>
                <p:nvPr/>
              </p:nvSpPr>
              <p:spPr>
                <a:xfrm>
                  <a:off x="4305" y="2380"/>
                  <a:ext cx="160" cy="145"/>
                </a:xfrm>
                <a:prstGeom prst="ellipse">
                  <a:avLst/>
                </a:prstGeom>
                <a:solidFill>
                  <a:srgbClr val="33CC33"/>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3" name="Oval 73"/>
                <p:cNvSpPr/>
                <p:nvPr/>
              </p:nvSpPr>
              <p:spPr>
                <a:xfrm>
                  <a:off x="4487" y="2386"/>
                  <a:ext cx="160" cy="139"/>
                </a:xfrm>
                <a:prstGeom prst="ellipse">
                  <a:avLst/>
                </a:prstGeom>
                <a:solidFill>
                  <a:srgbClr val="FF0000"/>
                </a:solidFill>
                <a:ln w="9525">
                  <a:noFill/>
                </a:ln>
              </p:spPr>
              <p:txBody>
                <a:bodyPr wrap="none" anchor="ctr"/>
                <a:lstStyle/>
                <a:p>
                  <a:pPr algn="ctr"/>
                  <a:endParaRPr lang="zh-CN" altLang="zh-CN" dirty="0">
                    <a:solidFill>
                      <a:srgbClr val="FF0000"/>
                    </a:solidFill>
                    <a:latin typeface="微软雅黑" panose="020B0503020204020204" pitchFamily="34" charset="-122"/>
                    <a:ea typeface="微软雅黑" panose="020B0503020204020204" pitchFamily="34" charset="-122"/>
                  </a:endParaRPr>
                </a:p>
              </p:txBody>
            </p:sp>
            <p:sp>
              <p:nvSpPr>
                <p:cNvPr id="183404" name="Oval 74"/>
                <p:cNvSpPr/>
                <p:nvPr/>
              </p:nvSpPr>
              <p:spPr>
                <a:xfrm>
                  <a:off x="4663" y="2380"/>
                  <a:ext cx="155" cy="139"/>
                </a:xfrm>
                <a:prstGeom prst="ellipse">
                  <a:avLst/>
                </a:prstGeom>
                <a:solidFill>
                  <a:srgbClr val="33CC33"/>
                </a:solidFill>
                <a:ln w="9525">
                  <a:noFill/>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sp>
              <p:nvSpPr>
                <p:cNvPr id="183405" name="Rectangle 75"/>
                <p:cNvSpPr/>
                <p:nvPr/>
              </p:nvSpPr>
              <p:spPr>
                <a:xfrm>
                  <a:off x="5063" y="1835"/>
                  <a:ext cx="85"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endParaRPr lang="zh-CN" altLang="zh-CN" dirty="0">
                    <a:latin typeface="微软雅黑" panose="020B0503020204020204" pitchFamily="34" charset="-122"/>
                    <a:ea typeface="微软雅黑" panose="020B0503020204020204" pitchFamily="34" charset="-122"/>
                  </a:endParaRPr>
                </a:p>
              </p:txBody>
            </p:sp>
          </p:grpSp>
          <p:grpSp>
            <p:nvGrpSpPr>
              <p:cNvPr id="183406" name="Group 76"/>
              <p:cNvGrpSpPr/>
              <p:nvPr/>
            </p:nvGrpSpPr>
            <p:grpSpPr>
              <a:xfrm>
                <a:off x="8828" y="2740"/>
                <a:ext cx="1100" cy="1118"/>
                <a:chOff x="-44" y="1473"/>
                <a:chExt cx="981" cy="1105"/>
              </a:xfrm>
            </p:grpSpPr>
            <p:pic>
              <p:nvPicPr>
                <p:cNvPr id="183407" name="Picture 77" descr="desktop_computer_stylized_medium"/>
                <p:cNvPicPr>
                  <a:picLocks noChangeAspect="1"/>
                </p:cNvPicPr>
                <p:nvPr/>
              </p:nvPicPr>
              <p:blipFill>
                <a:blip r:embed="rId3"/>
                <a:stretch>
                  <a:fillRect/>
                </a:stretch>
              </p:blipFill>
              <p:spPr>
                <a:xfrm flipH="1">
                  <a:off x="-44" y="1473"/>
                  <a:ext cx="981" cy="1105"/>
                </a:xfrm>
                <a:prstGeom prst="rect">
                  <a:avLst/>
                </a:prstGeom>
                <a:noFill/>
                <a:ln w="9525">
                  <a:noFill/>
                </a:ln>
              </p:spPr>
            </p:pic>
            <p:sp>
              <p:nvSpPr>
                <p:cNvPr id="183408" name="Freeform 78"/>
                <p:cNvSpPr/>
                <p:nvPr/>
              </p:nvSpPr>
              <p:spPr>
                <a:xfrm flipH="1">
                  <a:off x="374" y="1579"/>
                  <a:ext cx="477" cy="506"/>
                </a:xfrm>
                <a:custGeom>
                  <a:avLst/>
                  <a:gdLst/>
                  <a:ahLst/>
                  <a:cxnLst>
                    <a:cxn ang="0">
                      <a:pos x="0" y="0"/>
                    </a:cxn>
                    <a:cxn ang="0">
                      <a:pos x="77884" y="5998"/>
                    </a:cxn>
                    <a:cxn ang="0">
                      <a:pos x="92393" y="124961"/>
                    </a:cxn>
                    <a:cxn ang="0">
                      <a:pos x="20362" y="156280"/>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a:latin typeface="微软雅黑" panose="020B0503020204020204" pitchFamily="34" charset="-122"/>
                    <a:ea typeface="微软雅黑" panose="020B0503020204020204" pitchFamily="34" charset="-122"/>
                  </a:endParaRPr>
                </a:p>
              </p:txBody>
            </p:sp>
          </p:grpSp>
        </p:grpSp>
        <p:cxnSp>
          <p:nvCxnSpPr>
            <p:cNvPr id="13" name="直接箭头连接符 12"/>
            <p:cNvCxnSpPr/>
            <p:nvPr/>
          </p:nvCxnSpPr>
          <p:spPr>
            <a:xfrm flipH="1">
              <a:off x="5167" y="8572"/>
              <a:ext cx="3633" cy="1052"/>
            </a:xfrm>
            <a:prstGeom prst="straightConnector1">
              <a:avLst/>
            </a:prstGeom>
            <a:ln w="57150">
              <a:solidFill>
                <a:srgbClr val="0B10F1"/>
              </a:solidFill>
              <a:tailEnd type="arrow"/>
            </a:ln>
          </p:spPr>
          <p:style>
            <a:lnRef idx="1">
              <a:schemeClr val="accent1"/>
            </a:lnRef>
            <a:fillRef idx="0">
              <a:schemeClr val="accent1"/>
            </a:fillRef>
            <a:effectRef idx="0">
              <a:schemeClr val="accent1"/>
            </a:effectRef>
            <a:fontRef idx="minor">
              <a:schemeClr val="tx1"/>
            </a:fontRef>
          </p:style>
        </p:cxnSp>
      </p:grpSp>
      <p:cxnSp>
        <p:nvCxnSpPr>
          <p:cNvPr id="15" name="直接箭头连接符 14"/>
          <p:cNvCxnSpPr/>
          <p:nvPr/>
        </p:nvCxnSpPr>
        <p:spPr>
          <a:xfrm>
            <a:off x="9554952" y="1678057"/>
            <a:ext cx="156464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9554952" y="1816487"/>
            <a:ext cx="1564640" cy="0"/>
          </a:xfrm>
          <a:prstGeom prst="straightConnector1">
            <a:avLst/>
          </a:prstGeom>
          <a:ln>
            <a:solidFill>
              <a:srgbClr val="0B10F1"/>
            </a:solidFill>
            <a:tailEnd type="arrow"/>
          </a:ln>
        </p:spPr>
        <p:style>
          <a:lnRef idx="1">
            <a:schemeClr val="accent1"/>
          </a:lnRef>
          <a:fillRef idx="0">
            <a:schemeClr val="accent1"/>
          </a:fillRef>
          <a:effectRef idx="0">
            <a:schemeClr val="accent1"/>
          </a:effectRef>
          <a:fontRef idx="minor">
            <a:schemeClr val="tx1"/>
          </a:fontRef>
        </p:style>
      </p:cxnSp>
      <p:sp>
        <p:nvSpPr>
          <p:cNvPr id="17" name="Text Box 24"/>
          <p:cNvSpPr txBox="1"/>
          <p:nvPr/>
        </p:nvSpPr>
        <p:spPr>
          <a:xfrm>
            <a:off x="9668915" y="1366033"/>
            <a:ext cx="1516171" cy="307266"/>
          </a:xfrm>
          <a:prstGeom prst="rect">
            <a:avLst/>
          </a:prstGeom>
          <a:noFill/>
          <a:ln w="9525">
            <a:noFill/>
          </a:ln>
        </p:spPr>
        <p:txBody>
          <a:bodyPr wrap="square" anchor="t">
            <a:spAutoFit/>
          </a:bodyPr>
          <a:lstStyle/>
          <a:p>
            <a:pPr algn="ctr"/>
            <a:r>
              <a:rPr lang="en-US" altLang="zh-CN" sz="1400" dirty="0">
                <a:solidFill>
                  <a:srgbClr val="CC0000"/>
                </a:solidFill>
                <a:latin typeface="微软雅黑" panose="020B0503020204020204" pitchFamily="34" charset="-122"/>
                <a:ea typeface="微软雅黑" panose="020B0503020204020204" pitchFamily="34" charset="-122"/>
              </a:rPr>
              <a:t>Ping request</a:t>
            </a:r>
          </a:p>
        </p:txBody>
      </p:sp>
      <p:sp>
        <p:nvSpPr>
          <p:cNvPr id="18" name="Text Box 26"/>
          <p:cNvSpPr txBox="1"/>
          <p:nvPr/>
        </p:nvSpPr>
        <p:spPr>
          <a:xfrm>
            <a:off x="9577479" y="1828883"/>
            <a:ext cx="1680756" cy="307171"/>
          </a:xfrm>
          <a:prstGeom prst="rect">
            <a:avLst/>
          </a:prstGeom>
          <a:noFill/>
          <a:ln w="9525">
            <a:noFill/>
          </a:ln>
        </p:spPr>
        <p:txBody>
          <a:bodyPr wrap="square" anchor="t">
            <a:spAutoFit/>
          </a:bodyPr>
          <a:lstStyle/>
          <a:p>
            <a:pPr algn="ctr"/>
            <a:r>
              <a:rPr lang="en-US" altLang="zh-CN" sz="1400" dirty="0">
                <a:solidFill>
                  <a:srgbClr val="CC0000"/>
                </a:solidFill>
                <a:latin typeface="微软雅黑" panose="020B0503020204020204" pitchFamily="34" charset="-122"/>
                <a:ea typeface="微软雅黑" panose="020B0503020204020204" pitchFamily="34" charset="-122"/>
              </a:rPr>
              <a:t>Ping response</a:t>
            </a:r>
          </a:p>
        </p:txBody>
      </p:sp>
      <p:pic>
        <p:nvPicPr>
          <p:cNvPr id="5" name="图片 4">
            <a:extLst>
              <a:ext uri="{FF2B5EF4-FFF2-40B4-BE49-F238E27FC236}">
                <a16:creationId xmlns:a16="http://schemas.microsoft.com/office/drawing/2014/main" id="{A2A5E69B-52B1-8444-B372-43983ABD4457}"/>
              </a:ext>
            </a:extLst>
          </p:cNvPr>
          <p:cNvPicPr>
            <a:picLocks noChangeAspect="1"/>
          </p:cNvPicPr>
          <p:nvPr/>
        </p:nvPicPr>
        <p:blipFill>
          <a:blip r:embed="rId4"/>
          <a:stretch>
            <a:fillRect/>
          </a:stretch>
        </p:blipFill>
        <p:spPr>
          <a:xfrm>
            <a:off x="2594610" y="4028283"/>
            <a:ext cx="8051939" cy="2529687"/>
          </a:xfrm>
          <a:prstGeom prst="rect">
            <a:avLst/>
          </a:prstGeom>
        </p:spPr>
      </p:pic>
      <p:sp>
        <p:nvSpPr>
          <p:cNvPr id="60" name="文本框 59">
            <a:extLst>
              <a:ext uri="{FF2B5EF4-FFF2-40B4-BE49-F238E27FC236}">
                <a16:creationId xmlns:a16="http://schemas.microsoft.com/office/drawing/2014/main" id="{449F7463-2080-7A4A-8F57-E3F3C973DB1A}"/>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sp>
        <p:nvSpPr>
          <p:cNvPr id="4" name="矩形 3">
            <a:extLst>
              <a:ext uri="{FF2B5EF4-FFF2-40B4-BE49-F238E27FC236}">
                <a16:creationId xmlns:a16="http://schemas.microsoft.com/office/drawing/2014/main" id="{0551975A-4A82-1A4A-A861-4EDAD188810B}"/>
              </a:ext>
            </a:extLst>
          </p:cNvPr>
          <p:cNvSpPr/>
          <p:nvPr/>
        </p:nvSpPr>
        <p:spPr>
          <a:xfrm>
            <a:off x="258922" y="4633587"/>
            <a:ext cx="2178802" cy="966931"/>
          </a:xfrm>
          <a:prstGeom prst="rect">
            <a:avLst/>
          </a:prstGeom>
          <a:ln>
            <a:solidFill>
              <a:schemeClr val="tx1"/>
            </a:solidFill>
          </a:ln>
        </p:spPr>
        <p:txBody>
          <a:bodyPr wrap="none">
            <a:spAutoFit/>
          </a:bodyPr>
          <a:lstStyle/>
          <a:p>
            <a:pPr algn="ctr">
              <a:lnSpc>
                <a:spcPct val="150000"/>
              </a:lnSpc>
            </a:pPr>
            <a:r>
              <a:rPr lang="zh-CN" altLang="en-US" sz="2000" dirty="0">
                <a:solidFill>
                  <a:prstClr val="black"/>
                </a:solidFill>
                <a:latin typeface="Times New Roman" panose="02020603050405020304" pitchFamily="18" charset="0"/>
                <a:ea typeface="Microsoft YaHei" panose="020B0503020204020204" pitchFamily="34" charset="-122"/>
                <a:cs typeface="Times New Roman" panose="02020603050405020304" pitchFamily="18" charset="0"/>
                <a:sym typeface="+mn-ea"/>
              </a:rPr>
              <a:t>使用</a:t>
            </a:r>
            <a:r>
              <a:rPr lang="en-US" altLang="zh-CN" sz="2000" dirty="0">
                <a:solidFill>
                  <a:prstClr val="black"/>
                </a:solidFill>
                <a:latin typeface="Times New Roman" panose="02020603050405020304" pitchFamily="18" charset="0"/>
                <a:ea typeface="Microsoft YaHei" panose="020B0503020204020204" pitchFamily="34" charset="-122"/>
                <a:cs typeface="Times New Roman" panose="02020603050405020304" pitchFamily="18" charset="0"/>
                <a:sym typeface="+mn-ea"/>
              </a:rPr>
              <a:t>ping</a:t>
            </a:r>
            <a:r>
              <a:rPr lang="zh-CN" altLang="en-US" sz="2000" dirty="0">
                <a:solidFill>
                  <a:prstClr val="black"/>
                </a:solidFill>
                <a:latin typeface="Times New Roman" panose="02020603050405020304" pitchFamily="18" charset="0"/>
                <a:ea typeface="Microsoft YaHei" panose="020B0503020204020204" pitchFamily="34" charset="-122"/>
                <a:cs typeface="Times New Roman" panose="02020603050405020304" pitchFamily="18" charset="0"/>
                <a:sym typeface="+mn-ea"/>
              </a:rPr>
              <a:t>命令获取</a:t>
            </a:r>
            <a:br>
              <a:rPr lang="en-US" altLang="zh-CN" sz="2000" dirty="0">
                <a:solidFill>
                  <a:prstClr val="black"/>
                </a:solidFill>
                <a:latin typeface="Times New Roman" panose="02020603050405020304" pitchFamily="18" charset="0"/>
                <a:ea typeface="Microsoft YaHei" panose="020B0503020204020204" pitchFamily="34" charset="-122"/>
                <a:cs typeface="Times New Roman" panose="02020603050405020304" pitchFamily="18" charset="0"/>
                <a:sym typeface="+mn-ea"/>
              </a:rPr>
            </a:br>
            <a:r>
              <a:rPr lang="zh-CN" altLang="en-US" sz="2000" dirty="0">
                <a:solidFill>
                  <a:prstClr val="black"/>
                </a:solidFill>
                <a:latin typeface="Times New Roman" panose="02020603050405020304" pitchFamily="18" charset="0"/>
                <a:ea typeface="Microsoft YaHei" panose="020B0503020204020204" pitchFamily="34" charset="-122"/>
                <a:cs typeface="Times New Roman" panose="02020603050405020304" pitchFamily="18" charset="0"/>
                <a:sym typeface="+mn-ea"/>
              </a:rPr>
              <a:t>往返时延RTT</a:t>
            </a:r>
            <a:endParaRPr lang="zh-CN" altLang="en-US" sz="1400" dirty="0"/>
          </a:p>
        </p:txBody>
      </p:sp>
      <p:pic>
        <p:nvPicPr>
          <p:cNvPr id="62" name="Picture 28" descr="015">
            <a:extLst>
              <a:ext uri="{FF2B5EF4-FFF2-40B4-BE49-F238E27FC236}">
                <a16:creationId xmlns:a16="http://schemas.microsoft.com/office/drawing/2014/main" id="{D75D71D8-0275-4378-BA98-4D3DC5FA93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83942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计算机网络度量单位</a:t>
            </a:r>
            <a:endParaRPr lang="zh-CN" altLang="en-US"/>
          </a:p>
        </p:txBody>
      </p:sp>
      <p:sp>
        <p:nvSpPr>
          <p:cNvPr id="6" name="灯片编号占位符 5">
            <a:extLst>
              <a:ext uri="{FF2B5EF4-FFF2-40B4-BE49-F238E27FC236}">
                <a16:creationId xmlns:a16="http://schemas.microsoft.com/office/drawing/2014/main" id="{99AA0F5B-F110-B349-9BB7-B20650FDE03D}"/>
              </a:ext>
            </a:extLst>
          </p:cNvPr>
          <p:cNvSpPr>
            <a:spLocks noGrp="1"/>
          </p:cNvSpPr>
          <p:nvPr>
            <p:ph type="sldNum" sz="quarter" idx="12"/>
          </p:nvPr>
        </p:nvSpPr>
        <p:spPr/>
        <p:txBody>
          <a:bodyPr/>
          <a:lstStyle/>
          <a:p>
            <a:fld id="{8D4D1E41-7A09-AB4A-A4E1-09765ADA2698}" type="slidenum">
              <a:rPr kumimoji="1" lang="zh-CN" altLang="en-US" smtClean="0"/>
              <a:t>91</a:t>
            </a:fld>
            <a:endParaRPr kumimoji="1" lang="zh-CN" altLang="en-US" dirty="0"/>
          </a:p>
        </p:txBody>
      </p:sp>
      <p:sp>
        <p:nvSpPr>
          <p:cNvPr id="110595" name="Rectangle 3"/>
          <p:cNvSpPr>
            <a:spLocks noGrp="1" noChangeArrowheads="1"/>
          </p:cNvSpPr>
          <p:nvPr/>
        </p:nvSpPr>
        <p:spPr>
          <a:xfrm>
            <a:off x="831215" y="1384299"/>
            <a:ext cx="10664825" cy="2391253"/>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marR="0" lvl="0" indent="-342900" algn="just" defTabSz="914400" rtl="0" eaLnBrk="1" fontAlgn="auto" hangingPunct="1">
              <a:lnSpc>
                <a:spcPct val="130000"/>
              </a:lnSpc>
              <a:spcBef>
                <a:spcPts val="0"/>
              </a:spcBef>
              <a:spcAft>
                <a:spcPts val="0"/>
              </a:spcAft>
              <a:buClrTx/>
              <a:buSzTx/>
              <a:buFont typeface="Wingdings" panose="05000000000000000000" charset="0"/>
              <a:buChar char="Ø"/>
              <a:defRPr/>
            </a:pPr>
            <a:r>
              <a:rPr kumimoji="0" lang="zh-CN" altLang="en-US" sz="2800" i="0" u="none" strike="noStrike" cap="none" spc="0" normalizeH="0" baseline="0" dirty="0">
                <a:cs typeface="Times New Roman" panose="02020603050405020304" pitchFamily="18" charset="0"/>
              </a:rPr>
              <a:t>时延带宽积</a:t>
            </a:r>
          </a:p>
          <a:p>
            <a:pPr marL="685800" lvl="1" indent="-228600" algn="just" eaLnBrk="1" fontAlgn="auto" hangingPunct="1">
              <a:lnSpc>
                <a:spcPct val="130000"/>
              </a:lnSpc>
              <a:spcBef>
                <a:spcPts val="20"/>
              </a:spcBef>
              <a:spcAft>
                <a:spcPts val="0"/>
              </a:spcAft>
              <a:buClrTx/>
              <a:buSzTx/>
              <a:buFont typeface="Arial" panose="020B0604020202020204" pitchFamily="34" charset="0"/>
              <a:buChar char="•"/>
              <a:defRPr/>
            </a:pPr>
            <a:r>
              <a:rPr lang="zh-CN" altLang="en-US" sz="2400" b="1" dirty="0">
                <a:solidFill>
                  <a:srgbClr val="C00000"/>
                </a:solidFill>
                <a:cs typeface="微软雅黑" panose="020B0503020204020204" pitchFamily="34" charset="-122"/>
              </a:rPr>
              <a:t>时延带宽积 </a:t>
            </a:r>
            <a:r>
              <a:rPr lang="en-US" altLang="zh-CN" sz="2400" b="1" dirty="0">
                <a:solidFill>
                  <a:srgbClr val="C00000"/>
                </a:solidFill>
                <a:cs typeface="微软雅黑" panose="020B0503020204020204" pitchFamily="34" charset="-122"/>
              </a:rPr>
              <a:t>= </a:t>
            </a:r>
            <a:r>
              <a:rPr lang="zh-CN" altLang="en-US" sz="2400" b="1" dirty="0">
                <a:solidFill>
                  <a:srgbClr val="C00000"/>
                </a:solidFill>
                <a:cs typeface="微软雅黑" panose="020B0503020204020204" pitchFamily="34" charset="-122"/>
              </a:rPr>
              <a:t>传播时延 </a:t>
            </a:r>
            <a:r>
              <a:rPr lang="zh-CN" altLang="en-US" sz="2400" b="1" dirty="0">
                <a:solidFill>
                  <a:srgbClr val="C00000"/>
                </a:solidFill>
                <a:cs typeface="微软雅黑" panose="020B0503020204020204" pitchFamily="34" charset="-122"/>
                <a:sym typeface="Symbol" panose="05050102010706020507" pitchFamily="18" charset="2"/>
              </a:rPr>
              <a:t> 带宽</a:t>
            </a:r>
            <a:r>
              <a:rPr lang="zh-CN" altLang="en-US" sz="2400" b="1" dirty="0">
                <a:cs typeface="微软雅黑" panose="020B0503020204020204" pitchFamily="34" charset="-122"/>
                <a:sym typeface="Symbol" panose="05050102010706020507" pitchFamily="18" charset="2"/>
              </a:rPr>
              <a:t>，</a:t>
            </a:r>
            <a:r>
              <a:rPr lang="zh-CN" altLang="en-US" sz="2400" dirty="0">
                <a:cs typeface="微软雅黑" panose="020B0503020204020204" pitchFamily="34" charset="-122"/>
                <a:sym typeface="Symbol" panose="05050102010706020507" pitchFamily="18" charset="2"/>
              </a:rPr>
              <a:t>即</a:t>
            </a:r>
            <a:r>
              <a:rPr lang="zh-CN" altLang="en-US" sz="2400" dirty="0">
                <a:cs typeface="微软雅黑" panose="020B0503020204020204" pitchFamily="34" charset="-122"/>
                <a:sym typeface="+mn-ea"/>
              </a:rPr>
              <a:t>按</a:t>
            </a:r>
            <a:r>
              <a:rPr lang="zh-CN" altLang="en-US" sz="2400" b="1" dirty="0">
                <a:solidFill>
                  <a:srgbClr val="C00000"/>
                </a:solidFill>
                <a:cs typeface="微软雅黑" panose="020B0503020204020204" pitchFamily="34" charset="-122"/>
                <a:sym typeface="+mn-ea"/>
              </a:rPr>
              <a:t>比特计数</a:t>
            </a:r>
            <a:r>
              <a:rPr lang="zh-CN" altLang="en-US" sz="2400" dirty="0">
                <a:cs typeface="微软雅黑" panose="020B0503020204020204" pitchFamily="34" charset="-122"/>
                <a:sym typeface="+mn-ea"/>
              </a:rPr>
              <a:t>的链路长度</a:t>
            </a:r>
            <a:endParaRPr lang="en-US" altLang="zh-CN" sz="2400" dirty="0">
              <a:cs typeface="微软雅黑" panose="020B0503020204020204" pitchFamily="34" charset="-122"/>
              <a:sym typeface="+mn-ea"/>
            </a:endParaRPr>
          </a:p>
          <a:p>
            <a:pPr marL="685800" lvl="1" indent="-228600" algn="just" eaLnBrk="1" fontAlgn="auto" hangingPunct="1">
              <a:lnSpc>
                <a:spcPct val="130000"/>
              </a:lnSpc>
              <a:spcBef>
                <a:spcPts val="20"/>
              </a:spcBef>
              <a:spcAft>
                <a:spcPts val="0"/>
              </a:spcAft>
              <a:buClrTx/>
              <a:buSzTx/>
              <a:buFont typeface="Arial" panose="020B0604020202020204" pitchFamily="34" charset="0"/>
              <a:buChar char="•"/>
              <a:defRPr/>
            </a:pPr>
            <a:r>
              <a:rPr lang="zh-CN" altLang="en-US" sz="2400" kern="0" dirty="0">
                <a:sym typeface="+mn-ea"/>
              </a:rPr>
              <a:t>若发送端连续发送数据，则在发送的第一个bit即将达到终点时，发送端就已经发送了</a:t>
            </a:r>
            <a:r>
              <a:rPr lang="zh-CN" altLang="en-US" sz="2400" b="1" dirty="0">
                <a:solidFill>
                  <a:srgbClr val="C00000"/>
                </a:solidFill>
                <a:cs typeface="微软雅黑" panose="020B0503020204020204" pitchFamily="34" charset="-122"/>
              </a:rPr>
              <a:t>时延带宽积</a:t>
            </a:r>
            <a:r>
              <a:rPr lang="zh-CN" altLang="en-US" sz="2400" kern="0" dirty="0">
                <a:sym typeface="+mn-ea"/>
              </a:rPr>
              <a:t>个bit ，而这些bit都在链路上向前移动</a:t>
            </a:r>
            <a:endParaRPr kumimoji="0" lang="zh-CN" altLang="en-US" sz="2400" b="0" i="0" u="none" strike="noStrike"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1" fontAlgn="base" latinLnBrk="0" hangingPunct="1">
              <a:lnSpc>
                <a:spcPct val="135000"/>
              </a:lnSpc>
              <a:spcBef>
                <a:spcPts val="20"/>
              </a:spcBef>
              <a:spcAft>
                <a:spcPts val="0"/>
              </a:spcAft>
              <a:buClr>
                <a:schemeClr val="bg2"/>
              </a:buClr>
              <a:buSzPct val="75000"/>
              <a:buFont typeface="Wingdings" panose="05000000000000000000" charset="0"/>
              <a:buNone/>
              <a:defRPr/>
            </a:pPr>
            <a:endPar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3" name="组合 2"/>
          <p:cNvGrpSpPr/>
          <p:nvPr/>
        </p:nvGrpSpPr>
        <p:grpSpPr>
          <a:xfrm>
            <a:off x="1142386" y="3545149"/>
            <a:ext cx="6764444" cy="2060680"/>
            <a:chOff x="2661" y="3280"/>
            <a:chExt cx="8349" cy="2425"/>
          </a:xfrm>
        </p:grpSpPr>
        <p:sp>
          <p:nvSpPr>
            <p:cNvPr id="110600" name="AutoShape 37"/>
            <p:cNvSpPr>
              <a:spLocks noChangeArrowheads="1"/>
            </p:cNvSpPr>
            <p:nvPr/>
          </p:nvSpPr>
          <p:spPr bwMode="auto">
            <a:xfrm rot="-5400000">
              <a:off x="6889" y="984"/>
              <a:ext cx="1042" cy="72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1956B9"/>
                </a:solidFill>
                <a:latin typeface="微软雅黑" panose="020B0503020204020204" pitchFamily="34" charset="-122"/>
                <a:ea typeface="微软雅黑" panose="020B0503020204020204" pitchFamily="34" charset="-122"/>
              </a:endParaRPr>
            </a:p>
          </p:txBody>
        </p:sp>
        <p:sp>
          <p:nvSpPr>
            <p:cNvPr id="7" name="Line 38"/>
            <p:cNvSpPr>
              <a:spLocks noChangeShapeType="1"/>
            </p:cNvSpPr>
            <p:nvPr/>
          </p:nvSpPr>
          <p:spPr bwMode="auto">
            <a:xfrm>
              <a:off x="4045" y="3823"/>
              <a:ext cx="673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anose="020B0503020204020204" pitchFamily="34" charset="-122"/>
                <a:ea typeface="微软雅黑" panose="020B0503020204020204" pitchFamily="34" charset="-122"/>
              </a:endParaRPr>
            </a:p>
          </p:txBody>
        </p:sp>
        <p:sp>
          <p:nvSpPr>
            <p:cNvPr id="110602" name="Text Box 39"/>
            <p:cNvSpPr txBox="1">
              <a:spLocks noChangeArrowheads="1"/>
            </p:cNvSpPr>
            <p:nvPr/>
          </p:nvSpPr>
          <p:spPr bwMode="auto">
            <a:xfrm>
              <a:off x="5955" y="3280"/>
              <a:ext cx="3209"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latin typeface="微软雅黑" panose="020B0503020204020204" pitchFamily="34" charset="-122"/>
                  <a:ea typeface="微软雅黑" panose="020B0503020204020204" pitchFamily="34" charset="-122"/>
                </a:rPr>
                <a:t>（传播）时延</a:t>
              </a:r>
            </a:p>
          </p:txBody>
        </p:sp>
        <p:sp>
          <p:nvSpPr>
            <p:cNvPr id="110603" name="Text Box 40"/>
            <p:cNvSpPr txBox="1">
              <a:spLocks noChangeArrowheads="1"/>
            </p:cNvSpPr>
            <p:nvPr/>
          </p:nvSpPr>
          <p:spPr bwMode="auto">
            <a:xfrm>
              <a:off x="6860" y="4313"/>
              <a:ext cx="1399"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链 路</a:t>
              </a:r>
            </a:p>
          </p:txBody>
        </p:sp>
        <p:sp>
          <p:nvSpPr>
            <p:cNvPr id="110604" name="Text Box 41"/>
            <p:cNvSpPr txBox="1">
              <a:spLocks noChangeArrowheads="1"/>
            </p:cNvSpPr>
            <p:nvPr/>
          </p:nvSpPr>
          <p:spPr bwMode="auto">
            <a:xfrm>
              <a:off x="2661" y="3704"/>
              <a:ext cx="858" cy="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latin typeface="微软雅黑" panose="020B0503020204020204" pitchFamily="34" charset="-122"/>
                  <a:ea typeface="微软雅黑" panose="020B0503020204020204" pitchFamily="34" charset="-122"/>
                </a:rPr>
                <a:t>带宽</a:t>
              </a:r>
            </a:p>
          </p:txBody>
        </p:sp>
        <p:sp>
          <p:nvSpPr>
            <p:cNvPr id="11" name="Line 42"/>
            <p:cNvSpPr>
              <a:spLocks noChangeShapeType="1"/>
            </p:cNvSpPr>
            <p:nvPr/>
          </p:nvSpPr>
          <p:spPr bwMode="auto">
            <a:xfrm>
              <a:off x="3377" y="4256"/>
              <a:ext cx="668" cy="314"/>
            </a:xfrm>
            <a:prstGeom prst="line">
              <a:avLst/>
            </a:prstGeom>
            <a:noFill/>
            <a:ln w="25400">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anose="020B0503020204020204" pitchFamily="34" charset="-122"/>
                <a:ea typeface="微软雅黑" panose="020B0503020204020204" pitchFamily="34" charset="-122"/>
              </a:endParaRPr>
            </a:p>
          </p:txBody>
        </p:sp>
        <p:sp>
          <p:nvSpPr>
            <p:cNvPr id="110608" name="矩形 13"/>
            <p:cNvSpPr>
              <a:spLocks noChangeArrowheads="1"/>
            </p:cNvSpPr>
            <p:nvPr/>
          </p:nvSpPr>
          <p:spPr bwMode="auto">
            <a:xfrm>
              <a:off x="5088" y="5163"/>
              <a:ext cx="4737"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sz="2400">
                  <a:latin typeface="微软雅黑" panose="020B0503020204020204" pitchFamily="34" charset="-122"/>
                  <a:ea typeface="微软雅黑" panose="020B0503020204020204" pitchFamily="34" charset="-122"/>
                </a:rPr>
                <a:t>链路像一条空心管道</a:t>
              </a:r>
            </a:p>
          </p:txBody>
        </p:sp>
      </p:grpSp>
      <p:sp>
        <p:nvSpPr>
          <p:cNvPr id="16" name="文本框 15">
            <a:extLst>
              <a:ext uri="{FF2B5EF4-FFF2-40B4-BE49-F238E27FC236}">
                <a16:creationId xmlns:a16="http://schemas.microsoft.com/office/drawing/2014/main" id="{CBE1A3B9-55A7-6A46-8907-A3892250872E}"/>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sp>
        <p:nvSpPr>
          <p:cNvPr id="4" name="矩形 3">
            <a:extLst>
              <a:ext uri="{FF2B5EF4-FFF2-40B4-BE49-F238E27FC236}">
                <a16:creationId xmlns:a16="http://schemas.microsoft.com/office/drawing/2014/main" id="{39B9E6E8-E209-DA48-BCF4-9C862E70EA6D}"/>
              </a:ext>
            </a:extLst>
          </p:cNvPr>
          <p:cNvSpPr/>
          <p:nvPr/>
        </p:nvSpPr>
        <p:spPr>
          <a:xfrm>
            <a:off x="8571200" y="3825010"/>
            <a:ext cx="2851946" cy="2000548"/>
          </a:xfrm>
          <a:prstGeom prst="rect">
            <a:avLst/>
          </a:prstGeom>
          <a:ln>
            <a:solidFill>
              <a:srgbClr val="C00000"/>
            </a:solidFill>
          </a:ln>
        </p:spPr>
        <p:txBody>
          <a:bodyPr wrap="square">
            <a:spAutoFit/>
          </a:bodyPr>
          <a:lstStyle/>
          <a:p>
            <a:pPr algn="ctr"/>
            <a:r>
              <a:rPr lang="zh-CN" altLang="en-US" sz="2400" dirty="0">
                <a:latin typeface="Microsoft YaHei" panose="020B0503020204020204" pitchFamily="34" charset="-122"/>
                <a:ea typeface="Microsoft YaHei" panose="020B0503020204020204" pitchFamily="34" charset="-122"/>
              </a:rPr>
              <a:t>举例</a:t>
            </a:r>
            <a:endParaRPr lang="en-US" altLang="zh-CN" sz="2000" dirty="0">
              <a:latin typeface="Microsoft YaHei" panose="020B0503020204020204" pitchFamily="34" charset="-122"/>
              <a:ea typeface="Microsoft YaHei" panose="020B0503020204020204" pitchFamily="34" charset="-122"/>
            </a:endParaRPr>
          </a:p>
          <a:p>
            <a:r>
              <a:rPr lang="zh-CN" altLang="en-US" sz="2000" kern="0" dirty="0">
                <a:latin typeface="Microsoft YaHei" panose="020B0503020204020204" pitchFamily="34" charset="-122"/>
                <a:ea typeface="Microsoft YaHei" panose="020B0503020204020204" pitchFamily="34" charset="-122"/>
                <a:sym typeface="+mn-ea"/>
              </a:rPr>
              <a:t>传播时延为20ms，</a:t>
            </a:r>
            <a:br>
              <a:rPr lang="en-US" altLang="zh-CN" sz="2000" kern="0" dirty="0">
                <a:latin typeface="Microsoft YaHei" panose="020B0503020204020204" pitchFamily="34" charset="-122"/>
                <a:ea typeface="Microsoft YaHei" panose="020B0503020204020204" pitchFamily="34" charset="-122"/>
                <a:sym typeface="+mn-ea"/>
              </a:rPr>
            </a:br>
            <a:r>
              <a:rPr lang="zh-CN" altLang="en-US" sz="2000" kern="0" dirty="0">
                <a:latin typeface="Microsoft YaHei" panose="020B0503020204020204" pitchFamily="34" charset="-122"/>
                <a:ea typeface="Microsoft YaHei" panose="020B0503020204020204" pitchFamily="34" charset="-122"/>
                <a:sym typeface="+mn-ea"/>
              </a:rPr>
              <a:t>带宽为10Mb/s，则：</a:t>
            </a:r>
            <a:br>
              <a:rPr lang="en-US" altLang="zh-CN" sz="2000" kern="0" dirty="0">
                <a:latin typeface="Microsoft YaHei" panose="020B0503020204020204" pitchFamily="34" charset="-122"/>
                <a:ea typeface="Microsoft YaHei" panose="020B0503020204020204" pitchFamily="34" charset="-122"/>
                <a:sym typeface="+mn-ea"/>
              </a:rPr>
            </a:br>
            <a:r>
              <a:rPr lang="zh-CN" altLang="en-US" sz="2000" kern="0" dirty="0">
                <a:solidFill>
                  <a:srgbClr val="C00000"/>
                </a:solidFill>
                <a:latin typeface="Microsoft YaHei" panose="020B0503020204020204" pitchFamily="34" charset="-122"/>
                <a:ea typeface="Microsoft YaHei" panose="020B0503020204020204" pitchFamily="34" charset="-122"/>
                <a:sym typeface="+mn-ea"/>
              </a:rPr>
              <a:t>时延带宽积</a:t>
            </a:r>
            <a:br>
              <a:rPr lang="en-US" altLang="zh-CN" sz="2000" kern="0" dirty="0">
                <a:solidFill>
                  <a:srgbClr val="C00000"/>
                </a:solidFill>
                <a:latin typeface="Microsoft YaHei" panose="020B0503020204020204" pitchFamily="34" charset="-122"/>
                <a:ea typeface="Microsoft YaHei" panose="020B0503020204020204" pitchFamily="34" charset="-122"/>
                <a:sym typeface="+mn-ea"/>
              </a:rPr>
            </a:br>
            <a:r>
              <a:rPr lang="zh-CN" altLang="en-US" sz="2000" kern="0" dirty="0">
                <a:latin typeface="Microsoft YaHei" panose="020B0503020204020204" pitchFamily="34" charset="-122"/>
                <a:ea typeface="Microsoft YaHei" panose="020B0503020204020204" pitchFamily="34" charset="-122"/>
                <a:sym typeface="+mn-ea"/>
              </a:rPr>
              <a:t>= 20/1000  × 10×10</a:t>
            </a:r>
            <a:r>
              <a:rPr lang="en-US" altLang="zh-CN" sz="2000" kern="0" baseline="30000" dirty="0">
                <a:latin typeface="Microsoft YaHei" panose="020B0503020204020204" pitchFamily="34" charset="-122"/>
                <a:ea typeface="Microsoft YaHei" panose="020B0503020204020204" pitchFamily="34" charset="-122"/>
                <a:sym typeface="+mn-ea"/>
              </a:rPr>
              <a:t>6</a:t>
            </a:r>
            <a:r>
              <a:rPr lang="zh-CN" altLang="en-US" sz="2000" kern="0" baseline="30000" dirty="0">
                <a:latin typeface="Microsoft YaHei" panose="020B0503020204020204" pitchFamily="34" charset="-122"/>
                <a:ea typeface="Microsoft YaHei" panose="020B0503020204020204" pitchFamily="34" charset="-122"/>
                <a:sym typeface="+mn-ea"/>
              </a:rPr>
              <a:t> </a:t>
            </a:r>
            <a:r>
              <a:rPr lang="zh-CN" altLang="en-US" sz="2000" kern="0" dirty="0">
                <a:latin typeface="Microsoft YaHei" panose="020B0503020204020204" pitchFamily="34" charset="-122"/>
                <a:ea typeface="Microsoft YaHei" panose="020B0503020204020204" pitchFamily="34" charset="-122"/>
                <a:sym typeface="+mn-ea"/>
              </a:rPr>
              <a:t>= 2 × 10</a:t>
            </a:r>
            <a:r>
              <a:rPr lang="zh-CN" altLang="en-US" sz="2000" kern="0" baseline="30000" dirty="0">
                <a:latin typeface="Microsoft YaHei" panose="020B0503020204020204" pitchFamily="34" charset="-122"/>
                <a:ea typeface="Microsoft YaHei" panose="020B0503020204020204" pitchFamily="34" charset="-122"/>
                <a:sym typeface="+mn-ea"/>
              </a:rPr>
              <a:t>5</a:t>
            </a:r>
            <a:r>
              <a:rPr lang="zh-CN" altLang="en-US" sz="2000" kern="0" dirty="0">
                <a:latin typeface="Microsoft YaHei" panose="020B0503020204020204" pitchFamily="34" charset="-122"/>
                <a:ea typeface="Microsoft YaHei" panose="020B0503020204020204" pitchFamily="34" charset="-122"/>
                <a:sym typeface="+mn-ea"/>
              </a:rPr>
              <a:t> bit</a:t>
            </a:r>
            <a:endParaRPr lang="zh-CN" altLang="en-US" sz="2000" dirty="0">
              <a:latin typeface="Microsoft YaHei" panose="020B0503020204020204" pitchFamily="34" charset="-122"/>
              <a:ea typeface="Microsoft YaHei" panose="020B0503020204020204" pitchFamily="34" charset="-122"/>
            </a:endParaRPr>
          </a:p>
        </p:txBody>
      </p:sp>
      <p:sp>
        <p:nvSpPr>
          <p:cNvPr id="17" name="矩形 12">
            <a:extLst>
              <a:ext uri="{FF2B5EF4-FFF2-40B4-BE49-F238E27FC236}">
                <a16:creationId xmlns:a16="http://schemas.microsoft.com/office/drawing/2014/main" id="{F15375A8-493A-FE4A-8CD4-EBACCA146057}"/>
              </a:ext>
            </a:extLst>
          </p:cNvPr>
          <p:cNvSpPr>
            <a:spLocks noChangeArrowheads="1"/>
          </p:cNvSpPr>
          <p:nvPr/>
        </p:nvSpPr>
        <p:spPr bwMode="auto">
          <a:xfrm>
            <a:off x="2105726" y="5695055"/>
            <a:ext cx="5833512" cy="830220"/>
          </a:xfrm>
          <a:prstGeom prst="rect">
            <a:avLst/>
          </a:prstGeom>
          <a:noFill/>
          <a:ln>
            <a:solidFill>
              <a:srgbClr val="C00000"/>
            </a:solidFill>
          </a:ln>
        </p:spPr>
        <p:txBody>
          <a:bodyPr>
            <a:spAutoFit/>
          </a:bodyPr>
          <a:lstStyle/>
          <a:p>
            <a:pPr algn="ctr"/>
            <a:r>
              <a:rPr lang="zh-CN" altLang="zh-CN" sz="2400" dirty="0">
                <a:latin typeface="微软雅黑" panose="020B0503020204020204" pitchFamily="34" charset="-122"/>
                <a:ea typeface="微软雅黑" panose="020B0503020204020204" pitchFamily="34" charset="-122"/>
              </a:rPr>
              <a:t>只有在代表链路的管道都充满比特时，</a:t>
            </a:r>
            <a:endParaRPr lang="en-US" altLang="zh-CN" sz="2400" dirty="0">
              <a:latin typeface="微软雅黑" panose="020B0503020204020204" pitchFamily="34" charset="-122"/>
              <a:ea typeface="微软雅黑" panose="020B0503020204020204" pitchFamily="34" charset="-122"/>
            </a:endParaRPr>
          </a:p>
          <a:p>
            <a:pPr algn="ctr"/>
            <a:r>
              <a:rPr lang="zh-CN" altLang="zh-CN" sz="2400" dirty="0">
                <a:latin typeface="微软雅黑" panose="020B0503020204020204" pitchFamily="34" charset="-122"/>
                <a:ea typeface="微软雅黑" panose="020B0503020204020204" pitchFamily="34" charset="-122"/>
              </a:rPr>
              <a:t>链路才得到</a:t>
            </a:r>
            <a:r>
              <a:rPr lang="zh-CN" altLang="en-US" sz="2400" dirty="0">
                <a:latin typeface="微软雅黑" panose="020B0503020204020204" pitchFamily="34" charset="-122"/>
                <a:ea typeface="微软雅黑" panose="020B0503020204020204" pitchFamily="34" charset="-122"/>
              </a:rPr>
              <a:t>了</a:t>
            </a:r>
            <a:r>
              <a:rPr lang="zh-CN" altLang="zh-CN" sz="2400" dirty="0">
                <a:latin typeface="微软雅黑" panose="020B0503020204020204" pitchFamily="34" charset="-122"/>
                <a:ea typeface="微软雅黑" panose="020B0503020204020204" pitchFamily="34" charset="-122"/>
              </a:rPr>
              <a:t>充分利用</a:t>
            </a:r>
            <a:endParaRPr lang="zh-CN" altLang="en-US" sz="2400" dirty="0">
              <a:latin typeface="微软雅黑" panose="020B0503020204020204" pitchFamily="34" charset="-122"/>
              <a:ea typeface="微软雅黑" panose="020B0503020204020204" pitchFamily="34" charset="-122"/>
            </a:endParaRPr>
          </a:p>
        </p:txBody>
      </p:sp>
      <p:pic>
        <p:nvPicPr>
          <p:cNvPr id="18" name="Picture 28" descr="015">
            <a:extLst>
              <a:ext uri="{FF2B5EF4-FFF2-40B4-BE49-F238E27FC236}">
                <a16:creationId xmlns:a16="http://schemas.microsoft.com/office/drawing/2014/main" id="{E2200D58-0271-4C50-94B4-44CA1691AE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298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3600" dirty="0">
                <a:sym typeface="+mn-ea"/>
              </a:rPr>
              <a:t>计算机网络度量单位</a:t>
            </a:r>
            <a:endParaRPr lang="zh-CN" altLang="en-US" sz="3600"/>
          </a:p>
        </p:txBody>
      </p:sp>
      <p:sp>
        <p:nvSpPr>
          <p:cNvPr id="110595" name="Rectangle 3"/>
          <p:cNvSpPr>
            <a:spLocks noGrp="1" noChangeArrowheads="1"/>
          </p:cNvSpPr>
          <p:nvPr>
            <p:ph idx="1"/>
          </p:nvPr>
        </p:nvSpPr>
        <p:spPr>
          <a:xfrm>
            <a:off x="735965" y="1301116"/>
            <a:ext cx="10752455" cy="4074020"/>
          </a:xfrm>
        </p:spPr>
        <p:txBody>
          <a:bodyPr vert="horz" wrap="square" lIns="91440" tIns="45720" rIns="91440" bIns="45720" numCol="1" anchor="t" anchorCtr="0" compatLnSpc="1">
            <a:noAutofit/>
          </a:bodyPr>
          <a:lstStyle/>
          <a:p>
            <a:pPr marR="0" lvl="0" algn="just" defTabSz="914400" rtl="0" eaLnBrk="1" fontAlgn="base" latinLnBrk="0" hangingPunct="1">
              <a:lnSpc>
                <a:spcPct val="120000"/>
              </a:lnSpc>
              <a:spcBef>
                <a:spcPts val="0"/>
              </a:spcBef>
              <a:spcAft>
                <a:spcPct val="0"/>
              </a:spcAft>
              <a:buClr>
                <a:srgbClr val="000000"/>
              </a:buClr>
              <a:buSzPct val="75000"/>
              <a:buFont typeface="Wingdings" panose="05000000000000000000" charset="0"/>
              <a:buChar char="Ø"/>
              <a:defRPr/>
            </a:pPr>
            <a:r>
              <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吞吐量</a:t>
            </a:r>
            <a:r>
              <a:rPr lang="en-US" altLang="zh-CN" sz="2000" dirty="0">
                <a:sym typeface="+mn-ea"/>
              </a:rPr>
              <a:t> </a:t>
            </a:r>
            <a:r>
              <a:rPr lang="zh-CN" altLang="en-US" sz="2400" kern="0" noProof="0" dirty="0">
                <a:ln>
                  <a:noFill/>
                </a:ln>
                <a:effectLst/>
                <a:uLnTx/>
                <a:uFillTx/>
                <a:sym typeface="+mn-ea"/>
              </a:rPr>
              <a:t>(throughput) </a:t>
            </a:r>
            <a:endParaRPr kumimoji="0" lang="zh-CN" altLang="en-US" sz="24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sym typeface="+mn-ea"/>
              </a:rPr>
              <a:t>单位时间内通过某个网络</a:t>
            </a:r>
            <a:r>
              <a:rPr lang="en-US" altLang="zh-CN" sz="2000" dirty="0">
                <a:sym typeface="+mn-ea"/>
              </a:rPr>
              <a:t>(</a:t>
            </a:r>
            <a:r>
              <a:rPr lang="en-US" altLang="zh-CN" sz="2000" dirty="0" err="1">
                <a:sym typeface="+mn-ea"/>
              </a:rPr>
              <a:t>或信道、接口</a:t>
            </a:r>
            <a:r>
              <a:rPr lang="en-US" altLang="zh-CN" sz="2000" dirty="0">
                <a:sym typeface="+mn-ea"/>
              </a:rPr>
              <a:t>)</a:t>
            </a:r>
            <a:r>
              <a:rPr lang="en-US" altLang="zh-CN" sz="2000" dirty="0" err="1">
                <a:sym typeface="+mn-ea"/>
              </a:rPr>
              <a:t>的数据量</a:t>
            </a:r>
            <a:r>
              <a:rPr lang="zh-CN" altLang="en-US" sz="2000" dirty="0">
                <a:sym typeface="+mn-ea"/>
              </a:rPr>
              <a:t>，</a:t>
            </a:r>
            <a:r>
              <a:rPr lang="en-US" altLang="zh-CN" sz="2000" dirty="0" err="1">
                <a:sym typeface="+mn-ea"/>
              </a:rPr>
              <a:t>单位是</a:t>
            </a:r>
            <a:r>
              <a:rPr lang="en-US" altLang="zh-CN" sz="2000" dirty="0">
                <a:sym typeface="+mn-ea"/>
              </a:rPr>
              <a:t> b/s</a:t>
            </a:r>
          </a:p>
          <a:p>
            <a:pPr marR="0" lvl="0" algn="just" defTabSz="914400" rtl="0" eaLnBrk="1" fontAlgn="base" latinLnBrk="0" hangingPunct="1">
              <a:lnSpc>
                <a:spcPct val="120000"/>
              </a:lnSpc>
              <a:spcBef>
                <a:spcPts val="0"/>
              </a:spcBef>
              <a:buClr>
                <a:srgbClr val="000000"/>
              </a:buClr>
              <a:buSzPct val="75000"/>
              <a:buFont typeface="Wingdings" panose="05000000000000000000" charset="0"/>
              <a:buChar char="Ø"/>
              <a:defRPr/>
            </a:pPr>
            <a:r>
              <a:rPr lang="zh-CN" altLang="en-US" sz="2400" kern="0" noProof="0" dirty="0">
                <a:ln>
                  <a:noFill/>
                </a:ln>
                <a:effectLst/>
                <a:uLnTx/>
                <a:uFillTx/>
                <a:latin typeface="微软雅黑" panose="020B0503020204020204" pitchFamily="34" charset="-122"/>
                <a:ea typeface="微软雅黑" panose="020B0503020204020204" pitchFamily="34" charset="-122"/>
              </a:rPr>
              <a:t>有效吞吐量(goodput)</a:t>
            </a: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latin typeface="微软雅黑" panose="020B0503020204020204" pitchFamily="34" charset="-122"/>
                <a:ea typeface="微软雅黑" panose="020B0503020204020204" pitchFamily="34" charset="-122"/>
              </a:rPr>
              <a:t>单位时间</a:t>
            </a:r>
            <a:r>
              <a:rPr lang="zh-CN" altLang="en-US" sz="2000" dirty="0">
                <a:latin typeface="微软雅黑" panose="020B0503020204020204" pitchFamily="34" charset="-122"/>
                <a:ea typeface="微软雅黑" panose="020B0503020204020204" pitchFamily="34" charset="-122"/>
              </a:rPr>
              <a:t>内，</a:t>
            </a:r>
            <a:r>
              <a:rPr lang="en-US" altLang="zh-CN" sz="2000" dirty="0" err="1">
                <a:latin typeface="微软雅黑" panose="020B0503020204020204" pitchFamily="34" charset="-122"/>
                <a:ea typeface="微软雅黑" panose="020B0503020204020204" pitchFamily="34" charset="-122"/>
              </a:rPr>
              <a:t>目的地</a:t>
            </a:r>
            <a:r>
              <a:rPr lang="zh-CN" altLang="en-US" sz="2000" dirty="0">
                <a:latin typeface="微软雅黑" panose="020B0503020204020204" pitchFamily="34" charset="-122"/>
                <a:ea typeface="微软雅黑" panose="020B0503020204020204" pitchFamily="34" charset="-122"/>
              </a:rPr>
              <a:t>正确接收到</a:t>
            </a:r>
            <a:r>
              <a:rPr lang="en-US" altLang="zh-CN" sz="2000" dirty="0" err="1">
                <a:latin typeface="微软雅黑" panose="020B0503020204020204" pitchFamily="34" charset="-122"/>
                <a:ea typeface="微软雅黑" panose="020B0503020204020204" pitchFamily="34" charset="-122"/>
              </a:rPr>
              <a:t>的有用信息的数目（以</a:t>
            </a:r>
            <a:r>
              <a:rPr lang="en-US" altLang="zh-CN" sz="2000" dirty="0">
                <a:latin typeface="微软雅黑" panose="020B0503020204020204" pitchFamily="34" charset="-122"/>
                <a:ea typeface="微软雅黑" panose="020B0503020204020204" pitchFamily="34" charset="-122"/>
              </a:rPr>
              <a:t> bit </a:t>
            </a:r>
            <a:r>
              <a:rPr lang="en-US" altLang="zh-CN" sz="2000" dirty="0" err="1">
                <a:latin typeface="微软雅黑" panose="020B0503020204020204" pitchFamily="34" charset="-122"/>
                <a:ea typeface="微软雅黑" panose="020B0503020204020204" pitchFamily="34" charset="-122"/>
              </a:rPr>
              <a:t>为单位</a:t>
            </a:r>
            <a:r>
              <a:rPr lang="en-US" altLang="zh-CN" sz="2000" dirty="0">
                <a:latin typeface="微软雅黑" panose="020B0503020204020204" pitchFamily="34" charset="-122"/>
                <a:ea typeface="微软雅黑" panose="020B0503020204020204" pitchFamily="34" charset="-122"/>
              </a:rPr>
              <a:t>）</a:t>
            </a:r>
          </a:p>
          <a:p>
            <a:pPr marR="0" lvl="0" algn="just" defTabSz="914400" rtl="0" eaLnBrk="1" fontAlgn="base" latinLnBrk="0" hangingPunct="1">
              <a:lnSpc>
                <a:spcPct val="120000"/>
              </a:lnSpc>
              <a:spcBef>
                <a:spcPts val="0"/>
              </a:spcBef>
              <a:spcAft>
                <a:spcPts val="0"/>
              </a:spcAft>
              <a:buClr>
                <a:srgbClr val="000000"/>
              </a:buClr>
              <a:buSzPct val="75000"/>
              <a:buFont typeface="Wingdings" panose="05000000000000000000" charset="0"/>
              <a:buChar char="Ø"/>
              <a:defRPr/>
            </a:pPr>
            <a:r>
              <a:rPr lang="zh-CN" altLang="en-US" sz="2400" kern="0" noProof="0" dirty="0">
                <a:ln>
                  <a:noFill/>
                </a:ln>
                <a:effectLst/>
                <a:uLnTx/>
                <a:uFillTx/>
                <a:sym typeface="+mn-ea"/>
              </a:rPr>
              <a:t>利用率</a:t>
            </a: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sym typeface="+mn-ea"/>
              </a:rPr>
              <a:t>信道利用率指出某信道有百分之几的时间是被利用的</a:t>
            </a:r>
            <a:endParaRPr kumimoji="0" lang="en-US" altLang="zh-CN" sz="2000" b="0" i="0" u="none" strike="noStrike" cap="none" spc="0" normalizeH="0" baseline="0" dirty="0">
              <a:solidFill>
                <a:schemeClr val="tx1"/>
              </a:solidFill>
              <a:latin typeface="微软雅黑" panose="020B0503020204020204" pitchFamily="34" charset="-122"/>
              <a:ea typeface="微软雅黑" panose="020B0503020204020204" pitchFamily="34" charset="-122"/>
              <a:cs typeface="+mn-cs"/>
            </a:endParaRPr>
          </a:p>
          <a:p>
            <a:pPr marR="0" lvl="1" algn="just" defTabSz="914400" rtl="0" eaLnBrk="1" fontAlgn="base" latinLnBrk="0" hangingPunct="1">
              <a:lnSpc>
                <a:spcPct val="120000"/>
              </a:lnSpc>
              <a:spcBef>
                <a:spcPts val="0"/>
              </a:spcBef>
              <a:spcAft>
                <a:spcPts val="0"/>
              </a:spcAft>
              <a:buClr>
                <a:srgbClr val="000000"/>
              </a:buClr>
              <a:buSzPct val="75000"/>
              <a:buFont typeface="Arial" panose="020B0604020202020204" pitchFamily="34" charset="0"/>
              <a:buChar char="•"/>
              <a:defRPr/>
            </a:pPr>
            <a:r>
              <a:rPr lang="en-US" altLang="zh-CN" sz="2000" dirty="0" err="1">
                <a:sym typeface="+mn-ea"/>
              </a:rPr>
              <a:t>网络利用率则是全网络的信道利用率的加权平均值</a:t>
            </a:r>
            <a:endParaRPr kumimoji="0" lang="en-US" altLang="zh-CN" sz="2000" b="0" i="0" u="none" strike="noStrike" cap="none" spc="0" normalizeH="0" baseline="0" dirty="0">
              <a:solidFill>
                <a:schemeClr val="tx1"/>
              </a:solidFill>
              <a:latin typeface="微软雅黑" panose="020B0503020204020204" pitchFamily="34" charset="-122"/>
              <a:ea typeface="微软雅黑" panose="020B0503020204020204" pitchFamily="34" charset="-122"/>
              <a:cs typeface="+mn-cs"/>
            </a:endParaRPr>
          </a:p>
          <a:p>
            <a:pPr marR="0" lvl="0" algn="just" defTabSz="914400" rtl="0" eaLnBrk="1" fontAlgn="base" latinLnBrk="0" hangingPunct="1">
              <a:lnSpc>
                <a:spcPct val="120000"/>
              </a:lnSpc>
              <a:spcBef>
                <a:spcPts val="0"/>
              </a:spcBef>
              <a:spcAft>
                <a:spcPts val="0"/>
              </a:spcAft>
              <a:buClr>
                <a:srgbClr val="000000"/>
              </a:buClr>
              <a:buSzPct val="75000"/>
              <a:buFont typeface="Wingdings" panose="05000000000000000000" charset="0"/>
              <a:buChar char="Ø"/>
              <a:defRPr/>
            </a:pPr>
            <a:r>
              <a:rPr lang="zh-CN" altLang="en-US" sz="2400" kern="0" noProof="0" dirty="0">
                <a:ln>
                  <a:noFill/>
                </a:ln>
                <a:effectLst/>
                <a:uLnTx/>
                <a:uFillTx/>
                <a:sym typeface="+mn-ea"/>
              </a:rPr>
              <a:t>丢包率</a:t>
            </a:r>
          </a:p>
          <a:p>
            <a:pPr marR="0" lvl="1" algn="just" defTabSz="914400" rtl="0" eaLnBrk="1" fontAlgn="base" latinLnBrk="0" hangingPunct="1">
              <a:lnSpc>
                <a:spcPct val="125000"/>
              </a:lnSpc>
              <a:spcBef>
                <a:spcPts val="20"/>
              </a:spcBef>
              <a:spcAft>
                <a:spcPts val="0"/>
              </a:spcAft>
              <a:buClr>
                <a:srgbClr val="000000"/>
              </a:buClr>
              <a:buSzPct val="75000"/>
              <a:buFont typeface="Arial" panose="020B0604020202020204" pitchFamily="34" charset="0"/>
              <a:buChar char="•"/>
              <a:defRPr/>
            </a:pPr>
            <a:r>
              <a:rPr lang="zh-CN" altLang="en-US" sz="2000" kern="0" noProof="0" dirty="0">
                <a:ln>
                  <a:noFill/>
                </a:ln>
                <a:effectLst/>
                <a:uLnTx/>
                <a:uFillTx/>
                <a:sym typeface="+mn-ea"/>
              </a:rPr>
              <a:t>所</a:t>
            </a:r>
            <a:r>
              <a:rPr lang="en-US" altLang="zh-CN" sz="2000" dirty="0" err="1">
                <a:sym typeface="+mn-ea"/>
              </a:rPr>
              <a:t>丢失数据包的数量占所发送数据包的比率</a:t>
            </a:r>
            <a:endParaRPr lang="en-US" altLang="zh-CN" sz="2000" dirty="0">
              <a:sym typeface="+mn-ea"/>
            </a:endParaRPr>
          </a:p>
          <a:p>
            <a:pPr marR="0" lvl="1" algn="just" defTabSz="914400" rtl="0" eaLnBrk="1" fontAlgn="base" latinLnBrk="0" hangingPunct="1">
              <a:lnSpc>
                <a:spcPct val="120000"/>
              </a:lnSpc>
              <a:spcBef>
                <a:spcPts val="20"/>
              </a:spcBef>
              <a:spcAft>
                <a:spcPts val="0"/>
              </a:spcAft>
              <a:buClr>
                <a:srgbClr val="000000"/>
              </a:buClr>
              <a:buSzPct val="75000"/>
              <a:buFont typeface="Arial" panose="020B0604020202020204" pitchFamily="34" charset="0"/>
              <a:buChar char="•"/>
              <a:defRPr/>
            </a:pPr>
            <a:endPar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5" name="灯片编号占位符 4">
            <a:extLst>
              <a:ext uri="{FF2B5EF4-FFF2-40B4-BE49-F238E27FC236}">
                <a16:creationId xmlns:a16="http://schemas.microsoft.com/office/drawing/2014/main" id="{F5CE1C03-BADB-F541-AC31-DF7316967E4A}"/>
              </a:ext>
            </a:extLst>
          </p:cNvPr>
          <p:cNvSpPr>
            <a:spLocks noGrp="1"/>
          </p:cNvSpPr>
          <p:nvPr>
            <p:ph type="sldNum" sz="quarter" idx="12"/>
          </p:nvPr>
        </p:nvSpPr>
        <p:spPr/>
        <p:txBody>
          <a:bodyPr/>
          <a:lstStyle/>
          <a:p>
            <a:fld id="{8D4D1E41-7A09-AB4A-A4E1-09765ADA2698}" type="slidenum">
              <a:rPr kumimoji="1" lang="zh-CN" altLang="en-US" smtClean="0"/>
              <a:t>92</a:t>
            </a:fld>
            <a:endParaRPr kumimoji="1" lang="zh-CN" altLang="en-US" dirty="0"/>
          </a:p>
        </p:txBody>
      </p:sp>
      <p:grpSp>
        <p:nvGrpSpPr>
          <p:cNvPr id="3" name="组合 2"/>
          <p:cNvGrpSpPr/>
          <p:nvPr/>
        </p:nvGrpSpPr>
        <p:grpSpPr>
          <a:xfrm>
            <a:off x="2894012" y="5082540"/>
            <a:ext cx="6436360" cy="1146175"/>
            <a:chOff x="11275" y="5223"/>
            <a:chExt cx="10136" cy="1805"/>
          </a:xfrm>
        </p:grpSpPr>
        <p:grpSp>
          <p:nvGrpSpPr>
            <p:cNvPr id="130051" name="Group 140"/>
            <p:cNvGrpSpPr/>
            <p:nvPr/>
          </p:nvGrpSpPr>
          <p:grpSpPr>
            <a:xfrm>
              <a:off x="11962" y="5509"/>
              <a:ext cx="555" cy="1380"/>
              <a:chOff x="4140" y="429"/>
              <a:chExt cx="1425" cy="2396"/>
            </a:xfrm>
          </p:grpSpPr>
          <p:sp>
            <p:nvSpPr>
              <p:cNvPr id="130052" name="Freeform 141"/>
              <p:cNvSpPr/>
              <p:nvPr/>
            </p:nvSpPr>
            <p:spPr>
              <a:xfrm>
                <a:off x="5268" y="433"/>
                <a:ext cx="283" cy="2286"/>
              </a:xfrm>
              <a:custGeom>
                <a:avLst/>
                <a:gdLst/>
                <a:ahLst/>
                <a:cxnLst>
                  <a:cxn ang="0">
                    <a:pos x="21" y="0"/>
                  </a:cxn>
                  <a:cxn ang="0">
                    <a:pos x="116" y="137"/>
                  </a:cxn>
                  <a:cxn ang="0">
                    <a:pos x="114" y="1057"/>
                  </a:cxn>
                  <a:cxn ang="0">
                    <a:pos x="0" y="1105"/>
                  </a:cxn>
                  <a:cxn ang="0">
                    <a:pos x="21" y="0"/>
                  </a:cxn>
                </a:cxnLst>
                <a:rect l="0" t="0" r="0" b="0"/>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tileRect/>
              </a:gradFill>
              <a:ln w="9525">
                <a:noFill/>
              </a:ln>
            </p:spPr>
            <p:txBody>
              <a:bodyPr/>
              <a:lstStyle/>
              <a:p>
                <a:endParaRPr lang="zh-CN" altLang="en-US"/>
              </a:p>
            </p:txBody>
          </p:sp>
          <p:sp>
            <p:nvSpPr>
              <p:cNvPr id="130053" name="Rectangle 142"/>
              <p:cNvSpPr/>
              <p:nvPr/>
            </p:nvSpPr>
            <p:spPr>
              <a:xfrm>
                <a:off x="4206" y="429"/>
                <a:ext cx="1047" cy="2284"/>
              </a:xfrm>
              <a:prstGeom prst="rect">
                <a:avLst/>
              </a:prstGeom>
              <a:gradFill rotWithShape="1">
                <a:gsLst>
                  <a:gs pos="0">
                    <a:srgbClr val="292929"/>
                  </a:gs>
                  <a:gs pos="100000">
                    <a:srgbClr val="808080"/>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54" name="Freeform 143"/>
              <p:cNvSpPr/>
              <p:nvPr/>
            </p:nvSpPr>
            <p:spPr>
              <a:xfrm>
                <a:off x="5321" y="570"/>
                <a:ext cx="169" cy="2115"/>
              </a:xfrm>
              <a:custGeom>
                <a:avLst/>
                <a:gdLst/>
                <a:ahLst/>
                <a:cxnLst>
                  <a:cxn ang="0">
                    <a:pos x="2" y="0"/>
                  </a:cxn>
                  <a:cxn ang="0">
                    <a:pos x="70" y="88"/>
                  </a:cxn>
                  <a:cxn ang="0">
                    <a:pos x="2" y="1007"/>
                  </a:cxn>
                  <a:cxn ang="0">
                    <a:pos x="2" y="0"/>
                  </a:cxn>
                </a:cxnLst>
                <a:rect l="0" t="0" r="0" b="0"/>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tileRect/>
              </a:gradFill>
              <a:ln w="9525">
                <a:noFill/>
              </a:ln>
            </p:spPr>
            <p:txBody>
              <a:bodyPr/>
              <a:lstStyle/>
              <a:p>
                <a:endParaRPr lang="zh-CN" altLang="en-US"/>
              </a:p>
            </p:txBody>
          </p:sp>
          <p:sp>
            <p:nvSpPr>
              <p:cNvPr id="130055" name="Freeform 144"/>
              <p:cNvSpPr/>
              <p:nvPr/>
            </p:nvSpPr>
            <p:spPr>
              <a:xfrm>
                <a:off x="5284" y="1640"/>
                <a:ext cx="263" cy="189"/>
              </a:xfrm>
              <a:custGeom>
                <a:avLst/>
                <a:gdLst/>
                <a:ahLst/>
                <a:cxnLst>
                  <a:cxn ang="0">
                    <a:pos x="2" y="0"/>
                  </a:cxn>
                  <a:cxn ang="0">
                    <a:pos x="109" y="52"/>
                  </a:cxn>
                  <a:cxn ang="0">
                    <a:pos x="108" y="92"/>
                  </a:cxn>
                  <a:cxn ang="0">
                    <a:pos x="0" y="41"/>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sp>
            <p:nvSpPr>
              <p:cNvPr id="130056" name="Rectangle 145"/>
              <p:cNvSpPr/>
              <p:nvPr/>
            </p:nvSpPr>
            <p:spPr>
              <a:xfrm>
                <a:off x="4212" y="693"/>
                <a:ext cx="596"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nvGrpSpPr>
              <p:cNvPr id="130057" name="Group 146"/>
              <p:cNvGrpSpPr/>
              <p:nvPr/>
            </p:nvGrpSpPr>
            <p:grpSpPr>
              <a:xfrm>
                <a:off x="4749" y="668"/>
                <a:ext cx="581" cy="145"/>
                <a:chOff x="614" y="2568"/>
                <a:chExt cx="725" cy="139"/>
              </a:xfrm>
            </p:grpSpPr>
            <p:sp>
              <p:nvSpPr>
                <p:cNvPr id="130058" name="AutoShape 147"/>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59" name="AutoShape 148"/>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sp>
            <p:nvSpPr>
              <p:cNvPr id="130060" name="Rectangle 149"/>
              <p:cNvSpPr/>
              <p:nvPr/>
            </p:nvSpPr>
            <p:spPr>
              <a:xfrm>
                <a:off x="4224" y="1019"/>
                <a:ext cx="596"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nvGrpSpPr>
              <p:cNvPr id="130061" name="Group 150"/>
              <p:cNvGrpSpPr/>
              <p:nvPr/>
            </p:nvGrpSpPr>
            <p:grpSpPr>
              <a:xfrm>
                <a:off x="4747" y="994"/>
                <a:ext cx="581" cy="134"/>
                <a:chOff x="614" y="2568"/>
                <a:chExt cx="725" cy="139"/>
              </a:xfrm>
            </p:grpSpPr>
            <p:sp>
              <p:nvSpPr>
                <p:cNvPr id="130062" name="AutoShape 151"/>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63" name="AutoShape 152"/>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sp>
            <p:nvSpPr>
              <p:cNvPr id="130064" name="Rectangle 153"/>
              <p:cNvSpPr/>
              <p:nvPr/>
            </p:nvSpPr>
            <p:spPr>
              <a:xfrm>
                <a:off x="4217" y="1358"/>
                <a:ext cx="596" cy="4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65" name="Rectangle 154"/>
              <p:cNvSpPr/>
              <p:nvPr/>
            </p:nvSpPr>
            <p:spPr>
              <a:xfrm>
                <a:off x="4228" y="1655"/>
                <a:ext cx="596" cy="47"/>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nvGrpSpPr>
              <p:cNvPr id="130066" name="Group 155"/>
              <p:cNvGrpSpPr/>
              <p:nvPr/>
            </p:nvGrpSpPr>
            <p:grpSpPr>
              <a:xfrm>
                <a:off x="4735" y="1627"/>
                <a:ext cx="582" cy="151"/>
                <a:chOff x="614" y="2568"/>
                <a:chExt cx="725" cy="139"/>
              </a:xfrm>
            </p:grpSpPr>
            <p:sp>
              <p:nvSpPr>
                <p:cNvPr id="130067" name="AutoShape 156"/>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68" name="AutoShape 157"/>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sp>
            <p:nvSpPr>
              <p:cNvPr id="130069" name="Freeform 158"/>
              <p:cNvSpPr/>
              <p:nvPr/>
            </p:nvSpPr>
            <p:spPr>
              <a:xfrm>
                <a:off x="5288" y="1354"/>
                <a:ext cx="263" cy="188"/>
              </a:xfrm>
              <a:custGeom>
                <a:avLst/>
                <a:gdLst/>
                <a:ahLst/>
                <a:cxnLst>
                  <a:cxn ang="0">
                    <a:pos x="2" y="0"/>
                  </a:cxn>
                  <a:cxn ang="0">
                    <a:pos x="109" y="51"/>
                  </a:cxn>
                  <a:cxn ang="0">
                    <a:pos x="108" y="90"/>
                  </a:cxn>
                  <a:cxn ang="0">
                    <a:pos x="0" y="39"/>
                  </a:cxn>
                  <a:cxn ang="0">
                    <a:pos x="2" y="0"/>
                  </a:cxn>
                </a:cxnLst>
                <a:rect l="0" t="0" r="0" b="0"/>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grpSp>
            <p:nvGrpSpPr>
              <p:cNvPr id="130070" name="Group 159"/>
              <p:cNvGrpSpPr/>
              <p:nvPr/>
            </p:nvGrpSpPr>
            <p:grpSpPr>
              <a:xfrm>
                <a:off x="4739" y="1327"/>
                <a:ext cx="582" cy="139"/>
                <a:chOff x="614" y="2568"/>
                <a:chExt cx="725" cy="139"/>
              </a:xfrm>
            </p:grpSpPr>
            <p:sp>
              <p:nvSpPr>
                <p:cNvPr id="130071" name="AutoShape 160"/>
                <p:cNvSpPr/>
                <p:nvPr/>
              </p:nvSpPr>
              <p:spPr>
                <a:xfrm>
                  <a:off x="614" y="2568"/>
                  <a:ext cx="725" cy="139"/>
                </a:xfrm>
                <a:prstGeom prst="roundRect">
                  <a:avLst>
                    <a:gd name="adj" fmla="val 50000"/>
                  </a:avLst>
                </a:prstGeom>
                <a:solidFill>
                  <a:schemeClr val="tx1"/>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72" name="AutoShape 161"/>
                <p:cNvSpPr/>
                <p:nvPr/>
              </p:nvSpPr>
              <p:spPr>
                <a:xfrm>
                  <a:off x="630" y="2584"/>
                  <a:ext cx="691"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sp>
            <p:nvSpPr>
              <p:cNvPr id="130073" name="Rectangle 162"/>
              <p:cNvSpPr/>
              <p:nvPr/>
            </p:nvSpPr>
            <p:spPr>
              <a:xfrm>
                <a:off x="5250" y="431"/>
                <a:ext cx="68" cy="2287"/>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74" name="Freeform 163"/>
              <p:cNvSpPr/>
              <p:nvPr/>
            </p:nvSpPr>
            <p:spPr>
              <a:xfrm>
                <a:off x="5312" y="1007"/>
                <a:ext cx="237" cy="213"/>
              </a:xfrm>
              <a:custGeom>
                <a:avLst/>
                <a:gdLst/>
                <a:ahLst/>
                <a:cxnLst>
                  <a:cxn ang="0">
                    <a:pos x="2" y="0"/>
                  </a:cxn>
                  <a:cxn ang="0">
                    <a:pos x="96" y="57"/>
                  </a:cxn>
                  <a:cxn ang="0">
                    <a:pos x="98" y="102"/>
                  </a:cxn>
                  <a:cxn ang="0">
                    <a:pos x="0" y="39"/>
                  </a:cxn>
                  <a:cxn ang="0">
                    <a:pos x="2" y="0"/>
                  </a:cxn>
                </a:cxnLst>
                <a:rect l="0" t="0" r="0" b="0"/>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sp>
            <p:nvSpPr>
              <p:cNvPr id="130075" name="Freeform 164"/>
              <p:cNvSpPr/>
              <p:nvPr/>
            </p:nvSpPr>
            <p:spPr>
              <a:xfrm>
                <a:off x="5315" y="680"/>
                <a:ext cx="244" cy="240"/>
              </a:xfrm>
              <a:custGeom>
                <a:avLst/>
                <a:gdLst/>
                <a:ahLst/>
                <a:cxnLst>
                  <a:cxn ang="0">
                    <a:pos x="0" y="0"/>
                  </a:cxn>
                  <a:cxn ang="0">
                    <a:pos x="101" y="66"/>
                  </a:cxn>
                  <a:cxn ang="0">
                    <a:pos x="95" y="116"/>
                  </a:cxn>
                  <a:cxn ang="0">
                    <a:pos x="2" y="50"/>
                  </a:cxn>
                  <a:cxn ang="0">
                    <a:pos x="0" y="0"/>
                  </a:cxn>
                </a:cxnLst>
                <a:rect l="0" t="0" r="0" b="0"/>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tileRect/>
              </a:gradFill>
              <a:ln w="9525">
                <a:noFill/>
              </a:ln>
            </p:spPr>
            <p:txBody>
              <a:bodyPr/>
              <a:lstStyle/>
              <a:p>
                <a:endParaRPr lang="zh-CN" altLang="en-US"/>
              </a:p>
            </p:txBody>
          </p:sp>
          <p:sp>
            <p:nvSpPr>
              <p:cNvPr id="130076" name="Oval 165"/>
              <p:cNvSpPr/>
              <p:nvPr/>
            </p:nvSpPr>
            <p:spPr>
              <a:xfrm>
                <a:off x="5517" y="2611"/>
                <a:ext cx="48" cy="96"/>
              </a:xfrm>
              <a:prstGeom prst="ellipse">
                <a:avLst/>
              </a:prstGeom>
              <a:solidFill>
                <a:srgbClr val="333333"/>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77" name="Freeform 166"/>
              <p:cNvSpPr/>
              <p:nvPr/>
            </p:nvSpPr>
            <p:spPr>
              <a:xfrm>
                <a:off x="5302" y="2614"/>
                <a:ext cx="245" cy="200"/>
              </a:xfrm>
              <a:custGeom>
                <a:avLst/>
                <a:gdLst/>
                <a:ahLst/>
                <a:cxnLst>
                  <a:cxn ang="0">
                    <a:pos x="0" y="43"/>
                  </a:cxn>
                  <a:cxn ang="0">
                    <a:pos x="2" y="97"/>
                  </a:cxn>
                  <a:cxn ang="0">
                    <a:pos x="101" y="44"/>
                  </a:cxn>
                  <a:cxn ang="0">
                    <a:pos x="98" y="0"/>
                  </a:cxn>
                  <a:cxn ang="0">
                    <a:pos x="0" y="43"/>
                  </a:cxn>
                </a:cxnLst>
                <a:rect l="0" t="0" r="0" b="0"/>
                <a:pathLst>
                  <a:path w="306" h="240">
                    <a:moveTo>
                      <a:pt x="0" y="106"/>
                    </a:moveTo>
                    <a:lnTo>
                      <a:pt x="2" y="240"/>
                    </a:lnTo>
                    <a:lnTo>
                      <a:pt x="306" y="110"/>
                    </a:lnTo>
                    <a:lnTo>
                      <a:pt x="300" y="0"/>
                    </a:lnTo>
                    <a:lnTo>
                      <a:pt x="0" y="106"/>
                    </a:lnTo>
                    <a:close/>
                  </a:path>
                </a:pathLst>
              </a:custGeom>
              <a:solidFill>
                <a:srgbClr val="333333"/>
              </a:solidFill>
              <a:ln w="9525">
                <a:noFill/>
              </a:ln>
            </p:spPr>
            <p:txBody>
              <a:bodyPr/>
              <a:lstStyle/>
              <a:p>
                <a:endParaRPr lang="zh-CN" altLang="en-US"/>
              </a:p>
            </p:txBody>
          </p:sp>
          <p:sp>
            <p:nvSpPr>
              <p:cNvPr id="130078" name="AutoShape 167"/>
              <p:cNvSpPr/>
              <p:nvPr/>
            </p:nvSpPr>
            <p:spPr>
              <a:xfrm>
                <a:off x="4140" y="2678"/>
                <a:ext cx="1199" cy="147"/>
              </a:xfrm>
              <a:prstGeom prst="roundRect">
                <a:avLst>
                  <a:gd name="adj" fmla="val 50000"/>
                </a:avLst>
              </a:prstGeom>
              <a:solidFill>
                <a:srgbClr val="DDDDDD"/>
              </a:solidFill>
              <a:ln w="9525" cap="flat" cmpd="sng">
                <a:solidFill>
                  <a:schemeClr val="tx1"/>
                </a:solidFill>
                <a:prstDash val="solid"/>
                <a:round/>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79" name="AutoShape 168"/>
              <p:cNvSpPr/>
              <p:nvPr/>
            </p:nvSpPr>
            <p:spPr>
              <a:xfrm>
                <a:off x="4206" y="2711"/>
                <a:ext cx="1070"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round/>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80" name="Oval 169"/>
              <p:cNvSpPr/>
              <p:nvPr/>
            </p:nvSpPr>
            <p:spPr>
              <a:xfrm>
                <a:off x="4308" y="2383"/>
                <a:ext cx="158" cy="143"/>
              </a:xfrm>
              <a:prstGeom prst="ellipse">
                <a:avLst/>
              </a:prstGeom>
              <a:solidFill>
                <a:srgbClr val="33CC33"/>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81" name="Oval 170"/>
              <p:cNvSpPr/>
              <p:nvPr/>
            </p:nvSpPr>
            <p:spPr>
              <a:xfrm>
                <a:off x="4486" y="2384"/>
                <a:ext cx="160" cy="143"/>
              </a:xfrm>
              <a:prstGeom prst="ellipse">
                <a:avLst/>
              </a:prstGeom>
              <a:solidFill>
                <a:srgbClr val="FF0000"/>
              </a:solidFill>
              <a:ln w="9525">
                <a:noFill/>
              </a:ln>
            </p:spPr>
            <p:txBody>
              <a:bodyPr wrap="none" anchor="ctr"/>
              <a:lstStyle/>
              <a:p>
                <a:pPr algn="ctr"/>
                <a:endParaRPr lang="en-US" altLang="zh-CN" sz="1800" dirty="0">
                  <a:solidFill>
                    <a:srgbClr val="FF0000"/>
                  </a:solidFill>
                  <a:latin typeface="Arial" panose="020B0604020202020204" pitchFamily="34" charset="0"/>
                  <a:ea typeface="MS PGothic" panose="020B0600070205080204" pitchFamily="-84" charset="-128"/>
                </a:endParaRPr>
              </a:p>
            </p:txBody>
          </p:sp>
          <p:sp>
            <p:nvSpPr>
              <p:cNvPr id="130082" name="Oval 171"/>
              <p:cNvSpPr/>
              <p:nvPr/>
            </p:nvSpPr>
            <p:spPr>
              <a:xfrm>
                <a:off x="4662" y="2381"/>
                <a:ext cx="158" cy="141"/>
              </a:xfrm>
              <a:prstGeom prst="ellipse">
                <a:avLst/>
              </a:prstGeom>
              <a:solidFill>
                <a:srgbClr val="33CC33"/>
              </a:solidFill>
              <a:ln w="9525">
                <a:noFill/>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sp>
            <p:nvSpPr>
              <p:cNvPr id="130083" name="Rectangle 172"/>
              <p:cNvSpPr/>
              <p:nvPr/>
            </p:nvSpPr>
            <p:spPr>
              <a:xfrm>
                <a:off x="5062" y="1835"/>
                <a:ext cx="85" cy="761"/>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eaLnBrk="0" hangingPunct="0"/>
                <a:endParaRPr lang="en-US" altLang="zh-CN" dirty="0">
                  <a:latin typeface="Arial" panose="020B0604020202020204" pitchFamily="34" charset="0"/>
                  <a:ea typeface="MS PGothic" panose="020B0600070205080204" pitchFamily="-84" charset="-128"/>
                </a:endParaRPr>
              </a:p>
            </p:txBody>
          </p:sp>
        </p:grpSp>
        <p:grpSp>
          <p:nvGrpSpPr>
            <p:cNvPr id="130086" name="Group 34"/>
            <p:cNvGrpSpPr/>
            <p:nvPr/>
          </p:nvGrpSpPr>
          <p:grpSpPr>
            <a:xfrm>
              <a:off x="12376" y="6053"/>
              <a:ext cx="2131" cy="485"/>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30089" name="Oval 37"/>
              <p:cNvSpPr/>
              <p:nvPr/>
            </p:nvSpPr>
            <p:spPr>
              <a:xfrm>
                <a:off x="2249" y="3430"/>
                <a:ext cx="69" cy="253"/>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30091" name="Text Box 39"/>
            <p:cNvSpPr txBox="1"/>
            <p:nvPr/>
          </p:nvSpPr>
          <p:spPr>
            <a:xfrm>
              <a:off x="12012" y="5393"/>
              <a:ext cx="2879" cy="628"/>
            </a:xfrm>
            <a:prstGeom prst="rect">
              <a:avLst/>
            </a:prstGeom>
            <a:noFill/>
            <a:ln w="9525">
              <a:noFill/>
            </a:ln>
          </p:spPr>
          <p:txBody>
            <a:bodyPr wrap="square" anchor="t">
              <a:spAutoFit/>
            </a:bodyPr>
            <a:lstStyle/>
            <a:p>
              <a:pPr algn="ctr" eaLnBrk="0" hangingPunct="0"/>
              <a:r>
                <a:rPr lang="en-US" altLang="zh-CN" sz="2000" dirty="0">
                  <a:latin typeface="Arial" panose="020B0604020202020204" pitchFamily="34" charset="0"/>
                  <a:ea typeface="MS PGothic" panose="020B0600070205080204" pitchFamily="-84" charset="-128"/>
                </a:rPr>
                <a:t>  R</a:t>
              </a:r>
              <a:r>
                <a:rPr lang="en-US" altLang="zh-CN" sz="2800" baseline="-25000" dirty="0">
                  <a:latin typeface="Arial" panose="020B0604020202020204" pitchFamily="34" charset="0"/>
                  <a:ea typeface="MS PGothic" panose="020B0600070205080204" pitchFamily="-84" charset="-128"/>
                </a:rPr>
                <a:t>s</a:t>
              </a:r>
              <a:r>
                <a:rPr lang="en-US" altLang="zh-CN" sz="2000" baseline="-25000" dirty="0">
                  <a:latin typeface="Arial" panose="020B0604020202020204" pitchFamily="34" charset="0"/>
                  <a:ea typeface="MS PGothic" panose="020B0600070205080204" pitchFamily="-84" charset="-128"/>
                </a:rPr>
                <a:t> </a:t>
              </a:r>
              <a:r>
                <a:rPr lang="en-US" altLang="zh-CN" sz="2000" dirty="0">
                  <a:latin typeface="Arial" panose="020B0604020202020204" pitchFamily="34" charset="0"/>
                  <a:ea typeface="MS PGothic" panose="020B0600070205080204" pitchFamily="-84" charset="-128"/>
                </a:rPr>
                <a:t>b/s</a:t>
              </a:r>
            </a:p>
          </p:txBody>
        </p:sp>
        <p:sp>
          <p:nvSpPr>
            <p:cNvPr id="130092" name="AutoShape 42"/>
            <p:cNvSpPr/>
            <p:nvPr/>
          </p:nvSpPr>
          <p:spPr>
            <a:xfrm flipV="1">
              <a:off x="11401" y="5661"/>
              <a:ext cx="1410" cy="890"/>
            </a:xfrm>
            <a:custGeom>
              <a:avLst/>
              <a:gdLst/>
              <a:ahLst/>
              <a:cxnLst>
                <a:cxn ang="17694720">
                  <a:pos x="2147483647" y="0"/>
                </a:cxn>
                <a:cxn ang="5898240">
                  <a:pos x="2147483647" y="2147483647"/>
                </a:cxn>
                <a:cxn ang="5898240">
                  <a:pos x="2147483647" y="2147483647"/>
                </a:cxn>
                <a:cxn ang="0">
                  <a:pos x="2147483647" y="2147483647"/>
                </a:cxn>
              </a:cxnLst>
              <a:rect l="0" t="0" r="0" b="0"/>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FFFFFF"/>
                </a:gs>
                <a:gs pos="100000">
                  <a:srgbClr val="CC0000"/>
                </a:gs>
              </a:gsLst>
              <a:lin ang="0" scaled="1"/>
              <a:tileRect/>
            </a:gradFill>
            <a:ln w="9525" cap="flat" cmpd="sng">
              <a:solidFill>
                <a:srgbClr val="CC0000"/>
              </a:solidFill>
              <a:prstDash val="solid"/>
              <a:miter/>
              <a:headEnd type="none" w="med" len="med"/>
              <a:tailEnd type="none" w="med" len="med"/>
            </a:ln>
          </p:spPr>
          <p:txBody>
            <a:bodyPr/>
            <a:lstStyle/>
            <a:p>
              <a:endParaRPr lang="zh-CN" altLang="en-US"/>
            </a:p>
          </p:txBody>
        </p:sp>
        <p:sp>
          <p:nvSpPr>
            <p:cNvPr id="130093" name="AutoShape 43"/>
            <p:cNvSpPr/>
            <p:nvPr/>
          </p:nvSpPr>
          <p:spPr>
            <a:xfrm>
              <a:off x="19133" y="5993"/>
              <a:ext cx="1025" cy="598"/>
            </a:xfrm>
            <a:prstGeom prst="rightArrow">
              <a:avLst>
                <a:gd name="adj1" fmla="val 50000"/>
                <a:gd name="adj2" fmla="val 53760"/>
              </a:avLst>
            </a:prstGeom>
            <a:gradFill rotWithShape="1">
              <a:gsLst>
                <a:gs pos="0">
                  <a:srgbClr val="FFFFFF"/>
                </a:gs>
                <a:gs pos="100000">
                  <a:srgbClr val="CC0000"/>
                </a:gs>
              </a:gsLst>
              <a:lin ang="0" scaled="1"/>
              <a:tileRect/>
            </a:gradFill>
            <a:ln w="9525" cap="flat" cmpd="sng">
              <a:solidFill>
                <a:srgbClr val="CC0000"/>
              </a:solidFill>
              <a:prstDash val="solid"/>
              <a:miter/>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grpSp>
          <p:nvGrpSpPr>
            <p:cNvPr id="130094" name="Group 54"/>
            <p:cNvGrpSpPr/>
            <p:nvPr/>
          </p:nvGrpSpPr>
          <p:grpSpPr>
            <a:xfrm>
              <a:off x="16455" y="5223"/>
              <a:ext cx="2909" cy="1516"/>
              <a:chOff x="3130" y="2817"/>
              <a:chExt cx="1917" cy="618"/>
            </a:xfrm>
          </p:grpSpPr>
          <p:grpSp>
            <p:nvGrpSpPr>
              <p:cNvPr id="130095" name="Group 45"/>
              <p:cNvGrpSpPr/>
              <p:nvPr/>
            </p:nvGrpSpPr>
            <p:grpSpPr>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6047" name="Rectangle 47"/>
                <p:cNvSpPr>
                  <a:spLocks noChangeArrowheads="1"/>
                </p:cNvSpPr>
                <p:nvPr/>
              </p:nvSpPr>
              <p:spPr bwMode="auto">
                <a:xfrm>
                  <a:off x="2275" y="3433"/>
                  <a:ext cx="1329"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30098" name="Oval 48"/>
                <p:cNvSpPr/>
                <p:nvPr/>
              </p:nvSpPr>
              <p:spPr>
                <a:xfrm>
                  <a:off x="2249" y="3430"/>
                  <a:ext cx="69" cy="253"/>
                </a:xfrm>
                <a:prstGeom prst="ellipse">
                  <a:avLst/>
                </a:prstGeom>
                <a:solidFill>
                  <a:srgbClr val="DDDDDD"/>
                </a:solidFill>
                <a:ln w="9525"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30100" name="Text Box 50"/>
              <p:cNvSpPr txBox="1"/>
              <p:nvPr/>
            </p:nvSpPr>
            <p:spPr>
              <a:xfrm>
                <a:off x="3187" y="2817"/>
                <a:ext cx="1860" cy="256"/>
              </a:xfrm>
              <a:prstGeom prst="rect">
                <a:avLst/>
              </a:prstGeom>
              <a:noFill/>
              <a:ln w="9525">
                <a:noFill/>
              </a:ln>
            </p:spPr>
            <p:txBody>
              <a:bodyPr anchor="t">
                <a:spAutoFit/>
              </a:bodyPr>
              <a:lstStyle/>
              <a:p>
                <a:pPr algn="ctr" eaLnBrk="0" hangingPunct="0"/>
                <a:r>
                  <a:rPr lang="en-US" altLang="zh-CN" sz="2000" dirty="0">
                    <a:latin typeface="Arial" panose="020B0604020202020204" pitchFamily="34" charset="0"/>
                    <a:ea typeface="MS PGothic" panose="020B0600070205080204" pitchFamily="-84" charset="-128"/>
                  </a:rPr>
                  <a:t>R</a:t>
                </a:r>
                <a:r>
                  <a:rPr lang="en-US" altLang="zh-CN" sz="2800" baseline="-25000" dirty="0">
                    <a:latin typeface="Arial" panose="020B0604020202020204" pitchFamily="34" charset="0"/>
                    <a:ea typeface="MS PGothic" panose="020B0600070205080204" pitchFamily="-84" charset="-128"/>
                  </a:rPr>
                  <a:t>c</a:t>
                </a:r>
                <a:r>
                  <a:rPr lang="en-US" altLang="zh-CN" sz="2000" baseline="-25000" dirty="0">
                    <a:latin typeface="Arial" panose="020B0604020202020204" pitchFamily="34" charset="0"/>
                    <a:ea typeface="MS PGothic" panose="020B0600070205080204" pitchFamily="-84" charset="-128"/>
                  </a:rPr>
                  <a:t> </a:t>
                </a:r>
                <a:r>
                  <a:rPr lang="en-US" altLang="zh-CN" sz="2000" dirty="0">
                    <a:latin typeface="Arial" panose="020B0604020202020204" pitchFamily="34" charset="0"/>
                    <a:ea typeface="MS PGothic" panose="020B0600070205080204" pitchFamily="-84" charset="-128"/>
                  </a:rPr>
                  <a:t>b/s</a:t>
                </a:r>
              </a:p>
            </p:txBody>
          </p:sp>
        </p:grpSp>
        <p:grpSp>
          <p:nvGrpSpPr>
            <p:cNvPr id="130101" name="Group 5"/>
            <p:cNvGrpSpPr/>
            <p:nvPr/>
          </p:nvGrpSpPr>
          <p:grpSpPr>
            <a:xfrm>
              <a:off x="14642" y="6096"/>
              <a:ext cx="1530" cy="445"/>
              <a:chOff x="3600" y="219"/>
              <a:chExt cx="360" cy="175"/>
            </a:xfrm>
          </p:grpSpPr>
          <p:sp>
            <p:nvSpPr>
              <p:cNvPr id="130102" name="Oval 6"/>
              <p:cNvSpPr/>
              <p:nvPr/>
            </p:nvSpPr>
            <p:spPr>
              <a:xfrm>
                <a:off x="3603" y="297"/>
                <a:ext cx="357" cy="97"/>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sp>
            <p:nvSpPr>
              <p:cNvPr id="130103" name="Line 7"/>
              <p:cNvSpPr/>
              <p:nvPr/>
            </p:nvSpPr>
            <p:spPr>
              <a:xfrm>
                <a:off x="3603" y="289"/>
                <a:ext cx="0" cy="60"/>
              </a:xfrm>
              <a:prstGeom prst="line">
                <a:avLst/>
              </a:prstGeom>
              <a:ln w="12700" cap="flat" cmpd="sng">
                <a:solidFill>
                  <a:schemeClr val="tx1"/>
                </a:solidFill>
                <a:prstDash val="solid"/>
                <a:round/>
                <a:headEnd type="none" w="med" len="med"/>
                <a:tailEnd type="none" w="med" len="med"/>
              </a:ln>
            </p:spPr>
          </p:sp>
          <p:sp>
            <p:nvSpPr>
              <p:cNvPr id="130104" name="Line 8"/>
              <p:cNvSpPr/>
              <p:nvPr/>
            </p:nvSpPr>
            <p:spPr>
              <a:xfrm>
                <a:off x="3960" y="289"/>
                <a:ext cx="0" cy="60"/>
              </a:xfrm>
              <a:prstGeom prst="line">
                <a:avLst/>
              </a:prstGeom>
              <a:ln w="12700" cap="flat" cmpd="sng">
                <a:solidFill>
                  <a:schemeClr val="tx1"/>
                </a:solidFill>
                <a:prstDash val="solid"/>
                <a:round/>
                <a:headEnd type="none" w="med" len="med"/>
                <a:tailEnd type="none" w="med" len="med"/>
              </a:ln>
            </p:spPr>
          </p:sp>
          <p:sp>
            <p:nvSpPr>
              <p:cNvPr id="130105" name="Rectangle 9"/>
              <p:cNvSpPr/>
              <p:nvPr/>
            </p:nvSpPr>
            <p:spPr>
              <a:xfrm>
                <a:off x="3603" y="289"/>
                <a:ext cx="354" cy="59"/>
              </a:xfrm>
              <a:prstGeom prst="rect">
                <a:avLst/>
              </a:prstGeom>
              <a:solidFill>
                <a:schemeClr val="hlink"/>
              </a:solidFill>
              <a:ln w="12700">
                <a:noFill/>
              </a:ln>
            </p:spPr>
            <p:txBody>
              <a:bodyPr wrap="none" anchor="ctr"/>
              <a:lstStyle/>
              <a:p>
                <a:pPr algn="ctr" eaLnBrk="0" hangingPunct="0"/>
                <a:endParaRPr lang="zh-CN" altLang="zh-CN" dirty="0">
                  <a:latin typeface="Arial" panose="020B0604020202020204" pitchFamily="34" charset="0"/>
                  <a:ea typeface="MS PGothic" panose="020B0600070205080204" pitchFamily="-84" charset="-128"/>
                </a:endParaRPr>
              </a:p>
            </p:txBody>
          </p:sp>
          <p:sp>
            <p:nvSpPr>
              <p:cNvPr id="130106" name="Oval 10"/>
              <p:cNvSpPr/>
              <p:nvPr/>
            </p:nvSpPr>
            <p:spPr>
              <a:xfrm>
                <a:off x="3600" y="219"/>
                <a:ext cx="357" cy="113"/>
              </a:xfrm>
              <a:prstGeom prst="ellipse">
                <a:avLst/>
              </a:prstGeom>
              <a:solidFill>
                <a:schemeClr val="hlink"/>
              </a:solidFill>
              <a:ln w="12700"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grpSp>
            <p:nvGrpSpPr>
              <p:cNvPr id="130107" name="Group 11"/>
              <p:cNvGrpSpPr/>
              <p:nvPr/>
            </p:nvGrpSpPr>
            <p:grpSpPr>
              <a:xfrm>
                <a:off x="3686" y="244"/>
                <a:ext cx="177" cy="66"/>
                <a:chOff x="2848" y="848"/>
                <a:chExt cx="140" cy="98"/>
              </a:xfrm>
            </p:grpSpPr>
            <p:sp>
              <p:nvSpPr>
                <p:cNvPr id="130108" name="Line 12"/>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30109" name="Line 13"/>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30110" name="Line 14"/>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nvGrpSpPr>
              <p:cNvPr id="130111" name="Group 15"/>
              <p:cNvGrpSpPr/>
              <p:nvPr/>
            </p:nvGrpSpPr>
            <p:grpSpPr>
              <a:xfrm flipV="1">
                <a:off x="3686" y="243"/>
                <a:ext cx="177" cy="66"/>
                <a:chOff x="2848" y="848"/>
                <a:chExt cx="140" cy="98"/>
              </a:xfrm>
            </p:grpSpPr>
            <p:sp>
              <p:nvSpPr>
                <p:cNvPr id="130112" name="Line 16"/>
                <p:cNvSpPr/>
                <p:nvPr/>
              </p:nvSpPr>
              <p:spPr>
                <a:xfrm flipV="1">
                  <a:off x="2848" y="848"/>
                  <a:ext cx="50" cy="2"/>
                </a:xfrm>
                <a:prstGeom prst="line">
                  <a:avLst/>
                </a:prstGeom>
                <a:ln w="28575" cap="flat" cmpd="sng">
                  <a:solidFill>
                    <a:schemeClr val="tx1"/>
                  </a:solidFill>
                  <a:prstDash val="solid"/>
                  <a:round/>
                  <a:headEnd type="none" w="med" len="med"/>
                  <a:tailEnd type="none" w="med" len="med"/>
                </a:ln>
              </p:spPr>
            </p:sp>
            <p:sp>
              <p:nvSpPr>
                <p:cNvPr id="130113" name="Line 17"/>
                <p:cNvSpPr/>
                <p:nvPr/>
              </p:nvSpPr>
              <p:spPr>
                <a:xfrm>
                  <a:off x="2944" y="946"/>
                  <a:ext cx="44" cy="0"/>
                </a:xfrm>
                <a:prstGeom prst="line">
                  <a:avLst/>
                </a:prstGeom>
                <a:ln w="28575" cap="flat" cmpd="sng">
                  <a:solidFill>
                    <a:schemeClr val="tx1"/>
                  </a:solidFill>
                  <a:prstDash val="solid"/>
                  <a:round/>
                  <a:headEnd type="none" w="med" len="med"/>
                  <a:tailEnd type="none" w="med" len="med"/>
                </a:ln>
              </p:spPr>
            </p:sp>
            <p:sp>
              <p:nvSpPr>
                <p:cNvPr id="130114" name="Line 18"/>
                <p:cNvSpPr/>
                <p:nvPr/>
              </p:nvSpPr>
              <p:spPr>
                <a:xfrm>
                  <a:off x="2894" y="850"/>
                  <a:ext cx="52" cy="96"/>
                </a:xfrm>
                <a:prstGeom prst="line">
                  <a:avLst/>
                </a:prstGeom>
                <a:ln w="28575" cap="flat" cmpd="sng">
                  <a:solidFill>
                    <a:schemeClr val="tx1"/>
                  </a:solidFill>
                  <a:prstDash val="solid"/>
                  <a:round/>
                  <a:headEnd type="none" w="med" len="med"/>
                  <a:tailEnd type="none" w="med" len="med"/>
                </a:ln>
              </p:spPr>
            </p:sp>
          </p:grpSp>
        </p:grpSp>
        <p:sp>
          <p:nvSpPr>
            <p:cNvPr id="130120" name="AutoShape 51"/>
            <p:cNvSpPr/>
            <p:nvPr/>
          </p:nvSpPr>
          <p:spPr>
            <a:xfrm>
              <a:off x="14510" y="6003"/>
              <a:ext cx="2150" cy="575"/>
            </a:xfrm>
            <a:prstGeom prst="rightArrow">
              <a:avLst>
                <a:gd name="adj1" fmla="val 50000"/>
                <a:gd name="adj2" fmla="val 89400"/>
              </a:avLst>
            </a:prstGeom>
            <a:gradFill rotWithShape="1">
              <a:gsLst>
                <a:gs pos="0">
                  <a:srgbClr val="FFFFFF"/>
                </a:gs>
                <a:gs pos="100000">
                  <a:srgbClr val="CC0000"/>
                </a:gs>
              </a:gsLst>
              <a:lin ang="0" scaled="1"/>
              <a:tileRect/>
            </a:gradFill>
            <a:ln w="9525" cap="flat" cmpd="sng">
              <a:solidFill>
                <a:srgbClr val="CC0000"/>
              </a:solidFill>
              <a:prstDash val="solid"/>
              <a:miter/>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grpSp>
          <p:nvGrpSpPr>
            <p:cNvPr id="130121" name="Group 132"/>
            <p:cNvGrpSpPr/>
            <p:nvPr/>
          </p:nvGrpSpPr>
          <p:grpSpPr>
            <a:xfrm flipH="1">
              <a:off x="20038" y="5633"/>
              <a:ext cx="1373" cy="1395"/>
              <a:chOff x="-44" y="1473"/>
              <a:chExt cx="981" cy="1105"/>
            </a:xfrm>
          </p:grpSpPr>
          <p:pic>
            <p:nvPicPr>
              <p:cNvPr id="130122" name="Picture 133" descr="desktop_computer_stylized_medium"/>
              <p:cNvPicPr>
                <a:picLocks noChangeAspect="1"/>
              </p:cNvPicPr>
              <p:nvPr/>
            </p:nvPicPr>
            <p:blipFill>
              <a:blip r:embed="rId3"/>
              <a:stretch>
                <a:fillRect/>
              </a:stretch>
            </p:blipFill>
            <p:spPr>
              <a:xfrm flipH="1">
                <a:off x="-44" y="1473"/>
                <a:ext cx="981" cy="1105"/>
              </a:xfrm>
              <a:prstGeom prst="rect">
                <a:avLst/>
              </a:prstGeom>
              <a:noFill/>
              <a:ln w="9525">
                <a:noFill/>
              </a:ln>
            </p:spPr>
          </p:pic>
          <p:sp>
            <p:nvSpPr>
              <p:cNvPr id="130123" name="Freeform 134"/>
              <p:cNvSpPr/>
              <p:nvPr/>
            </p:nvSpPr>
            <p:spPr>
              <a:xfrm flipH="1">
                <a:off x="374" y="1579"/>
                <a:ext cx="477" cy="506"/>
              </a:xfrm>
              <a:custGeom>
                <a:avLst/>
                <a:gdLst/>
                <a:ahLst/>
                <a:cxnLst>
                  <a:cxn ang="0">
                    <a:pos x="0" y="0"/>
                  </a:cxn>
                  <a:cxn ang="0">
                    <a:pos x="1296" y="69"/>
                  </a:cxn>
                  <a:cxn ang="0">
                    <a:pos x="1537" y="1447"/>
                  </a:cxn>
                  <a:cxn ang="0">
                    <a:pos x="339" y="1810"/>
                  </a:cxn>
                  <a:cxn ang="0">
                    <a:pos x="0" y="0"/>
                  </a:cxn>
                </a:cxnLst>
                <a:rect l="0" t="0" r="0" b="0"/>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tileRect/>
              </a:gradFill>
              <a:ln w="9525">
                <a:noFill/>
              </a:ln>
            </p:spPr>
            <p:txBody>
              <a:bodyPr/>
              <a:lstStyle/>
              <a:p>
                <a:endParaRPr lang="zh-CN" altLang="en-US"/>
              </a:p>
            </p:txBody>
          </p:sp>
        </p:grpSp>
        <p:sp>
          <p:nvSpPr>
            <p:cNvPr id="130124" name="AutoShape 327"/>
            <p:cNvSpPr/>
            <p:nvPr/>
          </p:nvSpPr>
          <p:spPr>
            <a:xfrm>
              <a:off x="11275" y="5231"/>
              <a:ext cx="643" cy="680"/>
            </a:xfrm>
            <a:prstGeom prst="can">
              <a:avLst>
                <a:gd name="adj" fmla="val 21361"/>
              </a:avLst>
            </a:prstGeom>
            <a:gradFill rotWithShape="1">
              <a:gsLst>
                <a:gs pos="0">
                  <a:srgbClr val="000099"/>
                </a:gs>
                <a:gs pos="100000">
                  <a:srgbClr val="FFFFFF"/>
                </a:gs>
              </a:gsLst>
              <a:lin ang="0" scaled="1"/>
              <a:tileRect/>
            </a:gradFill>
            <a:ln w="9525" cap="flat" cmpd="sng">
              <a:solidFill>
                <a:schemeClr val="tx1"/>
              </a:solidFill>
              <a:prstDash val="solid"/>
              <a:round/>
              <a:headEnd type="none" w="med" len="med"/>
              <a:tailEnd type="none" w="med" len="med"/>
            </a:ln>
          </p:spPr>
          <p:txBody>
            <a:bodyPr wrap="none" anchor="ctr"/>
            <a:lstStyle/>
            <a:p>
              <a:pPr eaLnBrk="0" hangingPunct="0"/>
              <a:endParaRPr lang="zh-CN" altLang="zh-CN" dirty="0">
                <a:latin typeface="Arial" panose="020B0604020202020204" pitchFamily="34" charset="0"/>
                <a:ea typeface="MS PGothic" panose="020B0600070205080204" pitchFamily="-84" charset="-128"/>
              </a:endParaRPr>
            </a:p>
          </p:txBody>
        </p:sp>
      </p:grpSp>
      <p:sp>
        <p:nvSpPr>
          <p:cNvPr id="73" name="文本框 72">
            <a:extLst>
              <a:ext uri="{FF2B5EF4-FFF2-40B4-BE49-F238E27FC236}">
                <a16:creationId xmlns:a16="http://schemas.microsoft.com/office/drawing/2014/main" id="{A75DC8BB-97BA-5C49-BEBD-61DF377B19C3}"/>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pic>
        <p:nvPicPr>
          <p:cNvPr id="74" name="Picture 28" descr="015">
            <a:extLst>
              <a:ext uri="{FF2B5EF4-FFF2-40B4-BE49-F238E27FC236}">
                <a16:creationId xmlns:a16="http://schemas.microsoft.com/office/drawing/2014/main" id="{34673C19-FD06-4020-A65E-BAA893E0113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42585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计算机网络度量单位</a:t>
            </a:r>
          </a:p>
        </p:txBody>
      </p:sp>
      <p:sp>
        <p:nvSpPr>
          <p:cNvPr id="3" name="内容占位符 2"/>
          <p:cNvSpPr>
            <a:spLocks noGrp="1"/>
          </p:cNvSpPr>
          <p:nvPr>
            <p:ph idx="1"/>
          </p:nvPr>
        </p:nvSpPr>
        <p:spPr>
          <a:xfrm>
            <a:off x="680720" y="1476376"/>
            <a:ext cx="5403215" cy="5016498"/>
          </a:xfrm>
        </p:spPr>
        <p:txBody>
          <a:bodyPr>
            <a:noAutofit/>
          </a:bodyPr>
          <a:lstStyle/>
          <a:p>
            <a:pPr>
              <a:lnSpc>
                <a:spcPct val="115000"/>
              </a:lnSpc>
              <a:spcAft>
                <a:spcPts val="0"/>
              </a:spcAft>
            </a:pPr>
            <a:r>
              <a:rPr kumimoji="1" lang="zh-CN" altLang="en-US" dirty="0"/>
              <a:t>时延抖动</a:t>
            </a:r>
            <a:endParaRPr kumimoji="1" lang="en-US" altLang="zh-CN" dirty="0"/>
          </a:p>
          <a:p>
            <a:pPr lvl="1">
              <a:lnSpc>
                <a:spcPct val="115000"/>
              </a:lnSpc>
              <a:spcAft>
                <a:spcPts val="0"/>
              </a:spcAft>
              <a:buFont typeface="Arial" panose="020B0604020202020204" pitchFamily="34" charset="0"/>
              <a:buChar char="•"/>
            </a:pPr>
            <a:r>
              <a:rPr lang="zh-CN" altLang="en-US" kern="100" dirty="0">
                <a:cs typeface="微软雅黑" panose="020B0503020204020204" pitchFamily="34" charset="-122"/>
              </a:rPr>
              <a:t>变化的时延称为抖动（</a:t>
            </a:r>
            <a:r>
              <a:rPr lang="en-US" altLang="zh-CN" kern="100" dirty="0">
                <a:cs typeface="微软雅黑" panose="020B0503020204020204" pitchFamily="34" charset="-122"/>
              </a:rPr>
              <a:t>Jitter</a:t>
            </a:r>
            <a:r>
              <a:rPr lang="zh-CN" altLang="en-US" kern="100" dirty="0">
                <a:cs typeface="微软雅黑" panose="020B0503020204020204" pitchFamily="34" charset="-122"/>
              </a:rPr>
              <a:t>）</a:t>
            </a:r>
            <a:endParaRPr lang="en-US" altLang="zh-CN" kern="100" dirty="0">
              <a:cs typeface="微软雅黑" panose="020B0503020204020204" pitchFamily="34" charset="-122"/>
            </a:endParaRPr>
          </a:p>
          <a:p>
            <a:pPr lvl="1">
              <a:lnSpc>
                <a:spcPct val="115000"/>
              </a:lnSpc>
              <a:buFont typeface="Arial" panose="020B0604020202020204" pitchFamily="34" charset="0"/>
              <a:buChar char="•"/>
            </a:pPr>
            <a:r>
              <a:rPr lang="zh-CN" altLang="en-US" kern="100" dirty="0">
                <a:cs typeface="微软雅黑" panose="020B0503020204020204" pitchFamily="34" charset="-122"/>
              </a:rPr>
              <a:t>时延抖动起源于网络中的队列或缓冲，抖动难以精确预测</a:t>
            </a:r>
            <a:endParaRPr lang="en-US" altLang="zh-CN" kern="100" dirty="0">
              <a:cs typeface="微软雅黑" panose="020B0503020204020204" pitchFamily="34" charset="-122"/>
            </a:endParaRPr>
          </a:p>
          <a:p>
            <a:pPr lvl="1">
              <a:lnSpc>
                <a:spcPct val="115000"/>
              </a:lnSpc>
              <a:spcAft>
                <a:spcPts val="0"/>
              </a:spcAft>
              <a:buFont typeface="Arial" panose="020B0604020202020204" pitchFamily="34" charset="0"/>
              <a:buChar char="•"/>
            </a:pPr>
            <a:r>
              <a:rPr lang="zh-CN" altLang="en-US" kern="100" dirty="0">
                <a:effectLst/>
                <a:cs typeface="微软雅黑" panose="020B0503020204020204" pitchFamily="34" charset="-122"/>
              </a:rPr>
              <a:t>在语音、视频多媒体业务中，抖动往往会严重影响用户的体验</a:t>
            </a:r>
          </a:p>
          <a:p>
            <a:pPr>
              <a:lnSpc>
                <a:spcPct val="115000"/>
              </a:lnSpc>
              <a:spcAft>
                <a:spcPts val="0"/>
              </a:spcAft>
            </a:pPr>
            <a:r>
              <a:rPr kumimoji="1" lang="zh-CN" altLang="en-US" dirty="0"/>
              <a:t>延迟丢包</a:t>
            </a:r>
            <a:endParaRPr kumimoji="1" lang="en-US" altLang="zh-CN" dirty="0"/>
          </a:p>
          <a:p>
            <a:pPr lvl="1">
              <a:lnSpc>
                <a:spcPct val="115000"/>
              </a:lnSpc>
              <a:spcBef>
                <a:spcPts val="0"/>
              </a:spcBef>
              <a:buFont typeface="Arial" panose="020B0604020202020204" pitchFamily="34" charset="0"/>
              <a:buChar char="•"/>
            </a:pPr>
            <a:r>
              <a:rPr lang="zh-CN" altLang="en-US" kern="100" dirty="0">
                <a:effectLst/>
                <a:cs typeface="微软雅黑" panose="020B0503020204020204" pitchFamily="34" charset="-122"/>
              </a:rPr>
              <a:t>在多媒体应用中，由于数据包延迟到达，在接收端</a:t>
            </a:r>
            <a:r>
              <a:rPr lang="zh-CN" altLang="en-US" kern="100" dirty="0">
                <a:cs typeface="微软雅黑" panose="020B0503020204020204" pitchFamily="34" charset="-122"/>
              </a:rPr>
              <a:t>需要丢弃</a:t>
            </a:r>
            <a:r>
              <a:rPr lang="zh-CN" altLang="en-US" kern="100" dirty="0">
                <a:effectLst/>
                <a:cs typeface="微软雅黑" panose="020B0503020204020204" pitchFamily="34" charset="-122"/>
              </a:rPr>
              <a:t>失去使用价值的包</a:t>
            </a: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sp>
        <p:nvSpPr>
          <p:cNvPr id="6" name="文本框 5"/>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1.5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度量单位</a:t>
            </a:r>
          </a:p>
        </p:txBody>
      </p:sp>
      <p:grpSp>
        <p:nvGrpSpPr>
          <p:cNvPr id="12" name="组合 11"/>
          <p:cNvGrpSpPr/>
          <p:nvPr/>
        </p:nvGrpSpPr>
        <p:grpSpPr>
          <a:xfrm>
            <a:off x="5876290" y="2226310"/>
            <a:ext cx="6219825" cy="3147695"/>
            <a:chOff x="9222" y="3144"/>
            <a:chExt cx="9795" cy="4957"/>
          </a:xfrm>
        </p:grpSpPr>
        <p:pic>
          <p:nvPicPr>
            <p:cNvPr id="4" name="图片 3"/>
            <p:cNvPicPr>
              <a:picLocks noChangeAspect="1"/>
            </p:cNvPicPr>
            <p:nvPr/>
          </p:nvPicPr>
          <p:blipFill>
            <a:blip r:embed="rId2"/>
            <a:stretch>
              <a:fillRect/>
            </a:stretch>
          </p:blipFill>
          <p:spPr>
            <a:xfrm>
              <a:off x="9222" y="3144"/>
              <a:ext cx="9795" cy="4065"/>
            </a:xfrm>
            <a:prstGeom prst="rect">
              <a:avLst/>
            </a:prstGeom>
          </p:spPr>
        </p:pic>
        <p:sp>
          <p:nvSpPr>
            <p:cNvPr id="8" name="圆角矩形 7"/>
            <p:cNvSpPr/>
            <p:nvPr/>
          </p:nvSpPr>
          <p:spPr>
            <a:xfrm>
              <a:off x="14451" y="4092"/>
              <a:ext cx="1738" cy="1496"/>
            </a:xfrm>
            <a:prstGeom prst="roundRect">
              <a:avLst/>
            </a:prstGeom>
            <a:noFill/>
            <a:ln w="412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9" name="直接连接符 8"/>
            <p:cNvCxnSpPr>
              <a:cxnSpLocks/>
            </p:cNvCxnSpPr>
            <p:nvPr/>
          </p:nvCxnSpPr>
          <p:spPr>
            <a:xfrm>
              <a:off x="9948" y="7135"/>
              <a:ext cx="591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2433" y="7376"/>
              <a:ext cx="4229" cy="725"/>
            </a:xfrm>
            <a:prstGeom prst="rect">
              <a:avLst/>
            </a:prstGeom>
            <a:noFill/>
          </p:spPr>
          <p:txBody>
            <a:bodyPr wrap="square" rtlCol="0">
              <a:spAutoFit/>
            </a:bodyPr>
            <a:lstStyle/>
            <a:p>
              <a:pPr algn="ctr"/>
              <a:r>
                <a:rPr lang="zh-CN" altLang="en-US" sz="2400">
                  <a:solidFill>
                    <a:srgbClr val="7030A0"/>
                  </a:solidFill>
                  <a:latin typeface="微软雅黑" panose="020B0503020204020204" pitchFamily="34" charset="-122"/>
                  <a:ea typeface="微软雅黑" panose="020B0503020204020204" pitchFamily="34" charset="-122"/>
                </a:rPr>
                <a:t>时延抖动</a:t>
              </a:r>
            </a:p>
          </p:txBody>
        </p:sp>
      </p:grpSp>
      <p:pic>
        <p:nvPicPr>
          <p:cNvPr id="13" name="Picture 28" descr="015">
            <a:extLst>
              <a:ext uri="{FF2B5EF4-FFF2-40B4-BE49-F238E27FC236}">
                <a16:creationId xmlns:a16="http://schemas.microsoft.com/office/drawing/2014/main" id="{1F69C5A2-812B-4C6B-8F24-698D6C5387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5545" y="622715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67895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t>1.2 </a:t>
            </a:r>
            <a:r>
              <a:rPr kumimoji="1" lang="zh-CN" altLang="en-US" dirty="0"/>
              <a:t>网络的分类</a:t>
            </a:r>
            <a:endParaRPr kumimoji="1" lang="en-US" altLang="zh-CN" dirty="0"/>
          </a:p>
          <a:p>
            <a:pPr marL="0" indent="0">
              <a:lnSpc>
                <a:spcPct val="130000"/>
              </a:lnSpc>
              <a:buNone/>
            </a:pPr>
            <a:r>
              <a:rPr kumimoji="1" lang="en-US" altLang="zh-CN" dirty="0"/>
              <a:t>1.3 </a:t>
            </a:r>
            <a:r>
              <a:rPr kumimoji="1" lang="zh-CN" altLang="en-US" dirty="0"/>
              <a:t>网络实例</a:t>
            </a:r>
            <a:endParaRPr kumimoji="1" lang="en-US" altLang="zh-CN" dirty="0"/>
          </a:p>
          <a:p>
            <a:pPr marL="0" indent="0">
              <a:lnSpc>
                <a:spcPct val="130000"/>
              </a:lnSpc>
              <a:buNone/>
            </a:pPr>
            <a:r>
              <a:rPr kumimoji="1" lang="en-US" altLang="zh-CN" dirty="0"/>
              <a:t>1.4 </a:t>
            </a:r>
            <a:r>
              <a:rPr kumimoji="1" lang="zh-CN" altLang="en-US" dirty="0"/>
              <a:t>协议与分层结构</a:t>
            </a:r>
            <a:endParaRPr kumimoji="1" lang="en-US" altLang="zh-CN" dirty="0"/>
          </a:p>
          <a:p>
            <a:pPr marL="0" indent="0">
              <a:lnSpc>
                <a:spcPct val="130000"/>
              </a:lnSpc>
              <a:buNone/>
            </a:pPr>
            <a:r>
              <a:rPr kumimoji="1" lang="en-US" altLang="zh-CN" dirty="0"/>
              <a:t>1.5 </a:t>
            </a:r>
            <a:r>
              <a:rPr kumimoji="1" lang="zh-CN" altLang="en-US" dirty="0"/>
              <a:t>参考模型</a:t>
            </a:r>
            <a:endParaRPr kumimoji="1" lang="en-US" altLang="zh-CN" dirty="0"/>
          </a:p>
          <a:p>
            <a:pPr marL="0" indent="0">
              <a:lnSpc>
                <a:spcPct val="130000"/>
              </a:lnSpc>
              <a:buNone/>
            </a:pPr>
            <a:r>
              <a:rPr kumimoji="1" lang="en-US" altLang="zh-CN" dirty="0"/>
              <a:t>1.6 </a:t>
            </a:r>
            <a:r>
              <a:rPr kumimoji="1" lang="zh-CN" altLang="en-US" dirty="0"/>
              <a:t>计算机网络度量单位</a:t>
            </a:r>
          </a:p>
          <a:p>
            <a:pPr marL="0" indent="0">
              <a:lnSpc>
                <a:spcPct val="130000"/>
              </a:lnSpc>
              <a:buNone/>
            </a:pPr>
            <a:r>
              <a:rPr kumimoji="1" lang="en-US" altLang="zh-CN" dirty="0">
                <a:solidFill>
                  <a:srgbClr val="C00000"/>
                </a:solidFill>
              </a:rPr>
              <a:t>1.7 </a:t>
            </a:r>
            <a:r>
              <a:rPr kumimoji="1" lang="zh-CN" altLang="en-US" dirty="0">
                <a:solidFill>
                  <a:srgbClr val="C00000"/>
                </a:solidFill>
              </a:rPr>
              <a:t>标准化组织</a:t>
            </a:r>
            <a:endParaRPr kumimoji="1" lang="en-US" altLang="zh-CN" dirty="0">
              <a:solidFill>
                <a:srgbClr val="C00000"/>
              </a:solidFill>
            </a:endParaRPr>
          </a:p>
          <a:p>
            <a:pPr marL="0" indent="0">
              <a:lnSpc>
                <a:spcPct val="130000"/>
              </a:lnSpc>
              <a:buNone/>
            </a:pPr>
            <a:r>
              <a:rPr kumimoji="1" lang="en-US" altLang="zh-CN" dirty="0"/>
              <a:t>1.8 </a:t>
            </a:r>
            <a:r>
              <a:rPr kumimoji="1" lang="zh-CN" altLang="en-US" dirty="0"/>
              <a:t>互联网发展史与启示</a:t>
            </a:r>
            <a:endParaRPr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94</a:t>
            </a:fld>
            <a:endParaRPr kumimoji="1"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6226960" y="2941101"/>
            <a:ext cx="3878574" cy="2596450"/>
          </a:xfrm>
          <a:prstGeom prst="wedgeRectCallout">
            <a:avLst>
              <a:gd name="adj1" fmla="val -86019"/>
              <a:gd name="adj2" fmla="val 4242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国际标准组织</a:t>
            </a:r>
          </a:p>
          <a:p>
            <a:pPr marL="587375" lvl="0"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Internet</a:t>
            </a:r>
            <a:r>
              <a:rPr kumimoji="1" lang="zh-CN" altLang="en-US" sz="2400" dirty="0">
                <a:solidFill>
                  <a:prstClr val="black"/>
                </a:solidFill>
                <a:latin typeface="Microsoft YaHei" panose="020B0503020204020204" pitchFamily="34" charset="-122"/>
                <a:ea typeface="Microsoft YaHei" panose="020B0503020204020204" pitchFamily="34" charset="-122"/>
              </a:rPr>
              <a:t>标准化组织</a:t>
            </a: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我国相关标准组织</a:t>
            </a:r>
          </a:p>
          <a:p>
            <a:pPr marL="587375" lvl="0"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开源社区</a:t>
            </a:r>
          </a:p>
        </p:txBody>
      </p:sp>
    </p:spTree>
    <p:extLst>
      <p:ext uri="{BB962C8B-B14F-4D97-AF65-F5344CB8AC3E}">
        <p14:creationId xmlns:p14="http://schemas.microsoft.com/office/powerpoint/2010/main" val="38397795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国际标准组织</a:t>
            </a:r>
            <a:endParaRPr kumimoji="1" lang="zh-CN" altLang="en-US" dirty="0"/>
          </a:p>
        </p:txBody>
      </p:sp>
      <p:sp>
        <p:nvSpPr>
          <p:cNvPr id="3" name="内容占位符 2"/>
          <p:cNvSpPr>
            <a:spLocks noGrp="1"/>
          </p:cNvSpPr>
          <p:nvPr>
            <p:ph idx="1"/>
          </p:nvPr>
        </p:nvSpPr>
        <p:spPr>
          <a:xfrm>
            <a:off x="838200" y="1432561"/>
            <a:ext cx="9211945" cy="5029200"/>
          </a:xfrm>
        </p:spPr>
        <p:txBody>
          <a:bodyPr>
            <a:normAutofit/>
          </a:bodyPr>
          <a:lstStyle/>
          <a:p>
            <a:pPr>
              <a:lnSpc>
                <a:spcPct val="110000"/>
              </a:lnSpc>
              <a:buFont typeface="Wingdings" panose="05000000000000000000" charset="0"/>
              <a:buChar char="Ø"/>
            </a:pPr>
            <a:r>
              <a:rPr lang="zh-CN" altLang="en-US" sz="2600" dirty="0">
                <a:solidFill>
                  <a:schemeClr val="tx1"/>
                </a:solidFill>
                <a:effectLst/>
                <a:cs typeface="Times New Roman" panose="02020603050405020304" pitchFamily="18" charset="0"/>
              </a:rPr>
              <a:t>国际</a:t>
            </a:r>
            <a:r>
              <a:rPr lang="zh-CN" altLang="en-US" sz="2600" kern="0" dirty="0">
                <a:solidFill>
                  <a:schemeClr val="tx1"/>
                </a:solidFill>
                <a:cs typeface="Times New Roman" panose="02020603050405020304" pitchFamily="18" charset="0"/>
              </a:rPr>
              <a:t>标</a:t>
            </a:r>
            <a:r>
              <a:rPr lang="zh-CN" altLang="en-US" sz="2600" dirty="0">
                <a:solidFill>
                  <a:schemeClr val="tx1"/>
                </a:solidFill>
                <a:effectLst/>
                <a:cs typeface="Times New Roman" panose="02020603050405020304" pitchFamily="18" charset="0"/>
              </a:rPr>
              <a:t>准化组织（</a:t>
            </a:r>
            <a:r>
              <a:rPr lang="en-US" altLang="zh-CN" sz="2600" dirty="0">
                <a:solidFill>
                  <a:schemeClr val="tx1"/>
                </a:solidFill>
                <a:effectLst/>
                <a:cs typeface="Times New Roman" panose="02020603050405020304" pitchFamily="18" charset="0"/>
                <a:sym typeface="+mn-ea"/>
              </a:rPr>
              <a:t>ISO</a:t>
            </a:r>
            <a:r>
              <a:rPr lang="zh-CN" altLang="en-US" sz="2600" dirty="0">
                <a:solidFill>
                  <a:schemeClr val="tx1"/>
                </a:solidFill>
                <a:effectLst/>
                <a:cs typeface="Times New Roman" panose="02020603050405020304" pitchFamily="18" charset="0"/>
              </a:rPr>
              <a:t>）</a:t>
            </a:r>
            <a:endParaRPr lang="en-US" altLang="zh-CN" sz="2600" dirty="0">
              <a:solidFill>
                <a:schemeClr val="tx1"/>
              </a:solidFill>
              <a:effectLst/>
              <a:cs typeface="Times New Roman" panose="02020603050405020304" pitchFamily="18" charset="0"/>
            </a:endParaRPr>
          </a:p>
          <a:p>
            <a:pPr marL="775335" lvl="1" indent="-317500">
              <a:lnSpc>
                <a:spcPct val="110000"/>
              </a:lnSpc>
              <a:spcAft>
                <a:spcPts val="0"/>
              </a:spcAft>
              <a:buFont typeface="Arial" panose="020B0604020202020204" pitchFamily="34" charset="0"/>
              <a:buChar char="•"/>
            </a:pPr>
            <a:r>
              <a:rPr lang="en-US" altLang="zh-CN" sz="2200" kern="0" dirty="0">
                <a:cs typeface="Times New Roman" panose="02020603050405020304" pitchFamily="18" charset="0"/>
                <a:sym typeface="+mn-ea"/>
              </a:rPr>
              <a:t>ISO</a:t>
            </a:r>
            <a:r>
              <a:rPr lang="zh-CN" altLang="en-US" sz="2200" kern="0" dirty="0">
                <a:cs typeface="Times New Roman" panose="02020603050405020304" pitchFamily="18" charset="0"/>
                <a:sym typeface="+mn-ea"/>
              </a:rPr>
              <a:t> </a:t>
            </a:r>
            <a:r>
              <a:rPr lang="en-US" altLang="zh-CN" sz="2200" kern="0" dirty="0">
                <a:cs typeface="Times New Roman" panose="02020603050405020304" pitchFamily="18" charset="0"/>
                <a:sym typeface="+mn-ea"/>
              </a:rPr>
              <a:t>(International Organization for Standardization)</a:t>
            </a:r>
            <a:r>
              <a:rPr lang="zh-CN" altLang="en-US" sz="2200" kern="0" dirty="0">
                <a:cs typeface="Times New Roman" panose="02020603050405020304" pitchFamily="18" charset="0"/>
                <a:sym typeface="+mn-ea"/>
              </a:rPr>
              <a:t>是一个国际化组织，它包括了许多国家的标准团体</a:t>
            </a:r>
            <a:endParaRPr lang="en-US" altLang="zh-CN" sz="2200" dirty="0">
              <a:effectLst/>
              <a:cs typeface="Times New Roman" panose="02020603050405020304" pitchFamily="18" charset="0"/>
            </a:endParaRPr>
          </a:p>
          <a:p>
            <a:pPr marL="807085" lvl="1" indent="-348615">
              <a:lnSpc>
                <a:spcPct val="110000"/>
              </a:lnSpc>
              <a:spcAft>
                <a:spcPts val="0"/>
              </a:spcAft>
              <a:buFont typeface="Arial" panose="020B0604020202020204" pitchFamily="34" charset="0"/>
              <a:buChar char="•"/>
            </a:pPr>
            <a:r>
              <a:rPr lang="zh-CN" altLang="en-US" sz="2200" kern="100" dirty="0">
                <a:solidFill>
                  <a:srgbClr val="C00000"/>
                </a:solidFill>
                <a:effectLst/>
                <a:cs typeface="Times New Roman" panose="02020603050405020304" pitchFamily="18" charset="0"/>
              </a:rPr>
              <a:t>国际标准ISO 7498：</a:t>
            </a:r>
            <a:r>
              <a:rPr lang="zh-CN" altLang="en-US" sz="2200" kern="100" dirty="0">
                <a:solidFill>
                  <a:srgbClr val="C00000"/>
                </a:solidFill>
                <a:effectLst/>
                <a:cs typeface="Times New Roman" panose="02020603050405020304" pitchFamily="18" charset="0"/>
                <a:sym typeface="+mn-ea"/>
              </a:rPr>
              <a:t>OSI 七层参考模型</a:t>
            </a:r>
            <a:endParaRPr lang="en-US" altLang="zh-CN" sz="2200" dirty="0">
              <a:solidFill>
                <a:srgbClr val="C00000"/>
              </a:solidFill>
              <a:effectLst/>
              <a:cs typeface="Times New Roman" panose="02020603050405020304" pitchFamily="18" charset="0"/>
            </a:endParaRPr>
          </a:p>
          <a:p>
            <a:pPr algn="l">
              <a:lnSpc>
                <a:spcPct val="110000"/>
              </a:lnSpc>
              <a:buClrTx/>
              <a:buSzTx/>
              <a:buFont typeface="Wingdings" panose="05000000000000000000" charset="0"/>
              <a:buChar char="Ø"/>
            </a:pPr>
            <a:r>
              <a:rPr lang="zh-CN" altLang="en-US" sz="2600" dirty="0">
                <a:solidFill>
                  <a:schemeClr val="tx1"/>
                </a:solidFill>
                <a:effectLst/>
                <a:cs typeface="Times New Roman" panose="02020603050405020304" pitchFamily="18" charset="0"/>
              </a:rPr>
              <a:t>国际电信联盟（ITU）</a:t>
            </a:r>
          </a:p>
          <a:p>
            <a:pPr marL="765175" lvl="1" indent="-307340" algn="l">
              <a:lnSpc>
                <a:spcPct val="110000"/>
              </a:lnSpc>
              <a:spcAft>
                <a:spcPts val="0"/>
              </a:spcAft>
              <a:buClrTx/>
              <a:buSzTx/>
              <a:buFont typeface="Arial" panose="020B0604020202020204" pitchFamily="34" charset="0"/>
              <a:buChar char="•"/>
            </a:pPr>
            <a:r>
              <a:rPr lang="en-US" altLang="zh-CN" sz="2200" dirty="0">
                <a:effectLst/>
                <a:cs typeface="Times New Roman" panose="02020603050405020304" pitchFamily="18" charset="0"/>
                <a:sym typeface="+mn-ea"/>
              </a:rPr>
              <a:t>ITU</a:t>
            </a:r>
            <a:r>
              <a:rPr lang="zh-CN" altLang="en-US" sz="2200" dirty="0">
                <a:effectLst/>
                <a:cs typeface="Times New Roman" panose="02020603050405020304" pitchFamily="18" charset="0"/>
                <a:sym typeface="+mn-ea"/>
              </a:rPr>
              <a:t> </a:t>
            </a:r>
            <a:r>
              <a:rPr lang="en-US" altLang="zh-CN" sz="2200" dirty="0">
                <a:effectLst/>
                <a:cs typeface="Times New Roman" panose="02020603050405020304" pitchFamily="18" charset="0"/>
                <a:sym typeface="+mn-ea"/>
              </a:rPr>
              <a:t>(</a:t>
            </a:r>
            <a:r>
              <a:rPr lang="en-US" altLang="zh-CN" sz="2200" dirty="0">
                <a:effectLst/>
                <a:cs typeface="Times New Roman" panose="02020603050405020304" pitchFamily="18" charset="0"/>
              </a:rPr>
              <a:t>International Telecommunicatons Union)</a:t>
            </a:r>
            <a:r>
              <a:rPr lang="en-US" altLang="zh-CN" sz="2200" dirty="0" err="1">
                <a:effectLst/>
                <a:cs typeface="Times New Roman" panose="02020603050405020304" pitchFamily="18" charset="0"/>
              </a:rPr>
              <a:t>前身是国际电报电话咨询委员会（CCITT</a:t>
            </a:r>
            <a:r>
              <a:rPr lang="en-US" altLang="zh-CN" sz="2200" dirty="0">
                <a:effectLst/>
                <a:cs typeface="Times New Roman" panose="02020603050405020304" pitchFamily="18" charset="0"/>
              </a:rPr>
              <a:t>）</a:t>
            </a:r>
            <a:endParaRPr lang="en-US" altLang="zh-CN" sz="2200" dirty="0">
              <a:cs typeface="Times New Roman" panose="02020603050405020304" pitchFamily="18" charset="0"/>
            </a:endParaRPr>
          </a:p>
          <a:p>
            <a:pPr marL="765175" lvl="1" indent="-307340" algn="l">
              <a:lnSpc>
                <a:spcPct val="110000"/>
              </a:lnSpc>
              <a:spcAft>
                <a:spcPts val="0"/>
              </a:spcAft>
              <a:buClrTx/>
              <a:buSzTx/>
              <a:buFont typeface="Arial" panose="020B0604020202020204" pitchFamily="34" charset="0"/>
              <a:buChar char="•"/>
            </a:pPr>
            <a:r>
              <a:rPr lang="en-US" altLang="zh-CN" sz="2200" dirty="0" err="1">
                <a:effectLst/>
                <a:cs typeface="Times New Roman" panose="02020603050405020304" pitchFamily="18" charset="0"/>
              </a:rPr>
              <a:t>ITU是一家</a:t>
            </a:r>
            <a:r>
              <a:rPr lang="en-US" altLang="zh-CN" sz="2200" dirty="0" err="1">
                <a:solidFill>
                  <a:srgbClr val="C00000"/>
                </a:solidFill>
                <a:effectLst/>
                <a:cs typeface="Times New Roman" panose="02020603050405020304" pitchFamily="18" charset="0"/>
              </a:rPr>
              <a:t>联合国机构</a:t>
            </a:r>
            <a:r>
              <a:rPr lang="en-US" altLang="zh-CN" sz="2200" dirty="0" err="1">
                <a:effectLst/>
                <a:cs typeface="Times New Roman" panose="02020603050405020304" pitchFamily="18" charset="0"/>
              </a:rPr>
              <a:t>，共分为三个部门：ITU-R负责无线电通信，ITU-D是发展部门，</a:t>
            </a:r>
            <a:r>
              <a:rPr lang="en-US" altLang="zh-CN" sz="2200" dirty="0" err="1">
                <a:effectLst/>
                <a:cs typeface="Times New Roman" panose="02020603050405020304" pitchFamily="18" charset="0"/>
                <a:sym typeface="+mn-ea"/>
              </a:rPr>
              <a:t>ITU-T负责电信</a:t>
            </a:r>
            <a:endParaRPr lang="en-US" altLang="zh-CN" sz="2200" dirty="0">
              <a:effectLst/>
              <a:cs typeface="Times New Roman" panose="02020603050405020304" pitchFamily="18" charset="0"/>
              <a:sym typeface="+mn-ea"/>
            </a:endParaRPr>
          </a:p>
          <a:p>
            <a:pPr marL="775335" lvl="1" indent="-317500" algn="l">
              <a:lnSpc>
                <a:spcPct val="110000"/>
              </a:lnSpc>
              <a:spcAft>
                <a:spcPts val="0"/>
              </a:spcAft>
              <a:buClrTx/>
              <a:buSzTx/>
              <a:buFont typeface="Arial" panose="020B0604020202020204" pitchFamily="34" charset="0"/>
              <a:buChar char="•"/>
            </a:pPr>
            <a:r>
              <a:rPr lang="en-US" altLang="zh-CN" sz="2200" dirty="0" err="1">
                <a:effectLst/>
                <a:cs typeface="Times New Roman" panose="02020603050405020304" pitchFamily="18" charset="0"/>
              </a:rPr>
              <a:t>ITU制定了许多</a:t>
            </a:r>
            <a:r>
              <a:rPr lang="zh-CN" altLang="en-US" sz="2200" dirty="0">
                <a:effectLst/>
                <a:cs typeface="Times New Roman" panose="02020603050405020304" pitchFamily="18" charset="0"/>
              </a:rPr>
              <a:t>网络</a:t>
            </a:r>
            <a:r>
              <a:rPr lang="en-US" altLang="zh-CN" sz="2200" dirty="0" err="1">
                <a:effectLst/>
                <a:cs typeface="Times New Roman" panose="02020603050405020304" pitchFamily="18" charset="0"/>
              </a:rPr>
              <a:t>和电话通信方面的标准</a:t>
            </a:r>
            <a:endParaRPr lang="en-US" altLang="zh-CN" sz="2200" dirty="0">
              <a:effectLst/>
              <a:cs typeface="Times New Roman" panose="02020603050405020304" pitchFamily="18" charset="0"/>
            </a:endParaRPr>
          </a:p>
          <a:p>
            <a:pPr marL="775335" lvl="1" indent="-317500" algn="l">
              <a:lnSpc>
                <a:spcPct val="110000"/>
              </a:lnSpc>
              <a:spcAft>
                <a:spcPts val="0"/>
              </a:spcAft>
              <a:buClrTx/>
              <a:buSzTx/>
              <a:buFont typeface="Arial" panose="020B0604020202020204" pitchFamily="34" charset="0"/>
              <a:buChar char="•"/>
            </a:pPr>
            <a:r>
              <a:rPr kumimoji="1" lang="en-US" altLang="zh-CN" sz="2200" dirty="0">
                <a:cs typeface="Times New Roman" panose="02020603050405020304" pitchFamily="18" charset="0"/>
              </a:rPr>
              <a:t>ITU</a:t>
            </a:r>
            <a:r>
              <a:rPr kumimoji="1" lang="zh-CN" altLang="en-US" sz="2200" dirty="0">
                <a:cs typeface="Times New Roman" panose="02020603050405020304" pitchFamily="18" charset="0"/>
              </a:rPr>
              <a:t>常采用政府代表团形式参会，工信部组织我国代表团参加</a:t>
            </a:r>
            <a:endParaRPr kumimoji="1" lang="en-US" altLang="zh-CN" sz="2200" dirty="0">
              <a:effectLst/>
              <a:cs typeface="Times New Roman" panose="02020603050405020304" pitchFamily="18" charset="0"/>
            </a:endParaRPr>
          </a:p>
        </p:txBody>
      </p:sp>
      <p:sp>
        <p:nvSpPr>
          <p:cNvPr id="5" name="灯片编号占位符 4">
            <a:extLst>
              <a:ext uri="{FF2B5EF4-FFF2-40B4-BE49-F238E27FC236}">
                <a16:creationId xmlns:a16="http://schemas.microsoft.com/office/drawing/2014/main" id="{8DB6E266-30F2-D34D-95AB-FEF66668041A}"/>
              </a:ext>
            </a:extLst>
          </p:cNvPr>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pic>
        <p:nvPicPr>
          <p:cNvPr id="3078" name="Picture 6"/>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0050780" y="2005965"/>
            <a:ext cx="1613535" cy="112331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0335260" y="4423410"/>
            <a:ext cx="1412875" cy="106045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32D11202-8D66-C64F-8746-AABC37201329}"/>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spTree>
    <p:extLst>
      <p:ext uri="{BB962C8B-B14F-4D97-AF65-F5344CB8AC3E}">
        <p14:creationId xmlns:p14="http://schemas.microsoft.com/office/powerpoint/2010/main" val="26263041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国际标准组织</a:t>
            </a:r>
            <a:endParaRPr kumimoji="1" lang="zh-CN" altLang="en-US" dirty="0"/>
          </a:p>
        </p:txBody>
      </p:sp>
      <p:sp>
        <p:nvSpPr>
          <p:cNvPr id="3" name="内容占位符 2"/>
          <p:cNvSpPr>
            <a:spLocks noGrp="1"/>
          </p:cNvSpPr>
          <p:nvPr>
            <p:ph idx="1"/>
          </p:nvPr>
        </p:nvSpPr>
        <p:spPr>
          <a:xfrm>
            <a:off x="830584" y="1294907"/>
            <a:ext cx="8017582" cy="5372779"/>
          </a:xfrm>
        </p:spPr>
        <p:txBody>
          <a:bodyPr>
            <a:normAutofit fontScale="92500" lnSpcReduction="20000"/>
          </a:bodyPr>
          <a:lstStyle/>
          <a:p>
            <a:pPr>
              <a:lnSpc>
                <a:spcPct val="120000"/>
              </a:lnSpc>
              <a:spcAft>
                <a:spcPts val="0"/>
              </a:spcAft>
              <a:buClrTx/>
              <a:buSzTx/>
              <a:buFont typeface="Wingdings" panose="05000000000000000000" charset="0"/>
              <a:buChar char="Ø"/>
            </a:pPr>
            <a:r>
              <a:rPr lang="zh-CN" altLang="en-US" sz="2400" dirty="0">
                <a:solidFill>
                  <a:schemeClr val="tx1"/>
                </a:solidFill>
                <a:effectLst/>
                <a:cs typeface="Times New Roman" panose="02020603050405020304" pitchFamily="18" charset="0"/>
              </a:rPr>
              <a:t>国际电气和电子工程师协会（</a:t>
            </a:r>
            <a:r>
              <a:rPr lang="zh-CN" altLang="en-US" sz="2400" dirty="0">
                <a:solidFill>
                  <a:schemeClr val="tx1"/>
                </a:solidFill>
                <a:effectLst/>
                <a:cs typeface="Times New Roman" panose="02020603050405020304" pitchFamily="18" charset="0"/>
                <a:sym typeface="+mn-ea"/>
              </a:rPr>
              <a:t>IEEE</a:t>
            </a:r>
            <a:r>
              <a:rPr lang="zh-CN" altLang="en-US" sz="2400" dirty="0">
                <a:solidFill>
                  <a:schemeClr val="tx1"/>
                </a:solidFill>
                <a:effectLst/>
                <a:cs typeface="Times New Roman" panose="02020603050405020304" pitchFamily="18" charset="0"/>
              </a:rPr>
              <a:t>） </a:t>
            </a:r>
            <a:endParaRPr lang="zh-CN" altLang="en-US" sz="2400" dirty="0">
              <a:solidFill>
                <a:srgbClr val="B348FF"/>
              </a:solidFill>
              <a:effectLst/>
              <a:cs typeface="Times New Roman" panose="02020603050405020304" pitchFamily="18" charset="0"/>
            </a:endParaRPr>
          </a:p>
          <a:p>
            <a:pPr marL="646430" indent="-285750">
              <a:lnSpc>
                <a:spcPct val="120000"/>
              </a:lnSpc>
              <a:spcAft>
                <a:spcPts val="0"/>
              </a:spcAft>
              <a:buFont typeface="Arial" panose="020B0604020202020204" pitchFamily="34" charset="0"/>
              <a:buChar char="•"/>
            </a:pPr>
            <a:r>
              <a:rPr lang="en-US" altLang="zh-CN" sz="2200" kern="100" dirty="0">
                <a:effectLst/>
                <a:cs typeface="Times New Roman" panose="02020603050405020304" pitchFamily="18" charset="0"/>
                <a:sym typeface="+mn-ea"/>
              </a:rPr>
              <a:t>IEEE</a:t>
            </a:r>
            <a:r>
              <a:rPr lang="zh-CN" altLang="en-US" sz="2200" kern="100" dirty="0">
                <a:effectLst/>
                <a:cs typeface="Times New Roman" panose="02020603050405020304" pitchFamily="18" charset="0"/>
                <a:sym typeface="+mn-ea"/>
              </a:rPr>
              <a:t> </a:t>
            </a:r>
            <a:r>
              <a:rPr lang="en-US" altLang="zh-CN" sz="2200" kern="100" dirty="0">
                <a:effectLst/>
                <a:cs typeface="Times New Roman" panose="02020603050405020304" pitchFamily="18" charset="0"/>
                <a:sym typeface="+mn-ea"/>
              </a:rPr>
              <a:t>(</a:t>
            </a:r>
            <a:r>
              <a:rPr lang="en-US" altLang="zh-CN" sz="2200" kern="100" dirty="0">
                <a:effectLst/>
                <a:cs typeface="Times New Roman" panose="02020603050405020304" pitchFamily="18" charset="0"/>
              </a:rPr>
              <a:t>Institute of Electrical and Electronic Engineers)</a:t>
            </a:r>
            <a:r>
              <a:rPr lang="zh-CN" altLang="en-US" sz="2200" kern="100" dirty="0">
                <a:effectLst/>
                <a:cs typeface="Times New Roman" panose="02020603050405020304" pitchFamily="18" charset="0"/>
              </a:rPr>
              <a:t> 是世界上最大的专业技术团体</a:t>
            </a:r>
          </a:p>
          <a:p>
            <a:pPr marL="646430" indent="-285750">
              <a:lnSpc>
                <a:spcPct val="120000"/>
              </a:lnSpc>
              <a:spcAft>
                <a:spcPts val="0"/>
              </a:spcAft>
              <a:buFont typeface="Arial" panose="020B0604020202020204" pitchFamily="34" charset="0"/>
              <a:buChar char="•"/>
            </a:pPr>
            <a:r>
              <a:rPr lang="en-US" altLang="zh-CN" sz="2200" kern="100" dirty="0">
                <a:effectLst/>
                <a:cs typeface="Times New Roman" panose="02020603050405020304" pitchFamily="18" charset="0"/>
              </a:rPr>
              <a:t>IEEE</a:t>
            </a:r>
            <a:r>
              <a:rPr lang="zh-CN" altLang="en-US" sz="2200" kern="100" dirty="0">
                <a:effectLst/>
                <a:cs typeface="Times New Roman" panose="02020603050405020304" pitchFamily="18" charset="0"/>
              </a:rPr>
              <a:t>在通信领域最著名的研究成果之一是</a:t>
            </a:r>
            <a:r>
              <a:rPr lang="en-US" altLang="zh-CN" sz="2200" kern="100" dirty="0">
                <a:effectLst/>
                <a:cs typeface="Times New Roman" panose="02020603050405020304" pitchFamily="18" charset="0"/>
              </a:rPr>
              <a:t>802</a:t>
            </a:r>
            <a:r>
              <a:rPr lang="zh-CN" altLang="en-US" sz="2200" kern="100" dirty="0">
                <a:effectLst/>
                <a:cs typeface="Times New Roman" panose="02020603050405020304" pitchFamily="18" charset="0"/>
              </a:rPr>
              <a:t>局域网标准，如</a:t>
            </a:r>
            <a:r>
              <a:rPr lang="en-US" altLang="zh-CN" sz="2200" kern="100" dirty="0">
                <a:effectLst/>
                <a:cs typeface="Times New Roman" panose="02020603050405020304" pitchFamily="18" charset="0"/>
              </a:rPr>
              <a:t>IEEE 802.3</a:t>
            </a:r>
            <a:r>
              <a:rPr lang="zh-CN" altLang="en-US" sz="2200" dirty="0">
                <a:sym typeface="+mn-ea"/>
              </a:rPr>
              <a:t>、</a:t>
            </a:r>
            <a:r>
              <a:rPr lang="en-US" altLang="zh-CN" sz="2200" kern="100" dirty="0">
                <a:effectLst/>
                <a:cs typeface="Times New Roman" panose="02020603050405020304" pitchFamily="18" charset="0"/>
              </a:rPr>
              <a:t>IEEE802.11</a:t>
            </a:r>
          </a:p>
          <a:p>
            <a:pPr>
              <a:lnSpc>
                <a:spcPct val="120000"/>
              </a:lnSpc>
              <a:spcAft>
                <a:spcPts val="0"/>
              </a:spcAft>
              <a:buClrTx/>
              <a:buSzTx/>
              <a:buFont typeface="Wingdings" panose="05000000000000000000" charset="0"/>
              <a:buChar char="Ø"/>
            </a:pPr>
            <a:r>
              <a:rPr lang="zh-CN" altLang="en-US" sz="2400" dirty="0">
                <a:solidFill>
                  <a:schemeClr val="tx1"/>
                </a:solidFill>
                <a:effectLst/>
                <a:cs typeface="Times New Roman" panose="02020603050405020304" pitchFamily="18" charset="0"/>
              </a:rPr>
              <a:t>WIFI联盟</a:t>
            </a:r>
          </a:p>
          <a:p>
            <a:pPr marL="646430" indent="-285750">
              <a:lnSpc>
                <a:spcPct val="120000"/>
              </a:lnSpc>
              <a:spcAft>
                <a:spcPts val="0"/>
              </a:spcAft>
              <a:buFont typeface="Arial" panose="020B0604020202020204" pitchFamily="34" charset="0"/>
              <a:buChar char="•"/>
            </a:pPr>
            <a:r>
              <a:rPr lang="en-US" altLang="zh-CN" sz="2200" kern="100" dirty="0" err="1">
                <a:cs typeface="Times New Roman" panose="02020603050405020304" pitchFamily="18" charset="0"/>
              </a:rPr>
              <a:t>WiFi</a:t>
            </a:r>
            <a:r>
              <a:rPr lang="zh-CN" altLang="en-US" sz="2200" kern="100" dirty="0">
                <a:cs typeface="Times New Roman" panose="02020603050405020304" pitchFamily="18" charset="0"/>
              </a:rPr>
              <a:t>联盟 </a:t>
            </a:r>
            <a:r>
              <a:rPr lang="en-US" altLang="zh-CN" sz="2200" kern="100" dirty="0">
                <a:cs typeface="Times New Roman" panose="02020603050405020304" pitchFamily="18" charset="0"/>
              </a:rPr>
              <a:t>(</a:t>
            </a:r>
            <a:r>
              <a:rPr lang="en-US" altLang="zh-CN" sz="2200" kern="100" dirty="0" err="1">
                <a:cs typeface="Times New Roman" panose="02020603050405020304" pitchFamily="18" charset="0"/>
              </a:rPr>
              <a:t>WiFi</a:t>
            </a:r>
            <a:r>
              <a:rPr lang="en-US" altLang="zh-CN" sz="2200" kern="100" dirty="0">
                <a:cs typeface="Times New Roman" panose="02020603050405020304" pitchFamily="18" charset="0"/>
              </a:rPr>
              <a:t> Alliance</a:t>
            </a:r>
            <a:r>
              <a:rPr lang="zh-CN" altLang="en-US" sz="2200" kern="100" dirty="0">
                <a:cs typeface="Times New Roman" panose="02020603050405020304" pitchFamily="18" charset="0"/>
              </a:rPr>
              <a:t>，简称</a:t>
            </a:r>
            <a:r>
              <a:rPr lang="en-US" altLang="zh-CN" sz="2200" kern="100" dirty="0">
                <a:cs typeface="Times New Roman" panose="02020603050405020304" pitchFamily="18" charset="0"/>
              </a:rPr>
              <a:t>WFA)</a:t>
            </a:r>
            <a:r>
              <a:rPr lang="zh-CN" altLang="en-US" sz="2200" kern="100" dirty="0">
                <a:cs typeface="Times New Roman" panose="02020603050405020304" pitchFamily="18" charset="0"/>
              </a:rPr>
              <a:t>，是一个商业联盟，拥有 </a:t>
            </a:r>
            <a:r>
              <a:rPr lang="en-US" altLang="zh-CN" sz="2200" kern="100" dirty="0" err="1">
                <a:cs typeface="Times New Roman" panose="02020603050405020304" pitchFamily="18" charset="0"/>
              </a:rPr>
              <a:t>WiFi</a:t>
            </a:r>
            <a:r>
              <a:rPr lang="zh-CN" altLang="en-US" sz="2200" kern="100" dirty="0">
                <a:cs typeface="Times New Roman" panose="02020603050405020304" pitchFamily="18" charset="0"/>
              </a:rPr>
              <a:t>的商标</a:t>
            </a:r>
          </a:p>
          <a:p>
            <a:pPr marL="646430" indent="-285750">
              <a:lnSpc>
                <a:spcPct val="120000"/>
              </a:lnSpc>
              <a:spcAft>
                <a:spcPts val="0"/>
              </a:spcAft>
              <a:buFont typeface="Arial" panose="020B0604020202020204" pitchFamily="34" charset="0"/>
              <a:buChar char="•"/>
            </a:pPr>
            <a:r>
              <a:rPr lang="zh-CN" altLang="en-US" sz="2200" kern="100" dirty="0">
                <a:cs typeface="Times New Roman" panose="02020603050405020304" pitchFamily="18" charset="0"/>
              </a:rPr>
              <a:t>成立于</a:t>
            </a:r>
            <a:r>
              <a:rPr lang="en-US" altLang="zh-CN" sz="2200" kern="100" dirty="0">
                <a:cs typeface="Times New Roman" panose="02020603050405020304" pitchFamily="18" charset="0"/>
              </a:rPr>
              <a:t>1999</a:t>
            </a:r>
            <a:r>
              <a:rPr lang="zh-CN" altLang="en-US" sz="2200" kern="100" dirty="0">
                <a:cs typeface="Times New Roman" panose="02020603050405020304" pitchFamily="18" charset="0"/>
              </a:rPr>
              <a:t>年，主要推行</a:t>
            </a:r>
            <a:r>
              <a:rPr lang="en-US" altLang="zh-CN" sz="2200" kern="100" dirty="0" err="1">
                <a:cs typeface="Times New Roman" panose="02020603050405020304" pitchFamily="18" charset="0"/>
              </a:rPr>
              <a:t>WiFi</a:t>
            </a:r>
            <a:r>
              <a:rPr lang="zh-CN" altLang="en-US" sz="2200" kern="100" dirty="0">
                <a:cs typeface="Times New Roman" panose="02020603050405020304" pitchFamily="18" charset="0"/>
              </a:rPr>
              <a:t>产品的</a:t>
            </a:r>
            <a:r>
              <a:rPr lang="zh-CN" altLang="en-US" sz="2200" kern="100" dirty="0">
                <a:solidFill>
                  <a:srgbClr val="C00000"/>
                </a:solidFill>
                <a:cs typeface="Times New Roman" panose="02020603050405020304" pitchFamily="18" charset="0"/>
              </a:rPr>
              <a:t>兼容认证</a:t>
            </a:r>
            <a:r>
              <a:rPr lang="zh-CN" altLang="en-US" sz="2200" kern="100" dirty="0">
                <a:cs typeface="Times New Roman" panose="02020603050405020304" pitchFamily="18" charset="0"/>
              </a:rPr>
              <a:t>，发展</a:t>
            </a:r>
            <a:r>
              <a:rPr lang="en-US" altLang="zh-CN" sz="2200" kern="100" dirty="0">
                <a:cs typeface="Times New Roman" panose="02020603050405020304" pitchFamily="18" charset="0"/>
              </a:rPr>
              <a:t>IEEE802.11</a:t>
            </a:r>
            <a:r>
              <a:rPr lang="zh-CN" altLang="en-US" sz="2200" kern="100" dirty="0">
                <a:cs typeface="Times New Roman" panose="02020603050405020304" pitchFamily="18" charset="0"/>
              </a:rPr>
              <a:t>标准的无线局域网技术</a:t>
            </a:r>
            <a:endParaRPr lang="en-US" altLang="zh-CN" sz="2200" b="1" kern="100" dirty="0">
              <a:cs typeface="Times New Roman" panose="02020603050405020304" pitchFamily="18" charset="0"/>
            </a:endParaRPr>
          </a:p>
          <a:p>
            <a:pPr marL="400050" indent="-347663">
              <a:lnSpc>
                <a:spcPct val="120000"/>
              </a:lnSpc>
              <a:tabLst>
                <a:tab pos="747713" algn="l"/>
              </a:tabLst>
            </a:pPr>
            <a:r>
              <a:rPr lang="zh-CN" altLang="en-US" sz="2400" dirty="0">
                <a:cs typeface="Times New Roman" panose="02020603050405020304" pitchFamily="18" charset="0"/>
              </a:rPr>
              <a:t>万维网联盟（W</a:t>
            </a:r>
            <a:r>
              <a:rPr lang="en-US" altLang="zh-CN" sz="2400" dirty="0">
                <a:cs typeface="Times New Roman" panose="02020603050405020304" pitchFamily="18" charset="0"/>
              </a:rPr>
              <a:t>3C</a:t>
            </a:r>
            <a:r>
              <a:rPr lang="zh-CN" altLang="en-US" sz="2400" dirty="0">
                <a:cs typeface="Times New Roman" panose="02020603050405020304" pitchFamily="18" charset="0"/>
              </a:rPr>
              <a:t>）</a:t>
            </a:r>
            <a:endParaRPr lang="en-US" altLang="zh-CN" sz="2400" dirty="0">
              <a:cs typeface="Times New Roman" panose="02020603050405020304" pitchFamily="18" charset="0"/>
            </a:endParaRPr>
          </a:p>
          <a:p>
            <a:pPr marL="627063" indent="-266700">
              <a:lnSpc>
                <a:spcPct val="120000"/>
              </a:lnSpc>
              <a:buFont typeface="Arial" panose="020B0604020202020204" pitchFamily="34" charset="0"/>
              <a:buChar char="•"/>
            </a:pPr>
            <a:r>
              <a:rPr lang="zh-CN" altLang="en-US" sz="2200" kern="100" dirty="0">
                <a:cs typeface="Times New Roman" panose="02020603050405020304" pitchFamily="18" charset="0"/>
              </a:rPr>
              <a:t>万维网联盟（</a:t>
            </a:r>
            <a:r>
              <a:rPr lang="en-US" altLang="zh-CN" sz="2200" kern="100" dirty="0">
                <a:cs typeface="Times New Roman" panose="02020603050405020304" pitchFamily="18" charset="0"/>
              </a:rPr>
              <a:t>World</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Wide</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Web</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Consortium</a:t>
            </a:r>
            <a:r>
              <a:rPr lang="zh-CN" altLang="en-US" sz="2200" kern="100" dirty="0">
                <a:cs typeface="Times New Roman" panose="02020603050405020304" pitchFamily="18" charset="0"/>
              </a:rPr>
              <a:t>，简称</a:t>
            </a:r>
            <a:r>
              <a:rPr lang="en-US" altLang="zh-CN" sz="2200" kern="100" dirty="0">
                <a:cs typeface="Times New Roman" panose="02020603050405020304" pitchFamily="18" charset="0"/>
              </a:rPr>
              <a:t>W3C</a:t>
            </a:r>
            <a:r>
              <a:rPr lang="zh-CN" altLang="en-US" sz="2200" kern="100" dirty="0">
                <a:cs typeface="Times New Roman" panose="02020603050405020304" pitchFamily="18" charset="0"/>
              </a:rPr>
              <a:t>）是制定网络标准的非营利性组织</a:t>
            </a:r>
            <a:endParaRPr lang="en-US" altLang="zh-CN" sz="2200" kern="100" dirty="0">
              <a:cs typeface="Times New Roman" panose="02020603050405020304" pitchFamily="18" charset="0"/>
            </a:endParaRPr>
          </a:p>
          <a:p>
            <a:pPr marL="627063" indent="-266700">
              <a:lnSpc>
                <a:spcPct val="120000"/>
              </a:lnSpc>
              <a:buFont typeface="Arial" panose="020B0604020202020204" pitchFamily="34" charset="0"/>
              <a:buChar char="•"/>
            </a:pPr>
            <a:r>
              <a:rPr lang="zh-CN" altLang="en-US" sz="2200" kern="100" dirty="0">
                <a:cs typeface="Times New Roman" panose="02020603050405020304" pitchFamily="18" charset="0"/>
              </a:rPr>
              <a:t>主要包含三部分的标准：结构，表现，行为。例如</a:t>
            </a:r>
            <a:r>
              <a:rPr lang="en-US" altLang="zh-CN" sz="2200" kern="100" dirty="0">
                <a:cs typeface="Times New Roman" panose="02020603050405020304" pitchFamily="18" charset="0"/>
              </a:rPr>
              <a:t>XML</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XHTML</a:t>
            </a:r>
            <a:r>
              <a:rPr lang="zh-CN" altLang="en-US" sz="2200" kern="100" dirty="0">
                <a:cs typeface="Times New Roman" panose="02020603050405020304" pitchFamily="18" charset="0"/>
              </a:rPr>
              <a:t>，</a:t>
            </a:r>
            <a:r>
              <a:rPr lang="en-US" altLang="zh-CN" sz="2200" kern="100" dirty="0">
                <a:cs typeface="Times New Roman" panose="02020603050405020304" pitchFamily="18" charset="0"/>
              </a:rPr>
              <a:t>CSS</a:t>
            </a:r>
            <a:r>
              <a:rPr lang="zh-CN" altLang="en-US" sz="2200" kern="100" dirty="0">
                <a:cs typeface="Times New Roman" panose="02020603050405020304" pitchFamily="18" charset="0"/>
              </a:rPr>
              <a:t>，</a:t>
            </a:r>
            <a:r>
              <a:rPr lang="en-US" altLang="zh-CN" sz="2200" kern="100" dirty="0">
                <a:cs typeface="Times New Roman" panose="02020603050405020304" pitchFamily="18" charset="0"/>
              </a:rPr>
              <a:t>Dom,</a:t>
            </a:r>
            <a:r>
              <a:rPr lang="zh-CN" altLang="en-US" sz="2200" kern="100" dirty="0">
                <a:cs typeface="Times New Roman" panose="02020603050405020304" pitchFamily="18" charset="0"/>
              </a:rPr>
              <a:t> </a:t>
            </a:r>
            <a:r>
              <a:rPr lang="en-US" altLang="zh-CN" sz="2200" kern="100" dirty="0">
                <a:cs typeface="Times New Roman" panose="02020603050405020304" pitchFamily="18" charset="0"/>
              </a:rPr>
              <a:t>ECMAScript</a:t>
            </a:r>
            <a:endParaRPr lang="zh-CN" altLang="en-US" sz="2200" kern="100" dirty="0">
              <a:cs typeface="Times New Roman" panose="02020603050405020304" pitchFamily="18" charset="0"/>
            </a:endParaRPr>
          </a:p>
          <a:p>
            <a:pPr marL="646430" indent="-285750">
              <a:lnSpc>
                <a:spcPct val="130000"/>
              </a:lnSpc>
              <a:spcAft>
                <a:spcPts val="0"/>
              </a:spcAft>
              <a:buFont typeface="Arial" panose="020B0604020202020204" pitchFamily="34" charset="0"/>
              <a:buChar char="•"/>
            </a:pPr>
            <a:endParaRPr lang="en-US" altLang="zh-CN" sz="1900" kern="100" dirty="0">
              <a:cs typeface="Times New Roman" panose="02020603050405020304" pitchFamily="18" charset="0"/>
            </a:endParaRPr>
          </a:p>
        </p:txBody>
      </p:sp>
      <p:sp>
        <p:nvSpPr>
          <p:cNvPr id="6" name="灯片编号占位符 5">
            <a:extLst>
              <a:ext uri="{FF2B5EF4-FFF2-40B4-BE49-F238E27FC236}">
                <a16:creationId xmlns:a16="http://schemas.microsoft.com/office/drawing/2014/main" id="{72D2F2DE-617A-EF40-8A52-FB1E27280B77}"/>
              </a:ext>
            </a:extLst>
          </p:cNvPr>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grpSp>
        <p:nvGrpSpPr>
          <p:cNvPr id="4" name="组合 3">
            <a:extLst>
              <a:ext uri="{FF2B5EF4-FFF2-40B4-BE49-F238E27FC236}">
                <a16:creationId xmlns:a16="http://schemas.microsoft.com/office/drawing/2014/main" id="{B4E38A18-8122-FD45-A7A0-83363010BCC1}"/>
              </a:ext>
            </a:extLst>
          </p:cNvPr>
          <p:cNvGrpSpPr/>
          <p:nvPr/>
        </p:nvGrpSpPr>
        <p:grpSpPr>
          <a:xfrm>
            <a:off x="8848166" y="1430006"/>
            <a:ext cx="2940424" cy="2605078"/>
            <a:chOff x="7575117" y="1300071"/>
            <a:chExt cx="2382745" cy="2659866"/>
          </a:xfrm>
        </p:grpSpPr>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575117" y="2879412"/>
              <a:ext cx="2382745" cy="1080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7575117" y="1300071"/>
              <a:ext cx="2154776" cy="1101575"/>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文本框 7">
            <a:extLst>
              <a:ext uri="{FF2B5EF4-FFF2-40B4-BE49-F238E27FC236}">
                <a16:creationId xmlns:a16="http://schemas.microsoft.com/office/drawing/2014/main" id="{A4B9BB5D-FBD8-9C47-936D-3348208601A3}"/>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pic>
        <p:nvPicPr>
          <p:cNvPr id="7" name="图片 6">
            <a:extLst>
              <a:ext uri="{FF2B5EF4-FFF2-40B4-BE49-F238E27FC236}">
                <a16:creationId xmlns:a16="http://schemas.microsoft.com/office/drawing/2014/main" id="{EFDB2866-E6EC-5947-9914-28414039A839}"/>
              </a:ext>
            </a:extLst>
          </p:cNvPr>
          <p:cNvPicPr>
            <a:picLocks noChangeAspect="1"/>
          </p:cNvPicPr>
          <p:nvPr/>
        </p:nvPicPr>
        <p:blipFill>
          <a:blip r:embed="rId5"/>
          <a:stretch>
            <a:fillRect/>
          </a:stretch>
        </p:blipFill>
        <p:spPr>
          <a:xfrm>
            <a:off x="9528320" y="5163605"/>
            <a:ext cx="1717877" cy="966868"/>
          </a:xfrm>
          <a:prstGeom prst="rect">
            <a:avLst/>
          </a:prstGeom>
        </p:spPr>
      </p:pic>
    </p:spTree>
    <p:extLst>
      <p:ext uri="{BB962C8B-B14F-4D97-AF65-F5344CB8AC3E}">
        <p14:creationId xmlns:p14="http://schemas.microsoft.com/office/powerpoint/2010/main" val="18708473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err="1">
                <a:cs typeface="Times New Roman" panose="02020603050405020304" pitchFamily="18" charset="0"/>
                <a:sym typeface="+mn-ea"/>
              </a:rPr>
              <a:t>Internet标准化组织</a:t>
            </a:r>
            <a:endParaRPr kumimoji="1" lang="zh-CN" altLang="en-US" dirty="0"/>
          </a:p>
        </p:txBody>
      </p:sp>
      <p:sp>
        <p:nvSpPr>
          <p:cNvPr id="3" name="内容占位符 2"/>
          <p:cNvSpPr>
            <a:spLocks noGrp="1"/>
          </p:cNvSpPr>
          <p:nvPr>
            <p:ph idx="1"/>
          </p:nvPr>
        </p:nvSpPr>
        <p:spPr>
          <a:xfrm>
            <a:off x="838200" y="1259455"/>
            <a:ext cx="10515600" cy="5176270"/>
          </a:xfrm>
        </p:spPr>
        <p:txBody>
          <a:bodyPr>
            <a:noAutofit/>
          </a:bodyPr>
          <a:lstStyle/>
          <a:p>
            <a:pPr>
              <a:lnSpc>
                <a:spcPct val="130000"/>
              </a:lnSpc>
              <a:spcBef>
                <a:spcPts val="0"/>
              </a:spcBef>
              <a:buFont typeface="Wingdings" panose="05000000000000000000" charset="0"/>
              <a:buChar char="Ø"/>
            </a:pPr>
            <a:r>
              <a:rPr lang="en-US" altLang="zh-CN" sz="2600" b="1" dirty="0">
                <a:solidFill>
                  <a:srgbClr val="C00000"/>
                </a:solidFill>
                <a:cs typeface="Times New Roman" panose="02020603050405020304" pitchFamily="18" charset="0"/>
              </a:rPr>
              <a:t>IETF:</a:t>
            </a:r>
            <a:r>
              <a:rPr lang="zh-CN" altLang="en-US" sz="2600" b="1" dirty="0">
                <a:solidFill>
                  <a:srgbClr val="C00000"/>
                </a:solidFill>
                <a:cs typeface="Times New Roman" panose="02020603050405020304" pitchFamily="18" charset="0"/>
              </a:rPr>
              <a:t> </a:t>
            </a:r>
            <a:r>
              <a:rPr lang="zh-CN" altLang="en-US" sz="2600" dirty="0">
                <a:effectLst/>
                <a:cs typeface="Times New Roman" panose="02020603050405020304" pitchFamily="18" charset="0"/>
              </a:rPr>
              <a:t>互联网工程任务组</a:t>
            </a:r>
            <a:endParaRPr lang="zh-CN" altLang="en-US" sz="2600" b="1" dirty="0">
              <a:solidFill>
                <a:srgbClr val="C00000"/>
              </a:solidFill>
              <a:effectLst/>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 </a:t>
            </a:r>
            <a:r>
              <a:rPr lang="en-US" altLang="zh-CN" sz="2200" dirty="0">
                <a:cs typeface="Times New Roman" panose="02020603050405020304" pitchFamily="18" charset="0"/>
              </a:rPr>
              <a:t>(Internet Engineering Task Force)</a:t>
            </a:r>
            <a:r>
              <a:rPr lang="zh-CN" altLang="en-US" sz="2200" dirty="0">
                <a:cs typeface="Times New Roman" panose="02020603050405020304" pitchFamily="18" charset="0"/>
              </a:rPr>
              <a:t> </a:t>
            </a:r>
            <a:r>
              <a:rPr lang="en-US" altLang="zh-CN" sz="2200" dirty="0" err="1">
                <a:cs typeface="Times New Roman" panose="02020603050405020304" pitchFamily="18" charset="0"/>
              </a:rPr>
              <a:t>是国际民间机构</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是制定互联网标准的</a:t>
            </a:r>
            <a:r>
              <a:rPr lang="zh-CN" altLang="en-US" sz="2200" dirty="0">
                <a:solidFill>
                  <a:srgbClr val="C00000"/>
                </a:solidFill>
                <a:cs typeface="Times New Roman" panose="02020603050405020304" pitchFamily="18" charset="0"/>
              </a:rPr>
              <a:t>核心组织</a:t>
            </a:r>
            <a:r>
              <a:rPr lang="zh-CN" altLang="en-US" sz="2200" dirty="0">
                <a:cs typeface="Times New Roman" panose="02020603050405020304" pitchFamily="18" charset="0"/>
              </a:rPr>
              <a:t>，如</a:t>
            </a:r>
            <a:r>
              <a:rPr lang="en-US" altLang="zh-CN" sz="2200" dirty="0">
                <a:cs typeface="Times New Roman" panose="02020603050405020304" pitchFamily="18" charset="0"/>
              </a:rPr>
              <a:t>TCP</a:t>
            </a:r>
            <a:r>
              <a:rPr lang="zh-CN" altLang="en-US" sz="2200" dirty="0">
                <a:cs typeface="Times New Roman" panose="02020603050405020304" pitchFamily="18" charset="0"/>
              </a:rPr>
              <a:t>、</a:t>
            </a:r>
            <a:r>
              <a:rPr lang="en-US" altLang="zh-CN" sz="2200" dirty="0">
                <a:cs typeface="Times New Roman" panose="02020603050405020304" pitchFamily="18" charset="0"/>
              </a:rPr>
              <a:t>IP</a:t>
            </a:r>
            <a:r>
              <a:rPr lang="zh-CN" altLang="en-US" sz="2200" dirty="0">
                <a:cs typeface="Times New Roman" panose="02020603050405020304" pitchFamily="18" charset="0"/>
              </a:rPr>
              <a:t>、</a:t>
            </a:r>
            <a:r>
              <a:rPr lang="en-US" altLang="zh-CN" sz="2200" dirty="0">
                <a:cs typeface="Times New Roman" panose="02020603050405020304" pitchFamily="18" charset="0"/>
              </a:rPr>
              <a:t>HTTP</a:t>
            </a:r>
            <a:r>
              <a:rPr lang="zh-CN" altLang="en-US" sz="2200" dirty="0">
                <a:cs typeface="Times New Roman" panose="02020603050405020304" pitchFamily="18" charset="0"/>
              </a:rPr>
              <a:t>等</a:t>
            </a:r>
            <a:br>
              <a:rPr lang="en-US" altLang="zh-CN" sz="2200" dirty="0">
                <a:cs typeface="Times New Roman" panose="02020603050405020304" pitchFamily="18" charset="0"/>
              </a:rPr>
            </a:br>
            <a:r>
              <a:rPr lang="zh-CN" altLang="en-US" sz="2200" dirty="0">
                <a:cs typeface="Times New Roman" panose="02020603050405020304" pitchFamily="18" charset="0"/>
              </a:rPr>
              <a:t>均由</a:t>
            </a:r>
            <a:r>
              <a:rPr lang="en-US" altLang="zh-CN" sz="2200" dirty="0">
                <a:cs typeface="Times New Roman" panose="02020603050405020304" pitchFamily="18" charset="0"/>
              </a:rPr>
              <a:t>IETF</a:t>
            </a:r>
            <a:r>
              <a:rPr lang="zh-CN" altLang="en-US" sz="2200" dirty="0">
                <a:cs typeface="Times New Roman" panose="02020603050405020304" pitchFamily="18" charset="0"/>
              </a:rPr>
              <a:t>制定</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分为互联网、路由、传输、安全、应用、运行管理等领域（</a:t>
            </a:r>
            <a:r>
              <a:rPr lang="en-US" altLang="zh-CN" sz="2200" dirty="0">
                <a:cs typeface="Times New Roman" panose="02020603050405020304" pitchFamily="18" charset="0"/>
              </a:rPr>
              <a:t>Area</a:t>
            </a:r>
            <a:r>
              <a:rPr lang="zh-CN" altLang="en-US" sz="2200" dirty="0">
                <a:cs typeface="Times New Roman" panose="02020603050405020304" pitchFamily="18" charset="0"/>
              </a:rPr>
              <a:t>），具体</a:t>
            </a:r>
            <a:r>
              <a:rPr lang="en-US" altLang="zh-CN" sz="2200" dirty="0" err="1">
                <a:cs typeface="Times New Roman" panose="02020603050405020304" pitchFamily="18" charset="0"/>
              </a:rPr>
              <a:t>由其</a:t>
            </a:r>
            <a:r>
              <a:rPr lang="zh-CN" altLang="en-US" sz="2200" dirty="0">
                <a:cs typeface="Times New Roman" panose="02020603050405020304" pitchFamily="18" charset="0"/>
              </a:rPr>
              <a:t>超过</a:t>
            </a:r>
            <a:r>
              <a:rPr lang="en-US" altLang="zh-CN" sz="2200" dirty="0">
                <a:cs typeface="Times New Roman" panose="02020603050405020304" pitchFamily="18" charset="0"/>
              </a:rPr>
              <a:t>100</a:t>
            </a:r>
            <a:r>
              <a:rPr lang="zh-CN" altLang="en-US" sz="2200" dirty="0">
                <a:cs typeface="Times New Roman" panose="02020603050405020304" pitchFamily="18" charset="0"/>
              </a:rPr>
              <a:t>个工作组</a:t>
            </a:r>
            <a:r>
              <a:rPr lang="en-US" altLang="zh-CN" sz="2200" dirty="0" err="1">
                <a:cs typeface="Times New Roman" panose="02020603050405020304" pitchFamily="18" charset="0"/>
              </a:rPr>
              <a:t>WG（WorkingGroup）承担</a:t>
            </a:r>
            <a:endParaRPr lang="en-US" altLang="zh-CN" sz="22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endParaRPr lang="en-US" altLang="zh-CN" sz="2400" dirty="0">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endParaRPr lang="en-US" altLang="zh-CN" sz="2400" dirty="0">
              <a:cs typeface="Times New Roman" panose="02020603050405020304" pitchFamily="18" charset="0"/>
            </a:endParaRPr>
          </a:p>
          <a:p>
            <a:pPr>
              <a:lnSpc>
                <a:spcPct val="130000"/>
              </a:lnSpc>
              <a:spcBef>
                <a:spcPts val="0"/>
              </a:spcBef>
              <a:buFont typeface="Wingdings" panose="05000000000000000000" charset="0"/>
              <a:buChar char="Ø"/>
            </a:pPr>
            <a:r>
              <a:rPr lang="en-US" altLang="zh-CN" sz="2600" b="1" dirty="0">
                <a:solidFill>
                  <a:srgbClr val="C00000"/>
                </a:solidFill>
                <a:cs typeface="Times New Roman" panose="02020603050405020304" pitchFamily="18" charset="0"/>
              </a:rPr>
              <a:t>IRTF:</a:t>
            </a:r>
            <a:r>
              <a:rPr lang="zh-CN" altLang="en-US" sz="2600" b="1" dirty="0">
                <a:solidFill>
                  <a:srgbClr val="C00000"/>
                </a:solidFill>
                <a:cs typeface="Times New Roman" panose="02020603050405020304" pitchFamily="18" charset="0"/>
              </a:rPr>
              <a:t> </a:t>
            </a:r>
            <a:r>
              <a:rPr lang="zh-CN" altLang="en-US" sz="2600" dirty="0">
                <a:cs typeface="Times New Roman" panose="02020603050405020304" pitchFamily="18" charset="0"/>
              </a:rPr>
              <a:t>Internet研究任务组</a:t>
            </a:r>
            <a:endParaRPr lang="zh-CN" altLang="en-US" sz="2600" b="1" dirty="0">
              <a:solidFill>
                <a:srgbClr val="C00000"/>
              </a:solidFill>
              <a:cs typeface="Times New Roman" panose="02020603050405020304" pitchFamily="18" charset="0"/>
            </a:endParaRPr>
          </a:p>
          <a:p>
            <a:pPr marL="585470" indent="-305435">
              <a:lnSpc>
                <a:spcPct val="120000"/>
              </a:lnSpc>
              <a:spcBef>
                <a:spcPts val="0"/>
              </a:spcBef>
              <a:buFont typeface="Arial" panose="020B0604020202020204" pitchFamily="34" charset="0"/>
              <a:buChar char="•"/>
            </a:pPr>
            <a:r>
              <a:rPr lang="en-US" altLang="zh-CN" sz="2200" dirty="0">
                <a:cs typeface="Times New Roman" panose="02020603050405020304" pitchFamily="18" charset="0"/>
              </a:rPr>
              <a:t>IRTF</a:t>
            </a:r>
            <a:r>
              <a:rPr lang="zh-CN" altLang="en-US" sz="2200" dirty="0">
                <a:cs typeface="Times New Roman" panose="02020603050405020304" pitchFamily="18" charset="0"/>
              </a:rPr>
              <a:t> </a:t>
            </a:r>
            <a:r>
              <a:rPr lang="en-US" altLang="zh-CN" sz="2200" dirty="0">
                <a:cs typeface="Times New Roman" panose="02020603050405020304" pitchFamily="18" charset="0"/>
              </a:rPr>
              <a:t>(Internet Research Task Force)</a:t>
            </a:r>
            <a:r>
              <a:rPr lang="zh-CN" altLang="en-US" sz="2200" dirty="0">
                <a:cs typeface="Times New Roman" panose="02020603050405020304" pitchFamily="18" charset="0"/>
              </a:rPr>
              <a:t> 下设多个专门任务组，针对特定协议、应用、体系结构等进行研究</a:t>
            </a:r>
            <a:endParaRPr lang="en-US" altLang="zh-CN" sz="2200" dirty="0">
              <a:cs typeface="Times New Roman" panose="02020603050405020304" pitchFamily="18" charset="0"/>
            </a:endParaRPr>
          </a:p>
          <a:p>
            <a:pPr marL="585470" indent="-305435">
              <a:lnSpc>
                <a:spcPct val="120000"/>
              </a:lnSpc>
              <a:spcBef>
                <a:spcPts val="0"/>
              </a:spcBef>
              <a:buFont typeface="Arial" panose="020B0604020202020204" pitchFamily="34" charset="0"/>
              <a:buChar char="•"/>
            </a:pPr>
            <a:r>
              <a:rPr lang="en-US" altLang="zh-CN" sz="2200" dirty="0">
                <a:cs typeface="Times New Roman" panose="02020603050405020304" pitchFamily="18" charset="0"/>
              </a:rPr>
              <a:t>IRTF</a:t>
            </a:r>
            <a:r>
              <a:rPr lang="zh-CN" altLang="en-US" sz="2200" dirty="0">
                <a:cs typeface="Times New Roman" panose="02020603050405020304" pitchFamily="18" charset="0"/>
              </a:rPr>
              <a:t> 一般只出研究报告，但不制定协议标准</a:t>
            </a:r>
            <a:endParaRPr lang="en-US" altLang="zh-CN" sz="2200" dirty="0">
              <a:cs typeface="Times New Roman" panose="02020603050405020304" pitchFamily="18" charset="0"/>
            </a:endParaRPr>
          </a:p>
        </p:txBody>
      </p:sp>
      <p:sp>
        <p:nvSpPr>
          <p:cNvPr id="5" name="灯片编号占位符 4">
            <a:extLst>
              <a:ext uri="{FF2B5EF4-FFF2-40B4-BE49-F238E27FC236}">
                <a16:creationId xmlns:a16="http://schemas.microsoft.com/office/drawing/2014/main" id="{1F885007-792A-3C47-85AB-BCFD7DCCB79C}"/>
              </a:ext>
            </a:extLst>
          </p:cNvPr>
          <p:cNvSpPr>
            <a:spLocks noGrp="1"/>
          </p:cNvSpPr>
          <p:nvPr>
            <p:ph type="sldNum" sz="quarter" idx="12"/>
          </p:nvPr>
        </p:nvSpPr>
        <p:spPr/>
        <p:txBody>
          <a:bodyPr/>
          <a:lstStyle/>
          <a:p>
            <a:fld id="{8D4D1E41-7A09-AB4A-A4E1-09765ADA2698}" type="slidenum">
              <a:rPr kumimoji="1" lang="zh-CN" altLang="en-US" smtClean="0"/>
              <a:t>97</a:t>
            </a:fld>
            <a:endParaRPr kumimoji="1" lang="zh-CN" altLang="en-US" dirty="0"/>
          </a:p>
        </p:txBody>
      </p:sp>
      <p:sp>
        <p:nvSpPr>
          <p:cNvPr id="6" name="文本框 5">
            <a:extLst>
              <a:ext uri="{FF2B5EF4-FFF2-40B4-BE49-F238E27FC236}">
                <a16:creationId xmlns:a16="http://schemas.microsoft.com/office/drawing/2014/main" id="{7B116543-1F80-EF43-986B-9DAE36D8D150}"/>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pic>
        <p:nvPicPr>
          <p:cNvPr id="9218" name="Picture 2">
            <a:extLst>
              <a:ext uri="{FF2B5EF4-FFF2-40B4-BE49-F238E27FC236}">
                <a16:creationId xmlns:a16="http://schemas.microsoft.com/office/drawing/2014/main" id="{DB0A7B33-3B3B-0846-A1EB-517FA906EC5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825667" y="1533822"/>
            <a:ext cx="2749806" cy="139230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94F7BB32-6F6C-6047-BF4A-C20D050F1F01}"/>
              </a:ext>
            </a:extLst>
          </p:cNvPr>
          <p:cNvSpPr/>
          <p:nvPr/>
        </p:nvSpPr>
        <p:spPr>
          <a:xfrm>
            <a:off x="2911321" y="3889604"/>
            <a:ext cx="6142624" cy="784830"/>
          </a:xfrm>
          <a:prstGeom prst="rect">
            <a:avLst/>
          </a:prstGeom>
          <a:ln>
            <a:solidFill>
              <a:srgbClr val="C00000"/>
            </a:solidFill>
          </a:ln>
        </p:spPr>
        <p:txBody>
          <a:bodyPr wrap="square">
            <a:spAutoFit/>
          </a:bodyPr>
          <a:lstStyle/>
          <a:p>
            <a:pPr>
              <a:spcBef>
                <a:spcPts val="600"/>
              </a:spcBef>
            </a:pPr>
            <a:r>
              <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RFC 793 - Transmission Control Protocol</a:t>
            </a:r>
            <a:r>
              <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a:t>
            </a:r>
            <a:r>
              <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TCP</a:t>
            </a:r>
            <a:r>
              <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a:t>
            </a:r>
            <a:endPar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endParaRPr>
          </a:p>
          <a:p>
            <a:pPr>
              <a:spcBef>
                <a:spcPts val="600"/>
              </a:spcBef>
            </a:pPr>
            <a:r>
              <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RFC 791 - Internet Protocol </a:t>
            </a:r>
            <a:r>
              <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a:t>
            </a:r>
            <a:r>
              <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IP</a:t>
            </a:r>
            <a:r>
              <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a:t>
            </a:r>
            <a:endPar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58527687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err="1">
                <a:cs typeface="Times New Roman" panose="02020603050405020304" pitchFamily="18" charset="0"/>
                <a:sym typeface="+mn-ea"/>
              </a:rPr>
              <a:t>Internet标准化组织</a:t>
            </a:r>
            <a:endParaRPr kumimoji="1" lang="zh-CN" altLang="en-US" dirty="0"/>
          </a:p>
        </p:txBody>
      </p:sp>
      <p:sp>
        <p:nvSpPr>
          <p:cNvPr id="3" name="内容占位符 2"/>
          <p:cNvSpPr>
            <a:spLocks noGrp="1"/>
          </p:cNvSpPr>
          <p:nvPr>
            <p:ph idx="1"/>
          </p:nvPr>
        </p:nvSpPr>
        <p:spPr>
          <a:xfrm>
            <a:off x="838200" y="1347519"/>
            <a:ext cx="10515600" cy="3458976"/>
          </a:xfrm>
        </p:spPr>
        <p:txBody>
          <a:bodyPr>
            <a:noAutofit/>
          </a:bodyPr>
          <a:lstStyle/>
          <a:p>
            <a:pPr>
              <a:lnSpc>
                <a:spcPct val="130000"/>
              </a:lnSpc>
              <a:spcBef>
                <a:spcPts val="0"/>
              </a:spcBef>
              <a:buFont typeface="Wingdings" panose="05000000000000000000" charset="0"/>
              <a:buChar char="Ø"/>
            </a:pPr>
            <a:r>
              <a:rPr lang="zh-CN" altLang="en-US" sz="2600" dirty="0">
                <a:effectLst/>
                <a:cs typeface="Times New Roman" panose="02020603050405020304" pitchFamily="18" charset="0"/>
              </a:rPr>
              <a:t>如何</a:t>
            </a:r>
            <a:r>
              <a:rPr lang="zh-CN" altLang="en-US" sz="2600" dirty="0">
                <a:cs typeface="Times New Roman" panose="02020603050405020304" pitchFamily="18" charset="0"/>
              </a:rPr>
              <a:t>进入</a:t>
            </a:r>
            <a:r>
              <a:rPr lang="en-US" altLang="zh-CN" sz="2600" dirty="0">
                <a:cs typeface="Times New Roman" panose="02020603050405020304" pitchFamily="18" charset="0"/>
              </a:rPr>
              <a:t>/</a:t>
            </a:r>
            <a:r>
              <a:rPr lang="zh-CN" altLang="en-US" sz="2600" dirty="0">
                <a:cs typeface="Times New Roman" panose="02020603050405020304" pitchFamily="18" charset="0"/>
              </a:rPr>
              <a:t>参加</a:t>
            </a:r>
            <a:r>
              <a:rPr lang="zh-CN" altLang="en-US" sz="2600" dirty="0">
                <a:effectLst/>
                <a:cs typeface="Times New Roman" panose="02020603050405020304" pitchFamily="18" charset="0"/>
              </a:rPr>
              <a:t>“互联网的殿堂”</a:t>
            </a:r>
            <a:r>
              <a:rPr lang="en-US" altLang="zh-CN" sz="2600" dirty="0">
                <a:effectLst/>
                <a:cs typeface="Times New Roman" panose="02020603050405020304" pitchFamily="18" charset="0"/>
              </a:rPr>
              <a:t>——</a:t>
            </a:r>
            <a:r>
              <a:rPr lang="en-US" altLang="zh-CN" sz="2600" b="1" dirty="0">
                <a:solidFill>
                  <a:srgbClr val="C00000"/>
                </a:solidFill>
                <a:cs typeface="Times New Roman" panose="02020603050405020304" pitchFamily="18" charset="0"/>
              </a:rPr>
              <a:t>IETF</a:t>
            </a:r>
            <a:endParaRPr lang="en-US" altLang="zh-CN" sz="2600" dirty="0">
              <a:effectLst/>
              <a:cs typeface="Times New Roman" panose="02020603050405020304" pitchFamily="18" charset="0"/>
            </a:endParaRPr>
          </a:p>
          <a:p>
            <a:pPr marL="574675" indent="-306070">
              <a:lnSpc>
                <a:spcPct val="120000"/>
              </a:lnSpc>
              <a:spcBef>
                <a:spcPts val="0"/>
              </a:spcBef>
              <a:buFont typeface="Arial" panose="020B0604020202020204" pitchFamily="34" charset="0"/>
              <a:buChar char="•"/>
              <a:tabLst>
                <a:tab pos="537210" algn="l"/>
                <a:tab pos="626745" algn="l"/>
              </a:tabLst>
            </a:pPr>
            <a:r>
              <a:rPr lang="zh-CN" altLang="en-US" sz="2200" kern="0" dirty="0">
                <a:sym typeface="+mn-ea"/>
              </a:rPr>
              <a:t>Internet标准以</a:t>
            </a:r>
            <a:r>
              <a:rPr lang="zh-CN" altLang="en-US" sz="2200" b="1" kern="0" dirty="0">
                <a:solidFill>
                  <a:srgbClr val="7030A0"/>
                </a:solidFill>
                <a:sym typeface="+mn-ea"/>
              </a:rPr>
              <a:t>RFC</a:t>
            </a:r>
            <a:r>
              <a:rPr lang="zh-CN" altLang="en-US" sz="2200" kern="0" dirty="0">
                <a:solidFill>
                  <a:srgbClr val="7030A0"/>
                </a:solidFill>
                <a:sym typeface="+mn-ea"/>
              </a:rPr>
              <a:t>（Request For Comments，请求评注）</a:t>
            </a:r>
            <a:br>
              <a:rPr lang="en-US" altLang="zh-CN" sz="2200" kern="0" dirty="0">
                <a:solidFill>
                  <a:srgbClr val="7030A0"/>
                </a:solidFill>
                <a:sym typeface="+mn-ea"/>
              </a:rPr>
            </a:br>
            <a:r>
              <a:rPr lang="zh-CN" altLang="en-US" sz="2200" kern="0" dirty="0">
                <a:sym typeface="+mn-ea"/>
              </a:rPr>
              <a:t>文档的形式公开，任何人都可免费获得这些</a:t>
            </a:r>
            <a:r>
              <a:rPr lang="en-US" altLang="zh-CN" sz="2200" kern="0" dirty="0">
                <a:sym typeface="+mn-ea"/>
              </a:rPr>
              <a:t>RFC</a:t>
            </a:r>
            <a:r>
              <a:rPr lang="zh-CN" altLang="en-US" sz="2200" kern="0" dirty="0">
                <a:sym typeface="+mn-ea"/>
              </a:rPr>
              <a:t>文档，例如 </a:t>
            </a:r>
            <a:br>
              <a:rPr lang="en-US" altLang="zh-CN" sz="2200" kern="0" dirty="0">
                <a:sym typeface="+mn-ea"/>
              </a:rPr>
            </a:br>
            <a:r>
              <a:rPr lang="zh-CN" altLang="en-US" sz="2200" kern="0" dirty="0">
                <a:sym typeface="+mn-ea"/>
              </a:rPr>
              <a:t>RFC2068为HTTP协议 </a:t>
            </a:r>
            <a:endParaRPr lang="en-US" altLang="zh-CN" sz="2200" kern="0" dirty="0">
              <a:sym typeface="+mn-ea"/>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kern="0" dirty="0">
                <a:sym typeface="+mn-ea"/>
              </a:rPr>
              <a:t>IETF</a:t>
            </a:r>
            <a:r>
              <a:rPr lang="zh-CN" altLang="en-US" sz="2200" kern="0" dirty="0">
                <a:sym typeface="+mn-ea"/>
              </a:rPr>
              <a:t>的各种规章制度（乃至</a:t>
            </a:r>
            <a:r>
              <a:rPr lang="en-US" altLang="zh-CN" sz="2200" kern="0" dirty="0">
                <a:sym typeface="+mn-ea"/>
              </a:rPr>
              <a:t>RFC</a:t>
            </a:r>
            <a:r>
              <a:rPr lang="zh-CN" altLang="en-US" sz="2200" kern="0" dirty="0">
                <a:sym typeface="+mn-ea"/>
              </a:rPr>
              <a:t>产生规则），全部以</a:t>
            </a:r>
            <a:r>
              <a:rPr lang="en-US" altLang="zh-CN" sz="2200" kern="0" dirty="0">
                <a:sym typeface="+mn-ea"/>
              </a:rPr>
              <a:t>RFC</a:t>
            </a:r>
            <a:r>
              <a:rPr lang="zh-CN" altLang="en-US" sz="2200" kern="0" dirty="0">
                <a:sym typeface="+mn-ea"/>
              </a:rPr>
              <a:t>发布</a:t>
            </a:r>
            <a:endParaRPr lang="en-US" altLang="zh-CN" sz="2200" kern="0" dirty="0">
              <a:sym typeface="+mn-ea"/>
            </a:endParaRPr>
          </a:p>
          <a:p>
            <a:pPr marL="574675" indent="-306070">
              <a:lnSpc>
                <a:spcPct val="120000"/>
              </a:lnSpc>
              <a:spcBef>
                <a:spcPts val="0"/>
              </a:spcBef>
              <a:buFont typeface="Arial" panose="020B0604020202020204" pitchFamily="34" charset="0"/>
              <a:buChar char="•"/>
              <a:tabLst>
                <a:tab pos="537210" algn="l"/>
                <a:tab pos="626745" algn="l"/>
              </a:tabLst>
            </a:pPr>
            <a:r>
              <a:rPr lang="zh-CN" altLang="en-US" sz="2200" kern="0" dirty="0">
                <a:sym typeface="+mn-ea"/>
              </a:rPr>
              <a:t>每年</a:t>
            </a:r>
            <a:r>
              <a:rPr lang="en-US" altLang="zh-CN" sz="2200" kern="0" dirty="0">
                <a:sym typeface="+mn-ea"/>
              </a:rPr>
              <a:t>3</a:t>
            </a:r>
            <a:r>
              <a:rPr lang="zh-CN" altLang="en-US" sz="2200" kern="0" dirty="0">
                <a:sym typeface="+mn-ea"/>
              </a:rPr>
              <a:t>次会，但所有决策须在邮件列表确认，因此可仅远程参与</a:t>
            </a:r>
            <a:endParaRPr lang="en-US" altLang="zh-CN" sz="2200" kern="0" dirty="0">
              <a:sym typeface="+mn-ea"/>
            </a:endParaRPr>
          </a:p>
          <a:p>
            <a:pPr marL="574675" indent="-306070">
              <a:lnSpc>
                <a:spcPct val="120000"/>
              </a:lnSpc>
              <a:spcBef>
                <a:spcPts val="0"/>
              </a:spcBef>
              <a:buFont typeface="Arial" panose="020B0604020202020204" pitchFamily="34" charset="0"/>
              <a:buChar char="•"/>
              <a:tabLst>
                <a:tab pos="537210" algn="l"/>
                <a:tab pos="626745" algn="l"/>
              </a:tabLst>
            </a:pPr>
            <a:r>
              <a:rPr lang="en-US" altLang="zh-CN" sz="2200" dirty="0">
                <a:cs typeface="Times New Roman" panose="02020603050405020304" pitchFamily="18" charset="0"/>
              </a:rPr>
              <a:t>IETF</a:t>
            </a:r>
            <a:r>
              <a:rPr lang="zh-CN" altLang="en-US" sz="2200" dirty="0">
                <a:cs typeface="Times New Roman" panose="02020603050405020304" pitchFamily="18" charset="0"/>
              </a:rPr>
              <a:t>由愿</a:t>
            </a:r>
            <a:r>
              <a:rPr lang="en-US" altLang="zh-CN" sz="2200" dirty="0" err="1">
                <a:cs typeface="Times New Roman" panose="02020603050405020304" pitchFamily="18" charset="0"/>
              </a:rPr>
              <a:t>为互联网发展做出贡献的专家自发参与和管理</a:t>
            </a:r>
            <a:r>
              <a:rPr lang="en-US" altLang="zh-CN" sz="2200" dirty="0">
                <a:cs typeface="Times New Roman" panose="02020603050405020304" pitchFamily="18" charset="0"/>
              </a:rPr>
              <a:t>(</a:t>
            </a:r>
            <a:r>
              <a:rPr lang="zh-CN" altLang="en-US" sz="2200" dirty="0">
                <a:cs typeface="Times New Roman" panose="02020603050405020304" pitchFamily="18" charset="0"/>
              </a:rPr>
              <a:t>无薪</a:t>
            </a:r>
            <a:r>
              <a:rPr lang="en-US" altLang="zh-CN" sz="2200" dirty="0">
                <a:cs typeface="Times New Roman" panose="02020603050405020304" pitchFamily="18" charset="0"/>
              </a:rPr>
              <a:t>)</a:t>
            </a:r>
          </a:p>
          <a:p>
            <a:pPr marL="574675" indent="-306070">
              <a:lnSpc>
                <a:spcPct val="120000"/>
              </a:lnSpc>
              <a:spcBef>
                <a:spcPts val="0"/>
              </a:spcBef>
              <a:buFont typeface="Arial" panose="020B0604020202020204" pitchFamily="34" charset="0"/>
              <a:buChar char="•"/>
              <a:tabLst>
                <a:tab pos="537210" algn="l"/>
                <a:tab pos="626745" algn="l"/>
              </a:tabLst>
            </a:pPr>
            <a:r>
              <a:rPr lang="zh-CN" altLang="en-US" sz="2200" kern="0" dirty="0">
                <a:sym typeface="+mn-ea"/>
              </a:rPr>
              <a:t>没有会员制，</a:t>
            </a:r>
            <a:r>
              <a:rPr lang="zh-CN" altLang="en-US" sz="2200" kern="0" dirty="0">
                <a:solidFill>
                  <a:srgbClr val="C00000"/>
                </a:solidFill>
                <a:sym typeface="+mn-ea"/>
              </a:rPr>
              <a:t>每个人都可以是</a:t>
            </a:r>
            <a:r>
              <a:rPr lang="en-US" altLang="zh-CN" sz="2200" kern="0" dirty="0" err="1">
                <a:solidFill>
                  <a:srgbClr val="C00000"/>
                </a:solidFill>
                <a:sym typeface="+mn-ea"/>
              </a:rPr>
              <a:t>IETFer</a:t>
            </a:r>
            <a:r>
              <a:rPr lang="zh-CN" altLang="en-US" sz="2200" kern="0" dirty="0">
                <a:sym typeface="+mn-ea"/>
              </a:rPr>
              <a:t>，在邮件列表参与即可</a:t>
            </a:r>
          </a:p>
        </p:txBody>
      </p:sp>
      <p:sp>
        <p:nvSpPr>
          <p:cNvPr id="7" name="灯片编号占位符 6">
            <a:extLst>
              <a:ext uri="{FF2B5EF4-FFF2-40B4-BE49-F238E27FC236}">
                <a16:creationId xmlns:a16="http://schemas.microsoft.com/office/drawing/2014/main" id="{50054F7E-4E72-E94C-9982-ACFC68246978}"/>
              </a:ext>
            </a:extLst>
          </p:cNvPr>
          <p:cNvSpPr>
            <a:spLocks noGrp="1"/>
          </p:cNvSpPr>
          <p:nvPr>
            <p:ph type="sldNum" sz="quarter" idx="12"/>
          </p:nvPr>
        </p:nvSpPr>
        <p:spPr/>
        <p:txBody>
          <a:bodyPr/>
          <a:lstStyle/>
          <a:p>
            <a:fld id="{8D4D1E41-7A09-AB4A-A4E1-09765ADA2698}" type="slidenum">
              <a:rPr kumimoji="1" lang="zh-CN" altLang="en-US" smtClean="0"/>
              <a:t>98</a:t>
            </a:fld>
            <a:endParaRPr kumimoji="1" lang="zh-CN" altLang="en-US" dirty="0"/>
          </a:p>
        </p:txBody>
      </p:sp>
      <p:sp>
        <p:nvSpPr>
          <p:cNvPr id="5" name="矩形 4">
            <a:extLst>
              <a:ext uri="{FF2B5EF4-FFF2-40B4-BE49-F238E27FC236}">
                <a16:creationId xmlns:a16="http://schemas.microsoft.com/office/drawing/2014/main" id="{5BA9F8ED-02A4-BB43-B7F0-06FFD46971DE}"/>
              </a:ext>
            </a:extLst>
          </p:cNvPr>
          <p:cNvSpPr/>
          <p:nvPr/>
        </p:nvSpPr>
        <p:spPr>
          <a:xfrm>
            <a:off x="1002668" y="4909800"/>
            <a:ext cx="7879080" cy="1561966"/>
          </a:xfrm>
          <a:prstGeom prst="rect">
            <a:avLst/>
          </a:prstGeom>
          <a:ln>
            <a:solidFill>
              <a:srgbClr val="C00000"/>
            </a:solidFill>
          </a:ln>
        </p:spPr>
        <p:txBody>
          <a:bodyPr wrap="none">
            <a:spAutoFit/>
          </a:bodyPr>
          <a:lstStyle/>
          <a:p>
            <a:pPr algn="ctr">
              <a:spcBef>
                <a:spcPts val="300"/>
              </a:spcBef>
            </a:pPr>
            <a:r>
              <a:rPr lang="en-US" altLang="zh-CN" sz="2800" kern="0" dirty="0">
                <a:solidFill>
                  <a:srgbClr val="C00000"/>
                </a:solidFill>
                <a:latin typeface="Microsoft YaHei" panose="020B0503020204020204" pitchFamily="34" charset="-122"/>
                <a:ea typeface="Microsoft YaHei" panose="020B0503020204020204" pitchFamily="34" charset="-122"/>
                <a:sym typeface="+mn-ea"/>
              </a:rPr>
              <a:t>IETF</a:t>
            </a:r>
            <a:r>
              <a:rPr lang="zh-CN" altLang="en-US" sz="2800" kern="0" dirty="0">
                <a:solidFill>
                  <a:srgbClr val="C00000"/>
                </a:solidFill>
                <a:latin typeface="Microsoft YaHei" panose="020B0503020204020204" pitchFamily="34" charset="-122"/>
                <a:ea typeface="Microsoft YaHei" panose="020B0503020204020204" pitchFamily="34" charset="-122"/>
                <a:sym typeface="+mn-ea"/>
              </a:rPr>
              <a:t>名言 </a:t>
            </a:r>
            <a:r>
              <a:rPr lang="en-US" altLang="zh-CN" sz="2800" kern="0" dirty="0">
                <a:solidFill>
                  <a:srgbClr val="C00000"/>
                </a:solidFill>
                <a:latin typeface="Microsoft YaHei" panose="020B0503020204020204" pitchFamily="34" charset="-122"/>
                <a:ea typeface="Microsoft YaHei" panose="020B0503020204020204" pitchFamily="34" charset="-122"/>
                <a:sym typeface="+mn-ea"/>
              </a:rPr>
              <a:t>(</a:t>
            </a:r>
            <a:r>
              <a:rPr lang="en-US" altLang="zh-CN" sz="2800" dirty="0">
                <a:solidFill>
                  <a:srgbClr val="C00000"/>
                </a:solidFill>
                <a:latin typeface="basis-grotesque-medium"/>
              </a:rPr>
              <a:t>David Clark</a:t>
            </a:r>
            <a:r>
              <a:rPr lang="en-US" altLang="zh-CN" sz="2800" kern="0" dirty="0">
                <a:solidFill>
                  <a:srgbClr val="C00000"/>
                </a:solidFill>
                <a:latin typeface="Microsoft YaHei" panose="020B0503020204020204" pitchFamily="34" charset="-122"/>
                <a:ea typeface="Microsoft YaHei" panose="020B0503020204020204" pitchFamily="34" charset="-122"/>
                <a:sym typeface="+mn-ea"/>
              </a:rPr>
              <a:t>)</a:t>
            </a:r>
          </a:p>
          <a:p>
            <a:pPr algn="ctr">
              <a:spcBef>
                <a:spcPts val="300"/>
              </a:spcBef>
            </a:pPr>
            <a:r>
              <a:rPr lang="zh-CN" altLang="en-US" sz="2000" dirty="0">
                <a:latin typeface="Microsoft YaHei" panose="020B0503020204020204" pitchFamily="34" charset="-122"/>
                <a:ea typeface="Microsoft YaHei" panose="020B0503020204020204" pitchFamily="34" charset="-122"/>
              </a:rPr>
              <a:t>我们拒绝国王、总统和投票，简单多数和可运行的代码就是我们信仰</a:t>
            </a:r>
            <a:endParaRPr lang="en-US" altLang="zh-CN" sz="2000" dirty="0">
              <a:latin typeface="Microsoft YaHei" panose="020B0503020204020204" pitchFamily="34" charset="-122"/>
              <a:ea typeface="Microsoft YaHei" panose="020B0503020204020204" pitchFamily="34" charset="-122"/>
            </a:endParaRPr>
          </a:p>
          <a:p>
            <a:pPr algn="ctr">
              <a:spcBef>
                <a:spcPts val="300"/>
              </a:spcBef>
            </a:pPr>
            <a:r>
              <a:rPr lang="en-US" altLang="zh-CN" sz="2000" dirty="0">
                <a:latin typeface="Microsoft YaHei" panose="020B0503020204020204" pitchFamily="34" charset="-122"/>
                <a:ea typeface="Microsoft YaHei" panose="020B0503020204020204" pitchFamily="34" charset="-122"/>
              </a:rPr>
              <a:t>We reject: kings, presidents, and voting. </a:t>
            </a:r>
          </a:p>
          <a:p>
            <a:pPr algn="ctr">
              <a:spcBef>
                <a:spcPts val="300"/>
              </a:spcBef>
            </a:pPr>
            <a:r>
              <a:rPr lang="en-US" altLang="zh-CN" sz="2000" dirty="0">
                <a:latin typeface="Microsoft YaHei" panose="020B0503020204020204" pitchFamily="34" charset="-122"/>
                <a:ea typeface="Microsoft YaHei" panose="020B0503020204020204" pitchFamily="34" charset="-122"/>
              </a:rPr>
              <a:t>We believe in: rough consensus and running code</a:t>
            </a:r>
            <a:endParaRPr lang="zh-CN" altLang="en-US" sz="3600" dirty="0">
              <a:latin typeface="Microsoft YaHei" panose="020B0503020204020204" pitchFamily="34" charset="-122"/>
              <a:ea typeface="Microsoft YaHei" panose="020B0503020204020204" pitchFamily="34" charset="-122"/>
            </a:endParaRPr>
          </a:p>
        </p:txBody>
      </p:sp>
      <p:pic>
        <p:nvPicPr>
          <p:cNvPr id="7170" name="Picture 2" descr="Clark">
            <a:extLst>
              <a:ext uri="{FF2B5EF4-FFF2-40B4-BE49-F238E27FC236}">
                <a16:creationId xmlns:a16="http://schemas.microsoft.com/office/drawing/2014/main" id="{F0A1876E-787D-2E45-93EF-0F080801AD5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636034" y="3819778"/>
            <a:ext cx="1882234" cy="1882234"/>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BA4AFA3C-C997-DD4A-A109-A56A00529FEC}"/>
              </a:ext>
            </a:extLst>
          </p:cNvPr>
          <p:cNvSpPr/>
          <p:nvPr/>
        </p:nvSpPr>
        <p:spPr>
          <a:xfrm>
            <a:off x="9636034" y="5805318"/>
            <a:ext cx="1916871" cy="369332"/>
          </a:xfrm>
          <a:prstGeom prst="rect">
            <a:avLst/>
          </a:prstGeom>
        </p:spPr>
        <p:txBody>
          <a:bodyPr wrap="none">
            <a:spAutoFit/>
          </a:bodyPr>
          <a:lstStyle/>
          <a:p>
            <a:r>
              <a:rPr lang="en-US" altLang="zh-CN" dirty="0">
                <a:solidFill>
                  <a:srgbClr val="000000"/>
                </a:solidFill>
                <a:latin typeface="basis-grotesque-medium"/>
              </a:rPr>
              <a:t>David Clark</a:t>
            </a:r>
            <a:r>
              <a:rPr lang="zh-CN" altLang="en-US" dirty="0">
                <a:solidFill>
                  <a:srgbClr val="000000"/>
                </a:solidFill>
                <a:latin typeface="basis-grotesque-medium"/>
              </a:rPr>
              <a:t> </a:t>
            </a:r>
            <a:r>
              <a:rPr lang="en-US" altLang="zh-CN" dirty="0">
                <a:solidFill>
                  <a:srgbClr val="000000"/>
                </a:solidFill>
                <a:latin typeface="basis-grotesque-medium"/>
              </a:rPr>
              <a:t>@</a:t>
            </a:r>
            <a:r>
              <a:rPr lang="zh-CN" altLang="en-US" dirty="0">
                <a:solidFill>
                  <a:srgbClr val="000000"/>
                </a:solidFill>
                <a:latin typeface="basis-grotesque-medium"/>
              </a:rPr>
              <a:t> </a:t>
            </a:r>
            <a:r>
              <a:rPr lang="en-US" altLang="zh-CN" dirty="0">
                <a:solidFill>
                  <a:srgbClr val="000000"/>
                </a:solidFill>
                <a:latin typeface="basis-grotesque-medium"/>
              </a:rPr>
              <a:t>MIT</a:t>
            </a:r>
            <a:endParaRPr lang="en-US" altLang="zh-CN" b="0" i="0" dirty="0">
              <a:solidFill>
                <a:srgbClr val="000000"/>
              </a:solidFill>
              <a:effectLst/>
              <a:latin typeface="basis-grotesque-medium"/>
            </a:endParaRPr>
          </a:p>
        </p:txBody>
      </p:sp>
      <p:sp>
        <p:nvSpPr>
          <p:cNvPr id="8" name="文本框 7">
            <a:extLst>
              <a:ext uri="{FF2B5EF4-FFF2-40B4-BE49-F238E27FC236}">
                <a16:creationId xmlns:a16="http://schemas.microsoft.com/office/drawing/2014/main" id="{C30FDC26-DA48-C343-BB5E-61BB7A769A21}"/>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sp>
        <p:nvSpPr>
          <p:cNvPr id="9" name="矩形 8">
            <a:extLst>
              <a:ext uri="{FF2B5EF4-FFF2-40B4-BE49-F238E27FC236}">
                <a16:creationId xmlns:a16="http://schemas.microsoft.com/office/drawing/2014/main" id="{D404C43E-BA6E-654E-B2F5-D12535563E1D}"/>
              </a:ext>
            </a:extLst>
          </p:cNvPr>
          <p:cNvSpPr/>
          <p:nvPr/>
        </p:nvSpPr>
        <p:spPr>
          <a:xfrm>
            <a:off x="9214189" y="1752651"/>
            <a:ext cx="2422712" cy="830997"/>
          </a:xfrm>
          <a:prstGeom prst="rect">
            <a:avLst/>
          </a:prstGeom>
          <a:ln>
            <a:solidFill>
              <a:srgbClr val="C00000"/>
            </a:solidFill>
          </a:ln>
        </p:spPr>
        <p:txBody>
          <a:bodyPr wrap="square">
            <a:spAutoFit/>
          </a:bodyPr>
          <a:lstStyle/>
          <a:p>
            <a:pPr algn="ctr"/>
            <a:r>
              <a:rPr lang="zh-CN" altLang="en-US" sz="2400" dirty="0">
                <a:latin typeface="Microsoft YaHei" panose="020B0503020204020204" pitchFamily="34" charset="-122"/>
                <a:ea typeface="Microsoft YaHei" panose="020B0503020204020204" pitchFamily="34" charset="-122"/>
                <a:cs typeface="微软雅黑" panose="020B0503020204020204" pitchFamily="34" charset="-122"/>
                <a:sym typeface="+mn-ea"/>
              </a:rPr>
              <a:t>不自称为标准的</a:t>
            </a:r>
            <a:r>
              <a:rPr lang="zh-CN" altLang="en-US" sz="2400" dirty="0">
                <a:solidFill>
                  <a:srgbClr val="C00000"/>
                </a:solidFill>
                <a:latin typeface="Microsoft YaHei" panose="020B0503020204020204" pitchFamily="34" charset="-122"/>
                <a:ea typeface="Microsoft YaHei" panose="020B0503020204020204" pitchFamily="34" charset="-122"/>
                <a:cs typeface="微软雅黑" panose="020B0503020204020204" pitchFamily="34" charset="-122"/>
                <a:sym typeface="+mn-ea"/>
              </a:rPr>
              <a:t>事实标准</a:t>
            </a:r>
            <a:r>
              <a:rPr lang="en-US" altLang="zh-CN" sz="2400" dirty="0">
                <a:solidFill>
                  <a:srgbClr val="C00000"/>
                </a:solidFill>
                <a:latin typeface="Microsoft YaHei" panose="020B0503020204020204" pitchFamily="34" charset="-122"/>
                <a:ea typeface="Microsoft YaHei" panose="020B0503020204020204" pitchFamily="34" charset="-122"/>
                <a:cs typeface="微软雅黑" panose="020B0503020204020204" pitchFamily="34" charset="-122"/>
                <a:sym typeface="+mn-ea"/>
              </a:rPr>
              <a:t>RFC</a:t>
            </a:r>
            <a:endParaRPr lang="zh-CN" altLang="en-US" sz="2400" dirty="0">
              <a:solidFill>
                <a:srgbClr val="C00000"/>
              </a:solidFill>
              <a:latin typeface="Microsoft YaHei" panose="020B0503020204020204" pitchFamily="34" charset="-122"/>
              <a:ea typeface="Microsoft YaHei"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4664479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cs typeface="Times New Roman" panose="02020603050405020304" pitchFamily="18" charset="0"/>
                <a:sym typeface="+mn-ea"/>
              </a:rPr>
              <a:t>Internet标准化组织</a:t>
            </a:r>
            <a:endParaRPr lang="en-US" altLang="zh-CN" dirty="0"/>
          </a:p>
        </p:txBody>
      </p:sp>
      <p:sp>
        <p:nvSpPr>
          <p:cNvPr id="3" name="内容占位符 2"/>
          <p:cNvSpPr>
            <a:spLocks noGrp="1"/>
          </p:cNvSpPr>
          <p:nvPr>
            <p:ph idx="1"/>
          </p:nvPr>
        </p:nvSpPr>
        <p:spPr>
          <a:xfrm>
            <a:off x="430305" y="1369694"/>
            <a:ext cx="4000502" cy="5351781"/>
          </a:xfrm>
        </p:spPr>
        <p:txBody>
          <a:bodyPr>
            <a:normAutofit lnSpcReduction="10000"/>
          </a:bodyPr>
          <a:lstStyle/>
          <a:p>
            <a:pPr>
              <a:lnSpc>
                <a:spcPct val="110000"/>
              </a:lnSpc>
            </a:pPr>
            <a:r>
              <a:rPr lang="en-US" altLang="zh-CN" sz="2400" dirty="0">
                <a:cs typeface="微软雅黑" panose="020B0503020204020204" pitchFamily="34" charset="-122"/>
              </a:rPr>
              <a:t>RFC</a:t>
            </a:r>
            <a:r>
              <a:rPr lang="zh-CN" altLang="en-US" sz="2400" dirty="0">
                <a:cs typeface="微软雅黑" panose="020B0503020204020204" pitchFamily="34" charset="-122"/>
              </a:rPr>
              <a:t>标准产生过程</a:t>
            </a:r>
            <a:endParaRPr lang="en-US" altLang="zh-CN" sz="2400" dirty="0">
              <a:cs typeface="微软雅黑" panose="020B0503020204020204" pitchFamily="34" charset="-122"/>
            </a:endParaRPr>
          </a:p>
          <a:p>
            <a:pPr lvl="1">
              <a:lnSpc>
                <a:spcPct val="110000"/>
              </a:lnSpc>
            </a:pPr>
            <a:r>
              <a:rPr lang="zh-CN" altLang="en-US" sz="2000" dirty="0">
                <a:cs typeface="微软雅黑" panose="020B0503020204020204" pitchFamily="34" charset="-122"/>
              </a:rPr>
              <a:t>从个人提交个人文稿，到接受为工作组文稿，再通过各层</a:t>
            </a:r>
            <a:r>
              <a:rPr lang="en-US" altLang="zh-CN" sz="2000" dirty="0">
                <a:cs typeface="微软雅黑" panose="020B0503020204020204" pitchFamily="34" charset="-122"/>
              </a:rPr>
              <a:t>Last</a:t>
            </a:r>
            <a:r>
              <a:rPr lang="zh-CN" altLang="en-US" sz="2000" dirty="0">
                <a:cs typeface="微软雅黑" panose="020B0503020204020204" pitchFamily="34" charset="-122"/>
              </a:rPr>
              <a:t> </a:t>
            </a:r>
            <a:r>
              <a:rPr lang="en-US" altLang="zh-CN" sz="2000" dirty="0">
                <a:cs typeface="微软雅黑" panose="020B0503020204020204" pitchFamily="34" charset="-122"/>
              </a:rPr>
              <a:t>Call</a:t>
            </a:r>
            <a:r>
              <a:rPr lang="zh-CN" altLang="en-US" sz="2000" dirty="0">
                <a:cs typeface="微软雅黑" panose="020B0503020204020204" pitchFamily="34" charset="-122"/>
              </a:rPr>
              <a:t>等审核，最终才能成为</a:t>
            </a:r>
            <a:r>
              <a:rPr lang="en-US" altLang="zh-CN" sz="2000" dirty="0">
                <a:cs typeface="微软雅黑" panose="020B0503020204020204" pitchFamily="34" charset="-122"/>
              </a:rPr>
              <a:t>RFC</a:t>
            </a:r>
          </a:p>
          <a:p>
            <a:pPr lvl="1">
              <a:lnSpc>
                <a:spcPct val="110000"/>
              </a:lnSpc>
            </a:pPr>
            <a:r>
              <a:rPr lang="zh-CN" altLang="en-US" sz="2000" dirty="0">
                <a:cs typeface="微软雅黑" panose="020B0503020204020204" pitchFamily="34" charset="-122"/>
              </a:rPr>
              <a:t>上述过程往往至少要</a:t>
            </a:r>
            <a:r>
              <a:rPr lang="en-US" altLang="zh-CN" sz="2000" dirty="0">
                <a:cs typeface="微软雅黑" panose="020B0503020204020204" pitchFamily="34" charset="-122"/>
              </a:rPr>
              <a:t>2~3</a:t>
            </a:r>
            <a:r>
              <a:rPr lang="zh-CN" altLang="en-US" sz="2000" dirty="0">
                <a:cs typeface="微软雅黑" panose="020B0503020204020204" pitchFamily="34" charset="-122"/>
              </a:rPr>
              <a:t>年</a:t>
            </a:r>
            <a:endParaRPr lang="en-US" altLang="zh-CN" sz="2000" dirty="0">
              <a:cs typeface="微软雅黑" panose="020B0503020204020204" pitchFamily="34" charset="-122"/>
            </a:endParaRPr>
          </a:p>
          <a:p>
            <a:pPr>
              <a:lnSpc>
                <a:spcPct val="110000"/>
              </a:lnSpc>
            </a:pPr>
            <a:r>
              <a:rPr lang="zh-CN" altLang="en-US" sz="2400" dirty="0">
                <a:cs typeface="微软雅黑" panose="020B0503020204020204" pitchFamily="34" charset="-122"/>
              </a:rPr>
              <a:t>各国</a:t>
            </a:r>
            <a:r>
              <a:rPr lang="en-US" altLang="zh-CN" sz="2400" dirty="0">
                <a:cs typeface="微软雅黑" panose="020B0503020204020204" pitchFamily="34" charset="-122"/>
              </a:rPr>
              <a:t>RFC</a:t>
            </a:r>
            <a:r>
              <a:rPr lang="zh-CN" altLang="en-US" sz="2400" dirty="0">
                <a:cs typeface="微软雅黑" panose="020B0503020204020204" pitchFamily="34" charset="-122"/>
              </a:rPr>
              <a:t>贡献情况</a:t>
            </a:r>
            <a:endParaRPr lang="en-US" altLang="zh-CN" sz="2400" dirty="0">
              <a:cs typeface="微软雅黑" panose="020B0503020204020204" pitchFamily="34" charset="-122"/>
            </a:endParaRPr>
          </a:p>
          <a:p>
            <a:pPr lvl="1">
              <a:lnSpc>
                <a:spcPct val="110000"/>
              </a:lnSpc>
            </a:pPr>
            <a:r>
              <a:rPr lang="zh-CN" altLang="en-US" sz="2000" dirty="0">
                <a:cs typeface="微软雅黑" panose="020B0503020204020204" pitchFamily="34" charset="-122"/>
              </a:rPr>
              <a:t>全球有约</a:t>
            </a:r>
            <a:r>
              <a:rPr lang="en-US" altLang="zh-CN" sz="2000" dirty="0">
                <a:cs typeface="微软雅黑" panose="020B0503020204020204" pitchFamily="34" charset="-122"/>
              </a:rPr>
              <a:t>9000</a:t>
            </a:r>
            <a:r>
              <a:rPr lang="zh-CN" altLang="en-US" sz="2000" dirty="0">
                <a:cs typeface="微软雅黑" panose="020B0503020204020204" pitchFamily="34" charset="-122"/>
              </a:rPr>
              <a:t>个</a:t>
            </a:r>
            <a:r>
              <a:rPr lang="en-US" altLang="zh-CN" sz="2000" dirty="0">
                <a:cs typeface="微软雅黑" panose="020B0503020204020204" pitchFamily="34" charset="-122"/>
              </a:rPr>
              <a:t>RFC</a:t>
            </a:r>
          </a:p>
          <a:p>
            <a:pPr lvl="1">
              <a:lnSpc>
                <a:spcPct val="110000"/>
              </a:lnSpc>
            </a:pPr>
            <a:r>
              <a:rPr lang="zh-CN" altLang="en-US" sz="2000" dirty="0">
                <a:cs typeface="微软雅黑" panose="020B0503020204020204" pitchFamily="34" charset="-122"/>
              </a:rPr>
              <a:t>美国给</a:t>
            </a:r>
            <a:r>
              <a:rPr lang="en-US" altLang="zh-CN" sz="2000" dirty="0">
                <a:cs typeface="微软雅黑" panose="020B0503020204020204" pitchFamily="34" charset="-122"/>
              </a:rPr>
              <a:t>6600</a:t>
            </a:r>
            <a:r>
              <a:rPr lang="zh-CN" altLang="en-US" sz="2000" dirty="0">
                <a:cs typeface="微软雅黑" panose="020B0503020204020204" pitchFamily="34" charset="-122"/>
              </a:rPr>
              <a:t>个</a:t>
            </a:r>
            <a:r>
              <a:rPr lang="en-US" altLang="zh-CN" sz="2000" dirty="0">
                <a:cs typeface="微软雅黑" panose="020B0503020204020204" pitchFamily="34" charset="-122"/>
              </a:rPr>
              <a:t>RFC</a:t>
            </a:r>
            <a:r>
              <a:rPr lang="zh-CN" altLang="en-US" sz="2000" dirty="0">
                <a:cs typeface="微软雅黑" panose="020B0503020204020204" pitchFamily="34" charset="-122"/>
              </a:rPr>
              <a:t>做过贡献</a:t>
            </a:r>
            <a:endParaRPr lang="en-US" altLang="zh-CN"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英、德、加、法、芬等强国</a:t>
            </a:r>
            <a:endParaRPr lang="en-US" altLang="zh-CN" sz="2000" dirty="0">
              <a:cs typeface="微软雅黑" panose="020B0503020204020204" pitchFamily="34" charset="-122"/>
            </a:endParaRPr>
          </a:p>
          <a:p>
            <a:pPr lvl="1">
              <a:lnSpc>
                <a:spcPct val="110000"/>
              </a:lnSpc>
            </a:pPr>
            <a:r>
              <a:rPr lang="zh-CN" altLang="en-US" sz="2000" dirty="0">
                <a:cs typeface="微软雅黑" panose="020B0503020204020204" pitchFamily="34" charset="-122"/>
              </a:rPr>
              <a:t>我国贡献数上升到第</a:t>
            </a:r>
            <a:r>
              <a:rPr lang="en-US" altLang="zh-CN" sz="2000" dirty="0">
                <a:cs typeface="微软雅黑" panose="020B0503020204020204" pitchFamily="34" charset="-122"/>
              </a:rPr>
              <a:t>7</a:t>
            </a:r>
            <a:r>
              <a:rPr lang="zh-CN" altLang="en-US" sz="2000" dirty="0">
                <a:cs typeface="微软雅黑" panose="020B0503020204020204" pitchFamily="34" charset="-122"/>
              </a:rPr>
              <a:t>位，给近</a:t>
            </a:r>
            <a:r>
              <a:rPr lang="en-US" altLang="zh-CN" sz="2000" dirty="0">
                <a:cs typeface="微软雅黑" panose="020B0503020204020204" pitchFamily="34" charset="-122"/>
              </a:rPr>
              <a:t>500</a:t>
            </a:r>
            <a:r>
              <a:rPr lang="zh-CN" altLang="en-US" sz="2000" dirty="0">
                <a:cs typeface="微软雅黑" panose="020B0503020204020204" pitchFamily="34" charset="-122"/>
              </a:rPr>
              <a:t>个</a:t>
            </a:r>
            <a:r>
              <a:rPr lang="en-US" altLang="zh-CN" sz="2000" dirty="0">
                <a:cs typeface="微软雅黑" panose="020B0503020204020204" pitchFamily="34" charset="-122"/>
              </a:rPr>
              <a:t>RFC</a:t>
            </a:r>
            <a:r>
              <a:rPr lang="zh-CN" altLang="en-US" sz="2000" dirty="0">
                <a:cs typeface="微软雅黑" panose="020B0503020204020204" pitchFamily="34" charset="-122"/>
              </a:rPr>
              <a:t>做了贡献</a:t>
            </a:r>
          </a:p>
          <a:p>
            <a:pPr lvl="1">
              <a:lnSpc>
                <a:spcPct val="110000"/>
              </a:lnSpc>
            </a:pPr>
            <a:r>
              <a:rPr lang="zh-CN" altLang="en-US" sz="2000" dirty="0">
                <a:cs typeface="微软雅黑" panose="020B0503020204020204" pitchFamily="34" charset="-122"/>
              </a:rPr>
              <a:t>美国近</a:t>
            </a:r>
            <a:r>
              <a:rPr lang="en-US" altLang="zh-CN" sz="2000" dirty="0">
                <a:cs typeface="微软雅黑" panose="020B0503020204020204" pitchFamily="34" charset="-122"/>
              </a:rPr>
              <a:t>3000</a:t>
            </a:r>
            <a:r>
              <a:rPr lang="zh-CN" altLang="en-US" sz="2000" dirty="0">
                <a:cs typeface="微软雅黑" panose="020B0503020204020204" pitchFamily="34" charset="-122"/>
              </a:rPr>
              <a:t>人有</a:t>
            </a:r>
            <a:r>
              <a:rPr lang="en-US" altLang="zh-CN" sz="2000" dirty="0">
                <a:cs typeface="微软雅黑" panose="020B0503020204020204" pitchFamily="34" charset="-122"/>
              </a:rPr>
              <a:t>RFC</a:t>
            </a:r>
            <a:r>
              <a:rPr lang="zh-CN" altLang="en-US" sz="2000" dirty="0">
                <a:cs typeface="微软雅黑" panose="020B0503020204020204" pitchFamily="34" charset="-122"/>
              </a:rPr>
              <a:t>署名，我国仅不到</a:t>
            </a:r>
            <a:r>
              <a:rPr lang="en-US" altLang="zh-CN" sz="2000" dirty="0">
                <a:cs typeface="微软雅黑" panose="020B0503020204020204" pitchFamily="34" charset="-122"/>
              </a:rPr>
              <a:t>200</a:t>
            </a:r>
            <a:r>
              <a:rPr lang="zh-CN" altLang="en-US" sz="2000" dirty="0">
                <a:cs typeface="微软雅黑" panose="020B0503020204020204" pitchFamily="34" charset="-122"/>
              </a:rPr>
              <a:t>人有</a:t>
            </a:r>
            <a:r>
              <a:rPr lang="en-US" altLang="zh-CN" sz="2000" dirty="0">
                <a:cs typeface="微软雅黑" panose="020B0503020204020204" pitchFamily="34" charset="-122"/>
              </a:rPr>
              <a:t>RFC</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99</a:t>
            </a:fld>
            <a:endParaRPr kumimoji="1" lang="zh-CN" altLang="en-US" dirty="0"/>
          </a:p>
        </p:txBody>
      </p:sp>
      <p:sp>
        <p:nvSpPr>
          <p:cNvPr id="9" name="文本框 8"/>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sp>
        <p:nvSpPr>
          <p:cNvPr id="8" name="AutoShape 4">
            <a:extLst>
              <a:ext uri="{FF2B5EF4-FFF2-40B4-BE49-F238E27FC236}">
                <a16:creationId xmlns:a16="http://schemas.microsoft.com/office/drawing/2014/main" id="{F99EF5E0-C987-E347-83FF-3E55389B209C}"/>
              </a:ext>
            </a:extLst>
          </p:cNvPr>
          <p:cNvSpPr>
            <a:spLocks noChangeArrowheads="1"/>
          </p:cNvSpPr>
          <p:nvPr/>
        </p:nvSpPr>
        <p:spPr bwMode="auto">
          <a:xfrm>
            <a:off x="4650439" y="1707035"/>
            <a:ext cx="1143000" cy="1028700"/>
          </a:xfrm>
          <a:prstGeom prst="verticalScroll">
            <a:avLst>
              <a:gd name="adj" fmla="val 12500"/>
            </a:avLst>
          </a:prstGeom>
          <a:solidFill>
            <a:srgbClr val="FFFFFF"/>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dirty="0">
                <a:latin typeface="Microsoft YaHei" panose="020B0503020204020204" pitchFamily="34" charset="-122"/>
                <a:ea typeface="Microsoft YaHei" panose="020B0503020204020204" pitchFamily="34" charset="-122"/>
              </a:rPr>
              <a:t>个人</a:t>
            </a:r>
            <a:br>
              <a:rPr lang="en-US" altLang="zh-CN" dirty="0">
                <a:latin typeface="Microsoft YaHei" panose="020B0503020204020204" pitchFamily="34" charset="-122"/>
                <a:ea typeface="Microsoft YaHei" panose="020B0503020204020204" pitchFamily="34" charset="-122"/>
              </a:rPr>
            </a:br>
            <a:r>
              <a:rPr lang="zh-CN" altLang="en-US" dirty="0">
                <a:latin typeface="Microsoft YaHei" panose="020B0503020204020204" pitchFamily="34" charset="-122"/>
                <a:ea typeface="Microsoft YaHei" panose="020B0503020204020204" pitchFamily="34" charset="-122"/>
              </a:rPr>
              <a:t>文稿</a:t>
            </a:r>
            <a:endParaRPr lang="en-US" altLang="zh-CN" dirty="0">
              <a:latin typeface="Microsoft YaHei" panose="020B0503020204020204" pitchFamily="34" charset="-122"/>
              <a:ea typeface="Microsoft YaHei" panose="020B0503020204020204" pitchFamily="34" charset="-122"/>
            </a:endParaRPr>
          </a:p>
        </p:txBody>
      </p:sp>
      <p:sp>
        <p:nvSpPr>
          <p:cNvPr id="12" name="AutoShape 7">
            <a:extLst>
              <a:ext uri="{FF2B5EF4-FFF2-40B4-BE49-F238E27FC236}">
                <a16:creationId xmlns:a16="http://schemas.microsoft.com/office/drawing/2014/main" id="{8EEC3446-AE3F-B742-8D60-CF8EB3E52419}"/>
              </a:ext>
            </a:extLst>
          </p:cNvPr>
          <p:cNvSpPr>
            <a:spLocks noChangeArrowheads="1"/>
          </p:cNvSpPr>
          <p:nvPr/>
        </p:nvSpPr>
        <p:spPr bwMode="auto">
          <a:xfrm>
            <a:off x="5809129" y="2198655"/>
            <a:ext cx="914400" cy="304800"/>
          </a:xfrm>
          <a:prstGeom prst="rightArrow">
            <a:avLst>
              <a:gd name="adj1" fmla="val 50000"/>
              <a:gd name="adj2" fmla="val 75000"/>
            </a:avLst>
          </a:prstGeom>
          <a:solidFill>
            <a:srgbClr val="FFCC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solidFill>
                <a:srgbClr val="66FF66"/>
              </a:solidFill>
              <a:latin typeface="Microsoft YaHei" panose="020B0503020204020204" pitchFamily="34" charset="-122"/>
              <a:ea typeface="Microsoft YaHei" panose="020B0503020204020204" pitchFamily="34" charset="-122"/>
            </a:endParaRPr>
          </a:p>
        </p:txBody>
      </p:sp>
      <p:sp>
        <p:nvSpPr>
          <p:cNvPr id="13" name="Text Box 9">
            <a:extLst>
              <a:ext uri="{FF2B5EF4-FFF2-40B4-BE49-F238E27FC236}">
                <a16:creationId xmlns:a16="http://schemas.microsoft.com/office/drawing/2014/main" id="{6F1011E9-53CE-0849-9DD1-70FCA46CD853}"/>
              </a:ext>
            </a:extLst>
          </p:cNvPr>
          <p:cNvSpPr txBox="1">
            <a:spLocks noChangeArrowheads="1"/>
          </p:cNvSpPr>
          <p:nvPr/>
        </p:nvSpPr>
        <p:spPr bwMode="auto">
          <a:xfrm>
            <a:off x="9727265" y="4464249"/>
            <a:ext cx="2042022"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pPr>
            <a:r>
              <a:rPr lang="zh-CN" altLang="en-US" sz="2000" dirty="0">
                <a:latin typeface="Microsoft YaHei" panose="020B0503020204020204" pitchFamily="34" charset="-122"/>
                <a:ea typeface="Microsoft YaHei" panose="020B0503020204020204" pitchFamily="34" charset="-122"/>
              </a:rPr>
              <a:t>工作组讨论</a:t>
            </a:r>
            <a:br>
              <a:rPr lang="en-US" altLang="zh-CN" sz="2000" dirty="0">
                <a:latin typeface="Microsoft YaHei" panose="020B0503020204020204" pitchFamily="34" charset="-122"/>
                <a:ea typeface="Microsoft YaHei" panose="020B0503020204020204" pitchFamily="34" charset="-122"/>
              </a:rPr>
            </a:br>
            <a:r>
              <a:rPr lang="zh-CN" altLang="en-US" sz="2000" dirty="0">
                <a:latin typeface="Microsoft YaHei" panose="020B0503020204020204" pitchFamily="34" charset="-122"/>
                <a:ea typeface="Microsoft YaHei" panose="020B0503020204020204" pitchFamily="34" charset="-122"/>
              </a:rPr>
              <a:t>（会场唇枪舌战）</a:t>
            </a:r>
            <a:endParaRPr lang="en-US" altLang="zh-CN" sz="2000" dirty="0">
              <a:latin typeface="Microsoft YaHei" panose="020B0503020204020204" pitchFamily="34" charset="-122"/>
              <a:ea typeface="Microsoft YaHei" panose="020B0503020204020204" pitchFamily="34" charset="-122"/>
            </a:endParaRPr>
          </a:p>
        </p:txBody>
      </p:sp>
      <p:pic>
        <p:nvPicPr>
          <p:cNvPr id="14" name="Picture 10" descr="J0301252">
            <a:extLst>
              <a:ext uri="{FF2B5EF4-FFF2-40B4-BE49-F238E27FC236}">
                <a16:creationId xmlns:a16="http://schemas.microsoft.com/office/drawing/2014/main" id="{0629D61D-B2F8-EB41-A93B-2D8570D2B7E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367934" y="3564985"/>
            <a:ext cx="1143000" cy="977395"/>
          </a:xfrm>
          <a:prstGeom prst="rect">
            <a:avLst/>
          </a:prstGeom>
          <a:noFill/>
          <a:extLst>
            <a:ext uri="{909E8E84-426E-40dd-AFC4-6F175D3DCCD1}">
              <a14:hiddenFill xmlns="" xmlns:a14="http://schemas.microsoft.com/office/drawing/2010/main">
                <a:solidFill>
                  <a:srgbClr val="FFFFFF"/>
                </a:solidFill>
              </a14:hiddenFill>
            </a:ext>
          </a:extLst>
        </p:spPr>
      </p:pic>
      <p:sp>
        <p:nvSpPr>
          <p:cNvPr id="15" name="AutoShape 12">
            <a:extLst>
              <a:ext uri="{FF2B5EF4-FFF2-40B4-BE49-F238E27FC236}">
                <a16:creationId xmlns:a16="http://schemas.microsoft.com/office/drawing/2014/main" id="{6010EEF2-DD1B-464F-9259-45A332688D42}"/>
              </a:ext>
            </a:extLst>
          </p:cNvPr>
          <p:cNvSpPr>
            <a:spLocks noChangeArrowheads="1"/>
          </p:cNvSpPr>
          <p:nvPr/>
        </p:nvSpPr>
        <p:spPr bwMode="auto">
          <a:xfrm>
            <a:off x="8776421" y="3991574"/>
            <a:ext cx="990600" cy="304800"/>
          </a:xfrm>
          <a:prstGeom prst="leftArrow">
            <a:avLst>
              <a:gd name="adj1" fmla="val 50000"/>
              <a:gd name="adj2" fmla="val 81250"/>
            </a:avLst>
          </a:prstGeom>
          <a:solidFill>
            <a:srgbClr val="FFCC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Microsoft YaHei" panose="020B0503020204020204" pitchFamily="34" charset="-122"/>
              <a:ea typeface="Microsoft YaHei" panose="020B0503020204020204" pitchFamily="34" charset="-122"/>
            </a:endParaRPr>
          </a:p>
        </p:txBody>
      </p:sp>
      <p:sp>
        <p:nvSpPr>
          <p:cNvPr id="16" name="Text Box 13">
            <a:extLst>
              <a:ext uri="{FF2B5EF4-FFF2-40B4-BE49-F238E27FC236}">
                <a16:creationId xmlns:a16="http://schemas.microsoft.com/office/drawing/2014/main" id="{51FB8071-8DED-D841-A997-6C5469393EEE}"/>
              </a:ext>
            </a:extLst>
          </p:cNvPr>
          <p:cNvSpPr txBox="1">
            <a:spLocks noChangeArrowheads="1"/>
          </p:cNvSpPr>
          <p:nvPr/>
        </p:nvSpPr>
        <p:spPr bwMode="auto">
          <a:xfrm>
            <a:off x="7170134" y="4472639"/>
            <a:ext cx="1759323"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pPr>
            <a:r>
              <a:rPr lang="en-US" altLang="zh-CN" sz="2000" dirty="0">
                <a:latin typeface="Microsoft YaHei" panose="020B0503020204020204" pitchFamily="34" charset="-122"/>
                <a:ea typeface="Microsoft YaHei" panose="020B0503020204020204" pitchFamily="34" charset="-122"/>
              </a:rPr>
              <a:t>IETF</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Last Call</a:t>
            </a:r>
            <a:br>
              <a:rPr lang="en-US" altLang="zh-CN" sz="2000" dirty="0">
                <a:latin typeface="Microsoft YaHei" panose="020B0503020204020204" pitchFamily="34" charset="-122"/>
                <a:ea typeface="Microsoft YaHei" panose="020B0503020204020204" pitchFamily="34" charset="-122"/>
              </a:rPr>
            </a:br>
            <a:r>
              <a:rPr lang="zh-CN" altLang="en-US" sz="2000" dirty="0">
                <a:latin typeface="Microsoft YaHei" panose="020B0503020204020204" pitchFamily="34" charset="-122"/>
                <a:ea typeface="Microsoft YaHei" panose="020B0503020204020204" pitchFamily="34" charset="-122"/>
              </a:rPr>
              <a:t>（邮件列表）</a:t>
            </a:r>
            <a:endParaRPr lang="en-US" altLang="zh-CN" sz="2000" dirty="0">
              <a:latin typeface="Microsoft YaHei" panose="020B0503020204020204" pitchFamily="34" charset="-122"/>
              <a:ea typeface="Microsoft YaHei" panose="020B0503020204020204" pitchFamily="34" charset="-122"/>
            </a:endParaRPr>
          </a:p>
        </p:txBody>
      </p:sp>
      <p:pic>
        <p:nvPicPr>
          <p:cNvPr id="18" name="Picture 15" descr="J0291984">
            <a:extLst>
              <a:ext uri="{FF2B5EF4-FFF2-40B4-BE49-F238E27FC236}">
                <a16:creationId xmlns:a16="http://schemas.microsoft.com/office/drawing/2014/main" id="{A8387C51-F621-4F42-AA97-FF6D452DE3F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909781" y="1695265"/>
            <a:ext cx="934459" cy="989810"/>
          </a:xfrm>
          <a:prstGeom prst="rect">
            <a:avLst/>
          </a:prstGeom>
          <a:noFill/>
          <a:extLst>
            <a:ext uri="{909E8E84-426E-40dd-AFC4-6F175D3DCCD1}">
              <a14:hiddenFill xmlns="" xmlns:a14="http://schemas.microsoft.com/office/drawing/2010/main">
                <a:solidFill>
                  <a:srgbClr val="FFFFFF"/>
                </a:solidFill>
              </a14:hiddenFill>
            </a:ext>
          </a:extLst>
        </p:spPr>
      </p:pic>
      <p:sp>
        <p:nvSpPr>
          <p:cNvPr id="19" name="Text Box 16">
            <a:extLst>
              <a:ext uri="{FF2B5EF4-FFF2-40B4-BE49-F238E27FC236}">
                <a16:creationId xmlns:a16="http://schemas.microsoft.com/office/drawing/2014/main" id="{94FC9770-CA70-AF43-B594-763EFB52E3B6}"/>
              </a:ext>
            </a:extLst>
          </p:cNvPr>
          <p:cNvSpPr txBox="1">
            <a:spLocks noChangeArrowheads="1"/>
          </p:cNvSpPr>
          <p:nvPr/>
        </p:nvSpPr>
        <p:spPr bwMode="auto">
          <a:xfrm>
            <a:off x="6013071" y="2670450"/>
            <a:ext cx="28956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18000" rIns="18000">
            <a:spAutoFit/>
          </a:bodyPr>
          <a:lstStyle/>
          <a:p>
            <a:pPr algn="ctr">
              <a:spcBef>
                <a:spcPct val="50000"/>
              </a:spcBef>
            </a:pPr>
            <a:r>
              <a:rPr lang="zh-CN" altLang="en-US" dirty="0">
                <a:latin typeface="Microsoft YaHei" panose="020B0503020204020204" pitchFamily="34" charset="-122"/>
                <a:ea typeface="Microsoft YaHei" panose="020B0503020204020204" pitchFamily="34" charset="-122"/>
              </a:rPr>
              <a:t>邮件列表讨论或参会</a:t>
            </a:r>
            <a:endParaRPr lang="en-US" altLang="zh-CN" dirty="0">
              <a:latin typeface="Microsoft YaHei" panose="020B0503020204020204" pitchFamily="34" charset="-122"/>
              <a:ea typeface="Microsoft YaHei" panose="020B0503020204020204" pitchFamily="34" charset="-122"/>
            </a:endParaRPr>
          </a:p>
        </p:txBody>
      </p:sp>
      <p:sp>
        <p:nvSpPr>
          <p:cNvPr id="21" name="AutoShape 19">
            <a:extLst>
              <a:ext uri="{FF2B5EF4-FFF2-40B4-BE49-F238E27FC236}">
                <a16:creationId xmlns:a16="http://schemas.microsoft.com/office/drawing/2014/main" id="{40E3F2BA-26D1-C14E-B589-9B66B04A3D4C}"/>
              </a:ext>
            </a:extLst>
          </p:cNvPr>
          <p:cNvSpPr>
            <a:spLocks noChangeArrowheads="1"/>
          </p:cNvSpPr>
          <p:nvPr/>
        </p:nvSpPr>
        <p:spPr bwMode="auto">
          <a:xfrm>
            <a:off x="5993168" y="4068359"/>
            <a:ext cx="1083469" cy="305869"/>
          </a:xfrm>
          <a:prstGeom prst="leftArrow">
            <a:avLst>
              <a:gd name="adj1" fmla="val 50000"/>
              <a:gd name="adj2" fmla="val 75000"/>
            </a:avLst>
          </a:prstGeom>
          <a:solidFill>
            <a:srgbClr val="FFCC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Microsoft YaHei" panose="020B0503020204020204" pitchFamily="34" charset="-122"/>
              <a:ea typeface="Microsoft YaHei" panose="020B0503020204020204" pitchFamily="34" charset="-122"/>
            </a:endParaRPr>
          </a:p>
        </p:txBody>
      </p:sp>
      <p:sp>
        <p:nvSpPr>
          <p:cNvPr id="23" name="AutoShape 21">
            <a:extLst>
              <a:ext uri="{FF2B5EF4-FFF2-40B4-BE49-F238E27FC236}">
                <a16:creationId xmlns:a16="http://schemas.microsoft.com/office/drawing/2014/main" id="{D8245E1A-9F7A-C145-9791-4E514AF0E8E1}"/>
              </a:ext>
            </a:extLst>
          </p:cNvPr>
          <p:cNvSpPr>
            <a:spLocks noChangeArrowheads="1"/>
          </p:cNvSpPr>
          <p:nvPr/>
        </p:nvSpPr>
        <p:spPr bwMode="auto">
          <a:xfrm>
            <a:off x="10264588" y="2332384"/>
            <a:ext cx="671513" cy="823913"/>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1 h 21600"/>
              <a:gd name="T6" fmla="*/ 2699 w 21600"/>
              <a:gd name="T7" fmla="*/ 10799 h 21600"/>
              <a:gd name="T8" fmla="*/ 10800 w 21600"/>
              <a:gd name="T9" fmla="*/ 539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1" y="10799"/>
                </a:ln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rgbClr val="FFCC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atin typeface="Microsoft YaHei" panose="020B0503020204020204" pitchFamily="34" charset="-122"/>
              <a:ea typeface="Microsoft YaHei" panose="020B0503020204020204" pitchFamily="34" charset="-122"/>
            </a:endParaRPr>
          </a:p>
        </p:txBody>
      </p:sp>
      <p:sp>
        <p:nvSpPr>
          <p:cNvPr id="24" name="AutoShape 23">
            <a:extLst>
              <a:ext uri="{FF2B5EF4-FFF2-40B4-BE49-F238E27FC236}">
                <a16:creationId xmlns:a16="http://schemas.microsoft.com/office/drawing/2014/main" id="{2F33877C-B0B9-1240-84CD-1A58AE2D1044}"/>
              </a:ext>
            </a:extLst>
          </p:cNvPr>
          <p:cNvSpPr>
            <a:spLocks noChangeArrowheads="1"/>
          </p:cNvSpPr>
          <p:nvPr/>
        </p:nvSpPr>
        <p:spPr bwMode="auto">
          <a:xfrm>
            <a:off x="9130552" y="1722784"/>
            <a:ext cx="1143000" cy="1028700"/>
          </a:xfrm>
          <a:prstGeom prst="verticalScroll">
            <a:avLst>
              <a:gd name="adj" fmla="val 12500"/>
            </a:avLst>
          </a:prstGeom>
          <a:solidFill>
            <a:srgbClr val="FFFFFF"/>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zh-CN" altLang="en-US" dirty="0">
                <a:latin typeface="Microsoft YaHei" panose="020B0503020204020204" pitchFamily="34" charset="-122"/>
                <a:ea typeface="Microsoft YaHei" panose="020B0503020204020204" pitchFamily="34" charset="-122"/>
              </a:rPr>
              <a:t>工作组</a:t>
            </a:r>
            <a:br>
              <a:rPr lang="en-US" altLang="zh-CN" dirty="0">
                <a:latin typeface="Microsoft YaHei" panose="020B0503020204020204" pitchFamily="34" charset="-122"/>
                <a:ea typeface="Microsoft YaHei" panose="020B0503020204020204" pitchFamily="34" charset="-122"/>
              </a:rPr>
            </a:br>
            <a:r>
              <a:rPr lang="zh-CN" altLang="en-US" dirty="0">
                <a:latin typeface="Microsoft YaHei" panose="020B0503020204020204" pitchFamily="34" charset="-122"/>
                <a:ea typeface="Microsoft YaHei" panose="020B0503020204020204" pitchFamily="34" charset="-122"/>
              </a:rPr>
              <a:t>文稿</a:t>
            </a:r>
            <a:endParaRPr lang="en-US" altLang="zh-CN" dirty="0">
              <a:latin typeface="Microsoft YaHei" panose="020B0503020204020204" pitchFamily="34" charset="-122"/>
              <a:ea typeface="Microsoft YaHei" panose="020B0503020204020204" pitchFamily="34" charset="-122"/>
            </a:endParaRPr>
          </a:p>
        </p:txBody>
      </p:sp>
      <p:sp>
        <p:nvSpPr>
          <p:cNvPr id="25" name="AutoShape 24">
            <a:extLst>
              <a:ext uri="{FF2B5EF4-FFF2-40B4-BE49-F238E27FC236}">
                <a16:creationId xmlns:a16="http://schemas.microsoft.com/office/drawing/2014/main" id="{4EA0C8EF-A335-3E4B-98E9-B76A47C24F87}"/>
              </a:ext>
            </a:extLst>
          </p:cNvPr>
          <p:cNvSpPr>
            <a:spLocks noChangeArrowheads="1"/>
          </p:cNvSpPr>
          <p:nvPr/>
        </p:nvSpPr>
        <p:spPr bwMode="auto">
          <a:xfrm>
            <a:off x="8216152" y="2256184"/>
            <a:ext cx="914400" cy="304800"/>
          </a:xfrm>
          <a:prstGeom prst="rightArrow">
            <a:avLst>
              <a:gd name="adj1" fmla="val 50000"/>
              <a:gd name="adj2" fmla="val 75000"/>
            </a:avLst>
          </a:prstGeom>
          <a:solidFill>
            <a:srgbClr val="FFCC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solidFill>
                <a:srgbClr val="66FF66"/>
              </a:solidFill>
              <a:latin typeface="Microsoft YaHei" panose="020B0503020204020204" pitchFamily="34" charset="-122"/>
              <a:ea typeface="Microsoft YaHei" panose="020B0503020204020204" pitchFamily="34" charset="-122"/>
            </a:endParaRPr>
          </a:p>
        </p:txBody>
      </p:sp>
      <p:sp>
        <p:nvSpPr>
          <p:cNvPr id="26" name="Text Box 9">
            <a:extLst>
              <a:ext uri="{FF2B5EF4-FFF2-40B4-BE49-F238E27FC236}">
                <a16:creationId xmlns:a16="http://schemas.microsoft.com/office/drawing/2014/main" id="{017A7821-CDA5-C44D-BD5E-F682308AD598}"/>
              </a:ext>
            </a:extLst>
          </p:cNvPr>
          <p:cNvSpPr txBox="1">
            <a:spLocks noChangeArrowheads="1"/>
          </p:cNvSpPr>
          <p:nvPr/>
        </p:nvSpPr>
        <p:spPr bwMode="auto">
          <a:xfrm>
            <a:off x="7965139" y="1593879"/>
            <a:ext cx="1385045"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pPr>
            <a:r>
              <a:rPr lang="zh-CN" altLang="en-US" sz="2000" dirty="0">
                <a:latin typeface="Microsoft YaHei" panose="020B0503020204020204" pitchFamily="34" charset="-122"/>
                <a:ea typeface="Microsoft YaHei" panose="020B0503020204020204" pitchFamily="34" charset="-122"/>
              </a:rPr>
              <a:t>某工作组</a:t>
            </a:r>
            <a:br>
              <a:rPr lang="en-US" altLang="zh-CN" sz="2000" dirty="0">
                <a:latin typeface="Microsoft YaHei" panose="020B0503020204020204" pitchFamily="34" charset="-122"/>
                <a:ea typeface="Microsoft YaHei" panose="020B0503020204020204" pitchFamily="34" charset="-122"/>
              </a:rPr>
            </a:br>
            <a:r>
              <a:rPr lang="zh-CN" altLang="en-US" sz="2000" dirty="0">
                <a:latin typeface="Microsoft YaHei" panose="020B0503020204020204" pitchFamily="34" charset="-122"/>
                <a:ea typeface="Microsoft YaHei" panose="020B0503020204020204" pitchFamily="34" charset="-122"/>
              </a:rPr>
              <a:t>接受</a:t>
            </a:r>
            <a:endParaRPr lang="en-US" altLang="zh-CN" sz="2000" dirty="0">
              <a:latin typeface="Microsoft YaHei" panose="020B0503020204020204" pitchFamily="34" charset="-122"/>
              <a:ea typeface="Microsoft YaHei" panose="020B0503020204020204" pitchFamily="34" charset="-122"/>
            </a:endParaRPr>
          </a:p>
        </p:txBody>
      </p:sp>
      <p:sp>
        <p:nvSpPr>
          <p:cNvPr id="27" name="Text Box 9">
            <a:extLst>
              <a:ext uri="{FF2B5EF4-FFF2-40B4-BE49-F238E27FC236}">
                <a16:creationId xmlns:a16="http://schemas.microsoft.com/office/drawing/2014/main" id="{38F890B4-7AA2-4940-BD42-B9F76480C7F1}"/>
              </a:ext>
            </a:extLst>
          </p:cNvPr>
          <p:cNvSpPr txBox="1">
            <a:spLocks noChangeArrowheads="1"/>
          </p:cNvSpPr>
          <p:nvPr/>
        </p:nvSpPr>
        <p:spPr bwMode="auto">
          <a:xfrm>
            <a:off x="10585078" y="1947822"/>
            <a:ext cx="1385045"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pPr>
            <a:r>
              <a:rPr lang="zh-CN" altLang="en-US" sz="2000" dirty="0">
                <a:latin typeface="Microsoft YaHei" panose="020B0503020204020204" pitchFamily="34" charset="-122"/>
                <a:ea typeface="Microsoft YaHei" panose="020B0503020204020204" pitchFamily="34" charset="-122"/>
              </a:rPr>
              <a:t>工作组</a:t>
            </a:r>
            <a:br>
              <a:rPr lang="en-US" altLang="zh-CN" sz="2000" dirty="0">
                <a:latin typeface="Microsoft YaHei" panose="020B0503020204020204" pitchFamily="34" charset="-122"/>
                <a:ea typeface="Microsoft YaHei" panose="020B0503020204020204" pitchFamily="34" charset="-122"/>
              </a:rPr>
            </a:br>
            <a:r>
              <a:rPr lang="zh-CN" altLang="en-US" sz="2000" dirty="0">
                <a:latin typeface="Microsoft YaHei" panose="020B0503020204020204" pitchFamily="34" charset="-122"/>
                <a:ea typeface="Microsoft YaHei" panose="020B0503020204020204" pitchFamily="34" charset="-122"/>
              </a:rPr>
              <a:t>认可</a:t>
            </a:r>
            <a:endParaRPr lang="en-US" altLang="zh-CN" sz="2000" dirty="0">
              <a:latin typeface="Microsoft YaHei" panose="020B0503020204020204" pitchFamily="34" charset="-122"/>
              <a:ea typeface="Microsoft YaHei" panose="020B0503020204020204" pitchFamily="34" charset="-122"/>
            </a:endParaRPr>
          </a:p>
        </p:txBody>
      </p:sp>
      <p:sp>
        <p:nvSpPr>
          <p:cNvPr id="28" name="Text Box 9">
            <a:extLst>
              <a:ext uri="{FF2B5EF4-FFF2-40B4-BE49-F238E27FC236}">
                <a16:creationId xmlns:a16="http://schemas.microsoft.com/office/drawing/2014/main" id="{73528028-6B29-194F-B131-6CFCC07E6936}"/>
              </a:ext>
            </a:extLst>
          </p:cNvPr>
          <p:cNvSpPr txBox="1">
            <a:spLocks noChangeArrowheads="1"/>
          </p:cNvSpPr>
          <p:nvPr/>
        </p:nvSpPr>
        <p:spPr bwMode="auto">
          <a:xfrm>
            <a:off x="8509721" y="3337098"/>
            <a:ext cx="1563688"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pPr>
            <a:r>
              <a:rPr lang="zh-CN" altLang="en-US" sz="2000" dirty="0">
                <a:latin typeface="Microsoft YaHei" panose="020B0503020204020204" pitchFamily="34" charset="-122"/>
                <a:ea typeface="Microsoft YaHei" panose="020B0503020204020204" pitchFamily="34" charset="-122"/>
              </a:rPr>
              <a:t>工作组</a:t>
            </a:r>
            <a:br>
              <a:rPr lang="en-US" altLang="zh-CN" sz="2000" dirty="0">
                <a:latin typeface="Microsoft YaHei" panose="020B0503020204020204" pitchFamily="34" charset="-122"/>
                <a:ea typeface="Microsoft YaHei" panose="020B0503020204020204" pitchFamily="34" charset="-122"/>
              </a:rPr>
            </a:br>
            <a:r>
              <a:rPr lang="en-US" altLang="zh-CN" sz="2000" dirty="0">
                <a:latin typeface="Microsoft YaHei" panose="020B0503020204020204" pitchFamily="34" charset="-122"/>
                <a:ea typeface="Microsoft YaHei" panose="020B0503020204020204" pitchFamily="34" charset="-122"/>
              </a:rPr>
              <a:t>Last Call</a:t>
            </a:r>
          </a:p>
        </p:txBody>
      </p:sp>
      <p:sp>
        <p:nvSpPr>
          <p:cNvPr id="29" name="Text Box 9">
            <a:extLst>
              <a:ext uri="{FF2B5EF4-FFF2-40B4-BE49-F238E27FC236}">
                <a16:creationId xmlns:a16="http://schemas.microsoft.com/office/drawing/2014/main" id="{49B8D865-5B52-8B4B-BB24-2795FEB4F5FD}"/>
              </a:ext>
            </a:extLst>
          </p:cNvPr>
          <p:cNvSpPr txBox="1">
            <a:spLocks noChangeArrowheads="1"/>
          </p:cNvSpPr>
          <p:nvPr/>
        </p:nvSpPr>
        <p:spPr bwMode="auto">
          <a:xfrm>
            <a:off x="5753058" y="3360954"/>
            <a:ext cx="1563688"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pPr>
            <a:r>
              <a:rPr lang="en-US" altLang="zh-CN" sz="2000" dirty="0">
                <a:latin typeface="Microsoft YaHei" panose="020B0503020204020204" pitchFamily="34" charset="-122"/>
                <a:ea typeface="Microsoft YaHei" panose="020B0503020204020204" pitchFamily="34" charset="-122"/>
              </a:rPr>
              <a:t>IESG</a:t>
            </a:r>
            <a:br>
              <a:rPr lang="en-US" altLang="zh-CN" sz="2000" dirty="0">
                <a:latin typeface="Microsoft YaHei" panose="020B0503020204020204" pitchFamily="34" charset="-122"/>
                <a:ea typeface="Microsoft YaHei" panose="020B0503020204020204" pitchFamily="34" charset="-122"/>
              </a:rPr>
            </a:br>
            <a:r>
              <a:rPr lang="zh-CN" altLang="en-US" sz="2000" dirty="0">
                <a:latin typeface="Microsoft YaHei" panose="020B0503020204020204" pitchFamily="34" charset="-122"/>
                <a:ea typeface="Microsoft YaHei" panose="020B0503020204020204" pitchFamily="34" charset="-122"/>
              </a:rPr>
              <a:t>审核通过</a:t>
            </a:r>
            <a:endParaRPr lang="en-US" altLang="zh-CN" sz="2000" dirty="0">
              <a:latin typeface="Microsoft YaHei" panose="020B0503020204020204" pitchFamily="34" charset="-122"/>
              <a:ea typeface="Microsoft YaHei" panose="020B0503020204020204" pitchFamily="34" charset="-122"/>
            </a:endParaRPr>
          </a:p>
        </p:txBody>
      </p:sp>
      <p:sp>
        <p:nvSpPr>
          <p:cNvPr id="6" name="矩形 5">
            <a:extLst>
              <a:ext uri="{FF2B5EF4-FFF2-40B4-BE49-F238E27FC236}">
                <a16:creationId xmlns:a16="http://schemas.microsoft.com/office/drawing/2014/main" id="{6E136745-57D8-DB45-A676-AA5603971621}"/>
              </a:ext>
            </a:extLst>
          </p:cNvPr>
          <p:cNvSpPr/>
          <p:nvPr/>
        </p:nvSpPr>
        <p:spPr>
          <a:xfrm>
            <a:off x="4925886" y="5695815"/>
            <a:ext cx="3129640" cy="707886"/>
          </a:xfrm>
          <a:prstGeom prst="rect">
            <a:avLst/>
          </a:prstGeom>
          <a:ln>
            <a:solidFill>
              <a:srgbClr val="C00000"/>
            </a:solidFill>
          </a:ln>
        </p:spPr>
        <p:txBody>
          <a:bodyPr wrap="square">
            <a:spAutoFit/>
          </a:bodyPr>
          <a:lstStyle/>
          <a:p>
            <a:pPr algn="ctr"/>
            <a:r>
              <a:rPr lang="zh-CN" altLang="en-US" sz="2000" dirty="0">
                <a:solidFill>
                  <a:prstClr val="black"/>
                </a:solidFill>
                <a:latin typeface="Microsoft YaHei" panose="020B0503020204020204" pitchFamily="34" charset="-122"/>
                <a:ea typeface="Microsoft YaHei" panose="020B0503020204020204" pitchFamily="34" charset="-122"/>
              </a:rPr>
              <a:t>互联网工程指导小组</a:t>
            </a:r>
            <a:r>
              <a:rPr lang="en-US" altLang="zh-CN" sz="2000" dirty="0">
                <a:solidFill>
                  <a:prstClr val="black"/>
                </a:solidFill>
                <a:latin typeface="Microsoft YaHei" panose="020B0503020204020204" pitchFamily="34" charset="-122"/>
                <a:ea typeface="Microsoft YaHei" panose="020B0503020204020204" pitchFamily="34" charset="-122"/>
              </a:rPr>
              <a:t>IESG</a:t>
            </a:r>
            <a:r>
              <a:rPr lang="zh-CN" altLang="en-US" sz="2000" dirty="0">
                <a:solidFill>
                  <a:prstClr val="black"/>
                </a:solidFill>
                <a:latin typeface="Microsoft YaHei" panose="020B0503020204020204" pitchFamily="34" charset="-122"/>
                <a:ea typeface="Microsoft YaHei" panose="020B0503020204020204" pitchFamily="34" charset="-122"/>
              </a:rPr>
              <a:t>由</a:t>
            </a:r>
            <a:r>
              <a:rPr lang="en-US" altLang="zh-CN" sz="2000" dirty="0">
                <a:solidFill>
                  <a:prstClr val="black"/>
                </a:solidFill>
                <a:latin typeface="Microsoft YaHei" panose="020B0503020204020204" pitchFamily="34" charset="-122"/>
                <a:ea typeface="Microsoft YaHei" panose="020B0503020204020204" pitchFamily="34" charset="-122"/>
              </a:rPr>
              <a:t>IETF</a:t>
            </a:r>
            <a:r>
              <a:rPr lang="zh-CN" altLang="en-US" sz="2000" dirty="0">
                <a:solidFill>
                  <a:prstClr val="black"/>
                </a:solidFill>
                <a:latin typeface="Microsoft YaHei" panose="020B0503020204020204" pitchFamily="34" charset="-122"/>
                <a:ea typeface="Microsoft YaHei" panose="020B0503020204020204" pitchFamily="34" charset="-122"/>
              </a:rPr>
              <a:t>各领域主席构成</a:t>
            </a:r>
            <a:endParaRPr lang="zh-CN" altLang="en-US" dirty="0"/>
          </a:p>
        </p:txBody>
      </p:sp>
      <p:pic>
        <p:nvPicPr>
          <p:cNvPr id="8196" name="Picture 4">
            <a:extLst>
              <a:ext uri="{FF2B5EF4-FFF2-40B4-BE49-F238E27FC236}">
                <a16:creationId xmlns:a16="http://schemas.microsoft.com/office/drawing/2014/main" id="{E024F272-82E5-AB4C-A3AF-213494197726}"/>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979841" y="3315784"/>
            <a:ext cx="1616383" cy="112685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4">
            <a:extLst>
              <a:ext uri="{FF2B5EF4-FFF2-40B4-BE49-F238E27FC236}">
                <a16:creationId xmlns:a16="http://schemas.microsoft.com/office/drawing/2014/main" id="{AD1DEA5A-DC6A-2F4A-8403-80680ABC5CB9}"/>
              </a:ext>
            </a:extLst>
          </p:cNvPr>
          <p:cNvSpPr>
            <a:spLocks noChangeArrowheads="1"/>
          </p:cNvSpPr>
          <p:nvPr/>
        </p:nvSpPr>
        <p:spPr bwMode="auto">
          <a:xfrm>
            <a:off x="4660479" y="3629624"/>
            <a:ext cx="1143000" cy="1028700"/>
          </a:xfrm>
          <a:prstGeom prst="verticalScroll">
            <a:avLst>
              <a:gd name="adj" fmla="val 12500"/>
            </a:avLst>
          </a:prstGeom>
          <a:solidFill>
            <a:srgbClr val="FFFFFF"/>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zh-CN" dirty="0">
                <a:latin typeface="Microsoft YaHei" panose="020B0503020204020204" pitchFamily="34" charset="-122"/>
                <a:ea typeface="Microsoft YaHei" panose="020B0503020204020204" pitchFamily="34" charset="-122"/>
              </a:rPr>
              <a:t>RFC</a:t>
            </a:r>
          </a:p>
        </p:txBody>
      </p:sp>
      <p:sp>
        <p:nvSpPr>
          <p:cNvPr id="5" name="矩形 4">
            <a:extLst>
              <a:ext uri="{FF2B5EF4-FFF2-40B4-BE49-F238E27FC236}">
                <a16:creationId xmlns:a16="http://schemas.microsoft.com/office/drawing/2014/main" id="{5A187331-194B-BB49-AE27-871B22BC5B2F}"/>
              </a:ext>
            </a:extLst>
          </p:cNvPr>
          <p:cNvSpPr/>
          <p:nvPr/>
        </p:nvSpPr>
        <p:spPr>
          <a:xfrm>
            <a:off x="5221939" y="5297995"/>
            <a:ext cx="2480679" cy="400110"/>
          </a:xfrm>
          <a:prstGeom prst="rect">
            <a:avLst/>
          </a:prstGeom>
        </p:spPr>
        <p:txBody>
          <a:bodyPr wrap="none">
            <a:spAutoFit/>
          </a:bodyPr>
          <a:lstStyle/>
          <a:p>
            <a:r>
              <a:rPr lang="en-US" altLang="zh-CN" sz="2000" dirty="0">
                <a:solidFill>
                  <a:prstClr val="black"/>
                </a:solidFill>
                <a:latin typeface="Microsoft YaHei" panose="020B0503020204020204" pitchFamily="34" charset="-122"/>
                <a:ea typeface="Microsoft YaHei" panose="020B0503020204020204" pitchFamily="34" charset="-122"/>
              </a:rPr>
              <a:t>IETF</a:t>
            </a:r>
            <a:r>
              <a:rPr lang="zh-CN" altLang="en-US" sz="2000" dirty="0">
                <a:solidFill>
                  <a:prstClr val="black"/>
                </a:solidFill>
                <a:latin typeface="Microsoft YaHei" panose="020B0503020204020204" pitchFamily="34" charset="-122"/>
                <a:ea typeface="Microsoft YaHei" panose="020B0503020204020204" pitchFamily="34" charset="-122"/>
              </a:rPr>
              <a:t>的核心权利机构</a:t>
            </a:r>
            <a:endParaRPr lang="zh-CN" altLang="en-US" dirty="0"/>
          </a:p>
        </p:txBody>
      </p:sp>
      <p:grpSp>
        <p:nvGrpSpPr>
          <p:cNvPr id="10" name="组合 9">
            <a:extLst>
              <a:ext uri="{FF2B5EF4-FFF2-40B4-BE49-F238E27FC236}">
                <a16:creationId xmlns:a16="http://schemas.microsoft.com/office/drawing/2014/main" id="{3F49715A-9147-FC4C-A940-26705C46E2FA}"/>
              </a:ext>
            </a:extLst>
          </p:cNvPr>
          <p:cNvGrpSpPr/>
          <p:nvPr/>
        </p:nvGrpSpPr>
        <p:grpSpPr>
          <a:xfrm>
            <a:off x="8339223" y="5287550"/>
            <a:ext cx="3129640" cy="1110839"/>
            <a:chOff x="8339223" y="5287550"/>
            <a:chExt cx="3129640" cy="1110839"/>
          </a:xfrm>
        </p:grpSpPr>
        <p:sp>
          <p:nvSpPr>
            <p:cNvPr id="31" name="矩形 30">
              <a:extLst>
                <a:ext uri="{FF2B5EF4-FFF2-40B4-BE49-F238E27FC236}">
                  <a16:creationId xmlns:a16="http://schemas.microsoft.com/office/drawing/2014/main" id="{7BCF5944-02F8-CC4A-984B-6BD40A565179}"/>
                </a:ext>
              </a:extLst>
            </p:cNvPr>
            <p:cNvSpPr/>
            <p:nvPr/>
          </p:nvSpPr>
          <p:spPr>
            <a:xfrm>
              <a:off x="8339223" y="5690503"/>
              <a:ext cx="3129640" cy="707886"/>
            </a:xfrm>
            <a:prstGeom prst="rect">
              <a:avLst/>
            </a:prstGeom>
            <a:ln>
              <a:solidFill>
                <a:srgbClr val="C00000"/>
              </a:solidFill>
            </a:ln>
          </p:spPr>
          <p:txBody>
            <a:bodyPr wrap="square">
              <a:spAutoFit/>
            </a:bodyPr>
            <a:lstStyle/>
            <a:p>
              <a:pPr algn="ctr"/>
              <a:r>
                <a:rPr lang="zh-CN" altLang="en-US" sz="2000" dirty="0">
                  <a:solidFill>
                    <a:prstClr val="black"/>
                  </a:solidFill>
                  <a:latin typeface="Microsoft YaHei" panose="020B0503020204020204" pitchFamily="34" charset="-122"/>
                  <a:ea typeface="Microsoft YaHei" panose="020B0503020204020204" pitchFamily="34" charset="-122"/>
                </a:rPr>
                <a:t>我国参与</a:t>
              </a:r>
              <a:r>
                <a:rPr lang="en-US" altLang="zh-CN" sz="2000" dirty="0">
                  <a:solidFill>
                    <a:prstClr val="black"/>
                  </a:solidFill>
                  <a:latin typeface="Microsoft YaHei" panose="020B0503020204020204" pitchFamily="34" charset="-122"/>
                  <a:ea typeface="Microsoft YaHei" panose="020B0503020204020204" pitchFamily="34" charset="-122"/>
                </a:rPr>
                <a:t>RFC</a:t>
              </a:r>
              <a:r>
                <a:rPr lang="zh-CN" altLang="en-US" sz="2000" dirty="0">
                  <a:solidFill>
                    <a:prstClr val="black"/>
                  </a:solidFill>
                  <a:latin typeface="Microsoft YaHei" panose="020B0503020204020204" pitchFamily="34" charset="-122"/>
                  <a:ea typeface="Microsoft YaHei" panose="020B0503020204020204" pitchFamily="34" charset="-122"/>
                </a:rPr>
                <a:t>的人数少，主导的</a:t>
              </a:r>
              <a:r>
                <a:rPr lang="en-US" altLang="zh-CN" sz="2000" dirty="0">
                  <a:solidFill>
                    <a:prstClr val="black"/>
                  </a:solidFill>
                  <a:latin typeface="Microsoft YaHei" panose="020B0503020204020204" pitchFamily="34" charset="-122"/>
                  <a:ea typeface="Microsoft YaHei" panose="020B0503020204020204" pitchFamily="34" charset="-122"/>
                </a:rPr>
                <a:t>RFC</a:t>
              </a:r>
              <a:r>
                <a:rPr lang="zh-CN" altLang="en-US" sz="2000" dirty="0">
                  <a:solidFill>
                    <a:prstClr val="black"/>
                  </a:solidFill>
                  <a:latin typeface="Microsoft YaHei" panose="020B0503020204020204" pitchFamily="34" charset="-122"/>
                  <a:ea typeface="Microsoft YaHei" panose="020B0503020204020204" pitchFamily="34" charset="-122"/>
                </a:rPr>
                <a:t>数量有限</a:t>
              </a:r>
              <a:endParaRPr lang="en-US" altLang="zh-CN" sz="2000" dirty="0">
                <a:solidFill>
                  <a:prstClr val="black"/>
                </a:solidFill>
                <a:latin typeface="Microsoft YaHei" panose="020B0503020204020204" pitchFamily="34" charset="-122"/>
                <a:ea typeface="Microsoft YaHei" panose="020B0503020204020204" pitchFamily="34" charset="-122"/>
              </a:endParaRPr>
            </a:p>
          </p:txBody>
        </p:sp>
        <p:sp>
          <p:nvSpPr>
            <p:cNvPr id="7" name="矩形 6">
              <a:extLst>
                <a:ext uri="{FF2B5EF4-FFF2-40B4-BE49-F238E27FC236}">
                  <a16:creationId xmlns:a16="http://schemas.microsoft.com/office/drawing/2014/main" id="{4B04EE3C-5977-5741-86C9-12000B8E1D73}"/>
                </a:ext>
              </a:extLst>
            </p:cNvPr>
            <p:cNvSpPr/>
            <p:nvPr/>
          </p:nvSpPr>
          <p:spPr>
            <a:xfrm>
              <a:off x="8621992" y="5287550"/>
              <a:ext cx="2492990" cy="400110"/>
            </a:xfrm>
            <a:prstGeom prst="rect">
              <a:avLst/>
            </a:prstGeom>
          </p:spPr>
          <p:txBody>
            <a:bodyPr wrap="none">
              <a:spAutoFit/>
            </a:bodyPr>
            <a:lstStyle/>
            <a:p>
              <a:pPr lvl="0" algn="ctr"/>
              <a:r>
                <a:rPr lang="zh-CN" altLang="en-US" sz="2000" dirty="0">
                  <a:solidFill>
                    <a:prstClr val="black"/>
                  </a:solidFill>
                  <a:latin typeface="Microsoft YaHei" panose="020B0503020204020204" pitchFamily="34" charset="-122"/>
                  <a:ea typeface="Microsoft YaHei" panose="020B0503020204020204" pitchFamily="34" charset="-122"/>
                </a:rPr>
                <a:t>互联网大国而非强国</a:t>
              </a:r>
              <a:endParaRPr lang="zh-CN" altLang="en-US" dirty="0">
                <a:solidFill>
                  <a:prstClr val="black"/>
                </a:solidFill>
              </a:endParaRPr>
            </a:p>
          </p:txBody>
        </p:sp>
      </p:grpSp>
    </p:spTree>
    <p:extLst>
      <p:ext uri="{BB962C8B-B14F-4D97-AF65-F5344CB8AC3E}">
        <p14:creationId xmlns:p14="http://schemas.microsoft.com/office/powerpoint/2010/main" val="36221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linds(horizontal)">
                                      <p:cBhvr>
                                        <p:cTn id="19" dur="500"/>
                                        <p:tgtEl>
                                          <p:spTgt spid="3">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linds(horizontal)">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027" name="AutoShape 45"/>
          <p:cNvCxnSpPr>
            <a:cxnSpLocks noChangeShapeType="1"/>
          </p:cNvCxnSpPr>
          <p:nvPr/>
        </p:nvCxnSpPr>
        <p:spPr bwMode="auto">
          <a:xfrm>
            <a:off x="8687321" y="3188830"/>
            <a:ext cx="1125751" cy="976269"/>
          </a:xfrm>
          <a:prstGeom prst="straightConnector1">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29" name="AutoShape 47"/>
          <p:cNvCxnSpPr>
            <a:cxnSpLocks noChangeShapeType="1"/>
          </p:cNvCxnSpPr>
          <p:nvPr/>
        </p:nvCxnSpPr>
        <p:spPr bwMode="auto">
          <a:xfrm flipH="1">
            <a:off x="7818580" y="3188830"/>
            <a:ext cx="868743" cy="976269"/>
          </a:xfrm>
          <a:prstGeom prst="straightConnector1">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标题 1"/>
          <p:cNvSpPr>
            <a:spLocks noGrp="1"/>
          </p:cNvSpPr>
          <p:nvPr>
            <p:ph type="title"/>
          </p:nvPr>
        </p:nvSpPr>
        <p:spPr/>
        <p:txBody>
          <a:bodyPr>
            <a:normAutofit/>
          </a:bodyPr>
          <a:lstStyle/>
          <a:p>
            <a:r>
              <a:rPr kumimoji="1" lang="en-US" altLang="zh-CN" dirty="0" err="1">
                <a:cs typeface="Times New Roman" panose="02020603050405020304" pitchFamily="18" charset="0"/>
                <a:sym typeface="+mn-ea"/>
              </a:rPr>
              <a:t>Internet标准化组织</a:t>
            </a:r>
            <a:endParaRPr kumimoji="1" lang="zh-CN" altLang="en-US" dirty="0"/>
          </a:p>
        </p:txBody>
      </p:sp>
      <p:sp>
        <p:nvSpPr>
          <p:cNvPr id="3" name="内容占位符 2"/>
          <p:cNvSpPr>
            <a:spLocks noGrp="1"/>
          </p:cNvSpPr>
          <p:nvPr>
            <p:ph idx="1"/>
          </p:nvPr>
        </p:nvSpPr>
        <p:spPr>
          <a:xfrm>
            <a:off x="699198" y="1386204"/>
            <a:ext cx="5014553" cy="5106670"/>
          </a:xfrm>
        </p:spPr>
        <p:txBody>
          <a:bodyPr>
            <a:normAutofit fontScale="92500" lnSpcReduction="20000"/>
          </a:bodyPr>
          <a:lstStyle/>
          <a:p>
            <a:pPr>
              <a:lnSpc>
                <a:spcPct val="120000"/>
              </a:lnSpc>
              <a:spcBef>
                <a:spcPts val="400"/>
              </a:spcBef>
              <a:buFont typeface="Wingdings" panose="05000000000000000000" charset="0"/>
              <a:buChar char="Ø"/>
            </a:pP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互联网协会</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ISOC</a:t>
            </a:r>
          </a:p>
          <a:p>
            <a:pPr lvl="1">
              <a:lnSpc>
                <a:spcPct val="120000"/>
              </a:lnSpc>
              <a:spcBef>
                <a:spcPts val="400"/>
              </a:spcBef>
            </a:pPr>
            <a:r>
              <a:rPr lang="en-US" altLang="zh-CN" dirty="0">
                <a:cs typeface="Times New Roman" panose="02020603050405020304" pitchFamily="18" charset="0"/>
              </a:rPr>
              <a:t>Internet Society</a:t>
            </a:r>
            <a:r>
              <a:rPr lang="zh-CN" altLang="en-US" dirty="0">
                <a:cs typeface="Times New Roman" panose="02020603050405020304" pitchFamily="18" charset="0"/>
              </a:rPr>
              <a:t>，简称</a:t>
            </a:r>
            <a:r>
              <a:rPr lang="en-US" altLang="zh-CN" dirty="0">
                <a:cs typeface="Times New Roman" panose="02020603050405020304" pitchFamily="18" charset="0"/>
              </a:rPr>
              <a:t>ISOC</a:t>
            </a:r>
          </a:p>
          <a:p>
            <a:pPr lvl="1">
              <a:lnSpc>
                <a:spcPct val="120000"/>
              </a:lnSpc>
              <a:spcBef>
                <a:spcPts val="400"/>
              </a:spcBef>
            </a:pPr>
            <a:r>
              <a:rPr lang="zh-CN" altLang="en-US" dirty="0">
                <a:cs typeface="Times New Roman" panose="02020603050405020304" pitchFamily="18" charset="0"/>
              </a:rPr>
              <a:t>由国际互联网协会为</a:t>
            </a:r>
            <a:r>
              <a:rPr lang="en-US" altLang="zh-CN" dirty="0">
                <a:cs typeface="Times New Roman" panose="02020603050405020304" pitchFamily="18" charset="0"/>
              </a:rPr>
              <a:t>IETF</a:t>
            </a:r>
            <a:r>
              <a:rPr lang="zh-CN" altLang="en-US" dirty="0">
                <a:cs typeface="Times New Roman" panose="02020603050405020304" pitchFamily="18" charset="0"/>
              </a:rPr>
              <a:t>等提供法律支撑</a:t>
            </a:r>
            <a:endParaRPr kumimoji="1"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spcBef>
                <a:spcPts val="400"/>
              </a:spcBef>
              <a:buFont typeface="Wingdings" panose="05000000000000000000" charset="0"/>
              <a:buChar char="Ø"/>
            </a:pPr>
            <a:r>
              <a:rPr lang="zh-CN" altLang="en-US" dirty="0">
                <a:solidFill>
                  <a:schemeClr val="tx1"/>
                </a:solidFill>
                <a:effectLst/>
                <a:cs typeface="Times New Roman" panose="02020603050405020304" pitchFamily="18" charset="0"/>
              </a:rPr>
              <a:t>互联网体系结构</a:t>
            </a:r>
            <a:r>
              <a:rPr lang="en-US" altLang="zh-CN" dirty="0" err="1">
                <a:cs typeface="Times New Roman" panose="02020603050405020304" pitchFamily="18" charset="0"/>
                <a:sym typeface="+mn-ea"/>
              </a:rPr>
              <a:t>委员会IAB</a:t>
            </a:r>
            <a:endParaRPr lang="zh-CN" altLang="en-US" dirty="0">
              <a:solidFill>
                <a:schemeClr val="tx1"/>
              </a:solidFill>
              <a:effectLst/>
              <a:cs typeface="Times New Roman" panose="02020603050405020304" pitchFamily="18" charset="0"/>
            </a:endParaRPr>
          </a:p>
          <a:p>
            <a:pPr lvl="1">
              <a:lnSpc>
                <a:spcPct val="120000"/>
              </a:lnSpc>
              <a:spcBef>
                <a:spcPts val="400"/>
              </a:spcBef>
              <a:buFont typeface="Arial" panose="020B0604020202020204" pitchFamily="34" charset="0"/>
              <a:buChar char="•"/>
            </a:pPr>
            <a:r>
              <a:rPr lang="en-US" altLang="zh-CN" dirty="0">
                <a:cs typeface="Times New Roman" panose="02020603050405020304" pitchFamily="18" charset="0"/>
                <a:sym typeface="+mn-ea"/>
              </a:rPr>
              <a:t>IAB: Internet Architecture Board</a:t>
            </a:r>
          </a:p>
          <a:p>
            <a:pPr lvl="1" algn="l">
              <a:lnSpc>
                <a:spcPct val="120000"/>
              </a:lnSpc>
              <a:spcBef>
                <a:spcPts val="400"/>
              </a:spcBef>
              <a:buClrTx/>
              <a:buSzTx/>
              <a:buFont typeface="Arial" panose="020B0604020202020204" pitchFamily="34" charset="0"/>
              <a:buChar char="•"/>
            </a:pPr>
            <a:r>
              <a:rPr lang="en-US" altLang="zh-CN" dirty="0" err="1">
                <a:cs typeface="Times New Roman" panose="02020603050405020304" pitchFamily="18" charset="0"/>
                <a:sym typeface="+mn-ea"/>
              </a:rPr>
              <a:t>IAB是国际互联网标准化组织IETF的顶层</a:t>
            </a:r>
            <a:r>
              <a:rPr lang="zh-CN" altLang="en-US" dirty="0">
                <a:cs typeface="Times New Roman" panose="02020603050405020304" pitchFamily="18" charset="0"/>
                <a:sym typeface="+mn-ea"/>
              </a:rPr>
              <a:t>架构</a:t>
            </a:r>
            <a:r>
              <a:rPr lang="en-US" altLang="zh-CN" dirty="0">
                <a:cs typeface="Times New Roman" panose="02020603050405020304" pitchFamily="18" charset="0"/>
                <a:sym typeface="+mn-ea"/>
              </a:rPr>
              <a:t>委员会，由13个</a:t>
            </a:r>
            <a:r>
              <a:rPr lang="zh-CN" altLang="en-US" dirty="0">
                <a:cs typeface="Times New Roman" panose="02020603050405020304" pitchFamily="18" charset="0"/>
                <a:sym typeface="+mn-ea"/>
              </a:rPr>
              <a:t>个人</a:t>
            </a:r>
            <a:r>
              <a:rPr lang="en-US" altLang="zh-CN" dirty="0" err="1">
                <a:cs typeface="Times New Roman" panose="02020603050405020304" pitchFamily="18" charset="0"/>
                <a:sym typeface="+mn-ea"/>
              </a:rPr>
              <a:t>成员组成</a:t>
            </a:r>
            <a:endParaRPr lang="en-US" altLang="zh-CN" dirty="0">
              <a:cs typeface="Times New Roman" panose="02020603050405020304" pitchFamily="18" charset="0"/>
            </a:endParaRPr>
          </a:p>
          <a:p>
            <a:pPr lvl="1">
              <a:lnSpc>
                <a:spcPct val="120000"/>
              </a:lnSpc>
              <a:spcBef>
                <a:spcPts val="400"/>
              </a:spcBef>
            </a:pPr>
            <a:r>
              <a:rPr lang="zh-CN" altLang="en-US" dirty="0">
                <a:cs typeface="Times New Roman" panose="02020603050405020304" pitchFamily="18" charset="0"/>
                <a:sym typeface="+mn-ea"/>
              </a:rPr>
              <a:t>负责</a:t>
            </a:r>
            <a:r>
              <a:rPr lang="en-US" altLang="zh-CN" dirty="0">
                <a:cs typeface="Times New Roman" panose="02020603050405020304" pitchFamily="18" charset="0"/>
                <a:sym typeface="+mn-ea"/>
              </a:rPr>
              <a:t>TCP/IP</a:t>
            </a:r>
            <a:r>
              <a:rPr lang="zh-CN" altLang="en-US" dirty="0">
                <a:cs typeface="Times New Roman" panose="02020603050405020304" pitchFamily="18" charset="0"/>
                <a:sym typeface="+mn-ea"/>
              </a:rPr>
              <a:t>协议簇开发研究方向的指导</a:t>
            </a:r>
            <a:endParaRPr lang="en-US" altLang="zh-CN" dirty="0">
              <a:cs typeface="Times New Roman" panose="02020603050405020304" pitchFamily="18" charset="0"/>
              <a:sym typeface="+mn-ea"/>
            </a:endParaRPr>
          </a:p>
          <a:p>
            <a:pPr lvl="1">
              <a:lnSpc>
                <a:spcPct val="120000"/>
              </a:lnSpc>
              <a:spcBef>
                <a:spcPts val="400"/>
              </a:spcBef>
            </a:pPr>
            <a:r>
              <a:rPr lang="zh-CN" altLang="en-US" dirty="0">
                <a:cs typeface="Times New Roman" panose="02020603050405020304" pitchFamily="18" charset="0"/>
                <a:sym typeface="+mn-ea"/>
              </a:rPr>
              <a:t>成立于</a:t>
            </a:r>
            <a:r>
              <a:rPr lang="en-US" altLang="zh-CN" dirty="0">
                <a:cs typeface="Times New Roman" panose="02020603050405020304" pitchFamily="18" charset="0"/>
                <a:sym typeface="+mn-ea"/>
              </a:rPr>
              <a:t>1983</a:t>
            </a:r>
            <a:r>
              <a:rPr lang="zh-CN" altLang="en-US" dirty="0">
                <a:cs typeface="Times New Roman" panose="02020603050405020304" pitchFamily="18" charset="0"/>
                <a:sym typeface="+mn-ea"/>
              </a:rPr>
              <a:t>年</a:t>
            </a:r>
            <a:endParaRPr lang="en-US" altLang="zh-CN" dirty="0">
              <a:cs typeface="Times New Roman" panose="02020603050405020304" pitchFamily="18" charset="0"/>
              <a:sym typeface="+mn-ea"/>
            </a:endParaRPr>
          </a:p>
          <a:p>
            <a:pPr lvl="1">
              <a:lnSpc>
                <a:spcPct val="120000"/>
              </a:lnSpc>
              <a:spcBef>
                <a:spcPts val="400"/>
              </a:spcBef>
              <a:buFont typeface="Arial" panose="020B0604020202020204" pitchFamily="34" charset="0"/>
              <a:buChar char="•"/>
            </a:pPr>
            <a:endParaRPr lang="zh-CN" altLang="en-US" dirty="0">
              <a:cs typeface="Times New Roman" panose="02020603050405020304" pitchFamily="18" charset="0"/>
            </a:endParaRPr>
          </a:p>
          <a:p>
            <a:pPr>
              <a:lnSpc>
                <a:spcPct val="120000"/>
              </a:lnSpc>
              <a:spcBef>
                <a:spcPts val="400"/>
              </a:spcBef>
              <a:buNone/>
            </a:pPr>
            <a:endParaRPr kumimoji="1" lang="zh-CN" altLang="en-US" sz="600" dirty="0">
              <a:cs typeface="Times New Roman" panose="02020603050405020304" pitchFamily="18" charset="0"/>
            </a:endParaRPr>
          </a:p>
          <a:p>
            <a:pPr marL="0" indent="0">
              <a:lnSpc>
                <a:spcPct val="120000"/>
              </a:lnSpc>
              <a:spcBef>
                <a:spcPts val="400"/>
              </a:spcBef>
              <a:buNone/>
            </a:pPr>
            <a:endParaRPr kumimoji="1" lang="zh-CN" altLang="en-US" sz="600" dirty="0">
              <a:cs typeface="Times New Roman" panose="02020603050405020304" pitchFamily="18" charset="0"/>
            </a:endParaRPr>
          </a:p>
          <a:p>
            <a:pPr marL="0" indent="0">
              <a:lnSpc>
                <a:spcPct val="120000"/>
              </a:lnSpc>
              <a:spcBef>
                <a:spcPts val="400"/>
              </a:spcBef>
              <a:buNone/>
            </a:pPr>
            <a:endParaRPr kumimoji="1" lang="zh-CN" altLang="en-US" sz="600" dirty="0">
              <a:cs typeface="Times New Roman" panose="02020603050405020304" pitchFamily="18" charset="0"/>
            </a:endParaRPr>
          </a:p>
          <a:p>
            <a:pPr marL="0" indent="0" algn="ctr">
              <a:lnSpc>
                <a:spcPct val="120000"/>
              </a:lnSpc>
              <a:spcBef>
                <a:spcPts val="400"/>
              </a:spcBef>
              <a:buNone/>
            </a:pPr>
            <a:endParaRPr kumimoji="1" lang="en-US" altLang="zh-CN" sz="1000" b="1" dirty="0">
              <a:solidFill>
                <a:srgbClr val="0B10F1"/>
              </a:solidFill>
              <a:effectLst>
                <a:outerShdw blurRad="38100" dist="38100" dir="2700000" algn="tl">
                  <a:srgbClr val="000000">
                    <a:alpha val="43137"/>
                  </a:srgbClr>
                </a:outerShdw>
              </a:effectLst>
              <a:cs typeface="Times New Roman" panose="02020603050405020304" pitchFamily="18" charset="0"/>
            </a:endParaRPr>
          </a:p>
        </p:txBody>
      </p:sp>
      <p:sp>
        <p:nvSpPr>
          <p:cNvPr id="6" name="灯片编号占位符 5">
            <a:extLst>
              <a:ext uri="{FF2B5EF4-FFF2-40B4-BE49-F238E27FC236}">
                <a16:creationId xmlns:a16="http://schemas.microsoft.com/office/drawing/2014/main" id="{7762564C-7EF0-4B40-A049-67AB81959017}"/>
              </a:ext>
            </a:extLst>
          </p:cNvPr>
          <p:cNvSpPr>
            <a:spLocks noGrp="1"/>
          </p:cNvSpPr>
          <p:nvPr>
            <p:ph type="sldNum" sz="quarter" idx="12"/>
          </p:nvPr>
        </p:nvSpPr>
        <p:spPr/>
        <p:txBody>
          <a:bodyPr/>
          <a:lstStyle/>
          <a:p>
            <a:fld id="{8D4D1E41-7A09-AB4A-A4E1-09765ADA2698}" type="slidenum">
              <a:rPr kumimoji="1" lang="zh-CN" altLang="en-US" smtClean="0"/>
              <a:t>100</a:t>
            </a:fld>
            <a:endParaRPr kumimoji="1" lang="zh-CN" altLang="en-US" dirty="0"/>
          </a:p>
        </p:txBody>
      </p:sp>
      <p:sp>
        <p:nvSpPr>
          <p:cNvPr id="5" name="文本框 4"/>
          <p:cNvSpPr txBox="1"/>
          <p:nvPr/>
        </p:nvSpPr>
        <p:spPr>
          <a:xfrm>
            <a:off x="7247890" y="6156960"/>
            <a:ext cx="3333115" cy="460375"/>
          </a:xfrm>
          <a:prstGeom prst="rect">
            <a:avLst/>
          </a:prstGeom>
          <a:noFill/>
        </p:spPr>
        <p:txBody>
          <a:bodyPr wrap="square" rtlCol="0" anchor="t">
            <a:spAutoFit/>
          </a:bodyPr>
          <a:lstStyle/>
          <a:p>
            <a:pPr marL="0" indent="0" algn="ctr">
              <a:buNone/>
            </a:pPr>
            <a:r>
              <a:rPr kumimoji="1" lang="en-US" altLang="zh-CN" sz="2400" b="1" dirty="0">
                <a:solidFill>
                  <a:srgbClr val="7030A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sym typeface="+mn-ea"/>
              </a:rPr>
              <a:t>https://www.iab.org</a:t>
            </a:r>
          </a:p>
        </p:txBody>
      </p:sp>
      <p:sp>
        <p:nvSpPr>
          <p:cNvPr id="8" name="AutoShape 44"/>
          <p:cNvSpPr>
            <a:spLocks noChangeArrowheads="1"/>
          </p:cNvSpPr>
          <p:nvPr/>
        </p:nvSpPr>
        <p:spPr bwMode="auto">
          <a:xfrm>
            <a:off x="9250197" y="3947547"/>
            <a:ext cx="2723384" cy="2121669"/>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a:latin typeface="微软雅黑" panose="020B0503020204020204" pitchFamily="34" charset="-122"/>
              <a:ea typeface="微软雅黑" panose="020B0503020204020204" pitchFamily="34" charset="-122"/>
            </a:endParaRPr>
          </a:p>
        </p:txBody>
      </p:sp>
      <p:sp>
        <p:nvSpPr>
          <p:cNvPr id="9" name="AutoShape 43"/>
          <p:cNvSpPr>
            <a:spLocks noChangeArrowheads="1"/>
          </p:cNvSpPr>
          <p:nvPr/>
        </p:nvSpPr>
        <p:spPr bwMode="auto">
          <a:xfrm>
            <a:off x="5713751" y="3947547"/>
            <a:ext cx="2688461" cy="2136849"/>
          </a:xfrm>
          <a:prstGeom prst="roundRect">
            <a:avLst>
              <a:gd name="adj" fmla="val 16667"/>
            </a:avLst>
          </a:prstGeom>
          <a:solidFill>
            <a:srgbClr val="368AD6"/>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400">
              <a:latin typeface="微软雅黑" panose="020B0503020204020204" pitchFamily="34" charset="-122"/>
              <a:ea typeface="微软雅黑" panose="020B0503020204020204" pitchFamily="34" charset="-122"/>
            </a:endParaRPr>
          </a:p>
        </p:txBody>
      </p:sp>
      <p:sp>
        <p:nvSpPr>
          <p:cNvPr id="41999" name="Line 6"/>
          <p:cNvSpPr>
            <a:spLocks noChangeShapeType="1"/>
          </p:cNvSpPr>
          <p:nvPr/>
        </p:nvSpPr>
        <p:spPr bwMode="auto">
          <a:xfrm>
            <a:off x="7194799" y="4851988"/>
            <a:ext cx="425670" cy="52865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0" name="Line 8"/>
          <p:cNvSpPr>
            <a:spLocks noChangeShapeType="1"/>
          </p:cNvSpPr>
          <p:nvPr/>
        </p:nvSpPr>
        <p:spPr bwMode="auto">
          <a:xfrm flipH="1">
            <a:off x="6453222" y="4851988"/>
            <a:ext cx="424332" cy="52865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Line 18"/>
          <p:cNvSpPr>
            <a:spLocks noChangeShapeType="1"/>
          </p:cNvSpPr>
          <p:nvPr/>
        </p:nvSpPr>
        <p:spPr bwMode="auto">
          <a:xfrm flipV="1">
            <a:off x="10024569" y="4824976"/>
            <a:ext cx="101733" cy="198727"/>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Line 19"/>
          <p:cNvSpPr>
            <a:spLocks noChangeShapeType="1"/>
          </p:cNvSpPr>
          <p:nvPr/>
        </p:nvSpPr>
        <p:spPr bwMode="auto">
          <a:xfrm>
            <a:off x="10969610" y="4823048"/>
            <a:ext cx="164646" cy="154351"/>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3" name="Line 24"/>
          <p:cNvSpPr>
            <a:spLocks noChangeShapeType="1"/>
          </p:cNvSpPr>
          <p:nvPr/>
        </p:nvSpPr>
        <p:spPr bwMode="auto">
          <a:xfrm flipH="1">
            <a:off x="9648426" y="5278383"/>
            <a:ext cx="211497"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4" name="Line 25"/>
          <p:cNvSpPr>
            <a:spLocks noChangeShapeType="1"/>
          </p:cNvSpPr>
          <p:nvPr/>
        </p:nvSpPr>
        <p:spPr bwMode="auto">
          <a:xfrm>
            <a:off x="10020553" y="5278383"/>
            <a:ext cx="318583"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5" name="Line 26"/>
          <p:cNvSpPr>
            <a:spLocks noChangeShapeType="1"/>
          </p:cNvSpPr>
          <p:nvPr/>
        </p:nvSpPr>
        <p:spPr bwMode="auto">
          <a:xfrm flipH="1">
            <a:off x="10763468" y="5278383"/>
            <a:ext cx="266379"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6" name="Line 27"/>
          <p:cNvSpPr>
            <a:spLocks noChangeShapeType="1"/>
          </p:cNvSpPr>
          <p:nvPr/>
        </p:nvSpPr>
        <p:spPr bwMode="auto">
          <a:xfrm>
            <a:off x="11187800" y="5278383"/>
            <a:ext cx="266379" cy="150492"/>
          </a:xfrm>
          <a:prstGeom prst="line">
            <a:avLst/>
          </a:prstGeom>
          <a:noFill/>
          <a:ln w="3810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7" name="Freeform 4"/>
          <p:cNvSpPr/>
          <p:nvPr/>
        </p:nvSpPr>
        <p:spPr bwMode="auto">
          <a:xfrm>
            <a:off x="7864300" y="2702625"/>
            <a:ext cx="1749532" cy="225739"/>
          </a:xfrm>
          <a:custGeom>
            <a:avLst/>
            <a:gdLst>
              <a:gd name="T0" fmla="*/ 0 w 1584"/>
              <a:gd name="T1" fmla="*/ 0 h 336"/>
              <a:gd name="T2" fmla="*/ 2147483647 w 1584"/>
              <a:gd name="T3" fmla="*/ 0 h 336"/>
              <a:gd name="T4" fmla="*/ 2147483647 w 1584"/>
              <a:gd name="T5" fmla="*/ 136021576 h 336"/>
              <a:gd name="T6" fmla="*/ 544752399 w 1584"/>
              <a:gd name="T7" fmla="*/ 136021576 h 336"/>
              <a:gd name="T8" fmla="*/ 0 w 1584"/>
              <a:gd name="T9" fmla="*/ 0 h 336"/>
              <a:gd name="T10" fmla="*/ 0 60000 65536"/>
              <a:gd name="T11" fmla="*/ 0 60000 65536"/>
              <a:gd name="T12" fmla="*/ 0 60000 65536"/>
              <a:gd name="T13" fmla="*/ 0 60000 65536"/>
              <a:gd name="T14" fmla="*/ 0 60000 65536"/>
              <a:gd name="T15" fmla="*/ 0 w 1584"/>
              <a:gd name="T16" fmla="*/ 0 h 336"/>
              <a:gd name="T17" fmla="*/ 1584 w 1584"/>
              <a:gd name="T18" fmla="*/ 336 h 336"/>
            </a:gdLst>
            <a:ahLst/>
            <a:cxnLst>
              <a:cxn ang="T10">
                <a:pos x="T0" y="T1"/>
              </a:cxn>
              <a:cxn ang="T11">
                <a:pos x="T2" y="T3"/>
              </a:cxn>
              <a:cxn ang="T12">
                <a:pos x="T4" y="T5"/>
              </a:cxn>
              <a:cxn ang="T13">
                <a:pos x="T6" y="T7"/>
              </a:cxn>
              <a:cxn ang="T14">
                <a:pos x="T8" y="T9"/>
              </a:cxn>
            </a:cxnLst>
            <a:rect l="T15" t="T16" r="T17" b="T18"/>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sz="2400">
              <a:latin typeface="微软雅黑" panose="020B0503020204020204" pitchFamily="34" charset="-122"/>
              <a:ea typeface="微软雅黑" panose="020B0503020204020204" pitchFamily="34" charset="-122"/>
            </a:endParaRPr>
          </a:p>
        </p:txBody>
      </p:sp>
      <p:sp>
        <p:nvSpPr>
          <p:cNvPr id="42009" name="Text Box 12"/>
          <p:cNvSpPr txBox="1">
            <a:spLocks noChangeArrowheads="1"/>
          </p:cNvSpPr>
          <p:nvPr/>
        </p:nvSpPr>
        <p:spPr bwMode="auto">
          <a:xfrm>
            <a:off x="5778703" y="3291654"/>
            <a:ext cx="24020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IRTF</a:t>
            </a:r>
            <a:br>
              <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br>
            <a:r>
              <a:rPr kumimoji="1"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互联网研究任务组</a:t>
            </a:r>
            <a:endPar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010" name="Text Box 13"/>
          <p:cNvSpPr txBox="1">
            <a:spLocks noChangeArrowheads="1"/>
          </p:cNvSpPr>
          <p:nvPr/>
        </p:nvSpPr>
        <p:spPr bwMode="auto">
          <a:xfrm>
            <a:off x="9219312" y="3295584"/>
            <a:ext cx="27233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IETF </a:t>
            </a:r>
          </a:p>
          <a:p>
            <a:pPr algn="ctr" eaLnBrk="0" hangingPunct="0"/>
            <a:r>
              <a:rPr kumimoji="1"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互联网工程任务组</a:t>
            </a:r>
            <a:endParaRPr kumimoji="1"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012" name="Text Box 17"/>
          <p:cNvSpPr txBox="1">
            <a:spLocks noChangeArrowheads="1"/>
          </p:cNvSpPr>
          <p:nvPr/>
        </p:nvSpPr>
        <p:spPr bwMode="auto">
          <a:xfrm>
            <a:off x="10372601" y="4850059"/>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p>
        </p:txBody>
      </p:sp>
      <p:sp>
        <p:nvSpPr>
          <p:cNvPr id="42013" name="Rectangle 20"/>
          <p:cNvSpPr>
            <a:spLocks noChangeArrowheads="1"/>
          </p:cNvSpPr>
          <p:nvPr/>
        </p:nvSpPr>
        <p:spPr bwMode="auto">
          <a:xfrm>
            <a:off x="6169024" y="5380826"/>
            <a:ext cx="464797" cy="375915"/>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RG</a:t>
            </a:r>
          </a:p>
        </p:txBody>
      </p:sp>
      <p:sp>
        <p:nvSpPr>
          <p:cNvPr id="42014" name="Rectangle 21"/>
          <p:cNvSpPr>
            <a:spLocks noChangeArrowheads="1"/>
          </p:cNvSpPr>
          <p:nvPr/>
        </p:nvSpPr>
        <p:spPr bwMode="auto">
          <a:xfrm>
            <a:off x="11417683" y="5418925"/>
            <a:ext cx="373997"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dirty="0">
                <a:latin typeface="微软雅黑" panose="020B0503020204020204" pitchFamily="34" charset="-122"/>
                <a:ea typeface="微软雅黑" panose="020B0503020204020204" pitchFamily="34" charset="-122"/>
              </a:rPr>
              <a:t>WG</a:t>
            </a:r>
          </a:p>
        </p:txBody>
      </p:sp>
      <p:sp>
        <p:nvSpPr>
          <p:cNvPr id="42015" name="Text Box 22"/>
          <p:cNvSpPr txBox="1">
            <a:spLocks noChangeArrowheads="1"/>
          </p:cNvSpPr>
          <p:nvPr/>
        </p:nvSpPr>
        <p:spPr bwMode="auto">
          <a:xfrm>
            <a:off x="9855907" y="5318899"/>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p>
        </p:txBody>
      </p:sp>
      <p:sp>
        <p:nvSpPr>
          <p:cNvPr id="42016" name="Text Box 23"/>
          <p:cNvSpPr txBox="1">
            <a:spLocks noChangeArrowheads="1"/>
          </p:cNvSpPr>
          <p:nvPr/>
        </p:nvSpPr>
        <p:spPr bwMode="auto">
          <a:xfrm>
            <a:off x="11064650" y="5318899"/>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p>
        </p:txBody>
      </p:sp>
      <p:sp>
        <p:nvSpPr>
          <p:cNvPr id="42017" name="Rectangle 28"/>
          <p:cNvSpPr>
            <a:spLocks noChangeArrowheads="1"/>
          </p:cNvSpPr>
          <p:nvPr/>
        </p:nvSpPr>
        <p:spPr bwMode="auto">
          <a:xfrm>
            <a:off x="7360862" y="5380826"/>
            <a:ext cx="457813" cy="375915"/>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RG</a:t>
            </a:r>
          </a:p>
        </p:txBody>
      </p:sp>
      <p:sp>
        <p:nvSpPr>
          <p:cNvPr id="42018" name="Text Box 29"/>
          <p:cNvSpPr txBox="1">
            <a:spLocks noChangeArrowheads="1"/>
          </p:cNvSpPr>
          <p:nvPr/>
        </p:nvSpPr>
        <p:spPr bwMode="auto">
          <a:xfrm>
            <a:off x="6834719" y="5345911"/>
            <a:ext cx="326615" cy="46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en-US" altLang="zh-CN" sz="2400">
                <a:solidFill>
                  <a:schemeClr val="bg1"/>
                </a:solidFill>
                <a:latin typeface="微软雅黑" panose="020B0503020204020204" pitchFamily="34" charset="-122"/>
                <a:ea typeface="微软雅黑" panose="020B0503020204020204" pitchFamily="34" charset="-122"/>
              </a:rPr>
              <a:t>…</a:t>
            </a:r>
          </a:p>
        </p:txBody>
      </p:sp>
      <p:sp>
        <p:nvSpPr>
          <p:cNvPr id="42019" name="Rectangle 30"/>
          <p:cNvSpPr>
            <a:spLocks noChangeArrowheads="1"/>
          </p:cNvSpPr>
          <p:nvPr/>
        </p:nvSpPr>
        <p:spPr bwMode="auto">
          <a:xfrm>
            <a:off x="9648658" y="4977606"/>
            <a:ext cx="690847" cy="35686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2000">
                <a:latin typeface="微软雅黑" panose="020B0503020204020204" pitchFamily="34" charset="-122"/>
                <a:ea typeface="微软雅黑" panose="020B0503020204020204" pitchFamily="34" charset="-122"/>
              </a:rPr>
              <a:t>领域</a:t>
            </a:r>
          </a:p>
        </p:txBody>
      </p:sp>
      <p:sp>
        <p:nvSpPr>
          <p:cNvPr id="42020" name="Rectangle 31"/>
          <p:cNvSpPr>
            <a:spLocks noChangeArrowheads="1"/>
          </p:cNvSpPr>
          <p:nvPr/>
        </p:nvSpPr>
        <p:spPr bwMode="auto">
          <a:xfrm>
            <a:off x="10969395" y="4977606"/>
            <a:ext cx="561948" cy="35686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2000">
                <a:latin typeface="微软雅黑" panose="020B0503020204020204" pitchFamily="34" charset="-122"/>
                <a:ea typeface="微软雅黑" panose="020B0503020204020204" pitchFamily="34" charset="-122"/>
              </a:rPr>
              <a:t>领域</a:t>
            </a:r>
          </a:p>
        </p:txBody>
      </p:sp>
      <p:sp>
        <p:nvSpPr>
          <p:cNvPr id="42024" name="Rectangle 33"/>
          <p:cNvSpPr>
            <a:spLocks noChangeArrowheads="1"/>
          </p:cNvSpPr>
          <p:nvPr/>
        </p:nvSpPr>
        <p:spPr bwMode="auto">
          <a:xfrm>
            <a:off x="10648099" y="5418925"/>
            <a:ext cx="417175"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WG</a:t>
            </a:r>
          </a:p>
        </p:txBody>
      </p:sp>
      <p:sp>
        <p:nvSpPr>
          <p:cNvPr id="42025" name="Rectangle 34"/>
          <p:cNvSpPr>
            <a:spLocks noChangeArrowheads="1"/>
          </p:cNvSpPr>
          <p:nvPr/>
        </p:nvSpPr>
        <p:spPr bwMode="auto">
          <a:xfrm>
            <a:off x="10150284" y="5418925"/>
            <a:ext cx="370822"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WG</a:t>
            </a:r>
          </a:p>
        </p:txBody>
      </p:sp>
      <p:sp>
        <p:nvSpPr>
          <p:cNvPr id="42026" name="Rectangle 35"/>
          <p:cNvSpPr>
            <a:spLocks noChangeArrowheads="1"/>
          </p:cNvSpPr>
          <p:nvPr/>
        </p:nvSpPr>
        <p:spPr bwMode="auto">
          <a:xfrm>
            <a:off x="9449912" y="5418925"/>
            <a:ext cx="409555" cy="38036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en-US" altLang="zh-CN" sz="2000">
                <a:latin typeface="微软雅黑" panose="020B0503020204020204" pitchFamily="34" charset="-122"/>
                <a:ea typeface="微软雅黑" panose="020B0503020204020204" pitchFamily="34" charset="-122"/>
              </a:rPr>
              <a:t>WG</a:t>
            </a:r>
            <a:endParaRPr kumimoji="1" lang="en-US" altLang="zh-CN" sz="2400">
              <a:latin typeface="微软雅黑" panose="020B0503020204020204" pitchFamily="34" charset="-122"/>
              <a:ea typeface="微软雅黑" panose="020B0503020204020204" pitchFamily="34" charset="-122"/>
            </a:endParaRPr>
          </a:p>
        </p:txBody>
      </p:sp>
      <p:cxnSp>
        <p:nvCxnSpPr>
          <p:cNvPr id="42028" name="AutoShape 46"/>
          <p:cNvCxnSpPr>
            <a:cxnSpLocks noChangeShapeType="1"/>
            <a:stCxn id="43" idx="2"/>
            <a:endCxn id="30" idx="2"/>
          </p:cNvCxnSpPr>
          <p:nvPr/>
        </p:nvCxnSpPr>
        <p:spPr bwMode="auto">
          <a:xfrm>
            <a:off x="8681635" y="2022974"/>
            <a:ext cx="14200" cy="1172084"/>
          </a:xfrm>
          <a:prstGeom prst="straightConnector1">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Rectangle 32"/>
          <p:cNvSpPr>
            <a:spLocks noChangeArrowheads="1"/>
          </p:cNvSpPr>
          <p:nvPr/>
        </p:nvSpPr>
        <p:spPr bwMode="auto">
          <a:xfrm>
            <a:off x="7326523" y="2318236"/>
            <a:ext cx="2738624" cy="876821"/>
          </a:xfrm>
          <a:prstGeom prst="rect">
            <a:avLst/>
          </a:prstGeom>
          <a:solidFill>
            <a:srgbClr val="FFFF00"/>
          </a:solidFill>
          <a:ln w="28575">
            <a:solidFill>
              <a:srgbClr val="000066"/>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algn="ctr" eaLnBrk="0" fontAlgn="auto" hangingPunct="0">
              <a:spcBef>
                <a:spcPts val="0"/>
              </a:spcBef>
              <a:spcAft>
                <a:spcPts val="0"/>
              </a:spcAft>
              <a:defRPr/>
            </a:pPr>
            <a:r>
              <a:rPr kumimoji="1"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互联网体系结构</a:t>
            </a:r>
          </a:p>
          <a:p>
            <a:pPr algn="ctr" eaLnBrk="0" fontAlgn="auto" hangingPunct="0">
              <a:spcBef>
                <a:spcPts val="0"/>
              </a:spcBef>
              <a:spcAft>
                <a:spcPts val="0"/>
              </a:spcAft>
              <a:defRPr/>
            </a:pPr>
            <a:r>
              <a:rPr kumimoji="1"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研究委员会</a:t>
            </a:r>
            <a:r>
              <a:rPr kumimoji="1" lang="en-US" altLang="zh-CN"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IAB</a:t>
            </a:r>
          </a:p>
        </p:txBody>
      </p:sp>
      <p:sp>
        <p:nvSpPr>
          <p:cNvPr id="42008" name="Rectangle 10"/>
          <p:cNvSpPr>
            <a:spLocks noChangeArrowheads="1"/>
          </p:cNvSpPr>
          <p:nvPr/>
        </p:nvSpPr>
        <p:spPr bwMode="auto">
          <a:xfrm>
            <a:off x="5827411" y="4313406"/>
            <a:ext cx="2439553" cy="664836"/>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互联网研究</a:t>
            </a:r>
          </a:p>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指导小组</a:t>
            </a:r>
            <a:r>
              <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IRSG </a:t>
            </a:r>
          </a:p>
        </p:txBody>
      </p:sp>
      <p:sp>
        <p:nvSpPr>
          <p:cNvPr id="42011" name="Rectangle 16"/>
          <p:cNvSpPr>
            <a:spLocks noChangeArrowheads="1"/>
          </p:cNvSpPr>
          <p:nvPr/>
        </p:nvSpPr>
        <p:spPr bwMode="auto">
          <a:xfrm>
            <a:off x="9477216" y="4221332"/>
            <a:ext cx="2214139" cy="603877"/>
          </a:xfrm>
          <a:prstGeom prst="rect">
            <a:avLst/>
          </a:prstGeom>
          <a:solidFill>
            <a:schemeClr val="bg1"/>
          </a:solidFill>
          <a:ln>
            <a:noFill/>
          </a:ln>
          <a:extLst>
            <a:ext uri="{91240B29-F687-4F45-9708-019B960494DF}">
              <a14:hiddenLine xmlns:a14="http://schemas.microsoft.com/office/drawing/2010/main" w="9525">
                <a:solidFill>
                  <a:srgbClr val="368AD6"/>
                </a:solidFill>
                <a:miter lim="800000"/>
                <a:headEnd/>
                <a:tailEnd/>
              </a14:hiddenLine>
            </a:ext>
          </a:extLst>
        </p:spPr>
        <p:txBody>
          <a:bodyPr wrap="none" anchor="ctr"/>
          <a:lstStyle/>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互联网工程</a:t>
            </a:r>
          </a:p>
          <a:p>
            <a:pPr algn="ctr" eaLnBrk="0" hangingPunct="0"/>
            <a:r>
              <a:rPr kumimoji="1"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指导小组</a:t>
            </a:r>
            <a:r>
              <a:rPr kumimoji="1"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IESG </a:t>
            </a:r>
          </a:p>
        </p:txBody>
      </p:sp>
      <p:sp>
        <p:nvSpPr>
          <p:cNvPr id="43" name="Rectangle 5"/>
          <p:cNvSpPr>
            <a:spLocks noChangeArrowheads="1"/>
          </p:cNvSpPr>
          <p:nvPr/>
        </p:nvSpPr>
        <p:spPr bwMode="auto">
          <a:xfrm>
            <a:off x="7203990" y="1477442"/>
            <a:ext cx="2955290" cy="545532"/>
          </a:xfrm>
          <a:prstGeom prst="rect">
            <a:avLst/>
          </a:prstGeom>
          <a:noFill/>
          <a:ln w="28575">
            <a:solidFill>
              <a:srgbClr val="000066"/>
            </a:solidFill>
            <a:miter lim="800000"/>
          </a:ln>
          <a:effectLst/>
        </p:spPr>
        <p:txBody>
          <a:bodyPr wrap="none" anchor="ctr"/>
          <a:lstStyle/>
          <a:p>
            <a:pPr algn="ctr" eaLnBrk="0" fontAlgn="auto" hangingPunct="0">
              <a:spcBef>
                <a:spcPts val="0"/>
              </a:spcBef>
              <a:spcAft>
                <a:spcPts val="0"/>
              </a:spcAft>
              <a:defRPr/>
            </a:pP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互联网协会 </a:t>
            </a:r>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ISOC</a:t>
            </a:r>
          </a:p>
        </p:txBody>
      </p:sp>
      <p:sp>
        <p:nvSpPr>
          <p:cNvPr id="41" name="文本框 40">
            <a:extLst>
              <a:ext uri="{FF2B5EF4-FFF2-40B4-BE49-F238E27FC236}">
                <a16:creationId xmlns:a16="http://schemas.microsoft.com/office/drawing/2014/main" id="{E76564D7-95B3-8A40-A289-70E0F9FBF256}"/>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spTree>
    <p:extLst>
      <p:ext uri="{BB962C8B-B14F-4D97-AF65-F5344CB8AC3E}">
        <p14:creationId xmlns:p14="http://schemas.microsoft.com/office/powerpoint/2010/main" val="5886329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latin typeface="Times New Roman" panose="02020603050405020304" pitchFamily="18" charset="0"/>
                <a:cs typeface="Times New Roman" panose="02020603050405020304" pitchFamily="18" charset="0"/>
                <a:sym typeface="+mn-ea"/>
              </a:rPr>
              <a:t>中国的</a:t>
            </a:r>
            <a:r>
              <a:rPr kumimoji="1" lang="en-US" altLang="zh-CN" dirty="0" err="1">
                <a:latin typeface="Times New Roman" panose="02020603050405020304" pitchFamily="18" charset="0"/>
                <a:cs typeface="Times New Roman" panose="02020603050405020304" pitchFamily="18" charset="0"/>
                <a:sym typeface="+mn-ea"/>
              </a:rPr>
              <a:t>相关标准组织与联盟</a:t>
            </a:r>
            <a:endParaRPr kumimoji="1" lang="zh-CN" altLang="en-US" dirty="0"/>
          </a:p>
        </p:txBody>
      </p:sp>
      <p:sp>
        <p:nvSpPr>
          <p:cNvPr id="3" name="内容占位符 2"/>
          <p:cNvSpPr>
            <a:spLocks noGrp="1"/>
          </p:cNvSpPr>
          <p:nvPr>
            <p:ph idx="1"/>
          </p:nvPr>
        </p:nvSpPr>
        <p:spPr>
          <a:xfrm>
            <a:off x="838200" y="1300603"/>
            <a:ext cx="7905750" cy="5192271"/>
          </a:xfrm>
        </p:spPr>
        <p:txBody>
          <a:bodyPr>
            <a:normAutofit fontScale="97500"/>
          </a:bodyPr>
          <a:lstStyle/>
          <a:p>
            <a:pPr>
              <a:lnSpc>
                <a:spcPct val="130000"/>
              </a:lnSpc>
              <a:buFont typeface="Wingdings" panose="05000000000000000000" charset="0"/>
              <a:buChar char="Ø"/>
            </a:pPr>
            <a:r>
              <a:rPr lang="zh-CN" altLang="en-US" dirty="0">
                <a:solidFill>
                  <a:schemeClr val="tx1"/>
                </a:solidFill>
                <a:effectLst/>
                <a:latin typeface="Times New Roman" panose="02020603050405020304" pitchFamily="18" charset="0"/>
                <a:cs typeface="Times New Roman" panose="02020603050405020304" pitchFamily="18" charset="0"/>
              </a:rPr>
              <a:t>中国通信标准化</a:t>
            </a:r>
            <a:r>
              <a:rPr lang="zh-CN" altLang="en-US" dirty="0">
                <a:latin typeface="Times New Roman" panose="02020603050405020304" pitchFamily="18" charset="0"/>
                <a:cs typeface="Times New Roman" panose="02020603050405020304" pitchFamily="18" charset="0"/>
              </a:rPr>
              <a:t>协会CCSA</a:t>
            </a:r>
            <a:endParaRPr lang="zh-CN" altLang="en-US" dirty="0">
              <a:solidFill>
                <a:schemeClr val="tx1"/>
              </a:solidFill>
              <a:effectLst/>
              <a:latin typeface="Times New Roman" panose="02020603050405020304" pitchFamily="18" charset="0"/>
              <a:cs typeface="Times New Roman" panose="02020603050405020304" pitchFamily="18" charset="0"/>
            </a:endParaRPr>
          </a:p>
          <a:p>
            <a:pPr marL="585470" indent="-305435" algn="l">
              <a:lnSpc>
                <a:spcPct val="120000"/>
              </a:lnSpc>
              <a:spcAft>
                <a:spcPts val="0"/>
              </a:spcAft>
              <a:buClrTx/>
              <a:buSzTx/>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sym typeface="+mn-ea"/>
              </a:rPr>
              <a:t>CCSA</a:t>
            </a:r>
            <a:r>
              <a:rPr lang="en-US" altLang="zh-CN" sz="2400" dirty="0">
                <a:latin typeface="Times New Roman" panose="02020603050405020304" pitchFamily="18" charset="0"/>
                <a:cs typeface="Times New Roman" panose="02020603050405020304" pitchFamily="18" charset="0"/>
              </a:rPr>
              <a:t> (China Communications Standards </a:t>
            </a:r>
            <a:br>
              <a:rPr lang="en-US" altLang="zh-CN" sz="2400" dirty="0">
                <a:latin typeface="Times New Roman" panose="02020603050405020304" pitchFamily="18" charset="0"/>
                <a:cs typeface="Times New Roman" panose="02020603050405020304" pitchFamily="18" charset="0"/>
              </a:rPr>
            </a:br>
            <a:r>
              <a:rPr lang="en-US" altLang="zh-CN" sz="2400" dirty="0">
                <a:latin typeface="Times New Roman" panose="02020603050405020304" pitchFamily="18" charset="0"/>
                <a:cs typeface="Times New Roman" panose="02020603050405020304" pitchFamily="18" charset="0"/>
              </a:rPr>
              <a:t>Association)</a:t>
            </a:r>
          </a:p>
          <a:p>
            <a:pPr marL="585470" indent="-305435" algn="l">
              <a:lnSpc>
                <a:spcPct val="120000"/>
              </a:lnSpc>
              <a:spcAft>
                <a:spcPts val="0"/>
              </a:spcAft>
              <a:buClrTx/>
              <a:buSzTx/>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2002年12月18日成立</a:t>
            </a:r>
          </a:p>
          <a:p>
            <a:pPr marL="585470" indent="-305435" algn="l">
              <a:lnSpc>
                <a:spcPct val="130000"/>
              </a:lnSpc>
              <a:spcAft>
                <a:spcPts val="0"/>
              </a:spcAft>
              <a:buClrTx/>
              <a:buSzTx/>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10</a:t>
            </a:r>
            <a:r>
              <a:rPr lang="zh-CN" altLang="en-US" sz="2400" dirty="0">
                <a:latin typeface="Times New Roman" panose="02020603050405020304" pitchFamily="18" charset="0"/>
                <a:cs typeface="Times New Roman" panose="02020603050405020304" pitchFamily="18" charset="0"/>
              </a:rPr>
              <a:t>余个</a:t>
            </a:r>
            <a:r>
              <a:rPr lang="en-US" altLang="zh-CN" sz="2400" dirty="0" err="1">
                <a:latin typeface="Times New Roman" panose="02020603050405020304" pitchFamily="18" charset="0"/>
                <a:cs typeface="Times New Roman" panose="02020603050405020304" pitchFamily="18" charset="0"/>
              </a:rPr>
              <a:t>技术委员会TC</a:t>
            </a:r>
            <a:r>
              <a:rPr lang="zh-CN" altLang="en-US" sz="2400" dirty="0">
                <a:latin typeface="Times New Roman" panose="02020603050405020304" pitchFamily="18" charset="0"/>
                <a:cs typeface="Times New Roman" panose="02020603050405020304" pitchFamily="18" charset="0"/>
              </a:rPr>
              <a:t>，根据技术需求成立和解散</a:t>
            </a:r>
          </a:p>
        </p:txBody>
      </p:sp>
      <p:sp>
        <p:nvSpPr>
          <p:cNvPr id="7" name="灯片编号占位符 6">
            <a:extLst>
              <a:ext uri="{FF2B5EF4-FFF2-40B4-BE49-F238E27FC236}">
                <a16:creationId xmlns:a16="http://schemas.microsoft.com/office/drawing/2014/main" id="{7E986B33-CD0D-9240-946D-7CD35601286B}"/>
              </a:ext>
            </a:extLst>
          </p:cNvPr>
          <p:cNvSpPr>
            <a:spLocks noGrp="1"/>
          </p:cNvSpPr>
          <p:nvPr>
            <p:ph type="sldNum" sz="quarter" idx="12"/>
          </p:nvPr>
        </p:nvSpPr>
        <p:spPr/>
        <p:txBody>
          <a:bodyPr/>
          <a:lstStyle/>
          <a:p>
            <a:fld id="{8D4D1E41-7A09-AB4A-A4E1-09765ADA2698}" type="slidenum">
              <a:rPr kumimoji="1" lang="zh-CN" altLang="en-US" smtClean="0"/>
              <a:t>101</a:t>
            </a:fld>
            <a:endParaRPr kumimoji="1" lang="zh-CN" altLang="en-US" dirty="0"/>
          </a:p>
        </p:txBody>
      </p:sp>
      <p:pic>
        <p:nvPicPr>
          <p:cNvPr id="6" name="图片 5"/>
          <p:cNvPicPr>
            <a:picLocks noChangeAspect="1"/>
          </p:cNvPicPr>
          <p:nvPr/>
        </p:nvPicPr>
        <p:blipFill>
          <a:blip r:embed="rId3"/>
          <a:stretch>
            <a:fillRect/>
          </a:stretch>
        </p:blipFill>
        <p:spPr>
          <a:xfrm>
            <a:off x="7156270" y="1775917"/>
            <a:ext cx="3930286" cy="718185"/>
          </a:xfrm>
          <a:prstGeom prst="rect">
            <a:avLst/>
          </a:prstGeom>
        </p:spPr>
      </p:pic>
      <p:sp>
        <p:nvSpPr>
          <p:cNvPr id="8" name="文本框 7">
            <a:extLst>
              <a:ext uri="{FF2B5EF4-FFF2-40B4-BE49-F238E27FC236}">
                <a16:creationId xmlns:a16="http://schemas.microsoft.com/office/drawing/2014/main" id="{5152E8D5-6DDA-AC41-AE62-49F3641426AE}"/>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graphicFrame>
        <p:nvGraphicFramePr>
          <p:cNvPr id="4" name="表格 8">
            <a:extLst>
              <a:ext uri="{FF2B5EF4-FFF2-40B4-BE49-F238E27FC236}">
                <a16:creationId xmlns:a16="http://schemas.microsoft.com/office/drawing/2014/main" id="{51AA7502-9945-4F4E-A0CA-E986362166F5}"/>
              </a:ext>
            </a:extLst>
          </p:cNvPr>
          <p:cNvGraphicFramePr>
            <a:graphicFrameLocks noGrp="1"/>
          </p:cNvGraphicFramePr>
          <p:nvPr/>
        </p:nvGraphicFramePr>
        <p:xfrm>
          <a:off x="2032000" y="4074919"/>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26631262"/>
                    </a:ext>
                  </a:extLst>
                </a:gridCol>
                <a:gridCol w="4064000">
                  <a:extLst>
                    <a:ext uri="{9D8B030D-6E8A-4147-A177-3AD203B41FA5}">
                      <a16:colId xmlns:a16="http://schemas.microsoft.com/office/drawing/2014/main" val="551752243"/>
                    </a:ext>
                  </a:extLst>
                </a:gridCol>
              </a:tblGrid>
              <a:tr h="370840">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TC1：互联网与应用</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TC8：网络与信息安全</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8917942"/>
                  </a:ext>
                </a:extLst>
              </a:tr>
              <a:tr h="370840">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TC3：网络与业务能力</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TC9：电磁环境与安全防护</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1550686"/>
                  </a:ext>
                </a:extLst>
              </a:tr>
              <a:tr h="370840">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TC4：通信电源与通信局站工作环境</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TC10：物联网</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2679015"/>
                  </a:ext>
                </a:extLst>
              </a:tr>
              <a:tr h="370840">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TC5：无线通信</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TC11：移动互联网应用和终端</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1196922"/>
                  </a:ext>
                </a:extLst>
              </a:tr>
              <a:tr h="370840">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TC6：传送网与接入网</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TC12：航天通信技术</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23326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latin typeface="Microsoft YaHei" panose="020B0503020204020204" pitchFamily="34" charset="-122"/>
                          <a:ea typeface="Microsoft YaHei" panose="020B0503020204020204" pitchFamily="34" charset="-122"/>
                          <a:cs typeface="Times New Roman" panose="02020603050405020304" pitchFamily="18" charset="0"/>
                        </a:rPr>
                        <a:t>TC7：网络管理与运营支撑</a:t>
                      </a:r>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b="0" dirty="0">
                        <a:solidFill>
                          <a:schemeClr val="tx1"/>
                        </a:solidFill>
                        <a:latin typeface="Microsoft YaHei" panose="020B0503020204020204" pitchFamily="34" charset="-122"/>
                        <a:ea typeface="Microsoft YaHei"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9551213"/>
                  </a:ext>
                </a:extLst>
              </a:tr>
            </a:tbl>
          </a:graphicData>
        </a:graphic>
      </p:graphicFrame>
    </p:spTree>
    <p:extLst>
      <p:ext uri="{BB962C8B-B14F-4D97-AF65-F5344CB8AC3E}">
        <p14:creationId xmlns:p14="http://schemas.microsoft.com/office/powerpoint/2010/main" val="18665750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sym typeface="+mn-ea"/>
              </a:rPr>
              <a:t>开源社区</a:t>
            </a:r>
            <a:endParaRPr kumimoji="1" lang="zh-CN" altLang="en-US" dirty="0"/>
          </a:p>
        </p:txBody>
      </p:sp>
      <p:sp>
        <p:nvSpPr>
          <p:cNvPr id="8" name="内容占位符 2">
            <a:extLst>
              <a:ext uri="{FF2B5EF4-FFF2-40B4-BE49-F238E27FC236}">
                <a16:creationId xmlns:a16="http://schemas.microsoft.com/office/drawing/2014/main" id="{08496E6F-3B87-2A48-A74E-D8E900A1612A}"/>
              </a:ext>
            </a:extLst>
          </p:cNvPr>
          <p:cNvSpPr>
            <a:spLocks noGrp="1"/>
          </p:cNvSpPr>
          <p:nvPr>
            <p:ph idx="1"/>
          </p:nvPr>
        </p:nvSpPr>
        <p:spPr>
          <a:xfrm>
            <a:off x="838200" y="1510757"/>
            <a:ext cx="6767830" cy="5198017"/>
          </a:xfrm>
        </p:spPr>
        <p:txBody>
          <a:bodyPr>
            <a:normAutofit lnSpcReduction="10000"/>
          </a:bodyPr>
          <a:lstStyle/>
          <a:p>
            <a:pPr algn="l">
              <a:lnSpc>
                <a:spcPct val="125000"/>
              </a:lnSpc>
              <a:spcAft>
                <a:spcPts val="0"/>
              </a:spcAft>
              <a:buClrTx/>
              <a:buSzTx/>
              <a:buFont typeface="Wingdings" panose="05000000000000000000" charset="0"/>
              <a:buChar char="Ø"/>
            </a:pPr>
            <a:r>
              <a:rPr lang="en-US" altLang="zh-CN" dirty="0" err="1">
                <a:effectLst/>
                <a:cs typeface="微软雅黑" panose="020B0503020204020204" pitchFamily="34" charset="-122"/>
              </a:rPr>
              <a:t>开源社区</a:t>
            </a:r>
            <a:r>
              <a:rPr lang="zh-CN" altLang="en-US" dirty="0">
                <a:effectLst/>
                <a:cs typeface="微软雅黑" panose="020B0503020204020204" pitchFamily="34" charset="-122"/>
              </a:rPr>
              <a:t> </a:t>
            </a:r>
            <a:r>
              <a:rPr lang="en-US" altLang="zh-CN" dirty="0">
                <a:effectLst/>
                <a:cs typeface="微软雅黑" panose="020B0503020204020204" pitchFamily="34" charset="-122"/>
              </a:rPr>
              <a:t>(Open Source Community)</a:t>
            </a:r>
          </a:p>
          <a:p>
            <a:pPr lvl="1">
              <a:lnSpc>
                <a:spcPct val="125000"/>
              </a:lnSpc>
              <a:buFont typeface="Arial" panose="020B0604020202020204" pitchFamily="34" charset="0"/>
              <a:buChar char="•"/>
            </a:pPr>
            <a:r>
              <a:rPr lang="en-US" altLang="zh-CN" dirty="0" err="1">
                <a:effectLst/>
                <a:cs typeface="微软雅黑" panose="020B0503020204020204" pitchFamily="34" charset="-122"/>
              </a:rPr>
              <a:t>又称开放源代码社区</a:t>
            </a:r>
            <a:r>
              <a:rPr lang="zh-CN" altLang="en-US" dirty="0">
                <a:cs typeface="微软雅黑" panose="020B0503020204020204" pitchFamily="34" charset="-122"/>
              </a:rPr>
              <a:t>，</a:t>
            </a:r>
            <a:r>
              <a:rPr lang="en-US" altLang="zh-CN" dirty="0" err="1">
                <a:cs typeface="微软雅黑" panose="020B0503020204020204" pitchFamily="34" charset="-122"/>
              </a:rPr>
              <a:t>公布软件源代码的网络平台，同时也为网络成员提供一个自由学习交流的空间</a:t>
            </a:r>
            <a:endParaRPr lang="en-US" altLang="zh-CN" dirty="0">
              <a:effectLst/>
              <a:cs typeface="微软雅黑" panose="020B0503020204020204" pitchFamily="34" charset="-122"/>
            </a:endParaRPr>
          </a:p>
          <a:p>
            <a:pPr lvl="1">
              <a:lnSpc>
                <a:spcPct val="125000"/>
              </a:lnSpc>
              <a:spcAft>
                <a:spcPts val="0"/>
              </a:spcAft>
              <a:buFont typeface="Arial" panose="020B0604020202020204" pitchFamily="34" charset="0"/>
              <a:buChar char="•"/>
            </a:pPr>
            <a:r>
              <a:rPr lang="en-US" altLang="zh-CN" dirty="0" err="1">
                <a:effectLst/>
                <a:cs typeface="微软雅黑" panose="020B0503020204020204" pitchFamily="34" charset="-122"/>
              </a:rPr>
              <a:t>根据相应的开源软件许可证协议</a:t>
            </a:r>
            <a:endParaRPr lang="en-US" altLang="zh-CN" dirty="0">
              <a:effectLst/>
              <a:cs typeface="微软雅黑" panose="020B0503020204020204" pitchFamily="34" charset="-122"/>
            </a:endParaRPr>
          </a:p>
          <a:p>
            <a:pPr>
              <a:lnSpc>
                <a:spcPct val="125000"/>
              </a:lnSpc>
              <a:spcAft>
                <a:spcPts val="0"/>
              </a:spcAft>
              <a:buFont typeface="Wingdings" panose="05000000000000000000" charset="0"/>
              <a:buChar char="Ø"/>
            </a:pPr>
            <a:r>
              <a:rPr lang="en-US" altLang="zh-CN" dirty="0">
                <a:effectLst/>
                <a:cs typeface="微软雅黑" panose="020B0503020204020204" pitchFamily="34" charset="-122"/>
              </a:rPr>
              <a:t>GitHub </a:t>
            </a:r>
          </a:p>
          <a:p>
            <a:pPr lvl="1">
              <a:lnSpc>
                <a:spcPct val="125000"/>
              </a:lnSpc>
              <a:spcAft>
                <a:spcPts val="0"/>
              </a:spcAft>
              <a:buFont typeface="Arial" panose="020B0604020202020204" pitchFamily="34" charset="0"/>
              <a:buChar char="•"/>
            </a:pPr>
            <a:r>
              <a:rPr lang="zh-CN" altLang="zh-CN" dirty="0">
                <a:effectLst/>
                <a:cs typeface="微软雅黑" panose="020B0503020204020204" pitchFamily="34" charset="-122"/>
              </a:rPr>
              <a:t>面向开源及私有软件项目的托管网络平台</a:t>
            </a:r>
            <a:r>
              <a:rPr lang="en-US" altLang="zh-CN" kern="100" dirty="0">
                <a:effectLst/>
                <a:cs typeface="微软雅黑" panose="020B0503020204020204" pitchFamily="34" charset="-122"/>
                <a:hlinkClick r:id="rId3"/>
              </a:rPr>
              <a:t>https://github.com</a:t>
            </a:r>
          </a:p>
          <a:p>
            <a:pPr lvl="1">
              <a:lnSpc>
                <a:spcPct val="125000"/>
              </a:lnSpc>
              <a:spcAft>
                <a:spcPts val="0"/>
              </a:spcAft>
              <a:buFont typeface="Arial" panose="020B0604020202020204" pitchFamily="34" charset="0"/>
              <a:buChar char="•"/>
            </a:pPr>
            <a:r>
              <a:rPr lang="en-US" altLang="zh-CN" b="1" dirty="0">
                <a:solidFill>
                  <a:srgbClr val="C00000"/>
                </a:solidFill>
                <a:sym typeface="+mn-ea"/>
              </a:rPr>
              <a:t>Google </a:t>
            </a:r>
            <a:r>
              <a:rPr lang="zh-CN" altLang="en-US" b="1" dirty="0">
                <a:solidFill>
                  <a:srgbClr val="C00000"/>
                </a:solidFill>
                <a:sym typeface="+mn-ea"/>
              </a:rPr>
              <a:t>QUIC协议项目</a:t>
            </a:r>
          </a:p>
          <a:p>
            <a:pPr lvl="1">
              <a:lnSpc>
                <a:spcPct val="125000"/>
              </a:lnSpc>
              <a:buFont typeface="Arial" panose="020B0604020202020204" pitchFamily="34" charset="0"/>
              <a:buChar char="•"/>
            </a:pPr>
            <a:r>
              <a:rPr lang="en-US" altLang="zh-CN" b="1" dirty="0">
                <a:solidFill>
                  <a:srgbClr val="C00000"/>
                </a:solidFill>
                <a:sym typeface="+mn-ea"/>
              </a:rPr>
              <a:t>Google </a:t>
            </a:r>
            <a:r>
              <a:rPr lang="zh-CN" altLang="en-US" b="1" dirty="0">
                <a:solidFill>
                  <a:srgbClr val="C00000"/>
                </a:solidFill>
                <a:sym typeface="+mn-ea"/>
              </a:rPr>
              <a:t>WebRTC项目</a:t>
            </a:r>
            <a:endParaRPr lang="en-US" altLang="zh-CN" kern="100" dirty="0">
              <a:solidFill>
                <a:srgbClr val="C00000"/>
              </a:solidFill>
              <a:effectLst/>
              <a:cs typeface="微软雅黑" panose="020B0503020204020204" pitchFamily="34" charset="-122"/>
            </a:endParaRPr>
          </a:p>
        </p:txBody>
      </p:sp>
      <p:sp>
        <p:nvSpPr>
          <p:cNvPr id="6" name="灯片编号占位符 5">
            <a:extLst>
              <a:ext uri="{FF2B5EF4-FFF2-40B4-BE49-F238E27FC236}">
                <a16:creationId xmlns:a16="http://schemas.microsoft.com/office/drawing/2014/main" id="{4A296EFC-6C77-C949-87A1-C013F49965EC}"/>
              </a:ext>
            </a:extLst>
          </p:cNvPr>
          <p:cNvSpPr>
            <a:spLocks noGrp="1"/>
          </p:cNvSpPr>
          <p:nvPr>
            <p:ph type="sldNum" sz="quarter" idx="12"/>
          </p:nvPr>
        </p:nvSpPr>
        <p:spPr/>
        <p:txBody>
          <a:bodyPr/>
          <a:lstStyle/>
          <a:p>
            <a:fld id="{8D4D1E41-7A09-AB4A-A4E1-09765ADA2698}" type="slidenum">
              <a:rPr kumimoji="1" lang="zh-CN" altLang="en-US" smtClean="0"/>
              <a:t>102</a:t>
            </a:fld>
            <a:endParaRPr kumimoji="1" lang="zh-CN" altLang="en-US" dirty="0"/>
          </a:p>
        </p:txBody>
      </p:sp>
      <p:pic>
        <p:nvPicPr>
          <p:cNvPr id="5" name="图片 4"/>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06030" y="1728032"/>
            <a:ext cx="4379595" cy="3201019"/>
          </a:xfrm>
          <a:prstGeom prst="rect">
            <a:avLst/>
          </a:prstGeom>
        </p:spPr>
      </p:pic>
      <p:sp>
        <p:nvSpPr>
          <p:cNvPr id="3" name="矩形 2">
            <a:extLst>
              <a:ext uri="{FF2B5EF4-FFF2-40B4-BE49-F238E27FC236}">
                <a16:creationId xmlns:a16="http://schemas.microsoft.com/office/drawing/2014/main" id="{4EDD4346-5960-2A47-B7A3-93B386D528CE}"/>
              </a:ext>
            </a:extLst>
          </p:cNvPr>
          <p:cNvSpPr/>
          <p:nvPr/>
        </p:nvSpPr>
        <p:spPr>
          <a:xfrm>
            <a:off x="6096000" y="5517077"/>
            <a:ext cx="3869635" cy="826573"/>
          </a:xfrm>
          <a:prstGeom prst="rect">
            <a:avLst/>
          </a:prstGeom>
          <a:ln>
            <a:solidFill>
              <a:srgbClr val="C00000"/>
            </a:solidFill>
          </a:ln>
        </p:spPr>
        <p:txBody>
          <a:bodyPr wrap="square">
            <a:spAutoFit/>
          </a:bodyPr>
          <a:lstStyle/>
          <a:p>
            <a:pPr algn="ctr">
              <a:lnSpc>
                <a:spcPct val="125000"/>
              </a:lnSpc>
            </a:pPr>
            <a:r>
              <a:rPr lang="zh-CN" altLang="en-US" sz="2000" dirty="0">
                <a:latin typeface="Microsoft YaHei" panose="020B0503020204020204" pitchFamily="34" charset="-122"/>
                <a:ea typeface="Microsoft YaHei" panose="020B0503020204020204" pitchFamily="34" charset="-122"/>
                <a:sym typeface="+mn-ea"/>
              </a:rPr>
              <a:t>通过开源使得该技术广泛使用，</a:t>
            </a:r>
            <a:endParaRPr lang="en-US" altLang="zh-CN" sz="2000" dirty="0">
              <a:latin typeface="Microsoft YaHei" panose="020B0503020204020204" pitchFamily="34" charset="-122"/>
              <a:ea typeface="Microsoft YaHei" panose="020B0503020204020204" pitchFamily="34" charset="-122"/>
              <a:sym typeface="+mn-ea"/>
            </a:endParaRPr>
          </a:p>
          <a:p>
            <a:pPr algn="ctr">
              <a:lnSpc>
                <a:spcPct val="125000"/>
              </a:lnSpc>
            </a:pPr>
            <a:r>
              <a:rPr lang="zh-CN" altLang="en-US" sz="2000" dirty="0">
                <a:latin typeface="Microsoft YaHei" panose="020B0503020204020204" pitchFamily="34" charset="-122"/>
                <a:ea typeface="Microsoft YaHei" panose="020B0503020204020204" pitchFamily="34" charset="-122"/>
                <a:sym typeface="+mn-ea"/>
              </a:rPr>
              <a:t>进而推动标准建设</a:t>
            </a:r>
            <a:endParaRPr lang="en-US" altLang="zh-CN" sz="2000" kern="100" dirty="0">
              <a:latin typeface="Microsoft YaHei" panose="020B0503020204020204" pitchFamily="34" charset="-122"/>
              <a:ea typeface="Microsoft YaHei" panose="020B0503020204020204" pitchFamily="34" charset="-122"/>
              <a:cs typeface="微软雅黑" panose="020B0503020204020204" pitchFamily="34" charset="-122"/>
            </a:endParaRPr>
          </a:p>
        </p:txBody>
      </p:sp>
      <p:sp>
        <p:nvSpPr>
          <p:cNvPr id="7" name="文本框 6">
            <a:extLst>
              <a:ext uri="{FF2B5EF4-FFF2-40B4-BE49-F238E27FC236}">
                <a16:creationId xmlns:a16="http://schemas.microsoft.com/office/drawing/2014/main" id="{3E227608-5BBE-2644-89CA-AEECF59F8A38}"/>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1.7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标准化组织</a:t>
            </a:r>
          </a:p>
        </p:txBody>
      </p:sp>
    </p:spTree>
    <p:extLst>
      <p:ext uri="{BB962C8B-B14F-4D97-AF65-F5344CB8AC3E}">
        <p14:creationId xmlns:p14="http://schemas.microsoft.com/office/powerpoint/2010/main" val="3804867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lnSpcReduction="10000"/>
          </a:bodyPr>
          <a:lstStyle/>
          <a:p>
            <a:pPr marL="0" indent="0">
              <a:lnSpc>
                <a:spcPct val="130000"/>
              </a:lnSpc>
              <a:buNone/>
            </a:pPr>
            <a:r>
              <a:rPr kumimoji="1" lang="en-US" altLang="zh-CN" dirty="0"/>
              <a:t>1.1 </a:t>
            </a:r>
            <a:r>
              <a:rPr kumimoji="1" lang="zh-CN" altLang="en-US" dirty="0"/>
              <a:t>网络的概念</a:t>
            </a:r>
            <a:endParaRPr kumimoji="1" lang="en-US" altLang="zh-CN" dirty="0"/>
          </a:p>
          <a:p>
            <a:pPr marL="0" indent="0">
              <a:lnSpc>
                <a:spcPct val="130000"/>
              </a:lnSpc>
              <a:buNone/>
            </a:pPr>
            <a:r>
              <a:rPr kumimoji="1" lang="en-US" altLang="zh-CN" dirty="0"/>
              <a:t>1.2 </a:t>
            </a:r>
            <a:r>
              <a:rPr kumimoji="1" lang="zh-CN" altLang="en-US" dirty="0"/>
              <a:t>网络的分类</a:t>
            </a:r>
            <a:endParaRPr kumimoji="1" lang="en-US" altLang="zh-CN" dirty="0"/>
          </a:p>
          <a:p>
            <a:pPr marL="0" indent="0">
              <a:lnSpc>
                <a:spcPct val="130000"/>
              </a:lnSpc>
              <a:buNone/>
            </a:pPr>
            <a:r>
              <a:rPr kumimoji="1" lang="en-US" altLang="zh-CN" dirty="0"/>
              <a:t>1.3 </a:t>
            </a:r>
            <a:r>
              <a:rPr kumimoji="1" lang="zh-CN" altLang="en-US" dirty="0"/>
              <a:t>网络实例</a:t>
            </a:r>
            <a:endParaRPr kumimoji="1" lang="en-US" altLang="zh-CN" dirty="0"/>
          </a:p>
          <a:p>
            <a:pPr marL="0" indent="0">
              <a:lnSpc>
                <a:spcPct val="130000"/>
              </a:lnSpc>
              <a:buNone/>
            </a:pPr>
            <a:r>
              <a:rPr kumimoji="1" lang="en-US" altLang="zh-CN" dirty="0"/>
              <a:t>1.4 </a:t>
            </a:r>
            <a:r>
              <a:rPr kumimoji="1" lang="zh-CN" altLang="en-US" dirty="0"/>
              <a:t>协议与分层结构</a:t>
            </a:r>
            <a:endParaRPr kumimoji="1" lang="en-US" altLang="zh-CN" dirty="0"/>
          </a:p>
          <a:p>
            <a:pPr marL="0" indent="0">
              <a:lnSpc>
                <a:spcPct val="130000"/>
              </a:lnSpc>
              <a:buNone/>
            </a:pPr>
            <a:r>
              <a:rPr kumimoji="1" lang="en-US" altLang="zh-CN" dirty="0"/>
              <a:t>1.5 </a:t>
            </a:r>
            <a:r>
              <a:rPr kumimoji="1" lang="zh-CN" altLang="en-US" dirty="0"/>
              <a:t>参考模型</a:t>
            </a:r>
            <a:endParaRPr kumimoji="1" lang="en-US" altLang="zh-CN" dirty="0"/>
          </a:p>
          <a:p>
            <a:pPr marL="0" indent="0">
              <a:lnSpc>
                <a:spcPct val="130000"/>
              </a:lnSpc>
              <a:buNone/>
            </a:pPr>
            <a:r>
              <a:rPr kumimoji="1" lang="en-US" altLang="zh-CN" dirty="0"/>
              <a:t>1.6 </a:t>
            </a:r>
            <a:r>
              <a:rPr kumimoji="1" lang="zh-CN" altLang="en-US" dirty="0"/>
              <a:t>计算机网络度量单位</a:t>
            </a:r>
          </a:p>
          <a:p>
            <a:pPr marL="0" indent="0">
              <a:lnSpc>
                <a:spcPct val="130000"/>
              </a:lnSpc>
              <a:buNone/>
            </a:pPr>
            <a:r>
              <a:rPr kumimoji="1" lang="en-US" altLang="zh-CN" dirty="0"/>
              <a:t>1.7 </a:t>
            </a:r>
            <a:r>
              <a:rPr kumimoji="1" lang="zh-CN" altLang="en-US" dirty="0"/>
              <a:t>标准化组织</a:t>
            </a:r>
            <a:endParaRPr kumimoji="1" lang="en-US" altLang="zh-CN" dirty="0"/>
          </a:p>
          <a:p>
            <a:pPr marL="0" indent="0">
              <a:lnSpc>
                <a:spcPct val="130000"/>
              </a:lnSpc>
              <a:buNone/>
            </a:pPr>
            <a:r>
              <a:rPr kumimoji="1" lang="en-US" altLang="zh-CN" dirty="0">
                <a:solidFill>
                  <a:srgbClr val="C00000"/>
                </a:solidFill>
              </a:rPr>
              <a:t>1.8 </a:t>
            </a:r>
            <a:r>
              <a:rPr kumimoji="1" lang="zh-CN" altLang="en-US" dirty="0">
                <a:solidFill>
                  <a:srgbClr val="C00000"/>
                </a:solidFill>
              </a:rPr>
              <a:t>互联网发展史与启示</a:t>
            </a:r>
            <a:endParaRPr lang="zh-CN" altLang="en-US" dirty="0">
              <a:solidFill>
                <a:srgbClr val="C00000"/>
              </a:solidFill>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6095075" y="3458817"/>
            <a:ext cx="5344864" cy="2633042"/>
          </a:xfrm>
          <a:prstGeom prst="wedgeRectCallout">
            <a:avLst>
              <a:gd name="adj1" fmla="val -65745"/>
              <a:gd name="adj2" fmla="val 4210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457200" indent="-366713">
              <a:lnSpc>
                <a:spcPct val="130000"/>
              </a:lnSpc>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互联网早期发展与启示</a:t>
            </a:r>
            <a:endParaRPr kumimoji="1" lang="zh-CN" altLang="en-US" sz="2400" dirty="0">
              <a:solidFill>
                <a:schemeClr val="tx1"/>
              </a:solidFill>
              <a:latin typeface="Microsoft YaHei" panose="020B0503020204020204" pitchFamily="34" charset="-122"/>
              <a:ea typeface="Microsoft YaHei" panose="020B0503020204020204" pitchFamily="34" charset="-122"/>
            </a:endParaRPr>
          </a:p>
          <a:p>
            <a:pPr marL="457200" indent="-366713">
              <a:lnSpc>
                <a:spcPct val="130000"/>
              </a:lnSpc>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互联网的新发展与启示</a:t>
            </a:r>
            <a:endParaRPr kumimoji="1" lang="zh-CN" altLang="en-US" sz="2400" dirty="0">
              <a:solidFill>
                <a:schemeClr val="tx1"/>
              </a:solidFill>
              <a:latin typeface="Microsoft YaHei" panose="020B0503020204020204" pitchFamily="34" charset="-122"/>
              <a:ea typeface="Microsoft YaHei" panose="020B0503020204020204" pitchFamily="34" charset="-122"/>
            </a:endParaRPr>
          </a:p>
          <a:p>
            <a:pPr marL="457200" indent="-366713">
              <a:lnSpc>
                <a:spcPct val="130000"/>
              </a:lnSpc>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我国的互联网发展情况</a:t>
            </a:r>
          </a:p>
          <a:p>
            <a:pPr marL="457200" indent="-366713">
              <a:lnSpc>
                <a:spcPct val="130000"/>
              </a:lnSpc>
              <a:buFont typeface="+mj-lt"/>
              <a:buAutoNum type="arabicPeriod"/>
            </a:pPr>
            <a:r>
              <a:rPr lang="zh-CN" altLang="zh-CN" sz="2400" dirty="0">
                <a:solidFill>
                  <a:schemeClr val="tx1"/>
                </a:solidFill>
                <a:latin typeface="Microsoft YaHei" panose="020B0503020204020204" pitchFamily="34" charset="-122"/>
                <a:ea typeface="Microsoft YaHei" panose="020B0503020204020204" pitchFamily="34" charset="-122"/>
              </a:rPr>
              <a:t>中国教育和科研计算机网</a:t>
            </a:r>
            <a:r>
              <a:rPr lang="en-US" altLang="zh-CN" sz="2400" dirty="0">
                <a:solidFill>
                  <a:schemeClr val="tx1"/>
                </a:solidFill>
                <a:latin typeface="Microsoft YaHei" panose="020B0503020204020204" pitchFamily="34" charset="-122"/>
                <a:ea typeface="Microsoft YaHei" panose="020B0503020204020204" pitchFamily="34" charset="-122"/>
              </a:rPr>
              <a:t>CERNET</a:t>
            </a:r>
          </a:p>
          <a:p>
            <a:pPr marL="457200" indent="-366713">
              <a:lnSpc>
                <a:spcPct val="130000"/>
              </a:lnSpc>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华为的成长与启示</a:t>
            </a:r>
            <a:endParaRPr kumimoji="1" lang="zh-CN" altLang="en-US"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038969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E022A-336C-402C-8018-08F50ABDF347}"/>
              </a:ext>
            </a:extLst>
          </p:cNvPr>
          <p:cNvSpPr>
            <a:spLocks noGrp="1"/>
          </p:cNvSpPr>
          <p:nvPr>
            <p:ph type="title"/>
          </p:nvPr>
        </p:nvSpPr>
        <p:spPr/>
        <p:txBody>
          <a:bodyPr/>
          <a:lstStyle/>
          <a:p>
            <a:r>
              <a:rPr lang="zh-CN" altLang="en-US" sz="4000" dirty="0">
                <a:latin typeface="微软雅黑" panose="020B0503020204020204" pitchFamily="34" charset="-122"/>
                <a:ea typeface="微软雅黑" panose="020B0503020204020204" pitchFamily="34" charset="-122"/>
              </a:rPr>
              <a:t>互联网早期发展与启示</a:t>
            </a:r>
            <a:endParaRPr lang="zh-CN" altLang="en-US" dirty="0"/>
          </a:p>
        </p:txBody>
      </p:sp>
      <p:sp>
        <p:nvSpPr>
          <p:cNvPr id="5" name="矩形 4">
            <a:extLst>
              <a:ext uri="{FF2B5EF4-FFF2-40B4-BE49-F238E27FC236}">
                <a16:creationId xmlns:a16="http://schemas.microsoft.com/office/drawing/2014/main" id="{071634E4-A4F7-4321-B595-3F6DEC8A1EBC}"/>
              </a:ext>
            </a:extLst>
          </p:cNvPr>
          <p:cNvSpPr/>
          <p:nvPr/>
        </p:nvSpPr>
        <p:spPr>
          <a:xfrm>
            <a:off x="7779446" y="5060303"/>
            <a:ext cx="1809183" cy="998673"/>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6" name="矩形 5">
            <a:extLst>
              <a:ext uri="{FF2B5EF4-FFF2-40B4-BE49-F238E27FC236}">
                <a16:creationId xmlns:a16="http://schemas.microsoft.com/office/drawing/2014/main" id="{5FA81E56-8FEF-421C-8359-35793E52CD04}"/>
              </a:ext>
            </a:extLst>
          </p:cNvPr>
          <p:cNvSpPr/>
          <p:nvPr/>
        </p:nvSpPr>
        <p:spPr>
          <a:xfrm>
            <a:off x="5232113" y="5060303"/>
            <a:ext cx="2449094" cy="99496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7" name="矩形 6">
            <a:extLst>
              <a:ext uri="{FF2B5EF4-FFF2-40B4-BE49-F238E27FC236}">
                <a16:creationId xmlns:a16="http://schemas.microsoft.com/office/drawing/2014/main" id="{F79A37EC-5640-498E-949C-0DEF486D081A}"/>
              </a:ext>
            </a:extLst>
          </p:cNvPr>
          <p:cNvSpPr/>
          <p:nvPr/>
        </p:nvSpPr>
        <p:spPr>
          <a:xfrm>
            <a:off x="2575269" y="5060303"/>
            <a:ext cx="2138099" cy="98176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8" name="矩形 7">
            <a:extLst>
              <a:ext uri="{FF2B5EF4-FFF2-40B4-BE49-F238E27FC236}">
                <a16:creationId xmlns:a16="http://schemas.microsoft.com/office/drawing/2014/main" id="{93AAE272-EEA8-4696-B375-988F70170B1F}"/>
              </a:ext>
            </a:extLst>
          </p:cNvPr>
          <p:cNvSpPr/>
          <p:nvPr/>
        </p:nvSpPr>
        <p:spPr>
          <a:xfrm>
            <a:off x="258149" y="5060303"/>
            <a:ext cx="2129957" cy="98176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cxnSp>
        <p:nvCxnSpPr>
          <p:cNvPr id="10" name="直接箭头连接符 9">
            <a:extLst>
              <a:ext uri="{FF2B5EF4-FFF2-40B4-BE49-F238E27FC236}">
                <a16:creationId xmlns:a16="http://schemas.microsoft.com/office/drawing/2014/main" id="{3AB60EA2-7F8B-4117-A7D0-B6A77CEF2DCE}"/>
              </a:ext>
            </a:extLst>
          </p:cNvPr>
          <p:cNvCxnSpPr>
            <a:cxnSpLocks/>
          </p:cNvCxnSpPr>
          <p:nvPr/>
        </p:nvCxnSpPr>
        <p:spPr>
          <a:xfrm flipV="1">
            <a:off x="486377" y="4898093"/>
            <a:ext cx="10644187" cy="2115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pic>
        <p:nvPicPr>
          <p:cNvPr id="11" name="内容占位符 3">
            <a:extLst>
              <a:ext uri="{FF2B5EF4-FFF2-40B4-BE49-F238E27FC236}">
                <a16:creationId xmlns:a16="http://schemas.microsoft.com/office/drawing/2014/main" id="{4F4E3487-D44D-4F32-83FF-DF78428F96E3}"/>
              </a:ext>
            </a:extLst>
          </p:cNvPr>
          <p:cNvPicPr>
            <a:picLocks noGrp="1" noChangeAspect="1"/>
          </p:cNvPicPr>
          <p:nvPr>
            <p:ph idx="1"/>
          </p:nvPr>
        </p:nvPicPr>
        <p:blipFill rotWithShape="1">
          <a:blip r:embed="rId3" cstate="print">
            <a:extLst>
              <a:ext uri="{28A0092B-C50C-407E-A947-70E740481C1C}">
                <a14:useLocalDpi xmlns:a14="http://schemas.microsoft.com/office/drawing/2010/main"/>
              </a:ext>
            </a:extLst>
          </a:blip>
          <a:srcRect/>
          <a:stretch/>
        </p:blipFill>
        <p:spPr>
          <a:xfrm>
            <a:off x="383142" y="3019343"/>
            <a:ext cx="2092418" cy="1287671"/>
          </a:xfrm>
          <a:prstGeom prst="rect">
            <a:avLst/>
          </a:prstGeom>
        </p:spPr>
      </p:pic>
      <p:sp>
        <p:nvSpPr>
          <p:cNvPr id="12" name="文本框 11">
            <a:extLst>
              <a:ext uri="{FF2B5EF4-FFF2-40B4-BE49-F238E27FC236}">
                <a16:creationId xmlns:a16="http://schemas.microsoft.com/office/drawing/2014/main" id="{CCC72F6D-16F4-41B5-B6DD-9D711411EC4D}"/>
              </a:ext>
            </a:extLst>
          </p:cNvPr>
          <p:cNvSpPr txBox="1"/>
          <p:nvPr/>
        </p:nvSpPr>
        <p:spPr>
          <a:xfrm>
            <a:off x="611525" y="5110951"/>
            <a:ext cx="1753337" cy="369332"/>
          </a:xfrm>
          <a:prstGeom prst="rect">
            <a:avLst/>
          </a:prstGeom>
          <a:noFill/>
        </p:spPr>
        <p:txBody>
          <a:bodyPr wrap="square">
            <a:spAutoFit/>
          </a:bodyPr>
          <a:lstStyle/>
          <a:p>
            <a:r>
              <a:rPr lang="en-US" altLang="zh-CN" sz="1800" dirty="0">
                <a:latin typeface="微软雅黑" panose="020B0503020204020204" pitchFamily="34" charset="-122"/>
                <a:ea typeface="微软雅黑" panose="020B0503020204020204" pitchFamily="34" charset="-122"/>
              </a:rPr>
              <a:t>1957</a:t>
            </a:r>
            <a:r>
              <a:rPr lang="zh-CN" altLang="en-US" sz="1800" dirty="0">
                <a:latin typeface="微软雅黑" panose="020B0503020204020204" pitchFamily="34" charset="-122"/>
                <a:ea typeface="微软雅黑" panose="020B0503020204020204" pitchFamily="34" charset="-122"/>
              </a:rPr>
              <a:t>年</a:t>
            </a:r>
            <a:r>
              <a:rPr lang="en-US" altLang="zh-CN" sz="1800" dirty="0">
                <a:latin typeface="微软雅黑" panose="020B0503020204020204" pitchFamily="34" charset="-122"/>
                <a:ea typeface="微软雅黑" panose="020B0503020204020204" pitchFamily="34" charset="-122"/>
              </a:rPr>
              <a:t>10</a:t>
            </a:r>
            <a:r>
              <a:rPr lang="zh-CN" altLang="en-US" sz="1800" dirty="0">
                <a:latin typeface="微软雅黑" panose="020B0503020204020204" pitchFamily="34" charset="-122"/>
                <a:ea typeface="微软雅黑" panose="020B0503020204020204" pitchFamily="34" charset="-122"/>
              </a:rPr>
              <a:t>月</a:t>
            </a:r>
            <a:endParaRPr lang="zh-CN" altLang="en-US" dirty="0">
              <a:latin typeface="微软雅黑" panose="020B0503020204020204" pitchFamily="34" charset="-122"/>
              <a:ea typeface="微软雅黑" panose="020B0503020204020204" pitchFamily="34" charset="-122"/>
            </a:endParaRPr>
          </a:p>
        </p:txBody>
      </p:sp>
      <p:sp>
        <p:nvSpPr>
          <p:cNvPr id="13" name="等腰三角形 12">
            <a:extLst>
              <a:ext uri="{FF2B5EF4-FFF2-40B4-BE49-F238E27FC236}">
                <a16:creationId xmlns:a16="http://schemas.microsoft.com/office/drawing/2014/main" id="{E199EE69-A7C9-4E29-8248-9E5D4C745C30}"/>
              </a:ext>
            </a:extLst>
          </p:cNvPr>
          <p:cNvSpPr/>
          <p:nvPr/>
        </p:nvSpPr>
        <p:spPr>
          <a:xfrm>
            <a:off x="1200751"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FAB9FD7C-2B82-40B6-8AE8-82B761CEF2F2}"/>
              </a:ext>
            </a:extLst>
          </p:cNvPr>
          <p:cNvSpPr txBox="1"/>
          <p:nvPr/>
        </p:nvSpPr>
        <p:spPr>
          <a:xfrm>
            <a:off x="196161" y="5443723"/>
            <a:ext cx="2237780" cy="646331"/>
          </a:xfrm>
          <a:prstGeom prst="rect">
            <a:avLst/>
          </a:prstGeom>
          <a:noFill/>
        </p:spPr>
        <p:txBody>
          <a:bodyPr wrap="square">
            <a:spAutoFit/>
          </a:bodyPr>
          <a:lstStyle/>
          <a:p>
            <a:pPr algn="ctr"/>
            <a:r>
              <a:rPr lang="zh-CN" altLang="en-US" sz="1800" dirty="0">
                <a:latin typeface="微软雅黑" panose="020B0503020204020204" pitchFamily="34" charset="-122"/>
                <a:ea typeface="微软雅黑" panose="020B0503020204020204" pitchFamily="34" charset="-122"/>
              </a:rPr>
              <a:t>苏联发射成功</a:t>
            </a:r>
            <a:br>
              <a:rPr lang="en-US" altLang="zh-CN" sz="1800" dirty="0">
                <a:latin typeface="微软雅黑" panose="020B0503020204020204" pitchFamily="34" charset="-122"/>
                <a:ea typeface="微软雅黑" panose="020B0503020204020204" pitchFamily="34" charset="-122"/>
              </a:rPr>
            </a:br>
            <a:r>
              <a:rPr lang="zh-CN" altLang="en-US" sz="1800" dirty="0">
                <a:latin typeface="微软雅黑" panose="020B0503020204020204" pitchFamily="34" charset="-122"/>
                <a:ea typeface="微软雅黑" panose="020B0503020204020204" pitchFamily="34" charset="-122"/>
              </a:rPr>
              <a:t>第一颗人造卫星</a:t>
            </a:r>
          </a:p>
        </p:txBody>
      </p:sp>
      <p:sp>
        <p:nvSpPr>
          <p:cNvPr id="15" name="文本框 14">
            <a:extLst>
              <a:ext uri="{FF2B5EF4-FFF2-40B4-BE49-F238E27FC236}">
                <a16:creationId xmlns:a16="http://schemas.microsoft.com/office/drawing/2014/main" id="{4B4C3087-40EB-40F1-9604-EDF029278CF7}"/>
              </a:ext>
            </a:extLst>
          </p:cNvPr>
          <p:cNvSpPr txBox="1"/>
          <p:nvPr/>
        </p:nvSpPr>
        <p:spPr>
          <a:xfrm>
            <a:off x="563840" y="4288956"/>
            <a:ext cx="1873449" cy="369332"/>
          </a:xfrm>
          <a:prstGeom prst="rect">
            <a:avLst/>
          </a:prstGeom>
          <a:noFill/>
        </p:spPr>
        <p:txBody>
          <a:bodyPr wrap="square">
            <a:spAutoFit/>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斯普特尼克</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号</a:t>
            </a:r>
            <a:endParaRPr lang="zh-CN" altLang="en-US"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A1AA1943-DA52-434E-9797-0CF6BC641548}"/>
              </a:ext>
            </a:extLst>
          </p:cNvPr>
          <p:cNvSpPr txBox="1"/>
          <p:nvPr/>
        </p:nvSpPr>
        <p:spPr>
          <a:xfrm>
            <a:off x="2460074" y="5443723"/>
            <a:ext cx="238186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美国成立</a:t>
            </a:r>
            <a:r>
              <a:rPr lang="zh-CN" altLang="en-US" b="0" i="0" dirty="0">
                <a:effectLst/>
                <a:latin typeface="微软雅黑" panose="020B0503020204020204" pitchFamily="34" charset="-122"/>
                <a:ea typeface="微软雅黑" panose="020B0503020204020204" pitchFamily="34" charset="-122"/>
              </a:rPr>
              <a:t>国防高级研究计划局（</a:t>
            </a:r>
            <a:r>
              <a:rPr lang="en-US" altLang="zh-CN" b="1" i="0" dirty="0">
                <a:effectLst/>
                <a:latin typeface="微软雅黑" panose="020B0503020204020204" pitchFamily="34" charset="-122"/>
                <a:ea typeface="微软雅黑" panose="020B0503020204020204" pitchFamily="34" charset="-122"/>
              </a:rPr>
              <a:t>ARPA</a:t>
            </a:r>
            <a:r>
              <a:rPr lang="zh-CN" altLang="en-US" b="1" i="0" dirty="0">
                <a:effectLst/>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7" name="等腰三角形 16">
            <a:extLst>
              <a:ext uri="{FF2B5EF4-FFF2-40B4-BE49-F238E27FC236}">
                <a16:creationId xmlns:a16="http://schemas.microsoft.com/office/drawing/2014/main" id="{61F7312C-06E0-4A4A-B2D3-B76AFDE48F97}"/>
              </a:ext>
            </a:extLst>
          </p:cNvPr>
          <p:cNvSpPr/>
          <p:nvPr/>
        </p:nvSpPr>
        <p:spPr>
          <a:xfrm>
            <a:off x="3439185"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681CFB9-11CF-4DF4-978E-7F35186A3143}"/>
              </a:ext>
            </a:extLst>
          </p:cNvPr>
          <p:cNvSpPr txBox="1"/>
          <p:nvPr/>
        </p:nvSpPr>
        <p:spPr>
          <a:xfrm>
            <a:off x="2574671" y="5082378"/>
            <a:ext cx="2138698" cy="369332"/>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1958</a:t>
            </a:r>
            <a:r>
              <a:rPr lang="zh-CN" altLang="en-US" b="0" i="0" dirty="0">
                <a:solidFill>
                  <a:srgbClr val="202124"/>
                </a:solidFill>
                <a:effectLst/>
                <a:latin typeface="微软雅黑" panose="020B0503020204020204" pitchFamily="34" charset="-122"/>
                <a:ea typeface="微软雅黑" panose="020B0503020204020204" pitchFamily="34" charset="-122"/>
              </a:rPr>
              <a:t>年</a:t>
            </a:r>
            <a:r>
              <a:rPr lang="en-US" altLang="zh-CN" b="0" i="0" dirty="0">
                <a:solidFill>
                  <a:srgbClr val="202124"/>
                </a:solidFill>
                <a:effectLst/>
                <a:latin typeface="微软雅黑" panose="020B0503020204020204" pitchFamily="34" charset="-122"/>
                <a:ea typeface="微软雅黑" panose="020B0503020204020204" pitchFamily="34" charset="-122"/>
              </a:rPr>
              <a:t>2</a:t>
            </a:r>
            <a:r>
              <a:rPr lang="zh-CN" altLang="en-US" b="0" i="0" dirty="0">
                <a:solidFill>
                  <a:srgbClr val="202124"/>
                </a:solidFill>
                <a:effectLst/>
                <a:latin typeface="微软雅黑" panose="020B0503020204020204" pitchFamily="34" charset="-122"/>
                <a:ea typeface="微软雅黑" panose="020B0503020204020204" pitchFamily="34" charset="-122"/>
              </a:rPr>
              <a:t>月</a:t>
            </a:r>
            <a:endParaRPr lang="zh-CN" altLang="en-US" dirty="0">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a16="http://schemas.microsoft.com/office/drawing/2014/main" id="{F050C4AF-DDF6-4B6A-BF72-53074AB8D775}"/>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2688778" y="3019343"/>
            <a:ext cx="2153155" cy="1300225"/>
          </a:xfrm>
          <a:prstGeom prst="rect">
            <a:avLst/>
          </a:prstGeom>
        </p:spPr>
      </p:pic>
      <p:sp>
        <p:nvSpPr>
          <p:cNvPr id="20" name="文本框 19">
            <a:extLst>
              <a:ext uri="{FF2B5EF4-FFF2-40B4-BE49-F238E27FC236}">
                <a16:creationId xmlns:a16="http://schemas.microsoft.com/office/drawing/2014/main" id="{EC86DA52-0677-4874-BEDE-4CA79B3E32C4}"/>
              </a:ext>
            </a:extLst>
          </p:cNvPr>
          <p:cNvSpPr txBox="1"/>
          <p:nvPr/>
        </p:nvSpPr>
        <p:spPr>
          <a:xfrm>
            <a:off x="2688778" y="4304133"/>
            <a:ext cx="2390539" cy="369332"/>
          </a:xfrm>
          <a:prstGeom prst="rect">
            <a:avLst/>
          </a:prstGeom>
          <a:noFill/>
        </p:spPr>
        <p:txBody>
          <a:bodyPr wrap="square">
            <a:spAutoFit/>
          </a:bodyPr>
          <a:lstStyle/>
          <a:p>
            <a:r>
              <a:rPr lang="zh-CN" altLang="en-US" b="0" i="0" dirty="0">
                <a:solidFill>
                  <a:srgbClr val="C00000"/>
                </a:solidFill>
                <a:effectLst/>
                <a:latin typeface="微软雅黑" panose="020B0503020204020204" pitchFamily="34" charset="-122"/>
                <a:ea typeface="微软雅黑" panose="020B0503020204020204" pitchFamily="34" charset="-122"/>
              </a:rPr>
              <a:t>国防高级研究计划局</a:t>
            </a:r>
            <a:endParaRPr lang="zh-CN" altLang="en-US" dirty="0">
              <a:solidFill>
                <a:srgbClr val="C00000"/>
              </a:solidFill>
            </a:endParaRPr>
          </a:p>
        </p:txBody>
      </p:sp>
      <p:sp>
        <p:nvSpPr>
          <p:cNvPr id="21" name="等腰三角形 20">
            <a:extLst>
              <a:ext uri="{FF2B5EF4-FFF2-40B4-BE49-F238E27FC236}">
                <a16:creationId xmlns:a16="http://schemas.microsoft.com/office/drawing/2014/main" id="{DB8061A9-FF62-4592-A085-8098FF554C74}"/>
              </a:ext>
            </a:extLst>
          </p:cNvPr>
          <p:cNvSpPr/>
          <p:nvPr/>
        </p:nvSpPr>
        <p:spPr>
          <a:xfrm>
            <a:off x="6362103"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2" name="图片 21">
            <a:extLst>
              <a:ext uri="{FF2B5EF4-FFF2-40B4-BE49-F238E27FC236}">
                <a16:creationId xmlns:a16="http://schemas.microsoft.com/office/drawing/2014/main" id="{06CFF336-A878-44F3-B2B4-60CCC2474D3A}"/>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b="15499"/>
          <a:stretch/>
        </p:blipFill>
        <p:spPr>
          <a:xfrm>
            <a:off x="5113843" y="3541860"/>
            <a:ext cx="2553543" cy="746177"/>
          </a:xfrm>
          <a:prstGeom prst="rect">
            <a:avLst/>
          </a:prstGeom>
          <a:ln>
            <a:solidFill>
              <a:schemeClr val="bg1">
                <a:lumMod val="75000"/>
              </a:schemeClr>
            </a:solidFill>
          </a:ln>
        </p:spPr>
      </p:pic>
      <p:sp>
        <p:nvSpPr>
          <p:cNvPr id="23" name="文本框 22">
            <a:extLst>
              <a:ext uri="{FF2B5EF4-FFF2-40B4-BE49-F238E27FC236}">
                <a16:creationId xmlns:a16="http://schemas.microsoft.com/office/drawing/2014/main" id="{D2D52160-C7E3-4A3A-A6F4-8417FFB87189}"/>
              </a:ext>
            </a:extLst>
          </p:cNvPr>
          <p:cNvSpPr txBox="1"/>
          <p:nvPr/>
        </p:nvSpPr>
        <p:spPr>
          <a:xfrm>
            <a:off x="5248263" y="4320340"/>
            <a:ext cx="2390539" cy="369332"/>
          </a:xfrm>
          <a:prstGeom prst="rect">
            <a:avLst/>
          </a:prstGeom>
          <a:noFill/>
        </p:spPr>
        <p:txBody>
          <a:bodyPr wrap="square">
            <a:spAutoFit/>
          </a:bodyPr>
          <a:lstStyle/>
          <a:p>
            <a:pPr algn="ctr"/>
            <a:r>
              <a:rPr lang="en-US" altLang="zh-CN" b="0" i="0" dirty="0">
                <a:solidFill>
                  <a:srgbClr val="C00000"/>
                </a:solidFill>
                <a:effectLst/>
                <a:latin typeface="微软雅黑" panose="020B0503020204020204" pitchFamily="34" charset="-122"/>
                <a:ea typeface="微软雅黑" panose="020B0503020204020204" pitchFamily="34" charset="-122"/>
              </a:rPr>
              <a:t>ARPANET</a:t>
            </a:r>
            <a:r>
              <a:rPr lang="zh-CN" altLang="en-US" b="0" i="0" dirty="0">
                <a:solidFill>
                  <a:srgbClr val="C00000"/>
                </a:solidFill>
                <a:effectLst/>
                <a:latin typeface="微软雅黑" panose="020B0503020204020204" pitchFamily="34" charset="-122"/>
                <a:ea typeface="微软雅黑" panose="020B0503020204020204" pitchFamily="34" charset="-122"/>
              </a:rPr>
              <a:t>诞生</a:t>
            </a:r>
            <a:endParaRPr lang="zh-CN" altLang="en-US" dirty="0">
              <a:solidFill>
                <a:srgbClr val="C00000"/>
              </a:solidFill>
            </a:endParaRPr>
          </a:p>
        </p:txBody>
      </p:sp>
      <p:sp>
        <p:nvSpPr>
          <p:cNvPr id="24" name="文本框 23">
            <a:extLst>
              <a:ext uri="{FF2B5EF4-FFF2-40B4-BE49-F238E27FC236}">
                <a16:creationId xmlns:a16="http://schemas.microsoft.com/office/drawing/2014/main" id="{5EEE117D-470C-4F53-91AA-6FEF36BFA916}"/>
              </a:ext>
            </a:extLst>
          </p:cNvPr>
          <p:cNvSpPr txBox="1"/>
          <p:nvPr/>
        </p:nvSpPr>
        <p:spPr>
          <a:xfrm>
            <a:off x="5830848" y="5084681"/>
            <a:ext cx="1484945" cy="369332"/>
          </a:xfrm>
          <a:prstGeom prst="rect">
            <a:avLst/>
          </a:prstGeom>
          <a:noFill/>
        </p:spPr>
        <p:txBody>
          <a:bodyPr wrap="square">
            <a:spAutoFit/>
          </a:bodyPr>
          <a:lstStyle/>
          <a:p>
            <a:r>
              <a:rPr lang="en-US" altLang="zh-CN" b="0" i="0" dirty="0">
                <a:solidFill>
                  <a:srgbClr val="202124"/>
                </a:solidFill>
                <a:effectLst/>
                <a:latin typeface="微软雅黑" panose="020B0503020204020204" pitchFamily="34" charset="-122"/>
                <a:ea typeface="微软雅黑" panose="020B0503020204020204" pitchFamily="34" charset="-122"/>
              </a:rPr>
              <a:t>1969</a:t>
            </a:r>
            <a:r>
              <a:rPr lang="zh-CN" altLang="en-US" b="0" i="0" dirty="0">
                <a:solidFill>
                  <a:srgbClr val="202124"/>
                </a:solidFill>
                <a:effectLst/>
                <a:latin typeface="微软雅黑" panose="020B0503020204020204" pitchFamily="34" charset="-122"/>
                <a:ea typeface="微软雅黑" panose="020B0503020204020204" pitchFamily="34" charset="-122"/>
              </a:rPr>
              <a:t>年</a:t>
            </a:r>
            <a:r>
              <a:rPr lang="en-US" altLang="zh-CN" b="0" i="0" dirty="0">
                <a:solidFill>
                  <a:srgbClr val="202124"/>
                </a:solidFill>
                <a:effectLst/>
                <a:latin typeface="微软雅黑" panose="020B0503020204020204" pitchFamily="34" charset="-122"/>
                <a:ea typeface="微软雅黑" panose="020B0503020204020204" pitchFamily="34" charset="-122"/>
              </a:rPr>
              <a:t>8</a:t>
            </a:r>
            <a:r>
              <a:rPr lang="zh-CN" altLang="en-US" b="0" i="0" dirty="0">
                <a:solidFill>
                  <a:srgbClr val="202124"/>
                </a:solidFill>
                <a:effectLst/>
                <a:latin typeface="微软雅黑" panose="020B0503020204020204" pitchFamily="34" charset="-122"/>
                <a:ea typeface="微软雅黑" panose="020B0503020204020204" pitchFamily="34" charset="-122"/>
              </a:rPr>
              <a:t>月</a:t>
            </a:r>
            <a:endParaRPr lang="zh-CN" altLang="en-US"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5B842DC3-BD8D-4326-B6F1-20E89BB88A8C}"/>
              </a:ext>
            </a:extLst>
          </p:cNvPr>
          <p:cNvSpPr txBox="1"/>
          <p:nvPr/>
        </p:nvSpPr>
        <p:spPr>
          <a:xfrm>
            <a:off x="5142607" y="5443042"/>
            <a:ext cx="2610567" cy="646331"/>
          </a:xfrm>
          <a:prstGeom prst="rect">
            <a:avLst/>
          </a:prstGeom>
          <a:noFill/>
        </p:spPr>
        <p:txBody>
          <a:bodyPr wrap="square" rtlCol="0">
            <a:spAutoFit/>
          </a:bodyPr>
          <a:lstStyle/>
          <a:p>
            <a:pPr algn="ctr"/>
            <a:r>
              <a:rPr lang="en-US" altLang="zh-CN" b="0" i="0" dirty="0">
                <a:effectLst/>
                <a:latin typeface="微软雅黑" panose="020B0503020204020204" pitchFamily="34" charset="-122"/>
                <a:ea typeface="微软雅黑" panose="020B0503020204020204" pitchFamily="34" charset="-122"/>
              </a:rPr>
              <a:t>ARPANET</a:t>
            </a:r>
            <a:r>
              <a:rPr lang="zh-CN" altLang="en-US" b="0" i="0" dirty="0">
                <a:effectLst/>
                <a:latin typeface="微软雅黑" panose="020B0503020204020204" pitchFamily="34" charset="-122"/>
                <a:ea typeface="微软雅黑" panose="020B0503020204020204" pitchFamily="34" charset="-122"/>
              </a:rPr>
              <a:t>诞生，</a:t>
            </a:r>
            <a:r>
              <a:rPr lang="zh-CN" altLang="en-US" b="0" i="0" dirty="0">
                <a:solidFill>
                  <a:srgbClr val="C00000"/>
                </a:solidFill>
                <a:effectLst/>
                <a:latin typeface="微软雅黑" panose="020B0503020204020204" pitchFamily="34" charset="-122"/>
                <a:ea typeface="微软雅黑" panose="020B0503020204020204" pitchFamily="34" charset="-122"/>
              </a:rPr>
              <a:t>创新地</a:t>
            </a:r>
            <a:r>
              <a:rPr lang="zh-CN" altLang="en-US" dirty="0">
                <a:solidFill>
                  <a:srgbClr val="C00000"/>
                </a:solidFill>
                <a:latin typeface="微软雅黑" panose="020B0503020204020204" pitchFamily="34" charset="-122"/>
                <a:ea typeface="微软雅黑" panose="020B0503020204020204" pitchFamily="34" charset="-122"/>
              </a:rPr>
              <a:t>采用了</a:t>
            </a:r>
            <a:r>
              <a:rPr lang="zh-CN" altLang="en-US" b="0" i="0" dirty="0">
                <a:solidFill>
                  <a:srgbClr val="C00000"/>
                </a:solidFill>
                <a:effectLst/>
                <a:latin typeface="微软雅黑" panose="020B0503020204020204" pitchFamily="34" charset="-122"/>
                <a:ea typeface="微软雅黑" panose="020B0503020204020204" pitchFamily="34" charset="-122"/>
              </a:rPr>
              <a:t>分组交换技术</a:t>
            </a:r>
            <a:endParaRPr lang="zh-CN" altLang="en-US" dirty="0"/>
          </a:p>
        </p:txBody>
      </p:sp>
      <p:sp>
        <p:nvSpPr>
          <p:cNvPr id="26" name="文本框 25">
            <a:extLst>
              <a:ext uri="{FF2B5EF4-FFF2-40B4-BE49-F238E27FC236}">
                <a16:creationId xmlns:a16="http://schemas.microsoft.com/office/drawing/2014/main" id="{AD2198FA-73F1-41D7-8FD3-0E17D20426EC}"/>
              </a:ext>
            </a:extLst>
          </p:cNvPr>
          <p:cNvSpPr txBox="1"/>
          <p:nvPr/>
        </p:nvSpPr>
        <p:spPr>
          <a:xfrm>
            <a:off x="5012919" y="2751507"/>
            <a:ext cx="2766527" cy="707886"/>
          </a:xfrm>
          <a:prstGeom prst="rect">
            <a:avLst/>
          </a:prstGeom>
          <a:noFill/>
        </p:spPr>
        <p:txBody>
          <a:bodyPr wrap="square">
            <a:spAutoFit/>
          </a:bodyPr>
          <a:lstStyle/>
          <a:p>
            <a:pPr algn="ctr"/>
            <a:r>
              <a:rPr lang="zh-CN" altLang="en-US" sz="2000" b="1" i="0" dirty="0">
                <a:solidFill>
                  <a:srgbClr val="202122"/>
                </a:solidFill>
                <a:effectLst/>
                <a:latin typeface="微软雅黑" panose="020B0503020204020204" pitchFamily="34" charset="-122"/>
                <a:ea typeface="微软雅黑" panose="020B0503020204020204" pitchFamily="34" charset="-122"/>
              </a:rPr>
              <a:t>四个节</a:t>
            </a:r>
            <a:r>
              <a:rPr lang="zh-CN" altLang="en-US" sz="2000" b="1" dirty="0">
                <a:solidFill>
                  <a:srgbClr val="202122"/>
                </a:solidFill>
                <a:latin typeface="微软雅黑" panose="020B0503020204020204" pitchFamily="34" charset="-122"/>
                <a:ea typeface="微软雅黑" panose="020B0503020204020204" pitchFamily="34" charset="-122"/>
              </a:rPr>
              <a:t>点</a:t>
            </a:r>
            <a:r>
              <a:rPr lang="en-US" altLang="zh-CN" sz="2000" b="0" i="0" dirty="0">
                <a:solidFill>
                  <a:srgbClr val="202122"/>
                </a:solidFill>
                <a:effectLst/>
                <a:latin typeface="Arial" panose="020B0604020202020204" pitchFamily="34" charset="0"/>
              </a:rPr>
              <a:t>UCLA</a:t>
            </a:r>
            <a:r>
              <a:rPr lang="en-US" altLang="zh-CN" sz="2000" dirty="0">
                <a:solidFill>
                  <a:srgbClr val="202122"/>
                </a:solidFill>
                <a:latin typeface="Arial" panose="020B0604020202020204" pitchFamily="34" charset="0"/>
              </a:rPr>
              <a:t>/</a:t>
            </a:r>
            <a:r>
              <a:rPr lang="en-US" altLang="zh-CN" sz="2000" b="0" i="0" dirty="0">
                <a:solidFill>
                  <a:srgbClr val="202122"/>
                </a:solidFill>
                <a:effectLst/>
                <a:latin typeface="Arial" panose="020B0604020202020204" pitchFamily="34" charset="0"/>
              </a:rPr>
              <a:t>SRI/UCSB/Utah</a:t>
            </a:r>
            <a:endParaRPr lang="zh-CN" altLang="en-US" sz="2000" dirty="0"/>
          </a:p>
        </p:txBody>
      </p:sp>
      <p:sp>
        <p:nvSpPr>
          <p:cNvPr id="27" name="文本框 26">
            <a:extLst>
              <a:ext uri="{FF2B5EF4-FFF2-40B4-BE49-F238E27FC236}">
                <a16:creationId xmlns:a16="http://schemas.microsoft.com/office/drawing/2014/main" id="{0E2A15E4-A74D-41AC-B4A7-9FFA137552AA}"/>
              </a:ext>
            </a:extLst>
          </p:cNvPr>
          <p:cNvSpPr txBox="1"/>
          <p:nvPr/>
        </p:nvSpPr>
        <p:spPr>
          <a:xfrm>
            <a:off x="7966010" y="5056871"/>
            <a:ext cx="1484945" cy="335756"/>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1983</a:t>
            </a:r>
            <a:r>
              <a:rPr lang="zh-CN" altLang="en-US" b="0" i="0" dirty="0">
                <a:solidFill>
                  <a:srgbClr val="202124"/>
                </a:solidFill>
                <a:effectLst/>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86047E3B-B898-47FC-A66E-CEA1E6B64785}"/>
              </a:ext>
            </a:extLst>
          </p:cNvPr>
          <p:cNvSpPr txBox="1"/>
          <p:nvPr/>
        </p:nvSpPr>
        <p:spPr>
          <a:xfrm>
            <a:off x="7748823" y="5439047"/>
            <a:ext cx="1919320"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ARPANET</a:t>
            </a:r>
            <a:r>
              <a:rPr lang="zh-CN" altLang="en-US" dirty="0">
                <a:latin typeface="微软雅黑" panose="020B0503020204020204" pitchFamily="34" charset="-122"/>
                <a:ea typeface="微软雅黑" panose="020B0503020204020204" pitchFamily="34" charset="-122"/>
              </a:rPr>
              <a:t>采用</a:t>
            </a:r>
            <a:r>
              <a:rPr lang="en-US" altLang="zh-CN" dirty="0">
                <a:latin typeface="微软雅黑" panose="020B0503020204020204" pitchFamily="34" charset="-122"/>
                <a:ea typeface="微软雅黑" panose="020B0503020204020204" pitchFamily="34" charset="-122"/>
              </a:rPr>
              <a:t>TCP/IP</a:t>
            </a:r>
            <a:endParaRPr lang="zh-CN" altLang="en-US" dirty="0">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4ABD8335-4AF5-42B6-A548-C805E180172E}"/>
              </a:ext>
            </a:extLst>
          </p:cNvPr>
          <p:cNvSpPr/>
          <p:nvPr/>
        </p:nvSpPr>
        <p:spPr>
          <a:xfrm>
            <a:off x="9717491" y="5060303"/>
            <a:ext cx="2046196" cy="1029751"/>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solidFill>
                <a:schemeClr val="bg1"/>
              </a:solidFill>
            </a:endParaRPr>
          </a:p>
        </p:txBody>
      </p:sp>
      <p:sp>
        <p:nvSpPr>
          <p:cNvPr id="31" name="文本框 30">
            <a:extLst>
              <a:ext uri="{FF2B5EF4-FFF2-40B4-BE49-F238E27FC236}">
                <a16:creationId xmlns:a16="http://schemas.microsoft.com/office/drawing/2014/main" id="{FA0DA531-5F77-4417-B049-684CBD37FB85}"/>
              </a:ext>
            </a:extLst>
          </p:cNvPr>
          <p:cNvSpPr txBox="1"/>
          <p:nvPr/>
        </p:nvSpPr>
        <p:spPr>
          <a:xfrm>
            <a:off x="9904055" y="5026882"/>
            <a:ext cx="1484945" cy="369332"/>
          </a:xfrm>
          <a:prstGeom prst="rect">
            <a:avLst/>
          </a:prstGeom>
          <a:noFill/>
        </p:spPr>
        <p:txBody>
          <a:bodyPr wrap="square">
            <a:spAutoFit/>
          </a:bodyPr>
          <a:lstStyle/>
          <a:p>
            <a:pPr algn="ctr"/>
            <a:r>
              <a:rPr lang="en-US" altLang="zh-CN" b="0" i="0" dirty="0">
                <a:solidFill>
                  <a:srgbClr val="202124"/>
                </a:solidFill>
                <a:effectLst/>
                <a:latin typeface="微软雅黑" panose="020B0503020204020204" pitchFamily="34" charset="-122"/>
                <a:ea typeface="微软雅黑" panose="020B0503020204020204" pitchFamily="34" charset="-122"/>
              </a:rPr>
              <a:t>1990</a:t>
            </a:r>
            <a:r>
              <a:rPr lang="zh-CN" altLang="en-US" b="0" i="0" dirty="0">
                <a:solidFill>
                  <a:srgbClr val="202124"/>
                </a:solidFill>
                <a:effectLst/>
                <a:latin typeface="微软雅黑" panose="020B0503020204020204" pitchFamily="34" charset="-122"/>
                <a:ea typeface="微软雅黑" panose="020B0503020204020204" pitchFamily="34" charset="-122"/>
              </a:rPr>
              <a:t>年</a:t>
            </a:r>
            <a:endParaRPr lang="zh-CN" altLang="en-US"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0272FF0A-EB42-4141-B69B-9E57C3B4710C}"/>
              </a:ext>
            </a:extLst>
          </p:cNvPr>
          <p:cNvSpPr txBox="1"/>
          <p:nvPr/>
        </p:nvSpPr>
        <p:spPr>
          <a:xfrm>
            <a:off x="9686867" y="5425846"/>
            <a:ext cx="2138099"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ARPANET</a:t>
            </a:r>
            <a:r>
              <a:rPr lang="zh-CN" altLang="en-US" dirty="0">
                <a:latin typeface="微软雅黑" panose="020B0503020204020204" pitchFamily="34" charset="-122"/>
                <a:ea typeface="微软雅黑" panose="020B0503020204020204" pitchFamily="34" charset="-122"/>
              </a:rPr>
              <a:t>退役</a:t>
            </a:r>
            <a:br>
              <a:rPr lang="en-US" altLang="zh-CN" dirty="0">
                <a:latin typeface="微软雅黑" panose="020B0503020204020204" pitchFamily="34" charset="-122"/>
                <a:ea typeface="微软雅黑" panose="020B0503020204020204" pitchFamily="34" charset="-122"/>
              </a:rPr>
            </a:br>
            <a:r>
              <a:rPr lang="zh-CN" altLang="en-US" dirty="0">
                <a:solidFill>
                  <a:srgbClr val="C00000"/>
                </a:solidFill>
                <a:latin typeface="微软雅黑" panose="020B0503020204020204" pitchFamily="34" charset="-122"/>
                <a:ea typeface="微软雅黑" panose="020B0503020204020204" pitchFamily="34" charset="-122"/>
              </a:rPr>
              <a:t>移交基金委</a:t>
            </a:r>
            <a:r>
              <a:rPr lang="en-US" altLang="zh-CN" dirty="0">
                <a:solidFill>
                  <a:srgbClr val="C00000"/>
                </a:solidFill>
                <a:latin typeface="微软雅黑" panose="020B0503020204020204" pitchFamily="34" charset="-122"/>
                <a:ea typeface="微软雅黑" panose="020B0503020204020204" pitchFamily="34" charset="-122"/>
              </a:rPr>
              <a:t>NSF</a:t>
            </a:r>
          </a:p>
        </p:txBody>
      </p:sp>
      <p:sp>
        <p:nvSpPr>
          <p:cNvPr id="33" name="等腰三角形 32">
            <a:extLst>
              <a:ext uri="{FF2B5EF4-FFF2-40B4-BE49-F238E27FC236}">
                <a16:creationId xmlns:a16="http://schemas.microsoft.com/office/drawing/2014/main" id="{730BAEAE-AE84-4E58-BA41-0A7B4E4E89D2}"/>
              </a:ext>
            </a:extLst>
          </p:cNvPr>
          <p:cNvSpPr/>
          <p:nvPr/>
        </p:nvSpPr>
        <p:spPr>
          <a:xfrm>
            <a:off x="10495240" y="4783661"/>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7E8C16FE-D7CB-4A6B-8F8C-CA68AF4CDE65}"/>
              </a:ext>
            </a:extLst>
          </p:cNvPr>
          <p:cNvSpPr txBox="1"/>
          <p:nvPr/>
        </p:nvSpPr>
        <p:spPr>
          <a:xfrm>
            <a:off x="7939296" y="1390959"/>
            <a:ext cx="4060092" cy="2654573"/>
          </a:xfrm>
          <a:prstGeom prst="rect">
            <a:avLst/>
          </a:prstGeom>
          <a:noFill/>
        </p:spPr>
        <p:txBody>
          <a:bodyPr wrap="square">
            <a:spAutoFit/>
          </a:bodyPr>
          <a:lstStyle/>
          <a:p>
            <a:pPr marL="342900" indent="-342900">
              <a:spcBef>
                <a:spcPts val="900"/>
              </a:spcBef>
              <a:buFont typeface="Wingdings" panose="05000000000000000000" pitchFamily="2" charset="2"/>
              <a:buChar char="Ø"/>
            </a:pPr>
            <a:r>
              <a:rPr lang="en-US" altLang="zh-CN" sz="2200" b="0" i="0" dirty="0">
                <a:solidFill>
                  <a:srgbClr val="0A0A0A"/>
                </a:solidFill>
                <a:effectLst/>
                <a:latin typeface="微软雅黑" panose="020B0503020204020204" pitchFamily="34" charset="-122"/>
                <a:ea typeface="微软雅黑" panose="020B0503020204020204" pitchFamily="34" charset="-122"/>
              </a:rPr>
              <a:t>1972</a:t>
            </a:r>
            <a:r>
              <a:rPr lang="zh-CN" altLang="en-US" sz="2200" b="0" i="0" dirty="0">
                <a:solidFill>
                  <a:srgbClr val="0A0A0A"/>
                </a:solidFill>
                <a:effectLst/>
                <a:latin typeface="微软雅黑" panose="020B0503020204020204" pitchFamily="34" charset="-122"/>
                <a:ea typeface="微软雅黑" panose="020B0503020204020204" pitchFamily="34" charset="-122"/>
              </a:rPr>
              <a:t>年底：</a:t>
            </a:r>
            <a:r>
              <a:rPr lang="en-US" altLang="zh-CN" sz="2200" b="0" i="0" dirty="0">
                <a:solidFill>
                  <a:srgbClr val="0A0A0A"/>
                </a:solidFill>
                <a:effectLst/>
                <a:latin typeface="微软雅黑" panose="020B0503020204020204" pitchFamily="34" charset="-122"/>
                <a:ea typeface="微软雅黑" panose="020B0503020204020204" pitchFamily="34" charset="-122"/>
              </a:rPr>
              <a:t>24</a:t>
            </a:r>
            <a:r>
              <a:rPr lang="zh-CN" altLang="en-US" sz="2200" b="0" i="0" dirty="0">
                <a:solidFill>
                  <a:srgbClr val="0A0A0A"/>
                </a:solidFill>
                <a:effectLst/>
                <a:latin typeface="微软雅黑" panose="020B0503020204020204" pitchFamily="34" charset="-122"/>
                <a:ea typeface="微软雅黑" panose="020B0503020204020204" pitchFamily="34" charset="-122"/>
              </a:rPr>
              <a:t>个站点</a:t>
            </a:r>
            <a:endParaRPr lang="en-US" altLang="zh-CN" sz="2200" b="0" i="0" dirty="0">
              <a:solidFill>
                <a:srgbClr val="0A0A0A"/>
              </a:solidFill>
              <a:effectLst/>
              <a:latin typeface="微软雅黑" panose="020B0503020204020204" pitchFamily="34" charset="-122"/>
              <a:ea typeface="微软雅黑" panose="020B0503020204020204" pitchFamily="34" charset="-122"/>
            </a:endParaRPr>
          </a:p>
          <a:p>
            <a:pPr marL="800100" lvl="1" indent="-342900">
              <a:spcBef>
                <a:spcPts val="900"/>
              </a:spcBef>
              <a:buFont typeface="Arial" panose="020B0604020202020204" pitchFamily="34" charset="0"/>
              <a:buChar char="•"/>
            </a:pPr>
            <a:r>
              <a:rPr lang="zh-CN" altLang="en-US" sz="2000" b="0" i="0" dirty="0">
                <a:solidFill>
                  <a:srgbClr val="0A0A0A"/>
                </a:solidFill>
                <a:effectLst/>
                <a:latin typeface="微软雅黑" panose="020B0503020204020204" pitchFamily="34" charset="-122"/>
                <a:ea typeface="微软雅黑" panose="020B0503020204020204" pitchFamily="34" charset="-122"/>
              </a:rPr>
              <a:t>美国国防部</a:t>
            </a:r>
            <a:r>
              <a:rPr lang="en-US" altLang="zh-CN" sz="2000" b="0" i="0" dirty="0">
                <a:solidFill>
                  <a:srgbClr val="0A0A0A"/>
                </a:solidFill>
                <a:effectLst/>
                <a:latin typeface="微软雅黑" panose="020B0503020204020204" pitchFamily="34" charset="-122"/>
                <a:ea typeface="微软雅黑" panose="020B0503020204020204" pitchFamily="34" charset="-122"/>
              </a:rPr>
              <a:t>DARPA</a:t>
            </a:r>
            <a:r>
              <a:rPr lang="zh-CN" altLang="en-US" sz="2000" dirty="0">
                <a:solidFill>
                  <a:srgbClr val="0A0A0A"/>
                </a:solidFill>
                <a:latin typeface="微软雅黑" panose="020B0503020204020204" pitchFamily="34" charset="-122"/>
                <a:ea typeface="微软雅黑" panose="020B0503020204020204" pitchFamily="34" charset="-122"/>
              </a:rPr>
              <a:t>、基金委</a:t>
            </a:r>
            <a:r>
              <a:rPr lang="en-US" altLang="zh-CN" sz="2000" b="0" i="0" dirty="0">
                <a:solidFill>
                  <a:srgbClr val="0A0A0A"/>
                </a:solidFill>
                <a:effectLst/>
                <a:latin typeface="微软雅黑" panose="020B0503020204020204" pitchFamily="34" charset="-122"/>
                <a:ea typeface="微软雅黑" panose="020B0503020204020204" pitchFamily="34" charset="-122"/>
              </a:rPr>
              <a:t>NSF</a:t>
            </a:r>
            <a:r>
              <a:rPr lang="zh-CN" altLang="en-US" sz="2000" b="0" i="0" dirty="0">
                <a:solidFill>
                  <a:srgbClr val="0A0A0A"/>
                </a:solidFill>
                <a:effectLst/>
                <a:latin typeface="微软雅黑" panose="020B0503020204020204" pitchFamily="34" charset="-122"/>
                <a:ea typeface="微软雅黑" panose="020B0503020204020204" pitchFamily="34" charset="-122"/>
              </a:rPr>
              <a:t>以及</a:t>
            </a:r>
            <a:r>
              <a:rPr lang="en-US" altLang="zh-CN" sz="2000" b="0" i="0" dirty="0">
                <a:solidFill>
                  <a:srgbClr val="0A0A0A"/>
                </a:solidFill>
                <a:effectLst/>
                <a:latin typeface="微软雅黑" panose="020B0503020204020204" pitchFamily="34" charset="-122"/>
                <a:ea typeface="微软雅黑" panose="020B0503020204020204" pitchFamily="34" charset="-122"/>
              </a:rPr>
              <a:t>UCLA</a:t>
            </a:r>
            <a:r>
              <a:rPr lang="zh-CN" altLang="en-US" sz="2000" b="0" i="0" dirty="0">
                <a:solidFill>
                  <a:srgbClr val="0A0A0A"/>
                </a:solidFill>
                <a:effectLst/>
                <a:latin typeface="微软雅黑" panose="020B0503020204020204" pitchFamily="34" charset="-122"/>
                <a:ea typeface="微软雅黑" panose="020B0503020204020204" pitchFamily="34" charset="-122"/>
              </a:rPr>
              <a:t>、</a:t>
            </a:r>
            <a:r>
              <a:rPr lang="en-US" altLang="zh-CN" sz="2000" b="0" i="0" dirty="0">
                <a:solidFill>
                  <a:srgbClr val="0A0A0A"/>
                </a:solidFill>
                <a:effectLst/>
                <a:latin typeface="微软雅黑" panose="020B0503020204020204" pitchFamily="34" charset="-122"/>
                <a:ea typeface="微软雅黑" panose="020B0503020204020204" pitchFamily="34" charset="-122"/>
              </a:rPr>
              <a:t>UCSB</a:t>
            </a:r>
            <a:r>
              <a:rPr lang="zh-CN" altLang="en-US" sz="2000" dirty="0">
                <a:solidFill>
                  <a:srgbClr val="0A0A0A"/>
                </a:solidFill>
                <a:latin typeface="微软雅黑" panose="020B0503020204020204" pitchFamily="34" charset="-122"/>
                <a:ea typeface="微软雅黑" panose="020B0503020204020204" pitchFamily="34" charset="-122"/>
              </a:rPr>
              <a:t>等高校</a:t>
            </a:r>
            <a:endParaRPr lang="en-US" altLang="zh-CN" sz="2000" b="0" i="0" dirty="0">
              <a:solidFill>
                <a:srgbClr val="0A0A0A"/>
              </a:solidFill>
              <a:effectLst/>
              <a:latin typeface="微软雅黑" panose="020B0503020204020204" pitchFamily="34" charset="-122"/>
              <a:ea typeface="微软雅黑" panose="020B0503020204020204" pitchFamily="34" charset="-122"/>
            </a:endParaRPr>
          </a:p>
          <a:p>
            <a:pPr marL="342900" indent="-342900">
              <a:spcBef>
                <a:spcPts val="900"/>
              </a:spcBef>
              <a:buFont typeface="Wingdings" panose="05000000000000000000" pitchFamily="2" charset="2"/>
              <a:buChar char="Ø"/>
            </a:pPr>
            <a:r>
              <a:rPr lang="en-US" altLang="zh-CN" sz="2200" b="0" i="0" dirty="0">
                <a:solidFill>
                  <a:srgbClr val="0A0A0A"/>
                </a:solidFill>
                <a:effectLst/>
                <a:latin typeface="微软雅黑" panose="020B0503020204020204" pitchFamily="34" charset="-122"/>
                <a:ea typeface="微软雅黑" panose="020B0503020204020204" pitchFamily="34" charset="-122"/>
              </a:rPr>
              <a:t>80</a:t>
            </a:r>
            <a:r>
              <a:rPr lang="zh-CN" altLang="en-US" sz="2200" b="0" i="0" dirty="0">
                <a:solidFill>
                  <a:srgbClr val="0A0A0A"/>
                </a:solidFill>
                <a:effectLst/>
                <a:latin typeface="微软雅黑" panose="020B0503020204020204" pitchFamily="34" charset="-122"/>
                <a:ea typeface="微软雅黑" panose="020B0503020204020204" pitchFamily="34" charset="-122"/>
              </a:rPr>
              <a:t>年代中期</a:t>
            </a:r>
            <a:endParaRPr lang="en-US" altLang="zh-CN" sz="2200" b="0" i="0" dirty="0">
              <a:solidFill>
                <a:srgbClr val="0A0A0A"/>
              </a:solidFill>
              <a:effectLst/>
              <a:latin typeface="微软雅黑" panose="020B0503020204020204" pitchFamily="34" charset="-122"/>
              <a:ea typeface="微软雅黑" panose="020B0503020204020204" pitchFamily="34" charset="-122"/>
            </a:endParaRPr>
          </a:p>
          <a:p>
            <a:pPr marL="800100" lvl="1" indent="-342900">
              <a:spcBef>
                <a:spcPts val="900"/>
              </a:spcBef>
              <a:buFont typeface="Arial" panose="020B0604020202020204" pitchFamily="34" charset="0"/>
              <a:buChar char="•"/>
            </a:pPr>
            <a:r>
              <a:rPr lang="en-US" altLang="zh-CN" sz="2000" dirty="0">
                <a:solidFill>
                  <a:srgbClr val="0A0A0A"/>
                </a:solidFill>
                <a:latin typeface="微软雅黑" panose="020B0503020204020204" pitchFamily="34" charset="-122"/>
                <a:ea typeface="微软雅黑" panose="020B0503020204020204" pitchFamily="34" charset="-122"/>
              </a:rPr>
              <a:t>Internet</a:t>
            </a:r>
            <a:r>
              <a:rPr lang="zh-CN" altLang="en-US" sz="2000" b="0" i="0" dirty="0">
                <a:solidFill>
                  <a:srgbClr val="0A0A0A"/>
                </a:solidFill>
                <a:effectLst/>
                <a:latin typeface="微软雅黑" panose="020B0503020204020204" pitchFamily="34" charset="-122"/>
                <a:ea typeface="微软雅黑" panose="020B0503020204020204" pitchFamily="34" charset="-122"/>
              </a:rPr>
              <a:t>横跨北美、欧洲和澳大利亚，成为全球性网络</a:t>
            </a:r>
            <a:endParaRPr lang="en-US" altLang="zh-CN" sz="2000" b="0" i="0" dirty="0">
              <a:solidFill>
                <a:srgbClr val="0A0A0A"/>
              </a:solidFill>
              <a:effectLst/>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648BEA8E-1527-44CE-A326-4E7AAF3B375B}"/>
              </a:ext>
            </a:extLst>
          </p:cNvPr>
          <p:cNvSpPr txBox="1"/>
          <p:nvPr/>
        </p:nvSpPr>
        <p:spPr>
          <a:xfrm>
            <a:off x="7553240" y="6250866"/>
            <a:ext cx="2236510" cy="400110"/>
          </a:xfrm>
          <a:prstGeom prst="rect">
            <a:avLst/>
          </a:prstGeom>
          <a:noFill/>
        </p:spPr>
        <p:txBody>
          <a:bodyPr wrap="non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标志着互联网诞生</a:t>
            </a:r>
          </a:p>
        </p:txBody>
      </p:sp>
      <p:sp>
        <p:nvSpPr>
          <p:cNvPr id="36" name="星形: 五角 35">
            <a:extLst>
              <a:ext uri="{FF2B5EF4-FFF2-40B4-BE49-F238E27FC236}">
                <a16:creationId xmlns:a16="http://schemas.microsoft.com/office/drawing/2014/main" id="{249B5F52-4DF9-4ECB-8CE6-1155D4E26B7C}"/>
              </a:ext>
            </a:extLst>
          </p:cNvPr>
          <p:cNvSpPr/>
          <p:nvPr/>
        </p:nvSpPr>
        <p:spPr>
          <a:xfrm>
            <a:off x="8474930" y="6076920"/>
            <a:ext cx="393130" cy="223872"/>
          </a:xfrm>
          <a:prstGeom prst="star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93592315-524D-954D-9DE4-DCF97569A9FA}"/>
              </a:ext>
            </a:extLst>
          </p:cNvPr>
          <p:cNvSpPr txBox="1"/>
          <p:nvPr/>
        </p:nvSpPr>
        <p:spPr>
          <a:xfrm>
            <a:off x="1982865" y="1583636"/>
            <a:ext cx="4493538" cy="892552"/>
          </a:xfrm>
          <a:prstGeom prst="rect">
            <a:avLst/>
          </a:prstGeom>
          <a:noFill/>
          <a:ln>
            <a:solidFill>
              <a:srgbClr val="7030A0"/>
            </a:solidFill>
          </a:ln>
        </p:spPr>
        <p:txBody>
          <a:bodyPr wrap="none" rtlCol="0">
            <a:spAutoFit/>
          </a:bodyPr>
          <a:lstStyle/>
          <a:p>
            <a:pPr algn="ctr"/>
            <a:r>
              <a:rPr lang="zh-CN" altLang="en-US" sz="2800" dirty="0">
                <a:solidFill>
                  <a:srgbClr val="C00000"/>
                </a:solidFill>
                <a:latin typeface="微软雅黑" panose="020B0503020204020204" pitchFamily="34" charset="-122"/>
                <a:ea typeface="微软雅黑" panose="020B0503020204020204" pitchFamily="34" charset="-122"/>
              </a:rPr>
              <a:t>美苏争霸</a:t>
            </a:r>
            <a:endParaRPr lang="en-US" altLang="zh-CN" sz="2800" dirty="0">
              <a:solidFill>
                <a:srgbClr val="C00000"/>
              </a:solidFill>
              <a:latin typeface="微软雅黑" panose="020B0503020204020204" pitchFamily="34" charset="-122"/>
              <a:ea typeface="微软雅黑" panose="020B0503020204020204" pitchFamily="34" charset="-122"/>
            </a:endParaRPr>
          </a:p>
          <a:p>
            <a:pPr algn="ctr"/>
            <a:r>
              <a:rPr lang="zh-CN" altLang="en-US" sz="2400" dirty="0">
                <a:solidFill>
                  <a:srgbClr val="C00000"/>
                </a:solidFill>
                <a:latin typeface="微软雅黑" panose="020B0503020204020204" pitchFamily="34" charset="-122"/>
                <a:ea typeface="微软雅黑" panose="020B0503020204020204" pitchFamily="34" charset="-122"/>
              </a:rPr>
              <a:t>在核打击下能够通信的是什么？</a:t>
            </a:r>
          </a:p>
        </p:txBody>
      </p:sp>
      <p:sp>
        <p:nvSpPr>
          <p:cNvPr id="3" name="文本框 2">
            <a:extLst>
              <a:ext uri="{FF2B5EF4-FFF2-40B4-BE49-F238E27FC236}">
                <a16:creationId xmlns:a16="http://schemas.microsoft.com/office/drawing/2014/main" id="{583F70A9-2854-E748-A675-85B35D9D4546}"/>
              </a:ext>
            </a:extLst>
          </p:cNvPr>
          <p:cNvSpPr txBox="1"/>
          <p:nvPr/>
        </p:nvSpPr>
        <p:spPr>
          <a:xfrm>
            <a:off x="7630510" y="1954924"/>
            <a:ext cx="184731" cy="369332"/>
          </a:xfrm>
          <a:prstGeom prst="rect">
            <a:avLst/>
          </a:prstGeom>
          <a:noFill/>
        </p:spPr>
        <p:txBody>
          <a:bodyPr wrap="none" rtlCol="0">
            <a:spAutoFit/>
          </a:bodyPr>
          <a:lstStyle/>
          <a:p>
            <a:endParaRPr kumimoji="1" lang="zh-CN" altLang="en-US"/>
          </a:p>
        </p:txBody>
      </p:sp>
      <p:sp>
        <p:nvSpPr>
          <p:cNvPr id="39" name="等腰三角形 20">
            <a:extLst>
              <a:ext uri="{FF2B5EF4-FFF2-40B4-BE49-F238E27FC236}">
                <a16:creationId xmlns:a16="http://schemas.microsoft.com/office/drawing/2014/main" id="{32F11771-9BFA-FD49-9C26-F3D1A727214F}"/>
              </a:ext>
            </a:extLst>
          </p:cNvPr>
          <p:cNvSpPr/>
          <p:nvPr/>
        </p:nvSpPr>
        <p:spPr>
          <a:xfrm>
            <a:off x="8557195" y="4780556"/>
            <a:ext cx="228600" cy="250018"/>
          </a:xfrm>
          <a:prstGeom prst="triangle">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4118A84F-4B12-B243-B681-A900210A90A9}"/>
              </a:ext>
            </a:extLst>
          </p:cNvPr>
          <p:cNvSpPr/>
          <p:nvPr/>
        </p:nvSpPr>
        <p:spPr>
          <a:xfrm>
            <a:off x="7943778" y="3983336"/>
            <a:ext cx="4060093" cy="769441"/>
          </a:xfrm>
          <a:prstGeom prst="rect">
            <a:avLst/>
          </a:prstGeom>
        </p:spPr>
        <p:txBody>
          <a:bodyPr wrap="square">
            <a:spAutoFit/>
          </a:bodyPr>
          <a:lstStyle/>
          <a:p>
            <a:pPr marL="342900" lvl="0" indent="-342900">
              <a:spcBef>
                <a:spcPts val="900"/>
              </a:spcBef>
              <a:buFont typeface="Wingdings" pitchFamily="2" charset="2"/>
              <a:buChar char="Ø"/>
            </a:pPr>
            <a:r>
              <a:rPr lang="zh-CN" altLang="en-US" sz="2200" dirty="0">
                <a:solidFill>
                  <a:srgbClr val="0A0A0A"/>
                </a:solidFill>
                <a:latin typeface="微软雅黑" panose="020B0503020204020204" pitchFamily="34" charset="-122"/>
                <a:ea typeface="微软雅黑" panose="020B0503020204020204" pitchFamily="34" charset="-122"/>
              </a:rPr>
              <a:t>国防系统的实验，如何扩大研究范畴吸引更多研究者？</a:t>
            </a:r>
            <a:endParaRPr lang="zh-CN" altLang="en-US" sz="2200" dirty="0">
              <a:solidFill>
                <a:prstClr val="black"/>
              </a:solidFill>
              <a:latin typeface="微软雅黑" panose="020B0503020204020204" pitchFamily="34" charset="-122"/>
              <a:ea typeface="微软雅黑" panose="020B0503020204020204" pitchFamily="34" charset="-122"/>
            </a:endParaRPr>
          </a:p>
        </p:txBody>
      </p:sp>
      <p:sp>
        <p:nvSpPr>
          <p:cNvPr id="29" name="灯片编号占位符 28">
            <a:extLst>
              <a:ext uri="{FF2B5EF4-FFF2-40B4-BE49-F238E27FC236}">
                <a16:creationId xmlns:a16="http://schemas.microsoft.com/office/drawing/2014/main" id="{329527F8-767D-8B4F-8B6C-2EF0B60460EC}"/>
              </a:ext>
            </a:extLst>
          </p:cNvPr>
          <p:cNvSpPr>
            <a:spLocks noGrp="1"/>
          </p:cNvSpPr>
          <p:nvPr>
            <p:ph type="sldNum" sz="quarter" idx="12"/>
          </p:nvPr>
        </p:nvSpPr>
        <p:spPr/>
        <p:txBody>
          <a:bodyPr/>
          <a:lstStyle/>
          <a:p>
            <a:fld id="{8D4D1E41-7A09-AB4A-A4E1-09765ADA2698}" type="slidenum">
              <a:rPr kumimoji="1" lang="zh-CN" altLang="en-US" smtClean="0"/>
              <a:t>104</a:t>
            </a:fld>
            <a:endParaRPr kumimoji="1" lang="zh-CN" altLang="en-US" dirty="0"/>
          </a:p>
        </p:txBody>
      </p:sp>
      <p:sp>
        <p:nvSpPr>
          <p:cNvPr id="40" name="文本框 39">
            <a:extLst>
              <a:ext uri="{FF2B5EF4-FFF2-40B4-BE49-F238E27FC236}">
                <a16:creationId xmlns:a16="http://schemas.microsoft.com/office/drawing/2014/main" id="{FC0C5074-6AEA-3445-90DB-46C68A04E71D}"/>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363505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xEl>
                                              <p:pRg st="2" end="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blinds(horizontal)">
                                      <p:cBhvr>
                                        <p:cTn id="65" dur="500"/>
                                        <p:tgtEl>
                                          <p:spTgt spid="9"/>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6" grpId="0"/>
      <p:bldP spid="17" grpId="0" animBg="1"/>
      <p:bldP spid="18" grpId="0"/>
      <p:bldP spid="20" grpId="0"/>
      <p:bldP spid="21" grpId="0" animBg="1"/>
      <p:bldP spid="23" grpId="0"/>
      <p:bldP spid="24" grpId="0"/>
      <p:bldP spid="25" grpId="0"/>
      <p:bldP spid="26" grpId="0"/>
      <p:bldP spid="27" grpId="0"/>
      <p:bldP spid="28" grpId="0"/>
      <p:bldP spid="30" grpId="0" animBg="1"/>
      <p:bldP spid="31" grpId="0"/>
      <p:bldP spid="32" grpId="0"/>
      <p:bldP spid="33" grpId="0" animBg="1"/>
      <p:bldP spid="35" grpId="0"/>
      <p:bldP spid="36" grpId="0" animBg="1"/>
      <p:bldP spid="37" grpId="0" animBg="1"/>
      <p:bldP spid="39" grpId="0" animBg="1"/>
      <p:bldP spid="9"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任意多边形: 形状 149">
            <a:extLst>
              <a:ext uri="{FF2B5EF4-FFF2-40B4-BE49-F238E27FC236}">
                <a16:creationId xmlns:a16="http://schemas.microsoft.com/office/drawing/2014/main" id="{5805FC50-5E4E-4C16-8AC2-A917DBA41D54}"/>
              </a:ext>
            </a:extLst>
          </p:cNvPr>
          <p:cNvSpPr/>
          <p:nvPr/>
        </p:nvSpPr>
        <p:spPr>
          <a:xfrm>
            <a:off x="4058194" y="1410789"/>
            <a:ext cx="6209212" cy="3640182"/>
          </a:xfrm>
          <a:custGeom>
            <a:avLst/>
            <a:gdLst>
              <a:gd name="connsiteX0" fmla="*/ 148046 w 6209212"/>
              <a:gd name="connsiteY0" fmla="*/ 165462 h 3640182"/>
              <a:gd name="connsiteX1" fmla="*/ 5138057 w 6209212"/>
              <a:gd name="connsiteY1" fmla="*/ 156754 h 3640182"/>
              <a:gd name="connsiteX2" fmla="*/ 5338355 w 6209212"/>
              <a:gd name="connsiteY2" fmla="*/ 17417 h 3640182"/>
              <a:gd name="connsiteX3" fmla="*/ 6209212 w 6209212"/>
              <a:gd name="connsiteY3" fmla="*/ 0 h 3640182"/>
              <a:gd name="connsiteX4" fmla="*/ 6174377 w 6209212"/>
              <a:gd name="connsiteY4" fmla="*/ 3640182 h 3640182"/>
              <a:gd name="connsiteX5" fmla="*/ 5120640 w 6209212"/>
              <a:gd name="connsiteY5" fmla="*/ 3622765 h 3640182"/>
              <a:gd name="connsiteX6" fmla="*/ 5138057 w 6209212"/>
              <a:gd name="connsiteY6" fmla="*/ 748937 h 3640182"/>
              <a:gd name="connsiteX7" fmla="*/ 0 w 6209212"/>
              <a:gd name="connsiteY7" fmla="*/ 766354 h 3640182"/>
              <a:gd name="connsiteX8" fmla="*/ 17417 w 6209212"/>
              <a:gd name="connsiteY8" fmla="*/ 182880 h 3640182"/>
              <a:gd name="connsiteX9" fmla="*/ 148046 w 6209212"/>
              <a:gd name="connsiteY9" fmla="*/ 165462 h 364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09212" h="3640182">
                <a:moveTo>
                  <a:pt x="148046" y="165462"/>
                </a:moveTo>
                <a:lnTo>
                  <a:pt x="5138057" y="156754"/>
                </a:lnTo>
                <a:lnTo>
                  <a:pt x="5338355" y="17417"/>
                </a:lnTo>
                <a:lnTo>
                  <a:pt x="6209212" y="0"/>
                </a:lnTo>
                <a:lnTo>
                  <a:pt x="6174377" y="3640182"/>
                </a:lnTo>
                <a:lnTo>
                  <a:pt x="5120640" y="3622765"/>
                </a:lnTo>
                <a:lnTo>
                  <a:pt x="5138057" y="748937"/>
                </a:lnTo>
                <a:lnTo>
                  <a:pt x="0" y="766354"/>
                </a:lnTo>
                <a:lnTo>
                  <a:pt x="17417" y="182880"/>
                </a:lnTo>
                <a:lnTo>
                  <a:pt x="148046" y="165462"/>
                </a:lnTo>
                <a:close/>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AutoShape 5">
            <a:extLst>
              <a:ext uri="{FF2B5EF4-FFF2-40B4-BE49-F238E27FC236}">
                <a16:creationId xmlns:a16="http://schemas.microsoft.com/office/drawing/2014/main" id="{3C1AF3A8-B36D-48B4-860F-31588A277865}"/>
              </a:ext>
            </a:extLst>
          </p:cNvPr>
          <p:cNvSpPr>
            <a:spLocks noChangeArrowheads="1"/>
          </p:cNvSpPr>
          <p:nvPr/>
        </p:nvSpPr>
        <p:spPr bwMode="auto">
          <a:xfrm>
            <a:off x="9402757" y="1463040"/>
            <a:ext cx="792163" cy="3503362"/>
          </a:xfrm>
          <a:prstGeom prst="roundRect">
            <a:avLst>
              <a:gd name="adj" fmla="val 16667"/>
            </a:avLst>
          </a:prstGeom>
          <a:solidFill>
            <a:schemeClr val="bg1"/>
          </a:solidFill>
          <a:ln w="9525">
            <a:solidFill>
              <a:schemeClr val="tx1"/>
            </a:solidFill>
            <a:round/>
            <a:headEnd/>
            <a:tailEnd/>
          </a:ln>
          <a:effectLst/>
        </p:spPr>
        <p:txBody>
          <a:bodyPr wrap="none" anchor="ctr"/>
          <a:lstStyle/>
          <a:p>
            <a:endParaRPr lang="zh-CN" altLang="en-US" sz="2400">
              <a:latin typeface="微软雅黑" panose="020B0503020204020204" pitchFamily="34" charset="-122"/>
              <a:ea typeface="微软雅黑" panose="020B0503020204020204" pitchFamily="34" charset="-122"/>
            </a:endParaRPr>
          </a:p>
        </p:txBody>
      </p:sp>
      <p:cxnSp>
        <p:nvCxnSpPr>
          <p:cNvPr id="99" name="直接箭头连接符 98">
            <a:extLst>
              <a:ext uri="{FF2B5EF4-FFF2-40B4-BE49-F238E27FC236}">
                <a16:creationId xmlns:a16="http://schemas.microsoft.com/office/drawing/2014/main" id="{1DE7A9F2-CE2B-484A-A100-FF72893AAB83}"/>
              </a:ext>
            </a:extLst>
          </p:cNvPr>
          <p:cNvCxnSpPr>
            <a:cxnSpLocks/>
            <a:stCxn id="38" idx="3"/>
          </p:cNvCxnSpPr>
          <p:nvPr/>
        </p:nvCxnSpPr>
        <p:spPr>
          <a:xfrm>
            <a:off x="4843730" y="4816917"/>
            <a:ext cx="45590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74E6A2BC-6724-456B-B6B3-FFFC4D2396FD}"/>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互联网早期发展与启示</a:t>
            </a:r>
            <a:endParaRPr lang="zh-CN" altLang="en-US" dirty="0"/>
          </a:p>
        </p:txBody>
      </p:sp>
      <p:sp>
        <p:nvSpPr>
          <p:cNvPr id="3" name="内容占位符 2">
            <a:extLst>
              <a:ext uri="{FF2B5EF4-FFF2-40B4-BE49-F238E27FC236}">
                <a16:creationId xmlns:a16="http://schemas.microsoft.com/office/drawing/2014/main" id="{545A369E-04C7-4787-B162-E8BCFC089E94}"/>
              </a:ext>
            </a:extLst>
          </p:cNvPr>
          <p:cNvSpPr>
            <a:spLocks noGrp="1"/>
          </p:cNvSpPr>
          <p:nvPr>
            <p:ph idx="1"/>
          </p:nvPr>
        </p:nvSpPr>
        <p:spPr>
          <a:xfrm>
            <a:off x="770626" y="5506626"/>
            <a:ext cx="10583174" cy="643744"/>
          </a:xfrm>
        </p:spPr>
        <p:txBody>
          <a:bodyPr>
            <a:normAutofit/>
          </a:bodyPr>
          <a:lstStyle/>
          <a:p>
            <a:pPr marL="0" indent="0">
              <a:buNone/>
            </a:pPr>
            <a:r>
              <a:rPr lang="zh-CN" altLang="en-US" dirty="0"/>
              <a:t>多个网络项目，美国发起的</a:t>
            </a:r>
            <a:r>
              <a:rPr lang="en-US" altLang="zh-CN" dirty="0"/>
              <a:t>ARPNET</a:t>
            </a:r>
            <a:r>
              <a:rPr lang="zh-CN" altLang="en-US" dirty="0"/>
              <a:t>最终胜出，成为今天的互联网</a:t>
            </a:r>
          </a:p>
        </p:txBody>
      </p:sp>
      <p:sp>
        <p:nvSpPr>
          <p:cNvPr id="58" name="AutoShape 7">
            <a:extLst>
              <a:ext uri="{FF2B5EF4-FFF2-40B4-BE49-F238E27FC236}">
                <a16:creationId xmlns:a16="http://schemas.microsoft.com/office/drawing/2014/main" id="{A6523005-41CE-4061-A273-B10669009E01}"/>
              </a:ext>
            </a:extLst>
          </p:cNvPr>
          <p:cNvSpPr>
            <a:spLocks noChangeArrowheads="1"/>
          </p:cNvSpPr>
          <p:nvPr/>
        </p:nvSpPr>
        <p:spPr bwMode="auto">
          <a:xfrm>
            <a:off x="1416949" y="1602994"/>
            <a:ext cx="1627925" cy="576263"/>
          </a:xfrm>
          <a:prstGeom prst="roundRect">
            <a:avLst>
              <a:gd name="adj" fmla="val 16667"/>
            </a:avLst>
          </a:prstGeom>
          <a:solidFill>
            <a:srgbClr val="FAF4FF"/>
          </a:solidFill>
          <a:ln w="9525">
            <a:solidFill>
              <a:srgbClr val="5B307E"/>
            </a:solidFill>
            <a:round/>
            <a:headEnd/>
            <a:tailE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叛逆思想</a:t>
            </a:r>
          </a:p>
        </p:txBody>
      </p:sp>
      <p:sp>
        <p:nvSpPr>
          <p:cNvPr id="59" name="AutoShape 8">
            <a:extLst>
              <a:ext uri="{FF2B5EF4-FFF2-40B4-BE49-F238E27FC236}">
                <a16:creationId xmlns:a16="http://schemas.microsoft.com/office/drawing/2014/main" id="{3DBADDA5-AD17-4A4A-BCAB-91579706EF38}"/>
              </a:ext>
            </a:extLst>
          </p:cNvPr>
          <p:cNvSpPr>
            <a:spLocks noChangeArrowheads="1"/>
          </p:cNvSpPr>
          <p:nvPr/>
        </p:nvSpPr>
        <p:spPr bwMode="auto">
          <a:xfrm>
            <a:off x="1416949" y="2299358"/>
            <a:ext cx="1627925" cy="576263"/>
          </a:xfrm>
          <a:prstGeom prst="roundRect">
            <a:avLst>
              <a:gd name="adj" fmla="val 16667"/>
            </a:avLst>
          </a:prstGeom>
          <a:solidFill>
            <a:srgbClr val="FAF4FF"/>
          </a:solidFill>
          <a:ln w="9525">
            <a:solidFill>
              <a:srgbClr val="5B307E"/>
            </a:solidFill>
            <a:round/>
            <a:headEnd/>
            <a:tailE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军方战略</a:t>
            </a:r>
          </a:p>
        </p:txBody>
      </p:sp>
      <p:sp>
        <p:nvSpPr>
          <p:cNvPr id="60" name="AutoShape 9">
            <a:extLst>
              <a:ext uri="{FF2B5EF4-FFF2-40B4-BE49-F238E27FC236}">
                <a16:creationId xmlns:a16="http://schemas.microsoft.com/office/drawing/2014/main" id="{1049EA46-B1B3-4104-BD2E-91C6BA4224B6}"/>
              </a:ext>
            </a:extLst>
          </p:cNvPr>
          <p:cNvSpPr>
            <a:spLocks noChangeArrowheads="1"/>
          </p:cNvSpPr>
          <p:nvPr/>
        </p:nvSpPr>
        <p:spPr bwMode="auto">
          <a:xfrm>
            <a:off x="1416949" y="3009786"/>
            <a:ext cx="1627925" cy="576263"/>
          </a:xfrm>
          <a:prstGeom prst="roundRect">
            <a:avLst>
              <a:gd name="adj" fmla="val 16667"/>
            </a:avLst>
          </a:prstGeom>
          <a:solidFill>
            <a:srgbClr val="FAF4FF"/>
          </a:solidFill>
          <a:ln w="9525">
            <a:solidFill>
              <a:srgbClr val="5B307E"/>
            </a:solidFill>
            <a:round/>
            <a:headEnd/>
            <a:tailE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充足经费</a:t>
            </a:r>
          </a:p>
        </p:txBody>
      </p:sp>
      <p:sp>
        <p:nvSpPr>
          <p:cNvPr id="61" name="AutoShape 10">
            <a:extLst>
              <a:ext uri="{FF2B5EF4-FFF2-40B4-BE49-F238E27FC236}">
                <a16:creationId xmlns:a16="http://schemas.microsoft.com/office/drawing/2014/main" id="{E958B3A6-6A17-4B31-8019-C33674CEBDAC}"/>
              </a:ext>
            </a:extLst>
          </p:cNvPr>
          <p:cNvSpPr>
            <a:spLocks noChangeArrowheads="1"/>
          </p:cNvSpPr>
          <p:nvPr/>
        </p:nvSpPr>
        <p:spPr bwMode="auto">
          <a:xfrm>
            <a:off x="1416949" y="3714699"/>
            <a:ext cx="1627925" cy="576263"/>
          </a:xfrm>
          <a:prstGeom prst="roundRect">
            <a:avLst>
              <a:gd name="adj" fmla="val 16667"/>
            </a:avLst>
          </a:prstGeom>
          <a:solidFill>
            <a:srgbClr val="FAF4FF"/>
          </a:solidFill>
          <a:ln w="9525">
            <a:solidFill>
              <a:srgbClr val="5B307E"/>
            </a:solidFill>
            <a:round/>
            <a:headEnd/>
            <a:tailE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市场经济</a:t>
            </a:r>
          </a:p>
        </p:txBody>
      </p:sp>
      <p:sp>
        <p:nvSpPr>
          <p:cNvPr id="62" name="AutoShape 11">
            <a:extLst>
              <a:ext uri="{FF2B5EF4-FFF2-40B4-BE49-F238E27FC236}">
                <a16:creationId xmlns:a16="http://schemas.microsoft.com/office/drawing/2014/main" id="{D2851C7B-755C-4062-B9FE-6D3D1C318A7E}"/>
              </a:ext>
            </a:extLst>
          </p:cNvPr>
          <p:cNvSpPr>
            <a:spLocks noChangeArrowheads="1"/>
          </p:cNvSpPr>
          <p:nvPr/>
        </p:nvSpPr>
        <p:spPr bwMode="auto">
          <a:xfrm>
            <a:off x="1416949" y="4423522"/>
            <a:ext cx="1627925" cy="576263"/>
          </a:xfrm>
          <a:prstGeom prst="roundRect">
            <a:avLst>
              <a:gd name="adj" fmla="val 16667"/>
            </a:avLst>
          </a:prstGeom>
          <a:solidFill>
            <a:srgbClr val="FAF4FF"/>
          </a:solidFill>
          <a:ln w="9525">
            <a:solidFill>
              <a:srgbClr val="5B307E"/>
            </a:solidFill>
            <a:round/>
            <a:headEnd/>
            <a:tailEnd/>
          </a:ln>
          <a:effectLst/>
        </p:spPr>
        <p:txBody>
          <a:bodyPr wrap="none" anchor="ctr"/>
          <a:lstStyle/>
          <a:p>
            <a:pPr algn="ctr"/>
            <a:r>
              <a:rPr lang="zh-CN" altLang="en-US" sz="2000" dirty="0">
                <a:latin typeface="微软雅黑" panose="020B0503020204020204" pitchFamily="34" charset="-122"/>
                <a:ea typeface="微软雅黑" panose="020B0503020204020204" pitchFamily="34" charset="-122"/>
              </a:rPr>
              <a:t>精英团队</a:t>
            </a:r>
          </a:p>
        </p:txBody>
      </p:sp>
      <p:sp>
        <p:nvSpPr>
          <p:cNvPr id="26" name="Text Box 20">
            <a:extLst>
              <a:ext uri="{FF2B5EF4-FFF2-40B4-BE49-F238E27FC236}">
                <a16:creationId xmlns:a16="http://schemas.microsoft.com/office/drawing/2014/main" id="{2B3E55D3-3BC3-457E-A624-C8AADC98C8BD}"/>
              </a:ext>
            </a:extLst>
          </p:cNvPr>
          <p:cNvSpPr txBox="1">
            <a:spLocks noChangeArrowheads="1"/>
          </p:cNvSpPr>
          <p:nvPr/>
        </p:nvSpPr>
        <p:spPr bwMode="auto">
          <a:xfrm>
            <a:off x="8501586" y="1703474"/>
            <a:ext cx="800219" cy="338554"/>
          </a:xfrm>
          <a:prstGeom prst="rect">
            <a:avLst/>
          </a:prstGeom>
          <a:solidFill>
            <a:srgbClr val="FFFEA0"/>
          </a:solidFill>
          <a:ln w="9525">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latin typeface="微软雅黑" panose="020B0503020204020204" pitchFamily="34" charset="-122"/>
                <a:ea typeface="微软雅黑" panose="020B0503020204020204" pitchFamily="34" charset="-122"/>
              </a:rPr>
              <a:t>商业化</a:t>
            </a:r>
          </a:p>
        </p:txBody>
      </p:sp>
      <p:sp>
        <p:nvSpPr>
          <p:cNvPr id="31" name="Rectangle 25">
            <a:extLst>
              <a:ext uri="{FF2B5EF4-FFF2-40B4-BE49-F238E27FC236}">
                <a16:creationId xmlns:a16="http://schemas.microsoft.com/office/drawing/2014/main" id="{ACF3F2A5-EC3B-4864-B449-6FEF03CAAA3A}"/>
              </a:ext>
            </a:extLst>
          </p:cNvPr>
          <p:cNvSpPr>
            <a:spLocks noChangeArrowheads="1"/>
          </p:cNvSpPr>
          <p:nvPr/>
        </p:nvSpPr>
        <p:spPr bwMode="auto">
          <a:xfrm>
            <a:off x="7309243" y="3500700"/>
            <a:ext cx="870751" cy="338554"/>
          </a:xfrm>
          <a:prstGeom prst="rect">
            <a:avLst/>
          </a:prstGeom>
          <a:solidFill>
            <a:srgbClr val="FFFEA0"/>
          </a:solid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panose="020B0503020204020204" pitchFamily="34" charset="-122"/>
                <a:ea typeface="微软雅黑" panose="020B0503020204020204" pitchFamily="34" charset="-122"/>
              </a:rPr>
              <a:t>WWW </a:t>
            </a:r>
          </a:p>
        </p:txBody>
      </p:sp>
      <p:sp>
        <p:nvSpPr>
          <p:cNvPr id="33" name="Text Box 27">
            <a:extLst>
              <a:ext uri="{FF2B5EF4-FFF2-40B4-BE49-F238E27FC236}">
                <a16:creationId xmlns:a16="http://schemas.microsoft.com/office/drawing/2014/main" id="{C856FB10-DF3A-4399-9927-64A12863D26D}"/>
              </a:ext>
            </a:extLst>
          </p:cNvPr>
          <p:cNvSpPr txBox="1">
            <a:spLocks noChangeArrowheads="1"/>
          </p:cNvSpPr>
          <p:nvPr/>
        </p:nvSpPr>
        <p:spPr bwMode="auto">
          <a:xfrm>
            <a:off x="4197399" y="1695844"/>
            <a:ext cx="64633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微软雅黑" panose="020B0503020204020204" pitchFamily="34" charset="-122"/>
                <a:ea typeface="微软雅黑" panose="020B0503020204020204" pitchFamily="34" charset="-122"/>
              </a:rPr>
              <a:t>美国</a:t>
            </a:r>
          </a:p>
        </p:txBody>
      </p:sp>
      <p:sp>
        <p:nvSpPr>
          <p:cNvPr id="34" name="Text Box 28">
            <a:extLst>
              <a:ext uri="{FF2B5EF4-FFF2-40B4-BE49-F238E27FC236}">
                <a16:creationId xmlns:a16="http://schemas.microsoft.com/office/drawing/2014/main" id="{865CDD40-BFFB-4DB3-8DA1-FEBC39626B42}"/>
              </a:ext>
            </a:extLst>
          </p:cNvPr>
          <p:cNvSpPr txBox="1">
            <a:spLocks noChangeArrowheads="1"/>
          </p:cNvSpPr>
          <p:nvPr/>
        </p:nvSpPr>
        <p:spPr bwMode="auto">
          <a:xfrm>
            <a:off x="4197399" y="2306527"/>
            <a:ext cx="64633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微软雅黑" panose="020B0503020204020204" pitchFamily="34" charset="-122"/>
                <a:ea typeface="微软雅黑" panose="020B0503020204020204" pitchFamily="34" charset="-122"/>
              </a:rPr>
              <a:t>英国</a:t>
            </a:r>
          </a:p>
        </p:txBody>
      </p:sp>
      <p:sp>
        <p:nvSpPr>
          <p:cNvPr id="35" name="Text Box 29">
            <a:extLst>
              <a:ext uri="{FF2B5EF4-FFF2-40B4-BE49-F238E27FC236}">
                <a16:creationId xmlns:a16="http://schemas.microsoft.com/office/drawing/2014/main" id="{C6DC662E-20C0-4F52-983B-F17B1EF37B4C}"/>
              </a:ext>
            </a:extLst>
          </p:cNvPr>
          <p:cNvSpPr txBox="1">
            <a:spLocks noChangeArrowheads="1"/>
          </p:cNvSpPr>
          <p:nvPr/>
        </p:nvSpPr>
        <p:spPr bwMode="auto">
          <a:xfrm>
            <a:off x="4197399" y="2889451"/>
            <a:ext cx="64633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panose="020B0503020204020204" pitchFamily="34" charset="-122"/>
                <a:ea typeface="微软雅黑" panose="020B0503020204020204" pitchFamily="34" charset="-122"/>
              </a:rPr>
              <a:t>法国</a:t>
            </a:r>
          </a:p>
        </p:txBody>
      </p:sp>
      <p:sp>
        <p:nvSpPr>
          <p:cNvPr id="36" name="Text Box 30">
            <a:extLst>
              <a:ext uri="{FF2B5EF4-FFF2-40B4-BE49-F238E27FC236}">
                <a16:creationId xmlns:a16="http://schemas.microsoft.com/office/drawing/2014/main" id="{2055D8DB-9A71-4BFC-AF48-525FBF9B4DE9}"/>
              </a:ext>
            </a:extLst>
          </p:cNvPr>
          <p:cNvSpPr txBox="1">
            <a:spLocks noChangeArrowheads="1"/>
          </p:cNvSpPr>
          <p:nvPr/>
        </p:nvSpPr>
        <p:spPr bwMode="auto">
          <a:xfrm>
            <a:off x="4206108" y="4083476"/>
            <a:ext cx="64633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panose="020B0503020204020204" pitchFamily="34" charset="-122"/>
                <a:ea typeface="微软雅黑" panose="020B0503020204020204" pitchFamily="34" charset="-122"/>
              </a:rPr>
              <a:t>苏联</a:t>
            </a:r>
          </a:p>
        </p:txBody>
      </p:sp>
      <p:sp>
        <p:nvSpPr>
          <p:cNvPr id="37" name="Text Box 31">
            <a:extLst>
              <a:ext uri="{FF2B5EF4-FFF2-40B4-BE49-F238E27FC236}">
                <a16:creationId xmlns:a16="http://schemas.microsoft.com/office/drawing/2014/main" id="{5BC66C17-1BDA-4517-94F0-2FF2C66A15D6}"/>
              </a:ext>
            </a:extLst>
          </p:cNvPr>
          <p:cNvSpPr txBox="1">
            <a:spLocks noChangeArrowheads="1"/>
          </p:cNvSpPr>
          <p:nvPr/>
        </p:nvSpPr>
        <p:spPr bwMode="auto">
          <a:xfrm>
            <a:off x="4197399" y="3480232"/>
            <a:ext cx="64633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latin typeface="微软雅黑" panose="020B0503020204020204" pitchFamily="34" charset="-122"/>
                <a:ea typeface="微软雅黑" panose="020B0503020204020204" pitchFamily="34" charset="-122"/>
              </a:rPr>
              <a:t>欧洲</a:t>
            </a:r>
          </a:p>
        </p:txBody>
      </p:sp>
      <p:sp>
        <p:nvSpPr>
          <p:cNvPr id="38" name="Text Box 32">
            <a:extLst>
              <a:ext uri="{FF2B5EF4-FFF2-40B4-BE49-F238E27FC236}">
                <a16:creationId xmlns:a16="http://schemas.microsoft.com/office/drawing/2014/main" id="{1870072B-0C01-472B-908B-3B730DBDD794}"/>
              </a:ext>
            </a:extLst>
          </p:cNvPr>
          <p:cNvSpPr txBox="1">
            <a:spLocks noChangeArrowheads="1"/>
          </p:cNvSpPr>
          <p:nvPr/>
        </p:nvSpPr>
        <p:spPr bwMode="auto">
          <a:xfrm>
            <a:off x="4197399" y="4632251"/>
            <a:ext cx="64633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微软雅黑" panose="020B0503020204020204" pitchFamily="34" charset="-122"/>
                <a:ea typeface="微软雅黑" panose="020B0503020204020204" pitchFamily="34" charset="-122"/>
              </a:rPr>
              <a:t>中国</a:t>
            </a:r>
          </a:p>
        </p:txBody>
      </p:sp>
      <p:sp>
        <p:nvSpPr>
          <p:cNvPr id="41" name="Line 35">
            <a:extLst>
              <a:ext uri="{FF2B5EF4-FFF2-40B4-BE49-F238E27FC236}">
                <a16:creationId xmlns:a16="http://schemas.microsoft.com/office/drawing/2014/main" id="{33A606A9-FB86-4FC1-AFD7-74138D7595AA}"/>
              </a:ext>
            </a:extLst>
          </p:cNvPr>
          <p:cNvSpPr>
            <a:spLocks noChangeShapeType="1"/>
          </p:cNvSpPr>
          <p:nvPr/>
        </p:nvSpPr>
        <p:spPr bwMode="auto">
          <a:xfrm flipV="1">
            <a:off x="9015734" y="2153834"/>
            <a:ext cx="461666" cy="151106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latin typeface="微软雅黑" panose="020B0503020204020204" pitchFamily="34" charset="-122"/>
              <a:ea typeface="微软雅黑" panose="020B0503020204020204" pitchFamily="34" charset="-122"/>
            </a:endParaRPr>
          </a:p>
        </p:txBody>
      </p:sp>
      <p:sp>
        <p:nvSpPr>
          <p:cNvPr id="42" name="Text Box 36">
            <a:extLst>
              <a:ext uri="{FF2B5EF4-FFF2-40B4-BE49-F238E27FC236}">
                <a16:creationId xmlns:a16="http://schemas.microsoft.com/office/drawing/2014/main" id="{3A543791-5684-44CA-B7A8-C2ADA029B2DB}"/>
              </a:ext>
            </a:extLst>
          </p:cNvPr>
          <p:cNvSpPr txBox="1">
            <a:spLocks noChangeArrowheads="1"/>
          </p:cNvSpPr>
          <p:nvPr/>
        </p:nvSpPr>
        <p:spPr bwMode="auto">
          <a:xfrm rot="5400000">
            <a:off x="8538205" y="3072910"/>
            <a:ext cx="2495748" cy="461665"/>
          </a:xfrm>
          <a:prstGeom prst="rect">
            <a:avLst/>
          </a:prstGeom>
          <a:solidFill>
            <a:schemeClr val="bg1"/>
          </a:solidFill>
          <a:ln>
            <a:noFill/>
          </a:ln>
          <a:effectLst/>
        </p:spPr>
        <p:txBody>
          <a:bodyPr wrap="none">
            <a:spAutoFit/>
          </a:bodyPr>
          <a:lstStyle/>
          <a:p>
            <a:r>
              <a:rPr lang="en-US" altLang="zh-CN" sz="2400" dirty="0">
                <a:latin typeface="微软雅黑" panose="020B0503020204020204" pitchFamily="34" charset="-122"/>
                <a:ea typeface="微软雅黑" panose="020B0503020204020204" pitchFamily="34" charset="-122"/>
              </a:rPr>
              <a:t>TCP/IP</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WWW</a:t>
            </a:r>
          </a:p>
        </p:txBody>
      </p:sp>
      <p:sp>
        <p:nvSpPr>
          <p:cNvPr id="64" name="Text Box 27">
            <a:extLst>
              <a:ext uri="{FF2B5EF4-FFF2-40B4-BE49-F238E27FC236}">
                <a16:creationId xmlns:a16="http://schemas.microsoft.com/office/drawing/2014/main" id="{5E305AB7-CC03-4AEB-9ACC-22F0AF15BDC6}"/>
              </a:ext>
            </a:extLst>
          </p:cNvPr>
          <p:cNvSpPr txBox="1">
            <a:spLocks noChangeArrowheads="1"/>
          </p:cNvSpPr>
          <p:nvPr/>
        </p:nvSpPr>
        <p:spPr bwMode="auto">
          <a:xfrm>
            <a:off x="5319530" y="1703474"/>
            <a:ext cx="141244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ARPANET</a:t>
            </a:r>
          </a:p>
        </p:txBody>
      </p:sp>
      <p:cxnSp>
        <p:nvCxnSpPr>
          <p:cNvPr id="66" name="直接箭头连接符 65">
            <a:extLst>
              <a:ext uri="{FF2B5EF4-FFF2-40B4-BE49-F238E27FC236}">
                <a16:creationId xmlns:a16="http://schemas.microsoft.com/office/drawing/2014/main" id="{F4AD1D9E-B122-49D7-9C49-78093FF0C6CD}"/>
              </a:ext>
            </a:extLst>
          </p:cNvPr>
          <p:cNvCxnSpPr>
            <a:stCxn id="33" idx="3"/>
            <a:endCxn id="64" idx="1"/>
          </p:cNvCxnSpPr>
          <p:nvPr/>
        </p:nvCxnSpPr>
        <p:spPr>
          <a:xfrm>
            <a:off x="4843730" y="1880510"/>
            <a:ext cx="475800" cy="763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1" name="Text Box 27">
            <a:extLst>
              <a:ext uri="{FF2B5EF4-FFF2-40B4-BE49-F238E27FC236}">
                <a16:creationId xmlns:a16="http://schemas.microsoft.com/office/drawing/2014/main" id="{2F9AFA50-8B8D-4709-B982-5875C007266A}"/>
              </a:ext>
            </a:extLst>
          </p:cNvPr>
          <p:cNvSpPr txBox="1">
            <a:spLocks noChangeArrowheads="1"/>
          </p:cNvSpPr>
          <p:nvPr/>
        </p:nvSpPr>
        <p:spPr bwMode="auto">
          <a:xfrm>
            <a:off x="7156030" y="1692509"/>
            <a:ext cx="111591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NSFNET</a:t>
            </a:r>
          </a:p>
        </p:txBody>
      </p:sp>
      <p:sp>
        <p:nvSpPr>
          <p:cNvPr id="73" name="Text Box 27">
            <a:extLst>
              <a:ext uri="{FF2B5EF4-FFF2-40B4-BE49-F238E27FC236}">
                <a16:creationId xmlns:a16="http://schemas.microsoft.com/office/drawing/2014/main" id="{72FB392C-075F-4F79-80E2-4A052496A215}"/>
              </a:ext>
            </a:extLst>
          </p:cNvPr>
          <p:cNvSpPr txBox="1">
            <a:spLocks noChangeArrowheads="1"/>
          </p:cNvSpPr>
          <p:nvPr/>
        </p:nvSpPr>
        <p:spPr bwMode="auto">
          <a:xfrm>
            <a:off x="5341117" y="2304322"/>
            <a:ext cx="141244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NPL Mark I </a:t>
            </a:r>
          </a:p>
        </p:txBody>
      </p:sp>
      <p:cxnSp>
        <p:nvCxnSpPr>
          <p:cNvPr id="75" name="直接箭头连接符 74">
            <a:extLst>
              <a:ext uri="{FF2B5EF4-FFF2-40B4-BE49-F238E27FC236}">
                <a16:creationId xmlns:a16="http://schemas.microsoft.com/office/drawing/2014/main" id="{3E01D628-08F0-4A76-90FF-70939561EAB9}"/>
              </a:ext>
            </a:extLst>
          </p:cNvPr>
          <p:cNvCxnSpPr>
            <a:cxnSpLocks/>
            <a:stCxn id="64" idx="3"/>
            <a:endCxn id="71" idx="1"/>
          </p:cNvCxnSpPr>
          <p:nvPr/>
        </p:nvCxnSpPr>
        <p:spPr>
          <a:xfrm flipV="1">
            <a:off x="6731971" y="1877175"/>
            <a:ext cx="424059" cy="1096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11849DDA-427B-48C6-8942-6C47403CBB5F}"/>
              </a:ext>
            </a:extLst>
          </p:cNvPr>
          <p:cNvCxnSpPr>
            <a:cxnSpLocks/>
            <a:stCxn id="73" idx="3"/>
            <a:endCxn id="71" idx="2"/>
          </p:cNvCxnSpPr>
          <p:nvPr/>
        </p:nvCxnSpPr>
        <p:spPr>
          <a:xfrm flipV="1">
            <a:off x="6753558" y="2061841"/>
            <a:ext cx="960428" cy="42714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2D5CD1C8-54E8-444F-B684-F16940F3B387}"/>
              </a:ext>
            </a:extLst>
          </p:cNvPr>
          <p:cNvCxnSpPr>
            <a:cxnSpLocks/>
            <a:stCxn id="83" idx="3"/>
            <a:endCxn id="71" idx="2"/>
          </p:cNvCxnSpPr>
          <p:nvPr/>
        </p:nvCxnSpPr>
        <p:spPr>
          <a:xfrm flipV="1">
            <a:off x="6703433" y="2061841"/>
            <a:ext cx="1010553" cy="101068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3" name="Text Box 27">
            <a:extLst>
              <a:ext uri="{FF2B5EF4-FFF2-40B4-BE49-F238E27FC236}">
                <a16:creationId xmlns:a16="http://schemas.microsoft.com/office/drawing/2014/main" id="{47E87D36-E798-472A-A645-EF68A87A6818}"/>
              </a:ext>
            </a:extLst>
          </p:cNvPr>
          <p:cNvSpPr txBox="1">
            <a:spLocks noChangeArrowheads="1"/>
          </p:cNvSpPr>
          <p:nvPr/>
        </p:nvSpPr>
        <p:spPr bwMode="auto">
          <a:xfrm>
            <a:off x="5290992" y="2887864"/>
            <a:ext cx="1412441"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CYCLADES </a:t>
            </a:r>
          </a:p>
        </p:txBody>
      </p:sp>
      <p:cxnSp>
        <p:nvCxnSpPr>
          <p:cNvPr id="86" name="直接箭头连接符 85">
            <a:extLst>
              <a:ext uri="{FF2B5EF4-FFF2-40B4-BE49-F238E27FC236}">
                <a16:creationId xmlns:a16="http://schemas.microsoft.com/office/drawing/2014/main" id="{C23586BD-DA7D-489B-A69E-44EE1D7091BC}"/>
              </a:ext>
            </a:extLst>
          </p:cNvPr>
          <p:cNvCxnSpPr>
            <a:stCxn id="35" idx="3"/>
            <a:endCxn id="83" idx="1"/>
          </p:cNvCxnSpPr>
          <p:nvPr/>
        </p:nvCxnSpPr>
        <p:spPr>
          <a:xfrm flipV="1">
            <a:off x="4843730" y="3072530"/>
            <a:ext cx="447262" cy="158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E5D7BE5A-C997-43A3-AEED-01B46D834435}"/>
              </a:ext>
            </a:extLst>
          </p:cNvPr>
          <p:cNvCxnSpPr>
            <a:cxnSpLocks/>
            <a:stCxn id="37" idx="3"/>
          </p:cNvCxnSpPr>
          <p:nvPr/>
        </p:nvCxnSpPr>
        <p:spPr>
          <a:xfrm>
            <a:off x="4843730" y="3664898"/>
            <a:ext cx="2406503"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F419CC31-234A-4FD7-A910-32EE5BBF8D84}"/>
              </a:ext>
            </a:extLst>
          </p:cNvPr>
          <p:cNvCxnSpPr>
            <a:cxnSpLocks/>
            <a:stCxn id="36" idx="3"/>
            <a:endCxn id="141" idx="1"/>
          </p:cNvCxnSpPr>
          <p:nvPr/>
        </p:nvCxnSpPr>
        <p:spPr>
          <a:xfrm flipV="1">
            <a:off x="4852439" y="4264661"/>
            <a:ext cx="447866" cy="348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93" name="Text Box 27">
            <a:extLst>
              <a:ext uri="{FF2B5EF4-FFF2-40B4-BE49-F238E27FC236}">
                <a16:creationId xmlns:a16="http://schemas.microsoft.com/office/drawing/2014/main" id="{B8DD4C52-D601-4128-8AB0-2ADA5362FBA0}"/>
              </a:ext>
            </a:extLst>
          </p:cNvPr>
          <p:cNvSpPr txBox="1">
            <a:spLocks noChangeArrowheads="1"/>
          </p:cNvSpPr>
          <p:nvPr/>
        </p:nvSpPr>
        <p:spPr bwMode="auto">
          <a:xfrm>
            <a:off x="6892261" y="4079186"/>
            <a:ext cx="1295400"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sz="1800" dirty="0">
                <a:latin typeface="微软雅黑" panose="020B0503020204020204" pitchFamily="34" charset="-122"/>
                <a:ea typeface="微软雅黑" panose="020B0503020204020204" pitchFamily="34" charset="-122"/>
              </a:rPr>
              <a:t>OGAS </a:t>
            </a:r>
          </a:p>
        </p:txBody>
      </p:sp>
      <p:cxnSp>
        <p:nvCxnSpPr>
          <p:cNvPr id="97" name="直接箭头连接符 96">
            <a:extLst>
              <a:ext uri="{FF2B5EF4-FFF2-40B4-BE49-F238E27FC236}">
                <a16:creationId xmlns:a16="http://schemas.microsoft.com/office/drawing/2014/main" id="{316377AF-4938-4F79-B0ED-EDD5EABEB4BB}"/>
              </a:ext>
            </a:extLst>
          </p:cNvPr>
          <p:cNvCxnSpPr>
            <a:stCxn id="71" idx="3"/>
            <a:endCxn id="26" idx="1"/>
          </p:cNvCxnSpPr>
          <p:nvPr/>
        </p:nvCxnSpPr>
        <p:spPr>
          <a:xfrm flipV="1">
            <a:off x="8271941" y="1872751"/>
            <a:ext cx="229645" cy="442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A39722BB-5C06-4AC2-B7DF-3ABFAC070694}"/>
              </a:ext>
            </a:extLst>
          </p:cNvPr>
          <p:cNvCxnSpPr>
            <a:stCxn id="58" idx="3"/>
            <a:endCxn id="33" idx="1"/>
          </p:cNvCxnSpPr>
          <p:nvPr/>
        </p:nvCxnSpPr>
        <p:spPr>
          <a:xfrm flipV="1">
            <a:off x="3044874" y="1880510"/>
            <a:ext cx="1152525" cy="1061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96643710-F44B-4FA6-8908-D8AA977293AC}"/>
              </a:ext>
            </a:extLst>
          </p:cNvPr>
          <p:cNvCxnSpPr>
            <a:stCxn id="58" idx="3"/>
            <a:endCxn id="34" idx="1"/>
          </p:cNvCxnSpPr>
          <p:nvPr/>
        </p:nvCxnSpPr>
        <p:spPr>
          <a:xfrm>
            <a:off x="3044874" y="1891126"/>
            <a:ext cx="1152525" cy="60006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3E8254B1-EE3D-4CED-AAD8-A0F404851078}"/>
              </a:ext>
            </a:extLst>
          </p:cNvPr>
          <p:cNvCxnSpPr>
            <a:stCxn id="58" idx="3"/>
            <a:endCxn id="35" idx="1"/>
          </p:cNvCxnSpPr>
          <p:nvPr/>
        </p:nvCxnSpPr>
        <p:spPr>
          <a:xfrm>
            <a:off x="3044874" y="1891126"/>
            <a:ext cx="1152525" cy="11829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F18B3B51-8A2E-433B-B7E9-FAC927E1BF0A}"/>
              </a:ext>
            </a:extLst>
          </p:cNvPr>
          <p:cNvCxnSpPr>
            <a:cxnSpLocks/>
            <a:stCxn id="58" idx="3"/>
            <a:endCxn id="37" idx="1"/>
          </p:cNvCxnSpPr>
          <p:nvPr/>
        </p:nvCxnSpPr>
        <p:spPr>
          <a:xfrm>
            <a:off x="3044874" y="1891126"/>
            <a:ext cx="1152525" cy="177377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FEFBDD47-6477-483E-B48E-B52E97E989FF}"/>
              </a:ext>
            </a:extLst>
          </p:cNvPr>
          <p:cNvCxnSpPr>
            <a:stCxn id="59" idx="3"/>
            <a:endCxn id="33" idx="1"/>
          </p:cNvCxnSpPr>
          <p:nvPr/>
        </p:nvCxnSpPr>
        <p:spPr>
          <a:xfrm flipV="1">
            <a:off x="3044874" y="1880510"/>
            <a:ext cx="1152525" cy="70698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766FA477-FF97-424E-9D38-C31923A8819A}"/>
              </a:ext>
            </a:extLst>
          </p:cNvPr>
          <p:cNvCxnSpPr>
            <a:stCxn id="59" idx="3"/>
            <a:endCxn id="36" idx="1"/>
          </p:cNvCxnSpPr>
          <p:nvPr/>
        </p:nvCxnSpPr>
        <p:spPr>
          <a:xfrm>
            <a:off x="3044874" y="2587490"/>
            <a:ext cx="1161234" cy="168065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05428C52-EE22-4E34-AEF1-304A6EFF33A0}"/>
              </a:ext>
            </a:extLst>
          </p:cNvPr>
          <p:cNvCxnSpPr>
            <a:stCxn id="59" idx="3"/>
            <a:endCxn id="38" idx="1"/>
          </p:cNvCxnSpPr>
          <p:nvPr/>
        </p:nvCxnSpPr>
        <p:spPr>
          <a:xfrm>
            <a:off x="3044874" y="2587490"/>
            <a:ext cx="1152525" cy="222942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D5FB87ED-5BD8-49FD-8ADB-E8858CD0A872}"/>
              </a:ext>
            </a:extLst>
          </p:cNvPr>
          <p:cNvCxnSpPr>
            <a:stCxn id="60" idx="3"/>
            <a:endCxn id="33" idx="1"/>
          </p:cNvCxnSpPr>
          <p:nvPr/>
        </p:nvCxnSpPr>
        <p:spPr>
          <a:xfrm flipV="1">
            <a:off x="3044874" y="1880510"/>
            <a:ext cx="1152525" cy="141740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C6FE9E00-FFE7-4F81-BDAA-36175AB850F4}"/>
              </a:ext>
            </a:extLst>
          </p:cNvPr>
          <p:cNvCxnSpPr>
            <a:stCxn id="61" idx="3"/>
            <a:endCxn id="33" idx="1"/>
          </p:cNvCxnSpPr>
          <p:nvPr/>
        </p:nvCxnSpPr>
        <p:spPr>
          <a:xfrm flipV="1">
            <a:off x="3044874" y="1880510"/>
            <a:ext cx="1152525" cy="212232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a:extLst>
              <a:ext uri="{FF2B5EF4-FFF2-40B4-BE49-F238E27FC236}">
                <a16:creationId xmlns:a16="http://schemas.microsoft.com/office/drawing/2014/main" id="{16688D1E-A963-4111-9E67-F76059C47677}"/>
              </a:ext>
            </a:extLst>
          </p:cNvPr>
          <p:cNvCxnSpPr>
            <a:stCxn id="62" idx="3"/>
            <a:endCxn id="33" idx="1"/>
          </p:cNvCxnSpPr>
          <p:nvPr/>
        </p:nvCxnSpPr>
        <p:spPr>
          <a:xfrm flipV="1">
            <a:off x="3044874" y="1880510"/>
            <a:ext cx="1152525" cy="283114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D116A396-E70B-4449-ACF2-C030F1E241AF}"/>
              </a:ext>
            </a:extLst>
          </p:cNvPr>
          <p:cNvCxnSpPr>
            <a:stCxn id="62" idx="3"/>
            <a:endCxn id="34" idx="1"/>
          </p:cNvCxnSpPr>
          <p:nvPr/>
        </p:nvCxnSpPr>
        <p:spPr>
          <a:xfrm flipV="1">
            <a:off x="3044874" y="2491193"/>
            <a:ext cx="1152525" cy="222046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a:extLst>
              <a:ext uri="{FF2B5EF4-FFF2-40B4-BE49-F238E27FC236}">
                <a16:creationId xmlns:a16="http://schemas.microsoft.com/office/drawing/2014/main" id="{7611E436-201C-45B3-BDC5-25ABBF880D35}"/>
              </a:ext>
            </a:extLst>
          </p:cNvPr>
          <p:cNvCxnSpPr>
            <a:stCxn id="62" idx="3"/>
            <a:endCxn id="35" idx="1"/>
          </p:cNvCxnSpPr>
          <p:nvPr/>
        </p:nvCxnSpPr>
        <p:spPr>
          <a:xfrm flipV="1">
            <a:off x="3044874" y="3074117"/>
            <a:ext cx="1152525" cy="163753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a:extLst>
              <a:ext uri="{FF2B5EF4-FFF2-40B4-BE49-F238E27FC236}">
                <a16:creationId xmlns:a16="http://schemas.microsoft.com/office/drawing/2014/main" id="{2FC1B0B6-D93F-4D90-8494-1B2266F6B402}"/>
              </a:ext>
            </a:extLst>
          </p:cNvPr>
          <p:cNvCxnSpPr>
            <a:stCxn id="62" idx="3"/>
            <a:endCxn id="37" idx="1"/>
          </p:cNvCxnSpPr>
          <p:nvPr/>
        </p:nvCxnSpPr>
        <p:spPr>
          <a:xfrm flipV="1">
            <a:off x="3044874" y="3664898"/>
            <a:ext cx="1152525" cy="104675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a:extLst>
              <a:ext uri="{FF2B5EF4-FFF2-40B4-BE49-F238E27FC236}">
                <a16:creationId xmlns:a16="http://schemas.microsoft.com/office/drawing/2014/main" id="{24A53412-B65A-4946-9952-7C2A802220D1}"/>
              </a:ext>
            </a:extLst>
          </p:cNvPr>
          <p:cNvCxnSpPr>
            <a:stCxn id="62" idx="3"/>
            <a:endCxn id="36" idx="1"/>
          </p:cNvCxnSpPr>
          <p:nvPr/>
        </p:nvCxnSpPr>
        <p:spPr>
          <a:xfrm flipV="1">
            <a:off x="3044874" y="4268142"/>
            <a:ext cx="1161234" cy="44351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9649A998-15C8-4521-B6E7-69E7A193F1C8}"/>
              </a:ext>
            </a:extLst>
          </p:cNvPr>
          <p:cNvCxnSpPr>
            <a:stCxn id="62" idx="3"/>
            <a:endCxn id="38" idx="1"/>
          </p:cNvCxnSpPr>
          <p:nvPr/>
        </p:nvCxnSpPr>
        <p:spPr>
          <a:xfrm>
            <a:off x="3044874" y="4711654"/>
            <a:ext cx="1152525" cy="10526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a:extLst>
              <a:ext uri="{FF2B5EF4-FFF2-40B4-BE49-F238E27FC236}">
                <a16:creationId xmlns:a16="http://schemas.microsoft.com/office/drawing/2014/main" id="{F7959E38-6E5D-4C22-91C5-E37FE210FE11}"/>
              </a:ext>
            </a:extLst>
          </p:cNvPr>
          <p:cNvCxnSpPr>
            <a:stCxn id="34" idx="3"/>
            <a:endCxn id="73" idx="1"/>
          </p:cNvCxnSpPr>
          <p:nvPr/>
        </p:nvCxnSpPr>
        <p:spPr>
          <a:xfrm flipV="1">
            <a:off x="4843730" y="2488988"/>
            <a:ext cx="497387" cy="2205"/>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1" name="Text Box 27">
            <a:extLst>
              <a:ext uri="{FF2B5EF4-FFF2-40B4-BE49-F238E27FC236}">
                <a16:creationId xmlns:a16="http://schemas.microsoft.com/office/drawing/2014/main" id="{6B1D140D-46C5-4B57-BEAA-ADA9D99AF135}"/>
              </a:ext>
            </a:extLst>
          </p:cNvPr>
          <p:cNvSpPr txBox="1">
            <a:spLocks noChangeArrowheads="1"/>
          </p:cNvSpPr>
          <p:nvPr/>
        </p:nvSpPr>
        <p:spPr bwMode="auto">
          <a:xfrm>
            <a:off x="5300305" y="4079995"/>
            <a:ext cx="1403128" cy="369332"/>
          </a:xfrm>
          <a:prstGeom prst="rect">
            <a:avLst/>
          </a:prstGeom>
          <a:noFill/>
          <a:ln w="9525">
            <a:solidFill>
              <a:srgbClr val="703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ct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红书”方案</a:t>
            </a:r>
            <a:endParaRPr lang="en-US" altLang="zh-CN" sz="1800" dirty="0">
              <a:latin typeface="微软雅黑" panose="020B0503020204020204" pitchFamily="34" charset="-122"/>
              <a:ea typeface="微软雅黑" panose="020B0503020204020204" pitchFamily="34" charset="-122"/>
            </a:endParaRPr>
          </a:p>
        </p:txBody>
      </p:sp>
      <p:sp>
        <p:nvSpPr>
          <p:cNvPr id="151" name="箭头: 右 150">
            <a:extLst>
              <a:ext uri="{FF2B5EF4-FFF2-40B4-BE49-F238E27FC236}">
                <a16:creationId xmlns:a16="http://schemas.microsoft.com/office/drawing/2014/main" id="{AC1D795C-2AC1-4B93-B295-1AFA908EDCCC}"/>
              </a:ext>
            </a:extLst>
          </p:cNvPr>
          <p:cNvSpPr/>
          <p:nvPr/>
        </p:nvSpPr>
        <p:spPr>
          <a:xfrm>
            <a:off x="4813166" y="1802794"/>
            <a:ext cx="679268" cy="201089"/>
          </a:xfrm>
          <a:prstGeom prst="rightArrow">
            <a:avLst/>
          </a:prstGeom>
          <a:solidFill>
            <a:srgbClr val="C0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箭头: 右 151">
            <a:extLst>
              <a:ext uri="{FF2B5EF4-FFF2-40B4-BE49-F238E27FC236}">
                <a16:creationId xmlns:a16="http://schemas.microsoft.com/office/drawing/2014/main" id="{C209959E-FB7E-482D-AE59-3EF47D76BB53}"/>
              </a:ext>
            </a:extLst>
          </p:cNvPr>
          <p:cNvSpPr/>
          <p:nvPr/>
        </p:nvSpPr>
        <p:spPr>
          <a:xfrm>
            <a:off x="6570965" y="1776668"/>
            <a:ext cx="679268" cy="201089"/>
          </a:xfrm>
          <a:prstGeom prst="rightArrow">
            <a:avLst/>
          </a:prstGeom>
          <a:solidFill>
            <a:srgbClr val="C0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箭头: 右 152">
            <a:extLst>
              <a:ext uri="{FF2B5EF4-FFF2-40B4-BE49-F238E27FC236}">
                <a16:creationId xmlns:a16="http://schemas.microsoft.com/office/drawing/2014/main" id="{85FD4D7D-850E-41FA-8755-448A5021AF45}"/>
              </a:ext>
            </a:extLst>
          </p:cNvPr>
          <p:cNvSpPr/>
          <p:nvPr/>
        </p:nvSpPr>
        <p:spPr>
          <a:xfrm>
            <a:off x="8178925" y="1779966"/>
            <a:ext cx="391527" cy="197792"/>
          </a:xfrm>
          <a:prstGeom prst="rightArrow">
            <a:avLst/>
          </a:prstGeom>
          <a:solidFill>
            <a:srgbClr val="C000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箭头: 右 153">
            <a:extLst>
              <a:ext uri="{FF2B5EF4-FFF2-40B4-BE49-F238E27FC236}">
                <a16:creationId xmlns:a16="http://schemas.microsoft.com/office/drawing/2014/main" id="{42A2FA47-4D9B-449A-B062-72C876F1A5B8}"/>
              </a:ext>
            </a:extLst>
          </p:cNvPr>
          <p:cNvSpPr/>
          <p:nvPr/>
        </p:nvSpPr>
        <p:spPr>
          <a:xfrm>
            <a:off x="9301805" y="1771376"/>
            <a:ext cx="391527" cy="197792"/>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a:extLst>
              <a:ext uri="{FF2B5EF4-FFF2-40B4-BE49-F238E27FC236}">
                <a16:creationId xmlns:a16="http://schemas.microsoft.com/office/drawing/2014/main" id="{BF7FD252-6ED1-4150-A50C-DFAB94406FE1}"/>
              </a:ext>
            </a:extLst>
          </p:cNvPr>
          <p:cNvSpPr txBox="1"/>
          <p:nvPr/>
        </p:nvSpPr>
        <p:spPr>
          <a:xfrm>
            <a:off x="9317757" y="5100232"/>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互联网</a:t>
            </a:r>
          </a:p>
        </p:txBody>
      </p:sp>
      <p:sp>
        <p:nvSpPr>
          <p:cNvPr id="65" name="Rectangle 25">
            <a:extLst>
              <a:ext uri="{FF2B5EF4-FFF2-40B4-BE49-F238E27FC236}">
                <a16:creationId xmlns:a16="http://schemas.microsoft.com/office/drawing/2014/main" id="{BC51055E-8B9C-C047-AE6C-2D937AABEA57}"/>
              </a:ext>
            </a:extLst>
          </p:cNvPr>
          <p:cNvSpPr>
            <a:spLocks noChangeArrowheads="1"/>
          </p:cNvSpPr>
          <p:nvPr/>
        </p:nvSpPr>
        <p:spPr bwMode="auto">
          <a:xfrm>
            <a:off x="8270037" y="3493679"/>
            <a:ext cx="763351" cy="338554"/>
          </a:xfrm>
          <a:prstGeom prst="rect">
            <a:avLst/>
          </a:prstGeom>
          <a:solidFill>
            <a:srgbClr val="FFFEA0"/>
          </a:solidFill>
          <a:ln w="9525" algn="ctr">
            <a:solidFill>
              <a:srgbClr val="7030A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panose="020B0503020204020204" pitchFamily="34" charset="-122"/>
                <a:ea typeface="微软雅黑" panose="020B0503020204020204" pitchFamily="34" charset="-122"/>
              </a:rPr>
              <a:t>Linux </a:t>
            </a:r>
          </a:p>
        </p:txBody>
      </p:sp>
      <p:sp>
        <p:nvSpPr>
          <p:cNvPr id="5" name="灯片编号占位符 4">
            <a:extLst>
              <a:ext uri="{FF2B5EF4-FFF2-40B4-BE49-F238E27FC236}">
                <a16:creationId xmlns:a16="http://schemas.microsoft.com/office/drawing/2014/main" id="{98DA2465-74CB-F049-AB70-3590AC7B5A53}"/>
              </a:ext>
            </a:extLst>
          </p:cNvPr>
          <p:cNvSpPr>
            <a:spLocks noGrp="1"/>
          </p:cNvSpPr>
          <p:nvPr>
            <p:ph type="sldNum" sz="quarter" idx="12"/>
          </p:nvPr>
        </p:nvSpPr>
        <p:spPr/>
        <p:txBody>
          <a:bodyPr/>
          <a:lstStyle/>
          <a:p>
            <a:fld id="{8D4D1E41-7A09-AB4A-A4E1-09765ADA2698}" type="slidenum">
              <a:rPr kumimoji="1" lang="zh-CN" altLang="en-US" smtClean="0"/>
              <a:t>105</a:t>
            </a:fld>
            <a:endParaRPr kumimoji="1" lang="zh-CN" altLang="en-US" dirty="0"/>
          </a:p>
        </p:txBody>
      </p:sp>
      <p:sp>
        <p:nvSpPr>
          <p:cNvPr id="63" name="文本框 62">
            <a:extLst>
              <a:ext uri="{FF2B5EF4-FFF2-40B4-BE49-F238E27FC236}">
                <a16:creationId xmlns:a16="http://schemas.microsoft.com/office/drawing/2014/main" id="{82CB6EEA-92FA-144C-9975-F63702D8D5E1}"/>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423769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1" grpId="0" animBg="1"/>
      <p:bldP spid="152" grpId="0" animBg="1"/>
      <p:bldP spid="153" grpId="0" animBg="1"/>
      <p:bldP spid="154" grpId="0" animBg="1"/>
      <p:bldP spid="15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21798B-C451-4502-B9A0-6BE32FBEF039}"/>
              </a:ext>
            </a:extLst>
          </p:cNvPr>
          <p:cNvSpPr>
            <a:spLocks noGrp="1"/>
          </p:cNvSpPr>
          <p:nvPr>
            <p:ph type="title"/>
          </p:nvPr>
        </p:nvSpPr>
        <p:spPr>
          <a:xfrm>
            <a:off x="1307507" y="365126"/>
            <a:ext cx="8400163" cy="879086"/>
          </a:xfrm>
        </p:spPr>
        <p:txBody>
          <a:bodyPr>
            <a:normAutofit/>
          </a:bodyPr>
          <a:lstStyle/>
          <a:p>
            <a:r>
              <a:rPr lang="zh-CN" altLang="en-US" dirty="0">
                <a:latin typeface="微软雅黑" panose="020B0503020204020204" pitchFamily="34" charset="-122"/>
                <a:ea typeface="微软雅黑" panose="020B0503020204020204" pitchFamily="34" charset="-122"/>
              </a:rPr>
              <a:t>互联网早期发展与启示</a:t>
            </a:r>
            <a:endParaRPr lang="zh-CN" altLang="en-US" dirty="0"/>
          </a:p>
        </p:txBody>
      </p:sp>
      <p:sp>
        <p:nvSpPr>
          <p:cNvPr id="3" name="内容占位符 2">
            <a:extLst>
              <a:ext uri="{FF2B5EF4-FFF2-40B4-BE49-F238E27FC236}">
                <a16:creationId xmlns:a16="http://schemas.microsoft.com/office/drawing/2014/main" id="{8DE2B6ED-2136-4C01-90DE-9375EF5B3A72}"/>
              </a:ext>
            </a:extLst>
          </p:cNvPr>
          <p:cNvSpPr>
            <a:spLocks noGrp="1"/>
          </p:cNvSpPr>
          <p:nvPr>
            <p:ph idx="1"/>
          </p:nvPr>
        </p:nvSpPr>
        <p:spPr>
          <a:xfrm>
            <a:off x="838200" y="1377485"/>
            <a:ext cx="10515600" cy="4982116"/>
          </a:xfrm>
        </p:spPr>
        <p:txBody>
          <a:bodyPr>
            <a:normAutofit/>
          </a:bodyPr>
          <a:lstStyle/>
          <a:p>
            <a:r>
              <a:rPr lang="zh-CN" altLang="en-US" dirty="0"/>
              <a:t>诞生阶段的启发</a:t>
            </a:r>
            <a:endParaRPr lang="en-US" altLang="zh-CN" dirty="0"/>
          </a:p>
          <a:p>
            <a:pPr lvl="1"/>
            <a:r>
              <a:rPr lang="zh-CN" altLang="en-US" dirty="0"/>
              <a:t>有战略背景和传统技术无法解决的</a:t>
            </a:r>
            <a:r>
              <a:rPr lang="zh-CN" altLang="en-US" dirty="0">
                <a:solidFill>
                  <a:srgbClr val="C00000"/>
                </a:solidFill>
              </a:rPr>
              <a:t>重大需求</a:t>
            </a:r>
            <a:endParaRPr lang="en-US" altLang="zh-CN" dirty="0"/>
          </a:p>
          <a:p>
            <a:pPr lvl="1"/>
            <a:r>
              <a:rPr lang="zh-CN" altLang="en-US" dirty="0">
                <a:solidFill>
                  <a:srgbClr val="C00000"/>
                </a:solidFill>
              </a:rPr>
              <a:t>分组交换</a:t>
            </a:r>
            <a:r>
              <a:rPr lang="zh-CN" altLang="en-US" dirty="0"/>
              <a:t>的</a:t>
            </a:r>
            <a:r>
              <a:rPr lang="zh-CN" altLang="en-US" dirty="0">
                <a:solidFill>
                  <a:srgbClr val="C00000"/>
                </a:solidFill>
              </a:rPr>
              <a:t>理论突破</a:t>
            </a:r>
            <a:r>
              <a:rPr lang="zh-CN" altLang="en-US" dirty="0"/>
              <a:t>和</a:t>
            </a:r>
            <a:r>
              <a:rPr lang="zh-CN" altLang="en-US" dirty="0">
                <a:solidFill>
                  <a:srgbClr val="C00000"/>
                </a:solidFill>
              </a:rPr>
              <a:t>原型系统实验</a:t>
            </a:r>
            <a:r>
              <a:rPr lang="zh-CN" altLang="en-US" dirty="0"/>
              <a:t>并举</a:t>
            </a:r>
            <a:endParaRPr lang="en-US" altLang="zh-CN" dirty="0"/>
          </a:p>
          <a:p>
            <a:pPr lvl="1"/>
            <a:r>
              <a:rPr lang="zh-CN" altLang="en-US" dirty="0"/>
              <a:t>有政府的不断支持：从</a:t>
            </a:r>
            <a:r>
              <a:rPr lang="en-US" altLang="zh-CN" dirty="0"/>
              <a:t>1969</a:t>
            </a:r>
            <a:r>
              <a:rPr lang="zh-CN" altLang="en-US" dirty="0"/>
              <a:t>开创至今</a:t>
            </a:r>
            <a:endParaRPr lang="en-US" altLang="zh-CN" dirty="0"/>
          </a:p>
          <a:p>
            <a:r>
              <a:rPr lang="zh-CN" altLang="en-US" dirty="0"/>
              <a:t>成长壮大阶段</a:t>
            </a:r>
            <a:endParaRPr lang="en-US" altLang="zh-CN" dirty="0"/>
          </a:p>
          <a:p>
            <a:pPr lvl="1"/>
            <a:r>
              <a:rPr lang="zh-CN" altLang="en-US" dirty="0">
                <a:solidFill>
                  <a:srgbClr val="C00000"/>
                </a:solidFill>
              </a:rPr>
              <a:t>简单实用</a:t>
            </a:r>
            <a:r>
              <a:rPr lang="zh-CN" altLang="en-US" dirty="0"/>
              <a:t>的技术路线</a:t>
            </a:r>
            <a:r>
              <a:rPr lang="en-US" altLang="zh-CN" dirty="0">
                <a:solidFill>
                  <a:srgbClr val="C00000"/>
                </a:solidFill>
              </a:rPr>
              <a:t>TCP/IP</a:t>
            </a:r>
            <a:r>
              <a:rPr lang="zh-CN" altLang="en-US" dirty="0">
                <a:solidFill>
                  <a:srgbClr val="C00000"/>
                </a:solidFill>
              </a:rPr>
              <a:t>诞生和发展</a:t>
            </a:r>
            <a:endParaRPr lang="en-US" altLang="zh-CN" dirty="0">
              <a:solidFill>
                <a:srgbClr val="C00000"/>
              </a:solidFill>
            </a:endParaRPr>
          </a:p>
          <a:p>
            <a:pPr lvl="1"/>
            <a:r>
              <a:rPr lang="zh-CN" altLang="en-US" dirty="0"/>
              <a:t>教育和科研的示范网络为</a:t>
            </a:r>
            <a:r>
              <a:rPr lang="zh-CN" altLang="en-US" dirty="0">
                <a:solidFill>
                  <a:srgbClr val="C00000"/>
                </a:solidFill>
              </a:rPr>
              <a:t>起点</a:t>
            </a:r>
            <a:r>
              <a:rPr lang="zh-CN" altLang="en-US" dirty="0"/>
              <a:t>：</a:t>
            </a:r>
            <a:br>
              <a:rPr lang="en-US" altLang="zh-CN" dirty="0"/>
            </a:br>
            <a:r>
              <a:rPr lang="zh-CN" altLang="en-US" dirty="0"/>
              <a:t>具有实验物理学的研究特点</a:t>
            </a:r>
          </a:p>
          <a:p>
            <a:pPr lvl="2"/>
            <a:r>
              <a:rPr lang="en-US" altLang="zh-CN" dirty="0"/>
              <a:t>ARPAnet</a:t>
            </a:r>
            <a:r>
              <a:rPr lang="zh-CN" altLang="en-US" dirty="0"/>
              <a:t>、</a:t>
            </a:r>
            <a:r>
              <a:rPr lang="en-US" altLang="zh-CN" dirty="0"/>
              <a:t>NSFNET</a:t>
            </a:r>
            <a:r>
              <a:rPr lang="zh-CN" altLang="en-US" dirty="0"/>
              <a:t>、</a:t>
            </a:r>
            <a:r>
              <a:rPr lang="en-US" altLang="zh-CN" dirty="0"/>
              <a:t>ANS</a:t>
            </a:r>
            <a:r>
              <a:rPr lang="zh-CN" altLang="en-US" dirty="0"/>
              <a:t>、</a:t>
            </a:r>
            <a:r>
              <a:rPr lang="en-US" altLang="zh-CN" dirty="0" err="1"/>
              <a:t>vBNS</a:t>
            </a:r>
            <a:endParaRPr lang="en-US" altLang="zh-CN" dirty="0"/>
          </a:p>
          <a:p>
            <a:pPr lvl="1"/>
            <a:r>
              <a:rPr lang="zh-CN" altLang="en-US" dirty="0">
                <a:solidFill>
                  <a:srgbClr val="C00000"/>
                </a:solidFill>
              </a:rPr>
              <a:t>联合协作的开放式研究</a:t>
            </a:r>
            <a:r>
              <a:rPr lang="zh-CN" altLang="en-US" dirty="0"/>
              <a:t>：</a:t>
            </a:r>
            <a:r>
              <a:rPr lang="en-US" altLang="zh-CN" dirty="0"/>
              <a:t>IETF/RFC</a:t>
            </a:r>
            <a:endParaRPr lang="zh-CN" altLang="en-US" dirty="0"/>
          </a:p>
          <a:p>
            <a:pPr lvl="1"/>
            <a:r>
              <a:rPr lang="zh-CN" altLang="en-US" dirty="0"/>
              <a:t>在不断试错中快速成长壮大 </a:t>
            </a:r>
            <a:endParaRPr lang="en-US" altLang="zh-CN" dirty="0"/>
          </a:p>
        </p:txBody>
      </p:sp>
      <p:sp>
        <p:nvSpPr>
          <p:cNvPr id="6" name="灯片编号占位符 5">
            <a:extLst>
              <a:ext uri="{FF2B5EF4-FFF2-40B4-BE49-F238E27FC236}">
                <a16:creationId xmlns:a16="http://schemas.microsoft.com/office/drawing/2014/main" id="{7C675308-C555-4247-A17F-E29715AC02D8}"/>
              </a:ext>
            </a:extLst>
          </p:cNvPr>
          <p:cNvSpPr>
            <a:spLocks noGrp="1"/>
          </p:cNvSpPr>
          <p:nvPr>
            <p:ph type="sldNum" sz="quarter" idx="12"/>
          </p:nvPr>
        </p:nvSpPr>
        <p:spPr/>
        <p:txBody>
          <a:bodyPr/>
          <a:lstStyle/>
          <a:p>
            <a:fld id="{8D4D1E41-7A09-AB4A-A4E1-09765ADA2698}" type="slidenum">
              <a:rPr kumimoji="1" lang="zh-CN" altLang="en-US" smtClean="0"/>
              <a:t>106</a:t>
            </a:fld>
            <a:endParaRPr kumimoji="1" lang="zh-CN" altLang="en-US" dirty="0"/>
          </a:p>
        </p:txBody>
      </p:sp>
      <p:sp>
        <p:nvSpPr>
          <p:cNvPr id="7" name="文本框 6">
            <a:extLst>
              <a:ext uri="{FF2B5EF4-FFF2-40B4-BE49-F238E27FC236}">
                <a16:creationId xmlns:a16="http://schemas.microsoft.com/office/drawing/2014/main" id="{7010F253-D3BF-7A41-A7AB-1AEAC74DE123}"/>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
        <p:nvSpPr>
          <p:cNvPr id="8" name="矩形 7">
            <a:extLst>
              <a:ext uri="{FF2B5EF4-FFF2-40B4-BE49-F238E27FC236}">
                <a16:creationId xmlns:a16="http://schemas.microsoft.com/office/drawing/2014/main" id="{0C602BD1-982A-1B4C-97EC-DD4B255B153F}"/>
              </a:ext>
            </a:extLst>
          </p:cNvPr>
          <p:cNvSpPr/>
          <p:nvPr/>
        </p:nvSpPr>
        <p:spPr>
          <a:xfrm>
            <a:off x="7802201" y="1679608"/>
            <a:ext cx="3994944" cy="1422890"/>
          </a:xfrm>
          <a:prstGeom prst="rect">
            <a:avLst/>
          </a:prstGeom>
          <a:ln>
            <a:solidFill>
              <a:srgbClr val="C00000"/>
            </a:solidFill>
          </a:ln>
        </p:spPr>
        <p:txBody>
          <a:bodyPr wrap="square">
            <a:spAutoFit/>
          </a:bodyPr>
          <a:lstStyle/>
          <a:p>
            <a:pPr algn="ctr">
              <a:lnSpc>
                <a:spcPct val="150000"/>
              </a:lnSpc>
            </a:pPr>
            <a:r>
              <a:rPr lang="zh-CN" altLang="en-US" sz="2000" dirty="0">
                <a:solidFill>
                  <a:srgbClr val="C00000"/>
                </a:solidFill>
                <a:latin typeface="Microsoft YaHei" panose="020B0503020204020204" pitchFamily="34" charset="-122"/>
                <a:ea typeface="Microsoft YaHei" panose="020B0503020204020204" pitchFamily="34" charset="-122"/>
                <a:cs typeface="微软雅黑" panose="020B0503020204020204" pitchFamily="34" charset="-122"/>
                <a:sym typeface="+mn-ea"/>
              </a:rPr>
              <a:t>互联网诞生的两种说法</a:t>
            </a:r>
            <a:endParaRPr lang="en-US" altLang="zh-CN" sz="2000" dirty="0">
              <a:solidFill>
                <a:srgbClr val="C00000"/>
              </a:solidFill>
              <a:latin typeface="Microsoft YaHei" panose="020B0503020204020204" pitchFamily="34" charset="-122"/>
              <a:ea typeface="Microsoft YaHei" panose="020B0503020204020204" pitchFamily="34" charset="-122"/>
              <a:cs typeface="微软雅黑" panose="020B0503020204020204" pitchFamily="34" charset="-122"/>
              <a:sym typeface="+mn-ea"/>
            </a:endParaRPr>
          </a:p>
          <a:p>
            <a:pPr>
              <a:lnSpc>
                <a:spcPct val="150000"/>
              </a:lnSpc>
            </a:pPr>
            <a:r>
              <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1</a:t>
            </a:r>
            <a:r>
              <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a:t>
            </a:r>
            <a:r>
              <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1969</a:t>
            </a:r>
            <a:r>
              <a:rPr lang="zh-CN" altLang="en-US" sz="2000" dirty="0">
                <a:latin typeface="Microsoft YaHei" panose="020B0503020204020204" pitchFamily="34" charset="-122"/>
                <a:ea typeface="Microsoft YaHei" panose="020B0503020204020204" pitchFamily="34" charset="-122"/>
                <a:cs typeface="微软雅黑" panose="020B0503020204020204" pitchFamily="34" charset="-122"/>
                <a:sym typeface="+mn-ea"/>
              </a:rPr>
              <a:t>年</a:t>
            </a:r>
            <a:r>
              <a:rPr lang="en-US" altLang="zh-CN" sz="2000" dirty="0">
                <a:latin typeface="微软雅黑" panose="020B0503020204020204" pitchFamily="34" charset="-122"/>
                <a:ea typeface="微软雅黑" panose="020B0503020204020204" pitchFamily="34" charset="-122"/>
              </a:rPr>
              <a:t>ARPANET</a:t>
            </a:r>
            <a:r>
              <a:rPr lang="zh-CN" altLang="en-US" sz="2000" dirty="0">
                <a:latin typeface="微软雅黑" panose="020B0503020204020204" pitchFamily="34" charset="-122"/>
                <a:ea typeface="微软雅黑" panose="020B0503020204020204" pitchFamily="34" charset="-122"/>
              </a:rPr>
              <a:t>诞生</a:t>
            </a:r>
            <a:endParaRPr lang="en-US" altLang="zh-CN" sz="2000" dirty="0">
              <a:latin typeface="Microsoft YaHei" panose="020B0503020204020204" pitchFamily="34" charset="-122"/>
              <a:ea typeface="Microsoft YaHei" panose="020B0503020204020204" pitchFamily="34" charset="-122"/>
              <a:cs typeface="微软雅黑" panose="020B0503020204020204" pitchFamily="34" charset="-122"/>
              <a:sym typeface="+mn-ea"/>
            </a:endParaRPr>
          </a:p>
          <a:p>
            <a:pPr>
              <a:lnSpc>
                <a:spcPct val="150000"/>
              </a:lnSpc>
            </a:pPr>
            <a:r>
              <a:rPr lang="en-US" altLang="zh-CN" sz="2000" dirty="0">
                <a:solidFill>
                  <a:schemeClr val="tx1">
                    <a:lumMod val="50000"/>
                    <a:lumOff val="50000"/>
                  </a:schemeClr>
                </a:solidFill>
                <a:latin typeface="Microsoft YaHei" panose="020B0503020204020204" pitchFamily="34" charset="-122"/>
                <a:ea typeface="Microsoft YaHei" panose="020B0503020204020204" pitchFamily="34" charset="-122"/>
                <a:cs typeface="微软雅黑" panose="020B0503020204020204" pitchFamily="34" charset="-122"/>
                <a:sym typeface="+mn-ea"/>
              </a:rPr>
              <a:t>2</a:t>
            </a:r>
            <a:r>
              <a:rPr lang="zh-CN" altLang="en-US" sz="2000" dirty="0">
                <a:solidFill>
                  <a:schemeClr val="tx1">
                    <a:lumMod val="50000"/>
                    <a:lumOff val="50000"/>
                  </a:schemeClr>
                </a:solidFill>
                <a:latin typeface="Microsoft YaHei" panose="020B0503020204020204" pitchFamily="34" charset="-122"/>
                <a:ea typeface="Microsoft YaHei" panose="020B0503020204020204" pitchFamily="34" charset="-122"/>
                <a:cs typeface="微软雅黑" panose="020B0503020204020204" pitchFamily="34" charset="-122"/>
                <a:sym typeface="+mn-ea"/>
              </a:rPr>
              <a:t>、</a:t>
            </a:r>
            <a:r>
              <a:rPr lang="en-US" altLang="zh-CN" sz="2000" dirty="0">
                <a:solidFill>
                  <a:schemeClr val="tx1">
                    <a:lumMod val="50000"/>
                    <a:lumOff val="50000"/>
                  </a:schemeClr>
                </a:solidFill>
                <a:latin typeface="Microsoft YaHei" panose="020B0503020204020204" pitchFamily="34" charset="-122"/>
                <a:ea typeface="Microsoft YaHei" panose="020B0503020204020204" pitchFamily="34" charset="-122"/>
                <a:cs typeface="微软雅黑" panose="020B0503020204020204" pitchFamily="34" charset="-122"/>
                <a:sym typeface="+mn-ea"/>
              </a:rPr>
              <a:t>1983</a:t>
            </a:r>
            <a:r>
              <a:rPr lang="zh-CN" altLang="en-US" sz="2000" dirty="0">
                <a:solidFill>
                  <a:schemeClr val="tx1">
                    <a:lumMod val="50000"/>
                    <a:lumOff val="50000"/>
                  </a:schemeClr>
                </a:solidFill>
                <a:latin typeface="Microsoft YaHei" panose="020B0503020204020204" pitchFamily="34" charset="-122"/>
                <a:ea typeface="Microsoft YaHei" panose="020B0503020204020204" pitchFamily="34" charset="-122"/>
                <a:cs typeface="微软雅黑" panose="020B0503020204020204" pitchFamily="34" charset="-122"/>
                <a:sym typeface="+mn-ea"/>
              </a:rPr>
              <a:t>年</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ARPANET</a:t>
            </a:r>
            <a:r>
              <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rPr>
              <a:t>采用</a:t>
            </a:r>
            <a:r>
              <a:rPr lang="en-US" altLang="zh-CN" sz="2000" dirty="0">
                <a:solidFill>
                  <a:schemeClr val="tx1">
                    <a:lumMod val="50000"/>
                    <a:lumOff val="50000"/>
                  </a:schemeClr>
                </a:solidFill>
                <a:latin typeface="微软雅黑" panose="020B0503020204020204" pitchFamily="34" charset="-122"/>
                <a:ea typeface="微软雅黑" panose="020B0503020204020204" pitchFamily="34" charset="-122"/>
              </a:rPr>
              <a:t>TCP/IP</a:t>
            </a:r>
            <a:endParaRPr lang="zh-CN" altLang="en-US" sz="20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84E1E3FE-4DC0-CA40-B821-8E562B41789A}"/>
              </a:ext>
            </a:extLst>
          </p:cNvPr>
          <p:cNvSpPr/>
          <p:nvPr/>
        </p:nvSpPr>
        <p:spPr>
          <a:xfrm>
            <a:off x="7689669" y="5573353"/>
            <a:ext cx="4234178" cy="1015663"/>
          </a:xfrm>
          <a:prstGeom prst="rect">
            <a:avLst/>
          </a:prstGeom>
          <a:ln>
            <a:noFill/>
          </a:ln>
        </p:spPr>
        <p:txBody>
          <a:bodyPr wrap="square">
            <a:spAutoFit/>
          </a:bodyPr>
          <a:lstStyle/>
          <a:p>
            <a:pPr algn="ctr"/>
            <a:r>
              <a:rPr lang="zh-CN" altLang="en-US" sz="2000" dirty="0">
                <a:latin typeface="Microsoft YaHei" panose="020B0503020204020204" pitchFamily="34" charset="-122"/>
                <a:ea typeface="Microsoft YaHei" panose="020B0503020204020204" pitchFamily="34" charset="-122"/>
              </a:rPr>
              <a:t>互联网诞生</a:t>
            </a:r>
            <a:r>
              <a:rPr lang="en-US" altLang="zh-CN" sz="2000" dirty="0">
                <a:latin typeface="Microsoft YaHei" panose="020B0503020204020204" pitchFamily="34" charset="-122"/>
                <a:ea typeface="Microsoft YaHei" panose="020B0503020204020204" pitchFamily="34" charset="-122"/>
              </a:rPr>
              <a:t>50</a:t>
            </a:r>
            <a:r>
              <a:rPr lang="zh-CN" altLang="en-US" sz="2000" dirty="0">
                <a:latin typeface="Microsoft YaHei" panose="020B0503020204020204" pitchFamily="34" charset="-122"/>
                <a:ea typeface="Microsoft YaHei" panose="020B0503020204020204" pitchFamily="34" charset="-122"/>
              </a:rPr>
              <a:t>周年之际，清华大学于</a:t>
            </a:r>
            <a:r>
              <a:rPr lang="en-US" altLang="zh-CN" sz="2000" dirty="0">
                <a:latin typeface="Microsoft YaHei" panose="020B0503020204020204" pitchFamily="34" charset="-122"/>
                <a:ea typeface="Microsoft YaHei" panose="020B0503020204020204" pitchFamily="34" charset="-122"/>
                <a:sym typeface="+mn-ea"/>
              </a:rPr>
              <a:t>2019</a:t>
            </a:r>
            <a:r>
              <a:rPr lang="zh-CN" altLang="en-US" sz="2000" dirty="0">
                <a:latin typeface="Microsoft YaHei" panose="020B0503020204020204" pitchFamily="34" charset="-122"/>
                <a:ea typeface="Microsoft YaHei" panose="020B0503020204020204" pitchFamily="34" charset="-122"/>
                <a:sym typeface="+mn-ea"/>
              </a:rPr>
              <a:t>年</a:t>
            </a:r>
            <a:r>
              <a:rPr lang="zh-CN" altLang="en-US" sz="2000" dirty="0">
                <a:latin typeface="Microsoft YaHei" panose="020B0503020204020204" pitchFamily="34" charset="-122"/>
                <a:ea typeface="Microsoft YaHei" panose="020B0503020204020204" pitchFamily="34" charset="-122"/>
              </a:rPr>
              <a:t>在北京承办</a:t>
            </a:r>
            <a:r>
              <a:rPr lang="zh-CN" altLang="en-US" sz="2000" dirty="0">
                <a:latin typeface="Microsoft YaHei" panose="020B0503020204020204" pitchFamily="34" charset="-122"/>
                <a:ea typeface="Microsoft YaHei" panose="020B0503020204020204" pitchFamily="34" charset="-122"/>
                <a:sym typeface="+mn-ea"/>
              </a:rPr>
              <a:t>网络领域顶会</a:t>
            </a:r>
            <a:r>
              <a:rPr lang="en-US" altLang="zh-CN" sz="2000" dirty="0">
                <a:latin typeface="Microsoft YaHei" panose="020B0503020204020204" pitchFamily="34" charset="-122"/>
                <a:ea typeface="Microsoft YaHei" panose="020B0503020204020204" pitchFamily="34" charset="-122"/>
                <a:sym typeface="+mn-ea"/>
              </a:rPr>
              <a:t>ACM</a:t>
            </a:r>
            <a:r>
              <a:rPr lang="zh-CN" altLang="en-US" sz="2000" dirty="0">
                <a:latin typeface="Microsoft YaHei" panose="020B0503020204020204" pitchFamily="34" charset="-122"/>
                <a:ea typeface="Microsoft YaHei" panose="020B0503020204020204" pitchFamily="34" charset="-122"/>
                <a:sym typeface="+mn-ea"/>
              </a:rPr>
              <a:t> </a:t>
            </a:r>
            <a:r>
              <a:rPr lang="en-US" altLang="zh-CN" sz="2000" dirty="0" err="1">
                <a:latin typeface="Microsoft YaHei" panose="020B0503020204020204" pitchFamily="34" charset="-122"/>
                <a:ea typeface="Microsoft YaHei" panose="020B0503020204020204" pitchFamily="34" charset="-122"/>
                <a:cs typeface="微软雅黑" panose="020B0503020204020204" pitchFamily="34" charset="-122"/>
                <a:sym typeface="+mn-ea"/>
              </a:rPr>
              <a:t>Sigcomm</a:t>
            </a:r>
            <a:endParaRPr lang="zh-CN" altLang="en-US" sz="2000" dirty="0">
              <a:latin typeface="微软雅黑" panose="020B0503020204020204" pitchFamily="34" charset="-122"/>
              <a:ea typeface="微软雅黑" panose="020B0503020204020204" pitchFamily="34" charset="-122"/>
            </a:endParaRPr>
          </a:p>
        </p:txBody>
      </p:sp>
      <p:pic>
        <p:nvPicPr>
          <p:cNvPr id="4" name="Picture 2">
            <a:extLst>
              <a:ext uri="{FF2B5EF4-FFF2-40B4-BE49-F238E27FC236}">
                <a16:creationId xmlns:a16="http://schemas.microsoft.com/office/drawing/2014/main" id="{FEAC9EA3-E45A-054E-9374-50779FD2169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802201" y="3449174"/>
            <a:ext cx="3994944" cy="210126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02D284A6-8394-D34C-8AE9-25E86B27EC1C}"/>
              </a:ext>
            </a:extLst>
          </p:cNvPr>
          <p:cNvSpPr txBox="1"/>
          <p:nvPr/>
        </p:nvSpPr>
        <p:spPr>
          <a:xfrm>
            <a:off x="457200" y="1998133"/>
            <a:ext cx="184731" cy="369332"/>
          </a:xfrm>
          <a:prstGeom prst="rect">
            <a:avLst/>
          </a:prstGeom>
          <a:noFill/>
        </p:spPr>
        <p:txBody>
          <a:bodyPr wrap="none" rtlCol="0">
            <a:spAutoFit/>
          </a:bodyPr>
          <a:lstStyle/>
          <a:p>
            <a:endParaRPr kumimoji="1" lang="zh-CN" altLang="en-US"/>
          </a:p>
        </p:txBody>
      </p:sp>
    </p:spTree>
    <p:extLst>
      <p:ext uri="{BB962C8B-B14F-4D97-AF65-F5344CB8AC3E}">
        <p14:creationId xmlns:p14="http://schemas.microsoft.com/office/powerpoint/2010/main" val="17385481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E3CB9-57D5-462E-BCEB-695948F460F3}"/>
              </a:ext>
            </a:extLst>
          </p:cNvPr>
          <p:cNvSpPr>
            <a:spLocks noGrp="1"/>
          </p:cNvSpPr>
          <p:nvPr>
            <p:ph type="title"/>
          </p:nvPr>
        </p:nvSpPr>
        <p:spPr/>
        <p:txBody>
          <a:bodyPr/>
          <a:lstStyle/>
          <a:p>
            <a:r>
              <a:rPr lang="zh-CN" altLang="en-US" sz="4000" dirty="0">
                <a:latin typeface="微软雅黑" panose="020B0503020204020204" pitchFamily="34" charset="-122"/>
                <a:ea typeface="微软雅黑" panose="020B0503020204020204" pitchFamily="34" charset="-122"/>
              </a:rPr>
              <a:t>互联网的新发展与启示</a:t>
            </a:r>
            <a:endParaRPr lang="zh-CN" altLang="en-US" dirty="0"/>
          </a:p>
        </p:txBody>
      </p:sp>
      <p:sp>
        <p:nvSpPr>
          <p:cNvPr id="5" name="箭头: V 形 4">
            <a:extLst>
              <a:ext uri="{FF2B5EF4-FFF2-40B4-BE49-F238E27FC236}">
                <a16:creationId xmlns:a16="http://schemas.microsoft.com/office/drawing/2014/main" id="{376610D8-B575-4C80-8AC5-ED483019CE94}"/>
              </a:ext>
            </a:extLst>
          </p:cNvPr>
          <p:cNvSpPr/>
          <p:nvPr/>
        </p:nvSpPr>
        <p:spPr>
          <a:xfrm>
            <a:off x="123201" y="5082043"/>
            <a:ext cx="3517124" cy="1070648"/>
          </a:xfrm>
          <a:prstGeom prst="chevron">
            <a:avLst/>
          </a:prstGeom>
          <a:solidFill>
            <a:srgbClr val="FFD80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i="0" dirty="0">
                <a:solidFill>
                  <a:srgbClr val="333333"/>
                </a:solidFill>
                <a:effectLst/>
                <a:latin typeface="微软雅黑" panose="020B0503020204020204" pitchFamily="34" charset="-122"/>
                <a:ea typeface="微软雅黑" panose="020B0503020204020204" pitchFamily="34" charset="-122"/>
              </a:rPr>
              <a:t>Web 1.0</a:t>
            </a:r>
            <a:r>
              <a:rPr lang="zh-CN" altLang="en-US" sz="1600" b="1" i="0" dirty="0">
                <a:solidFill>
                  <a:schemeClr val="tx1"/>
                </a:solidFill>
                <a:effectLst/>
                <a:latin typeface="微软雅黑" panose="020B0503020204020204" pitchFamily="34" charset="-122"/>
                <a:ea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rPr>
              <a:t>1993-1999</a:t>
            </a:r>
            <a:r>
              <a:rPr lang="zh-CN" altLang="en-US" sz="1600" b="1" dirty="0">
                <a:solidFill>
                  <a:schemeClr val="tx1"/>
                </a:solidFill>
                <a:latin typeface="微软雅黑" panose="020B0503020204020204" pitchFamily="34" charset="-122"/>
                <a:ea typeface="微软雅黑" panose="020B0503020204020204" pitchFamily="34" charset="-122"/>
              </a:rPr>
              <a:t>）</a:t>
            </a:r>
            <a:endParaRPr lang="en-US" altLang="zh-CN" sz="1600" b="1" i="0" dirty="0">
              <a:solidFill>
                <a:schemeClr val="tx1"/>
              </a:solidFill>
              <a:effectLst/>
              <a:latin typeface="微软雅黑" panose="020B0503020204020204" pitchFamily="34" charset="-122"/>
              <a:ea typeface="微软雅黑" panose="020B0503020204020204" pitchFamily="34" charset="-122"/>
            </a:endParaRPr>
          </a:p>
          <a:p>
            <a:pPr algn="ctr">
              <a:lnSpc>
                <a:spcPct val="130000"/>
              </a:lnSpc>
            </a:pPr>
            <a:r>
              <a:rPr lang="zh-CN" altLang="en-US" sz="1600" b="0" i="0" dirty="0">
                <a:solidFill>
                  <a:srgbClr val="333333"/>
                </a:solidFill>
                <a:effectLst/>
                <a:latin typeface="微软雅黑" panose="020B0503020204020204" pitchFamily="34" charset="-122"/>
                <a:ea typeface="微软雅黑" panose="020B0503020204020204" pitchFamily="34" charset="-122"/>
              </a:rPr>
              <a:t>浏览器、门户、电子商务</a:t>
            </a:r>
            <a:endParaRPr lang="en-US" altLang="zh-CN" sz="1600" b="0" i="0" dirty="0">
              <a:solidFill>
                <a:srgbClr val="333333"/>
              </a:solidFill>
              <a:effectLst/>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ISDN</a:t>
            </a:r>
            <a:r>
              <a:rPr lang="zh-CN" altLang="en-US" sz="1600" b="1" dirty="0">
                <a:solidFill>
                  <a:srgbClr val="C00000"/>
                </a:solidFill>
                <a:latin typeface="微软雅黑" panose="020B0503020204020204" pitchFamily="34" charset="-122"/>
                <a:ea typeface="微软雅黑" panose="020B0503020204020204" pitchFamily="34" charset="-122"/>
              </a:rPr>
              <a:t>上网，</a:t>
            </a:r>
            <a:r>
              <a:rPr lang="en-US" altLang="zh-CN" sz="1600" b="1" dirty="0">
                <a:solidFill>
                  <a:srgbClr val="C00000"/>
                </a:solidFill>
                <a:latin typeface="微软雅黑" panose="020B0503020204020204" pitchFamily="34" charset="-122"/>
                <a:ea typeface="微软雅黑" panose="020B0503020204020204" pitchFamily="34" charset="-122"/>
              </a:rPr>
              <a:t>~64Kbps</a:t>
            </a:r>
            <a:r>
              <a:rPr lang="zh-CN" altLang="en-US" sz="1600" b="1" dirty="0">
                <a:solidFill>
                  <a:srgbClr val="C00000"/>
                </a:solidFill>
                <a:latin typeface="微软雅黑" panose="020B0503020204020204" pitchFamily="34" charset="-122"/>
                <a:ea typeface="微软雅黑" panose="020B0503020204020204" pitchFamily="34" charset="-122"/>
              </a:rPr>
              <a:t> </a:t>
            </a:r>
          </a:p>
        </p:txBody>
      </p:sp>
      <p:sp>
        <p:nvSpPr>
          <p:cNvPr id="7" name="箭头: V 形 6">
            <a:extLst>
              <a:ext uri="{FF2B5EF4-FFF2-40B4-BE49-F238E27FC236}">
                <a16:creationId xmlns:a16="http://schemas.microsoft.com/office/drawing/2014/main" id="{23E98691-049B-4DB5-B404-529E18DF50FC}"/>
              </a:ext>
            </a:extLst>
          </p:cNvPr>
          <p:cNvSpPr/>
          <p:nvPr/>
        </p:nvSpPr>
        <p:spPr>
          <a:xfrm>
            <a:off x="3154231" y="5084213"/>
            <a:ext cx="3458563" cy="1066309"/>
          </a:xfrm>
          <a:prstGeom prst="chevron">
            <a:avLst/>
          </a:prstGeom>
          <a:solidFill>
            <a:srgbClr val="FDCB0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dirty="0">
                <a:solidFill>
                  <a:srgbClr val="333333"/>
                </a:solidFill>
                <a:latin typeface="微软雅黑" panose="020B0503020204020204" pitchFamily="34" charset="-122"/>
                <a:ea typeface="微软雅黑" panose="020B0503020204020204" pitchFamily="34" charset="-122"/>
              </a:rPr>
              <a:t>Web 2.0</a:t>
            </a:r>
            <a:r>
              <a:rPr lang="zh-CN" altLang="en-US" sz="1600" b="1" dirty="0">
                <a:solidFill>
                  <a:srgbClr val="333333"/>
                </a:solidFill>
                <a:latin typeface="微软雅黑" panose="020B0503020204020204" pitchFamily="34" charset="-122"/>
                <a:ea typeface="微软雅黑" panose="020B0503020204020204" pitchFamily="34" charset="-122"/>
              </a:rPr>
              <a:t>（</a:t>
            </a:r>
            <a:r>
              <a:rPr lang="en-US" altLang="zh-CN" sz="1600" b="1" dirty="0">
                <a:solidFill>
                  <a:srgbClr val="333333"/>
                </a:solidFill>
                <a:latin typeface="微软雅黑" panose="020B0503020204020204" pitchFamily="34" charset="-122"/>
                <a:ea typeface="微软雅黑" panose="020B0503020204020204" pitchFamily="34" charset="-122"/>
              </a:rPr>
              <a:t>2000-2007</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博客、社交媒体、视频</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DSL/LAN</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9" name="箭头: V 形 8">
            <a:extLst>
              <a:ext uri="{FF2B5EF4-FFF2-40B4-BE49-F238E27FC236}">
                <a16:creationId xmlns:a16="http://schemas.microsoft.com/office/drawing/2014/main" id="{8EDDE31F-16D6-4D95-91C6-3B2AD22E10E8}"/>
              </a:ext>
            </a:extLst>
          </p:cNvPr>
          <p:cNvSpPr/>
          <p:nvPr/>
        </p:nvSpPr>
        <p:spPr>
          <a:xfrm>
            <a:off x="6126700" y="5084213"/>
            <a:ext cx="3638197" cy="1066308"/>
          </a:xfrm>
          <a:prstGeom prst="chevron">
            <a:avLst/>
          </a:prstGeom>
          <a:solidFill>
            <a:srgbClr val="F9BC12"/>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移动互联（</a:t>
            </a:r>
            <a:r>
              <a:rPr lang="en-US" altLang="zh-CN" sz="1600" b="1" dirty="0">
                <a:solidFill>
                  <a:srgbClr val="333333"/>
                </a:solidFill>
                <a:latin typeface="微软雅黑" panose="020B0503020204020204" pitchFamily="34" charset="-122"/>
                <a:ea typeface="微软雅黑" panose="020B0503020204020204" pitchFamily="34" charset="-122"/>
              </a:rPr>
              <a:t>~2018</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导航，网购，互联网</a:t>
            </a:r>
            <a:r>
              <a:rPr lang="en-US" altLang="zh-CN" sz="1600" dirty="0">
                <a:solidFill>
                  <a:srgbClr val="333333"/>
                </a:solidFill>
                <a:latin typeface="微软雅黑" panose="020B0503020204020204" pitchFamily="34" charset="-122"/>
                <a:ea typeface="微软雅黑" panose="020B0503020204020204" pitchFamily="34" charset="-122"/>
              </a:rPr>
              <a:t>+</a:t>
            </a: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WIFI+4G+</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1" name="箭头: V 形 10">
            <a:extLst>
              <a:ext uri="{FF2B5EF4-FFF2-40B4-BE49-F238E27FC236}">
                <a16:creationId xmlns:a16="http://schemas.microsoft.com/office/drawing/2014/main" id="{D73F29DD-BB2F-40D3-8DDB-00472F37C648}"/>
              </a:ext>
            </a:extLst>
          </p:cNvPr>
          <p:cNvSpPr/>
          <p:nvPr/>
        </p:nvSpPr>
        <p:spPr>
          <a:xfrm>
            <a:off x="9278802" y="5084213"/>
            <a:ext cx="2943997" cy="1066308"/>
          </a:xfrm>
          <a:prstGeom prst="chevron">
            <a:avLst/>
          </a:prstGeom>
          <a:solidFill>
            <a:srgbClr val="F5B11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智能互联（</a:t>
            </a:r>
            <a:r>
              <a:rPr lang="en-US" altLang="zh-CN" sz="1600" b="1" dirty="0">
                <a:solidFill>
                  <a:srgbClr val="333333"/>
                </a:solidFill>
                <a:latin typeface="微软雅黑" panose="020B0503020204020204" pitchFamily="34" charset="-122"/>
                <a:ea typeface="微软雅黑" panose="020B0503020204020204" pitchFamily="34" charset="-122"/>
              </a:rPr>
              <a:t>~</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万物互联</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5G+</a:t>
            </a:r>
            <a:r>
              <a:rPr lang="zh-CN" altLang="en-US" sz="1600" b="1" dirty="0">
                <a:solidFill>
                  <a:srgbClr val="C00000"/>
                </a:solidFill>
                <a:latin typeface="微软雅黑" panose="020B0503020204020204" pitchFamily="34" charset="-122"/>
                <a:ea typeface="微软雅黑" panose="020B0503020204020204" pitchFamily="34" charset="-122"/>
              </a:rPr>
              <a:t>，一体化网络</a:t>
            </a:r>
          </a:p>
        </p:txBody>
      </p:sp>
      <p:sp>
        <p:nvSpPr>
          <p:cNvPr id="13" name="文本框 12">
            <a:extLst>
              <a:ext uri="{FF2B5EF4-FFF2-40B4-BE49-F238E27FC236}">
                <a16:creationId xmlns:a16="http://schemas.microsoft.com/office/drawing/2014/main" id="{D4E1DFBE-9FFA-4AF0-9EC5-30E865A82EA7}"/>
              </a:ext>
            </a:extLst>
          </p:cNvPr>
          <p:cNvSpPr txBox="1"/>
          <p:nvPr/>
        </p:nvSpPr>
        <p:spPr>
          <a:xfrm>
            <a:off x="488223" y="1377429"/>
            <a:ext cx="3541603" cy="3556808"/>
          </a:xfrm>
          <a:prstGeom prst="rect">
            <a:avLst/>
          </a:prstGeom>
          <a:solidFill>
            <a:schemeClr val="bg1"/>
          </a:solidFill>
          <a:ln>
            <a:solidFill>
              <a:schemeClr val="bg1"/>
            </a:solidFill>
          </a:ln>
        </p:spPr>
        <p:txBody>
          <a:bodyPr wrap="square">
            <a:spAutoFit/>
          </a:bodyPr>
          <a:lstStyle/>
          <a:p>
            <a:pPr marL="285750" indent="-285750">
              <a:lnSpc>
                <a:spcPct val="110000"/>
              </a:lnSpc>
              <a:spcBef>
                <a:spcPts val="200"/>
              </a:spcBef>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1993</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Mosaic</a:t>
            </a:r>
            <a:r>
              <a:rPr lang="zh-CN" altLang="en-US" sz="2000" dirty="0">
                <a:solidFill>
                  <a:srgbClr val="C00000"/>
                </a:solidFill>
                <a:latin typeface="微软雅黑" panose="020B0503020204020204" pitchFamily="34" charset="-122"/>
                <a:ea typeface="微软雅黑" panose="020B0503020204020204" pitchFamily="34" charset="-122"/>
              </a:rPr>
              <a:t>浏览器诞生，开启了互联网广泛商用之路</a:t>
            </a:r>
          </a:p>
          <a:p>
            <a:pPr marL="285750" indent="-285750">
              <a:lnSpc>
                <a:spcPct val="110000"/>
              </a:lnSpc>
              <a:spcBef>
                <a:spcPts val="200"/>
              </a:spcBef>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94</a:t>
            </a:r>
            <a:r>
              <a:rPr lang="zh-CN" altLang="en-US" sz="2000" dirty="0">
                <a:latin typeface="微软雅黑" panose="020B0503020204020204" pitchFamily="34" charset="-122"/>
                <a:ea typeface="微软雅黑" panose="020B0503020204020204" pitchFamily="34" charset="-122"/>
              </a:rPr>
              <a:t>年万维网联盟</a:t>
            </a:r>
            <a:r>
              <a:rPr lang="en-US" altLang="zh-CN" sz="2000" dirty="0">
                <a:latin typeface="微软雅黑" panose="020B0503020204020204" pitchFamily="34" charset="-122"/>
                <a:ea typeface="微软雅黑" panose="020B0503020204020204" pitchFamily="34" charset="-122"/>
              </a:rPr>
              <a:t>W3C</a:t>
            </a:r>
            <a:r>
              <a:rPr lang="zh-CN" altLang="en-US" sz="2000" dirty="0">
                <a:latin typeface="微软雅黑" panose="020B0503020204020204" pitchFamily="34" charset="-122"/>
                <a:ea typeface="微软雅黑" panose="020B0503020204020204" pitchFamily="34" charset="-122"/>
              </a:rPr>
              <a:t>成立</a:t>
            </a:r>
            <a:endParaRPr lang="en-US" altLang="zh-CN" sz="2000" dirty="0">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zh-CN" altLang="en-US" sz="2000" dirty="0">
                <a:solidFill>
                  <a:srgbClr val="121212"/>
                </a:solidFill>
                <a:latin typeface="微软雅黑" panose="020B0503020204020204" pitchFamily="34" charset="-122"/>
                <a:ea typeface="微软雅黑" panose="020B0503020204020204" pitchFamily="34" charset="-122"/>
              </a:rPr>
              <a:t>互联网进入高速发展期：</a:t>
            </a:r>
            <a:br>
              <a:rPr lang="en-US" altLang="zh-CN" sz="2000" dirty="0">
                <a:solidFill>
                  <a:srgbClr val="121212"/>
                </a:solidFill>
                <a:latin typeface="微软雅黑" panose="020B0503020204020204" pitchFamily="34" charset="-122"/>
                <a:ea typeface="微软雅黑" panose="020B0503020204020204" pitchFamily="34" charset="-122"/>
              </a:rPr>
            </a:br>
            <a:r>
              <a:rPr lang="zh-CN" altLang="en-US" sz="2000" dirty="0">
                <a:solidFill>
                  <a:srgbClr val="121212"/>
                </a:solidFill>
                <a:latin typeface="微软雅黑" panose="020B0503020204020204" pitchFamily="34" charset="-122"/>
                <a:ea typeface="微软雅黑" panose="020B0503020204020204" pitchFamily="34" charset="-122"/>
              </a:rPr>
              <a:t>雅虎、</a:t>
            </a:r>
            <a:r>
              <a:rPr lang="en-US" altLang="zh-CN" sz="2000" dirty="0">
                <a:solidFill>
                  <a:srgbClr val="121212"/>
                </a:solidFill>
                <a:latin typeface="微软雅黑" panose="020B0503020204020204" pitchFamily="34" charset="-122"/>
                <a:ea typeface="微软雅黑" panose="020B0503020204020204" pitchFamily="34" charset="-122"/>
              </a:rPr>
              <a:t>AOL</a:t>
            </a:r>
            <a:r>
              <a:rPr lang="zh-CN" altLang="en-US" sz="2000" dirty="0">
                <a:solidFill>
                  <a:srgbClr val="121212"/>
                </a:solidFill>
                <a:latin typeface="微软雅黑" panose="020B0503020204020204" pitchFamily="34" charset="-122"/>
                <a:ea typeface="微软雅黑" panose="020B0503020204020204" pitchFamily="34" charset="-122"/>
              </a:rPr>
              <a:t>、谷歌、亚马逊、</a:t>
            </a:r>
            <a:r>
              <a:rPr lang="en-US" altLang="zh-CN" sz="2000" dirty="0" err="1">
                <a:solidFill>
                  <a:srgbClr val="121212"/>
                </a:solidFill>
                <a:latin typeface="微软雅黑" panose="020B0503020204020204" pitchFamily="34" charset="-122"/>
                <a:ea typeface="微软雅黑" panose="020B0503020204020204" pitchFamily="34" charset="-122"/>
              </a:rPr>
              <a:t>EBay</a:t>
            </a:r>
            <a:r>
              <a:rPr lang="zh-CN" altLang="en-US" sz="2000" dirty="0">
                <a:solidFill>
                  <a:srgbClr val="121212"/>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Netflix</a:t>
            </a:r>
            <a:r>
              <a:rPr lang="zh-CN" altLang="en-US" sz="2000" dirty="0">
                <a:solidFill>
                  <a:srgbClr val="333333"/>
                </a:solidFill>
                <a:latin typeface="微软雅黑" panose="020B0503020204020204" pitchFamily="34" charset="-122"/>
                <a:ea typeface="微软雅黑" panose="020B0503020204020204" pitchFamily="34" charset="-122"/>
              </a:rPr>
              <a:t>、</a:t>
            </a:r>
            <a:r>
              <a:rPr lang="zh-CN" altLang="en-US" sz="2000" dirty="0">
                <a:solidFill>
                  <a:srgbClr val="121212"/>
                </a:solidFill>
                <a:latin typeface="微软雅黑" panose="020B0503020204020204" pitchFamily="34" charset="-122"/>
                <a:ea typeface="微软雅黑" panose="020B0503020204020204" pitchFamily="34" charset="-122"/>
              </a:rPr>
              <a:t>腾讯，阿里，百度，京东</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95</a:t>
            </a:r>
            <a:r>
              <a:rPr lang="zh-CN" altLang="en-US" sz="2000" dirty="0">
                <a:solidFill>
                  <a:srgbClr val="C00000"/>
                </a:solidFill>
                <a:latin typeface="微软雅黑" panose="020B0503020204020204" pitchFamily="34" charset="-122"/>
                <a:ea typeface="微软雅黑" panose="020B0503020204020204" pitchFamily="34" charset="-122"/>
              </a:rPr>
              <a:t>年</a:t>
            </a:r>
            <a:r>
              <a:rPr lang="en-US" altLang="zh-CN" sz="2000" dirty="0" err="1">
                <a:solidFill>
                  <a:srgbClr val="C00000"/>
                </a:solidFill>
                <a:latin typeface="微软雅黑" panose="020B0503020204020204" pitchFamily="34" charset="-122"/>
                <a:ea typeface="微软雅黑" panose="020B0503020204020204" pitchFamily="34" charset="-122"/>
              </a:rPr>
              <a:t>NSFnet</a:t>
            </a:r>
            <a:r>
              <a:rPr lang="zh-CN" altLang="en-US" sz="2000" dirty="0">
                <a:solidFill>
                  <a:srgbClr val="C00000"/>
                </a:solidFill>
                <a:latin typeface="微软雅黑" panose="020B0503020204020204" pitchFamily="34" charset="-122"/>
                <a:ea typeface="微软雅黑" panose="020B0503020204020204" pitchFamily="34" charset="-122"/>
              </a:rPr>
              <a:t>退役，转商业，网景上市，达</a:t>
            </a:r>
            <a:r>
              <a:rPr lang="en-US" altLang="zh-CN" sz="2000" dirty="0">
                <a:solidFill>
                  <a:srgbClr val="C00000"/>
                </a:solidFill>
                <a:latin typeface="微软雅黑" panose="020B0503020204020204" pitchFamily="34" charset="-122"/>
                <a:ea typeface="微软雅黑" panose="020B0503020204020204" pitchFamily="34" charset="-122"/>
              </a:rPr>
              <a:t>29</a:t>
            </a:r>
            <a:r>
              <a:rPr lang="zh-CN" altLang="en-US" sz="2000" dirty="0">
                <a:solidFill>
                  <a:srgbClr val="C00000"/>
                </a:solidFill>
                <a:latin typeface="微软雅黑" panose="020B0503020204020204" pitchFamily="34" charset="-122"/>
                <a:ea typeface="微软雅黑" panose="020B0503020204020204" pitchFamily="34" charset="-122"/>
              </a:rPr>
              <a:t>亿美元</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lnSpc>
                <a:spcPct val="110000"/>
              </a:lnSpc>
              <a:spcBef>
                <a:spcPts val="200"/>
              </a:spcBef>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Netscape/</a:t>
            </a:r>
            <a:r>
              <a:rPr lang="zh-CN" altLang="en-US" sz="2000" dirty="0">
                <a:solidFill>
                  <a:srgbClr val="C00000"/>
                </a:solidFill>
                <a:latin typeface="微软雅黑" panose="020B0503020204020204" pitchFamily="34" charset="-122"/>
                <a:ea typeface="微软雅黑" panose="020B0503020204020204" pitchFamily="34" charset="-122"/>
              </a:rPr>
              <a:t>微软</a:t>
            </a:r>
            <a:r>
              <a:rPr lang="en-US" altLang="zh-CN" sz="2000" dirty="0">
                <a:solidFill>
                  <a:srgbClr val="C00000"/>
                </a:solidFill>
                <a:latin typeface="微软雅黑" panose="020B0503020204020204" pitchFamily="34" charset="-122"/>
                <a:ea typeface="微软雅黑" panose="020B0503020204020204" pitchFamily="34" charset="-122"/>
              </a:rPr>
              <a:t>IE</a:t>
            </a:r>
            <a:r>
              <a:rPr lang="zh-CN" altLang="en-US" sz="2000" dirty="0">
                <a:solidFill>
                  <a:srgbClr val="C00000"/>
                </a:solidFill>
                <a:latin typeface="微软雅黑" panose="020B0503020204020204" pitchFamily="34" charset="-122"/>
                <a:ea typeface="微软雅黑" panose="020B0503020204020204" pitchFamily="34" charset="-122"/>
              </a:rPr>
              <a:t>世纪之争</a:t>
            </a:r>
            <a:endParaRPr lang="en-US" altLang="zh-CN" sz="2000" i="0" dirty="0">
              <a:solidFill>
                <a:srgbClr val="C00000"/>
              </a:solidFill>
              <a:effectLst/>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5BB9800-2FA2-4197-9876-28493BE13CFC}"/>
              </a:ext>
            </a:extLst>
          </p:cNvPr>
          <p:cNvSpPr txBox="1"/>
          <p:nvPr/>
        </p:nvSpPr>
        <p:spPr>
          <a:xfrm>
            <a:off x="4085024" y="1620168"/>
            <a:ext cx="3062303" cy="3170099"/>
          </a:xfrm>
          <a:prstGeom prst="rect">
            <a:avLst/>
          </a:prstGeom>
          <a:solidFill>
            <a:schemeClr val="bg1"/>
          </a:solidFill>
          <a:ln>
            <a:solidFill>
              <a:schemeClr val="bg1"/>
            </a:solidFill>
          </a:ln>
        </p:spPr>
        <p:txBody>
          <a:bodyPr wrap="square">
            <a:spAutoFit/>
          </a:bodyPr>
          <a:lstStyle/>
          <a:p>
            <a:pPr marL="285750" indent="-285750">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年，互联网泡沫破灭，进入低调发展阶段</a:t>
            </a:r>
          </a:p>
          <a:p>
            <a:pPr marL="285750" indent="-285750">
              <a:buFont typeface="Wingdings" panose="05000000000000000000" pitchFamily="2" charset="2"/>
              <a:buChar char="Ø"/>
            </a:pPr>
            <a:r>
              <a:rPr lang="en-US" altLang="zh-CN" sz="2000" dirty="0">
                <a:solidFill>
                  <a:srgbClr val="333333"/>
                </a:solidFill>
                <a:latin typeface="微软雅黑" panose="020B0503020204020204" pitchFamily="34" charset="-122"/>
                <a:ea typeface="微软雅黑" panose="020B0503020204020204" pitchFamily="34" charset="-122"/>
              </a:rPr>
              <a:t>Myspace</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Skype</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Safari</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Facebook</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Twitter</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err="1">
                <a:solidFill>
                  <a:srgbClr val="333333"/>
                </a:solidFill>
                <a:latin typeface="微软雅黑" panose="020B0503020204020204" pitchFamily="34" charset="-122"/>
                <a:ea typeface="微软雅黑" panose="020B0503020204020204" pitchFamily="34" charset="-122"/>
              </a:rPr>
              <a:t>youtube</a:t>
            </a:r>
            <a:r>
              <a:rPr lang="zh-CN" altLang="en-US" sz="2000" dirty="0">
                <a:solidFill>
                  <a:srgbClr val="333333"/>
                </a:solidFill>
                <a:latin typeface="微软雅黑" panose="020B0503020204020204" pitchFamily="34" charset="-122"/>
                <a:ea typeface="微软雅黑" panose="020B0503020204020204" pitchFamily="34" charset="-122"/>
              </a:rPr>
              <a:t>，土豆，</a:t>
            </a:r>
            <a:r>
              <a:rPr lang="en-US" altLang="zh-CN" sz="2000" dirty="0" err="1">
                <a:solidFill>
                  <a:srgbClr val="333333"/>
                </a:solidFill>
                <a:latin typeface="微软雅黑" panose="020B0503020204020204" pitchFamily="34" charset="-122"/>
                <a:ea typeface="微软雅黑" panose="020B0503020204020204" pitchFamily="34" charset="-122"/>
              </a:rPr>
              <a:t>youku</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2007</a:t>
            </a:r>
            <a:r>
              <a:rPr lang="zh-CN" altLang="en-US" sz="2000" dirty="0">
                <a:solidFill>
                  <a:srgbClr val="C00000"/>
                </a:solidFill>
                <a:latin typeface="微软雅黑" panose="020B0503020204020204" pitchFamily="34" charset="-122"/>
                <a:ea typeface="微软雅黑" panose="020B0503020204020204" pitchFamily="34" charset="-122"/>
              </a:rPr>
              <a:t>年，</a:t>
            </a:r>
            <a:r>
              <a:rPr lang="en-US" altLang="zh-CN" sz="2000" dirty="0">
                <a:solidFill>
                  <a:srgbClr val="C00000"/>
                </a:solidFill>
                <a:latin typeface="微软雅黑" panose="020B0503020204020204" pitchFamily="34" charset="-122"/>
                <a:ea typeface="微软雅黑" panose="020B0503020204020204" pitchFamily="34" charset="-122"/>
              </a:rPr>
              <a:t>3G+iPhone</a:t>
            </a:r>
            <a:r>
              <a:rPr lang="zh-CN" altLang="en-US" sz="2000" dirty="0">
                <a:solidFill>
                  <a:srgbClr val="C00000"/>
                </a:solidFill>
                <a:latin typeface="微软雅黑" panose="020B0503020204020204" pitchFamily="34" charset="-122"/>
                <a:ea typeface="微软雅黑" panose="020B0503020204020204" pitchFamily="34" charset="-122"/>
              </a:rPr>
              <a:t>，谷歌收购安卓，即将进入移动互联</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CD458EAC-C0D5-492E-A6B5-06C4D6107DF8}"/>
              </a:ext>
            </a:extLst>
          </p:cNvPr>
          <p:cNvSpPr txBox="1"/>
          <p:nvPr/>
        </p:nvSpPr>
        <p:spPr>
          <a:xfrm>
            <a:off x="7139329" y="1977074"/>
            <a:ext cx="3024771" cy="2862322"/>
          </a:xfrm>
          <a:prstGeom prst="rect">
            <a:avLst/>
          </a:prstGeom>
          <a:solidFill>
            <a:schemeClr val="bg1"/>
          </a:solidFill>
          <a:ln>
            <a:solidFill>
              <a:schemeClr val="bg1"/>
            </a:solidFill>
          </a:ln>
        </p:spPr>
        <p:txBody>
          <a:bodyPr wrap="square">
            <a:spAutoFit/>
          </a:bodyPr>
          <a:lstStyle/>
          <a:p>
            <a:pPr marL="285750" indent="-285750">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各种应用：</a:t>
            </a:r>
            <a:r>
              <a:rPr lang="en-US" altLang="zh-CN" sz="2000" dirty="0">
                <a:solidFill>
                  <a:srgbClr val="333333"/>
                </a:solidFill>
                <a:latin typeface="微软雅黑" panose="020B0503020204020204" pitchFamily="34" charset="-122"/>
                <a:ea typeface="微软雅黑" panose="020B0503020204020204" pitchFamily="34" charset="-122"/>
              </a:rPr>
              <a:t>Uber, </a:t>
            </a:r>
            <a:r>
              <a:rPr lang="en-US" altLang="zh-CN" sz="2000" dirty="0" err="1">
                <a:latin typeface="微软雅黑" panose="020B0503020204020204" pitchFamily="34" charset="-122"/>
                <a:ea typeface="微软雅黑" panose="020B0503020204020204" pitchFamily="34" charset="-122"/>
              </a:rPr>
              <a:t>airbnb</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333333"/>
                </a:solidFill>
                <a:latin typeface="微软雅黑" panose="020B0503020204020204" pitchFamily="34" charset="-122"/>
                <a:ea typeface="微软雅黑" panose="020B0503020204020204" pitchFamily="34" charset="-122"/>
              </a:rPr>
              <a:t>滴滴， 抖音，头条，美团，拼多多</a:t>
            </a:r>
            <a:r>
              <a:rPr lang="en-US" altLang="zh-CN" sz="2000" dirty="0">
                <a:solidFill>
                  <a:srgbClr val="333333"/>
                </a:solidFill>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000" dirty="0">
                <a:solidFill>
                  <a:srgbClr val="C00000"/>
                </a:solidFill>
                <a:latin typeface="微软雅黑" panose="020B0503020204020204" pitchFamily="34" charset="-122"/>
                <a:ea typeface="微软雅黑" panose="020B0503020204020204" pitchFamily="34" charset="-122"/>
              </a:rPr>
              <a:t>云为基础的互联网平台</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新技术爆发：高速网络，云，</a:t>
            </a:r>
            <a:r>
              <a:rPr lang="en-US" altLang="zh-CN" sz="2000" dirty="0">
                <a:latin typeface="微软雅黑" panose="020B0503020204020204" pitchFamily="34" charset="-122"/>
                <a:ea typeface="微软雅黑" panose="020B0503020204020204" pitchFamily="34" charset="-122"/>
              </a:rPr>
              <a:t>SDN</a:t>
            </a:r>
            <a:r>
              <a:rPr lang="zh-CN" altLang="en-US" sz="2000" dirty="0">
                <a:latin typeface="微软雅黑" panose="020B0503020204020204" pitchFamily="34" charset="-122"/>
                <a:ea typeface="微软雅黑" panose="020B0503020204020204" pitchFamily="34" charset="-122"/>
              </a:rPr>
              <a:t>，大数据</a:t>
            </a:r>
            <a:r>
              <a:rPr lang="en-US" altLang="zh-CN" sz="2000" dirty="0">
                <a:latin typeface="微软雅黑" panose="020B0503020204020204" pitchFamily="34" charset="-122"/>
                <a:ea typeface="微软雅黑" panose="020B0503020204020204" pitchFamily="34" charset="-122"/>
              </a:rPr>
              <a:t>/AI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VR/AR</a:t>
            </a:r>
            <a:endParaRPr lang="en-US" altLang="zh-CN" sz="2000" dirty="0">
              <a:solidFill>
                <a:srgbClr val="C0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en-US" altLang="zh-CN" sz="2000" dirty="0">
                <a:solidFill>
                  <a:srgbClr val="C00000"/>
                </a:solidFill>
                <a:latin typeface="微软雅黑" panose="020B0503020204020204" pitchFamily="34" charset="-122"/>
                <a:ea typeface="微软雅黑" panose="020B0503020204020204" pitchFamily="34" charset="-122"/>
              </a:rPr>
              <a:t>2010</a:t>
            </a:r>
            <a:r>
              <a:rPr lang="zh-CN" altLang="en-US" sz="2000" dirty="0">
                <a:solidFill>
                  <a:srgbClr val="C00000"/>
                </a:solidFill>
                <a:latin typeface="微软雅黑" panose="020B0503020204020204" pitchFamily="34" charset="-122"/>
                <a:ea typeface="微软雅黑" panose="020B0503020204020204" pitchFamily="34" charset="-122"/>
              </a:rPr>
              <a:t>年，</a:t>
            </a:r>
            <a:r>
              <a:rPr lang="en-US" altLang="zh-CN" sz="2000" dirty="0">
                <a:solidFill>
                  <a:srgbClr val="C00000"/>
                </a:solidFill>
                <a:latin typeface="微软雅黑" panose="020B0503020204020204" pitchFamily="34" charset="-122"/>
                <a:ea typeface="微软雅黑" panose="020B0503020204020204" pitchFamily="34" charset="-122"/>
              </a:rPr>
              <a:t>4G LTE</a:t>
            </a:r>
            <a:r>
              <a:rPr lang="zh-CN" altLang="en-US" sz="2000" dirty="0">
                <a:solidFill>
                  <a:srgbClr val="C00000"/>
                </a:solidFill>
                <a:latin typeface="微软雅黑" panose="020B0503020204020204" pitchFamily="34" charset="-122"/>
                <a:ea typeface="微软雅黑" panose="020B0503020204020204" pitchFamily="34" charset="-122"/>
              </a:rPr>
              <a:t>部署</a:t>
            </a:r>
          </a:p>
        </p:txBody>
      </p:sp>
      <p:sp>
        <p:nvSpPr>
          <p:cNvPr id="31" name="文本框 30">
            <a:extLst>
              <a:ext uri="{FF2B5EF4-FFF2-40B4-BE49-F238E27FC236}">
                <a16:creationId xmlns:a16="http://schemas.microsoft.com/office/drawing/2014/main" id="{AD4852FC-FF61-45F6-9CB0-02405EC6D34C}"/>
              </a:ext>
            </a:extLst>
          </p:cNvPr>
          <p:cNvSpPr txBox="1"/>
          <p:nvPr/>
        </p:nvSpPr>
        <p:spPr>
          <a:xfrm>
            <a:off x="10368597" y="2523855"/>
            <a:ext cx="1620203" cy="2005076"/>
          </a:xfrm>
          <a:prstGeom prst="rect">
            <a:avLst/>
          </a:prstGeom>
          <a:solidFill>
            <a:schemeClr val="bg1"/>
          </a:solidFill>
          <a:ln>
            <a:solidFill>
              <a:schemeClr val="bg1"/>
            </a:solidFill>
          </a:ln>
        </p:spPr>
        <p:txBody>
          <a:bodyPr wrap="square">
            <a:noAutofit/>
          </a:bodyPr>
          <a:lstStyle/>
          <a:p>
            <a:pPr marL="285750" indent="-285750">
              <a:lnSpc>
                <a:spcPct val="13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IoT</a:t>
            </a:r>
          </a:p>
          <a:p>
            <a:pPr marL="285750" indent="-285750">
              <a:lnSpc>
                <a:spcPct val="13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车联网</a:t>
            </a: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进入各行业</a:t>
            </a: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37" name="矩形 36">
            <a:extLst>
              <a:ext uri="{FF2B5EF4-FFF2-40B4-BE49-F238E27FC236}">
                <a16:creationId xmlns:a16="http://schemas.microsoft.com/office/drawing/2014/main" id="{3097E2A3-65A5-4610-A203-FA239A166FE6}"/>
              </a:ext>
            </a:extLst>
          </p:cNvPr>
          <p:cNvSpPr/>
          <p:nvPr/>
        </p:nvSpPr>
        <p:spPr>
          <a:xfrm>
            <a:off x="65451" y="5752811"/>
            <a:ext cx="12072656" cy="372270"/>
          </a:xfrm>
          <a:prstGeom prst="rect">
            <a:avLst/>
          </a:prstGeom>
          <a:noFill/>
          <a:ln w="38100">
            <a:solidFill>
              <a:srgbClr val="B348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D47B0C4-B8D7-422D-821C-A4A5A1F099FC}"/>
              </a:ext>
            </a:extLst>
          </p:cNvPr>
          <p:cNvSpPr txBox="1"/>
          <p:nvPr/>
        </p:nvSpPr>
        <p:spPr>
          <a:xfrm>
            <a:off x="1696100" y="6182462"/>
            <a:ext cx="3647152"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数据以下载为主，下行带宽要求高</a:t>
            </a:r>
          </a:p>
        </p:txBody>
      </p:sp>
      <p:sp>
        <p:nvSpPr>
          <p:cNvPr id="41" name="文本框 40">
            <a:extLst>
              <a:ext uri="{FF2B5EF4-FFF2-40B4-BE49-F238E27FC236}">
                <a16:creationId xmlns:a16="http://schemas.microsoft.com/office/drawing/2014/main" id="{1746ACCD-92B6-43A2-9E62-8040037E6AE5}"/>
              </a:ext>
            </a:extLst>
          </p:cNvPr>
          <p:cNvSpPr txBox="1"/>
          <p:nvPr/>
        </p:nvSpPr>
        <p:spPr>
          <a:xfrm>
            <a:off x="6096000" y="6210483"/>
            <a:ext cx="6186309"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直播应用用户开始产生数据，开始对上行带宽提出更高要求</a:t>
            </a:r>
          </a:p>
        </p:txBody>
      </p:sp>
      <p:sp>
        <p:nvSpPr>
          <p:cNvPr id="3" name="灯片编号占位符 2">
            <a:extLst>
              <a:ext uri="{FF2B5EF4-FFF2-40B4-BE49-F238E27FC236}">
                <a16:creationId xmlns:a16="http://schemas.microsoft.com/office/drawing/2014/main" id="{F721DBD0-3A72-3041-911D-C5DD6D93CDF9}"/>
              </a:ext>
            </a:extLst>
          </p:cNvPr>
          <p:cNvSpPr>
            <a:spLocks noGrp="1"/>
          </p:cNvSpPr>
          <p:nvPr>
            <p:ph type="sldNum" sz="quarter" idx="12"/>
          </p:nvPr>
        </p:nvSpPr>
        <p:spPr/>
        <p:txBody>
          <a:bodyPr/>
          <a:lstStyle/>
          <a:p>
            <a:fld id="{8D4D1E41-7A09-AB4A-A4E1-09765ADA2698}" type="slidenum">
              <a:rPr kumimoji="1" lang="zh-CN" altLang="en-US" smtClean="0"/>
              <a:t>107</a:t>
            </a:fld>
            <a:endParaRPr kumimoji="1" lang="zh-CN" altLang="en-US" dirty="0"/>
          </a:p>
        </p:txBody>
      </p:sp>
      <p:sp>
        <p:nvSpPr>
          <p:cNvPr id="17" name="文本框 16">
            <a:extLst>
              <a:ext uri="{FF2B5EF4-FFF2-40B4-BE49-F238E27FC236}">
                <a16:creationId xmlns:a16="http://schemas.microsoft.com/office/drawing/2014/main" id="{8214A2C4-7738-8D4B-96D9-8FE8E71CE0E3}"/>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201568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blinds(horizontal)">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3" presetClass="entr" presetSubtype="1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linds(horizontal)">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4" grpId="0" animBg="1"/>
      <p:bldP spid="28" grpId="0" animBg="1"/>
      <p:bldP spid="37" grpId="0" animBg="1"/>
      <p:bldP spid="41"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E3CB9-57D5-462E-BCEB-695948F460F3}"/>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互联网的新发展与启示</a:t>
            </a:r>
            <a:endParaRPr lang="zh-CN" altLang="en-US" dirty="0"/>
          </a:p>
        </p:txBody>
      </p:sp>
      <p:sp>
        <p:nvSpPr>
          <p:cNvPr id="5" name="箭头: V 形 4">
            <a:extLst>
              <a:ext uri="{FF2B5EF4-FFF2-40B4-BE49-F238E27FC236}">
                <a16:creationId xmlns:a16="http://schemas.microsoft.com/office/drawing/2014/main" id="{376610D8-B575-4C80-8AC5-ED483019CE94}"/>
              </a:ext>
            </a:extLst>
          </p:cNvPr>
          <p:cNvSpPr/>
          <p:nvPr/>
        </p:nvSpPr>
        <p:spPr>
          <a:xfrm>
            <a:off x="123201" y="5096934"/>
            <a:ext cx="3517124" cy="1040866"/>
          </a:xfrm>
          <a:prstGeom prst="chevron">
            <a:avLst/>
          </a:prstGeom>
          <a:solidFill>
            <a:srgbClr val="FFD80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i="0" dirty="0">
                <a:solidFill>
                  <a:srgbClr val="333333"/>
                </a:solidFill>
                <a:effectLst/>
                <a:latin typeface="微软雅黑" panose="020B0503020204020204" pitchFamily="34" charset="-122"/>
                <a:ea typeface="微软雅黑" panose="020B0503020204020204" pitchFamily="34" charset="-122"/>
              </a:rPr>
              <a:t>Web 1.0</a:t>
            </a:r>
            <a:r>
              <a:rPr lang="zh-CN" altLang="en-US" sz="1600" b="1" i="0" dirty="0">
                <a:solidFill>
                  <a:schemeClr val="tx1"/>
                </a:solidFill>
                <a:effectLst/>
                <a:latin typeface="微软雅黑" panose="020B0503020204020204" pitchFamily="34" charset="-122"/>
                <a:ea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rPr>
              <a:t>1993-1999</a:t>
            </a:r>
            <a:r>
              <a:rPr lang="zh-CN" altLang="en-US" sz="1600" b="1" dirty="0">
                <a:solidFill>
                  <a:schemeClr val="tx1"/>
                </a:solidFill>
                <a:latin typeface="微软雅黑" panose="020B0503020204020204" pitchFamily="34" charset="-122"/>
                <a:ea typeface="微软雅黑" panose="020B0503020204020204" pitchFamily="34" charset="-122"/>
              </a:rPr>
              <a:t>）</a:t>
            </a:r>
            <a:endParaRPr lang="en-US" altLang="zh-CN" sz="1600" b="1" i="0" dirty="0">
              <a:solidFill>
                <a:schemeClr val="tx1"/>
              </a:solidFill>
              <a:effectLst/>
              <a:latin typeface="微软雅黑" panose="020B0503020204020204" pitchFamily="34" charset="-122"/>
              <a:ea typeface="微软雅黑" panose="020B0503020204020204" pitchFamily="34" charset="-122"/>
            </a:endParaRPr>
          </a:p>
          <a:p>
            <a:pPr algn="ctr">
              <a:lnSpc>
                <a:spcPct val="130000"/>
              </a:lnSpc>
            </a:pPr>
            <a:r>
              <a:rPr lang="zh-CN" altLang="en-US" sz="1600" b="0" i="0" dirty="0">
                <a:solidFill>
                  <a:srgbClr val="333333"/>
                </a:solidFill>
                <a:effectLst/>
                <a:latin typeface="微软雅黑" panose="020B0503020204020204" pitchFamily="34" charset="-122"/>
                <a:ea typeface="微软雅黑" panose="020B0503020204020204" pitchFamily="34" charset="-122"/>
              </a:rPr>
              <a:t>浏览器、门户、电子商务</a:t>
            </a:r>
            <a:endParaRPr lang="en-US" altLang="zh-CN" sz="1600" b="0" i="0" dirty="0">
              <a:solidFill>
                <a:srgbClr val="333333"/>
              </a:solidFill>
              <a:effectLst/>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ISDN</a:t>
            </a:r>
            <a:r>
              <a:rPr lang="zh-CN" altLang="en-US" sz="1600" b="1" dirty="0">
                <a:solidFill>
                  <a:srgbClr val="C00000"/>
                </a:solidFill>
                <a:latin typeface="微软雅黑" panose="020B0503020204020204" pitchFamily="34" charset="-122"/>
                <a:ea typeface="微软雅黑" panose="020B0503020204020204" pitchFamily="34" charset="-122"/>
              </a:rPr>
              <a:t>上网，</a:t>
            </a:r>
            <a:r>
              <a:rPr lang="en-US" altLang="zh-CN" sz="1600" b="1" dirty="0">
                <a:solidFill>
                  <a:srgbClr val="C00000"/>
                </a:solidFill>
                <a:latin typeface="微软雅黑" panose="020B0503020204020204" pitchFamily="34" charset="-122"/>
                <a:ea typeface="微软雅黑" panose="020B0503020204020204" pitchFamily="34" charset="-122"/>
              </a:rPr>
              <a:t>~64Kbps</a:t>
            </a:r>
            <a:r>
              <a:rPr lang="zh-CN" altLang="en-US" sz="1600" b="1" dirty="0">
                <a:solidFill>
                  <a:srgbClr val="C00000"/>
                </a:solidFill>
                <a:latin typeface="微软雅黑" panose="020B0503020204020204" pitchFamily="34" charset="-122"/>
                <a:ea typeface="微软雅黑" panose="020B0503020204020204" pitchFamily="34" charset="-122"/>
              </a:rPr>
              <a:t> </a:t>
            </a:r>
          </a:p>
        </p:txBody>
      </p:sp>
      <p:sp>
        <p:nvSpPr>
          <p:cNvPr id="7" name="箭头: V 形 6">
            <a:extLst>
              <a:ext uri="{FF2B5EF4-FFF2-40B4-BE49-F238E27FC236}">
                <a16:creationId xmlns:a16="http://schemas.microsoft.com/office/drawing/2014/main" id="{23E98691-049B-4DB5-B404-529E18DF50FC}"/>
              </a:ext>
            </a:extLst>
          </p:cNvPr>
          <p:cNvSpPr/>
          <p:nvPr/>
        </p:nvSpPr>
        <p:spPr>
          <a:xfrm>
            <a:off x="3154231" y="5084213"/>
            <a:ext cx="3458563" cy="1066309"/>
          </a:xfrm>
          <a:prstGeom prst="chevron">
            <a:avLst/>
          </a:prstGeom>
          <a:solidFill>
            <a:srgbClr val="FDCB0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600" b="1" dirty="0">
                <a:solidFill>
                  <a:srgbClr val="333333"/>
                </a:solidFill>
                <a:latin typeface="微软雅黑" panose="020B0503020204020204" pitchFamily="34" charset="-122"/>
                <a:ea typeface="微软雅黑" panose="020B0503020204020204" pitchFamily="34" charset="-122"/>
              </a:rPr>
              <a:t>Web 2.0</a:t>
            </a:r>
            <a:r>
              <a:rPr lang="zh-CN" altLang="en-US" sz="1600" b="1" dirty="0">
                <a:solidFill>
                  <a:srgbClr val="333333"/>
                </a:solidFill>
                <a:latin typeface="微软雅黑" panose="020B0503020204020204" pitchFamily="34" charset="-122"/>
                <a:ea typeface="微软雅黑" panose="020B0503020204020204" pitchFamily="34" charset="-122"/>
              </a:rPr>
              <a:t>（</a:t>
            </a:r>
            <a:r>
              <a:rPr lang="en-US" altLang="zh-CN" sz="1600" b="1" dirty="0">
                <a:solidFill>
                  <a:srgbClr val="333333"/>
                </a:solidFill>
                <a:latin typeface="微软雅黑" panose="020B0503020204020204" pitchFamily="34" charset="-122"/>
                <a:ea typeface="微软雅黑" panose="020B0503020204020204" pitchFamily="34" charset="-122"/>
              </a:rPr>
              <a:t>2000-2007</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博客、社交媒体、视频</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DSL/LAN</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9" name="箭头: V 形 8">
            <a:extLst>
              <a:ext uri="{FF2B5EF4-FFF2-40B4-BE49-F238E27FC236}">
                <a16:creationId xmlns:a16="http://schemas.microsoft.com/office/drawing/2014/main" id="{8EDDE31F-16D6-4D95-91C6-3B2AD22E10E8}"/>
              </a:ext>
            </a:extLst>
          </p:cNvPr>
          <p:cNvSpPr/>
          <p:nvPr/>
        </p:nvSpPr>
        <p:spPr>
          <a:xfrm>
            <a:off x="6126700" y="5084213"/>
            <a:ext cx="3638197" cy="1066308"/>
          </a:xfrm>
          <a:prstGeom prst="chevron">
            <a:avLst/>
          </a:prstGeom>
          <a:solidFill>
            <a:srgbClr val="F9BC12"/>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移动互联（</a:t>
            </a:r>
            <a:r>
              <a:rPr lang="en-US" altLang="zh-CN" sz="1600" b="1" dirty="0">
                <a:solidFill>
                  <a:srgbClr val="333333"/>
                </a:solidFill>
                <a:latin typeface="微软雅黑" panose="020B0503020204020204" pitchFamily="34" charset="-122"/>
                <a:ea typeface="微软雅黑" panose="020B0503020204020204" pitchFamily="34" charset="-122"/>
              </a:rPr>
              <a:t>~2018</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导航，网购，互联网</a:t>
            </a:r>
            <a:r>
              <a:rPr lang="en-US" altLang="zh-CN" sz="1600" dirty="0">
                <a:solidFill>
                  <a:srgbClr val="333333"/>
                </a:solidFill>
                <a:latin typeface="微软雅黑" panose="020B0503020204020204" pitchFamily="34" charset="-122"/>
                <a:ea typeface="微软雅黑" panose="020B0503020204020204" pitchFamily="34" charset="-122"/>
              </a:rPr>
              <a:t>+</a:t>
            </a: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WIFI+4G+</a:t>
            </a:r>
            <a:r>
              <a:rPr lang="zh-CN" altLang="en-US" sz="1600" b="1"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~100Mbps</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sp>
        <p:nvSpPr>
          <p:cNvPr id="11" name="箭头: V 形 10">
            <a:extLst>
              <a:ext uri="{FF2B5EF4-FFF2-40B4-BE49-F238E27FC236}">
                <a16:creationId xmlns:a16="http://schemas.microsoft.com/office/drawing/2014/main" id="{D73F29DD-BB2F-40D3-8DDB-00472F37C648}"/>
              </a:ext>
            </a:extLst>
          </p:cNvPr>
          <p:cNvSpPr/>
          <p:nvPr/>
        </p:nvSpPr>
        <p:spPr>
          <a:xfrm>
            <a:off x="9278802" y="5084213"/>
            <a:ext cx="2943997" cy="1066308"/>
          </a:xfrm>
          <a:prstGeom prst="chevron">
            <a:avLst/>
          </a:prstGeom>
          <a:solidFill>
            <a:srgbClr val="F6A52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600" b="1" dirty="0">
                <a:solidFill>
                  <a:srgbClr val="333333"/>
                </a:solidFill>
                <a:latin typeface="微软雅黑" panose="020B0503020204020204" pitchFamily="34" charset="-122"/>
                <a:ea typeface="微软雅黑" panose="020B0503020204020204" pitchFamily="34" charset="-122"/>
              </a:rPr>
              <a:t>智能互联（</a:t>
            </a:r>
            <a:r>
              <a:rPr lang="en-US" altLang="zh-CN" sz="1600" b="1" dirty="0">
                <a:solidFill>
                  <a:srgbClr val="333333"/>
                </a:solidFill>
                <a:latin typeface="微软雅黑" panose="020B0503020204020204" pitchFamily="34" charset="-122"/>
                <a:ea typeface="微软雅黑" panose="020B0503020204020204" pitchFamily="34" charset="-122"/>
              </a:rPr>
              <a:t>~</a:t>
            </a:r>
            <a:r>
              <a:rPr lang="zh-CN" altLang="en-US" sz="1600" b="1" dirty="0">
                <a:solidFill>
                  <a:srgbClr val="333333"/>
                </a:solidFill>
                <a:latin typeface="微软雅黑" panose="020B0503020204020204" pitchFamily="34" charset="-122"/>
                <a:ea typeface="微软雅黑" panose="020B0503020204020204" pitchFamily="34" charset="-122"/>
              </a:rPr>
              <a:t>）</a:t>
            </a:r>
            <a:endParaRPr lang="en-US" altLang="zh-CN" sz="1600" b="1"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zh-CN" altLang="en-US" sz="1600" dirty="0">
                <a:solidFill>
                  <a:srgbClr val="333333"/>
                </a:solidFill>
                <a:latin typeface="微软雅黑" panose="020B0503020204020204" pitchFamily="34" charset="-122"/>
                <a:ea typeface="微软雅黑" panose="020B0503020204020204" pitchFamily="34" charset="-122"/>
              </a:rPr>
              <a:t>万物互联</a:t>
            </a:r>
            <a:endParaRPr lang="en-US" altLang="zh-CN" sz="1600" dirty="0">
              <a:solidFill>
                <a:srgbClr val="333333"/>
              </a:solidFill>
              <a:latin typeface="微软雅黑" panose="020B0503020204020204" pitchFamily="34" charset="-122"/>
              <a:ea typeface="微软雅黑" panose="020B0503020204020204" pitchFamily="34" charset="-122"/>
            </a:endParaRPr>
          </a:p>
          <a:p>
            <a:pPr algn="ctr">
              <a:lnSpc>
                <a:spcPct val="130000"/>
              </a:lnSpc>
            </a:pPr>
            <a:r>
              <a:rPr lang="en-US" altLang="zh-CN" sz="1600" b="1" dirty="0">
                <a:solidFill>
                  <a:srgbClr val="C00000"/>
                </a:solidFill>
                <a:latin typeface="微软雅黑" panose="020B0503020204020204" pitchFamily="34" charset="-122"/>
                <a:ea typeface="微软雅黑" panose="020B0503020204020204" pitchFamily="34" charset="-122"/>
              </a:rPr>
              <a:t>5G+</a:t>
            </a:r>
            <a:r>
              <a:rPr lang="zh-CN" altLang="en-US" sz="1600" b="1" dirty="0">
                <a:solidFill>
                  <a:srgbClr val="C00000"/>
                </a:solidFill>
                <a:latin typeface="微软雅黑" panose="020B0503020204020204" pitchFamily="34" charset="-122"/>
                <a:ea typeface="微软雅黑" panose="020B0503020204020204" pitchFamily="34" charset="-122"/>
              </a:rPr>
              <a:t>，一体化网络</a:t>
            </a:r>
          </a:p>
        </p:txBody>
      </p:sp>
      <p:sp>
        <p:nvSpPr>
          <p:cNvPr id="37" name="矩形 36">
            <a:extLst>
              <a:ext uri="{FF2B5EF4-FFF2-40B4-BE49-F238E27FC236}">
                <a16:creationId xmlns:a16="http://schemas.microsoft.com/office/drawing/2014/main" id="{3097E2A3-65A5-4610-A203-FA239A166FE6}"/>
              </a:ext>
            </a:extLst>
          </p:cNvPr>
          <p:cNvSpPr/>
          <p:nvPr/>
        </p:nvSpPr>
        <p:spPr>
          <a:xfrm>
            <a:off x="65451" y="5752811"/>
            <a:ext cx="12072656" cy="372270"/>
          </a:xfrm>
          <a:prstGeom prst="rect">
            <a:avLst/>
          </a:prstGeom>
          <a:noFill/>
          <a:ln w="38100">
            <a:solidFill>
              <a:srgbClr val="B348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D47B0C4-B8D7-422D-821C-A4A5A1F099FC}"/>
              </a:ext>
            </a:extLst>
          </p:cNvPr>
          <p:cNvSpPr txBox="1"/>
          <p:nvPr/>
        </p:nvSpPr>
        <p:spPr>
          <a:xfrm>
            <a:off x="1696100" y="6182462"/>
            <a:ext cx="3647152"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数据以下载为主，下行带宽要求高</a:t>
            </a:r>
          </a:p>
        </p:txBody>
      </p:sp>
      <p:sp>
        <p:nvSpPr>
          <p:cNvPr id="41" name="文本框 40">
            <a:extLst>
              <a:ext uri="{FF2B5EF4-FFF2-40B4-BE49-F238E27FC236}">
                <a16:creationId xmlns:a16="http://schemas.microsoft.com/office/drawing/2014/main" id="{1746ACCD-92B6-43A2-9E62-8040037E6AE5}"/>
              </a:ext>
            </a:extLst>
          </p:cNvPr>
          <p:cNvSpPr txBox="1"/>
          <p:nvPr/>
        </p:nvSpPr>
        <p:spPr>
          <a:xfrm>
            <a:off x="6096000" y="6210483"/>
            <a:ext cx="6186309"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直播应用用户开始产生数据，开始对上行带宽提出更高要求</a:t>
            </a:r>
          </a:p>
        </p:txBody>
      </p:sp>
      <p:sp>
        <p:nvSpPr>
          <p:cNvPr id="16" name="文本框 15">
            <a:extLst>
              <a:ext uri="{FF2B5EF4-FFF2-40B4-BE49-F238E27FC236}">
                <a16:creationId xmlns:a16="http://schemas.microsoft.com/office/drawing/2014/main" id="{AE721225-0209-0040-B10B-053E69A28717}"/>
              </a:ext>
            </a:extLst>
          </p:cNvPr>
          <p:cNvSpPr txBox="1"/>
          <p:nvPr/>
        </p:nvSpPr>
        <p:spPr>
          <a:xfrm>
            <a:off x="439946" y="1386276"/>
            <a:ext cx="11334519" cy="3495914"/>
          </a:xfrm>
          <a:prstGeom prst="rect">
            <a:avLst/>
          </a:prstGeom>
          <a:solidFill>
            <a:schemeClr val="bg1"/>
          </a:solidFill>
          <a:ln w="28575">
            <a:solidFill>
              <a:srgbClr val="7030A0"/>
            </a:solidFill>
          </a:ln>
        </p:spPr>
        <p:txBody>
          <a:bodyPr wrap="square" rtlCol="0">
            <a:noAutofit/>
          </a:bodyPr>
          <a:lstStyle/>
          <a:p>
            <a:pPr algn="ctr">
              <a:lnSpc>
                <a:spcPct val="130000"/>
              </a:lnSpc>
            </a:pPr>
            <a:r>
              <a:rPr lang="zh-CN" altLang="en-US" sz="2800" dirty="0">
                <a:solidFill>
                  <a:srgbClr val="C00000"/>
                </a:solidFill>
                <a:latin typeface="微软雅黑" panose="020B0503020204020204" pitchFamily="34" charset="-122"/>
                <a:ea typeface="微软雅黑" panose="020B0503020204020204" pitchFamily="34" charset="-122"/>
              </a:rPr>
              <a:t>商业需求是核心驱动力，技术创新提供重要基础</a:t>
            </a:r>
            <a:endParaRPr lang="en-US" altLang="zh-CN" sz="2800" dirty="0">
              <a:solidFill>
                <a:srgbClr val="C00000"/>
              </a:solidFill>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有远见的</a:t>
            </a:r>
            <a:r>
              <a:rPr lang="zh-CN" altLang="en-US" sz="2400" dirty="0">
                <a:solidFill>
                  <a:srgbClr val="C00000"/>
                </a:solidFill>
                <a:latin typeface="微软雅黑" panose="020B0503020204020204" pitchFamily="34" charset="-122"/>
                <a:ea typeface="微软雅黑" panose="020B0503020204020204" pitchFamily="34" charset="-122"/>
              </a:rPr>
              <a:t>企业</a:t>
            </a:r>
            <a:r>
              <a:rPr lang="zh-CN" altLang="en-US" sz="2400" dirty="0">
                <a:latin typeface="微软雅黑" panose="020B0503020204020204" pitchFamily="34" charset="-122"/>
                <a:ea typeface="微软雅黑" panose="020B0503020204020204" pitchFamily="34" charset="-122"/>
              </a:rPr>
              <a:t>参与并不断投入：</a:t>
            </a:r>
            <a:r>
              <a:rPr lang="en-US" altLang="zh-CN" sz="2400" dirty="0">
                <a:latin typeface="微软雅黑" panose="020B0503020204020204" pitchFamily="34" charset="-122"/>
                <a:ea typeface="微软雅黑" panose="020B0503020204020204" pitchFamily="34" charset="-122"/>
              </a:rPr>
              <a:t> MCI</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IBM</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Qwest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CISCO……</a:t>
            </a: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有线</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无线</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广覆盖：便捷程度决定了用户使用方式和在线时间</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网络性能决定了应用体验，成了互联网应用发展的必要条件</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网络带宽决定了应用能传什么：</a:t>
            </a:r>
            <a:br>
              <a:rPr lang="en-US" altLang="zh-CN"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文本</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图片（静图</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动图）</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音频</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视频（低清</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高清，短视频</a:t>
            </a:r>
            <a:r>
              <a:rPr lang="en-US" altLang="zh-CN" sz="2400" dirty="0">
                <a:latin typeface="微软雅黑" panose="020B0503020204020204" pitchFamily="34" charset="-122"/>
                <a:ea typeface="微软雅黑" panose="020B0503020204020204" pitchFamily="34" charset="-122"/>
              </a:rPr>
              <a:t>-&gt;</a:t>
            </a:r>
            <a:r>
              <a:rPr lang="zh-CN" altLang="en-US" sz="2400" dirty="0">
                <a:latin typeface="微软雅黑" panose="020B0503020204020204" pitchFamily="34" charset="-122"/>
                <a:ea typeface="微软雅黑" panose="020B0503020204020204" pitchFamily="34" charset="-122"/>
              </a:rPr>
              <a:t>直播）</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网络性能提升、延迟降低</a:t>
            </a:r>
            <a:r>
              <a:rPr lang="zh-CN" altLang="en-US" sz="2400" dirty="0">
                <a:latin typeface="微软雅黑" panose="020B0503020204020204" pitchFamily="34" charset="-122"/>
                <a:ea typeface="微软雅黑" panose="020B0503020204020204" pitchFamily="34" charset="-122"/>
              </a:rPr>
              <a:t>：快速响应？可靠性？计算、存储、传输的互换？</a:t>
            </a:r>
            <a:endParaRPr lang="en-US" altLang="zh-CN" sz="2400"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CF8BC6D9-0611-314F-9700-7A6C7948117C}"/>
              </a:ext>
            </a:extLst>
          </p:cNvPr>
          <p:cNvSpPr>
            <a:spLocks noGrp="1"/>
          </p:cNvSpPr>
          <p:nvPr>
            <p:ph type="sldNum" sz="quarter" idx="12"/>
          </p:nvPr>
        </p:nvSpPr>
        <p:spPr/>
        <p:txBody>
          <a:bodyPr/>
          <a:lstStyle/>
          <a:p>
            <a:fld id="{8D4D1E41-7A09-AB4A-A4E1-09765ADA2698}" type="slidenum">
              <a:rPr kumimoji="1" lang="zh-CN" altLang="en-US" smtClean="0"/>
              <a:t>108</a:t>
            </a:fld>
            <a:endParaRPr kumimoji="1" lang="zh-CN" altLang="en-US" dirty="0"/>
          </a:p>
        </p:txBody>
      </p:sp>
      <p:sp>
        <p:nvSpPr>
          <p:cNvPr id="13" name="文本框 12">
            <a:extLst>
              <a:ext uri="{FF2B5EF4-FFF2-40B4-BE49-F238E27FC236}">
                <a16:creationId xmlns:a16="http://schemas.microsoft.com/office/drawing/2014/main" id="{065EB93C-CE74-544B-9C09-6CF49FBCFBEB}"/>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26226218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172285E-C5A0-44C2-889A-DF46D282FD4C}"/>
              </a:ext>
            </a:extLst>
          </p:cNvPr>
          <p:cNvPicPr>
            <a:picLocks noChangeAspect="1"/>
          </p:cNvPicPr>
          <p:nvPr/>
        </p:nvPicPr>
        <p:blipFill>
          <a:blip r:embed="rId3"/>
          <a:stretch>
            <a:fillRect/>
          </a:stretch>
        </p:blipFill>
        <p:spPr>
          <a:xfrm>
            <a:off x="7660025" y="1860154"/>
            <a:ext cx="3973497" cy="1601083"/>
          </a:xfrm>
          <a:prstGeom prst="rect">
            <a:avLst/>
          </a:prstGeom>
        </p:spPr>
      </p:pic>
      <p:sp>
        <p:nvSpPr>
          <p:cNvPr id="7" name="矩形: 圆角 6">
            <a:extLst>
              <a:ext uri="{FF2B5EF4-FFF2-40B4-BE49-F238E27FC236}">
                <a16:creationId xmlns:a16="http://schemas.microsoft.com/office/drawing/2014/main" id="{7C7FB453-5900-466B-98B9-67AC13AF5658}"/>
              </a:ext>
            </a:extLst>
          </p:cNvPr>
          <p:cNvSpPr/>
          <p:nvPr/>
        </p:nvSpPr>
        <p:spPr>
          <a:xfrm>
            <a:off x="7570658" y="1326368"/>
            <a:ext cx="4163514" cy="2261563"/>
          </a:xfrm>
          <a:prstGeom prst="roundRect">
            <a:avLst/>
          </a:prstGeom>
          <a:noFill/>
          <a:ln w="19050">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7AD4D82-E0D5-40A7-AC43-FCE0116F859F}"/>
              </a:ext>
            </a:extLst>
          </p:cNvPr>
          <p:cNvSpPr>
            <a:spLocks noGrp="1"/>
          </p:cNvSpPr>
          <p:nvPr>
            <p:ph type="title"/>
          </p:nvPr>
        </p:nvSpPr>
        <p:spPr/>
        <p:txBody>
          <a:bodyPr>
            <a:normAutofit/>
          </a:bodyPr>
          <a:lstStyle/>
          <a:p>
            <a:r>
              <a:rPr lang="zh-CN" altLang="en-US" dirty="0"/>
              <a:t>我国的互联网发展情况</a:t>
            </a:r>
          </a:p>
        </p:txBody>
      </p:sp>
      <p:sp>
        <p:nvSpPr>
          <p:cNvPr id="3" name="内容占位符 2">
            <a:extLst>
              <a:ext uri="{FF2B5EF4-FFF2-40B4-BE49-F238E27FC236}">
                <a16:creationId xmlns:a16="http://schemas.microsoft.com/office/drawing/2014/main" id="{B2165E99-B732-4222-A51B-E931AF8AE4A9}"/>
              </a:ext>
            </a:extLst>
          </p:cNvPr>
          <p:cNvSpPr>
            <a:spLocks noGrp="1"/>
          </p:cNvSpPr>
          <p:nvPr>
            <p:ph idx="1"/>
          </p:nvPr>
        </p:nvSpPr>
        <p:spPr>
          <a:xfrm>
            <a:off x="637917" y="1400973"/>
            <a:ext cx="7027155" cy="4955377"/>
          </a:xfrm>
        </p:spPr>
        <p:txBody>
          <a:bodyPr>
            <a:noAutofit/>
          </a:bodyPr>
          <a:lstStyle/>
          <a:p>
            <a:r>
              <a:rPr lang="zh-CN" altLang="en-US" sz="2400" i="0" dirty="0">
                <a:solidFill>
                  <a:srgbClr val="121212"/>
                </a:solidFill>
                <a:effectLst/>
                <a:latin typeface="微软雅黑" panose="020B0503020204020204" pitchFamily="34" charset="-122"/>
                <a:ea typeface="微软雅黑" panose="020B0503020204020204" pitchFamily="34" charset="-122"/>
              </a:rPr>
              <a:t>起步阶段</a:t>
            </a:r>
            <a:endParaRPr lang="en-US" altLang="zh-CN" sz="2400" i="0" dirty="0">
              <a:solidFill>
                <a:srgbClr val="121212"/>
              </a:solidFill>
              <a:effectLst/>
              <a:latin typeface="微软雅黑" panose="020B0503020204020204" pitchFamily="34" charset="-122"/>
              <a:ea typeface="微软雅黑" panose="020B0503020204020204" pitchFamily="34" charset="-122"/>
            </a:endParaRPr>
          </a:p>
          <a:p>
            <a:pPr lvl="1"/>
            <a:r>
              <a:rPr lang="en-US" altLang="zh-CN" sz="2000" b="0" i="0" dirty="0">
                <a:solidFill>
                  <a:srgbClr val="121212"/>
                </a:solidFill>
                <a:effectLst/>
                <a:latin typeface="微软雅黑" panose="020B0503020204020204" pitchFamily="34" charset="-122"/>
                <a:ea typeface="微软雅黑" panose="020B0503020204020204" pitchFamily="34" charset="-122"/>
              </a:rPr>
              <a:t>1987</a:t>
            </a:r>
            <a:r>
              <a:rPr lang="zh-CN" altLang="en-US" sz="2000" b="0" i="0" dirty="0">
                <a:solidFill>
                  <a:srgbClr val="121212"/>
                </a:solidFill>
                <a:effectLst/>
                <a:latin typeface="微软雅黑" panose="020B0503020204020204" pitchFamily="34" charset="-122"/>
                <a:ea typeface="微软雅黑" panose="020B0503020204020204" pitchFamily="34" charset="-122"/>
              </a:rPr>
              <a:t>年，建成第一个电子邮件节点，从北京向德国发送第一封邮件</a:t>
            </a:r>
            <a:r>
              <a:rPr lang="zh-CN" altLang="en-US" sz="2000" dirty="0">
                <a:solidFill>
                  <a:srgbClr val="121212"/>
                </a:solidFill>
                <a:latin typeface="微软雅黑" panose="020B0503020204020204" pitchFamily="34" charset="-122"/>
                <a:ea typeface="微软雅黑" panose="020B0503020204020204" pitchFamily="34" charset="-122"/>
              </a:rPr>
              <a:t>成功（越过长城，走向世界）</a:t>
            </a:r>
            <a:endParaRPr lang="en-US" altLang="zh-CN" sz="2000" b="0" i="0" dirty="0">
              <a:solidFill>
                <a:srgbClr val="121212"/>
              </a:solidFill>
              <a:effectLst/>
              <a:latin typeface="微软雅黑" panose="020B0503020204020204" pitchFamily="34" charset="-122"/>
              <a:ea typeface="微软雅黑" panose="020B0503020204020204" pitchFamily="34" charset="-122"/>
            </a:endParaRPr>
          </a:p>
          <a:p>
            <a:pPr lvl="1"/>
            <a:r>
              <a:rPr lang="en-US" altLang="zh-CN" sz="2000" dirty="0">
                <a:solidFill>
                  <a:srgbClr val="121212"/>
                </a:solidFill>
                <a:latin typeface="微软雅黑" panose="020B0503020204020204" pitchFamily="34" charset="-122"/>
                <a:ea typeface="微软雅黑" panose="020B0503020204020204" pitchFamily="34" charset="-122"/>
              </a:rPr>
              <a:t>1994</a:t>
            </a:r>
            <a:r>
              <a:rPr lang="zh-CN" altLang="en-US" sz="2000" dirty="0">
                <a:solidFill>
                  <a:srgbClr val="121212"/>
                </a:solidFill>
                <a:latin typeface="微软雅黑" panose="020B0503020204020204" pitchFamily="34" charset="-122"/>
                <a:ea typeface="微软雅黑" panose="020B0503020204020204" pitchFamily="34" charset="-122"/>
              </a:rPr>
              <a:t>年，我国通过</a:t>
            </a:r>
            <a:r>
              <a:rPr lang="en-US" altLang="zh-CN" sz="2000" dirty="0">
                <a:solidFill>
                  <a:srgbClr val="C00000"/>
                </a:solidFill>
                <a:latin typeface="微软雅黑" panose="020B0503020204020204" pitchFamily="34" charset="-122"/>
                <a:ea typeface="微软雅黑" panose="020B0503020204020204" pitchFamily="34" charset="-122"/>
              </a:rPr>
              <a:t>64K</a:t>
            </a:r>
            <a:r>
              <a:rPr lang="zh-CN" altLang="en-US" sz="2000" dirty="0">
                <a:solidFill>
                  <a:srgbClr val="121212"/>
                </a:solidFill>
                <a:latin typeface="微软雅黑" panose="020B0503020204020204" pitchFamily="34" charset="-122"/>
                <a:ea typeface="微软雅黑" panose="020B0503020204020204" pitchFamily="34" charset="-122"/>
              </a:rPr>
              <a:t>专线接入互联网，全功能连接</a:t>
            </a:r>
            <a:endParaRPr lang="en-US" altLang="zh-CN" sz="2000" dirty="0">
              <a:solidFill>
                <a:srgbClr val="121212"/>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我国网络发展规模</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五大网络：</a:t>
            </a:r>
            <a:r>
              <a:rPr lang="en-US" altLang="zh-CN" sz="2000" dirty="0">
                <a:latin typeface="微软雅黑" panose="020B0503020204020204" pitchFamily="34" charset="-122"/>
                <a:ea typeface="微软雅黑" panose="020B0503020204020204" pitchFamily="34" charset="-122"/>
              </a:rPr>
              <a:t>CHINANET</a:t>
            </a:r>
            <a:r>
              <a:rPr lang="zh-CN" altLang="en-US" sz="2000" dirty="0">
                <a:latin typeface="微软雅黑" panose="020B0503020204020204" pitchFamily="34" charset="-122"/>
                <a:ea typeface="微软雅黑" panose="020B0503020204020204" pitchFamily="34" charset="-122"/>
              </a:rPr>
              <a:t>电信，</a:t>
            </a:r>
            <a:r>
              <a:rPr lang="en-US" altLang="zh-CN" sz="2000" dirty="0">
                <a:latin typeface="微软雅黑" panose="020B0503020204020204" pitchFamily="34" charset="-122"/>
                <a:ea typeface="微软雅黑" panose="020B0503020204020204" pitchFamily="34" charset="-122"/>
              </a:rPr>
              <a:t>UNINET</a:t>
            </a:r>
            <a:r>
              <a:rPr lang="zh-CN" altLang="en-US" sz="2000" dirty="0">
                <a:latin typeface="微软雅黑" panose="020B0503020204020204" pitchFamily="34" charset="-122"/>
                <a:ea typeface="微软雅黑" panose="020B0503020204020204" pitchFamily="34" charset="-122"/>
              </a:rPr>
              <a:t>联通，</a:t>
            </a:r>
            <a:r>
              <a:rPr lang="en-US" altLang="zh-CN" sz="2000" dirty="0">
                <a:latin typeface="微软雅黑" panose="020B0503020204020204" pitchFamily="34" charset="-122"/>
                <a:ea typeface="微软雅黑" panose="020B0503020204020204" pitchFamily="34" charset="-122"/>
              </a:rPr>
              <a:t>CMNET</a:t>
            </a:r>
            <a:r>
              <a:rPr lang="zh-CN" altLang="en-US" sz="2000" dirty="0">
                <a:latin typeface="微软雅黑" panose="020B0503020204020204" pitchFamily="34" charset="-122"/>
                <a:ea typeface="微软雅黑" panose="020B0503020204020204" pitchFamily="34" charset="-122"/>
              </a:rPr>
              <a:t>移动，</a:t>
            </a:r>
            <a:r>
              <a:rPr lang="en-US" altLang="zh-CN" sz="2000" dirty="0">
                <a:latin typeface="微软雅黑" panose="020B0503020204020204" pitchFamily="34" charset="-122"/>
                <a:ea typeface="微软雅黑" panose="020B0503020204020204" pitchFamily="34" charset="-122"/>
              </a:rPr>
              <a:t>CERNET</a:t>
            </a:r>
            <a:r>
              <a:rPr lang="zh-CN" altLang="en-US" sz="2000" dirty="0">
                <a:latin typeface="微软雅黑" panose="020B0503020204020204" pitchFamily="34" charset="-122"/>
                <a:ea typeface="微软雅黑" panose="020B0503020204020204" pitchFamily="34" charset="-122"/>
              </a:rPr>
              <a:t>教育网，</a:t>
            </a:r>
            <a:r>
              <a:rPr lang="en-US" altLang="zh-CN" sz="2000" dirty="0">
                <a:latin typeface="微软雅黑" panose="020B0503020204020204" pitchFamily="34" charset="-122"/>
                <a:ea typeface="微软雅黑" panose="020B0503020204020204" pitchFamily="34" charset="-122"/>
              </a:rPr>
              <a:t>CSTNET</a:t>
            </a:r>
            <a:r>
              <a:rPr lang="zh-CN" altLang="en-US" sz="2000" dirty="0">
                <a:latin typeface="微软雅黑" panose="020B0503020204020204" pitchFamily="34" charset="-122"/>
                <a:ea typeface="微软雅黑" panose="020B0503020204020204" pitchFamily="34" charset="-122"/>
              </a:rPr>
              <a:t>科技网</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2019</a:t>
            </a:r>
            <a:r>
              <a:rPr lang="zh-CN" altLang="en-US" sz="2000" dirty="0">
                <a:latin typeface="微软雅黑" panose="020B0503020204020204" pitchFamily="34" charset="-122"/>
                <a:ea typeface="微软雅黑" panose="020B0503020204020204" pitchFamily="34" charset="-122"/>
              </a:rPr>
              <a:t>年底，我国国际出口带宽超过</a:t>
            </a:r>
            <a:r>
              <a:rPr lang="en-US" altLang="zh-CN" sz="2000" dirty="0">
                <a:latin typeface="微软雅黑" panose="020B0503020204020204" pitchFamily="34" charset="-122"/>
                <a:ea typeface="微软雅黑" panose="020B0503020204020204" pitchFamily="34" charset="-122"/>
              </a:rPr>
              <a:t>8.8T</a:t>
            </a:r>
          </a:p>
          <a:p>
            <a:pPr lvl="1"/>
            <a:r>
              <a:rPr lang="en-US" altLang="zh-CN" sz="2000" dirty="0">
                <a:latin typeface="微软雅黑" panose="020B0503020204020204" pitchFamily="34" charset="-122"/>
                <a:ea typeface="微软雅黑" panose="020B0503020204020204" pitchFamily="34" charset="-122"/>
              </a:rPr>
              <a:t>4G</a:t>
            </a:r>
            <a:r>
              <a:rPr lang="zh-CN" altLang="en-US" sz="2000" dirty="0">
                <a:latin typeface="微软雅黑" panose="020B0503020204020204" pitchFamily="34" charset="-122"/>
                <a:ea typeface="微软雅黑" panose="020B0503020204020204" pitchFamily="34" charset="-122"/>
              </a:rPr>
              <a:t>基站</a:t>
            </a:r>
            <a:r>
              <a:rPr lang="en-US" altLang="zh-CN" sz="2000" dirty="0">
                <a:latin typeface="微软雅黑" panose="020B0503020204020204" pitchFamily="34" charset="-122"/>
                <a:ea typeface="微软雅黑" panose="020B0503020204020204" pitchFamily="34" charset="-122"/>
              </a:rPr>
              <a:t>551</a:t>
            </a:r>
            <a:r>
              <a:rPr lang="zh-CN" altLang="en-US" sz="2000" dirty="0">
                <a:latin typeface="微软雅黑" panose="020B0503020204020204" pitchFamily="34" charset="-122"/>
                <a:ea typeface="微软雅黑" panose="020B0503020204020204" pitchFamily="34" charset="-122"/>
              </a:rPr>
              <a:t>万个（</a:t>
            </a:r>
            <a:r>
              <a:rPr lang="zh-CN" altLang="en-US" sz="2000" b="0" i="0" dirty="0">
                <a:solidFill>
                  <a:srgbClr val="333333"/>
                </a:solidFill>
                <a:effectLst/>
                <a:latin typeface="微软雅黑" panose="020B0503020204020204" pitchFamily="34" charset="-122"/>
                <a:ea typeface="微软雅黑" panose="020B0503020204020204" pitchFamily="34" charset="-122"/>
              </a:rPr>
              <a:t>全球</a:t>
            </a:r>
            <a:r>
              <a:rPr lang="en-US" altLang="zh-CN" sz="2000" b="0" i="0" dirty="0">
                <a:solidFill>
                  <a:srgbClr val="333333"/>
                </a:solidFill>
                <a:effectLst/>
                <a:latin typeface="微软雅黑" panose="020B0503020204020204" pitchFamily="34" charset="-122"/>
                <a:ea typeface="微软雅黑" panose="020B0503020204020204" pitchFamily="34" charset="-122"/>
              </a:rPr>
              <a:t>4G</a:t>
            </a:r>
            <a:r>
              <a:rPr lang="zh-CN" altLang="en-US" sz="2000" b="0" i="0" dirty="0">
                <a:solidFill>
                  <a:srgbClr val="333333"/>
                </a:solidFill>
                <a:effectLst/>
                <a:latin typeface="微软雅黑" panose="020B0503020204020204" pitchFamily="34" charset="-122"/>
                <a:ea typeface="微软雅黑" panose="020B0503020204020204" pitchFamily="34" charset="-122"/>
              </a:rPr>
              <a:t>基站总数不超过</a:t>
            </a:r>
            <a:r>
              <a:rPr lang="en-US" altLang="zh-CN" sz="2000" b="0" i="0" dirty="0">
                <a:solidFill>
                  <a:srgbClr val="333333"/>
                </a:solidFill>
                <a:effectLst/>
                <a:latin typeface="微软雅黑" panose="020B0503020204020204" pitchFamily="34" charset="-122"/>
                <a:ea typeface="微软雅黑" panose="020B0503020204020204" pitchFamily="34" charset="-122"/>
              </a:rPr>
              <a:t>900</a:t>
            </a:r>
            <a:r>
              <a:rPr lang="zh-CN" altLang="en-US" sz="2000" b="0" i="0" dirty="0">
                <a:solidFill>
                  <a:srgbClr val="333333"/>
                </a:solidFill>
                <a:effectLst/>
                <a:latin typeface="微软雅黑" panose="020B0503020204020204" pitchFamily="34" charset="-122"/>
                <a:ea typeface="微软雅黑" panose="020B0503020204020204" pitchFamily="34" charset="-122"/>
              </a:rPr>
              <a:t>万）</a:t>
            </a:r>
            <a:endParaRPr lang="en-US" altLang="zh-CN" sz="2000" b="0" i="0" dirty="0">
              <a:solidFill>
                <a:srgbClr val="333333"/>
              </a:solidFill>
              <a:effectLst/>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2020</a:t>
            </a:r>
            <a:r>
              <a:rPr lang="zh-CN" altLang="en-US" sz="2000" dirty="0">
                <a:latin typeface="微软雅黑" panose="020B0503020204020204" pitchFamily="34" charset="-122"/>
                <a:ea typeface="微软雅黑" panose="020B0503020204020204" pitchFamily="34" charset="-122"/>
              </a:rPr>
              <a:t>年底，</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基站达</a:t>
            </a:r>
            <a:r>
              <a:rPr lang="en-US" altLang="zh-CN" sz="2000" dirty="0">
                <a:latin typeface="微软雅黑" panose="020B0503020204020204" pitchFamily="34" charset="-122"/>
                <a:ea typeface="微软雅黑" panose="020B0503020204020204" pitchFamily="34" charset="-122"/>
              </a:rPr>
              <a:t>70</a:t>
            </a:r>
            <a:r>
              <a:rPr lang="zh-CN" altLang="en-US" sz="2000" dirty="0">
                <a:latin typeface="微软雅黑" panose="020B0503020204020204" pitchFamily="34" charset="-122"/>
                <a:ea typeface="微软雅黑" panose="020B0503020204020204" pitchFamily="34" charset="-122"/>
              </a:rPr>
              <a:t>万个，占全球比重近</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成</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IPv4</a:t>
            </a:r>
            <a:r>
              <a:rPr lang="zh-CN" altLang="en-US" sz="2000" dirty="0">
                <a:latin typeface="微软雅黑" panose="020B0503020204020204" pitchFamily="34" charset="-122"/>
                <a:ea typeface="微软雅黑" panose="020B0503020204020204" pitchFamily="34" charset="-122"/>
              </a:rPr>
              <a:t>地址</a:t>
            </a:r>
            <a:r>
              <a:rPr lang="en-US" altLang="zh-CN" sz="2000" dirty="0">
                <a:latin typeface="微软雅黑" panose="020B0503020204020204" pitchFamily="34" charset="-122"/>
                <a:ea typeface="微软雅黑" panose="020B0503020204020204" pitchFamily="34" charset="-122"/>
              </a:rPr>
              <a:t>3.8</a:t>
            </a:r>
            <a:r>
              <a:rPr lang="zh-CN" altLang="en-US" sz="2000" dirty="0">
                <a:latin typeface="微软雅黑" panose="020B0503020204020204" pitchFamily="34" charset="-122"/>
                <a:ea typeface="微软雅黑" panose="020B0503020204020204" pitchFamily="34" charset="-122"/>
              </a:rPr>
              <a:t>亿个；</a:t>
            </a:r>
            <a:r>
              <a:rPr lang="en-US" altLang="zh-CN" sz="2000" dirty="0">
                <a:latin typeface="微软雅黑" panose="020B0503020204020204" pitchFamily="34" charset="-122"/>
                <a:ea typeface="微软雅黑" panose="020B0503020204020204" pitchFamily="34" charset="-122"/>
              </a:rPr>
              <a:t>IPv6</a:t>
            </a:r>
            <a:r>
              <a:rPr lang="zh-CN" altLang="en-US" sz="2000" dirty="0">
                <a:latin typeface="微软雅黑" panose="020B0503020204020204" pitchFamily="34" charset="-122"/>
                <a:ea typeface="微软雅黑" panose="020B0503020204020204" pitchFamily="34" charset="-122"/>
              </a:rPr>
              <a:t>地址</a:t>
            </a:r>
            <a:r>
              <a:rPr lang="en-US" altLang="zh-CN" sz="2000" dirty="0">
                <a:latin typeface="微软雅黑" panose="020B0503020204020204" pitchFamily="34" charset="-122"/>
                <a:ea typeface="微软雅黑" panose="020B0503020204020204" pitchFamily="34" charset="-122"/>
              </a:rPr>
              <a:t>50903</a:t>
            </a:r>
            <a:r>
              <a:rPr lang="zh-CN" altLang="en-US" sz="2000" dirty="0">
                <a:latin typeface="微软雅黑" panose="020B0503020204020204" pitchFamily="34" charset="-122"/>
                <a:ea typeface="微软雅黑" panose="020B0503020204020204" pitchFamily="34" charset="-122"/>
              </a:rPr>
              <a:t>块</a:t>
            </a:r>
            <a:r>
              <a:rPr lang="en-US" altLang="zh-CN" sz="2000" dirty="0">
                <a:latin typeface="微软雅黑" panose="020B0503020204020204" pitchFamily="34" charset="-122"/>
                <a:ea typeface="微软雅黑" panose="020B0503020204020204" pitchFamily="34" charset="-122"/>
              </a:rPr>
              <a:t>/32</a:t>
            </a:r>
            <a:r>
              <a:rPr lang="zh-CN" altLang="en-US" sz="2000" dirty="0">
                <a:latin typeface="微软雅黑" panose="020B0503020204020204" pitchFamily="34" charset="-122"/>
                <a:ea typeface="微软雅黑" panose="020B0503020204020204" pitchFamily="34" charset="-122"/>
              </a:rPr>
              <a:t>，居世界第二</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.CN</a:t>
            </a:r>
            <a:r>
              <a:rPr lang="zh-CN" altLang="en-US" sz="2000" dirty="0">
                <a:latin typeface="微软雅黑" panose="020B0503020204020204" pitchFamily="34" charset="-122"/>
                <a:ea typeface="微软雅黑" panose="020B0503020204020204" pitchFamily="34" charset="-122"/>
              </a:rPr>
              <a:t>域名数</a:t>
            </a:r>
            <a:r>
              <a:rPr lang="en-US" altLang="zh-CN" sz="2000" dirty="0">
                <a:latin typeface="微软雅黑" panose="020B0503020204020204" pitchFamily="34" charset="-122"/>
                <a:ea typeface="微软雅黑" panose="020B0503020204020204" pitchFamily="34" charset="-122"/>
              </a:rPr>
              <a:t>2304</a:t>
            </a:r>
            <a:r>
              <a:rPr lang="zh-CN" altLang="en-US" sz="2000" dirty="0">
                <a:latin typeface="微软雅黑" panose="020B0503020204020204" pitchFamily="34" charset="-122"/>
                <a:ea typeface="微软雅黑" panose="020B0503020204020204" pitchFamily="34" charset="-122"/>
              </a:rPr>
              <a:t>万个，全球第一</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应用</a:t>
            </a:r>
            <a:r>
              <a:rPr lang="en-US" altLang="zh-CN" sz="2000" dirty="0">
                <a:latin typeface="微软雅黑" panose="020B0503020204020204" pitchFamily="34" charset="-122"/>
                <a:ea typeface="微软雅黑" panose="020B0503020204020204" pitchFamily="34" charset="-122"/>
              </a:rPr>
              <a:t>APP</a:t>
            </a:r>
            <a:r>
              <a:rPr lang="zh-CN" altLang="en-US" sz="2000" dirty="0">
                <a:latin typeface="微软雅黑" panose="020B0503020204020204" pitchFamily="34" charset="-122"/>
                <a:ea typeface="微软雅黑" panose="020B0503020204020204" pitchFamily="34" charset="-122"/>
              </a:rPr>
              <a:t>在架数量达到</a:t>
            </a:r>
            <a:r>
              <a:rPr lang="en-US" altLang="zh-CN" sz="2000" dirty="0">
                <a:latin typeface="微软雅黑" panose="020B0503020204020204" pitchFamily="34" charset="-122"/>
                <a:ea typeface="微软雅黑" panose="020B0503020204020204" pitchFamily="34" charset="-122"/>
              </a:rPr>
              <a:t>359</a:t>
            </a:r>
            <a:r>
              <a:rPr lang="zh-CN" altLang="en-US" sz="2000" dirty="0">
                <a:latin typeface="微软雅黑" panose="020B0503020204020204" pitchFamily="34" charset="-122"/>
                <a:ea typeface="微软雅黑" panose="020B0503020204020204" pitchFamily="34" charset="-122"/>
              </a:rPr>
              <a:t>万款</a:t>
            </a:r>
            <a:endParaRPr lang="en-US" altLang="zh-CN" sz="20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5BE2BB03-2DF0-42C2-A527-8C790DB3E2B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82327" y="4212702"/>
            <a:ext cx="3973497" cy="2169429"/>
          </a:xfrm>
          <a:prstGeom prst="rect">
            <a:avLst/>
          </a:prstGeom>
        </p:spPr>
      </p:pic>
      <p:sp>
        <p:nvSpPr>
          <p:cNvPr id="9" name="文本框 8">
            <a:extLst>
              <a:ext uri="{FF2B5EF4-FFF2-40B4-BE49-F238E27FC236}">
                <a16:creationId xmlns:a16="http://schemas.microsoft.com/office/drawing/2014/main" id="{196F7CE0-EE11-492A-A202-287BF8FB3856}"/>
              </a:ext>
            </a:extLst>
          </p:cNvPr>
          <p:cNvSpPr txBox="1"/>
          <p:nvPr/>
        </p:nvSpPr>
        <p:spPr>
          <a:xfrm>
            <a:off x="8007402" y="1418966"/>
            <a:ext cx="3323346" cy="400110"/>
          </a:xfrm>
          <a:prstGeom prst="rect">
            <a:avLst/>
          </a:prstGeom>
          <a:noFill/>
          <a:ln>
            <a:noFill/>
          </a:ln>
        </p:spPr>
        <p:txBody>
          <a:bodyPr wrap="non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网民约</a:t>
            </a:r>
            <a:r>
              <a:rPr lang="en-US" altLang="zh-CN" sz="2000" dirty="0">
                <a:solidFill>
                  <a:srgbClr val="C00000"/>
                </a:solidFill>
                <a:latin typeface="微软雅黑" panose="020B0503020204020204" pitchFamily="34" charset="-122"/>
                <a:ea typeface="微软雅黑" panose="020B0503020204020204" pitchFamily="34" charset="-122"/>
              </a:rPr>
              <a:t>10</a:t>
            </a:r>
            <a:r>
              <a:rPr lang="zh-CN" altLang="en-US" sz="2000" dirty="0">
                <a:solidFill>
                  <a:srgbClr val="C00000"/>
                </a:solidFill>
                <a:latin typeface="微软雅黑" panose="020B0503020204020204" pitchFamily="34" charset="-122"/>
                <a:ea typeface="微软雅黑" panose="020B0503020204020204" pitchFamily="34" charset="-122"/>
              </a:rPr>
              <a:t>亿人，普及率</a:t>
            </a:r>
            <a:r>
              <a:rPr lang="en-US" altLang="zh-CN" sz="2000" dirty="0">
                <a:solidFill>
                  <a:srgbClr val="C00000"/>
                </a:solidFill>
                <a:latin typeface="微软雅黑" panose="020B0503020204020204" pitchFamily="34" charset="-122"/>
                <a:ea typeface="微软雅黑" panose="020B0503020204020204" pitchFamily="34" charset="-122"/>
              </a:rPr>
              <a:t>70%</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0E365171-045B-4A15-944C-83816B3DAFE4}"/>
              </a:ext>
            </a:extLst>
          </p:cNvPr>
          <p:cNvSpPr txBox="1"/>
          <p:nvPr/>
        </p:nvSpPr>
        <p:spPr>
          <a:xfrm>
            <a:off x="8331499" y="3819224"/>
            <a:ext cx="2900153" cy="400110"/>
          </a:xfrm>
          <a:prstGeom prst="rect">
            <a:avLst/>
          </a:prstGeom>
          <a:noFill/>
          <a:ln>
            <a:noFill/>
          </a:ln>
        </p:spPr>
        <p:txBody>
          <a:bodyPr wrap="non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“健康码”助</a:t>
            </a:r>
            <a:r>
              <a:rPr lang="en-US" altLang="zh-CN" sz="2000" dirty="0">
                <a:solidFill>
                  <a:srgbClr val="C00000"/>
                </a:solidFill>
                <a:latin typeface="微软雅黑" panose="020B0503020204020204" pitchFamily="34" charset="-122"/>
                <a:ea typeface="微软雅黑" panose="020B0503020204020204" pitchFamily="34" charset="-122"/>
              </a:rPr>
              <a:t>9</a:t>
            </a:r>
            <a:r>
              <a:rPr lang="zh-CN" altLang="en-US" sz="2000" dirty="0">
                <a:solidFill>
                  <a:srgbClr val="C00000"/>
                </a:solidFill>
                <a:latin typeface="微软雅黑" panose="020B0503020204020204" pitchFamily="34" charset="-122"/>
                <a:ea typeface="微软雅黑" panose="020B0503020204020204" pitchFamily="34" charset="-122"/>
              </a:rPr>
              <a:t>亿人出行</a:t>
            </a:r>
          </a:p>
        </p:txBody>
      </p:sp>
      <p:sp>
        <p:nvSpPr>
          <p:cNvPr id="11" name="矩形: 圆角 10">
            <a:extLst>
              <a:ext uri="{FF2B5EF4-FFF2-40B4-BE49-F238E27FC236}">
                <a16:creationId xmlns:a16="http://schemas.microsoft.com/office/drawing/2014/main" id="{CBA0B79D-A29C-4EF5-B543-65ACA7C48FA6}"/>
              </a:ext>
            </a:extLst>
          </p:cNvPr>
          <p:cNvSpPr/>
          <p:nvPr/>
        </p:nvSpPr>
        <p:spPr>
          <a:xfrm>
            <a:off x="7587318" y="3771664"/>
            <a:ext cx="4163514" cy="2687757"/>
          </a:xfrm>
          <a:prstGeom prst="roundRect">
            <a:avLst/>
          </a:prstGeom>
          <a:noFill/>
          <a:ln w="19050">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BF8068B-E712-E84C-B09F-771D434EC915}"/>
              </a:ext>
            </a:extLst>
          </p:cNvPr>
          <p:cNvSpPr/>
          <p:nvPr/>
        </p:nvSpPr>
        <p:spPr>
          <a:xfrm>
            <a:off x="5297823" y="5695369"/>
            <a:ext cx="2049859" cy="830997"/>
          </a:xfrm>
          <a:prstGeom prst="rect">
            <a:avLst/>
          </a:prstGeom>
          <a:ln>
            <a:solidFill>
              <a:srgbClr val="C00000"/>
            </a:solidFill>
          </a:ln>
        </p:spPr>
        <p:txBody>
          <a:bodyPr wrap="square">
            <a:spAutoFit/>
          </a:bodyPr>
          <a:lstStyle/>
          <a:p>
            <a:pPr algn="ctr"/>
            <a:r>
              <a:rPr lang="en-US" altLang="zh-CN" sz="2400" dirty="0">
                <a:solidFill>
                  <a:srgbClr val="C00000"/>
                </a:solidFill>
                <a:latin typeface="微软雅黑" panose="020B0503020204020204" pitchFamily="34" charset="-122"/>
                <a:ea typeface="微软雅黑" panose="020B0503020204020204" pitchFamily="34" charset="-122"/>
                <a:sym typeface="Wingdings" pitchFamily="2" charset="2"/>
              </a:rPr>
              <a:t></a:t>
            </a:r>
            <a:r>
              <a:rPr lang="zh-CN" altLang="en-US" sz="2400" dirty="0">
                <a:solidFill>
                  <a:srgbClr val="C00000"/>
                </a:solidFill>
                <a:latin typeface="微软雅黑" panose="020B0503020204020204" pitchFamily="34" charset="-122"/>
                <a:ea typeface="微软雅黑" panose="020B0503020204020204" pitchFamily="34" charset="-122"/>
              </a:rPr>
              <a:t>很幸运</a:t>
            </a:r>
            <a:r>
              <a:rPr lang="en-US" altLang="zh-CN" sz="2400" dirty="0">
                <a:solidFill>
                  <a:srgbClr val="C00000"/>
                </a:solidFill>
                <a:latin typeface="微软雅黑" panose="020B0503020204020204" pitchFamily="34" charset="-122"/>
                <a:ea typeface="微软雅黑" panose="020B0503020204020204" pitchFamily="34" charset="-122"/>
                <a:sym typeface="Wingdings" pitchFamily="2" charset="2"/>
              </a:rPr>
              <a:t></a:t>
            </a:r>
            <a:endParaRPr lang="en-US" altLang="zh-CN" sz="2400" dirty="0">
              <a:solidFill>
                <a:srgbClr val="C00000"/>
              </a:solidFill>
              <a:latin typeface="微软雅黑" panose="020B0503020204020204" pitchFamily="34" charset="-122"/>
              <a:ea typeface="微软雅黑" panose="020B0503020204020204" pitchFamily="34" charset="-122"/>
            </a:endParaRPr>
          </a:p>
          <a:p>
            <a:pPr algn="ctr"/>
            <a:r>
              <a:rPr lang="zh-CN" altLang="en-US" sz="2400" dirty="0">
                <a:solidFill>
                  <a:srgbClr val="C00000"/>
                </a:solidFill>
                <a:latin typeface="微软雅黑" panose="020B0503020204020204" pitchFamily="34" charset="-122"/>
                <a:ea typeface="微软雅黑" panose="020B0503020204020204" pitchFamily="34" charset="-122"/>
              </a:rPr>
              <a:t>能看懂中文</a:t>
            </a:r>
            <a:endParaRPr lang="zh-CN" altLang="en-US" sz="2400" dirty="0">
              <a:solidFill>
                <a:srgbClr val="C00000"/>
              </a:solidFill>
            </a:endParaRPr>
          </a:p>
        </p:txBody>
      </p:sp>
      <p:sp>
        <p:nvSpPr>
          <p:cNvPr id="13" name="灯片编号占位符 12">
            <a:extLst>
              <a:ext uri="{FF2B5EF4-FFF2-40B4-BE49-F238E27FC236}">
                <a16:creationId xmlns:a16="http://schemas.microsoft.com/office/drawing/2014/main" id="{99C2A135-3EC8-394F-8CD9-F0E5FE936240}"/>
              </a:ext>
            </a:extLst>
          </p:cNvPr>
          <p:cNvSpPr>
            <a:spLocks noGrp="1"/>
          </p:cNvSpPr>
          <p:nvPr>
            <p:ph type="sldNum" sz="quarter" idx="12"/>
          </p:nvPr>
        </p:nvSpPr>
        <p:spPr/>
        <p:txBody>
          <a:bodyPr/>
          <a:lstStyle/>
          <a:p>
            <a:fld id="{8D4D1E41-7A09-AB4A-A4E1-09765ADA2698}" type="slidenum">
              <a:rPr kumimoji="1" lang="zh-CN" altLang="en-US" smtClean="0"/>
              <a:t>109</a:t>
            </a:fld>
            <a:endParaRPr kumimoji="1" lang="zh-CN" altLang="en-US" dirty="0"/>
          </a:p>
        </p:txBody>
      </p:sp>
      <p:sp>
        <p:nvSpPr>
          <p:cNvPr id="14" name="文本框 13">
            <a:extLst>
              <a:ext uri="{FF2B5EF4-FFF2-40B4-BE49-F238E27FC236}">
                <a16:creationId xmlns:a16="http://schemas.microsoft.com/office/drawing/2014/main" id="{A13E7D86-D587-3044-8713-9CD1E10962C8}"/>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22175867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66EBB8-AEC5-4ABC-95E3-90D4BD9FEF42}"/>
              </a:ext>
            </a:extLst>
          </p:cNvPr>
          <p:cNvSpPr>
            <a:spLocks noGrp="1"/>
          </p:cNvSpPr>
          <p:nvPr>
            <p:ph type="title"/>
          </p:nvPr>
        </p:nvSpPr>
        <p:spPr/>
        <p:txBody>
          <a:bodyPr>
            <a:normAutofit/>
          </a:bodyPr>
          <a:lstStyle/>
          <a:p>
            <a:r>
              <a:rPr lang="zh-CN" altLang="en-US" dirty="0"/>
              <a:t>我国的互联网发展情况</a:t>
            </a:r>
          </a:p>
        </p:txBody>
      </p:sp>
      <p:sp>
        <p:nvSpPr>
          <p:cNvPr id="3" name="内容占位符 2">
            <a:extLst>
              <a:ext uri="{FF2B5EF4-FFF2-40B4-BE49-F238E27FC236}">
                <a16:creationId xmlns:a16="http://schemas.microsoft.com/office/drawing/2014/main" id="{37EFC95C-8CFB-4781-BEA5-F57A940BC093}"/>
              </a:ext>
            </a:extLst>
          </p:cNvPr>
          <p:cNvSpPr>
            <a:spLocks noGrp="1"/>
          </p:cNvSpPr>
          <p:nvPr>
            <p:ph idx="1"/>
          </p:nvPr>
        </p:nvSpPr>
        <p:spPr>
          <a:xfrm>
            <a:off x="704251" y="1371659"/>
            <a:ext cx="6443681" cy="5208217"/>
          </a:xfrm>
        </p:spPr>
        <p:txBody>
          <a:bodyPr>
            <a:normAutofit/>
          </a:bodyPr>
          <a:lstStyle/>
          <a:p>
            <a:r>
              <a:rPr lang="zh-CN" altLang="en-US" sz="2400" dirty="0">
                <a:solidFill>
                  <a:srgbClr val="000000"/>
                </a:solidFill>
                <a:latin typeface="微软雅黑" panose="020B0503020204020204" pitchFamily="34" charset="-122"/>
                <a:ea typeface="微软雅黑" panose="020B0503020204020204" pitchFamily="34" charset="-122"/>
              </a:rPr>
              <a:t>中国下一代互联网示范工程</a:t>
            </a:r>
            <a:r>
              <a:rPr lang="en-US" altLang="zh-CN" sz="2400" dirty="0">
                <a:solidFill>
                  <a:srgbClr val="000000"/>
                </a:solidFill>
                <a:latin typeface="微软雅黑" panose="020B0503020204020204" pitchFamily="34" charset="-122"/>
                <a:ea typeface="微软雅黑" panose="020B0503020204020204" pitchFamily="34" charset="-122"/>
              </a:rPr>
              <a:t>CNGI</a:t>
            </a:r>
          </a:p>
          <a:p>
            <a:pPr lvl="1"/>
            <a:r>
              <a:rPr lang="en-US" altLang="zh-CN" sz="2000" dirty="0">
                <a:solidFill>
                  <a:srgbClr val="000000"/>
                </a:solidFill>
                <a:latin typeface="微软雅黑" panose="020B0503020204020204" pitchFamily="34" charset="-122"/>
                <a:ea typeface="微软雅黑" panose="020B0503020204020204" pitchFamily="34" charset="-122"/>
              </a:rPr>
              <a:t>CNGI: China's Next Generation Internet</a:t>
            </a:r>
          </a:p>
          <a:p>
            <a:pPr lvl="1"/>
            <a:r>
              <a:rPr lang="zh-CN" altLang="en-US" sz="2000" dirty="0">
                <a:solidFill>
                  <a:srgbClr val="000000"/>
                </a:solidFill>
                <a:latin typeface="微软雅黑" panose="020B0503020204020204" pitchFamily="34" charset="-122"/>
                <a:ea typeface="微软雅黑" panose="020B0503020204020204" pitchFamily="34" charset="-122"/>
              </a:rPr>
              <a:t>在国际上首次提出并研制成功大型纯</a:t>
            </a:r>
            <a:r>
              <a:rPr lang="en-US" altLang="zh-CN" sz="2000" dirty="0">
                <a:solidFill>
                  <a:srgbClr val="C00000"/>
                </a:solidFill>
                <a:latin typeface="微软雅黑" panose="020B0503020204020204" pitchFamily="34" charset="-122"/>
                <a:ea typeface="微软雅黑" panose="020B0503020204020204" pitchFamily="34" charset="-122"/>
              </a:rPr>
              <a:t>IPv6</a:t>
            </a:r>
            <a:r>
              <a:rPr lang="zh-CN" altLang="en-US" sz="2000" dirty="0">
                <a:solidFill>
                  <a:srgbClr val="000000"/>
                </a:solidFill>
                <a:latin typeface="微软雅黑" panose="020B0503020204020204" pitchFamily="34" charset="-122"/>
                <a:ea typeface="微软雅黑" panose="020B0503020204020204" pitchFamily="34" charset="-122"/>
              </a:rPr>
              <a:t>互联网主干网</a:t>
            </a:r>
            <a:r>
              <a:rPr lang="en-US" altLang="zh-CN" sz="2000" dirty="0">
                <a:solidFill>
                  <a:srgbClr val="000000"/>
                </a:solidFill>
                <a:latin typeface="微软雅黑" panose="020B0503020204020204" pitchFamily="34" charset="-122"/>
                <a:ea typeface="微软雅黑" panose="020B0503020204020204" pitchFamily="34" charset="-122"/>
              </a:rPr>
              <a:t>CNGI-CERNET2</a:t>
            </a:r>
            <a:endParaRPr lang="zh-CN" altLang="en-US"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“宽带中国”的国家战略</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三个阶段：全面提速（</a:t>
            </a:r>
            <a:r>
              <a:rPr lang="en-US" altLang="zh-CN" sz="2000" dirty="0">
                <a:latin typeface="微软雅黑" panose="020B0503020204020204" pitchFamily="34" charset="-122"/>
                <a:ea typeface="微软雅黑" panose="020B0503020204020204" pitchFamily="34" charset="-122"/>
              </a:rPr>
              <a:t>2013</a:t>
            </a:r>
            <a:r>
              <a:rPr lang="zh-CN" altLang="en-US" sz="2000" dirty="0">
                <a:latin typeface="微软雅黑" panose="020B0503020204020204" pitchFamily="34" charset="-122"/>
                <a:ea typeface="微软雅黑" panose="020B0503020204020204" pitchFamily="34" charset="-122"/>
              </a:rPr>
              <a:t>年）、推广普及（</a:t>
            </a:r>
            <a:r>
              <a:rPr lang="en-US" altLang="zh-CN" sz="2000" dirty="0">
                <a:latin typeface="微软雅黑" panose="020B0503020204020204" pitchFamily="34" charset="-122"/>
                <a:ea typeface="微软雅黑" panose="020B0503020204020204" pitchFamily="34" charset="-122"/>
              </a:rPr>
              <a:t>2014-2015</a:t>
            </a:r>
            <a:r>
              <a:rPr lang="zh-CN" altLang="en-US" sz="2000" dirty="0">
                <a:latin typeface="微软雅黑" panose="020B0503020204020204" pitchFamily="34" charset="-122"/>
                <a:ea typeface="微软雅黑" panose="020B0503020204020204" pitchFamily="34" charset="-122"/>
              </a:rPr>
              <a:t>）、优化升级（</a:t>
            </a:r>
            <a:r>
              <a:rPr lang="en-US" altLang="zh-CN" sz="2000" dirty="0">
                <a:latin typeface="微软雅黑" panose="020B0503020204020204" pitchFamily="34" charset="-122"/>
                <a:ea typeface="微软雅黑" panose="020B0503020204020204" pitchFamily="34" charset="-122"/>
              </a:rPr>
              <a:t>2016-2020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技术变革：拨号上网</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双绞线上网</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光纤入户</a:t>
            </a:r>
            <a:endParaRPr lang="en-US" altLang="zh-CN" sz="2000" dirty="0">
              <a:latin typeface="微软雅黑" panose="020B0503020204020204" pitchFamily="34" charset="-122"/>
              <a:ea typeface="微软雅黑" panose="020B0503020204020204" pitchFamily="34" charset="-122"/>
            </a:endParaRPr>
          </a:p>
          <a:p>
            <a:r>
              <a:rPr lang="zh-CN" altLang="en-US" sz="2400" dirty="0"/>
              <a:t>工信部颁发</a:t>
            </a:r>
            <a:r>
              <a:rPr lang="zh-CN" altLang="en-US" sz="2400" dirty="0">
                <a:latin typeface="微软雅黑" panose="020B0503020204020204" pitchFamily="34" charset="-122"/>
                <a:ea typeface="微软雅黑" panose="020B0503020204020204" pitchFamily="34" charset="-122"/>
              </a:rPr>
              <a:t>移动通信牌照</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t>2009</a:t>
            </a:r>
            <a:r>
              <a:rPr lang="zh-CN" altLang="en-US" sz="2000" dirty="0"/>
              <a:t>年，三大运营商（中国移动、中国电信、</a:t>
            </a:r>
            <a:br>
              <a:rPr lang="en-US" altLang="zh-CN" sz="2000" dirty="0"/>
            </a:br>
            <a:r>
              <a:rPr lang="zh-CN" altLang="en-US" sz="2000" dirty="0"/>
              <a:t>中国联通）获</a:t>
            </a:r>
            <a:r>
              <a:rPr lang="en-US" altLang="zh-CN" sz="2000" dirty="0"/>
              <a:t>3G</a:t>
            </a:r>
            <a:r>
              <a:rPr lang="zh-CN" altLang="en-US" sz="2000" dirty="0"/>
              <a:t>牌照（移动负责</a:t>
            </a:r>
            <a:r>
              <a:rPr lang="en-US" altLang="zh-CN" sz="2000" dirty="0"/>
              <a:t>TD-SCDMA</a:t>
            </a:r>
            <a:r>
              <a:rPr lang="zh-CN" altLang="en-US" sz="2000" dirty="0"/>
              <a:t>）</a:t>
            </a:r>
            <a:endParaRPr lang="en-US" altLang="zh-CN" sz="2000" dirty="0"/>
          </a:p>
          <a:p>
            <a:pPr lvl="1"/>
            <a:r>
              <a:rPr lang="en-US" altLang="zh-CN" sz="2000" dirty="0"/>
              <a:t>2013</a:t>
            </a:r>
            <a:r>
              <a:rPr lang="zh-CN" altLang="en-US" sz="2000" dirty="0"/>
              <a:t>年，三大运营商获</a:t>
            </a:r>
            <a:r>
              <a:rPr lang="en-US" altLang="zh-CN" sz="2000" dirty="0"/>
              <a:t>4G</a:t>
            </a:r>
            <a:r>
              <a:rPr lang="zh-CN" altLang="en-US" sz="2000" dirty="0"/>
              <a:t>牌照（</a:t>
            </a:r>
            <a:r>
              <a:rPr lang="en-US" altLang="zh-CN" sz="2000" dirty="0"/>
              <a:t>TD-LTE</a:t>
            </a:r>
            <a:r>
              <a:rPr lang="zh-CN" altLang="en-US" sz="2000" dirty="0"/>
              <a:t>）</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2019</a:t>
            </a:r>
            <a:r>
              <a:rPr lang="zh-CN" altLang="en-US" sz="2000" dirty="0">
                <a:latin typeface="微软雅黑" panose="020B0503020204020204" pitchFamily="34" charset="-122"/>
                <a:ea typeface="微软雅黑" panose="020B0503020204020204" pitchFamily="34" charset="-122"/>
              </a:rPr>
              <a:t>年，</a:t>
            </a:r>
            <a:r>
              <a:rPr lang="zh-CN" altLang="en-US" sz="2000" dirty="0"/>
              <a:t>三大运营商和</a:t>
            </a:r>
            <a:r>
              <a:rPr lang="zh-CN" altLang="en-US" sz="2000" dirty="0">
                <a:latin typeface="微软雅黑" panose="020B0503020204020204" pitchFamily="34" charset="-122"/>
                <a:ea typeface="微软雅黑" panose="020B0503020204020204" pitchFamily="34" charset="-122"/>
              </a:rPr>
              <a:t>中国广电获</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商用牌照</a:t>
            </a:r>
            <a:endParaRPr lang="en-US" altLang="zh-CN" sz="2000" b="0" i="0" dirty="0">
              <a:solidFill>
                <a:srgbClr val="000000"/>
              </a:solidFill>
              <a:effectLst/>
              <a:latin typeface="微软雅黑" panose="020B0503020204020204" pitchFamily="34" charset="-122"/>
              <a:ea typeface="微软雅黑" panose="020B0503020204020204" pitchFamily="34" charset="-122"/>
            </a:endParaRPr>
          </a:p>
        </p:txBody>
      </p:sp>
      <p:pic>
        <p:nvPicPr>
          <p:cNvPr id="2050" name="Picture 2">
            <a:extLst>
              <a:ext uri="{FF2B5EF4-FFF2-40B4-BE49-F238E27FC236}">
                <a16:creationId xmlns:a16="http://schemas.microsoft.com/office/drawing/2014/main" id="{859F92B0-F232-264E-90A1-4D06A5093E9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348841" y="1396391"/>
            <a:ext cx="4271075" cy="237272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折角 12">
            <a:extLst>
              <a:ext uri="{FF2B5EF4-FFF2-40B4-BE49-F238E27FC236}">
                <a16:creationId xmlns:a16="http://schemas.microsoft.com/office/drawing/2014/main" id="{6091730F-22C2-024E-9DD3-CAA0DCD1FD3C}"/>
              </a:ext>
            </a:extLst>
          </p:cNvPr>
          <p:cNvSpPr/>
          <p:nvPr/>
        </p:nvSpPr>
        <p:spPr>
          <a:xfrm>
            <a:off x="7237144" y="3921291"/>
            <a:ext cx="4523788" cy="2469783"/>
          </a:xfrm>
          <a:prstGeom prst="foldedCorner">
            <a:avLst>
              <a:gd name="adj" fmla="val 351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36000" bIns="0" rtlCol="0" anchor="ctr"/>
          <a:lstStyle/>
          <a:p>
            <a:pPr algn="ctr"/>
            <a:r>
              <a:rPr lang="zh-CN" altLang="en-US" sz="2400" dirty="0">
                <a:solidFill>
                  <a:schemeClr val="tx1"/>
                </a:solidFill>
                <a:latin typeface="微软雅黑" panose="020B0503020204020204" pitchFamily="34" charset="-122"/>
                <a:ea typeface="微软雅黑" panose="020B0503020204020204" pitchFamily="34" charset="-122"/>
              </a:rPr>
              <a:t>下一代是什么？</a:t>
            </a:r>
            <a:endParaRPr lang="en-US" altLang="zh-CN" sz="2400" dirty="0">
              <a:solidFill>
                <a:schemeClr val="tx1"/>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下一代网络</a:t>
            </a:r>
            <a:r>
              <a:rPr lang="en-US" altLang="zh-CN" sz="2000" dirty="0">
                <a:solidFill>
                  <a:schemeClr val="tx1"/>
                </a:solidFill>
                <a:latin typeface="微软雅黑" panose="020B0503020204020204" pitchFamily="34" charset="-122"/>
                <a:ea typeface="微软雅黑" panose="020B0503020204020204" pitchFamily="34" charset="-122"/>
              </a:rPr>
              <a:t>NGN</a:t>
            </a:r>
            <a:br>
              <a:rPr lang="en-US" altLang="zh-CN" sz="2000" dirty="0">
                <a:solidFill>
                  <a:schemeClr val="tx1"/>
                </a:solidFill>
                <a:latin typeface="微软雅黑" panose="020B0503020204020204" pitchFamily="34" charset="-122"/>
                <a:ea typeface="微软雅黑" panose="020B0503020204020204" pitchFamily="34" charset="-122"/>
              </a:rPr>
            </a:br>
            <a:r>
              <a:rPr lang="en-US" altLang="zh-CN" sz="2000" dirty="0">
                <a:solidFill>
                  <a:schemeClr val="tx1"/>
                </a:solidFill>
                <a:latin typeface="微软雅黑" panose="020B0503020204020204" pitchFamily="34" charset="-122"/>
                <a:ea typeface="微软雅黑" panose="020B0503020204020204" pitchFamily="34" charset="-122"/>
              </a:rPr>
              <a:t>Next-generation Network</a:t>
            </a:r>
          </a:p>
          <a:p>
            <a:pPr marL="285750" indent="-285750">
              <a:lnSpc>
                <a:spcPct val="120000"/>
              </a:lnSpc>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下一代互联网</a:t>
            </a:r>
            <a:r>
              <a:rPr lang="en-US" altLang="zh-CN" sz="2000" dirty="0">
                <a:solidFill>
                  <a:schemeClr val="tx1"/>
                </a:solidFill>
                <a:latin typeface="微软雅黑" panose="020B0503020204020204" pitchFamily="34" charset="-122"/>
                <a:ea typeface="微软雅黑" panose="020B0503020204020204" pitchFamily="34" charset="-122"/>
              </a:rPr>
              <a:t>NGI</a:t>
            </a:r>
            <a:r>
              <a:rPr lang="zh-CN" altLang="en-US" sz="2000" dirty="0">
                <a:solidFill>
                  <a:schemeClr val="tx1"/>
                </a:solidFill>
                <a:latin typeface="微软雅黑" panose="020B0503020204020204" pitchFamily="34" charset="-122"/>
                <a:ea typeface="微软雅黑" panose="020B0503020204020204" pitchFamily="34" charset="-122"/>
              </a:rPr>
              <a:t> </a:t>
            </a:r>
            <a:br>
              <a:rPr lang="en-US" altLang="zh-CN" sz="2000" dirty="0">
                <a:solidFill>
                  <a:schemeClr val="tx1"/>
                </a:solidFill>
                <a:latin typeface="微软雅黑" panose="020B0503020204020204" pitchFamily="34" charset="-122"/>
                <a:ea typeface="微软雅黑" panose="020B0503020204020204" pitchFamily="34" charset="-122"/>
              </a:rPr>
            </a:br>
            <a:r>
              <a:rPr lang="en-US" altLang="zh-CN" sz="2000" dirty="0">
                <a:solidFill>
                  <a:schemeClr val="tx1"/>
                </a:solidFill>
                <a:latin typeface="微软雅黑" panose="020B0503020204020204" pitchFamily="34" charset="-122"/>
                <a:ea typeface="微软雅黑" panose="020B0503020204020204" pitchFamily="34" charset="-122"/>
              </a:rPr>
              <a:t>Next-generation Internet</a:t>
            </a:r>
          </a:p>
          <a:p>
            <a:pPr marL="285750" indent="-285750">
              <a:lnSpc>
                <a:spcPct val="120000"/>
              </a:lnSpc>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谁是真正的基础？谁是谁的应用？</a:t>
            </a:r>
          </a:p>
        </p:txBody>
      </p:sp>
      <p:sp>
        <p:nvSpPr>
          <p:cNvPr id="5" name="灯片编号占位符 4">
            <a:extLst>
              <a:ext uri="{FF2B5EF4-FFF2-40B4-BE49-F238E27FC236}">
                <a16:creationId xmlns:a16="http://schemas.microsoft.com/office/drawing/2014/main" id="{6225F0AF-D578-9142-B152-6FD27786C35E}"/>
              </a:ext>
            </a:extLst>
          </p:cNvPr>
          <p:cNvSpPr>
            <a:spLocks noGrp="1"/>
          </p:cNvSpPr>
          <p:nvPr>
            <p:ph type="sldNum" sz="quarter" idx="12"/>
          </p:nvPr>
        </p:nvSpPr>
        <p:spPr/>
        <p:txBody>
          <a:bodyPr/>
          <a:lstStyle/>
          <a:p>
            <a:fld id="{8D4D1E41-7A09-AB4A-A4E1-09765ADA2698}" type="slidenum">
              <a:rPr kumimoji="1" lang="zh-CN" altLang="en-US" smtClean="0"/>
              <a:t>110</a:t>
            </a:fld>
            <a:endParaRPr kumimoji="1" lang="zh-CN" altLang="en-US" dirty="0"/>
          </a:p>
        </p:txBody>
      </p:sp>
      <p:sp>
        <p:nvSpPr>
          <p:cNvPr id="8" name="文本框 7">
            <a:extLst>
              <a:ext uri="{FF2B5EF4-FFF2-40B4-BE49-F238E27FC236}">
                <a16:creationId xmlns:a16="http://schemas.microsoft.com/office/drawing/2014/main" id="{FBA7497E-A8FA-B14A-8FB9-642C29F7B12C}"/>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35555167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5657BA2-2634-4D72-A5DA-2B0C9EE81D30}"/>
              </a:ext>
            </a:extLst>
          </p:cNvPr>
          <p:cNvPicPr>
            <a:picLocks noChangeAspect="1"/>
          </p:cNvPicPr>
          <p:nvPr/>
        </p:nvPicPr>
        <p:blipFill>
          <a:blip r:embed="rId3"/>
          <a:stretch>
            <a:fillRect/>
          </a:stretch>
        </p:blipFill>
        <p:spPr>
          <a:xfrm>
            <a:off x="7485246" y="1078671"/>
            <a:ext cx="4399207" cy="3526944"/>
          </a:xfrm>
          <a:prstGeom prst="rect">
            <a:avLst/>
          </a:prstGeom>
        </p:spPr>
      </p:pic>
      <p:sp>
        <p:nvSpPr>
          <p:cNvPr id="2" name="标题 1">
            <a:extLst>
              <a:ext uri="{FF2B5EF4-FFF2-40B4-BE49-F238E27FC236}">
                <a16:creationId xmlns:a16="http://schemas.microsoft.com/office/drawing/2014/main" id="{45CEDE40-B534-4E0D-AB99-A0FCBECC942A}"/>
              </a:ext>
            </a:extLst>
          </p:cNvPr>
          <p:cNvSpPr>
            <a:spLocks noGrp="1"/>
          </p:cNvSpPr>
          <p:nvPr>
            <p:ph type="title"/>
          </p:nvPr>
        </p:nvSpPr>
        <p:spPr>
          <a:xfrm>
            <a:off x="1307507" y="365126"/>
            <a:ext cx="9582166" cy="879086"/>
          </a:xfrm>
        </p:spPr>
        <p:txBody>
          <a:bodyPr>
            <a:normAutofit/>
          </a:bodyPr>
          <a:lstStyle/>
          <a:p>
            <a:r>
              <a:rPr lang="zh-CN" altLang="zh-CN" sz="3700" dirty="0">
                <a:latin typeface="微软雅黑" panose="020B0503020204020204" pitchFamily="34" charset="-122"/>
                <a:ea typeface="微软雅黑" panose="020B0503020204020204" pitchFamily="34" charset="-122"/>
              </a:rPr>
              <a:t>中国教育和科研计算机网</a:t>
            </a:r>
            <a:r>
              <a:rPr lang="en-US" altLang="zh-CN" sz="3700" dirty="0">
                <a:latin typeface="微软雅黑" panose="020B0503020204020204" pitchFamily="34" charset="-122"/>
                <a:ea typeface="微软雅黑" panose="020B0503020204020204" pitchFamily="34" charset="-122"/>
              </a:rPr>
              <a:t>CERNET</a:t>
            </a:r>
            <a:endParaRPr lang="zh-CN" altLang="en-US" sz="3700" dirty="0"/>
          </a:p>
        </p:txBody>
      </p:sp>
      <p:sp>
        <p:nvSpPr>
          <p:cNvPr id="3" name="内容占位符 2">
            <a:extLst>
              <a:ext uri="{FF2B5EF4-FFF2-40B4-BE49-F238E27FC236}">
                <a16:creationId xmlns:a16="http://schemas.microsoft.com/office/drawing/2014/main" id="{8F798F5D-5A47-49FE-AF22-473EF71573CA}"/>
              </a:ext>
            </a:extLst>
          </p:cNvPr>
          <p:cNvSpPr>
            <a:spLocks noGrp="1"/>
          </p:cNvSpPr>
          <p:nvPr>
            <p:ph idx="1"/>
          </p:nvPr>
        </p:nvSpPr>
        <p:spPr>
          <a:xfrm>
            <a:off x="733246" y="1279565"/>
            <a:ext cx="7104468" cy="4898389"/>
          </a:xfrm>
        </p:spPr>
        <p:txBody>
          <a:bodyPr>
            <a:noAutofit/>
          </a:bodyPr>
          <a:lstStyle/>
          <a:p>
            <a:pPr>
              <a:spcBef>
                <a:spcPts val="400"/>
              </a:spcBef>
            </a:pPr>
            <a:r>
              <a:rPr lang="zh-CN" altLang="en-US" sz="2000" b="0" i="0" dirty="0">
                <a:effectLst/>
                <a:latin typeface="微软雅黑" panose="020B0503020204020204" pitchFamily="34" charset="-122"/>
                <a:ea typeface="微软雅黑" panose="020B0503020204020204" pitchFamily="34" charset="-122"/>
              </a:rPr>
              <a:t>始建于</a:t>
            </a:r>
            <a:r>
              <a:rPr lang="en-US" altLang="zh-CN" sz="2000" b="0" i="0" dirty="0">
                <a:effectLst/>
                <a:latin typeface="微软雅黑" panose="020B0503020204020204" pitchFamily="34" charset="-122"/>
                <a:ea typeface="微软雅黑" panose="020B0503020204020204" pitchFamily="34" charset="-122"/>
              </a:rPr>
              <a:t>1994</a:t>
            </a:r>
            <a:r>
              <a:rPr lang="zh-CN" altLang="en-US" sz="2000" b="0" i="0" dirty="0">
                <a:effectLst/>
                <a:latin typeface="微软雅黑" panose="020B0503020204020204" pitchFamily="34" charset="-122"/>
                <a:ea typeface="微软雅黑" panose="020B0503020204020204" pitchFamily="34" charset="-122"/>
              </a:rPr>
              <a:t>年的全球最大学术互联网，教育部管理，</a:t>
            </a:r>
            <a:br>
              <a:rPr lang="en-US" altLang="zh-CN" sz="2000" b="0" i="0" dirty="0">
                <a:effectLst/>
                <a:latin typeface="微软雅黑" panose="020B0503020204020204" pitchFamily="34" charset="-122"/>
                <a:ea typeface="微软雅黑" panose="020B0503020204020204" pitchFamily="34" charset="-122"/>
              </a:rPr>
            </a:br>
            <a:r>
              <a:rPr lang="zh-CN" altLang="en-US" sz="2000" b="0" i="0" dirty="0">
                <a:effectLst/>
                <a:latin typeface="微软雅黑" panose="020B0503020204020204" pitchFamily="34" charset="-122"/>
                <a:ea typeface="微软雅黑" panose="020B0503020204020204" pitchFamily="34" charset="-122"/>
              </a:rPr>
              <a:t>清华大学等高校承担建设和运行</a:t>
            </a:r>
            <a:endParaRPr lang="en-US" altLang="zh-CN" sz="2000" b="0" i="0" dirty="0">
              <a:effectLst/>
              <a:latin typeface="微软雅黑" panose="020B0503020204020204" pitchFamily="34" charset="-122"/>
              <a:ea typeface="微软雅黑" panose="020B0503020204020204" pitchFamily="34" charset="-122"/>
            </a:endParaRPr>
          </a:p>
          <a:p>
            <a:pPr>
              <a:spcBef>
                <a:spcPts val="400"/>
              </a:spcBef>
            </a:pP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个教育科研单位，</a:t>
            </a: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万人，全国</a:t>
            </a:r>
            <a:r>
              <a:rPr lang="en-US" altLang="zh-CN" sz="2000" dirty="0">
                <a:latin typeface="微软雅黑" panose="020B0503020204020204" pitchFamily="34" charset="-122"/>
                <a:ea typeface="微软雅黑" panose="020B0503020204020204" pitchFamily="34" charset="-122"/>
              </a:rPr>
              <a:t>41</a:t>
            </a:r>
            <a:r>
              <a:rPr lang="zh-CN" altLang="en-US" sz="2000" dirty="0">
                <a:latin typeface="微软雅黑" panose="020B0503020204020204" pitchFamily="34" charset="-122"/>
                <a:ea typeface="微软雅黑" panose="020B0503020204020204" pitchFamily="34" charset="-122"/>
              </a:rPr>
              <a:t>个主节点院校</a:t>
            </a:r>
            <a:endParaRPr lang="en-US" altLang="zh-CN"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国家网络中心： 清华大学</a:t>
            </a:r>
          </a:p>
          <a:p>
            <a:pPr>
              <a:spcBef>
                <a:spcPts val="400"/>
              </a:spcBef>
            </a:pPr>
            <a:r>
              <a:rPr lang="zh-CN" altLang="en-US" sz="2000" dirty="0">
                <a:latin typeface="微软雅黑" panose="020B0503020204020204" pitchFamily="34" charset="-122"/>
                <a:ea typeface="微软雅黑" panose="020B0503020204020204" pitchFamily="34" charset="-122"/>
              </a:rPr>
              <a:t>地区网络中心： </a:t>
            </a:r>
            <a:r>
              <a:rPr lang="zh-CN" altLang="en-US" sz="1600" dirty="0">
                <a:latin typeface="微软雅黑" panose="020B0503020204020204" pitchFamily="34" charset="-122"/>
                <a:ea typeface="微软雅黑" panose="020B0503020204020204" pitchFamily="34" charset="-122"/>
              </a:rPr>
              <a:t>北京大学 上海交通大学 西安交通大学 东南大学 </a:t>
            </a:r>
            <a:br>
              <a:rPr lang="en-US" altLang="zh-CN" sz="1600" dirty="0">
                <a:latin typeface="微软雅黑" panose="020B0503020204020204" pitchFamily="34" charset="-122"/>
                <a:ea typeface="微软雅黑" panose="020B0503020204020204" pitchFamily="34" charset="-122"/>
              </a:rPr>
            </a:br>
            <a:r>
              <a:rPr lang="zh-CN" altLang="en-US" sz="1600" dirty="0">
                <a:latin typeface="微软雅黑" panose="020B0503020204020204" pitchFamily="34" charset="-122"/>
                <a:ea typeface="微软雅黑" panose="020B0503020204020204" pitchFamily="34" charset="-122"/>
              </a:rPr>
              <a:t>华南理工大学 东北大学 北京邮电大学 华中科技大学 电子科技大学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华北主节点： </a:t>
            </a:r>
            <a:r>
              <a:rPr lang="zh-CN" altLang="en-US" sz="1600" dirty="0">
                <a:latin typeface="微软雅黑" panose="020B0503020204020204" pitchFamily="34" charset="-122"/>
                <a:ea typeface="微软雅黑" panose="020B0503020204020204" pitchFamily="34" charset="-122"/>
              </a:rPr>
              <a:t>天津大学 河北师范大学 太原理工大学 内蒙古大学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东北主节点</a:t>
            </a:r>
            <a:r>
              <a:rPr lang="zh-CN" altLang="en-US" sz="1600" dirty="0">
                <a:latin typeface="微软雅黑" panose="020B0503020204020204" pitchFamily="34" charset="-122"/>
                <a:ea typeface="微软雅黑" panose="020B0503020204020204" pitchFamily="34" charset="-122"/>
              </a:rPr>
              <a:t>： 大连理工大学 吉林大学 哈尔滨工业大学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华东</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南</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地区主节点</a:t>
            </a:r>
            <a:r>
              <a:rPr lang="zh-CN" altLang="en-US" sz="1600" dirty="0">
                <a:latin typeface="微软雅黑" panose="020B0503020204020204" pitchFamily="34" charset="-122"/>
                <a:ea typeface="微软雅黑" panose="020B0503020204020204" pitchFamily="34" charset="-122"/>
              </a:rPr>
              <a:t>： 浙江大学 福州大学 南昌大学 厦门大学</a:t>
            </a:r>
          </a:p>
          <a:p>
            <a:pPr>
              <a:spcBef>
                <a:spcPts val="400"/>
              </a:spcBef>
            </a:pPr>
            <a:r>
              <a:rPr lang="zh-CN" altLang="en-US" sz="2000" dirty="0">
                <a:latin typeface="微软雅黑" panose="020B0503020204020204" pitchFamily="34" charset="-122"/>
                <a:ea typeface="微软雅黑" panose="020B0503020204020204" pitchFamily="34" charset="-122"/>
              </a:rPr>
              <a:t>华东</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北</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地区主节点</a:t>
            </a:r>
            <a:r>
              <a:rPr lang="zh-CN" altLang="en-US" sz="1600" dirty="0">
                <a:latin typeface="微软雅黑" panose="020B0503020204020204" pitchFamily="34" charset="-122"/>
                <a:ea typeface="微软雅黑" panose="020B0503020204020204" pitchFamily="34" charset="-122"/>
              </a:rPr>
              <a:t>： 山东大学 中国科学技术大学 中国海洋大学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华中地区主节点</a:t>
            </a:r>
            <a:r>
              <a:rPr lang="zh-CN" altLang="en-US" sz="1600" dirty="0">
                <a:latin typeface="微软雅黑" panose="020B0503020204020204" pitchFamily="34" charset="-122"/>
                <a:ea typeface="微软雅黑" panose="020B0503020204020204" pitchFamily="34" charset="-122"/>
              </a:rPr>
              <a:t>： 中南大学 郑州大学</a:t>
            </a:r>
          </a:p>
          <a:p>
            <a:pPr>
              <a:spcBef>
                <a:spcPts val="400"/>
              </a:spcBef>
            </a:pPr>
            <a:r>
              <a:rPr lang="zh-CN" altLang="en-US" sz="2000" dirty="0">
                <a:latin typeface="微软雅黑" panose="020B0503020204020204" pitchFamily="34" charset="-122"/>
                <a:ea typeface="微软雅黑" panose="020B0503020204020204" pitchFamily="34" charset="-122"/>
              </a:rPr>
              <a:t>华南地区主节点</a:t>
            </a:r>
            <a:r>
              <a:rPr lang="zh-CN" altLang="en-US" sz="1600" dirty="0">
                <a:latin typeface="微软雅黑" panose="020B0503020204020204" pitchFamily="34" charset="-122"/>
                <a:ea typeface="微软雅黑" panose="020B0503020204020204" pitchFamily="34" charset="-122"/>
              </a:rPr>
              <a:t>： 广西大学 广西师范大学 海南师范大学 深圳大学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西南地区主节点</a:t>
            </a:r>
            <a:r>
              <a:rPr lang="zh-CN" altLang="en-US" sz="1600" dirty="0">
                <a:latin typeface="微软雅黑" panose="020B0503020204020204" pitchFamily="34" charset="-122"/>
                <a:ea typeface="微软雅黑" panose="020B0503020204020204" pitchFamily="34" charset="-122"/>
              </a:rPr>
              <a:t>： 重庆大学 贵州大学 云南大学 西藏大学</a:t>
            </a:r>
            <a:endParaRPr lang="zh-CN" altLang="en-US" sz="2000" dirty="0">
              <a:latin typeface="微软雅黑" panose="020B0503020204020204" pitchFamily="34" charset="-122"/>
              <a:ea typeface="微软雅黑" panose="020B0503020204020204" pitchFamily="34" charset="-122"/>
            </a:endParaRPr>
          </a:p>
          <a:p>
            <a:pPr>
              <a:spcBef>
                <a:spcPts val="400"/>
              </a:spcBef>
            </a:pPr>
            <a:r>
              <a:rPr lang="zh-CN" altLang="en-US" sz="2000" dirty="0">
                <a:latin typeface="微软雅黑" panose="020B0503020204020204" pitchFamily="34" charset="-122"/>
                <a:ea typeface="微软雅黑" panose="020B0503020204020204" pitchFamily="34" charset="-122"/>
              </a:rPr>
              <a:t>西北地区主节点</a:t>
            </a:r>
            <a:r>
              <a:rPr lang="zh-CN" altLang="en-US" sz="1600" dirty="0">
                <a:latin typeface="微软雅黑" panose="020B0503020204020204" pitchFamily="34" charset="-122"/>
                <a:ea typeface="微软雅黑" panose="020B0503020204020204" pitchFamily="34" charset="-122"/>
              </a:rPr>
              <a:t>： 兰州大学 青海师范大学 宁夏大学 新疆大学</a:t>
            </a:r>
            <a:endParaRPr lang="zh-CN" altLang="en-US" sz="2000" dirty="0">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ACF83DFF-3097-6041-9A14-72307DDBAB0E}"/>
              </a:ext>
            </a:extLst>
          </p:cNvPr>
          <p:cNvGrpSpPr/>
          <p:nvPr/>
        </p:nvGrpSpPr>
        <p:grpSpPr>
          <a:xfrm>
            <a:off x="7792790" y="4671778"/>
            <a:ext cx="4091663" cy="1787894"/>
            <a:chOff x="7909955" y="1419099"/>
            <a:chExt cx="4091663" cy="1787894"/>
          </a:xfrm>
        </p:grpSpPr>
        <p:pic>
          <p:nvPicPr>
            <p:cNvPr id="1026" name="Picture 2">
              <a:extLst>
                <a:ext uri="{FF2B5EF4-FFF2-40B4-BE49-F238E27FC236}">
                  <a16:creationId xmlns:a16="http://schemas.microsoft.com/office/drawing/2014/main" id="{CB88A222-6419-144C-ABC0-100EAD4886AD}"/>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909955" y="1422069"/>
              <a:ext cx="1269279" cy="178492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4EBBC23-95C0-6A4E-BC3C-BE9826422C9B}"/>
                </a:ext>
              </a:extLst>
            </p:cNvPr>
            <p:cNvSpPr txBox="1"/>
            <p:nvPr/>
          </p:nvSpPr>
          <p:spPr>
            <a:xfrm>
              <a:off x="9179234" y="1419099"/>
              <a:ext cx="2822384" cy="1784924"/>
            </a:xfrm>
            <a:prstGeom prst="rect">
              <a:avLst/>
            </a:prstGeom>
            <a:noFill/>
            <a:ln>
              <a:noFill/>
            </a:ln>
          </p:spPr>
          <p:txBody>
            <a:bodyPr wrap="square">
              <a:noAutofit/>
            </a:bodyPr>
            <a:lstStyle/>
            <a:p>
              <a:pPr>
                <a:lnSpc>
                  <a:spcPct val="120000"/>
                </a:lnSpc>
              </a:pPr>
              <a:r>
                <a:rPr lang="zh-CN" altLang="en-US" sz="2000" dirty="0">
                  <a:latin typeface="微软雅黑" panose="020B0503020204020204" pitchFamily="34" charset="-122"/>
                  <a:ea typeface="微软雅黑" panose="020B0503020204020204" pitchFamily="34" charset="-122"/>
                </a:rPr>
                <a:t>吴建平 中国工程院院士</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en-US" altLang="zh-CN" sz="2000" dirty="0">
                  <a:latin typeface="微软雅黑" panose="020B0503020204020204" pitchFamily="34" charset="-122"/>
                  <a:ea typeface="微软雅黑" panose="020B0503020204020204" pitchFamily="34" charset="-122"/>
                </a:rPr>
                <a:t>CERNET</a:t>
              </a:r>
              <a:r>
                <a:rPr lang="zh-CN" altLang="en-US" sz="2000" dirty="0">
                  <a:latin typeface="微软雅黑" panose="020B0503020204020204" pitchFamily="34" charset="-122"/>
                  <a:ea typeface="微软雅黑" panose="020B0503020204020204" pitchFamily="34" charset="-122"/>
                </a:rPr>
                <a:t>专家委主任</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sz="2000" dirty="0">
                  <a:latin typeface="微软雅黑" panose="020B0503020204020204" pitchFamily="34" charset="-122"/>
                  <a:ea typeface="微软雅黑" panose="020B0503020204020204" pitchFamily="34" charset="-122"/>
                </a:rPr>
                <a:t>英国皇家工程院院士</a:t>
              </a:r>
              <a:endParaRPr lang="en-US" altLang="zh-CN" sz="2000"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入选全球“互联网名人堂”</a:t>
              </a:r>
              <a:endParaRPr lang="en-US" altLang="zh-CN" dirty="0">
                <a:latin typeface="微软雅黑" panose="020B0503020204020204" pitchFamily="34" charset="-122"/>
                <a:ea typeface="微软雅黑" panose="020B0503020204020204" pitchFamily="34" charset="-122"/>
              </a:endParaRPr>
            </a:p>
            <a:p>
              <a:pPr>
                <a:lnSpc>
                  <a:spcPct val="120000"/>
                </a:lnSpc>
              </a:pPr>
              <a:r>
                <a:rPr lang="en-US" altLang="zh-CN" dirty="0">
                  <a:latin typeface="微软雅黑" panose="020B0503020204020204" pitchFamily="34" charset="-122"/>
                  <a:ea typeface="微软雅黑" panose="020B0503020204020204" pitchFamily="34" charset="-122"/>
                </a:rPr>
                <a:t>89</a:t>
              </a:r>
              <a:r>
                <a:rPr lang="zh-CN" altLang="en-US" dirty="0">
                  <a:latin typeface="微软雅黑" panose="020B0503020204020204" pitchFamily="34" charset="-122"/>
                  <a:ea typeface="微软雅黑" panose="020B0503020204020204" pitchFamily="34" charset="-122"/>
                </a:rPr>
                <a:t>年从加拿大访学归来</a:t>
              </a:r>
            </a:p>
          </p:txBody>
        </p:sp>
      </p:grpSp>
      <p:sp>
        <p:nvSpPr>
          <p:cNvPr id="8" name="矩形 7">
            <a:extLst>
              <a:ext uri="{FF2B5EF4-FFF2-40B4-BE49-F238E27FC236}">
                <a16:creationId xmlns:a16="http://schemas.microsoft.com/office/drawing/2014/main" id="{AFD593D9-783B-4842-BC69-2888A0DC476F}"/>
              </a:ext>
            </a:extLst>
          </p:cNvPr>
          <p:cNvSpPr/>
          <p:nvPr/>
        </p:nvSpPr>
        <p:spPr>
          <a:xfrm>
            <a:off x="8960594" y="1227063"/>
            <a:ext cx="1756058" cy="396583"/>
          </a:xfrm>
          <a:prstGeom prst="rect">
            <a:avLst/>
          </a:prstGeom>
          <a:solidFill>
            <a:schemeClr val="bg1"/>
          </a:solidFill>
        </p:spPr>
        <p:txBody>
          <a:bodyPr wrap="none">
            <a:spAutoFit/>
          </a:bodyPr>
          <a:lstStyle/>
          <a:p>
            <a:pPr>
              <a:lnSpc>
                <a:spcPct val="120000"/>
              </a:lnSpc>
            </a:pPr>
            <a:r>
              <a:rPr lang="en-US" altLang="zh-CN" dirty="0">
                <a:latin typeface="微软雅黑" panose="020B0503020204020204" pitchFamily="34" charset="-122"/>
                <a:ea typeface="微软雅黑" panose="020B0503020204020204" pitchFamily="34" charset="-122"/>
              </a:rPr>
              <a:t>CERNET</a:t>
            </a:r>
            <a:r>
              <a:rPr lang="zh-CN" altLang="en-US" dirty="0">
                <a:latin typeface="微软雅黑" panose="020B0503020204020204" pitchFamily="34" charset="-122"/>
                <a:ea typeface="微软雅黑" panose="020B0503020204020204" pitchFamily="34" charset="-122"/>
              </a:rPr>
              <a:t>主干网</a:t>
            </a:r>
            <a:endParaRPr lang="en-US" altLang="zh-CN"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3AB9CE8F-AD3B-FF4C-8B04-DDB8D2F62109}"/>
              </a:ext>
            </a:extLst>
          </p:cNvPr>
          <p:cNvSpPr/>
          <p:nvPr/>
        </p:nvSpPr>
        <p:spPr>
          <a:xfrm>
            <a:off x="2134737" y="6177954"/>
            <a:ext cx="3877985" cy="497957"/>
          </a:xfrm>
          <a:prstGeom prst="rect">
            <a:avLst/>
          </a:prstGeom>
          <a:ln>
            <a:solidFill>
              <a:srgbClr val="C00000"/>
            </a:solidFill>
          </a:ln>
        </p:spPr>
        <p:txBody>
          <a:bodyPr wrap="none">
            <a:spAutoFit/>
          </a:bodyPr>
          <a:lstStyle/>
          <a:p>
            <a:pPr>
              <a:lnSpc>
                <a:spcPct val="120000"/>
              </a:lnSpc>
            </a:pPr>
            <a:r>
              <a:rPr lang="zh-CN" altLang="en-US" sz="2400" dirty="0">
                <a:solidFill>
                  <a:srgbClr val="C00000"/>
                </a:solidFill>
                <a:latin typeface="微软雅黑" panose="020B0503020204020204" pitchFamily="34" charset="-122"/>
                <a:ea typeface="微软雅黑" panose="020B0503020204020204" pitchFamily="34" charset="-122"/>
              </a:rPr>
              <a:t>你从哪个主节点学校接入？</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
        <p:nvSpPr>
          <p:cNvPr id="6" name="灯片编号占位符 5">
            <a:extLst>
              <a:ext uri="{FF2B5EF4-FFF2-40B4-BE49-F238E27FC236}">
                <a16:creationId xmlns:a16="http://schemas.microsoft.com/office/drawing/2014/main" id="{19CF5F66-9D80-6947-A381-37A6371C3ABE}"/>
              </a:ext>
            </a:extLst>
          </p:cNvPr>
          <p:cNvSpPr>
            <a:spLocks noGrp="1"/>
          </p:cNvSpPr>
          <p:nvPr>
            <p:ph type="sldNum" sz="quarter" idx="12"/>
          </p:nvPr>
        </p:nvSpPr>
        <p:spPr/>
        <p:txBody>
          <a:bodyPr/>
          <a:lstStyle/>
          <a:p>
            <a:fld id="{8D4D1E41-7A09-AB4A-A4E1-09765ADA2698}" type="slidenum">
              <a:rPr kumimoji="1" lang="zh-CN" altLang="en-US" smtClean="0"/>
              <a:t>111</a:t>
            </a:fld>
            <a:endParaRPr kumimoji="1" lang="zh-CN" altLang="en-US" dirty="0"/>
          </a:p>
        </p:txBody>
      </p:sp>
      <p:sp>
        <p:nvSpPr>
          <p:cNvPr id="14" name="文本框 13">
            <a:extLst>
              <a:ext uri="{FF2B5EF4-FFF2-40B4-BE49-F238E27FC236}">
                <a16:creationId xmlns:a16="http://schemas.microsoft.com/office/drawing/2014/main" id="{6974F867-AAF2-B44A-B746-9C901E235A41}"/>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16402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3">
            <a:extLst>
              <a:ext uri="{FF2B5EF4-FFF2-40B4-BE49-F238E27FC236}">
                <a16:creationId xmlns:a16="http://schemas.microsoft.com/office/drawing/2014/main" id="{0AD8EB98-5009-4B76-93E4-8C9D60784342}"/>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86400" y="2237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6" name="Picture 4">
            <a:extLst>
              <a:ext uri="{FF2B5EF4-FFF2-40B4-BE49-F238E27FC236}">
                <a16:creationId xmlns:a16="http://schemas.microsoft.com/office/drawing/2014/main" id="{669A4B20-C736-4431-8A36-64F85B057F03}"/>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572000" y="30755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7" name="Picture 5">
            <a:extLst>
              <a:ext uri="{FF2B5EF4-FFF2-40B4-BE49-F238E27FC236}">
                <a16:creationId xmlns:a16="http://schemas.microsoft.com/office/drawing/2014/main" id="{142049F1-3890-4718-8B1E-DC8F80C5565C}"/>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400800" y="30755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8" name="Picture 6">
            <a:extLst>
              <a:ext uri="{FF2B5EF4-FFF2-40B4-BE49-F238E27FC236}">
                <a16:creationId xmlns:a16="http://schemas.microsoft.com/office/drawing/2014/main" id="{421C1B76-8E0C-46C3-96F6-9F1B5E060E6D}"/>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572000" y="4066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9" name="Picture 7">
            <a:extLst>
              <a:ext uri="{FF2B5EF4-FFF2-40B4-BE49-F238E27FC236}">
                <a16:creationId xmlns:a16="http://schemas.microsoft.com/office/drawing/2014/main" id="{27B9739E-98DA-4728-8379-A2ED64C80DC4}"/>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400800" y="4066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40" name="Picture 8">
            <a:extLst>
              <a:ext uri="{FF2B5EF4-FFF2-40B4-BE49-F238E27FC236}">
                <a16:creationId xmlns:a16="http://schemas.microsoft.com/office/drawing/2014/main" id="{CCF115A3-08B7-4B71-917A-5FFD910EE847}"/>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86400" y="47519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41" name="Line 9">
            <a:extLst>
              <a:ext uri="{FF2B5EF4-FFF2-40B4-BE49-F238E27FC236}">
                <a16:creationId xmlns:a16="http://schemas.microsoft.com/office/drawing/2014/main" id="{8C7CD0B5-485D-49FC-95B3-72F2CE64049E}"/>
              </a:ext>
            </a:extLst>
          </p:cNvPr>
          <p:cNvSpPr>
            <a:spLocks noChangeShapeType="1"/>
          </p:cNvSpPr>
          <p:nvPr/>
        </p:nvSpPr>
        <p:spPr bwMode="auto">
          <a:xfrm flipH="1">
            <a:off x="4724400" y="2389762"/>
            <a:ext cx="762000" cy="7620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2" name="Line 10">
            <a:extLst>
              <a:ext uri="{FF2B5EF4-FFF2-40B4-BE49-F238E27FC236}">
                <a16:creationId xmlns:a16="http://schemas.microsoft.com/office/drawing/2014/main" id="{079BF1F6-5442-48F6-B602-31C3C8A4FFE1}"/>
              </a:ext>
            </a:extLst>
          </p:cNvPr>
          <p:cNvSpPr>
            <a:spLocks noChangeShapeType="1"/>
          </p:cNvSpPr>
          <p:nvPr/>
        </p:nvSpPr>
        <p:spPr bwMode="auto">
          <a:xfrm>
            <a:off x="5791200" y="2389762"/>
            <a:ext cx="685800" cy="6858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3" name="Line 11">
            <a:extLst>
              <a:ext uri="{FF2B5EF4-FFF2-40B4-BE49-F238E27FC236}">
                <a16:creationId xmlns:a16="http://schemas.microsoft.com/office/drawing/2014/main" id="{7A39E4AE-B325-4C76-B11A-3D10C0163C59}"/>
              </a:ext>
            </a:extLst>
          </p:cNvPr>
          <p:cNvSpPr>
            <a:spLocks noChangeShapeType="1"/>
          </p:cNvSpPr>
          <p:nvPr/>
        </p:nvSpPr>
        <p:spPr bwMode="auto">
          <a:xfrm>
            <a:off x="4724400" y="3304162"/>
            <a:ext cx="0" cy="7620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4" name="Line 12">
            <a:extLst>
              <a:ext uri="{FF2B5EF4-FFF2-40B4-BE49-F238E27FC236}">
                <a16:creationId xmlns:a16="http://schemas.microsoft.com/office/drawing/2014/main" id="{F7105E6E-2B2E-4AD9-9C90-F5E28209FFD6}"/>
              </a:ext>
            </a:extLst>
          </p:cNvPr>
          <p:cNvSpPr>
            <a:spLocks noChangeShapeType="1"/>
          </p:cNvSpPr>
          <p:nvPr/>
        </p:nvSpPr>
        <p:spPr bwMode="auto">
          <a:xfrm>
            <a:off x="6553200" y="3304162"/>
            <a:ext cx="0" cy="7620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5" name="Line 13">
            <a:extLst>
              <a:ext uri="{FF2B5EF4-FFF2-40B4-BE49-F238E27FC236}">
                <a16:creationId xmlns:a16="http://schemas.microsoft.com/office/drawing/2014/main" id="{C6944164-5CF7-494C-8A41-0C6B348FBA18}"/>
              </a:ext>
            </a:extLst>
          </p:cNvPr>
          <p:cNvSpPr>
            <a:spLocks noChangeShapeType="1"/>
          </p:cNvSpPr>
          <p:nvPr/>
        </p:nvSpPr>
        <p:spPr bwMode="auto">
          <a:xfrm>
            <a:off x="4800600" y="4294762"/>
            <a:ext cx="685800" cy="5334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6" name="Line 14">
            <a:extLst>
              <a:ext uri="{FF2B5EF4-FFF2-40B4-BE49-F238E27FC236}">
                <a16:creationId xmlns:a16="http://schemas.microsoft.com/office/drawing/2014/main" id="{B55F1849-B629-44CB-B1E9-A0324A15FA3E}"/>
              </a:ext>
            </a:extLst>
          </p:cNvPr>
          <p:cNvSpPr>
            <a:spLocks noChangeShapeType="1"/>
          </p:cNvSpPr>
          <p:nvPr/>
        </p:nvSpPr>
        <p:spPr bwMode="auto">
          <a:xfrm flipV="1">
            <a:off x="5867400" y="4218562"/>
            <a:ext cx="609600" cy="6096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7" name="Line 15">
            <a:extLst>
              <a:ext uri="{FF2B5EF4-FFF2-40B4-BE49-F238E27FC236}">
                <a16:creationId xmlns:a16="http://schemas.microsoft.com/office/drawing/2014/main" id="{EF6E54DB-65AA-40B7-B308-64E37A2F8671}"/>
              </a:ext>
            </a:extLst>
          </p:cNvPr>
          <p:cNvSpPr>
            <a:spLocks noChangeShapeType="1"/>
          </p:cNvSpPr>
          <p:nvPr/>
        </p:nvSpPr>
        <p:spPr bwMode="auto">
          <a:xfrm>
            <a:off x="4953000" y="3227962"/>
            <a:ext cx="144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8" name="Line 16">
            <a:extLst>
              <a:ext uri="{FF2B5EF4-FFF2-40B4-BE49-F238E27FC236}">
                <a16:creationId xmlns:a16="http://schemas.microsoft.com/office/drawing/2014/main" id="{5D1E5799-99B7-45C5-A2DA-D533A6C81601}"/>
              </a:ext>
            </a:extLst>
          </p:cNvPr>
          <p:cNvSpPr>
            <a:spLocks noChangeShapeType="1"/>
          </p:cNvSpPr>
          <p:nvPr/>
        </p:nvSpPr>
        <p:spPr bwMode="auto">
          <a:xfrm>
            <a:off x="4876800" y="3304162"/>
            <a:ext cx="762000" cy="14478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49" name="Line 17">
            <a:extLst>
              <a:ext uri="{FF2B5EF4-FFF2-40B4-BE49-F238E27FC236}">
                <a16:creationId xmlns:a16="http://schemas.microsoft.com/office/drawing/2014/main" id="{1301EB38-626E-4163-85E0-DC6D710378C3}"/>
              </a:ext>
            </a:extLst>
          </p:cNvPr>
          <p:cNvSpPr>
            <a:spLocks noChangeShapeType="1"/>
          </p:cNvSpPr>
          <p:nvPr/>
        </p:nvSpPr>
        <p:spPr bwMode="auto">
          <a:xfrm flipV="1">
            <a:off x="4876800" y="2389762"/>
            <a:ext cx="762000" cy="17526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0" name="Line 18">
            <a:extLst>
              <a:ext uri="{FF2B5EF4-FFF2-40B4-BE49-F238E27FC236}">
                <a16:creationId xmlns:a16="http://schemas.microsoft.com/office/drawing/2014/main" id="{8BDCD0DB-1704-4533-891A-F52F1CFA9538}"/>
              </a:ext>
            </a:extLst>
          </p:cNvPr>
          <p:cNvSpPr>
            <a:spLocks noChangeShapeType="1"/>
          </p:cNvSpPr>
          <p:nvPr/>
        </p:nvSpPr>
        <p:spPr bwMode="auto">
          <a:xfrm flipV="1">
            <a:off x="4876800" y="3304162"/>
            <a:ext cx="1600200" cy="9144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1" name="Line 19">
            <a:extLst>
              <a:ext uri="{FF2B5EF4-FFF2-40B4-BE49-F238E27FC236}">
                <a16:creationId xmlns:a16="http://schemas.microsoft.com/office/drawing/2014/main" id="{A9CF7C3E-51C6-43B3-80C5-F3E3B5DB9E0A}"/>
              </a:ext>
            </a:extLst>
          </p:cNvPr>
          <p:cNvSpPr>
            <a:spLocks noChangeShapeType="1"/>
          </p:cNvSpPr>
          <p:nvPr/>
        </p:nvSpPr>
        <p:spPr bwMode="auto">
          <a:xfrm>
            <a:off x="5715000" y="2465962"/>
            <a:ext cx="762000" cy="16002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2" name="Line 20">
            <a:extLst>
              <a:ext uri="{FF2B5EF4-FFF2-40B4-BE49-F238E27FC236}">
                <a16:creationId xmlns:a16="http://schemas.microsoft.com/office/drawing/2014/main" id="{7E1D4017-565C-4A6A-9B74-DB30401F4755}"/>
              </a:ext>
            </a:extLst>
          </p:cNvPr>
          <p:cNvSpPr>
            <a:spLocks noChangeShapeType="1"/>
          </p:cNvSpPr>
          <p:nvPr/>
        </p:nvSpPr>
        <p:spPr bwMode="auto">
          <a:xfrm>
            <a:off x="5638800" y="2465962"/>
            <a:ext cx="0" cy="22860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3" name="Line 21">
            <a:extLst>
              <a:ext uri="{FF2B5EF4-FFF2-40B4-BE49-F238E27FC236}">
                <a16:creationId xmlns:a16="http://schemas.microsoft.com/office/drawing/2014/main" id="{F31D67E4-83A8-4155-80FE-3E91638D6C0A}"/>
              </a:ext>
            </a:extLst>
          </p:cNvPr>
          <p:cNvSpPr>
            <a:spLocks noChangeShapeType="1"/>
          </p:cNvSpPr>
          <p:nvPr/>
        </p:nvSpPr>
        <p:spPr bwMode="auto">
          <a:xfrm>
            <a:off x="4876800" y="3227962"/>
            <a:ext cx="1676400" cy="9144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4" name="Line 22">
            <a:extLst>
              <a:ext uri="{FF2B5EF4-FFF2-40B4-BE49-F238E27FC236}">
                <a16:creationId xmlns:a16="http://schemas.microsoft.com/office/drawing/2014/main" id="{1E815D2C-D074-4081-B2E8-A496E12D66D0}"/>
              </a:ext>
            </a:extLst>
          </p:cNvPr>
          <p:cNvSpPr>
            <a:spLocks noChangeShapeType="1"/>
          </p:cNvSpPr>
          <p:nvPr/>
        </p:nvSpPr>
        <p:spPr bwMode="auto">
          <a:xfrm>
            <a:off x="4953000" y="4218562"/>
            <a:ext cx="152400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5" name="Line 23">
            <a:extLst>
              <a:ext uri="{FF2B5EF4-FFF2-40B4-BE49-F238E27FC236}">
                <a16:creationId xmlns:a16="http://schemas.microsoft.com/office/drawing/2014/main" id="{C48576F5-2A6D-4877-844E-7E0D7E59BDE9}"/>
              </a:ext>
            </a:extLst>
          </p:cNvPr>
          <p:cNvSpPr>
            <a:spLocks noChangeShapeType="1"/>
          </p:cNvSpPr>
          <p:nvPr/>
        </p:nvSpPr>
        <p:spPr bwMode="auto">
          <a:xfrm flipH="1">
            <a:off x="5105400" y="4904362"/>
            <a:ext cx="457200" cy="7620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6" name="Line 24">
            <a:extLst>
              <a:ext uri="{FF2B5EF4-FFF2-40B4-BE49-F238E27FC236}">
                <a16:creationId xmlns:a16="http://schemas.microsoft.com/office/drawing/2014/main" id="{DFA67037-0823-4D79-AC94-884F7B206DB9}"/>
              </a:ext>
            </a:extLst>
          </p:cNvPr>
          <p:cNvSpPr>
            <a:spLocks noChangeShapeType="1"/>
          </p:cNvSpPr>
          <p:nvPr/>
        </p:nvSpPr>
        <p:spPr bwMode="auto">
          <a:xfrm>
            <a:off x="5638800" y="4980562"/>
            <a:ext cx="0" cy="609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7" name="Line 25">
            <a:extLst>
              <a:ext uri="{FF2B5EF4-FFF2-40B4-BE49-F238E27FC236}">
                <a16:creationId xmlns:a16="http://schemas.microsoft.com/office/drawing/2014/main" id="{98AB52C4-7E96-4584-8983-F11E551D42EA}"/>
              </a:ext>
            </a:extLst>
          </p:cNvPr>
          <p:cNvSpPr>
            <a:spLocks noChangeShapeType="1"/>
          </p:cNvSpPr>
          <p:nvPr/>
        </p:nvSpPr>
        <p:spPr bwMode="auto">
          <a:xfrm>
            <a:off x="5715000" y="4904362"/>
            <a:ext cx="381000" cy="6858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8" name="Line 26">
            <a:extLst>
              <a:ext uri="{FF2B5EF4-FFF2-40B4-BE49-F238E27FC236}">
                <a16:creationId xmlns:a16="http://schemas.microsoft.com/office/drawing/2014/main" id="{C91BA524-539F-40C7-9F62-2CB15EF598EE}"/>
              </a:ext>
            </a:extLst>
          </p:cNvPr>
          <p:cNvSpPr>
            <a:spLocks noChangeShapeType="1"/>
          </p:cNvSpPr>
          <p:nvPr/>
        </p:nvSpPr>
        <p:spPr bwMode="auto">
          <a:xfrm flipV="1">
            <a:off x="6781800" y="3837562"/>
            <a:ext cx="762000" cy="3048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59" name="Line 27">
            <a:extLst>
              <a:ext uri="{FF2B5EF4-FFF2-40B4-BE49-F238E27FC236}">
                <a16:creationId xmlns:a16="http://schemas.microsoft.com/office/drawing/2014/main" id="{F27012EB-5BA7-42E8-8C1B-3B8A2A8719A2}"/>
              </a:ext>
            </a:extLst>
          </p:cNvPr>
          <p:cNvSpPr>
            <a:spLocks noChangeShapeType="1"/>
          </p:cNvSpPr>
          <p:nvPr/>
        </p:nvSpPr>
        <p:spPr bwMode="auto">
          <a:xfrm>
            <a:off x="6781800" y="4180462"/>
            <a:ext cx="762000" cy="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0" name="Line 28">
            <a:extLst>
              <a:ext uri="{FF2B5EF4-FFF2-40B4-BE49-F238E27FC236}">
                <a16:creationId xmlns:a16="http://schemas.microsoft.com/office/drawing/2014/main" id="{EC6E1797-42DB-4DEA-B39B-C2638B211429}"/>
              </a:ext>
            </a:extLst>
          </p:cNvPr>
          <p:cNvSpPr>
            <a:spLocks noChangeShapeType="1"/>
          </p:cNvSpPr>
          <p:nvPr/>
        </p:nvSpPr>
        <p:spPr bwMode="auto">
          <a:xfrm>
            <a:off x="6705600" y="4218562"/>
            <a:ext cx="914400" cy="228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1" name="Line 29">
            <a:extLst>
              <a:ext uri="{FF2B5EF4-FFF2-40B4-BE49-F238E27FC236}">
                <a16:creationId xmlns:a16="http://schemas.microsoft.com/office/drawing/2014/main" id="{7BDC24C6-EBF3-4860-932D-DF4784CD84FD}"/>
              </a:ext>
            </a:extLst>
          </p:cNvPr>
          <p:cNvSpPr>
            <a:spLocks noChangeShapeType="1"/>
          </p:cNvSpPr>
          <p:nvPr/>
        </p:nvSpPr>
        <p:spPr bwMode="auto">
          <a:xfrm flipV="1">
            <a:off x="6781800" y="2694562"/>
            <a:ext cx="762000" cy="3810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2" name="Line 30">
            <a:extLst>
              <a:ext uri="{FF2B5EF4-FFF2-40B4-BE49-F238E27FC236}">
                <a16:creationId xmlns:a16="http://schemas.microsoft.com/office/drawing/2014/main" id="{D89EBE27-0939-4552-B70B-584E1B9EE4AD}"/>
              </a:ext>
            </a:extLst>
          </p:cNvPr>
          <p:cNvSpPr>
            <a:spLocks noChangeShapeType="1"/>
          </p:cNvSpPr>
          <p:nvPr/>
        </p:nvSpPr>
        <p:spPr bwMode="auto">
          <a:xfrm flipV="1">
            <a:off x="6781800" y="3075562"/>
            <a:ext cx="914400" cy="381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3" name="Line 31">
            <a:extLst>
              <a:ext uri="{FF2B5EF4-FFF2-40B4-BE49-F238E27FC236}">
                <a16:creationId xmlns:a16="http://schemas.microsoft.com/office/drawing/2014/main" id="{F5E67FB0-A562-4517-B18B-01977190F748}"/>
              </a:ext>
            </a:extLst>
          </p:cNvPr>
          <p:cNvSpPr>
            <a:spLocks noChangeShapeType="1"/>
          </p:cNvSpPr>
          <p:nvPr/>
        </p:nvSpPr>
        <p:spPr bwMode="auto">
          <a:xfrm>
            <a:off x="6705600" y="3151762"/>
            <a:ext cx="914400" cy="228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4" name="Line 32">
            <a:extLst>
              <a:ext uri="{FF2B5EF4-FFF2-40B4-BE49-F238E27FC236}">
                <a16:creationId xmlns:a16="http://schemas.microsoft.com/office/drawing/2014/main" id="{3CFE1BD5-EF8D-46CE-ADEE-BB2F835E2178}"/>
              </a:ext>
            </a:extLst>
          </p:cNvPr>
          <p:cNvSpPr>
            <a:spLocks noChangeShapeType="1"/>
          </p:cNvSpPr>
          <p:nvPr/>
        </p:nvSpPr>
        <p:spPr bwMode="auto">
          <a:xfrm flipV="1">
            <a:off x="3733800" y="4218562"/>
            <a:ext cx="838200" cy="3810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5" name="Line 33">
            <a:extLst>
              <a:ext uri="{FF2B5EF4-FFF2-40B4-BE49-F238E27FC236}">
                <a16:creationId xmlns:a16="http://schemas.microsoft.com/office/drawing/2014/main" id="{5C275040-DEA3-41E8-AFD9-4D9FDF28DF70}"/>
              </a:ext>
            </a:extLst>
          </p:cNvPr>
          <p:cNvSpPr>
            <a:spLocks noChangeShapeType="1"/>
          </p:cNvSpPr>
          <p:nvPr/>
        </p:nvSpPr>
        <p:spPr bwMode="auto">
          <a:xfrm>
            <a:off x="3733800" y="4218562"/>
            <a:ext cx="838200" cy="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6" name="Line 34">
            <a:extLst>
              <a:ext uri="{FF2B5EF4-FFF2-40B4-BE49-F238E27FC236}">
                <a16:creationId xmlns:a16="http://schemas.microsoft.com/office/drawing/2014/main" id="{70BD2DF9-1E30-4978-836E-ED5A8A93522C}"/>
              </a:ext>
            </a:extLst>
          </p:cNvPr>
          <p:cNvSpPr>
            <a:spLocks noChangeShapeType="1"/>
          </p:cNvSpPr>
          <p:nvPr/>
        </p:nvSpPr>
        <p:spPr bwMode="auto">
          <a:xfrm>
            <a:off x="3657600" y="3913762"/>
            <a:ext cx="990600" cy="228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7" name="Line 35">
            <a:extLst>
              <a:ext uri="{FF2B5EF4-FFF2-40B4-BE49-F238E27FC236}">
                <a16:creationId xmlns:a16="http://schemas.microsoft.com/office/drawing/2014/main" id="{63497F70-134C-407F-8E2D-B275B395B686}"/>
              </a:ext>
            </a:extLst>
          </p:cNvPr>
          <p:cNvSpPr>
            <a:spLocks noChangeShapeType="1"/>
          </p:cNvSpPr>
          <p:nvPr/>
        </p:nvSpPr>
        <p:spPr bwMode="auto">
          <a:xfrm flipV="1">
            <a:off x="3657600" y="3227962"/>
            <a:ext cx="914400" cy="228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8" name="Line 36">
            <a:extLst>
              <a:ext uri="{FF2B5EF4-FFF2-40B4-BE49-F238E27FC236}">
                <a16:creationId xmlns:a16="http://schemas.microsoft.com/office/drawing/2014/main" id="{310FFD72-6302-4C67-895A-3CFA5FC5054F}"/>
              </a:ext>
            </a:extLst>
          </p:cNvPr>
          <p:cNvSpPr>
            <a:spLocks noChangeShapeType="1"/>
          </p:cNvSpPr>
          <p:nvPr/>
        </p:nvSpPr>
        <p:spPr bwMode="auto">
          <a:xfrm>
            <a:off x="3733800" y="3151762"/>
            <a:ext cx="914400" cy="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69" name="Line 37">
            <a:extLst>
              <a:ext uri="{FF2B5EF4-FFF2-40B4-BE49-F238E27FC236}">
                <a16:creationId xmlns:a16="http://schemas.microsoft.com/office/drawing/2014/main" id="{CAF64C17-000A-4438-BB2B-8B8A8857E738}"/>
              </a:ext>
            </a:extLst>
          </p:cNvPr>
          <p:cNvSpPr>
            <a:spLocks noChangeShapeType="1"/>
          </p:cNvSpPr>
          <p:nvPr/>
        </p:nvSpPr>
        <p:spPr bwMode="auto">
          <a:xfrm>
            <a:off x="3657600" y="2770762"/>
            <a:ext cx="990600" cy="3048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70" name="Line 38">
            <a:extLst>
              <a:ext uri="{FF2B5EF4-FFF2-40B4-BE49-F238E27FC236}">
                <a16:creationId xmlns:a16="http://schemas.microsoft.com/office/drawing/2014/main" id="{6B1D3B0F-52E9-42EA-8A4A-2B54BA88BCB5}"/>
              </a:ext>
            </a:extLst>
          </p:cNvPr>
          <p:cNvSpPr>
            <a:spLocks noChangeShapeType="1"/>
          </p:cNvSpPr>
          <p:nvPr/>
        </p:nvSpPr>
        <p:spPr bwMode="auto">
          <a:xfrm>
            <a:off x="5105400" y="1627762"/>
            <a:ext cx="457200" cy="6858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71" name="Line 39">
            <a:extLst>
              <a:ext uri="{FF2B5EF4-FFF2-40B4-BE49-F238E27FC236}">
                <a16:creationId xmlns:a16="http://schemas.microsoft.com/office/drawing/2014/main" id="{412B034F-CAA9-4380-AD2A-D3FB6AD79FE7}"/>
              </a:ext>
            </a:extLst>
          </p:cNvPr>
          <p:cNvSpPr>
            <a:spLocks noChangeShapeType="1"/>
          </p:cNvSpPr>
          <p:nvPr/>
        </p:nvSpPr>
        <p:spPr bwMode="auto">
          <a:xfrm>
            <a:off x="5638800" y="1627762"/>
            <a:ext cx="0" cy="609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72" name="Line 40">
            <a:extLst>
              <a:ext uri="{FF2B5EF4-FFF2-40B4-BE49-F238E27FC236}">
                <a16:creationId xmlns:a16="http://schemas.microsoft.com/office/drawing/2014/main" id="{93C20D3F-A418-4985-A95A-326F4C614331}"/>
              </a:ext>
            </a:extLst>
          </p:cNvPr>
          <p:cNvSpPr>
            <a:spLocks noChangeShapeType="1"/>
          </p:cNvSpPr>
          <p:nvPr/>
        </p:nvSpPr>
        <p:spPr bwMode="auto">
          <a:xfrm flipV="1">
            <a:off x="5791200" y="1627762"/>
            <a:ext cx="381000" cy="609600"/>
          </a:xfrm>
          <a:prstGeom prst="line">
            <a:avLst/>
          </a:prstGeom>
          <a:noFill/>
          <a:ln w="158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73" name="Text Box 41">
            <a:extLst>
              <a:ext uri="{FF2B5EF4-FFF2-40B4-BE49-F238E27FC236}">
                <a16:creationId xmlns:a16="http://schemas.microsoft.com/office/drawing/2014/main" id="{1CE54CBB-8B9E-479E-9655-0E717DBEEDC8}"/>
              </a:ext>
            </a:extLst>
          </p:cNvPr>
          <p:cNvSpPr txBox="1">
            <a:spLocks noChangeArrowheads="1"/>
          </p:cNvSpPr>
          <p:nvPr/>
        </p:nvSpPr>
        <p:spPr bwMode="auto">
          <a:xfrm>
            <a:off x="4904502" y="3309480"/>
            <a:ext cx="1600199" cy="7566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en-US" altLang="zh-CN" sz="1800" dirty="0">
                <a:latin typeface="Microsoft YaHei" panose="020B0503020204020204" pitchFamily="34" charset="-122"/>
                <a:ea typeface="Microsoft YaHei" panose="020B0503020204020204" pitchFamily="34" charset="-122"/>
              </a:rPr>
              <a:t>IBGP</a:t>
            </a:r>
            <a:r>
              <a:rPr lang="zh-CN" altLang="en-US" sz="1800" dirty="0">
                <a:latin typeface="Microsoft YaHei" panose="020B0503020204020204" pitchFamily="34" charset="-122"/>
                <a:ea typeface="Microsoft YaHei" panose="020B0503020204020204" pitchFamily="34" charset="-122"/>
              </a:rPr>
              <a:t>全连接</a:t>
            </a:r>
          </a:p>
          <a:p>
            <a:pPr algn="ctr" eaLnBrk="1" hangingPunct="1">
              <a:lnSpc>
                <a:spcPct val="120000"/>
              </a:lnSpc>
              <a:spcBef>
                <a:spcPct val="10000"/>
              </a:spcBef>
              <a:buClr>
                <a:schemeClr val="tx1"/>
              </a:buClr>
              <a:buFont typeface="Symbol" panose="05050102010706020507" pitchFamily="18" charset="2"/>
              <a:buNone/>
            </a:pPr>
            <a:r>
              <a:rPr lang="zh-CN" altLang="en-US" sz="1800" dirty="0">
                <a:latin typeface="Microsoft YaHei" panose="020B0503020204020204" pitchFamily="34" charset="-122"/>
                <a:ea typeface="Microsoft YaHei" panose="020B0503020204020204" pitchFamily="34" charset="-122"/>
              </a:rPr>
              <a:t>八大地区中心</a:t>
            </a:r>
          </a:p>
        </p:txBody>
      </p:sp>
      <p:pic>
        <p:nvPicPr>
          <p:cNvPr id="18474" name="Picture 47">
            <a:extLst>
              <a:ext uri="{FF2B5EF4-FFF2-40B4-BE49-F238E27FC236}">
                <a16:creationId xmlns:a16="http://schemas.microsoft.com/office/drawing/2014/main" id="{F04A3601-DB1B-4203-A0A8-755C67ACB07B}"/>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543800" y="2542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5" name="Picture 48">
            <a:extLst>
              <a:ext uri="{FF2B5EF4-FFF2-40B4-BE49-F238E27FC236}">
                <a16:creationId xmlns:a16="http://schemas.microsoft.com/office/drawing/2014/main" id="{C9402A9A-2E82-4B9B-B36B-6A8D3EB191BB}"/>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543800" y="2999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6" name="Picture 49">
            <a:extLst>
              <a:ext uri="{FF2B5EF4-FFF2-40B4-BE49-F238E27FC236}">
                <a16:creationId xmlns:a16="http://schemas.microsoft.com/office/drawing/2014/main" id="{A73ACBBA-5745-4F72-ABC2-D0E0CBCA2DB8}"/>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620000" y="3304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7" name="Picture 50">
            <a:extLst>
              <a:ext uri="{FF2B5EF4-FFF2-40B4-BE49-F238E27FC236}">
                <a16:creationId xmlns:a16="http://schemas.microsoft.com/office/drawing/2014/main" id="{554374C1-6FB3-4726-A808-4F6614F5FA58}"/>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543800" y="3685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8" name="Picture 51">
            <a:extLst>
              <a:ext uri="{FF2B5EF4-FFF2-40B4-BE49-F238E27FC236}">
                <a16:creationId xmlns:a16="http://schemas.microsoft.com/office/drawing/2014/main" id="{47871CFC-E455-497E-A7EF-840D0BFF19D3}"/>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543800" y="4066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79" name="Picture 52">
            <a:extLst>
              <a:ext uri="{FF2B5EF4-FFF2-40B4-BE49-F238E27FC236}">
                <a16:creationId xmlns:a16="http://schemas.microsoft.com/office/drawing/2014/main" id="{891F1C31-1872-44D2-8302-17D37B68B690}"/>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543800" y="43709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0" name="Picture 53">
            <a:extLst>
              <a:ext uri="{FF2B5EF4-FFF2-40B4-BE49-F238E27FC236}">
                <a16:creationId xmlns:a16="http://schemas.microsoft.com/office/drawing/2014/main" id="{9627851E-482E-403C-9E18-DB594FF8B0B0}"/>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4876800" y="5590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1" name="Picture 54">
            <a:extLst>
              <a:ext uri="{FF2B5EF4-FFF2-40B4-BE49-F238E27FC236}">
                <a16:creationId xmlns:a16="http://schemas.microsoft.com/office/drawing/2014/main" id="{15AF5F41-76B3-487D-A55A-A5FE17EB5953}"/>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486400" y="5590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2" name="Picture 55">
            <a:extLst>
              <a:ext uri="{FF2B5EF4-FFF2-40B4-BE49-F238E27FC236}">
                <a16:creationId xmlns:a16="http://schemas.microsoft.com/office/drawing/2014/main" id="{581E8F37-06D5-48D4-8547-D367290B7D22}"/>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019800" y="5590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3" name="Picture 56">
            <a:extLst>
              <a:ext uri="{FF2B5EF4-FFF2-40B4-BE49-F238E27FC236}">
                <a16:creationId xmlns:a16="http://schemas.microsoft.com/office/drawing/2014/main" id="{91866F1B-E6DB-4A1D-8B23-ACF1B8EB1A70}"/>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4953000" y="1475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4" name="Picture 57">
            <a:extLst>
              <a:ext uri="{FF2B5EF4-FFF2-40B4-BE49-F238E27FC236}">
                <a16:creationId xmlns:a16="http://schemas.microsoft.com/office/drawing/2014/main" id="{8BACB1D3-8979-4264-9220-6C3DD2EDC2C0}"/>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486400" y="1475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5" name="Picture 58">
            <a:extLst>
              <a:ext uri="{FF2B5EF4-FFF2-40B4-BE49-F238E27FC236}">
                <a16:creationId xmlns:a16="http://schemas.microsoft.com/office/drawing/2014/main" id="{C1807E02-DE98-479D-A363-B8631DCF91B6}"/>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019800" y="1475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6" name="Picture 59">
            <a:extLst>
              <a:ext uri="{FF2B5EF4-FFF2-40B4-BE49-F238E27FC236}">
                <a16:creationId xmlns:a16="http://schemas.microsoft.com/office/drawing/2014/main" id="{5B4E81E6-3FF4-4CFC-8FEB-D4AD48ED3CFF}"/>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352800" y="2618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7" name="Picture 60">
            <a:extLst>
              <a:ext uri="{FF2B5EF4-FFF2-40B4-BE49-F238E27FC236}">
                <a16:creationId xmlns:a16="http://schemas.microsoft.com/office/drawing/2014/main" id="{F4B247F4-F4B5-4575-9606-427AB9C69F63}"/>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352800" y="30755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8" name="Picture 61">
            <a:extLst>
              <a:ext uri="{FF2B5EF4-FFF2-40B4-BE49-F238E27FC236}">
                <a16:creationId xmlns:a16="http://schemas.microsoft.com/office/drawing/2014/main" id="{B7CADADD-A8F0-4098-BF67-96DE47E4A5C6}"/>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352800" y="3380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89" name="Picture 62">
            <a:extLst>
              <a:ext uri="{FF2B5EF4-FFF2-40B4-BE49-F238E27FC236}">
                <a16:creationId xmlns:a16="http://schemas.microsoft.com/office/drawing/2014/main" id="{D2D9AB53-30AB-408F-BF07-F89A0D1316A6}"/>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352800" y="3761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0" name="Picture 63">
            <a:extLst>
              <a:ext uri="{FF2B5EF4-FFF2-40B4-BE49-F238E27FC236}">
                <a16:creationId xmlns:a16="http://schemas.microsoft.com/office/drawing/2014/main" id="{C2EFE85A-B601-4B50-83F6-823C5715D8B8}"/>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352800" y="41423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1" name="Picture 64">
            <a:extLst>
              <a:ext uri="{FF2B5EF4-FFF2-40B4-BE49-F238E27FC236}">
                <a16:creationId xmlns:a16="http://schemas.microsoft.com/office/drawing/2014/main" id="{170AA3E8-8D4A-472C-B57F-F44B3200EECD}"/>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352800" y="4447162"/>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92" name="Line 65">
            <a:extLst>
              <a:ext uri="{FF2B5EF4-FFF2-40B4-BE49-F238E27FC236}">
                <a16:creationId xmlns:a16="http://schemas.microsoft.com/office/drawing/2014/main" id="{9822D7DB-C80B-438E-94AA-22C90CA6644D}"/>
              </a:ext>
            </a:extLst>
          </p:cNvPr>
          <p:cNvSpPr>
            <a:spLocks noChangeShapeType="1"/>
          </p:cNvSpPr>
          <p:nvPr/>
        </p:nvSpPr>
        <p:spPr bwMode="auto">
          <a:xfrm flipV="1">
            <a:off x="8001000" y="3685162"/>
            <a:ext cx="1066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93" name="Line 66">
            <a:extLst>
              <a:ext uri="{FF2B5EF4-FFF2-40B4-BE49-F238E27FC236}">
                <a16:creationId xmlns:a16="http://schemas.microsoft.com/office/drawing/2014/main" id="{65E3723E-973D-4F9D-91C7-A5C0E66D5E40}"/>
              </a:ext>
            </a:extLst>
          </p:cNvPr>
          <p:cNvSpPr>
            <a:spLocks noChangeShapeType="1"/>
          </p:cNvSpPr>
          <p:nvPr/>
        </p:nvSpPr>
        <p:spPr bwMode="auto">
          <a:xfrm>
            <a:off x="8001000" y="4142362"/>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94" name="Line 67">
            <a:extLst>
              <a:ext uri="{FF2B5EF4-FFF2-40B4-BE49-F238E27FC236}">
                <a16:creationId xmlns:a16="http://schemas.microsoft.com/office/drawing/2014/main" id="{CB15C520-20C8-4819-9B09-84CEC6398A11}"/>
              </a:ext>
            </a:extLst>
          </p:cNvPr>
          <p:cNvSpPr>
            <a:spLocks noChangeShapeType="1"/>
          </p:cNvSpPr>
          <p:nvPr/>
        </p:nvSpPr>
        <p:spPr bwMode="auto">
          <a:xfrm>
            <a:off x="8001000" y="4218562"/>
            <a:ext cx="990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495" name="Text Box 68">
            <a:extLst>
              <a:ext uri="{FF2B5EF4-FFF2-40B4-BE49-F238E27FC236}">
                <a16:creationId xmlns:a16="http://schemas.microsoft.com/office/drawing/2014/main" id="{2A4F8281-B432-4D6C-AF72-FC877EEAC3D6}"/>
              </a:ext>
            </a:extLst>
          </p:cNvPr>
          <p:cNvSpPr txBox="1">
            <a:spLocks noChangeArrowheads="1"/>
          </p:cNvSpPr>
          <p:nvPr/>
        </p:nvSpPr>
        <p:spPr bwMode="auto">
          <a:xfrm>
            <a:off x="9296401" y="4828163"/>
            <a:ext cx="1107996" cy="3965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a:latin typeface="Microsoft YaHei" panose="020B0503020204020204" pitchFamily="34" charset="-122"/>
                <a:ea typeface="Microsoft YaHei" panose="020B0503020204020204" pitchFamily="34" charset="-122"/>
              </a:rPr>
              <a:t>接入学校</a:t>
            </a:r>
          </a:p>
        </p:txBody>
      </p:sp>
      <p:pic>
        <p:nvPicPr>
          <p:cNvPr id="18496" name="Picture 69">
            <a:extLst>
              <a:ext uri="{FF2B5EF4-FFF2-40B4-BE49-F238E27FC236}">
                <a16:creationId xmlns:a16="http://schemas.microsoft.com/office/drawing/2014/main" id="{A648B350-D63C-4222-AEE3-B897C3A57747}"/>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9067800" y="35327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7" name="Picture 70">
            <a:extLst>
              <a:ext uri="{FF2B5EF4-FFF2-40B4-BE49-F238E27FC236}">
                <a16:creationId xmlns:a16="http://schemas.microsoft.com/office/drawing/2014/main" id="{94127DED-6713-4460-A171-A425D95A78C8}"/>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9144000" y="40661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98" name="Picture 71">
            <a:extLst>
              <a:ext uri="{FF2B5EF4-FFF2-40B4-BE49-F238E27FC236}">
                <a16:creationId xmlns:a16="http://schemas.microsoft.com/office/drawing/2014/main" id="{A2AECC51-AF86-454E-8884-CEC95F422011}"/>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9067800" y="44471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99" name="Line 72">
            <a:extLst>
              <a:ext uri="{FF2B5EF4-FFF2-40B4-BE49-F238E27FC236}">
                <a16:creationId xmlns:a16="http://schemas.microsoft.com/office/drawing/2014/main" id="{05E3F7F3-C46F-4717-B376-18034E22CC96}"/>
              </a:ext>
            </a:extLst>
          </p:cNvPr>
          <p:cNvSpPr>
            <a:spLocks noChangeShapeType="1"/>
          </p:cNvSpPr>
          <p:nvPr/>
        </p:nvSpPr>
        <p:spPr bwMode="auto">
          <a:xfrm flipH="1" flipV="1">
            <a:off x="2590800" y="2770762"/>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500" name="Line 73">
            <a:extLst>
              <a:ext uri="{FF2B5EF4-FFF2-40B4-BE49-F238E27FC236}">
                <a16:creationId xmlns:a16="http://schemas.microsoft.com/office/drawing/2014/main" id="{F9C9BE75-8123-4AFE-B17B-77AABC6AB686}"/>
              </a:ext>
            </a:extLst>
          </p:cNvPr>
          <p:cNvSpPr>
            <a:spLocks noChangeShapeType="1"/>
          </p:cNvSpPr>
          <p:nvPr/>
        </p:nvSpPr>
        <p:spPr bwMode="auto">
          <a:xfrm flipH="1">
            <a:off x="2438400" y="3151762"/>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501" name="Line 74">
            <a:extLst>
              <a:ext uri="{FF2B5EF4-FFF2-40B4-BE49-F238E27FC236}">
                <a16:creationId xmlns:a16="http://schemas.microsoft.com/office/drawing/2014/main" id="{93247655-21C1-44E8-901D-E7F0510F0714}"/>
              </a:ext>
            </a:extLst>
          </p:cNvPr>
          <p:cNvSpPr>
            <a:spLocks noChangeShapeType="1"/>
          </p:cNvSpPr>
          <p:nvPr/>
        </p:nvSpPr>
        <p:spPr bwMode="auto">
          <a:xfrm flipH="1">
            <a:off x="2667000" y="3227962"/>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pic>
        <p:nvPicPr>
          <p:cNvPr id="18502" name="Picture 75">
            <a:extLst>
              <a:ext uri="{FF2B5EF4-FFF2-40B4-BE49-F238E27FC236}">
                <a16:creationId xmlns:a16="http://schemas.microsoft.com/office/drawing/2014/main" id="{0641E67A-6B13-4AA8-BF13-861CC571B25C}"/>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286000" y="26183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3" name="Picture 76">
            <a:extLst>
              <a:ext uri="{FF2B5EF4-FFF2-40B4-BE49-F238E27FC236}">
                <a16:creationId xmlns:a16="http://schemas.microsoft.com/office/drawing/2014/main" id="{4617038A-5581-465F-A466-8B15E273680A}"/>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209800" y="30755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4" name="Picture 77">
            <a:extLst>
              <a:ext uri="{FF2B5EF4-FFF2-40B4-BE49-F238E27FC236}">
                <a16:creationId xmlns:a16="http://schemas.microsoft.com/office/drawing/2014/main" id="{01B6B7D4-F7F4-46EA-94C0-7CC628B9A04D}"/>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362200" y="34565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05" name="Line 78">
            <a:extLst>
              <a:ext uri="{FF2B5EF4-FFF2-40B4-BE49-F238E27FC236}">
                <a16:creationId xmlns:a16="http://schemas.microsoft.com/office/drawing/2014/main" id="{C8BCD7E9-AC5C-444C-9824-6D05AA27B347}"/>
              </a:ext>
            </a:extLst>
          </p:cNvPr>
          <p:cNvSpPr>
            <a:spLocks noChangeShapeType="1"/>
          </p:cNvSpPr>
          <p:nvPr/>
        </p:nvSpPr>
        <p:spPr bwMode="auto">
          <a:xfrm flipH="1" flipV="1">
            <a:off x="2590800" y="3907412"/>
            <a:ext cx="838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506" name="Line 79">
            <a:extLst>
              <a:ext uri="{FF2B5EF4-FFF2-40B4-BE49-F238E27FC236}">
                <a16:creationId xmlns:a16="http://schemas.microsoft.com/office/drawing/2014/main" id="{019DEBF0-791F-4112-8959-0F962C733397}"/>
              </a:ext>
            </a:extLst>
          </p:cNvPr>
          <p:cNvSpPr>
            <a:spLocks noChangeShapeType="1"/>
          </p:cNvSpPr>
          <p:nvPr/>
        </p:nvSpPr>
        <p:spPr bwMode="auto">
          <a:xfrm flipH="1">
            <a:off x="2438400" y="4288412"/>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507" name="Line 80">
            <a:extLst>
              <a:ext uri="{FF2B5EF4-FFF2-40B4-BE49-F238E27FC236}">
                <a16:creationId xmlns:a16="http://schemas.microsoft.com/office/drawing/2014/main" id="{668D149B-FBD4-4C05-9A17-6157A1809B82}"/>
              </a:ext>
            </a:extLst>
          </p:cNvPr>
          <p:cNvSpPr>
            <a:spLocks noChangeShapeType="1"/>
          </p:cNvSpPr>
          <p:nvPr/>
        </p:nvSpPr>
        <p:spPr bwMode="auto">
          <a:xfrm flipH="1">
            <a:off x="2667000" y="4364612"/>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pic>
        <p:nvPicPr>
          <p:cNvPr id="18508" name="Picture 81">
            <a:extLst>
              <a:ext uri="{FF2B5EF4-FFF2-40B4-BE49-F238E27FC236}">
                <a16:creationId xmlns:a16="http://schemas.microsoft.com/office/drawing/2014/main" id="{722B12D0-B2DE-4981-8FF9-46117CB9440B}"/>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286000" y="37550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09" name="Picture 82">
            <a:extLst>
              <a:ext uri="{FF2B5EF4-FFF2-40B4-BE49-F238E27FC236}">
                <a16:creationId xmlns:a16="http://schemas.microsoft.com/office/drawing/2014/main" id="{1EE8AB88-16F2-4419-982A-4A49C1F5A2E2}"/>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209800" y="42122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10" name="Picture 83">
            <a:extLst>
              <a:ext uri="{FF2B5EF4-FFF2-40B4-BE49-F238E27FC236}">
                <a16:creationId xmlns:a16="http://schemas.microsoft.com/office/drawing/2014/main" id="{1327AF7C-6AFE-4C07-A1A7-31BCCF7F79A7}"/>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362200" y="45932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1" name="Line 84">
            <a:extLst>
              <a:ext uri="{FF2B5EF4-FFF2-40B4-BE49-F238E27FC236}">
                <a16:creationId xmlns:a16="http://schemas.microsoft.com/office/drawing/2014/main" id="{EC11603C-332D-4F2F-9D7E-77B02FBBD8D2}"/>
              </a:ext>
            </a:extLst>
          </p:cNvPr>
          <p:cNvSpPr>
            <a:spLocks noChangeShapeType="1"/>
          </p:cNvSpPr>
          <p:nvPr/>
        </p:nvSpPr>
        <p:spPr bwMode="auto">
          <a:xfrm flipV="1">
            <a:off x="7924800" y="2612012"/>
            <a:ext cx="10668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512" name="Line 85">
            <a:extLst>
              <a:ext uri="{FF2B5EF4-FFF2-40B4-BE49-F238E27FC236}">
                <a16:creationId xmlns:a16="http://schemas.microsoft.com/office/drawing/2014/main" id="{B8AB9022-0B3F-43C8-8E95-9EF2530D94E1}"/>
              </a:ext>
            </a:extLst>
          </p:cNvPr>
          <p:cNvSpPr>
            <a:spLocks noChangeShapeType="1"/>
          </p:cNvSpPr>
          <p:nvPr/>
        </p:nvSpPr>
        <p:spPr bwMode="auto">
          <a:xfrm>
            <a:off x="7924800" y="3069212"/>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pic>
        <p:nvPicPr>
          <p:cNvPr id="18513" name="Picture 86">
            <a:extLst>
              <a:ext uri="{FF2B5EF4-FFF2-40B4-BE49-F238E27FC236}">
                <a16:creationId xmlns:a16="http://schemas.microsoft.com/office/drawing/2014/main" id="{0136DFF8-E5B3-4296-9BA1-A1C24CFDF0E8}"/>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8991600" y="24596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514" name="Picture 87">
            <a:extLst>
              <a:ext uri="{FF2B5EF4-FFF2-40B4-BE49-F238E27FC236}">
                <a16:creationId xmlns:a16="http://schemas.microsoft.com/office/drawing/2014/main" id="{0360FE13-CFA9-441B-8BC8-F8E35BAE2830}"/>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9067800" y="299301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5" name="Text Box 88">
            <a:extLst>
              <a:ext uri="{FF2B5EF4-FFF2-40B4-BE49-F238E27FC236}">
                <a16:creationId xmlns:a16="http://schemas.microsoft.com/office/drawing/2014/main" id="{3838E64C-FBE5-4F12-BA72-A69D33B1BEA0}"/>
              </a:ext>
            </a:extLst>
          </p:cNvPr>
          <p:cNvSpPr txBox="1">
            <a:spLocks noChangeArrowheads="1"/>
          </p:cNvSpPr>
          <p:nvPr/>
        </p:nvSpPr>
        <p:spPr bwMode="auto">
          <a:xfrm>
            <a:off x="5881688" y="4809112"/>
            <a:ext cx="923330"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a:latin typeface="Microsoft YaHei" panose="020B0503020204020204" pitchFamily="34" charset="-122"/>
                <a:ea typeface="Microsoft YaHei" panose="020B0503020204020204" pitchFamily="34" charset="-122"/>
              </a:rPr>
              <a:t>地区中心</a:t>
            </a:r>
          </a:p>
        </p:txBody>
      </p:sp>
      <p:sp>
        <p:nvSpPr>
          <p:cNvPr id="29781" name="Text Box 93">
            <a:extLst>
              <a:ext uri="{FF2B5EF4-FFF2-40B4-BE49-F238E27FC236}">
                <a16:creationId xmlns:a16="http://schemas.microsoft.com/office/drawing/2014/main" id="{D41E5168-152B-4A3F-85D3-FF9F53BBCE45}"/>
              </a:ext>
            </a:extLst>
          </p:cNvPr>
          <p:cNvSpPr txBox="1">
            <a:spLocks noChangeArrowheads="1"/>
          </p:cNvSpPr>
          <p:nvPr/>
        </p:nvSpPr>
        <p:spPr bwMode="auto">
          <a:xfrm>
            <a:off x="684815" y="1582960"/>
            <a:ext cx="3062288" cy="941155"/>
          </a:xfrm>
          <a:prstGeom prst="rect">
            <a:avLst/>
          </a:prstGeom>
          <a:noFill/>
          <a:ln>
            <a:noFill/>
          </a:ln>
        </p:spPr>
        <p:txBody>
          <a:bodyPr>
            <a:spAutoFit/>
          </a:bodyPr>
          <a:lstStyle>
            <a:lvl1pPr eaLnBrk="0" hangingPunct="0">
              <a:defRPr kumimoji="1">
                <a:solidFill>
                  <a:schemeClr val="tx1"/>
                </a:solidFill>
                <a:latin typeface="Comic Sans MS" pitchFamily="66" charset="0"/>
                <a:ea typeface="楷体_GB2312" pitchFamily="49" charset="-122"/>
              </a:defRPr>
            </a:lvl1pPr>
            <a:lvl2pPr marL="742950" indent="-285750" eaLnBrk="0" hangingPunct="0">
              <a:defRPr kumimoji="1">
                <a:solidFill>
                  <a:schemeClr val="tx1"/>
                </a:solidFill>
                <a:latin typeface="Comic Sans MS" pitchFamily="66" charset="0"/>
                <a:ea typeface="楷体_GB2312" pitchFamily="49" charset="-122"/>
              </a:defRPr>
            </a:lvl2pPr>
            <a:lvl3pPr marL="1143000" indent="-228600" eaLnBrk="0" hangingPunct="0">
              <a:defRPr kumimoji="1">
                <a:solidFill>
                  <a:schemeClr val="tx1"/>
                </a:solidFill>
                <a:latin typeface="Comic Sans MS" pitchFamily="66" charset="0"/>
                <a:ea typeface="楷体_GB2312" pitchFamily="49" charset="-122"/>
              </a:defRPr>
            </a:lvl3pPr>
            <a:lvl4pPr marL="1600200" indent="-228600" eaLnBrk="0" hangingPunct="0">
              <a:defRPr kumimoji="1">
                <a:solidFill>
                  <a:schemeClr val="tx1"/>
                </a:solidFill>
                <a:latin typeface="Comic Sans MS" pitchFamily="66" charset="0"/>
                <a:ea typeface="楷体_GB2312" pitchFamily="49" charset="-122"/>
              </a:defRPr>
            </a:lvl4pPr>
            <a:lvl5pPr marL="2057400" indent="-228600" eaLnBrk="0" hangingPunct="0">
              <a:defRPr kumimoji="1">
                <a:solidFill>
                  <a:schemeClr val="tx1"/>
                </a:solidFill>
                <a:latin typeface="Comic Sans MS" pitchFamily="66" charset="0"/>
                <a:ea typeface="楷体_GB2312" pitchFamily="49" charset="-122"/>
              </a:defRPr>
            </a:lvl5pPr>
            <a:lvl6pPr marL="2514600" indent="-228600" eaLnBrk="0" fontAlgn="base" hangingPunct="0">
              <a:lnSpc>
                <a:spcPct val="120000"/>
              </a:lnSpc>
              <a:spcBef>
                <a:spcPct val="10000"/>
              </a:spcBef>
              <a:spcAft>
                <a:spcPct val="0"/>
              </a:spcAft>
              <a:buClr>
                <a:schemeClr val="tx1"/>
              </a:buClr>
              <a:buFont typeface="Symbol" pitchFamily="18" charset="2"/>
              <a:defRPr kumimoji="1">
                <a:solidFill>
                  <a:schemeClr val="tx1"/>
                </a:solidFill>
                <a:latin typeface="Comic Sans MS" pitchFamily="66" charset="0"/>
                <a:ea typeface="楷体_GB2312" pitchFamily="49" charset="-122"/>
              </a:defRPr>
            </a:lvl6pPr>
            <a:lvl7pPr marL="2971800" indent="-228600" eaLnBrk="0" fontAlgn="base" hangingPunct="0">
              <a:lnSpc>
                <a:spcPct val="120000"/>
              </a:lnSpc>
              <a:spcBef>
                <a:spcPct val="10000"/>
              </a:spcBef>
              <a:spcAft>
                <a:spcPct val="0"/>
              </a:spcAft>
              <a:buClr>
                <a:schemeClr val="tx1"/>
              </a:buClr>
              <a:buFont typeface="Symbol" pitchFamily="18" charset="2"/>
              <a:defRPr kumimoji="1">
                <a:solidFill>
                  <a:schemeClr val="tx1"/>
                </a:solidFill>
                <a:latin typeface="Comic Sans MS" pitchFamily="66" charset="0"/>
                <a:ea typeface="楷体_GB2312" pitchFamily="49" charset="-122"/>
              </a:defRPr>
            </a:lvl7pPr>
            <a:lvl8pPr marL="3429000" indent="-228600" eaLnBrk="0" fontAlgn="base" hangingPunct="0">
              <a:lnSpc>
                <a:spcPct val="120000"/>
              </a:lnSpc>
              <a:spcBef>
                <a:spcPct val="10000"/>
              </a:spcBef>
              <a:spcAft>
                <a:spcPct val="0"/>
              </a:spcAft>
              <a:buClr>
                <a:schemeClr val="tx1"/>
              </a:buClr>
              <a:buFont typeface="Symbol" pitchFamily="18" charset="2"/>
              <a:defRPr kumimoji="1">
                <a:solidFill>
                  <a:schemeClr val="tx1"/>
                </a:solidFill>
                <a:latin typeface="Comic Sans MS" pitchFamily="66" charset="0"/>
                <a:ea typeface="楷体_GB2312" pitchFamily="49" charset="-122"/>
              </a:defRPr>
            </a:lvl8pPr>
            <a:lvl9pPr marL="3886200" indent="-228600" eaLnBrk="0" fontAlgn="base" hangingPunct="0">
              <a:lnSpc>
                <a:spcPct val="120000"/>
              </a:lnSpc>
              <a:spcBef>
                <a:spcPct val="10000"/>
              </a:spcBef>
              <a:spcAft>
                <a:spcPct val="0"/>
              </a:spcAft>
              <a:buClr>
                <a:schemeClr val="tx1"/>
              </a:buClr>
              <a:buFont typeface="Symbol" pitchFamily="18" charset="2"/>
              <a:defRPr kumimoji="1">
                <a:solidFill>
                  <a:schemeClr val="tx1"/>
                </a:solidFill>
                <a:latin typeface="Comic Sans MS" pitchFamily="66" charset="0"/>
                <a:ea typeface="楷体_GB2312" pitchFamily="49" charset="-122"/>
              </a:defRPr>
            </a:lvl9pPr>
          </a:lstStyle>
          <a:p>
            <a:pPr algn="ctr" eaLnBrk="1" hangingPunct="1">
              <a:lnSpc>
                <a:spcPct val="120000"/>
              </a:lnSpc>
              <a:spcBef>
                <a:spcPct val="10000"/>
              </a:spcBef>
              <a:buClr>
                <a:schemeClr val="tx1"/>
              </a:buClr>
              <a:buFont typeface="Symbol" panose="05050102010706020507" pitchFamily="18" charset="2"/>
              <a:buNone/>
              <a:defRPr/>
            </a:pPr>
            <a:r>
              <a:rPr lang="zh-CN" altLang="en-US" sz="2400" dirty="0">
                <a:latin typeface="Microsoft YaHei" panose="020B0503020204020204" pitchFamily="34" charset="-122"/>
                <a:ea typeface="Microsoft YaHei" panose="020B0503020204020204" pitchFamily="34" charset="-122"/>
              </a:rPr>
              <a:t>全球唯一自治系统号</a:t>
            </a:r>
            <a:r>
              <a:rPr lang="en-US" altLang="zh-CN" sz="2400" dirty="0">
                <a:latin typeface="Microsoft YaHei" panose="020B0503020204020204" pitchFamily="34" charset="-122"/>
                <a:ea typeface="Microsoft YaHei" panose="020B0503020204020204" pitchFamily="34" charset="-122"/>
              </a:rPr>
              <a:t>AS: 4538</a:t>
            </a:r>
          </a:p>
        </p:txBody>
      </p:sp>
      <p:pic>
        <p:nvPicPr>
          <p:cNvPr id="18517" name="Picture 94">
            <a:extLst>
              <a:ext uri="{FF2B5EF4-FFF2-40B4-BE49-F238E27FC236}">
                <a16:creationId xmlns:a16="http://schemas.microsoft.com/office/drawing/2014/main" id="{26957329-8BBB-4DF8-A1B9-24A2AB6CDDDB}"/>
              </a:ext>
            </a:extLst>
          </p:cNvPr>
          <p:cNvPicPr>
            <a:picLocks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590800" y="6279137"/>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18" name="Text Box 95">
            <a:extLst>
              <a:ext uri="{FF2B5EF4-FFF2-40B4-BE49-F238E27FC236}">
                <a16:creationId xmlns:a16="http://schemas.microsoft.com/office/drawing/2014/main" id="{A6298BF4-C52C-4939-A830-622BBAFFC163}"/>
              </a:ext>
            </a:extLst>
          </p:cNvPr>
          <p:cNvSpPr txBox="1">
            <a:spLocks noChangeArrowheads="1"/>
          </p:cNvSpPr>
          <p:nvPr/>
        </p:nvSpPr>
        <p:spPr bwMode="auto">
          <a:xfrm>
            <a:off x="3200400" y="6260087"/>
            <a:ext cx="1671638"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dirty="0">
                <a:latin typeface="Microsoft YaHei" panose="020B0503020204020204" pitchFamily="34" charset="-122"/>
                <a:ea typeface="Microsoft YaHei" panose="020B0503020204020204" pitchFamily="34" charset="-122"/>
              </a:rPr>
              <a:t>地区级</a:t>
            </a:r>
            <a:endParaRPr lang="en-US" altLang="zh-CN" sz="1800" dirty="0">
              <a:latin typeface="Microsoft YaHei" panose="020B0503020204020204" pitchFamily="34" charset="-122"/>
              <a:ea typeface="Microsoft YaHei" panose="020B0503020204020204" pitchFamily="34" charset="-122"/>
            </a:endParaRPr>
          </a:p>
        </p:txBody>
      </p:sp>
      <p:pic>
        <p:nvPicPr>
          <p:cNvPr id="18519" name="Picture 96">
            <a:extLst>
              <a:ext uri="{FF2B5EF4-FFF2-40B4-BE49-F238E27FC236}">
                <a16:creationId xmlns:a16="http://schemas.microsoft.com/office/drawing/2014/main" id="{26267265-A813-4E56-ACE8-9BDDB5FBF475}"/>
              </a:ext>
            </a:extLst>
          </p:cNvPr>
          <p:cNvPicPr>
            <a:picLocks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4167188" y="630929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0" name="Text Box 97">
            <a:extLst>
              <a:ext uri="{FF2B5EF4-FFF2-40B4-BE49-F238E27FC236}">
                <a16:creationId xmlns:a16="http://schemas.microsoft.com/office/drawing/2014/main" id="{D2D57A1E-8A6A-4BA9-B7CA-48DC10F1F8D3}"/>
              </a:ext>
            </a:extLst>
          </p:cNvPr>
          <p:cNvSpPr txBox="1">
            <a:spLocks noChangeArrowheads="1"/>
          </p:cNvSpPr>
          <p:nvPr/>
        </p:nvSpPr>
        <p:spPr bwMode="auto">
          <a:xfrm>
            <a:off x="4738688" y="6252149"/>
            <a:ext cx="1384300"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dirty="0">
                <a:latin typeface="Microsoft YaHei" panose="020B0503020204020204" pitchFamily="34" charset="-122"/>
                <a:ea typeface="Microsoft YaHei" panose="020B0503020204020204" pitchFamily="34" charset="-122"/>
              </a:rPr>
              <a:t>省级</a:t>
            </a:r>
            <a:endParaRPr lang="en-US" altLang="zh-CN" sz="1800" dirty="0">
              <a:latin typeface="Microsoft YaHei" panose="020B0503020204020204" pitchFamily="34" charset="-122"/>
              <a:ea typeface="Microsoft YaHei" panose="020B0503020204020204" pitchFamily="34" charset="-122"/>
            </a:endParaRPr>
          </a:p>
        </p:txBody>
      </p:sp>
      <p:pic>
        <p:nvPicPr>
          <p:cNvPr id="18521" name="Picture 98">
            <a:extLst>
              <a:ext uri="{FF2B5EF4-FFF2-40B4-BE49-F238E27FC236}">
                <a16:creationId xmlns:a16="http://schemas.microsoft.com/office/drawing/2014/main" id="{4F8A9314-6031-42D9-B2B8-F23A0FCE3D7B}"/>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595938" y="6288662"/>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2" name="Text Box 99">
            <a:extLst>
              <a:ext uri="{FF2B5EF4-FFF2-40B4-BE49-F238E27FC236}">
                <a16:creationId xmlns:a16="http://schemas.microsoft.com/office/drawing/2014/main" id="{A50F97F7-B1C9-4625-B9D4-41277E45F32E}"/>
              </a:ext>
            </a:extLst>
          </p:cNvPr>
          <p:cNvSpPr txBox="1">
            <a:spLocks noChangeArrowheads="1"/>
          </p:cNvSpPr>
          <p:nvPr/>
        </p:nvSpPr>
        <p:spPr bwMode="auto">
          <a:xfrm>
            <a:off x="6092826" y="6237862"/>
            <a:ext cx="2055751" cy="30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dirty="0">
                <a:latin typeface="Microsoft YaHei" panose="020B0503020204020204" pitchFamily="34" charset="-122"/>
                <a:ea typeface="Microsoft YaHei" panose="020B0503020204020204" pitchFamily="34" charset="-122"/>
              </a:rPr>
              <a:t>接入用户</a:t>
            </a:r>
            <a:r>
              <a:rPr lang="en-US" altLang="zh-CN" sz="1800" dirty="0">
                <a:latin typeface="Microsoft YaHei" panose="020B0503020204020204" pitchFamily="34" charset="-122"/>
                <a:ea typeface="Microsoft YaHei" panose="020B0503020204020204" pitchFamily="34" charset="-122"/>
              </a:rPr>
              <a:t>/</a:t>
            </a:r>
            <a:r>
              <a:rPr lang="zh-CN" altLang="en-US" sz="1800" dirty="0">
                <a:latin typeface="Microsoft YaHei" panose="020B0503020204020204" pitchFamily="34" charset="-122"/>
                <a:ea typeface="Microsoft YaHei" panose="020B0503020204020204" pitchFamily="34" charset="-122"/>
              </a:rPr>
              <a:t>互联单位</a:t>
            </a:r>
          </a:p>
        </p:txBody>
      </p:sp>
      <p:sp>
        <p:nvSpPr>
          <p:cNvPr id="18523" name="Oval 100">
            <a:extLst>
              <a:ext uri="{FF2B5EF4-FFF2-40B4-BE49-F238E27FC236}">
                <a16:creationId xmlns:a16="http://schemas.microsoft.com/office/drawing/2014/main" id="{C726E292-7B91-45A2-A2F3-0F0395F1D578}"/>
              </a:ext>
            </a:extLst>
          </p:cNvPr>
          <p:cNvSpPr>
            <a:spLocks noChangeArrowheads="1"/>
          </p:cNvSpPr>
          <p:nvPr/>
        </p:nvSpPr>
        <p:spPr bwMode="auto">
          <a:xfrm>
            <a:off x="4343400" y="2237362"/>
            <a:ext cx="2514600" cy="2895600"/>
          </a:xfrm>
          <a:prstGeom prst="ellipse">
            <a:avLst/>
          </a:prstGeom>
          <a:noFill/>
          <a:ln w="9525">
            <a:solidFill>
              <a:srgbClr val="FF0000"/>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2000">
              <a:latin typeface="Microsoft YaHei" panose="020B0503020204020204" pitchFamily="34" charset="-122"/>
              <a:ea typeface="Microsoft YaHei" panose="020B0503020204020204" pitchFamily="34" charset="-122"/>
            </a:endParaRPr>
          </a:p>
        </p:txBody>
      </p:sp>
      <p:sp>
        <p:nvSpPr>
          <p:cNvPr id="18524" name="Oval 101">
            <a:extLst>
              <a:ext uri="{FF2B5EF4-FFF2-40B4-BE49-F238E27FC236}">
                <a16:creationId xmlns:a16="http://schemas.microsoft.com/office/drawing/2014/main" id="{A443A221-817B-4EA0-9C7A-E523294AD591}"/>
              </a:ext>
            </a:extLst>
          </p:cNvPr>
          <p:cNvSpPr>
            <a:spLocks noChangeArrowheads="1"/>
          </p:cNvSpPr>
          <p:nvPr/>
        </p:nvSpPr>
        <p:spPr bwMode="auto">
          <a:xfrm>
            <a:off x="3429000" y="1475362"/>
            <a:ext cx="4495800" cy="4343400"/>
          </a:xfrm>
          <a:prstGeom prst="ellipse">
            <a:avLst/>
          </a:prstGeom>
          <a:noFill/>
          <a:ln w="9525">
            <a:solidFill>
              <a:srgbClr val="0000FF"/>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endParaRPr lang="zh-CN" altLang="en-US" sz="2000">
              <a:latin typeface="Microsoft YaHei" panose="020B0503020204020204" pitchFamily="34" charset="-122"/>
              <a:ea typeface="Microsoft YaHei" panose="020B0503020204020204" pitchFamily="34" charset="-122"/>
            </a:endParaRPr>
          </a:p>
        </p:txBody>
      </p:sp>
      <p:sp>
        <p:nvSpPr>
          <p:cNvPr id="18525" name="Text Box 102">
            <a:extLst>
              <a:ext uri="{FF2B5EF4-FFF2-40B4-BE49-F238E27FC236}">
                <a16:creationId xmlns:a16="http://schemas.microsoft.com/office/drawing/2014/main" id="{AB5748B9-6EE9-4D7E-BA6B-8827A454E271}"/>
              </a:ext>
            </a:extLst>
          </p:cNvPr>
          <p:cNvSpPr txBox="1">
            <a:spLocks noChangeArrowheads="1"/>
          </p:cNvSpPr>
          <p:nvPr/>
        </p:nvSpPr>
        <p:spPr bwMode="auto">
          <a:xfrm>
            <a:off x="4079876" y="1989712"/>
            <a:ext cx="88357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2400">
                <a:latin typeface="Microsoft YaHei" panose="020B0503020204020204" pitchFamily="34" charset="-122"/>
                <a:ea typeface="Microsoft YaHei" panose="020B0503020204020204" pitchFamily="34" charset="-122"/>
              </a:rPr>
              <a:t>IBGP</a:t>
            </a:r>
          </a:p>
        </p:txBody>
      </p:sp>
      <p:sp>
        <p:nvSpPr>
          <p:cNvPr id="18526" name="Line 103">
            <a:extLst>
              <a:ext uri="{FF2B5EF4-FFF2-40B4-BE49-F238E27FC236}">
                <a16:creationId xmlns:a16="http://schemas.microsoft.com/office/drawing/2014/main" id="{DDA9EB37-B716-49B7-8D0C-206AB3AA0FFD}"/>
              </a:ext>
            </a:extLst>
          </p:cNvPr>
          <p:cNvSpPr>
            <a:spLocks noChangeShapeType="1"/>
          </p:cNvSpPr>
          <p:nvPr/>
        </p:nvSpPr>
        <p:spPr bwMode="auto">
          <a:xfrm flipV="1">
            <a:off x="7896226" y="1940499"/>
            <a:ext cx="936625" cy="647700"/>
          </a:xfrm>
          <a:prstGeom prst="line">
            <a:avLst/>
          </a:prstGeom>
          <a:noFill/>
          <a:ln w="952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Microsoft YaHei" panose="020B0503020204020204" pitchFamily="34" charset="-122"/>
              <a:ea typeface="Microsoft YaHei" panose="020B0503020204020204" pitchFamily="34" charset="-122"/>
            </a:endParaRPr>
          </a:p>
        </p:txBody>
      </p:sp>
      <p:sp>
        <p:nvSpPr>
          <p:cNvPr id="18527" name="Text Box 104">
            <a:extLst>
              <a:ext uri="{FF2B5EF4-FFF2-40B4-BE49-F238E27FC236}">
                <a16:creationId xmlns:a16="http://schemas.microsoft.com/office/drawing/2014/main" id="{803EE9F6-4F59-4ACC-BB02-F987C6F7AE37}"/>
              </a:ext>
            </a:extLst>
          </p:cNvPr>
          <p:cNvSpPr txBox="1">
            <a:spLocks noChangeArrowheads="1"/>
          </p:cNvSpPr>
          <p:nvPr/>
        </p:nvSpPr>
        <p:spPr bwMode="auto">
          <a:xfrm>
            <a:off x="7824788" y="1867475"/>
            <a:ext cx="96853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en-US" altLang="zh-CN" sz="2400">
                <a:latin typeface="Microsoft YaHei" panose="020B0503020204020204" pitchFamily="34" charset="-122"/>
                <a:ea typeface="Microsoft YaHei" panose="020B0503020204020204" pitchFamily="34" charset="-122"/>
              </a:rPr>
              <a:t>eBGP</a:t>
            </a:r>
          </a:p>
        </p:txBody>
      </p:sp>
      <p:pic>
        <p:nvPicPr>
          <p:cNvPr id="18528" name="Picture 105">
            <a:extLst>
              <a:ext uri="{FF2B5EF4-FFF2-40B4-BE49-F238E27FC236}">
                <a16:creationId xmlns:a16="http://schemas.microsoft.com/office/drawing/2014/main" id="{C5F6B4BD-EB46-4478-8414-7A9FE0DF4364}"/>
              </a:ext>
            </a:extLst>
          </p:cNvPr>
          <p:cNvPicPr>
            <a:picLocks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8832850" y="1724599"/>
            <a:ext cx="3048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529" name="Text Box 106">
            <a:extLst>
              <a:ext uri="{FF2B5EF4-FFF2-40B4-BE49-F238E27FC236}">
                <a16:creationId xmlns:a16="http://schemas.microsoft.com/office/drawing/2014/main" id="{BBE9AB52-3623-412B-8CC6-9BA75C0F2BE1}"/>
              </a:ext>
            </a:extLst>
          </p:cNvPr>
          <p:cNvSpPr txBox="1">
            <a:spLocks noChangeArrowheads="1"/>
          </p:cNvSpPr>
          <p:nvPr/>
        </p:nvSpPr>
        <p:spPr bwMode="auto">
          <a:xfrm>
            <a:off x="9191626" y="1651575"/>
            <a:ext cx="1107996" cy="39658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sz="3200">
                <a:solidFill>
                  <a:schemeClr val="tx1"/>
                </a:solidFill>
                <a:latin typeface="Times New Roman" panose="02020603050405020304" pitchFamily="18" charset="0"/>
                <a:ea typeface="굴림" panose="020B0600000101010101" pitchFamily="34" charset="-127"/>
              </a:defRPr>
            </a:lvl1pPr>
            <a:lvl2pPr marL="742950" indent="-285750">
              <a:spcBef>
                <a:spcPct val="20000"/>
              </a:spcBef>
              <a:buBlip>
                <a:blip r:embed="rId5"/>
              </a:buBlip>
              <a:defRPr sz="2800">
                <a:solidFill>
                  <a:schemeClr val="tx1"/>
                </a:solidFill>
                <a:latin typeface="Times New Roman" panose="02020603050405020304" pitchFamily="18" charset="0"/>
                <a:ea typeface="굴림" panose="020B0600000101010101"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굴림" panose="020B0600000101010101"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eaLnBrk="1" hangingPunct="1">
              <a:lnSpc>
                <a:spcPct val="120000"/>
              </a:lnSpc>
              <a:spcBef>
                <a:spcPct val="10000"/>
              </a:spcBef>
              <a:buClr>
                <a:schemeClr val="tx1"/>
              </a:buClr>
              <a:buFont typeface="Symbol" panose="05050102010706020507" pitchFamily="18" charset="2"/>
              <a:buNone/>
            </a:pPr>
            <a:r>
              <a:rPr lang="zh-CN" altLang="en-US" sz="1800">
                <a:latin typeface="Microsoft YaHei" panose="020B0503020204020204" pitchFamily="34" charset="-122"/>
                <a:ea typeface="Microsoft YaHei" panose="020B0503020204020204" pitchFamily="34" charset="-122"/>
              </a:rPr>
              <a:t>互联单位</a:t>
            </a:r>
          </a:p>
        </p:txBody>
      </p:sp>
      <p:sp>
        <p:nvSpPr>
          <p:cNvPr id="98" name="标题 1">
            <a:extLst>
              <a:ext uri="{FF2B5EF4-FFF2-40B4-BE49-F238E27FC236}">
                <a16:creationId xmlns:a16="http://schemas.microsoft.com/office/drawing/2014/main" id="{46B572C8-AE66-4977-B7AE-128550E678A2}"/>
              </a:ext>
            </a:extLst>
          </p:cNvPr>
          <p:cNvSpPr txBox="1">
            <a:spLocks/>
          </p:cNvSpPr>
          <p:nvPr/>
        </p:nvSpPr>
        <p:spPr>
          <a:xfrm>
            <a:off x="2139727" y="32661"/>
            <a:ext cx="7829837" cy="512990"/>
          </a:xfrm>
          <a:prstGeom prst="rect">
            <a:avLst/>
          </a:prstGeom>
        </p:spPr>
        <p:txBody>
          <a:bodyPr vert="horz"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3600" b="1"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1.2 Internet</a:t>
            </a:r>
            <a:r>
              <a:rPr lang="zh-CN" altLang="en-US" sz="3600" b="1"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发展历程</a:t>
            </a:r>
          </a:p>
        </p:txBody>
      </p:sp>
      <p:sp>
        <p:nvSpPr>
          <p:cNvPr id="2" name="标题 1">
            <a:extLst>
              <a:ext uri="{FF2B5EF4-FFF2-40B4-BE49-F238E27FC236}">
                <a16:creationId xmlns:a16="http://schemas.microsoft.com/office/drawing/2014/main" id="{EECA89DD-CFEF-2646-8022-CDD3F5DBB49D}"/>
              </a:ext>
            </a:extLst>
          </p:cNvPr>
          <p:cNvSpPr>
            <a:spLocks noGrp="1"/>
          </p:cNvSpPr>
          <p:nvPr>
            <p:ph type="title"/>
          </p:nvPr>
        </p:nvSpPr>
        <p:spPr>
          <a:xfrm>
            <a:off x="1320432" y="354013"/>
            <a:ext cx="8220812" cy="879086"/>
          </a:xfrm>
        </p:spPr>
        <p:txBody>
          <a:bodyPr>
            <a:normAutofit/>
          </a:bodyPr>
          <a:lstStyle/>
          <a:p>
            <a:r>
              <a:rPr lang="en-US" altLang="zh-CN" dirty="0">
                <a:latin typeface="微软雅黑" panose="020B0503020204020204" pitchFamily="34" charset="-122"/>
                <a:ea typeface="微软雅黑" panose="020B0503020204020204" pitchFamily="34" charset="-122"/>
              </a:rPr>
              <a:t>CERNET</a:t>
            </a:r>
            <a:r>
              <a:rPr lang="zh-CN" altLang="en-US" dirty="0">
                <a:latin typeface="微软雅黑" panose="020B0503020204020204" pitchFamily="34" charset="-122"/>
                <a:ea typeface="微软雅黑" panose="020B0503020204020204" pitchFamily="34" charset="-122"/>
              </a:rPr>
              <a:t>网络结构</a:t>
            </a:r>
          </a:p>
        </p:txBody>
      </p:sp>
      <p:sp>
        <p:nvSpPr>
          <p:cNvPr id="3" name="灯片编号占位符 2">
            <a:extLst>
              <a:ext uri="{FF2B5EF4-FFF2-40B4-BE49-F238E27FC236}">
                <a16:creationId xmlns:a16="http://schemas.microsoft.com/office/drawing/2014/main" id="{295BAACF-A42C-F642-912F-88D772AC8DCA}"/>
              </a:ext>
            </a:extLst>
          </p:cNvPr>
          <p:cNvSpPr>
            <a:spLocks noGrp="1"/>
          </p:cNvSpPr>
          <p:nvPr>
            <p:ph type="sldNum" sz="quarter" idx="12"/>
          </p:nvPr>
        </p:nvSpPr>
        <p:spPr/>
        <p:txBody>
          <a:bodyPr/>
          <a:lstStyle/>
          <a:p>
            <a:fld id="{8D4D1E41-7A09-AB4A-A4E1-09765ADA2698}" type="slidenum">
              <a:rPr kumimoji="1" lang="zh-CN" altLang="en-US" smtClean="0"/>
              <a:t>112</a:t>
            </a:fld>
            <a:endParaRPr kumimoji="1" lang="zh-CN" altLang="en-US" dirty="0"/>
          </a:p>
        </p:txBody>
      </p:sp>
      <p:sp>
        <p:nvSpPr>
          <p:cNvPr id="101" name="文本框 100">
            <a:extLst>
              <a:ext uri="{FF2B5EF4-FFF2-40B4-BE49-F238E27FC236}">
                <a16:creationId xmlns:a16="http://schemas.microsoft.com/office/drawing/2014/main" id="{91D1A614-B371-0248-B320-B05CBA2A4B0D}"/>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42307413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FFC862-3E3E-4915-93F2-F4F7815BBE32}"/>
              </a:ext>
            </a:extLst>
          </p:cNvPr>
          <p:cNvSpPr>
            <a:spLocks noGrp="1"/>
          </p:cNvSpPr>
          <p:nvPr>
            <p:ph type="title"/>
          </p:nvPr>
        </p:nvSpPr>
        <p:spPr>
          <a:xfrm>
            <a:off x="1307507" y="365126"/>
            <a:ext cx="8576721" cy="879086"/>
          </a:xfrm>
        </p:spPr>
        <p:txBody>
          <a:bodyPr>
            <a:normAutofit/>
          </a:bodyPr>
          <a:lstStyle/>
          <a:p>
            <a:r>
              <a:rPr lang="zh-CN" altLang="en-US" dirty="0"/>
              <a:t>网络设备商华为</a:t>
            </a:r>
          </a:p>
        </p:txBody>
      </p:sp>
      <p:sp>
        <p:nvSpPr>
          <p:cNvPr id="3" name="内容占位符 2">
            <a:extLst>
              <a:ext uri="{FF2B5EF4-FFF2-40B4-BE49-F238E27FC236}">
                <a16:creationId xmlns:a16="http://schemas.microsoft.com/office/drawing/2014/main" id="{04FB5DCB-1587-4EC2-B0D6-18F0FA3E247B}"/>
              </a:ext>
            </a:extLst>
          </p:cNvPr>
          <p:cNvSpPr>
            <a:spLocks noGrp="1"/>
          </p:cNvSpPr>
          <p:nvPr>
            <p:ph idx="1"/>
          </p:nvPr>
        </p:nvSpPr>
        <p:spPr>
          <a:xfrm>
            <a:off x="613785" y="1311401"/>
            <a:ext cx="6802141" cy="5089019"/>
          </a:xfrm>
        </p:spPr>
        <p:txBody>
          <a:bodyPr>
            <a:noAutofit/>
          </a:bodyPr>
          <a:lstStyle/>
          <a:p>
            <a:r>
              <a:rPr lang="zh-CN" altLang="en-US" sz="2400" dirty="0">
                <a:latin typeface="微软雅黑" panose="020B0503020204020204" pitchFamily="34" charset="-122"/>
                <a:ea typeface="微软雅黑" panose="020B0503020204020204" pitchFamily="34" charset="-122"/>
              </a:rPr>
              <a:t>华为现状</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1987</a:t>
            </a:r>
            <a:r>
              <a:rPr lang="zh-CN" altLang="en-US" sz="2000" dirty="0">
                <a:latin typeface="微软雅黑" panose="020B0503020204020204" pitchFamily="34" charset="-122"/>
                <a:ea typeface="微软雅黑" panose="020B0503020204020204" pitchFamily="34" charset="-122"/>
              </a:rPr>
              <a:t>年成立，全球</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万人，多个产品线全球第一：</a:t>
            </a:r>
            <a:br>
              <a:rPr lang="en-US" altLang="zh-CN"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宽带接入、光传输、移动接入网、移动核心网</a:t>
            </a:r>
            <a:endParaRPr lang="en-US" altLang="zh-CN"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居安思危</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solidFill>
                  <a:srgbClr val="000000"/>
                </a:solidFill>
                <a:latin typeface="微软雅黑" panose="020B0503020204020204" pitchFamily="34" charset="-122"/>
                <a:ea typeface="微软雅黑" panose="020B0503020204020204" pitchFamily="34" charset="-122"/>
              </a:rPr>
              <a:t>2000</a:t>
            </a:r>
            <a:r>
              <a:rPr lang="zh-CN" altLang="en-US" sz="2000" dirty="0">
                <a:solidFill>
                  <a:srgbClr val="000000"/>
                </a:solidFill>
                <a:latin typeface="微软雅黑" panose="020B0503020204020204" pitchFamily="34" charset="-122"/>
                <a:ea typeface="微软雅黑" panose="020B0503020204020204" pitchFamily="34" charset="-122"/>
              </a:rPr>
              <a:t>年全国电子百强首位，任正非：华为的冬天</a:t>
            </a:r>
            <a:br>
              <a:rPr lang="en-US" altLang="zh-CN" sz="2000" dirty="0">
                <a:solidFill>
                  <a:srgbClr val="000000"/>
                </a:solidFill>
                <a:latin typeface="微软雅黑" panose="020B0503020204020204" pitchFamily="34" charset="-122"/>
                <a:ea typeface="微软雅黑" panose="020B0503020204020204" pitchFamily="34" charset="-122"/>
              </a:rPr>
            </a:b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2000</a:t>
            </a:r>
            <a:r>
              <a:rPr lang="zh-CN" altLang="en-US" sz="2000" dirty="0">
                <a:solidFill>
                  <a:srgbClr val="000000"/>
                </a:solidFill>
                <a:latin typeface="微软雅黑" panose="020B0503020204020204" pitchFamily="34" charset="-122"/>
                <a:ea typeface="微软雅黑" panose="020B0503020204020204" pitchFamily="34" charset="-122"/>
              </a:rPr>
              <a:t>年互联网泡沫来临，设备商巨头朗讯倒下）</a:t>
            </a:r>
            <a:endParaRPr lang="en-US" altLang="zh-CN" sz="2000" dirty="0">
              <a:solidFill>
                <a:srgbClr val="000000"/>
              </a:solidFill>
              <a:latin typeface="微软雅黑" panose="020B0503020204020204" pitchFamily="34" charset="-122"/>
              <a:ea typeface="微软雅黑" panose="020B0503020204020204" pitchFamily="34" charset="-122"/>
            </a:endParaRPr>
          </a:p>
          <a:p>
            <a:pPr lvl="1"/>
            <a:r>
              <a:rPr lang="zh-CN" altLang="en-US" sz="2000" dirty="0">
                <a:solidFill>
                  <a:srgbClr val="000000"/>
                </a:solidFill>
                <a:latin typeface="微软雅黑" panose="020B0503020204020204" pitchFamily="34" charset="-122"/>
                <a:ea typeface="微软雅黑" panose="020B0503020204020204" pitchFamily="34" charset="-122"/>
              </a:rPr>
              <a:t>长期坚持超大研发投入，从幕后走到前台</a:t>
            </a:r>
            <a:endParaRPr lang="en-US" altLang="zh-CN" sz="2000" dirty="0">
              <a:solidFill>
                <a:srgbClr val="000000"/>
              </a:solidFill>
              <a:latin typeface="微软雅黑" panose="020B0503020204020204" pitchFamily="34" charset="-122"/>
              <a:ea typeface="微软雅黑" panose="020B0503020204020204" pitchFamily="34" charset="-122"/>
            </a:endParaRPr>
          </a:p>
          <a:p>
            <a:pPr lvl="1"/>
            <a:r>
              <a:rPr lang="zh-CN" altLang="en-US" sz="2000" dirty="0">
                <a:solidFill>
                  <a:srgbClr val="000000"/>
                </a:solidFill>
                <a:latin typeface="微软雅黑" panose="020B0503020204020204" pitchFamily="34" charset="-122"/>
                <a:ea typeface="微软雅黑" panose="020B0503020204020204" pitchFamily="34" charset="-122"/>
              </a:rPr>
              <a:t>长期受美国打压，难进全球最大市场美国</a:t>
            </a:r>
            <a:endParaRPr lang="en-US" altLang="zh-CN" sz="2000" b="0" i="0" dirty="0">
              <a:solidFill>
                <a:srgbClr val="000000"/>
              </a:solidFill>
              <a:effectLst/>
              <a:latin typeface="微软雅黑" panose="020B0503020204020204" pitchFamily="34" charset="-122"/>
              <a:ea typeface="微软雅黑" panose="020B0503020204020204" pitchFamily="34" charset="-122"/>
            </a:endParaRPr>
          </a:p>
          <a:p>
            <a:pPr lvl="1"/>
            <a:r>
              <a:rPr lang="zh-CN" altLang="en-US" sz="2000" dirty="0">
                <a:solidFill>
                  <a:srgbClr val="C00000"/>
                </a:solidFill>
                <a:latin typeface="微软雅黑" panose="020B0503020204020204" pitchFamily="34" charset="-122"/>
                <a:ea typeface="微软雅黑" panose="020B0503020204020204" pitchFamily="34" charset="-122"/>
              </a:rPr>
              <a:t>美国科技封锁，自研芯片等备胎转正，焉知非福？</a:t>
            </a:r>
            <a:endParaRPr lang="en-US" altLang="zh-CN" sz="2000" dirty="0">
              <a:solidFill>
                <a:srgbClr val="C00000"/>
              </a:solidFill>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技术领先、标准引领，秉持开放共赢</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学术：活跃于</a:t>
            </a:r>
            <a:r>
              <a:rPr lang="en-US" altLang="zh-CN" sz="2000" dirty="0" err="1">
                <a:latin typeface="微软雅黑" panose="020B0503020204020204" pitchFamily="34" charset="-122"/>
                <a:ea typeface="微软雅黑" panose="020B0503020204020204" pitchFamily="34" charset="-122"/>
              </a:rPr>
              <a:t>Sigcomm</a:t>
            </a:r>
            <a:r>
              <a:rPr lang="zh-CN" altLang="en-US" sz="2000" dirty="0">
                <a:latin typeface="微软雅黑" panose="020B0503020204020204" pitchFamily="34" charset="-122"/>
                <a:ea typeface="微软雅黑" panose="020B0503020204020204" pitchFamily="34" charset="-122"/>
              </a:rPr>
              <a:t>等顶级学术会议</a:t>
            </a:r>
            <a:endParaRPr lang="zh-CN" altLang="en-US" sz="2000" dirty="0"/>
          </a:p>
          <a:p>
            <a:pPr lvl="1"/>
            <a:r>
              <a:rPr lang="zh-CN" altLang="en-US" sz="2000" dirty="0">
                <a:latin typeface="微软雅黑" panose="020B0503020204020204" pitchFamily="34" charset="-122"/>
                <a:ea typeface="微软雅黑" panose="020B0503020204020204" pitchFamily="34" charset="-122"/>
              </a:rPr>
              <a:t>专利：专利申请全球第一，从数量到质量</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标准：</a:t>
            </a:r>
            <a:r>
              <a:rPr lang="en-US" altLang="zh-CN" sz="2000" dirty="0">
                <a:latin typeface="微软雅黑" panose="020B0503020204020204" pitchFamily="34" charset="-122"/>
                <a:ea typeface="微软雅黑" panose="020B0503020204020204" pitchFamily="34" charset="-122"/>
              </a:rPr>
              <a:t>3GPP</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ITU-T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IETF</a:t>
            </a:r>
            <a:r>
              <a:rPr lang="zh-CN" altLang="en-US" sz="2000" dirty="0">
                <a:latin typeface="微软雅黑" panose="020B0503020204020204" pitchFamily="34" charset="-122"/>
                <a:ea typeface="微软雅黑" panose="020B0503020204020204" pitchFamily="34" charset="-122"/>
              </a:rPr>
              <a:t>等标准主要贡献者</a:t>
            </a:r>
            <a:endParaRPr lang="en-US" altLang="zh-CN" sz="2000" dirty="0">
              <a:latin typeface="微软雅黑" panose="020B0503020204020204" pitchFamily="34" charset="-122"/>
              <a:ea typeface="微软雅黑" panose="020B0503020204020204" pitchFamily="34" charset="-122"/>
            </a:endParaRPr>
          </a:p>
        </p:txBody>
      </p:sp>
      <p:pic>
        <p:nvPicPr>
          <p:cNvPr id="24" name="图片 23">
            <a:extLst>
              <a:ext uri="{FF2B5EF4-FFF2-40B4-BE49-F238E27FC236}">
                <a16:creationId xmlns:a16="http://schemas.microsoft.com/office/drawing/2014/main" id="{D27CB475-D63D-478E-8879-E64CECF99BDE}"/>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r="1614"/>
          <a:stretch/>
        </p:blipFill>
        <p:spPr>
          <a:xfrm>
            <a:off x="7349298" y="1311401"/>
            <a:ext cx="4609532" cy="3056325"/>
          </a:xfrm>
          <a:prstGeom prst="rect">
            <a:avLst/>
          </a:prstGeom>
          <a:ln>
            <a:solidFill>
              <a:schemeClr val="tx1"/>
            </a:solidFill>
          </a:ln>
        </p:spPr>
      </p:pic>
      <p:grpSp>
        <p:nvGrpSpPr>
          <p:cNvPr id="25" name="组合 24">
            <a:extLst>
              <a:ext uri="{FF2B5EF4-FFF2-40B4-BE49-F238E27FC236}">
                <a16:creationId xmlns:a16="http://schemas.microsoft.com/office/drawing/2014/main" id="{FA7A43CF-BAD8-444E-B0A6-EEB648CB0698}"/>
              </a:ext>
            </a:extLst>
          </p:cNvPr>
          <p:cNvGrpSpPr/>
          <p:nvPr/>
        </p:nvGrpSpPr>
        <p:grpSpPr>
          <a:xfrm>
            <a:off x="7847792" y="4593022"/>
            <a:ext cx="3744006" cy="1797521"/>
            <a:chOff x="6865" y="1525"/>
            <a:chExt cx="5563" cy="2831"/>
          </a:xfrm>
        </p:grpSpPr>
        <p:pic>
          <p:nvPicPr>
            <p:cNvPr id="26" name="图片 25">
              <a:extLst>
                <a:ext uri="{FF2B5EF4-FFF2-40B4-BE49-F238E27FC236}">
                  <a16:creationId xmlns:a16="http://schemas.microsoft.com/office/drawing/2014/main" id="{9E2E61B7-F701-4B91-966D-5971C801148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556" y="1652"/>
              <a:ext cx="1696" cy="2432"/>
            </a:xfrm>
            <a:prstGeom prst="rect">
              <a:avLst/>
            </a:prstGeom>
          </p:spPr>
        </p:pic>
        <p:sp>
          <p:nvSpPr>
            <p:cNvPr id="27" name="文本框 26">
              <a:extLst>
                <a:ext uri="{FF2B5EF4-FFF2-40B4-BE49-F238E27FC236}">
                  <a16:creationId xmlns:a16="http://schemas.microsoft.com/office/drawing/2014/main" id="{B478D104-F879-45CA-BFBA-3F54AB804753}"/>
                </a:ext>
              </a:extLst>
            </p:cNvPr>
            <p:cNvSpPr txBox="1"/>
            <p:nvPr/>
          </p:nvSpPr>
          <p:spPr>
            <a:xfrm>
              <a:off x="6933" y="1525"/>
              <a:ext cx="3608" cy="2831"/>
            </a:xfrm>
            <a:prstGeom prst="rect">
              <a:avLst/>
            </a:prstGeom>
            <a:noFill/>
          </p:spPr>
          <p:txBody>
            <a:bodyPr wrap="square" rtlCol="0">
              <a:spAutoFit/>
            </a:bodyPr>
            <a:lstStyle/>
            <a:p>
              <a:pPr algn="ctr">
                <a:lnSpc>
                  <a:spcPct val="100000"/>
                </a:lnSpc>
                <a:spcAft>
                  <a:spcPts val="600"/>
                </a:spcAft>
              </a:pPr>
              <a:r>
                <a:rPr lang="zh-CN" altLang="en-US" sz="2400" dirty="0">
                  <a:solidFill>
                    <a:srgbClr val="C00000"/>
                  </a:solidFill>
                  <a:latin typeface="微软雅黑" panose="020B0503020204020204" charset="-122"/>
                  <a:ea typeface="微软雅黑" panose="020B0503020204020204" charset="-122"/>
                  <a:cs typeface="微软雅黑" panose="020B0503020204020204" charset="-122"/>
                </a:rPr>
                <a:t>任正非</a:t>
              </a:r>
              <a:endParaRPr lang="en-US" altLang="zh-CN" sz="2400" dirty="0">
                <a:solidFill>
                  <a:srgbClr val="C00000"/>
                </a:solidFill>
                <a:latin typeface="微软雅黑" panose="020B0503020204020204" charset="-122"/>
                <a:ea typeface="微软雅黑" panose="020B0503020204020204" charset="-122"/>
                <a:cs typeface="微软雅黑" panose="020B0503020204020204" charset="-122"/>
              </a:endParaRPr>
            </a:p>
            <a:p>
              <a:pPr algn="just">
                <a:lnSpc>
                  <a:spcPct val="110000"/>
                </a:lnSpc>
              </a:pPr>
              <a:r>
                <a:rPr lang="zh-CN" altLang="en-US" dirty="0">
                  <a:latin typeface="微软雅黑" panose="020B0503020204020204" charset="-122"/>
                  <a:ea typeface="微软雅黑" panose="020B0503020204020204" charset="-122"/>
                  <a:cs typeface="微软雅黑" panose="020B0503020204020204" charset="-122"/>
                </a:rPr>
                <a:t>随着逐步逼近香农定理、摩尔定律的极限</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面对</a:t>
              </a:r>
              <a:r>
                <a:rPr lang="zh-CN" altLang="en-US" dirty="0">
                  <a:solidFill>
                    <a:srgbClr val="C00000"/>
                  </a:solidFill>
                  <a:latin typeface="微软雅黑" panose="020B0503020204020204" charset="-122"/>
                  <a:ea typeface="微软雅黑" panose="020B0503020204020204" charset="-122"/>
                  <a:cs typeface="微软雅黑" panose="020B0503020204020204" charset="-122"/>
                </a:rPr>
                <a:t>大流量、低延时</a:t>
              </a:r>
              <a:r>
                <a:rPr lang="zh-CN" altLang="en-US" dirty="0">
                  <a:latin typeface="微软雅黑" panose="020B0503020204020204" charset="-122"/>
                  <a:ea typeface="微软雅黑" panose="020B0503020204020204" charset="-122"/>
                  <a:cs typeface="微软雅黑" panose="020B0503020204020204" charset="-122"/>
                </a:rPr>
                <a:t>的理论还未创造出来</a:t>
              </a:r>
              <a:endParaRPr lang="zh-CN" altLang="en-US"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8" name="圆角矩形 9">
              <a:extLst>
                <a:ext uri="{FF2B5EF4-FFF2-40B4-BE49-F238E27FC236}">
                  <a16:creationId xmlns:a16="http://schemas.microsoft.com/office/drawing/2014/main" id="{81993B38-95C0-45E8-9A2B-75A6159C2E63}"/>
                </a:ext>
              </a:extLst>
            </p:cNvPr>
            <p:cNvSpPr/>
            <p:nvPr/>
          </p:nvSpPr>
          <p:spPr>
            <a:xfrm>
              <a:off x="6865" y="1541"/>
              <a:ext cx="5563" cy="2653"/>
            </a:xfrm>
            <a:prstGeom prst="roundRect">
              <a:avLst>
                <a:gd name="adj" fmla="val 10892"/>
              </a:avLst>
            </a:prstGeom>
            <a:noFill/>
            <a:ln w="19050">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ot="0" spcFirstLastPara="0"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1350"/>
            </a:p>
          </p:txBody>
        </p:sp>
      </p:grpSp>
      <p:cxnSp>
        <p:nvCxnSpPr>
          <p:cNvPr id="15" name="直接箭头连接符 14">
            <a:extLst>
              <a:ext uri="{FF2B5EF4-FFF2-40B4-BE49-F238E27FC236}">
                <a16:creationId xmlns:a16="http://schemas.microsoft.com/office/drawing/2014/main" id="{5C733CEC-EB02-4F6C-9321-DB77ED470BAB}"/>
              </a:ext>
            </a:extLst>
          </p:cNvPr>
          <p:cNvCxnSpPr>
            <a:cxnSpLocks/>
          </p:cNvCxnSpPr>
          <p:nvPr/>
        </p:nvCxnSpPr>
        <p:spPr>
          <a:xfrm>
            <a:off x="9998650" y="1890108"/>
            <a:ext cx="180705" cy="2152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D6EBFE02-945C-40EB-9480-64899C5264F6}"/>
              </a:ext>
            </a:extLst>
          </p:cNvPr>
          <p:cNvSpPr txBox="1"/>
          <p:nvPr/>
        </p:nvSpPr>
        <p:spPr>
          <a:xfrm>
            <a:off x="8173714" y="1496950"/>
            <a:ext cx="2656115" cy="707886"/>
          </a:xfrm>
          <a:prstGeom prst="rect">
            <a:avLst/>
          </a:prstGeom>
          <a:noFill/>
        </p:spPr>
        <p:txBody>
          <a:bodyPr wrap="square" rtlCol="0">
            <a:spAutoFit/>
          </a:bodyPr>
          <a:lstStyle/>
          <a:p>
            <a:r>
              <a:rPr lang="en-US" altLang="zh-CN" sz="2000" dirty="0">
                <a:solidFill>
                  <a:srgbClr val="C00000"/>
                </a:solidFill>
                <a:latin typeface="微软雅黑" panose="020B0503020204020204" pitchFamily="34" charset="-122"/>
                <a:ea typeface="微软雅黑" panose="020B0503020204020204" pitchFamily="34" charset="-122"/>
              </a:rPr>
              <a:t>2014</a:t>
            </a:r>
            <a:r>
              <a:rPr lang="zh-CN" altLang="en-US" sz="2000" dirty="0">
                <a:solidFill>
                  <a:srgbClr val="C00000"/>
                </a:solidFill>
                <a:latin typeface="微软雅黑" panose="020B0503020204020204" pitchFamily="34" charset="-122"/>
                <a:ea typeface="微软雅黑" panose="020B0503020204020204" pitchFamily="34" charset="-122"/>
              </a:rPr>
              <a:t>年以后华为开始甩开竞争对手</a:t>
            </a:r>
          </a:p>
        </p:txBody>
      </p:sp>
      <p:cxnSp>
        <p:nvCxnSpPr>
          <p:cNvPr id="37" name="直接箭头连接符 36">
            <a:extLst>
              <a:ext uri="{FF2B5EF4-FFF2-40B4-BE49-F238E27FC236}">
                <a16:creationId xmlns:a16="http://schemas.microsoft.com/office/drawing/2014/main" id="{E83D2C88-5F0E-4F1B-AAD3-AC6D66EF38D6}"/>
              </a:ext>
            </a:extLst>
          </p:cNvPr>
          <p:cNvCxnSpPr>
            <a:cxnSpLocks/>
          </p:cNvCxnSpPr>
          <p:nvPr/>
        </p:nvCxnSpPr>
        <p:spPr>
          <a:xfrm>
            <a:off x="10637630" y="2121068"/>
            <a:ext cx="0" cy="557348"/>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E5B88E10-276D-4D9B-9261-C01F65C250CB}"/>
              </a:ext>
            </a:extLst>
          </p:cNvPr>
          <p:cNvSpPr txBox="1"/>
          <p:nvPr/>
        </p:nvSpPr>
        <p:spPr>
          <a:xfrm>
            <a:off x="10637630" y="2156113"/>
            <a:ext cx="1366102" cy="400110"/>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遥遥领先</a:t>
            </a:r>
          </a:p>
        </p:txBody>
      </p:sp>
      <p:sp>
        <p:nvSpPr>
          <p:cNvPr id="14" name="文本框 13">
            <a:extLst>
              <a:ext uri="{FF2B5EF4-FFF2-40B4-BE49-F238E27FC236}">
                <a16:creationId xmlns:a16="http://schemas.microsoft.com/office/drawing/2014/main" id="{63F710F0-0B4B-6C4D-8291-1B95F51CCD67}"/>
              </a:ext>
            </a:extLst>
          </p:cNvPr>
          <p:cNvSpPr txBox="1"/>
          <p:nvPr/>
        </p:nvSpPr>
        <p:spPr>
          <a:xfrm>
            <a:off x="6038663" y="4751129"/>
            <a:ext cx="1679538" cy="1092607"/>
          </a:xfrm>
          <a:prstGeom prst="rect">
            <a:avLst/>
          </a:prstGeom>
          <a:noFill/>
          <a:ln>
            <a:solidFill>
              <a:srgbClr val="C00000"/>
            </a:solidFill>
          </a:ln>
        </p:spPr>
        <p:txBody>
          <a:bodyPr wrap="square" rtlCol="0">
            <a:spAutoFit/>
          </a:bodyPr>
          <a:lstStyle/>
          <a:p>
            <a:pPr algn="ctr">
              <a:lnSpc>
                <a:spcPct val="100000"/>
              </a:lnSpc>
              <a:spcAft>
                <a:spcPts val="600"/>
              </a:spcAft>
            </a:pP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不仅仅是</a:t>
            </a:r>
            <a:endParaRPr lang="en-US" altLang="zh-CN" sz="2000" dirty="0">
              <a:solidFill>
                <a:srgbClr val="C00000"/>
              </a:solidFill>
              <a:latin typeface="微软雅黑" panose="020B0503020204020204" charset="-122"/>
              <a:ea typeface="微软雅黑" panose="020B0503020204020204" charset="-122"/>
              <a:cs typeface="微软雅黑" panose="020B0503020204020204" charset="-122"/>
            </a:endParaRPr>
          </a:p>
          <a:p>
            <a:pPr algn="ctr">
              <a:lnSpc>
                <a:spcPct val="100000"/>
              </a:lnSpc>
              <a:spcAft>
                <a:spcPts val="600"/>
              </a:spcAft>
            </a:pPr>
            <a:r>
              <a:rPr lang="en-US" altLang="zh-CN" sz="2000" dirty="0">
                <a:solidFill>
                  <a:srgbClr val="C00000"/>
                </a:solidFill>
                <a:latin typeface="微软雅黑" panose="020B0503020204020204" charset="-122"/>
                <a:ea typeface="微软雅黑" panose="020B0503020204020204" charset="-122"/>
                <a:cs typeface="微软雅黑" panose="020B0503020204020204" charset="-122"/>
              </a:rPr>
              <a:t>200</a:t>
            </a: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万年薪的</a:t>
            </a:r>
            <a:br>
              <a:rPr lang="en-US" altLang="zh-CN" sz="2000" dirty="0">
                <a:solidFill>
                  <a:srgbClr val="C00000"/>
                </a:solidFill>
                <a:latin typeface="微软雅黑" panose="020B0503020204020204" charset="-122"/>
                <a:ea typeface="微软雅黑" panose="020B0503020204020204" charset="-122"/>
                <a:cs typeface="微软雅黑" panose="020B0503020204020204" charset="-122"/>
              </a:rPr>
            </a:br>
            <a:r>
              <a:rPr lang="zh-CN" altLang="en-US" sz="2000" dirty="0">
                <a:solidFill>
                  <a:srgbClr val="C00000"/>
                </a:solidFill>
                <a:latin typeface="微软雅黑" panose="020B0503020204020204" charset="-122"/>
                <a:ea typeface="微软雅黑" panose="020B0503020204020204" charset="-122"/>
                <a:cs typeface="微软雅黑" panose="020B0503020204020204" charset="-122"/>
              </a:rPr>
              <a:t>“天才少年”</a:t>
            </a:r>
            <a:endParaRPr lang="zh-CN" altLang="en-US" sz="16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5" name="灯片编号占位符 4">
            <a:extLst>
              <a:ext uri="{FF2B5EF4-FFF2-40B4-BE49-F238E27FC236}">
                <a16:creationId xmlns:a16="http://schemas.microsoft.com/office/drawing/2014/main" id="{AB3A39A3-F45D-7A43-9080-DC61AD044A21}"/>
              </a:ext>
            </a:extLst>
          </p:cNvPr>
          <p:cNvSpPr>
            <a:spLocks noGrp="1"/>
          </p:cNvSpPr>
          <p:nvPr>
            <p:ph type="sldNum" sz="quarter" idx="12"/>
          </p:nvPr>
        </p:nvSpPr>
        <p:spPr/>
        <p:txBody>
          <a:bodyPr/>
          <a:lstStyle/>
          <a:p>
            <a:fld id="{8D4D1E41-7A09-AB4A-A4E1-09765ADA2698}" type="slidenum">
              <a:rPr kumimoji="1" lang="zh-CN" altLang="en-US" smtClean="0"/>
              <a:t>113</a:t>
            </a:fld>
            <a:endParaRPr kumimoji="1" lang="zh-CN" altLang="en-US" dirty="0"/>
          </a:p>
        </p:txBody>
      </p:sp>
      <p:sp>
        <p:nvSpPr>
          <p:cNvPr id="17" name="文本框 16">
            <a:extLst>
              <a:ext uri="{FF2B5EF4-FFF2-40B4-BE49-F238E27FC236}">
                <a16:creationId xmlns:a16="http://schemas.microsoft.com/office/drawing/2014/main" id="{6B2B629A-416B-CC4C-A18B-BD1CB4DC706B}"/>
              </a:ext>
            </a:extLst>
          </p:cNvPr>
          <p:cNvSpPr txBox="1"/>
          <p:nvPr/>
        </p:nvSpPr>
        <p:spPr>
          <a:xfrm>
            <a:off x="102036" y="6492874"/>
            <a:ext cx="2492574" cy="338554"/>
          </a:xfrm>
          <a:prstGeom prst="rect">
            <a:avLst/>
          </a:prstGeom>
          <a:noFill/>
        </p:spPr>
        <p:txBody>
          <a:bodyPr wrap="square" rtlCol="0">
            <a:spAutoFit/>
          </a:bodyPr>
          <a:lstStyle/>
          <a:p>
            <a:r>
              <a:rPr lang="en-US" altLang="zh-CN" sz="1600" dirty="0">
                <a:solidFill>
                  <a:schemeClr val="bg1">
                    <a:lumMod val="65000"/>
                  </a:schemeClr>
                </a:solidFill>
                <a:latin typeface="微软雅黑" panose="020B0503020204020204" pitchFamily="34" charset="-122"/>
                <a:ea typeface="微软雅黑" panose="020B0503020204020204" pitchFamily="34" charset="-122"/>
              </a:rPr>
              <a:t>1.8 </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发展史与启示</a:t>
            </a:r>
          </a:p>
        </p:txBody>
      </p:sp>
    </p:spTree>
    <p:extLst>
      <p:ext uri="{BB962C8B-B14F-4D97-AF65-F5344CB8AC3E}">
        <p14:creationId xmlns:p14="http://schemas.microsoft.com/office/powerpoint/2010/main" val="284429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lnSpcReduction="10000"/>
          </a:bodyPr>
          <a:lstStyle/>
          <a:p>
            <a:pPr>
              <a:lnSpc>
                <a:spcPct val="120000"/>
              </a:lnSpc>
            </a:pPr>
            <a:r>
              <a:rPr kumimoji="1" lang="zh-CN" altLang="en-US" dirty="0"/>
              <a:t>计算机网络的重要性</a:t>
            </a:r>
          </a:p>
          <a:p>
            <a:pPr>
              <a:lnSpc>
                <a:spcPct val="120000"/>
              </a:lnSpc>
            </a:pPr>
            <a:r>
              <a:rPr kumimoji="1" lang="zh-CN" altLang="en-US" dirty="0"/>
              <a:t>了解网络中的基本概念和术语，</a:t>
            </a:r>
            <a:r>
              <a:rPr kumimoji="1" lang="zh-CN" altLang="en-US" dirty="0">
                <a:solidFill>
                  <a:srgbClr val="C00000"/>
                </a:solidFill>
              </a:rPr>
              <a:t>理解分组交换的优缺点</a:t>
            </a:r>
          </a:p>
          <a:p>
            <a:pPr>
              <a:lnSpc>
                <a:spcPct val="120000"/>
              </a:lnSpc>
            </a:pPr>
            <a:r>
              <a:rPr kumimoji="1" lang="zh-CN" altLang="en-US" dirty="0"/>
              <a:t>分层结构：</a:t>
            </a:r>
            <a:r>
              <a:rPr kumimoji="1" lang="zh-CN" altLang="en-US" dirty="0">
                <a:solidFill>
                  <a:srgbClr val="C00000"/>
                </a:solidFill>
              </a:rPr>
              <a:t>上下层之间的服务和接口，对等的协议</a:t>
            </a:r>
          </a:p>
          <a:p>
            <a:pPr>
              <a:lnSpc>
                <a:spcPct val="120000"/>
              </a:lnSpc>
            </a:pPr>
            <a:r>
              <a:rPr kumimoji="1" lang="zh-CN" altLang="en-US" dirty="0"/>
              <a:t>网络</a:t>
            </a:r>
            <a:r>
              <a:rPr kumimoji="1" lang="zh-CN" altLang="en-US" dirty="0">
                <a:solidFill>
                  <a:srgbClr val="C00000"/>
                </a:solidFill>
              </a:rPr>
              <a:t>参考模型</a:t>
            </a:r>
            <a:r>
              <a:rPr kumimoji="1" lang="zh-CN" altLang="en-US" dirty="0"/>
              <a:t>：理想的</a:t>
            </a:r>
            <a:r>
              <a:rPr kumimoji="1" lang="en-US" altLang="zh-CN" dirty="0"/>
              <a:t>7</a:t>
            </a:r>
            <a:r>
              <a:rPr kumimoji="1" lang="zh-CN" altLang="en-US" dirty="0"/>
              <a:t>层</a:t>
            </a:r>
            <a:r>
              <a:rPr kumimoji="1" lang="en-US" altLang="zh-CN" dirty="0"/>
              <a:t>OSI</a:t>
            </a:r>
            <a:r>
              <a:rPr kumimoji="1" lang="zh-CN" altLang="en-US" dirty="0"/>
              <a:t>，现实的</a:t>
            </a:r>
            <a:r>
              <a:rPr kumimoji="1" lang="en-US" altLang="zh-CN" dirty="0"/>
              <a:t>4</a:t>
            </a:r>
            <a:r>
              <a:rPr kumimoji="1" lang="zh-CN" altLang="en-US" dirty="0"/>
              <a:t>层</a:t>
            </a:r>
            <a:r>
              <a:rPr kumimoji="1" lang="en-US" altLang="zh-CN" dirty="0"/>
              <a:t>TCP/IP</a:t>
            </a:r>
            <a:endParaRPr kumimoji="1" lang="zh-CN" altLang="en-US" dirty="0"/>
          </a:p>
          <a:p>
            <a:pPr>
              <a:lnSpc>
                <a:spcPct val="120000"/>
              </a:lnSpc>
            </a:pPr>
            <a:r>
              <a:rPr kumimoji="1" lang="zh-CN" altLang="en-US" dirty="0">
                <a:solidFill>
                  <a:srgbClr val="C00000"/>
                </a:solidFill>
              </a:rPr>
              <a:t>网络度量单位</a:t>
            </a:r>
            <a:r>
              <a:rPr kumimoji="1" lang="zh-CN" altLang="en-US" dirty="0"/>
              <a:t>：带宽、时延和丢失率</a:t>
            </a:r>
          </a:p>
          <a:p>
            <a:pPr>
              <a:lnSpc>
                <a:spcPct val="120000"/>
              </a:lnSpc>
            </a:pPr>
            <a:r>
              <a:rPr kumimoji="1" lang="zh-CN" altLang="en-US" dirty="0"/>
              <a:t>网络威胁：无所不在</a:t>
            </a:r>
          </a:p>
          <a:p>
            <a:pPr>
              <a:lnSpc>
                <a:spcPct val="120000"/>
              </a:lnSpc>
            </a:pPr>
            <a:r>
              <a:rPr kumimoji="1" lang="zh-CN" altLang="en-US" dirty="0"/>
              <a:t>标准化组织：官方的</a:t>
            </a:r>
            <a:r>
              <a:rPr kumimoji="1" lang="en-US" altLang="zh-CN" dirty="0"/>
              <a:t>ITU</a:t>
            </a:r>
            <a:r>
              <a:rPr kumimoji="1" lang="zh-CN" altLang="en-US" dirty="0"/>
              <a:t>、</a:t>
            </a:r>
            <a:r>
              <a:rPr kumimoji="1" lang="en-US" altLang="zh-CN" dirty="0"/>
              <a:t>ISO</a:t>
            </a:r>
            <a:r>
              <a:rPr kumimoji="1" lang="zh-CN" altLang="en-US" dirty="0"/>
              <a:t>，发挥核心作用的</a:t>
            </a:r>
            <a:r>
              <a:rPr kumimoji="1" lang="en-US" altLang="zh-CN" dirty="0"/>
              <a:t>IETF</a:t>
            </a:r>
            <a:r>
              <a:rPr kumimoji="1" lang="zh-CN" altLang="en-US" dirty="0"/>
              <a:t>和</a:t>
            </a:r>
            <a:r>
              <a:rPr kumimoji="1" lang="en-US" altLang="zh-CN" dirty="0"/>
              <a:t>IEEE</a:t>
            </a:r>
            <a:endParaRPr kumimoji="1" lang="zh-CN" altLang="en-US" dirty="0"/>
          </a:p>
          <a:p>
            <a:pPr>
              <a:lnSpc>
                <a:spcPct val="120000"/>
              </a:lnSpc>
            </a:pPr>
            <a:r>
              <a:rPr kumimoji="1" lang="zh-CN" altLang="en-US" dirty="0"/>
              <a:t>互联网发展史与</a:t>
            </a:r>
            <a:r>
              <a:rPr kumimoji="1" lang="zh-CN" altLang="en-US" dirty="0">
                <a:solidFill>
                  <a:srgbClr val="C00000"/>
                </a:solidFill>
              </a:rPr>
              <a:t>启示</a:t>
            </a:r>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114</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9638</TotalTime>
  <Words>15625</Words>
  <Application>Microsoft Office PowerPoint</Application>
  <PresentationFormat>宽屏</PresentationFormat>
  <Paragraphs>2329</Paragraphs>
  <Slides>115</Slides>
  <Notes>85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115</vt:i4>
      </vt:variant>
    </vt:vector>
  </HeadingPairs>
  <TitlesOfParts>
    <vt:vector size="133" baseType="lpstr">
      <vt:lpstr>basis-grotesque-medium</vt:lpstr>
      <vt:lpstr>等线</vt:lpstr>
      <vt:lpstr>等线 Light</vt:lpstr>
      <vt:lpstr>仿宋_GB2312</vt:lpstr>
      <vt:lpstr>黑体</vt:lpstr>
      <vt:lpstr>宋体</vt:lpstr>
      <vt:lpstr>微软雅黑</vt:lpstr>
      <vt:lpstr>微软雅黑</vt:lpstr>
      <vt:lpstr>Arial</vt:lpstr>
      <vt:lpstr>Calibri</vt:lpstr>
      <vt:lpstr>Symbol</vt:lpstr>
      <vt:lpstr>Tahoma</vt:lpstr>
      <vt:lpstr>Times New Roman</vt:lpstr>
      <vt:lpstr>Verdana</vt:lpstr>
      <vt:lpstr>Wingdings</vt:lpstr>
      <vt:lpstr>Office 主题​​</vt:lpstr>
      <vt:lpstr>VISIO</vt:lpstr>
      <vt:lpstr>Clip</vt:lpstr>
      <vt:lpstr>计算机网络</vt:lpstr>
      <vt:lpstr>课程的任务、目的和基本要求</vt:lpstr>
      <vt:lpstr>主要教学内容</vt:lpstr>
      <vt:lpstr>教材</vt:lpstr>
      <vt:lpstr>主要参考书</vt:lpstr>
      <vt:lpstr>成绩说明</vt:lpstr>
      <vt:lpstr>PPT说明</vt:lpstr>
      <vt:lpstr>第一章 引言</vt:lpstr>
      <vt:lpstr>本章目标</vt:lpstr>
      <vt:lpstr>本章内容</vt:lpstr>
      <vt:lpstr>1.1网络的概念</vt:lpstr>
      <vt:lpstr>1.1网络的概念</vt:lpstr>
      <vt:lpstr>1.1网络的概念</vt:lpstr>
      <vt:lpstr>1.1网络的概念</vt:lpstr>
      <vt:lpstr>网络的网络</vt:lpstr>
      <vt:lpstr>本章内容</vt:lpstr>
      <vt:lpstr>1.2 网络分类（按拓扑结构）</vt:lpstr>
      <vt:lpstr>1.2 网络分类（按用途）</vt:lpstr>
      <vt:lpstr>接入网：光纤到户FTTH</vt:lpstr>
      <vt:lpstr>接入网：数字用户线DSL</vt:lpstr>
      <vt:lpstr>接入网：同轴电缆</vt:lpstr>
      <vt:lpstr>接入网：无线接入</vt:lpstr>
      <vt:lpstr>接入网：企业和家庭网络</vt:lpstr>
      <vt:lpstr>1.2 网络分类（按用途）</vt:lpstr>
      <vt:lpstr>数据中心网络：以交换机为中心</vt:lpstr>
      <vt:lpstr>数据中心网络：以服务器为中心</vt:lpstr>
      <vt:lpstr>1.2 网络分类（按用途）</vt:lpstr>
      <vt:lpstr>1.2 网络分类（按地域规模）</vt:lpstr>
      <vt:lpstr>1.2 网络分类（按网络技术）</vt:lpstr>
      <vt:lpstr>非交换网络</vt:lpstr>
      <vt:lpstr>交换网络：电路交换（Circuit Switching)</vt:lpstr>
      <vt:lpstr>交换网络：电路交换（Circuit Switching)</vt:lpstr>
      <vt:lpstr>交换网络：电路交换（Circuit Switching)</vt:lpstr>
      <vt:lpstr>交换网络：电路交换（Circuit Switching)</vt:lpstr>
      <vt:lpstr>电路交换机原理</vt:lpstr>
      <vt:lpstr>电路交换举例</vt:lpstr>
      <vt:lpstr>交换网络：报文交换(Message Switching)</vt:lpstr>
      <vt:lpstr>交换网络：报文交换(Message Switching)</vt:lpstr>
      <vt:lpstr>交换网络：分组交换(Packet Switching)</vt:lpstr>
      <vt:lpstr>交换网络：分组交换(Packet Switching)</vt:lpstr>
      <vt:lpstr>交换网络：分组交换(Packet Switching)</vt:lpstr>
      <vt:lpstr>分组交换：两种方法</vt:lpstr>
      <vt:lpstr>分组交换：数据报</vt:lpstr>
      <vt:lpstr>分组交换：数据报方式的特点</vt:lpstr>
      <vt:lpstr>分组交换：虚电路</vt:lpstr>
      <vt:lpstr>分组交换：虚电路方式的特点</vt:lpstr>
      <vt:lpstr>分组交换带来的问题</vt:lpstr>
      <vt:lpstr>三种交换的比较 </vt:lpstr>
      <vt:lpstr>1.2 网络分类（分类方式汇总）</vt:lpstr>
      <vt:lpstr>1.2 网络分类（分类方式汇总）</vt:lpstr>
      <vt:lpstr>本章内容</vt:lpstr>
      <vt:lpstr>1.3.1 Internet互联网（层级结构）</vt:lpstr>
      <vt:lpstr>1.3.1 Internet互联网(构成)</vt:lpstr>
      <vt:lpstr>网络边缘</vt:lpstr>
      <vt:lpstr>网络边缘设备</vt:lpstr>
      <vt:lpstr>网络核心</vt:lpstr>
      <vt:lpstr>网络核心的两大功能</vt:lpstr>
      <vt:lpstr>本章内容</vt:lpstr>
      <vt:lpstr>协议设计目的</vt:lpstr>
      <vt:lpstr>协议设计目的</vt:lpstr>
      <vt:lpstr>PowerPoint 演示文稿</vt:lpstr>
      <vt:lpstr>协议分层结构的必要性</vt:lpstr>
      <vt:lpstr>分层结构示例</vt:lpstr>
      <vt:lpstr>分层结构示例</vt:lpstr>
      <vt:lpstr>协议分层结构</vt:lpstr>
      <vt:lpstr>协议分层结构</vt:lpstr>
      <vt:lpstr>服务原语</vt:lpstr>
      <vt:lpstr>服务原语</vt:lpstr>
      <vt:lpstr>服务原语</vt:lpstr>
      <vt:lpstr>服务与协议的关系</vt:lpstr>
      <vt:lpstr>数据单元</vt:lpstr>
      <vt:lpstr>PowerPoint 演示文稿</vt:lpstr>
      <vt:lpstr>最重要的数据单元（DU）</vt:lpstr>
      <vt:lpstr>各层次的协议数据单元（PDU） </vt:lpstr>
      <vt:lpstr>本章内容</vt:lpstr>
      <vt:lpstr>OSI参考模型</vt:lpstr>
      <vt:lpstr>OSI参考模型</vt:lpstr>
      <vt:lpstr>OSI参考模型</vt:lpstr>
      <vt:lpstr>OSI参考模型</vt:lpstr>
      <vt:lpstr>OSI参考模型</vt:lpstr>
      <vt:lpstr>TCP/IP参考模型</vt:lpstr>
      <vt:lpstr>TCP/IP参考模型</vt:lpstr>
      <vt:lpstr>OSI模型与TCP/IP模型比较</vt:lpstr>
      <vt:lpstr>OSI模型与TCP/IP模型比较</vt:lpstr>
      <vt:lpstr>本教程内容的分层组织</vt:lpstr>
      <vt:lpstr>分层模型与网络实例</vt:lpstr>
      <vt:lpstr>本章内容</vt:lpstr>
      <vt:lpstr>计算机网络度量单位</vt:lpstr>
      <vt:lpstr>计算机网络度量单位</vt:lpstr>
      <vt:lpstr>计算机网络度量单位</vt:lpstr>
      <vt:lpstr>计算机网络度量单位</vt:lpstr>
      <vt:lpstr>计算机网络度量单位</vt:lpstr>
      <vt:lpstr>计算机网络度量单位</vt:lpstr>
      <vt:lpstr>计算机网络度量单位</vt:lpstr>
      <vt:lpstr>本章内容</vt:lpstr>
      <vt:lpstr>国际标准组织</vt:lpstr>
      <vt:lpstr>国际标准组织</vt:lpstr>
      <vt:lpstr>Internet标准化组织</vt:lpstr>
      <vt:lpstr>Internet标准化组织</vt:lpstr>
      <vt:lpstr>Internet标准化组织</vt:lpstr>
      <vt:lpstr>Internet标准化组织</vt:lpstr>
      <vt:lpstr>中国的相关标准组织与联盟</vt:lpstr>
      <vt:lpstr>开源社区</vt:lpstr>
      <vt:lpstr>本章内容</vt:lpstr>
      <vt:lpstr>互联网早期发展与启示</vt:lpstr>
      <vt:lpstr>互联网早期发展与启示</vt:lpstr>
      <vt:lpstr>互联网早期发展与启示</vt:lpstr>
      <vt:lpstr>互联网的新发展与启示</vt:lpstr>
      <vt:lpstr>互联网的新发展与启示</vt:lpstr>
      <vt:lpstr>我国的互联网发展情况</vt:lpstr>
      <vt:lpstr>我国的互联网发展情况</vt:lpstr>
      <vt:lpstr>中国教育和科研计算机网CERNET</vt:lpstr>
      <vt:lpstr>CERNET网络结构</vt:lpstr>
      <vt:lpstr>网络设备商华为</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Joy Liu</cp:lastModifiedBy>
  <cp:revision>1354</cp:revision>
  <dcterms:created xsi:type="dcterms:W3CDTF">2021-01-06T05:35:51Z</dcterms:created>
  <dcterms:modified xsi:type="dcterms:W3CDTF">2025-09-08T08:18:36Z</dcterms:modified>
</cp:coreProperties>
</file>